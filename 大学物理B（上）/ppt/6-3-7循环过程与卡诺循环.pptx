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4"/>
  </p:notesMasterIdLst>
  <p:sldIdLst>
    <p:sldId id="503" r:id="rId2"/>
    <p:sldId id="269" r:id="rId3"/>
    <p:sldId id="502" r:id="rId4"/>
    <p:sldId id="463" r:id="rId5"/>
    <p:sldId id="507" r:id="rId6"/>
    <p:sldId id="508" r:id="rId7"/>
    <p:sldId id="465" r:id="rId8"/>
    <p:sldId id="258" r:id="rId9"/>
    <p:sldId id="296" r:id="rId10"/>
    <p:sldId id="379" r:id="rId11"/>
    <p:sldId id="270" r:id="rId12"/>
    <p:sldId id="278" r:id="rId13"/>
    <p:sldId id="297" r:id="rId14"/>
    <p:sldId id="315" r:id="rId15"/>
    <p:sldId id="271" r:id="rId16"/>
    <p:sldId id="307" r:id="rId17"/>
    <p:sldId id="272" r:id="rId18"/>
    <p:sldId id="462" r:id="rId19"/>
    <p:sldId id="306" r:id="rId20"/>
    <p:sldId id="274" r:id="rId21"/>
    <p:sldId id="298" r:id="rId22"/>
    <p:sldId id="308" r:id="rId23"/>
    <p:sldId id="305" r:id="rId24"/>
    <p:sldId id="504" r:id="rId25"/>
    <p:sldId id="276" r:id="rId26"/>
    <p:sldId id="466" r:id="rId27"/>
    <p:sldId id="291" r:id="rId28"/>
    <p:sldId id="299" r:id="rId29"/>
    <p:sldId id="292" r:id="rId30"/>
    <p:sldId id="451" r:id="rId31"/>
    <p:sldId id="452" r:id="rId32"/>
    <p:sldId id="453" r:id="rId33"/>
    <p:sldId id="454" r:id="rId34"/>
    <p:sldId id="455" r:id="rId35"/>
    <p:sldId id="309" r:id="rId36"/>
    <p:sldId id="394" r:id="rId37"/>
    <p:sldId id="310" r:id="rId38"/>
    <p:sldId id="456" r:id="rId39"/>
    <p:sldId id="457" r:id="rId40"/>
    <p:sldId id="458" r:id="rId41"/>
    <p:sldId id="397" r:id="rId42"/>
    <p:sldId id="293" r:id="rId43"/>
    <p:sldId id="294" r:id="rId44"/>
    <p:sldId id="295" r:id="rId45"/>
    <p:sldId id="512" r:id="rId46"/>
    <p:sldId id="509" r:id="rId47"/>
    <p:sldId id="510" r:id="rId48"/>
    <p:sldId id="318" r:id="rId49"/>
    <p:sldId id="319" r:id="rId50"/>
    <p:sldId id="320" r:id="rId51"/>
    <p:sldId id="317" r:id="rId52"/>
    <p:sldId id="321" r:id="rId53"/>
    <p:sldId id="322" r:id="rId54"/>
    <p:sldId id="323" r:id="rId55"/>
    <p:sldId id="398" r:id="rId56"/>
    <p:sldId id="399" r:id="rId57"/>
    <p:sldId id="400" r:id="rId58"/>
    <p:sldId id="401" r:id="rId59"/>
    <p:sldId id="402" r:id="rId60"/>
    <p:sldId id="403" r:id="rId61"/>
    <p:sldId id="404" r:id="rId62"/>
    <p:sldId id="405" r:id="rId63"/>
    <p:sldId id="406" r:id="rId64"/>
    <p:sldId id="506" r:id="rId65"/>
    <p:sldId id="342" r:id="rId66"/>
    <p:sldId id="409" r:id="rId67"/>
    <p:sldId id="413" r:id="rId68"/>
    <p:sldId id="414" r:id="rId69"/>
    <p:sldId id="415" r:id="rId70"/>
    <p:sldId id="416" r:id="rId71"/>
    <p:sldId id="417" r:id="rId72"/>
    <p:sldId id="427" r:id="rId73"/>
    <p:sldId id="419" r:id="rId74"/>
    <p:sldId id="420" r:id="rId75"/>
    <p:sldId id="421" r:id="rId76"/>
    <p:sldId id="338" r:id="rId77"/>
    <p:sldId id="339" r:id="rId78"/>
    <p:sldId id="459" r:id="rId79"/>
    <p:sldId id="511" r:id="rId80"/>
    <p:sldId id="422" r:id="rId81"/>
    <p:sldId id="423" r:id="rId82"/>
    <p:sldId id="424" r:id="rId83"/>
    <p:sldId id="428" r:id="rId84"/>
    <p:sldId id="429" r:id="rId85"/>
    <p:sldId id="430" r:id="rId86"/>
    <p:sldId id="431" r:id="rId87"/>
    <p:sldId id="432" r:id="rId88"/>
    <p:sldId id="433" r:id="rId89"/>
    <p:sldId id="434" r:id="rId90"/>
    <p:sldId id="435" r:id="rId91"/>
    <p:sldId id="436" r:id="rId92"/>
    <p:sldId id="437" r:id="rId93"/>
    <p:sldId id="438" r:id="rId94"/>
    <p:sldId id="439" r:id="rId95"/>
    <p:sldId id="440" r:id="rId96"/>
    <p:sldId id="441" r:id="rId97"/>
    <p:sldId id="442" r:id="rId98"/>
    <p:sldId id="443" r:id="rId99"/>
    <p:sldId id="444" r:id="rId100"/>
    <p:sldId id="445" r:id="rId101"/>
    <p:sldId id="446" r:id="rId102"/>
    <p:sldId id="460" r:id="rId103"/>
  </p:sldIdLst>
  <p:sldSz cx="9144000" cy="6858000" type="screen4x3"/>
  <p:notesSz cx="6858000" cy="9144000"/>
  <p:defaultTextStyle>
    <a:defPPr>
      <a:defRPr lang="zh-CN"/>
    </a:defPPr>
    <a:lvl1pPr algn="ctr" rtl="0" fontAlgn="base">
      <a:spcBef>
        <a:spcPct val="0"/>
      </a:spcBef>
      <a:spcAft>
        <a:spcPct val="0"/>
      </a:spcAft>
      <a:defRPr kumimoji="1" sz="2000" kern="1200">
        <a:solidFill>
          <a:schemeClr val="tx1"/>
        </a:solidFill>
        <a:latin typeface="Times New Roman" pitchFamily="18" charset="0"/>
        <a:ea typeface="宋体" pitchFamily="2" charset="-122"/>
        <a:cs typeface="+mn-cs"/>
      </a:defRPr>
    </a:lvl1pPr>
    <a:lvl2pPr marL="457200" algn="ctr" rtl="0" fontAlgn="base">
      <a:spcBef>
        <a:spcPct val="0"/>
      </a:spcBef>
      <a:spcAft>
        <a:spcPct val="0"/>
      </a:spcAft>
      <a:defRPr kumimoji="1" sz="2000" kern="1200">
        <a:solidFill>
          <a:schemeClr val="tx1"/>
        </a:solidFill>
        <a:latin typeface="Times New Roman" pitchFamily="18" charset="0"/>
        <a:ea typeface="宋体" pitchFamily="2" charset="-122"/>
        <a:cs typeface="+mn-cs"/>
      </a:defRPr>
    </a:lvl2pPr>
    <a:lvl3pPr marL="914400" algn="ctr" rtl="0" fontAlgn="base">
      <a:spcBef>
        <a:spcPct val="0"/>
      </a:spcBef>
      <a:spcAft>
        <a:spcPct val="0"/>
      </a:spcAft>
      <a:defRPr kumimoji="1" sz="2000" kern="1200">
        <a:solidFill>
          <a:schemeClr val="tx1"/>
        </a:solidFill>
        <a:latin typeface="Times New Roman" pitchFamily="18" charset="0"/>
        <a:ea typeface="宋体" pitchFamily="2" charset="-122"/>
        <a:cs typeface="+mn-cs"/>
      </a:defRPr>
    </a:lvl3pPr>
    <a:lvl4pPr marL="1371600" algn="ctr" rtl="0" fontAlgn="base">
      <a:spcBef>
        <a:spcPct val="0"/>
      </a:spcBef>
      <a:spcAft>
        <a:spcPct val="0"/>
      </a:spcAft>
      <a:defRPr kumimoji="1" sz="2000" kern="1200">
        <a:solidFill>
          <a:schemeClr val="tx1"/>
        </a:solidFill>
        <a:latin typeface="Times New Roman" pitchFamily="18" charset="0"/>
        <a:ea typeface="宋体" pitchFamily="2" charset="-122"/>
        <a:cs typeface="+mn-cs"/>
      </a:defRPr>
    </a:lvl4pPr>
    <a:lvl5pPr marL="1828800" algn="ctr" rtl="0" fontAlgn="base">
      <a:spcBef>
        <a:spcPct val="0"/>
      </a:spcBef>
      <a:spcAft>
        <a:spcPct val="0"/>
      </a:spcAft>
      <a:defRPr kumimoji="1" sz="20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0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0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0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0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ang" initials="W"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33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FF"/>
    <a:srgbClr val="FF3300"/>
    <a:srgbClr val="FF0066"/>
    <a:srgbClr val="57C33D"/>
    <a:srgbClr val="66FFFF"/>
    <a:srgbClr val="FFFF66"/>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84953" autoAdjust="0"/>
  </p:normalViewPr>
  <p:slideViewPr>
    <p:cSldViewPr>
      <p:cViewPr varScale="1">
        <p:scale>
          <a:sx n="54" d="100"/>
          <a:sy n="54" d="100"/>
        </p:scale>
        <p:origin x="1568" y="52"/>
      </p:cViewPr>
      <p:guideLst>
        <p:guide orient="horz" pos="2160"/>
        <p:guide pos="2880"/>
      </p:guideLst>
    </p:cSldViewPr>
  </p:slideViewPr>
  <p:outlineViewPr>
    <p:cViewPr>
      <p:scale>
        <a:sx n="33" d="100"/>
        <a:sy n="33" d="100"/>
      </p:scale>
      <p:origin x="0" y="-13362"/>
    </p:cViewPr>
  </p:outlineViewPr>
  <p:notesTextViewPr>
    <p:cViewPr>
      <p:scale>
        <a:sx n="100" d="100"/>
        <a:sy n="100" d="100"/>
      </p:scale>
      <p:origin x="0" y="0"/>
    </p:cViewPr>
  </p:notesTextViewPr>
  <p:sorterViewPr>
    <p:cViewPr varScale="1">
      <p:scale>
        <a:sx n="1" d="1"/>
        <a:sy n="1" d="1"/>
      </p:scale>
      <p:origin x="0" y="-2626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 Id="rId9"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10" Type="http://schemas.openxmlformats.org/officeDocument/2006/relationships/image" Target="../media/image13.wmf"/><Relationship Id="rId4" Type="http://schemas.openxmlformats.org/officeDocument/2006/relationships/image" Target="../media/image9.wmf"/><Relationship Id="rId9"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10" Type="http://schemas.openxmlformats.org/officeDocument/2006/relationships/image" Target="../media/image14.wmf"/><Relationship Id="rId4" Type="http://schemas.openxmlformats.org/officeDocument/2006/relationships/image" Target="../media/image9.wmf"/><Relationship Id="rId9"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4" Type="http://schemas.openxmlformats.org/officeDocument/2006/relationships/image" Target="../media/image48.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image" Target="../media/image52.wmf"/><Relationship Id="rId7" Type="http://schemas.openxmlformats.org/officeDocument/2006/relationships/image" Target="../media/image56.wmf"/><Relationship Id="rId2" Type="http://schemas.openxmlformats.org/officeDocument/2006/relationships/image" Target="../media/image51.wmf"/><Relationship Id="rId1" Type="http://schemas.openxmlformats.org/officeDocument/2006/relationships/image" Target="../media/image50.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4" Type="http://schemas.openxmlformats.org/officeDocument/2006/relationships/image" Target="../media/image6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55.wmf"/><Relationship Id="rId1" Type="http://schemas.openxmlformats.org/officeDocument/2006/relationships/image" Target="../media/image70.wmf"/><Relationship Id="rId4" Type="http://schemas.openxmlformats.org/officeDocument/2006/relationships/image" Target="../media/image72.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image" Target="../media/image81.wmf"/><Relationship Id="rId3" Type="http://schemas.openxmlformats.org/officeDocument/2006/relationships/image" Target="../media/image76.wmf"/><Relationship Id="rId7" Type="http://schemas.openxmlformats.org/officeDocument/2006/relationships/image" Target="../media/image11.wmf"/><Relationship Id="rId12" Type="http://schemas.openxmlformats.org/officeDocument/2006/relationships/image" Target="../media/image7.wmf"/><Relationship Id="rId2" Type="http://schemas.openxmlformats.org/officeDocument/2006/relationships/image" Target="../media/image12.wmf"/><Relationship Id="rId1" Type="http://schemas.openxmlformats.org/officeDocument/2006/relationships/image" Target="../media/image75.wmf"/><Relationship Id="rId6" Type="http://schemas.openxmlformats.org/officeDocument/2006/relationships/image" Target="../media/image10.wmf"/><Relationship Id="rId11" Type="http://schemas.openxmlformats.org/officeDocument/2006/relationships/image" Target="../media/image8.wmf"/><Relationship Id="rId5" Type="http://schemas.openxmlformats.org/officeDocument/2006/relationships/image" Target="../media/image9.wmf"/><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image" Target="../media/image79.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image" Target="../media/image11.wmf"/><Relationship Id="rId18" Type="http://schemas.openxmlformats.org/officeDocument/2006/relationships/image" Target="../media/image7.wmf"/><Relationship Id="rId3" Type="http://schemas.openxmlformats.org/officeDocument/2006/relationships/image" Target="../media/image85.wmf"/><Relationship Id="rId7" Type="http://schemas.openxmlformats.org/officeDocument/2006/relationships/image" Target="../media/image89.wmf"/><Relationship Id="rId12" Type="http://schemas.openxmlformats.org/officeDocument/2006/relationships/image" Target="../media/image10.wmf"/><Relationship Id="rId17" Type="http://schemas.openxmlformats.org/officeDocument/2006/relationships/image" Target="../media/image8.wmf"/><Relationship Id="rId2" Type="http://schemas.openxmlformats.org/officeDocument/2006/relationships/image" Target="../media/image84.wmf"/><Relationship Id="rId16" Type="http://schemas.openxmlformats.org/officeDocument/2006/relationships/image" Target="../media/image80.wmf"/><Relationship Id="rId20" Type="http://schemas.openxmlformats.org/officeDocument/2006/relationships/image" Target="../media/image90.wmf"/><Relationship Id="rId1" Type="http://schemas.openxmlformats.org/officeDocument/2006/relationships/image" Target="../media/image83.wmf"/><Relationship Id="rId6" Type="http://schemas.openxmlformats.org/officeDocument/2006/relationships/image" Target="../media/image88.wmf"/><Relationship Id="rId11" Type="http://schemas.openxmlformats.org/officeDocument/2006/relationships/image" Target="../media/image9.wmf"/><Relationship Id="rId5" Type="http://schemas.openxmlformats.org/officeDocument/2006/relationships/image" Target="../media/image87.wmf"/><Relationship Id="rId15" Type="http://schemas.openxmlformats.org/officeDocument/2006/relationships/image" Target="../media/image79.wmf"/><Relationship Id="rId10" Type="http://schemas.openxmlformats.org/officeDocument/2006/relationships/image" Target="../media/image77.wmf"/><Relationship Id="rId19" Type="http://schemas.openxmlformats.org/officeDocument/2006/relationships/image" Target="../media/image81.wmf"/><Relationship Id="rId4" Type="http://schemas.openxmlformats.org/officeDocument/2006/relationships/image" Target="../media/image86.wmf"/><Relationship Id="rId9" Type="http://schemas.openxmlformats.org/officeDocument/2006/relationships/image" Target="../media/image76.wmf"/><Relationship Id="rId14" Type="http://schemas.openxmlformats.org/officeDocument/2006/relationships/image" Target="../media/image78.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79.wmf"/><Relationship Id="rId13" Type="http://schemas.openxmlformats.org/officeDocument/2006/relationships/image" Target="../media/image91.wmf"/><Relationship Id="rId18" Type="http://schemas.openxmlformats.org/officeDocument/2006/relationships/image" Target="../media/image96.wmf"/><Relationship Id="rId3" Type="http://schemas.openxmlformats.org/officeDocument/2006/relationships/image" Target="../media/image77.wmf"/><Relationship Id="rId7" Type="http://schemas.openxmlformats.org/officeDocument/2006/relationships/image" Target="../media/image78.wmf"/><Relationship Id="rId12" Type="http://schemas.openxmlformats.org/officeDocument/2006/relationships/image" Target="../media/image81.wmf"/><Relationship Id="rId17" Type="http://schemas.openxmlformats.org/officeDocument/2006/relationships/image" Target="../media/image95.wmf"/><Relationship Id="rId2" Type="http://schemas.openxmlformats.org/officeDocument/2006/relationships/image" Target="../media/image76.wmf"/><Relationship Id="rId16" Type="http://schemas.openxmlformats.org/officeDocument/2006/relationships/image" Target="../media/image94.wmf"/><Relationship Id="rId20" Type="http://schemas.openxmlformats.org/officeDocument/2006/relationships/image" Target="../media/image90.wmf"/><Relationship Id="rId1" Type="http://schemas.openxmlformats.org/officeDocument/2006/relationships/image" Target="../media/image12.wmf"/><Relationship Id="rId6" Type="http://schemas.openxmlformats.org/officeDocument/2006/relationships/image" Target="../media/image11.wmf"/><Relationship Id="rId11" Type="http://schemas.openxmlformats.org/officeDocument/2006/relationships/image" Target="../media/image7.wmf"/><Relationship Id="rId5" Type="http://schemas.openxmlformats.org/officeDocument/2006/relationships/image" Target="../media/image10.wmf"/><Relationship Id="rId15" Type="http://schemas.openxmlformats.org/officeDocument/2006/relationships/image" Target="../media/image93.wmf"/><Relationship Id="rId10" Type="http://schemas.openxmlformats.org/officeDocument/2006/relationships/image" Target="../media/image8.wmf"/><Relationship Id="rId19" Type="http://schemas.openxmlformats.org/officeDocument/2006/relationships/image" Target="../media/image89.wmf"/><Relationship Id="rId4" Type="http://schemas.openxmlformats.org/officeDocument/2006/relationships/image" Target="../media/image9.wmf"/><Relationship Id="rId9" Type="http://schemas.openxmlformats.org/officeDocument/2006/relationships/image" Target="../media/image80.wmf"/><Relationship Id="rId14" Type="http://schemas.openxmlformats.org/officeDocument/2006/relationships/image" Target="../media/image9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97.png"/></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00.wmf"/><Relationship Id="rId1" Type="http://schemas.openxmlformats.org/officeDocument/2006/relationships/image" Target="../media/image9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 Id="rId6" Type="http://schemas.openxmlformats.org/officeDocument/2006/relationships/image" Target="../media/image109.wmf"/><Relationship Id="rId5" Type="http://schemas.openxmlformats.org/officeDocument/2006/relationships/image" Target="../media/image108.wmf"/><Relationship Id="rId4" Type="http://schemas.openxmlformats.org/officeDocument/2006/relationships/image" Target="../media/image107.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15.wmf"/><Relationship Id="rId3" Type="http://schemas.openxmlformats.org/officeDocument/2006/relationships/image" Target="../media/image112.wmf"/><Relationship Id="rId7" Type="http://schemas.openxmlformats.org/officeDocument/2006/relationships/image" Target="../media/image107.wmf"/><Relationship Id="rId2" Type="http://schemas.openxmlformats.org/officeDocument/2006/relationships/image" Target="../media/image111.wmf"/><Relationship Id="rId1" Type="http://schemas.openxmlformats.org/officeDocument/2006/relationships/image" Target="../media/image110.wmf"/><Relationship Id="rId6" Type="http://schemas.openxmlformats.org/officeDocument/2006/relationships/image" Target="../media/image104.wmf"/><Relationship Id="rId5" Type="http://schemas.openxmlformats.org/officeDocument/2006/relationships/image" Target="../media/image114.wmf"/><Relationship Id="rId4" Type="http://schemas.openxmlformats.org/officeDocument/2006/relationships/image" Target="../media/image113.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 Id="rId6" Type="http://schemas.openxmlformats.org/officeDocument/2006/relationships/image" Target="../media/image127.wmf"/><Relationship Id="rId5" Type="http://schemas.openxmlformats.org/officeDocument/2006/relationships/image" Target="../media/image126.wmf"/><Relationship Id="rId4" Type="http://schemas.openxmlformats.org/officeDocument/2006/relationships/image" Target="../media/image125.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30.emf"/><Relationship Id="rId2" Type="http://schemas.openxmlformats.org/officeDocument/2006/relationships/image" Target="../media/image129.emf"/><Relationship Id="rId1" Type="http://schemas.openxmlformats.org/officeDocument/2006/relationships/image" Target="../media/image128.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image" Target="../media/image134.wmf"/><Relationship Id="rId1" Type="http://schemas.openxmlformats.org/officeDocument/2006/relationships/image" Target="../media/image133.wmf"/><Relationship Id="rId6" Type="http://schemas.openxmlformats.org/officeDocument/2006/relationships/image" Target="../media/image138.wmf"/><Relationship Id="rId5" Type="http://schemas.openxmlformats.org/officeDocument/2006/relationships/image" Target="../media/image137.wmf"/><Relationship Id="rId4" Type="http://schemas.openxmlformats.org/officeDocument/2006/relationships/image" Target="../media/image136.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image" Target="../media/image154.wmf"/><Relationship Id="rId3" Type="http://schemas.openxmlformats.org/officeDocument/2006/relationships/image" Target="../media/image6.wmf"/><Relationship Id="rId7" Type="http://schemas.openxmlformats.org/officeDocument/2006/relationships/image" Target="../media/image148.wmf"/><Relationship Id="rId12" Type="http://schemas.openxmlformats.org/officeDocument/2006/relationships/image" Target="../media/image153.wmf"/><Relationship Id="rId2" Type="http://schemas.openxmlformats.org/officeDocument/2006/relationships/image" Target="../media/image145.wmf"/><Relationship Id="rId1" Type="http://schemas.openxmlformats.org/officeDocument/2006/relationships/image" Target="../media/image144.wmf"/><Relationship Id="rId6" Type="http://schemas.openxmlformats.org/officeDocument/2006/relationships/image" Target="../media/image147.wmf"/><Relationship Id="rId11" Type="http://schemas.openxmlformats.org/officeDocument/2006/relationships/image" Target="../media/image152.wmf"/><Relationship Id="rId5" Type="http://schemas.openxmlformats.org/officeDocument/2006/relationships/image" Target="../media/image7.wmf"/><Relationship Id="rId15" Type="http://schemas.openxmlformats.org/officeDocument/2006/relationships/image" Target="../media/image156.wmf"/><Relationship Id="rId10" Type="http://schemas.openxmlformats.org/officeDocument/2006/relationships/image" Target="../media/image151.wmf"/><Relationship Id="rId4" Type="http://schemas.openxmlformats.org/officeDocument/2006/relationships/image" Target="../media/image146.wmf"/><Relationship Id="rId9" Type="http://schemas.openxmlformats.org/officeDocument/2006/relationships/image" Target="../media/image150.wmf"/><Relationship Id="rId14" Type="http://schemas.openxmlformats.org/officeDocument/2006/relationships/image" Target="../media/image155.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50.wmf"/><Relationship Id="rId13" Type="http://schemas.openxmlformats.org/officeDocument/2006/relationships/image" Target="../media/image162.wmf"/><Relationship Id="rId18" Type="http://schemas.openxmlformats.org/officeDocument/2006/relationships/image" Target="../media/image167.wmf"/><Relationship Id="rId3" Type="http://schemas.openxmlformats.org/officeDocument/2006/relationships/image" Target="../media/image6.wmf"/><Relationship Id="rId21" Type="http://schemas.openxmlformats.org/officeDocument/2006/relationships/image" Target="../media/image170.wmf"/><Relationship Id="rId7" Type="http://schemas.openxmlformats.org/officeDocument/2006/relationships/image" Target="../media/image149.wmf"/><Relationship Id="rId12" Type="http://schemas.openxmlformats.org/officeDocument/2006/relationships/image" Target="../media/image161.wmf"/><Relationship Id="rId17" Type="http://schemas.openxmlformats.org/officeDocument/2006/relationships/image" Target="../media/image166.wmf"/><Relationship Id="rId2" Type="http://schemas.openxmlformats.org/officeDocument/2006/relationships/image" Target="../media/image145.wmf"/><Relationship Id="rId16" Type="http://schemas.openxmlformats.org/officeDocument/2006/relationships/image" Target="../media/image165.wmf"/><Relationship Id="rId20" Type="http://schemas.openxmlformats.org/officeDocument/2006/relationships/image" Target="../media/image169.wmf"/><Relationship Id="rId1" Type="http://schemas.openxmlformats.org/officeDocument/2006/relationships/image" Target="../media/image144.wmf"/><Relationship Id="rId6" Type="http://schemas.openxmlformats.org/officeDocument/2006/relationships/image" Target="../media/image148.wmf"/><Relationship Id="rId11" Type="http://schemas.openxmlformats.org/officeDocument/2006/relationships/image" Target="../media/image160.wmf"/><Relationship Id="rId5" Type="http://schemas.openxmlformats.org/officeDocument/2006/relationships/image" Target="../media/image7.wmf"/><Relationship Id="rId15" Type="http://schemas.openxmlformats.org/officeDocument/2006/relationships/image" Target="../media/image164.wmf"/><Relationship Id="rId10" Type="http://schemas.openxmlformats.org/officeDocument/2006/relationships/image" Target="../media/image159.wmf"/><Relationship Id="rId19" Type="http://schemas.openxmlformats.org/officeDocument/2006/relationships/image" Target="../media/image168.wmf"/><Relationship Id="rId4" Type="http://schemas.openxmlformats.org/officeDocument/2006/relationships/image" Target="../media/image146.wmf"/><Relationship Id="rId9" Type="http://schemas.openxmlformats.org/officeDocument/2006/relationships/image" Target="../media/image158.wmf"/><Relationship Id="rId14" Type="http://schemas.openxmlformats.org/officeDocument/2006/relationships/image" Target="../media/image163.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image" Target="../media/image173.wmf"/><Relationship Id="rId18" Type="http://schemas.openxmlformats.org/officeDocument/2006/relationships/image" Target="../media/image170.wmf"/><Relationship Id="rId3" Type="http://schemas.openxmlformats.org/officeDocument/2006/relationships/image" Target="../media/image145.wmf"/><Relationship Id="rId7" Type="http://schemas.openxmlformats.org/officeDocument/2006/relationships/image" Target="../media/image148.wmf"/><Relationship Id="rId12" Type="http://schemas.openxmlformats.org/officeDocument/2006/relationships/image" Target="../media/image172.wmf"/><Relationship Id="rId17" Type="http://schemas.openxmlformats.org/officeDocument/2006/relationships/image" Target="../media/image177.wmf"/><Relationship Id="rId2" Type="http://schemas.openxmlformats.org/officeDocument/2006/relationships/image" Target="../media/image144.wmf"/><Relationship Id="rId16" Type="http://schemas.openxmlformats.org/officeDocument/2006/relationships/image" Target="../media/image176.wmf"/><Relationship Id="rId1" Type="http://schemas.openxmlformats.org/officeDocument/2006/relationships/image" Target="../media/image171.wmf"/><Relationship Id="rId6" Type="http://schemas.openxmlformats.org/officeDocument/2006/relationships/image" Target="../media/image7.wmf"/><Relationship Id="rId11" Type="http://schemas.openxmlformats.org/officeDocument/2006/relationships/image" Target="../media/image85.wmf"/><Relationship Id="rId5" Type="http://schemas.openxmlformats.org/officeDocument/2006/relationships/image" Target="../media/image146.wmf"/><Relationship Id="rId15" Type="http://schemas.openxmlformats.org/officeDocument/2006/relationships/image" Target="../media/image175.wmf"/><Relationship Id="rId10" Type="http://schemas.openxmlformats.org/officeDocument/2006/relationships/image" Target="../media/image158.wmf"/><Relationship Id="rId4" Type="http://schemas.openxmlformats.org/officeDocument/2006/relationships/image" Target="../media/image6.wmf"/><Relationship Id="rId9" Type="http://schemas.openxmlformats.org/officeDocument/2006/relationships/image" Target="../media/image150.wmf"/><Relationship Id="rId14" Type="http://schemas.openxmlformats.org/officeDocument/2006/relationships/image" Target="../media/image174.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82.emf"/><Relationship Id="rId2" Type="http://schemas.openxmlformats.org/officeDocument/2006/relationships/image" Target="../media/image181.wmf"/><Relationship Id="rId1" Type="http://schemas.openxmlformats.org/officeDocument/2006/relationships/image" Target="../media/image50.wmf"/><Relationship Id="rId4" Type="http://schemas.openxmlformats.org/officeDocument/2006/relationships/image" Target="../media/image183.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98.emf"/><Relationship Id="rId3" Type="http://schemas.openxmlformats.org/officeDocument/2006/relationships/image" Target="../media/image193.wmf"/><Relationship Id="rId7" Type="http://schemas.openxmlformats.org/officeDocument/2006/relationships/image" Target="../media/image197.emf"/><Relationship Id="rId2" Type="http://schemas.openxmlformats.org/officeDocument/2006/relationships/image" Target="../media/image192.wmf"/><Relationship Id="rId1" Type="http://schemas.openxmlformats.org/officeDocument/2006/relationships/image" Target="../media/image191.wmf"/><Relationship Id="rId6" Type="http://schemas.openxmlformats.org/officeDocument/2006/relationships/image" Target="../media/image196.wmf"/><Relationship Id="rId5" Type="http://schemas.openxmlformats.org/officeDocument/2006/relationships/image" Target="../media/image195.emf"/><Relationship Id="rId4" Type="http://schemas.openxmlformats.org/officeDocument/2006/relationships/image" Target="../media/image194.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200.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201.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10.wmf"/><Relationship Id="rId7" Type="http://schemas.openxmlformats.org/officeDocument/2006/relationships/image" Target="../media/image214.wmf"/><Relationship Id="rId2" Type="http://schemas.openxmlformats.org/officeDocument/2006/relationships/image" Target="../media/image209.wmf"/><Relationship Id="rId1" Type="http://schemas.openxmlformats.org/officeDocument/2006/relationships/image" Target="../media/image208.wmf"/><Relationship Id="rId6" Type="http://schemas.openxmlformats.org/officeDocument/2006/relationships/image" Target="../media/image213.wmf"/><Relationship Id="rId5" Type="http://schemas.openxmlformats.org/officeDocument/2006/relationships/image" Target="../media/image212.wmf"/><Relationship Id="rId4" Type="http://schemas.openxmlformats.org/officeDocument/2006/relationships/image" Target="../media/image211.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17.wmf"/><Relationship Id="rId2" Type="http://schemas.openxmlformats.org/officeDocument/2006/relationships/image" Target="../media/image216.wmf"/><Relationship Id="rId1" Type="http://schemas.openxmlformats.org/officeDocument/2006/relationships/image" Target="../media/image211.wmf"/><Relationship Id="rId5" Type="http://schemas.openxmlformats.org/officeDocument/2006/relationships/image" Target="../media/image219.wmf"/><Relationship Id="rId4" Type="http://schemas.openxmlformats.org/officeDocument/2006/relationships/image" Target="../media/image218.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222.wmf"/><Relationship Id="rId1" Type="http://schemas.openxmlformats.org/officeDocument/2006/relationships/image" Target="../media/image221.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30.emf"/><Relationship Id="rId13" Type="http://schemas.openxmlformats.org/officeDocument/2006/relationships/image" Target="../media/image235.emf"/><Relationship Id="rId3" Type="http://schemas.openxmlformats.org/officeDocument/2006/relationships/image" Target="../media/image225.wmf"/><Relationship Id="rId7" Type="http://schemas.openxmlformats.org/officeDocument/2006/relationships/image" Target="../media/image229.emf"/><Relationship Id="rId12" Type="http://schemas.openxmlformats.org/officeDocument/2006/relationships/image" Target="../media/image234.emf"/><Relationship Id="rId2" Type="http://schemas.openxmlformats.org/officeDocument/2006/relationships/image" Target="../media/image224.wmf"/><Relationship Id="rId1" Type="http://schemas.openxmlformats.org/officeDocument/2006/relationships/image" Target="../media/image223.wmf"/><Relationship Id="rId6" Type="http://schemas.openxmlformats.org/officeDocument/2006/relationships/image" Target="../media/image228.wmf"/><Relationship Id="rId11" Type="http://schemas.openxmlformats.org/officeDocument/2006/relationships/image" Target="../media/image233.emf"/><Relationship Id="rId5" Type="http://schemas.openxmlformats.org/officeDocument/2006/relationships/image" Target="../media/image227.wmf"/><Relationship Id="rId10" Type="http://schemas.openxmlformats.org/officeDocument/2006/relationships/image" Target="../media/image232.emf"/><Relationship Id="rId4" Type="http://schemas.openxmlformats.org/officeDocument/2006/relationships/image" Target="../media/image226.wmf"/><Relationship Id="rId9" Type="http://schemas.openxmlformats.org/officeDocument/2006/relationships/image" Target="../media/image231.emf"/><Relationship Id="rId14" Type="http://schemas.openxmlformats.org/officeDocument/2006/relationships/image" Target="../media/image236.e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39.wmf"/><Relationship Id="rId7" Type="http://schemas.openxmlformats.org/officeDocument/2006/relationships/image" Target="../media/image243.wmf"/><Relationship Id="rId2" Type="http://schemas.openxmlformats.org/officeDocument/2006/relationships/image" Target="../media/image238.wmf"/><Relationship Id="rId1" Type="http://schemas.openxmlformats.org/officeDocument/2006/relationships/image" Target="../media/image237.wmf"/><Relationship Id="rId6" Type="http://schemas.openxmlformats.org/officeDocument/2006/relationships/image" Target="../media/image242.wmf"/><Relationship Id="rId5" Type="http://schemas.openxmlformats.org/officeDocument/2006/relationships/image" Target="../media/image241.wmf"/><Relationship Id="rId4" Type="http://schemas.openxmlformats.org/officeDocument/2006/relationships/image" Target="../media/image240.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46.emf"/><Relationship Id="rId2" Type="http://schemas.openxmlformats.org/officeDocument/2006/relationships/image" Target="../media/image245.wmf"/><Relationship Id="rId1" Type="http://schemas.openxmlformats.org/officeDocument/2006/relationships/image" Target="../media/image244.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249.wmf"/><Relationship Id="rId1" Type="http://schemas.openxmlformats.org/officeDocument/2006/relationships/image" Target="../media/image248.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52.wmf"/><Relationship Id="rId2" Type="http://schemas.openxmlformats.org/officeDocument/2006/relationships/image" Target="../media/image251.wmf"/><Relationship Id="rId1" Type="http://schemas.openxmlformats.org/officeDocument/2006/relationships/image" Target="../media/image250.wmf"/><Relationship Id="rId5" Type="http://schemas.openxmlformats.org/officeDocument/2006/relationships/image" Target="../media/image254.wmf"/><Relationship Id="rId4" Type="http://schemas.openxmlformats.org/officeDocument/2006/relationships/image" Target="../media/image253.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58.wmf"/><Relationship Id="rId2" Type="http://schemas.openxmlformats.org/officeDocument/2006/relationships/image" Target="../media/image257.wmf"/><Relationship Id="rId1" Type="http://schemas.openxmlformats.org/officeDocument/2006/relationships/image" Target="../media/image256.wmf"/><Relationship Id="rId4" Type="http://schemas.openxmlformats.org/officeDocument/2006/relationships/image" Target="../media/image259.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62.wmf"/><Relationship Id="rId2" Type="http://schemas.openxmlformats.org/officeDocument/2006/relationships/image" Target="../media/image261.wmf"/><Relationship Id="rId1" Type="http://schemas.openxmlformats.org/officeDocument/2006/relationships/image" Target="../media/image260.wmf"/><Relationship Id="rId6" Type="http://schemas.openxmlformats.org/officeDocument/2006/relationships/image" Target="../media/image256.wmf"/><Relationship Id="rId5" Type="http://schemas.openxmlformats.org/officeDocument/2006/relationships/image" Target="../media/image258.wmf"/><Relationship Id="rId4" Type="http://schemas.openxmlformats.org/officeDocument/2006/relationships/image" Target="../media/image257.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258.wmf"/><Relationship Id="rId1" Type="http://schemas.openxmlformats.org/officeDocument/2006/relationships/image" Target="../media/image264.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67.wmf"/><Relationship Id="rId2" Type="http://schemas.openxmlformats.org/officeDocument/2006/relationships/image" Target="../media/image266.wmf"/><Relationship Id="rId1" Type="http://schemas.openxmlformats.org/officeDocument/2006/relationships/image" Target="../media/image265.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70.wmf"/><Relationship Id="rId2" Type="http://schemas.openxmlformats.org/officeDocument/2006/relationships/image" Target="../media/image269.wmf"/><Relationship Id="rId1" Type="http://schemas.openxmlformats.org/officeDocument/2006/relationships/image" Target="../media/image268.wmf"/><Relationship Id="rId6" Type="http://schemas.openxmlformats.org/officeDocument/2006/relationships/image" Target="../media/image273.wmf"/><Relationship Id="rId5" Type="http://schemas.openxmlformats.org/officeDocument/2006/relationships/image" Target="../media/image272.wmf"/><Relationship Id="rId4" Type="http://schemas.openxmlformats.org/officeDocument/2006/relationships/image" Target="../media/image271.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76.wmf"/><Relationship Id="rId7" Type="http://schemas.openxmlformats.org/officeDocument/2006/relationships/image" Target="../media/image280.wmf"/><Relationship Id="rId2" Type="http://schemas.openxmlformats.org/officeDocument/2006/relationships/image" Target="../media/image275.wmf"/><Relationship Id="rId1" Type="http://schemas.openxmlformats.org/officeDocument/2006/relationships/image" Target="../media/image274.wmf"/><Relationship Id="rId6" Type="http://schemas.openxmlformats.org/officeDocument/2006/relationships/image" Target="../media/image279.wmf"/><Relationship Id="rId5" Type="http://schemas.openxmlformats.org/officeDocument/2006/relationships/image" Target="../media/image278.wmf"/><Relationship Id="rId4" Type="http://schemas.openxmlformats.org/officeDocument/2006/relationships/image" Target="../media/image277.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83.wmf"/><Relationship Id="rId2" Type="http://schemas.openxmlformats.org/officeDocument/2006/relationships/image" Target="../media/image282.wmf"/><Relationship Id="rId1" Type="http://schemas.openxmlformats.org/officeDocument/2006/relationships/image" Target="../media/image281.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86.wmf"/><Relationship Id="rId2" Type="http://schemas.openxmlformats.org/officeDocument/2006/relationships/image" Target="../media/image285.wmf"/><Relationship Id="rId1" Type="http://schemas.openxmlformats.org/officeDocument/2006/relationships/image" Target="../media/image284.wmf"/><Relationship Id="rId6" Type="http://schemas.openxmlformats.org/officeDocument/2006/relationships/image" Target="../media/image289.wmf"/><Relationship Id="rId5" Type="http://schemas.openxmlformats.org/officeDocument/2006/relationships/image" Target="../media/image288.wmf"/><Relationship Id="rId4" Type="http://schemas.openxmlformats.org/officeDocument/2006/relationships/image" Target="../media/image287.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182.emf"/><Relationship Id="rId7" Type="http://schemas.openxmlformats.org/officeDocument/2006/relationships/image" Target="../media/image259.wmf"/><Relationship Id="rId2" Type="http://schemas.openxmlformats.org/officeDocument/2006/relationships/image" Target="../media/image181.wmf"/><Relationship Id="rId1" Type="http://schemas.openxmlformats.org/officeDocument/2006/relationships/image" Target="../media/image50.wmf"/><Relationship Id="rId6" Type="http://schemas.openxmlformats.org/officeDocument/2006/relationships/image" Target="../media/image257.wmf"/><Relationship Id="rId5" Type="http://schemas.openxmlformats.org/officeDocument/2006/relationships/image" Target="../media/image264.wmf"/><Relationship Id="rId4" Type="http://schemas.openxmlformats.org/officeDocument/2006/relationships/image" Target="../media/image183.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92.wmf"/><Relationship Id="rId2" Type="http://schemas.openxmlformats.org/officeDocument/2006/relationships/image" Target="../media/image291.wmf"/><Relationship Id="rId1" Type="http://schemas.openxmlformats.org/officeDocument/2006/relationships/image" Target="../media/image290.wmf"/><Relationship Id="rId6" Type="http://schemas.openxmlformats.org/officeDocument/2006/relationships/image" Target="../media/image295.wmf"/><Relationship Id="rId5" Type="http://schemas.openxmlformats.org/officeDocument/2006/relationships/image" Target="../media/image294.wmf"/><Relationship Id="rId4" Type="http://schemas.openxmlformats.org/officeDocument/2006/relationships/image" Target="../media/image293.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297.wmf"/><Relationship Id="rId2" Type="http://schemas.openxmlformats.org/officeDocument/2006/relationships/image" Target="../media/image258.wmf"/><Relationship Id="rId1" Type="http://schemas.openxmlformats.org/officeDocument/2006/relationships/image" Target="../media/image256.wmf"/><Relationship Id="rId5" Type="http://schemas.openxmlformats.org/officeDocument/2006/relationships/image" Target="../media/image295.wmf"/><Relationship Id="rId4" Type="http://schemas.openxmlformats.org/officeDocument/2006/relationships/image" Target="../media/image293.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98.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301.wmf"/><Relationship Id="rId2" Type="http://schemas.openxmlformats.org/officeDocument/2006/relationships/image" Target="../media/image300.wmf"/><Relationship Id="rId1" Type="http://schemas.openxmlformats.org/officeDocument/2006/relationships/image" Target="../media/image299.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303.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309.wmf"/><Relationship Id="rId2" Type="http://schemas.openxmlformats.org/officeDocument/2006/relationships/image" Target="../media/image308.wmf"/><Relationship Id="rId1" Type="http://schemas.openxmlformats.org/officeDocument/2006/relationships/image" Target="../media/image307.wmf"/><Relationship Id="rId4" Type="http://schemas.openxmlformats.org/officeDocument/2006/relationships/image" Target="../media/image310.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310.w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312.wmf"/><Relationship Id="rId1" Type="http://schemas.openxmlformats.org/officeDocument/2006/relationships/image" Target="../media/image311.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315.wmf"/><Relationship Id="rId2" Type="http://schemas.openxmlformats.org/officeDocument/2006/relationships/image" Target="../media/image314.emf"/><Relationship Id="rId1" Type="http://schemas.openxmlformats.org/officeDocument/2006/relationships/image" Target="../media/image313.emf"/><Relationship Id="rId5" Type="http://schemas.openxmlformats.org/officeDocument/2006/relationships/image" Target="../media/image317.wmf"/><Relationship Id="rId4" Type="http://schemas.openxmlformats.org/officeDocument/2006/relationships/image" Target="../media/image316.w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319.wmf"/><Relationship Id="rId1" Type="http://schemas.openxmlformats.org/officeDocument/2006/relationships/image" Target="../media/image318.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320.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3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charset="-122"/>
              </a:defRPr>
            </a:lvl1pPr>
          </a:lstStyle>
          <a:p>
            <a:pPr>
              <a:defRPr/>
            </a:pPr>
            <a:fld id="{04620FB3-7A8B-4334-A16E-3A8D82218F78}" type="datetimeFigureOut">
              <a:rPr lang="zh-CN" altLang="en-US"/>
              <a:pPr>
                <a:defRPr/>
              </a:pPr>
              <a:t>2025/11/26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宋体" charset="-122"/>
              </a:defRPr>
            </a:lvl1pPr>
          </a:lstStyle>
          <a:p>
            <a:pPr>
              <a:defRPr/>
            </a:pPr>
            <a:fld id="{11F4CC6D-8FC7-4280-9D33-CCEFF559E81D}" type="slidenum">
              <a:rPr lang="zh-CN" altLang="en-US"/>
              <a:pPr>
                <a:defRPr/>
              </a:pPr>
              <a:t>‹#›</a:t>
            </a:fld>
            <a:endParaRPr lang="zh-CN" altLang="en-US"/>
          </a:p>
        </p:txBody>
      </p:sp>
    </p:spTree>
    <p:extLst>
      <p:ext uri="{BB962C8B-B14F-4D97-AF65-F5344CB8AC3E}">
        <p14:creationId xmlns:p14="http://schemas.microsoft.com/office/powerpoint/2010/main" val="36996926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enwen.sogou.com/s/?w=%E6%B1%BD%E6%B2%B9%E6%9C%BA&amp;ch=ww.xqy.chain" TargetMode="External"/><Relationship Id="rId2" Type="http://schemas.openxmlformats.org/officeDocument/2006/relationships/slide" Target="../slides/slide9.xml"/><Relationship Id="rId1" Type="http://schemas.openxmlformats.org/officeDocument/2006/relationships/notesMaster" Target="../notesMasters/notesMaster1.xml"/><Relationship Id="rId5" Type="http://schemas.openxmlformats.org/officeDocument/2006/relationships/hyperlink" Target="http://www.baidu.com/s?wd=%E5%A4%A7%E5%9E%8B%E5%AE%A2%E8%BD%A6&amp;tn=SE_PcZhidaonwhc_ngpagmjz&amp;rsv_dl=gh_pc_zhidao" TargetMode="External"/><Relationship Id="rId4" Type="http://schemas.openxmlformats.org/officeDocument/2006/relationships/hyperlink" Target="http://www.baidu.com/s?wd=%E5%8E%8B%E7%BC%A9%E7%A9%BA%E6%B0%94&amp;tn=SE_PcZhidaonwhc_ngpagmjz&amp;rsv_dl=gh_pc_zhidao"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F43C2FAF-DA94-49A5-91F3-F49A3BBB726F}"/>
              </a:ext>
            </a:extLst>
          </p:cNvPr>
          <p:cNvSpPr>
            <a:spLocks noGrp="1" noRot="1" noChangeAspect="1" noChangeArrowheads="1" noTextEdit="1"/>
          </p:cNvSpPr>
          <p:nvPr>
            <p:ph type="sldImg"/>
          </p:nvPr>
        </p:nvSpPr>
        <p:spPr>
          <a:ln/>
        </p:spPr>
      </p:sp>
      <p:sp>
        <p:nvSpPr>
          <p:cNvPr id="62467" name="备注占位符 2">
            <a:extLst>
              <a:ext uri="{FF2B5EF4-FFF2-40B4-BE49-F238E27FC236}">
                <a16:creationId xmlns:a16="http://schemas.microsoft.com/office/drawing/2014/main" id="{B809AB53-0C85-400C-871E-35962592B513}"/>
              </a:ext>
            </a:extLst>
          </p:cNvPr>
          <p:cNvSpPr>
            <a:spLocks noGrp="1" noChangeArrowheads="1"/>
          </p:cNvSpPr>
          <p:nvPr>
            <p:ph type="body" idx="1"/>
          </p:nvPr>
        </p:nvSpPr>
        <p:spPr>
          <a:noFill/>
        </p:spPr>
        <p:txBody>
          <a:bodyPr/>
          <a:lstStyle/>
          <a:p>
            <a:endParaRPr lang="zh-CN" altLang="en-US">
              <a:ea typeface="宋体" panose="02010600030101010101" pitchFamily="2" charset="-122"/>
            </a:endParaRPr>
          </a:p>
        </p:txBody>
      </p:sp>
      <p:sp>
        <p:nvSpPr>
          <p:cNvPr id="62468" name="灯片编号占位符 3">
            <a:extLst>
              <a:ext uri="{FF2B5EF4-FFF2-40B4-BE49-F238E27FC236}">
                <a16:creationId xmlns:a16="http://schemas.microsoft.com/office/drawing/2014/main" id="{2F307CAF-220B-4DA3-8B59-39021071D684}"/>
              </a:ext>
            </a:extLst>
          </p:cNvPr>
          <p:cNvSpPr>
            <a:spLocks noGrp="1"/>
          </p:cNvSpPr>
          <p:nvPr>
            <p:ph type="sldNum" sz="quarter" idx="5"/>
          </p:nvPr>
        </p:nvSpPr>
        <p:spPr>
          <a:noFill/>
        </p:spPr>
        <p:txBody>
          <a:bodyPr/>
          <a:lstStyle>
            <a:lvl1pPr>
              <a:defRPr kumimoji="1" sz="2800" i="1">
                <a:solidFill>
                  <a:schemeClr val="tx1"/>
                </a:solidFill>
                <a:latin typeface="Times New Roman" panose="02020603050405020304" pitchFamily="18" charset="0"/>
                <a:ea typeface="宋体" panose="02010600030101010101" pitchFamily="2" charset="-122"/>
              </a:defRPr>
            </a:lvl1pPr>
            <a:lvl2pPr marL="742950" indent="-285750">
              <a:defRPr kumimoji="1" sz="2800" i="1">
                <a:solidFill>
                  <a:schemeClr val="tx1"/>
                </a:solidFill>
                <a:latin typeface="Times New Roman" panose="02020603050405020304" pitchFamily="18" charset="0"/>
                <a:ea typeface="宋体" panose="02010600030101010101" pitchFamily="2" charset="-122"/>
              </a:defRPr>
            </a:lvl2pPr>
            <a:lvl3pPr marL="1143000" indent="-228600">
              <a:defRPr kumimoji="1" sz="2800" i="1">
                <a:solidFill>
                  <a:schemeClr val="tx1"/>
                </a:solidFill>
                <a:latin typeface="Times New Roman" panose="02020603050405020304" pitchFamily="18" charset="0"/>
                <a:ea typeface="宋体" panose="02010600030101010101" pitchFamily="2" charset="-122"/>
              </a:defRPr>
            </a:lvl3pPr>
            <a:lvl4pPr marL="1600200" indent="-228600">
              <a:defRPr kumimoji="1" sz="2800" i="1">
                <a:solidFill>
                  <a:schemeClr val="tx1"/>
                </a:solidFill>
                <a:latin typeface="Times New Roman" panose="02020603050405020304" pitchFamily="18" charset="0"/>
                <a:ea typeface="宋体" panose="02010600030101010101" pitchFamily="2" charset="-122"/>
              </a:defRPr>
            </a:lvl4pPr>
            <a:lvl5pPr marL="2057400" indent="-228600">
              <a:defRPr kumimoji="1" sz="28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i="1">
                <a:solidFill>
                  <a:schemeClr val="tx1"/>
                </a:solidFill>
                <a:latin typeface="Times New Roman" panose="02020603050405020304" pitchFamily="18" charset="0"/>
                <a:ea typeface="宋体" panose="02010600030101010101" pitchFamily="2" charset="-122"/>
              </a:defRPr>
            </a:lvl9pPr>
          </a:lstStyle>
          <a:p>
            <a:fld id="{80CE7186-D4A7-4A88-AABE-D6DD62F66029}" type="slidenum">
              <a:rPr lang="zh-CN" altLang="en-US" sz="1200" i="0" smtClean="0"/>
              <a:pPr/>
              <a:t>1</a:t>
            </a:fld>
            <a:endParaRPr lang="zh-CN" altLang="en-US" sz="1200" i="0"/>
          </a:p>
        </p:txBody>
      </p:sp>
    </p:spTree>
    <p:extLst>
      <p:ext uri="{BB962C8B-B14F-4D97-AF65-F5344CB8AC3E}">
        <p14:creationId xmlns:p14="http://schemas.microsoft.com/office/powerpoint/2010/main" val="416117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2030</a:t>
            </a:r>
            <a:r>
              <a:rPr lang="zh-CN" altLang="en-US"/>
              <a:t>年全部淘汰燃油汽车，实现汽车零排放。</a:t>
            </a:r>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4</a:t>
            </a:fld>
            <a:endParaRPr lang="zh-CN" altLang="en-US"/>
          </a:p>
        </p:txBody>
      </p:sp>
    </p:spTree>
    <p:extLst>
      <p:ext uri="{BB962C8B-B14F-4D97-AF65-F5344CB8AC3E}">
        <p14:creationId xmlns:p14="http://schemas.microsoft.com/office/powerpoint/2010/main" val="500385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2030</a:t>
            </a:r>
            <a:r>
              <a:rPr lang="zh-CN" altLang="en-US"/>
              <a:t>年全部淘汰燃油汽车，实现汽车零排放。</a:t>
            </a:r>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5</a:t>
            </a:fld>
            <a:endParaRPr lang="zh-CN" altLang="en-US"/>
          </a:p>
        </p:txBody>
      </p:sp>
    </p:spTree>
    <p:extLst>
      <p:ext uri="{BB962C8B-B14F-4D97-AF65-F5344CB8AC3E}">
        <p14:creationId xmlns:p14="http://schemas.microsoft.com/office/powerpoint/2010/main" val="3707165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2030</a:t>
            </a:r>
            <a:r>
              <a:rPr lang="zh-CN" altLang="en-US"/>
              <a:t>年全部淘汰燃油汽车，实现汽车零排放。</a:t>
            </a:r>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6</a:t>
            </a:fld>
            <a:endParaRPr lang="zh-CN" altLang="en-US"/>
          </a:p>
        </p:txBody>
      </p:sp>
    </p:spTree>
    <p:extLst>
      <p:ext uri="{BB962C8B-B14F-4D97-AF65-F5344CB8AC3E}">
        <p14:creationId xmlns:p14="http://schemas.microsoft.com/office/powerpoint/2010/main" val="2091162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主要是点燃方式不同：</a:t>
            </a:r>
            <a:r>
              <a:rPr lang="zh-CN" altLang="en-US" sz="1200" u="none" strike="noStrike" kern="1200">
                <a:solidFill>
                  <a:schemeClr val="tx1"/>
                </a:solidFill>
                <a:effectLst/>
                <a:latin typeface="+mn-lt"/>
                <a:ea typeface="+mn-ea"/>
                <a:cs typeface="+mn-cs"/>
                <a:hlinkClick r:id="rId3"/>
              </a:rPr>
              <a:t>汽油机</a:t>
            </a:r>
            <a:r>
              <a:rPr lang="zh-CN" altLang="en-US"/>
              <a:t>为火化塞</a:t>
            </a:r>
            <a:r>
              <a:rPr lang="en-US" altLang="zh-CN"/>
              <a:t>,</a:t>
            </a:r>
            <a:r>
              <a:rPr lang="zh-CN" altLang="en-US"/>
              <a:t>柴油机为压燃的。</a:t>
            </a:r>
            <a:br>
              <a:rPr lang="zh-CN" altLang="en-US"/>
            </a:br>
            <a:r>
              <a:rPr lang="zh-CN" altLang="en-US"/>
              <a:t>汽油机就是以汽油为燃料，柴油机就是以柴油为燃料。然而，除了燃料不同，两者还有以下区别： </a:t>
            </a:r>
            <a:br>
              <a:rPr lang="zh-CN" altLang="en-US"/>
            </a:br>
            <a:r>
              <a:rPr lang="en-US" altLang="zh-CN"/>
              <a:t>1.</a:t>
            </a:r>
            <a:r>
              <a:rPr lang="zh-CN" altLang="en-US"/>
              <a:t>汽油机是点燃式的，燃料在汽缸内靠电火花塞点燃；而柴油机是压燃式的，燃料依靠汽缸内空气压缩产生的热量引燃，也就是空气压缩会升高温度，当</a:t>
            </a:r>
            <a:r>
              <a:rPr lang="zh-CN" altLang="en-US">
                <a:hlinkClick r:id="rId4"/>
              </a:rPr>
              <a:t>压缩空气</a:t>
            </a:r>
            <a:r>
              <a:rPr lang="zh-CN" altLang="en-US"/>
              <a:t>的温度高于柴油的燃点时柴油就会燃烧。 </a:t>
            </a:r>
            <a:br>
              <a:rPr lang="zh-CN" altLang="en-US"/>
            </a:br>
            <a:r>
              <a:rPr lang="en-US" altLang="zh-CN"/>
              <a:t>2.</a:t>
            </a:r>
            <a:r>
              <a:rPr lang="zh-CN" altLang="en-US"/>
              <a:t>汽油机的汽缸压缩比较低，通常在</a:t>
            </a:r>
            <a:r>
              <a:rPr lang="en-US" altLang="zh-CN"/>
              <a:t>10</a:t>
            </a:r>
            <a:r>
              <a:rPr lang="zh-CN" altLang="en-US"/>
              <a:t>以下，而柴油机的汽缸压缩比较高，一般都在</a:t>
            </a:r>
            <a:r>
              <a:rPr lang="en-US" altLang="zh-CN"/>
              <a:t>14</a:t>
            </a:r>
            <a:r>
              <a:rPr lang="zh-CN" altLang="en-US"/>
              <a:t>以上。 </a:t>
            </a:r>
            <a:br>
              <a:rPr lang="zh-CN" altLang="en-US"/>
            </a:br>
            <a:r>
              <a:rPr lang="en-US" altLang="zh-CN"/>
              <a:t>3.</a:t>
            </a:r>
            <a:r>
              <a:rPr lang="zh-CN" altLang="en-US"/>
              <a:t>汽油机震动小、转速高，适用于轿车和轻型车辆，而柴油机功率大，经济性能好，适用于卡车和</a:t>
            </a:r>
            <a:r>
              <a:rPr lang="zh-CN" altLang="en-US">
                <a:hlinkClick r:id="rId5"/>
              </a:rPr>
              <a:t>大型客车</a:t>
            </a:r>
            <a:r>
              <a:rPr lang="zh-CN" altLang="en-US"/>
              <a:t>。由于柴油较汽油廉价，而且柴油机动力强劲，目前越来越多的车辆使用柴油机，出现了柴油轿车。 </a:t>
            </a:r>
            <a:br>
              <a:rPr lang="zh-CN" altLang="en-US"/>
            </a:br>
            <a:r>
              <a:rPr lang="en-US" altLang="zh-CN"/>
              <a:t>4.</a:t>
            </a:r>
            <a:r>
              <a:rPr lang="zh-CN" altLang="en-US"/>
              <a:t>由于轿车、客车等汽油机车辆经常在市内行驶，因道路拥堵常处于停停开开状态，发动机也经常怠速运转，温度较低，即使在正常运转条件下汽油机的温度和压力都比柴油机低，因此在汽油机的工作条件下，发动机机油容易产生低温油泥，所以要求汽油机油具有良好的低温油泥分散性；而柴油机车辆经常在公路上行驶，车辆长时间运行，发动机温度和压力都较高，汽缸内产生较多的烟灰和积炭，发动机油也容易氧化产生胶质，因此柴油机油要求具有良好的高温清净性。 </a:t>
            </a:r>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9</a:t>
            </a:fld>
            <a:endParaRPr lang="zh-CN" altLang="en-US"/>
          </a:p>
        </p:txBody>
      </p:sp>
    </p:spTree>
    <p:extLst>
      <p:ext uri="{BB962C8B-B14F-4D97-AF65-F5344CB8AC3E}">
        <p14:creationId xmlns:p14="http://schemas.microsoft.com/office/powerpoint/2010/main" val="2626858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a:t> 蒸汽机是加入水以蒸汽为工质的循环热机。如图所示，水泵</a:t>
            </a:r>
            <a:r>
              <a:rPr lang="en-US" altLang="zh-CN" b="1" dirty="0"/>
              <a:t>C</a:t>
            </a:r>
            <a:r>
              <a:rPr lang="zh-CN" altLang="en-US" b="1" dirty="0"/>
              <a:t>将水箱内的水唧入锅炉</a:t>
            </a:r>
            <a:r>
              <a:rPr lang="en-US" altLang="zh-CN" b="1" dirty="0"/>
              <a:t>B</a:t>
            </a:r>
            <a:r>
              <a:rPr lang="zh-CN" altLang="en-US" b="1" dirty="0"/>
              <a:t>后，把水加热变成高温、高压的蒸汽，这是一个吸热使内能增加的过程。蒸汽通过管道进入汽缸</a:t>
            </a:r>
            <a:r>
              <a:rPr lang="en-US" altLang="zh-CN" b="1" dirty="0"/>
              <a:t>D</a:t>
            </a:r>
            <a:r>
              <a:rPr lang="zh-CN" altLang="en-US" b="1" dirty="0"/>
              <a:t>，在汽缸</a:t>
            </a:r>
            <a:r>
              <a:rPr lang="en-US" altLang="zh-CN" b="1" dirty="0"/>
              <a:t>D</a:t>
            </a:r>
            <a:r>
              <a:rPr lang="zh-CN" altLang="en-US" b="1" dirty="0"/>
              <a:t>内膨胀，推动活塞对外作功</a:t>
            </a:r>
            <a:r>
              <a:rPr lang="en-US" altLang="zh-CN" b="1" dirty="0"/>
              <a:t>;</a:t>
            </a:r>
            <a:r>
              <a:rPr lang="zh-CN" altLang="en-US" b="1" dirty="0"/>
              <a:t>同时蒸汽内能减少。在这一过程中，一部分内能通过作功转化为机械能。最后蒸汽成为废气，进入冷凝器</a:t>
            </a:r>
            <a:r>
              <a:rPr lang="en-US" altLang="zh-CN" b="1" dirty="0"/>
              <a:t>E</a:t>
            </a:r>
            <a:r>
              <a:rPr lang="zh-CN" altLang="en-US" b="1" dirty="0"/>
              <a:t>，在冷凝器</a:t>
            </a:r>
            <a:r>
              <a:rPr lang="en-US" altLang="zh-CN" b="1" dirty="0"/>
              <a:t>E</a:t>
            </a:r>
            <a:r>
              <a:rPr lang="zh-CN" altLang="en-US" b="1" dirty="0"/>
              <a:t>中通过冷却水，将废气冷却，放出热量，凝结成水，再借水泵</a:t>
            </a:r>
            <a:r>
              <a:rPr lang="en-US" altLang="zh-CN" b="1" dirty="0"/>
              <a:t>C</a:t>
            </a:r>
            <a:r>
              <a:rPr lang="zh-CN" altLang="en-US" b="1" dirty="0"/>
              <a:t>将水唧入水箱，并经水泵</a:t>
            </a:r>
            <a:r>
              <a:rPr lang="en-US" altLang="zh-CN" b="1" dirty="0"/>
              <a:t>C</a:t>
            </a:r>
            <a:r>
              <a:rPr lang="zh-CN" altLang="en-US" b="1" dirty="0"/>
              <a:t>再次将水唧入锅炉</a:t>
            </a:r>
            <a:r>
              <a:rPr lang="en-US" altLang="zh-CN" b="1" dirty="0"/>
              <a:t>B</a:t>
            </a:r>
            <a:r>
              <a:rPr lang="zh-CN" altLang="en-US" b="1" dirty="0"/>
              <a:t>加热，使蒸汽恢复原始状态，然后再进行第二次循环。</a:t>
            </a:r>
          </a:p>
          <a:p>
            <a:endParaRPr lang="zh-CN" altLang="en-US" dirty="0"/>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10</a:t>
            </a:fld>
            <a:endParaRPr lang="zh-CN" altLang="en-US"/>
          </a:p>
        </p:txBody>
      </p:sp>
    </p:spTree>
    <p:extLst>
      <p:ext uri="{BB962C8B-B14F-4D97-AF65-F5344CB8AC3E}">
        <p14:creationId xmlns:p14="http://schemas.microsoft.com/office/powerpoint/2010/main" val="178660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13</a:t>
            </a:fld>
            <a:endParaRPr lang="zh-CN" altLang="en-US"/>
          </a:p>
        </p:txBody>
      </p:sp>
    </p:spTree>
    <p:extLst>
      <p:ext uri="{BB962C8B-B14F-4D97-AF65-F5344CB8AC3E}">
        <p14:creationId xmlns:p14="http://schemas.microsoft.com/office/powerpoint/2010/main" val="660784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21</a:t>
            </a:fld>
            <a:endParaRPr lang="zh-CN" altLang="en-US"/>
          </a:p>
        </p:txBody>
      </p:sp>
    </p:spTree>
    <p:extLst>
      <p:ext uri="{BB962C8B-B14F-4D97-AF65-F5344CB8AC3E}">
        <p14:creationId xmlns:p14="http://schemas.microsoft.com/office/powerpoint/2010/main" val="2534963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24</a:t>
            </a:fld>
            <a:endParaRPr lang="zh-CN" altLang="en-US"/>
          </a:p>
        </p:txBody>
      </p:sp>
    </p:spTree>
    <p:extLst>
      <p:ext uri="{BB962C8B-B14F-4D97-AF65-F5344CB8AC3E}">
        <p14:creationId xmlns:p14="http://schemas.microsoft.com/office/powerpoint/2010/main" val="2111365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25</a:t>
            </a:fld>
            <a:endParaRPr lang="zh-CN" altLang="en-US"/>
          </a:p>
        </p:txBody>
      </p:sp>
    </p:spTree>
    <p:extLst>
      <p:ext uri="{BB962C8B-B14F-4D97-AF65-F5344CB8AC3E}">
        <p14:creationId xmlns:p14="http://schemas.microsoft.com/office/powerpoint/2010/main" val="1700912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a:solidFill>
                  <a:schemeClr val="tx1"/>
                </a:solidFill>
                <a:effectLst/>
                <a:latin typeface="+mn-lt"/>
                <a:ea typeface="+mn-ea"/>
                <a:cs typeface="+mn-cs"/>
              </a:rPr>
              <a:t>1872</a:t>
            </a:r>
            <a:r>
              <a:rPr lang="zh-CN" altLang="en-US" sz="1200" b="0" i="0" u="none" strike="noStrike" kern="1200">
                <a:solidFill>
                  <a:schemeClr val="tx1"/>
                </a:solidFill>
                <a:effectLst/>
                <a:latin typeface="+mn-lt"/>
                <a:ea typeface="+mn-ea"/>
                <a:cs typeface="+mn-cs"/>
              </a:rPr>
              <a:t>年他们聘请才华非凡、管理经验丰富的工程师戈特利叶博</a:t>
            </a:r>
            <a:r>
              <a:rPr lang="en-US" altLang="zh-CN" sz="1200" b="0" i="0" u="none" strike="noStrike" kern="1200">
                <a:solidFill>
                  <a:schemeClr val="tx1"/>
                </a:solidFill>
                <a:effectLst/>
                <a:latin typeface="+mn-lt"/>
                <a:ea typeface="+mn-ea"/>
                <a:cs typeface="+mn-cs"/>
              </a:rPr>
              <a:t>·</a:t>
            </a:r>
            <a:r>
              <a:rPr lang="zh-CN" altLang="en-US" sz="1200" b="0" i="0" u="none" strike="noStrike" kern="1200">
                <a:solidFill>
                  <a:schemeClr val="tx1"/>
                </a:solidFill>
                <a:effectLst/>
                <a:latin typeface="+mn-lt"/>
                <a:ea typeface="+mn-ea"/>
                <a:cs typeface="+mn-cs"/>
              </a:rPr>
              <a:t>戴姆勒帮助生产引擎。</a:t>
            </a:r>
          </a:p>
          <a:p>
            <a:r>
              <a:rPr lang="en-US" altLang="zh-CN" sz="1200" b="0" i="0" u="none" strike="noStrike" kern="1200">
                <a:solidFill>
                  <a:schemeClr val="tx1"/>
                </a:solidFill>
                <a:effectLst/>
                <a:latin typeface="+mn-lt"/>
                <a:ea typeface="+mn-ea"/>
                <a:cs typeface="+mn-cs"/>
              </a:rPr>
              <a:t>1882</a:t>
            </a:r>
            <a:r>
              <a:rPr lang="zh-CN" altLang="en-US" sz="1200" b="0" i="0" u="none" strike="noStrike" kern="1200">
                <a:solidFill>
                  <a:schemeClr val="tx1"/>
                </a:solidFill>
                <a:effectLst/>
                <a:latin typeface="+mn-lt"/>
                <a:ea typeface="+mn-ea"/>
                <a:cs typeface="+mn-cs"/>
              </a:rPr>
              <a:t>年戈特利叶</a:t>
            </a:r>
            <a:r>
              <a:rPr lang="en-US" altLang="zh-CN" sz="1200" b="0" i="0" u="none" strike="noStrike" kern="1200">
                <a:solidFill>
                  <a:schemeClr val="tx1"/>
                </a:solidFill>
                <a:effectLst/>
                <a:latin typeface="+mn-lt"/>
                <a:ea typeface="+mn-ea"/>
                <a:cs typeface="+mn-cs"/>
              </a:rPr>
              <a:t>·</a:t>
            </a:r>
            <a:r>
              <a:rPr lang="zh-CN" altLang="en-US" sz="1200" b="0" i="0" u="none" strike="noStrike" kern="1200">
                <a:solidFill>
                  <a:schemeClr val="tx1"/>
                </a:solidFill>
                <a:effectLst/>
                <a:latin typeface="+mn-lt"/>
                <a:ea typeface="+mn-ea"/>
                <a:cs typeface="+mn-cs"/>
              </a:rPr>
              <a:t>博</a:t>
            </a:r>
            <a:r>
              <a:rPr lang="en-US" altLang="zh-CN" sz="1200" b="0" i="0" u="none" strike="noStrike" kern="1200">
                <a:solidFill>
                  <a:schemeClr val="tx1"/>
                </a:solidFill>
                <a:effectLst/>
                <a:latin typeface="+mn-lt"/>
                <a:ea typeface="+mn-ea"/>
                <a:cs typeface="+mn-cs"/>
              </a:rPr>
              <a:t>·</a:t>
            </a:r>
            <a:r>
              <a:rPr lang="zh-CN" altLang="en-US" sz="1200" b="0" i="0" u="none" strike="noStrike" kern="1200">
                <a:solidFill>
                  <a:schemeClr val="tx1"/>
                </a:solidFill>
                <a:effectLst/>
                <a:latin typeface="+mn-lt"/>
                <a:ea typeface="+mn-ea"/>
                <a:cs typeface="+mn-cs"/>
              </a:rPr>
              <a:t>戴姆勒离开了该公司，他决心要把奥托引擎应用到交通工具上去。</a:t>
            </a:r>
            <a:r>
              <a:rPr lang="en-US" altLang="zh-CN" sz="1200" b="0" i="0" u="none" strike="noStrike" kern="1200">
                <a:solidFill>
                  <a:schemeClr val="tx1"/>
                </a:solidFill>
                <a:effectLst/>
                <a:latin typeface="+mn-lt"/>
                <a:ea typeface="+mn-ea"/>
                <a:cs typeface="+mn-cs"/>
              </a:rPr>
              <a:t>1883</a:t>
            </a:r>
            <a:r>
              <a:rPr lang="zh-CN" altLang="en-US" sz="1200" b="0" i="0" u="none" strike="noStrike" kern="1200">
                <a:solidFill>
                  <a:schemeClr val="tx1"/>
                </a:solidFill>
                <a:effectLst/>
                <a:latin typeface="+mn-lt"/>
                <a:ea typeface="+mn-ea"/>
                <a:cs typeface="+mn-cs"/>
              </a:rPr>
              <a:t>年，他发明一种先进的点火系统（但不是今天普遍使用的那一种），使引擎能以</a:t>
            </a:r>
            <a:r>
              <a:rPr lang="en-US" altLang="zh-CN" sz="1200" b="0" i="0" u="none" strike="noStrike" kern="1200">
                <a:solidFill>
                  <a:schemeClr val="tx1"/>
                </a:solidFill>
                <a:effectLst/>
                <a:latin typeface="+mn-lt"/>
                <a:ea typeface="+mn-ea"/>
                <a:cs typeface="+mn-cs"/>
              </a:rPr>
              <a:t>700—900</a:t>
            </a:r>
            <a:r>
              <a:rPr lang="zh-CN" altLang="en-US" sz="1200" b="0" i="0" u="none" strike="noStrike" kern="1200">
                <a:solidFill>
                  <a:schemeClr val="tx1"/>
                </a:solidFill>
                <a:effectLst/>
                <a:latin typeface="+mn-lt"/>
                <a:ea typeface="+mn-ea"/>
                <a:cs typeface="+mn-cs"/>
              </a:rPr>
              <a:t>转</a:t>
            </a:r>
            <a:r>
              <a:rPr lang="en-US" altLang="zh-CN" sz="1200" b="0" i="0" u="none" strike="noStrike" kern="1200">
                <a:solidFill>
                  <a:schemeClr val="tx1"/>
                </a:solidFill>
                <a:effectLst/>
                <a:latin typeface="+mn-lt"/>
                <a:ea typeface="+mn-ea"/>
                <a:cs typeface="+mn-cs"/>
              </a:rPr>
              <a:t>/</a:t>
            </a:r>
            <a:r>
              <a:rPr lang="zh-CN" altLang="en-US" sz="1200" b="0" i="0" u="none" strike="noStrike" kern="1200">
                <a:solidFill>
                  <a:schemeClr val="tx1"/>
                </a:solidFill>
                <a:effectLst/>
                <a:latin typeface="+mn-lt"/>
                <a:ea typeface="+mn-ea"/>
                <a:cs typeface="+mn-cs"/>
              </a:rPr>
              <a:t>分的速率运转（奥托引擎的最大速率为</a:t>
            </a:r>
            <a:r>
              <a:rPr lang="en-US" altLang="zh-CN" sz="1200" b="0" i="0" u="none" strike="noStrike" kern="1200">
                <a:solidFill>
                  <a:schemeClr val="tx1"/>
                </a:solidFill>
                <a:effectLst/>
                <a:latin typeface="+mn-lt"/>
                <a:ea typeface="+mn-ea"/>
                <a:cs typeface="+mn-cs"/>
              </a:rPr>
              <a:t>180</a:t>
            </a:r>
            <a:r>
              <a:rPr lang="zh-CN" altLang="en-US" sz="1200" b="0" i="0" u="none" strike="noStrike" kern="1200">
                <a:solidFill>
                  <a:schemeClr val="tx1"/>
                </a:solidFill>
                <a:effectLst/>
                <a:latin typeface="+mn-lt"/>
                <a:ea typeface="+mn-ea"/>
                <a:cs typeface="+mn-cs"/>
              </a:rPr>
              <a:t>－</a:t>
            </a:r>
            <a:r>
              <a:rPr lang="en-US" altLang="zh-CN" sz="1200" b="0" i="0" u="none" strike="noStrike" kern="1200">
                <a:solidFill>
                  <a:schemeClr val="tx1"/>
                </a:solidFill>
                <a:effectLst/>
                <a:latin typeface="+mn-lt"/>
                <a:ea typeface="+mn-ea"/>
                <a:cs typeface="+mn-cs"/>
              </a:rPr>
              <a:t>200</a:t>
            </a:r>
            <a:r>
              <a:rPr lang="zh-CN" altLang="en-US" sz="1200" b="0" i="0" u="none" strike="noStrike" kern="1200">
                <a:solidFill>
                  <a:schemeClr val="tx1"/>
                </a:solidFill>
                <a:effectLst/>
                <a:latin typeface="+mn-lt"/>
                <a:ea typeface="+mn-ea"/>
                <a:cs typeface="+mn-cs"/>
              </a:rPr>
              <a:t>转</a:t>
            </a:r>
            <a:r>
              <a:rPr lang="en-US" altLang="zh-CN" sz="1200" b="0" i="0" u="none" strike="noStrike" kern="1200">
                <a:solidFill>
                  <a:schemeClr val="tx1"/>
                </a:solidFill>
                <a:effectLst/>
                <a:latin typeface="+mn-lt"/>
                <a:ea typeface="+mn-ea"/>
                <a:cs typeface="+mn-cs"/>
              </a:rPr>
              <a:t>/</a:t>
            </a:r>
            <a:r>
              <a:rPr lang="zh-CN" altLang="en-US" sz="1200" b="0" i="0" u="none" strike="noStrike" kern="1200">
                <a:solidFill>
                  <a:schemeClr val="tx1"/>
                </a:solidFill>
                <a:effectLst/>
                <a:latin typeface="+mn-lt"/>
                <a:ea typeface="+mn-ea"/>
                <a:cs typeface="+mn-cs"/>
              </a:rPr>
              <a:t>分），并且还煞费苦心制造出一台重量很轻的引擎。</a:t>
            </a:r>
          </a:p>
          <a:p>
            <a:r>
              <a:rPr lang="en-US" altLang="zh-CN" sz="1200" b="0" i="0" u="none" strike="noStrike" kern="1200">
                <a:solidFill>
                  <a:schemeClr val="tx1"/>
                </a:solidFill>
                <a:effectLst/>
                <a:latin typeface="+mn-lt"/>
                <a:ea typeface="+mn-ea"/>
                <a:cs typeface="+mn-cs"/>
              </a:rPr>
              <a:t>1885</a:t>
            </a:r>
            <a:r>
              <a:rPr lang="zh-CN" altLang="en-US" sz="1200" b="0" i="0" u="none" strike="noStrike" kern="1200">
                <a:solidFill>
                  <a:schemeClr val="tx1"/>
                </a:solidFill>
                <a:effectLst/>
                <a:latin typeface="+mn-lt"/>
                <a:ea typeface="+mn-ea"/>
                <a:cs typeface="+mn-cs"/>
              </a:rPr>
              <a:t>年他把一台引擎附系在一辆自行车上，由此制造出世界上第一台摩托车。翌年戴姆勒制造出他的第一辆四轮汽车。但是卡尔</a:t>
            </a:r>
            <a:r>
              <a:rPr lang="en-US" altLang="zh-CN" sz="1200" b="0" i="0" u="none" strike="noStrike" kern="1200">
                <a:solidFill>
                  <a:schemeClr val="tx1"/>
                </a:solidFill>
                <a:effectLst/>
                <a:latin typeface="+mn-lt"/>
                <a:ea typeface="+mn-ea"/>
                <a:cs typeface="+mn-cs"/>
              </a:rPr>
              <a:t>·</a:t>
            </a:r>
            <a:r>
              <a:rPr lang="zh-CN" altLang="en-US" sz="1200" b="0" i="0" u="none" strike="noStrike" kern="1200">
                <a:solidFill>
                  <a:schemeClr val="tx1"/>
                </a:solidFill>
                <a:effectLst/>
                <a:latin typeface="+mn-lt"/>
                <a:ea typeface="+mn-ea"/>
                <a:cs typeface="+mn-cs"/>
              </a:rPr>
              <a:t>本兹却抢先一步，他在几个月前就制造出了他的第一辆汽车──一 辆三轮汽车── 一辆无容否认的汽车。本兹的汽车与戴姆勒的汽车一样，也是用奥托引擎作动力。本兹引擎的转速远没有达到</a:t>
            </a:r>
            <a:r>
              <a:rPr lang="en-US" altLang="zh-CN" sz="1200" b="0" i="0" u="none" strike="noStrike" kern="1200">
                <a:solidFill>
                  <a:schemeClr val="tx1"/>
                </a:solidFill>
                <a:effectLst/>
                <a:latin typeface="+mn-lt"/>
                <a:ea typeface="+mn-ea"/>
                <a:cs typeface="+mn-cs"/>
              </a:rPr>
              <a:t>400</a:t>
            </a:r>
            <a:r>
              <a:rPr lang="zh-CN" altLang="en-US" sz="1200" b="0" i="0" u="none" strike="noStrike" kern="1200">
                <a:solidFill>
                  <a:schemeClr val="tx1"/>
                </a:solidFill>
                <a:effectLst/>
                <a:latin typeface="+mn-lt"/>
                <a:ea typeface="+mn-ea"/>
                <a:cs typeface="+mn-cs"/>
              </a:rPr>
              <a:t>转</a:t>
            </a:r>
            <a:r>
              <a:rPr lang="en-US" altLang="zh-CN" sz="1200" b="0" i="0" u="none" strike="noStrike" kern="1200">
                <a:solidFill>
                  <a:schemeClr val="tx1"/>
                </a:solidFill>
                <a:effectLst/>
                <a:latin typeface="+mn-lt"/>
                <a:ea typeface="+mn-ea"/>
                <a:cs typeface="+mn-cs"/>
              </a:rPr>
              <a:t>/</a:t>
            </a:r>
            <a:r>
              <a:rPr lang="zh-CN" altLang="en-US" sz="1200" b="0" i="0" u="none" strike="noStrike" kern="1200">
                <a:solidFill>
                  <a:schemeClr val="tx1"/>
                </a:solidFill>
                <a:effectLst/>
                <a:latin typeface="+mn-lt"/>
                <a:ea typeface="+mn-ea"/>
                <a:cs typeface="+mn-cs"/>
              </a:rPr>
              <a:t>分的速率，这就不足以使他的汽车有实用价值。本兹不断地改进自己的汽车，几年内就成功地打入了市场。戈特利叶</a:t>
            </a:r>
            <a:r>
              <a:rPr lang="en-US" altLang="zh-CN" sz="1200" b="0" i="0" u="none" strike="noStrike" kern="1200">
                <a:solidFill>
                  <a:schemeClr val="tx1"/>
                </a:solidFill>
                <a:effectLst/>
                <a:latin typeface="+mn-lt"/>
                <a:ea typeface="+mn-ea"/>
                <a:cs typeface="+mn-cs"/>
              </a:rPr>
              <a:t>·</a:t>
            </a:r>
            <a:r>
              <a:rPr lang="zh-CN" altLang="en-US" sz="1200" b="0" i="0" u="none" strike="noStrike" kern="1200">
                <a:solidFill>
                  <a:schemeClr val="tx1"/>
                </a:solidFill>
                <a:effectLst/>
                <a:latin typeface="+mn-lt"/>
                <a:ea typeface="+mn-ea"/>
                <a:cs typeface="+mn-cs"/>
              </a:rPr>
              <a:t>博</a:t>
            </a:r>
            <a:r>
              <a:rPr lang="en-US" altLang="zh-CN" sz="1200" b="0" i="0" u="none" strike="noStrike" kern="1200">
                <a:solidFill>
                  <a:schemeClr val="tx1"/>
                </a:solidFill>
                <a:effectLst/>
                <a:latin typeface="+mn-lt"/>
                <a:ea typeface="+mn-ea"/>
                <a:cs typeface="+mn-cs"/>
              </a:rPr>
              <a:t>·</a:t>
            </a:r>
            <a:r>
              <a:rPr lang="zh-CN" altLang="en-US" sz="1200" b="0" i="0" u="none" strike="noStrike" kern="1200">
                <a:solidFill>
                  <a:schemeClr val="tx1"/>
                </a:solidFill>
                <a:effectLst/>
                <a:latin typeface="+mn-lt"/>
                <a:ea typeface="+mn-ea"/>
                <a:cs typeface="+mn-cs"/>
              </a:rPr>
              <a:t>戴姆勒的汽车比本兹的稍迟些打入市场，但也获得了成功。最后，本兹和戴姆勒两家公司合并成一家，著名的汽车就是由这家合并公司生产的。</a:t>
            </a:r>
          </a:p>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26</a:t>
            </a:fld>
            <a:endParaRPr lang="zh-CN" altLang="en-US"/>
          </a:p>
        </p:txBody>
      </p:sp>
    </p:spTree>
    <p:extLst>
      <p:ext uri="{BB962C8B-B14F-4D97-AF65-F5344CB8AC3E}">
        <p14:creationId xmlns:p14="http://schemas.microsoft.com/office/powerpoint/2010/main" val="42412505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http://www.animatedengines.com/otto.html</a:t>
            </a:r>
            <a:endParaRPr lang="zh-CN" altLang="en-US" dirty="0"/>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27</a:t>
            </a:fld>
            <a:endParaRPr lang="zh-CN" altLang="en-US"/>
          </a:p>
        </p:txBody>
      </p:sp>
    </p:spTree>
    <p:extLst>
      <p:ext uri="{BB962C8B-B14F-4D97-AF65-F5344CB8AC3E}">
        <p14:creationId xmlns:p14="http://schemas.microsoft.com/office/powerpoint/2010/main" val="4194296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30</a:t>
            </a:fld>
            <a:endParaRPr lang="zh-CN" altLang="en-US"/>
          </a:p>
        </p:txBody>
      </p:sp>
    </p:spTree>
    <p:extLst>
      <p:ext uri="{BB962C8B-B14F-4D97-AF65-F5344CB8AC3E}">
        <p14:creationId xmlns:p14="http://schemas.microsoft.com/office/powerpoint/2010/main" val="2124830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36</a:t>
            </a:fld>
            <a:endParaRPr lang="zh-CN" altLang="en-US"/>
          </a:p>
        </p:txBody>
      </p:sp>
    </p:spTree>
    <p:extLst>
      <p:ext uri="{BB962C8B-B14F-4D97-AF65-F5344CB8AC3E}">
        <p14:creationId xmlns:p14="http://schemas.microsoft.com/office/powerpoint/2010/main" val="2728649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42</a:t>
            </a:fld>
            <a:endParaRPr lang="zh-CN" altLang="en-US"/>
          </a:p>
        </p:txBody>
      </p:sp>
    </p:spTree>
    <p:extLst>
      <p:ext uri="{BB962C8B-B14F-4D97-AF65-F5344CB8AC3E}">
        <p14:creationId xmlns:p14="http://schemas.microsoft.com/office/powerpoint/2010/main" val="3969077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45</a:t>
            </a:fld>
            <a:endParaRPr lang="zh-CN" altLang="en-US"/>
          </a:p>
        </p:txBody>
      </p:sp>
    </p:spTree>
    <p:extLst>
      <p:ext uri="{BB962C8B-B14F-4D97-AF65-F5344CB8AC3E}">
        <p14:creationId xmlns:p14="http://schemas.microsoft.com/office/powerpoint/2010/main" val="3183332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46</a:t>
            </a:fld>
            <a:endParaRPr lang="zh-CN" altLang="en-US"/>
          </a:p>
        </p:txBody>
      </p:sp>
    </p:spTree>
    <p:extLst>
      <p:ext uri="{BB962C8B-B14F-4D97-AF65-F5344CB8AC3E}">
        <p14:creationId xmlns:p14="http://schemas.microsoft.com/office/powerpoint/2010/main" val="1990179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气体迅速膨胀的过程也是不可逆的。气缸中气体迅速膨胀时</a:t>
            </a:r>
            <a:r>
              <a:rPr lang="en-US" altLang="zh-CN"/>
              <a:t>,</a:t>
            </a:r>
            <a:r>
              <a:rPr lang="zh-CN" altLang="en-US"/>
              <a:t>活塞附近气体的压强小于气体内部的压强，设气体内部的压强为</a:t>
            </a:r>
            <a:r>
              <a:rPr lang="en-US" altLang="zh-CN"/>
              <a:t>p,</a:t>
            </a:r>
            <a:r>
              <a:rPr lang="zh-CN" altLang="en-US"/>
              <a:t>气体迅速膨胀一微小体积 △</a:t>
            </a:r>
            <a:r>
              <a:rPr lang="en-US" altLang="zh-CN"/>
              <a:t>V,</a:t>
            </a:r>
            <a:r>
              <a:rPr lang="zh-CN" altLang="en-US"/>
              <a:t>则气体所做的功</a:t>
            </a:r>
            <a:r>
              <a:rPr lang="en-US" altLang="zh-CN"/>
              <a:t>A</a:t>
            </a:r>
            <a:r>
              <a:rPr lang="zh-CN" altLang="en-US"/>
              <a:t>，将小于</a:t>
            </a:r>
            <a:r>
              <a:rPr lang="en-US" altLang="zh-CN"/>
              <a:t>p△V. </a:t>
            </a:r>
            <a:r>
              <a:rPr lang="zh-CN" altLang="en-US"/>
              <a:t>然后</a:t>
            </a:r>
            <a:r>
              <a:rPr lang="en-US" altLang="zh-CN"/>
              <a:t>,</a:t>
            </a:r>
            <a:r>
              <a:rPr lang="zh-CN" altLang="en-US"/>
              <a:t>将气体压回原来体积</a:t>
            </a:r>
            <a:r>
              <a:rPr lang="en-US" altLang="zh-CN"/>
              <a:t>,</a:t>
            </a:r>
            <a:r>
              <a:rPr lang="zh-CN" altLang="en-US"/>
              <a:t>活塞附近气体的压强不能小于气体内部的压强</a:t>
            </a:r>
            <a:r>
              <a:rPr lang="en-US" altLang="zh-CN"/>
              <a:t>,</a:t>
            </a:r>
            <a:r>
              <a:rPr lang="zh-CN" altLang="en-US"/>
              <a:t>外界所做的功</a:t>
            </a:r>
            <a:r>
              <a:rPr lang="en-US" altLang="zh-CN"/>
              <a:t>A₂</a:t>
            </a:r>
            <a:r>
              <a:rPr lang="zh-CN" altLang="en-US"/>
              <a:t>不能小于</a:t>
            </a:r>
            <a:r>
              <a:rPr lang="en-US" altLang="zh-CN"/>
              <a:t>p</a:t>
            </a:r>
            <a:r>
              <a:rPr lang="zh-CN" altLang="en-US"/>
              <a:t>△</a:t>
            </a:r>
            <a:r>
              <a:rPr lang="en-US" altLang="zh-CN"/>
              <a:t>V.</a:t>
            </a:r>
            <a:r>
              <a:rPr lang="zh-CN" altLang="en-US"/>
              <a:t>因此，迅速膨胀后</a:t>
            </a:r>
            <a:r>
              <a:rPr lang="en-US" altLang="zh-CN"/>
              <a:t>,</a:t>
            </a:r>
            <a:r>
              <a:rPr lang="zh-CN" altLang="en-US"/>
              <a:t>我们虽然可以将气体压缩</a:t>
            </a:r>
            <a:r>
              <a:rPr lang="en-US" altLang="zh-CN"/>
              <a:t>,</a:t>
            </a:r>
            <a:r>
              <a:rPr lang="zh-CN" altLang="en-US"/>
              <a:t>使它回到原来状态</a:t>
            </a:r>
            <a:r>
              <a:rPr lang="en-US" altLang="zh-CN"/>
              <a:t>,</a:t>
            </a:r>
            <a:r>
              <a:rPr lang="zh-CN" altLang="en-US"/>
              <a:t>但外界必须多做功 </a:t>
            </a:r>
            <a:r>
              <a:rPr lang="en-US" altLang="zh-CN"/>
              <a:t>A2-A1;</a:t>
            </a:r>
            <a:r>
              <a:rPr lang="zh-CN" altLang="en-US"/>
              <a:t>功将增加气体的内能</a:t>
            </a:r>
            <a:r>
              <a:rPr lang="en-US" altLang="zh-CN"/>
              <a:t>,</a:t>
            </a:r>
            <a:r>
              <a:rPr lang="zh-CN" altLang="en-US"/>
              <a:t>而后以热量形式放出。根据热力学第二定律</a:t>
            </a:r>
            <a:r>
              <a:rPr lang="en-US" altLang="zh-CN"/>
              <a:t>,</a:t>
            </a:r>
            <a:r>
              <a:rPr lang="zh-CN" altLang="en-US"/>
              <a:t>我们不能通过循环过程再将这部分热量全部变为功</a:t>
            </a:r>
            <a:r>
              <a:rPr lang="en-US" altLang="zh-CN"/>
              <a:t>;</a:t>
            </a:r>
            <a:r>
              <a:rPr lang="zh-CN" altLang="en-US"/>
              <a:t>所以气体迅速膨胀的过程也是不可逆过程</a:t>
            </a:r>
            <a:r>
              <a:rPr lang="en-US" altLang="zh-CN"/>
              <a:t>.</a:t>
            </a:r>
            <a:r>
              <a:rPr lang="zh-CN" altLang="en-US"/>
              <a:t>只有当气体膨胀非常缓慢</a:t>
            </a:r>
            <a:r>
              <a:rPr lang="en-US" altLang="zh-CN"/>
              <a:t>,</a:t>
            </a:r>
            <a:r>
              <a:rPr lang="zh-CN" altLang="en-US"/>
              <a:t>活塞附近的压强非常接近于气体内部的压强</a:t>
            </a:r>
            <a:r>
              <a:rPr lang="en-US" altLang="zh-CN"/>
              <a:t>p</a:t>
            </a:r>
            <a:r>
              <a:rPr lang="zh-CN" altLang="en-US"/>
              <a:t>时</a:t>
            </a:r>
            <a:r>
              <a:rPr lang="en-US" altLang="zh-CN"/>
              <a:t>,</a:t>
            </a:r>
            <a:r>
              <a:rPr lang="zh-CN" altLang="en-US"/>
              <a:t>气体膨胀一微小体积 △</a:t>
            </a:r>
            <a:r>
              <a:rPr lang="en-US" altLang="zh-CN"/>
              <a:t>V</a:t>
            </a:r>
            <a:r>
              <a:rPr lang="zh-CN" altLang="en-US"/>
              <a:t>所做的功恰好等于</a:t>
            </a:r>
            <a:r>
              <a:rPr lang="en-US" altLang="zh-CN"/>
              <a:t>p△V,</a:t>
            </a:r>
            <a:r>
              <a:rPr lang="zh-CN" altLang="en-US"/>
              <a:t>那么我们才可能非常缓慢地对气体做功</a:t>
            </a:r>
            <a:r>
              <a:rPr lang="en-US" altLang="zh-CN"/>
              <a:t>p△V,</a:t>
            </a:r>
            <a:r>
              <a:rPr lang="zh-CN" altLang="en-US"/>
              <a:t>将气体压回原来体积</a:t>
            </a:r>
            <a:r>
              <a:rPr lang="en-US" altLang="zh-CN"/>
              <a:t>.</a:t>
            </a:r>
            <a:r>
              <a:rPr lang="zh-CN" altLang="en-US"/>
              <a:t>所以</a:t>
            </a:r>
            <a:r>
              <a:rPr lang="en-US" altLang="zh-CN"/>
              <a:t>,</a:t>
            </a:r>
            <a:r>
              <a:rPr lang="zh-CN" altLang="en-US"/>
              <a:t>只有非常缓慢的亦即准静态的膨胀过程</a:t>
            </a:r>
            <a:r>
              <a:rPr lang="en-US" altLang="zh-CN"/>
              <a:t>,</a:t>
            </a:r>
            <a:r>
              <a:rPr lang="zh-CN" altLang="en-US"/>
              <a:t>才是可逆的膨胀过程</a:t>
            </a:r>
            <a:r>
              <a:rPr lang="en-US" altLang="zh-CN"/>
              <a:t>.</a:t>
            </a:r>
            <a:r>
              <a:rPr lang="zh-CN" altLang="en-US"/>
              <a:t>同理</a:t>
            </a:r>
            <a:r>
              <a:rPr lang="en-US" altLang="zh-CN"/>
              <a:t>,</a:t>
            </a:r>
            <a:r>
              <a:rPr lang="zh-CN" altLang="en-US"/>
              <a:t>我们也可以证明</a:t>
            </a:r>
            <a:r>
              <a:rPr lang="en-US" altLang="zh-CN"/>
              <a:t>,</a:t>
            </a:r>
            <a:r>
              <a:rPr lang="zh-CN" altLang="en-US"/>
              <a:t>只有非常缓慢的亦即准静态的压缩过程</a:t>
            </a:r>
            <a:r>
              <a:rPr lang="en-US" altLang="zh-CN"/>
              <a:t>,</a:t>
            </a:r>
            <a:r>
              <a:rPr lang="zh-CN" altLang="en-US"/>
              <a:t>才是可逆的压缩过程</a:t>
            </a:r>
            <a:r>
              <a:rPr lang="en-US" altLang="zh-CN"/>
              <a:t>.</a:t>
            </a:r>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51</a:t>
            </a:fld>
            <a:endParaRPr lang="zh-CN" altLang="en-US"/>
          </a:p>
        </p:txBody>
      </p:sp>
    </p:spTree>
    <p:extLst>
      <p:ext uri="{BB962C8B-B14F-4D97-AF65-F5344CB8AC3E}">
        <p14:creationId xmlns:p14="http://schemas.microsoft.com/office/powerpoint/2010/main" val="33971757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52</a:t>
            </a:fld>
            <a:endParaRPr lang="zh-CN" altLang="en-US"/>
          </a:p>
        </p:txBody>
      </p:sp>
    </p:spTree>
    <p:extLst>
      <p:ext uri="{BB962C8B-B14F-4D97-AF65-F5344CB8AC3E}">
        <p14:creationId xmlns:p14="http://schemas.microsoft.com/office/powerpoint/2010/main" val="34156928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威廉</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汤姆森</a:t>
            </a:r>
            <a:r>
              <a:rPr lang="en-US" altLang="zh-CN" sz="1200" b="0" i="0" kern="1200" dirty="0">
                <a:solidFill>
                  <a:schemeClr val="tx1"/>
                </a:solidFill>
                <a:effectLst/>
                <a:latin typeface="+mn-lt"/>
                <a:ea typeface="+mn-ea"/>
                <a:cs typeface="+mn-cs"/>
              </a:rPr>
              <a:t>(William Thomson)</a:t>
            </a:r>
            <a:r>
              <a:rPr lang="zh-CN" altLang="en-US" sz="1200" b="0" i="0" kern="1200" dirty="0">
                <a:solidFill>
                  <a:schemeClr val="tx1"/>
                </a:solidFill>
                <a:effectLst/>
                <a:latin typeface="+mn-lt"/>
                <a:ea typeface="+mn-ea"/>
                <a:cs typeface="+mn-cs"/>
              </a:rPr>
              <a:t>，受勋后的名为凯尔文男爵一世或领主凯尔文</a:t>
            </a:r>
            <a:r>
              <a:rPr lang="en-US" altLang="zh-CN" sz="1200" b="0" i="0" kern="1200" dirty="0">
                <a:solidFill>
                  <a:schemeClr val="tx1"/>
                </a:solidFill>
                <a:effectLst/>
                <a:latin typeface="+mn-lt"/>
                <a:ea typeface="+mn-ea"/>
                <a:cs typeface="+mn-cs"/>
              </a:rPr>
              <a:t>(1st Baron Kelvin</a:t>
            </a:r>
            <a:r>
              <a:rPr lang="zh-CN" altLang="en-US" sz="1200" b="0" i="0" kern="1200" dirty="0">
                <a:solidFill>
                  <a:schemeClr val="tx1"/>
                </a:solidFill>
                <a:effectLst/>
                <a:latin typeface="+mn-lt"/>
                <a:ea typeface="+mn-ea"/>
                <a:cs typeface="+mn-cs"/>
              </a:rPr>
              <a:t>或</a:t>
            </a:r>
            <a:r>
              <a:rPr lang="en-US" altLang="zh-CN" sz="1200" b="0" i="0" kern="1200" dirty="0">
                <a:solidFill>
                  <a:schemeClr val="tx1"/>
                </a:solidFill>
                <a:effectLst/>
                <a:latin typeface="+mn-lt"/>
                <a:ea typeface="+mn-ea"/>
                <a:cs typeface="+mn-cs"/>
              </a:rPr>
              <a:t>Lord Kelvin)</a:t>
            </a:r>
            <a:r>
              <a:rPr lang="zh-CN" altLang="en-US" sz="1200" b="0" i="0" kern="1200" dirty="0">
                <a:solidFill>
                  <a:schemeClr val="tx1"/>
                </a:solidFill>
                <a:effectLst/>
                <a:latin typeface="+mn-lt"/>
                <a:ea typeface="+mn-ea"/>
                <a:cs typeface="+mn-cs"/>
              </a:rPr>
              <a:t>。生于</a:t>
            </a:r>
            <a:r>
              <a:rPr lang="en-US" altLang="zh-CN" sz="1200" b="0" i="0" kern="1200" dirty="0">
                <a:solidFill>
                  <a:schemeClr val="tx1"/>
                </a:solidFill>
                <a:effectLst/>
                <a:latin typeface="+mn-lt"/>
                <a:ea typeface="+mn-ea"/>
                <a:cs typeface="+mn-cs"/>
              </a:rPr>
              <a:t>1824</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26</a:t>
            </a:r>
            <a:r>
              <a:rPr lang="zh-CN" altLang="en-US" sz="1200" b="0" i="0" kern="1200" dirty="0">
                <a:solidFill>
                  <a:schemeClr val="tx1"/>
                </a:solidFill>
                <a:effectLst/>
                <a:latin typeface="+mn-lt"/>
                <a:ea typeface="+mn-ea"/>
                <a:cs typeface="+mn-cs"/>
              </a:rPr>
              <a:t>日的爱尔兰贝尔法斯特，卒于</a:t>
            </a:r>
            <a:r>
              <a:rPr lang="en-US" altLang="zh-CN" sz="1200" b="0" i="0" kern="1200" dirty="0">
                <a:solidFill>
                  <a:schemeClr val="tx1"/>
                </a:solidFill>
                <a:effectLst/>
                <a:latin typeface="+mn-lt"/>
                <a:ea typeface="+mn-ea"/>
                <a:cs typeface="+mn-cs"/>
              </a:rPr>
              <a:t>1907</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12</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17</a:t>
            </a:r>
            <a:r>
              <a:rPr lang="zh-CN" altLang="en-US" sz="1200" b="0" i="0" kern="1200" dirty="0">
                <a:solidFill>
                  <a:schemeClr val="tx1"/>
                </a:solidFill>
                <a:effectLst/>
                <a:latin typeface="+mn-lt"/>
                <a:ea typeface="+mn-ea"/>
                <a:cs typeface="+mn-cs"/>
              </a:rPr>
              <a:t>日的苏格兰拉格斯。为爱尔兰的数学物理学家、工程师。也是热力学温标（绝对温标）的发明人，被称为热力学之父</a:t>
            </a:r>
            <a:endParaRPr lang="zh-CN" altLang="en-US" dirty="0"/>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55</a:t>
            </a:fld>
            <a:endParaRPr lang="zh-CN" altLang="en-US"/>
          </a:p>
        </p:txBody>
      </p:sp>
    </p:spTree>
    <p:extLst>
      <p:ext uri="{BB962C8B-B14F-4D97-AF65-F5344CB8AC3E}">
        <p14:creationId xmlns:p14="http://schemas.microsoft.com/office/powerpoint/2010/main" val="19658357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58</a:t>
            </a:fld>
            <a:endParaRPr lang="zh-CN" altLang="en-US"/>
          </a:p>
        </p:txBody>
      </p:sp>
    </p:spTree>
    <p:extLst>
      <p:ext uri="{BB962C8B-B14F-4D97-AF65-F5344CB8AC3E}">
        <p14:creationId xmlns:p14="http://schemas.microsoft.com/office/powerpoint/2010/main" val="16154882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61</a:t>
            </a:fld>
            <a:endParaRPr lang="zh-CN" altLang="en-US"/>
          </a:p>
        </p:txBody>
      </p:sp>
    </p:spTree>
    <p:extLst>
      <p:ext uri="{BB962C8B-B14F-4D97-AF65-F5344CB8AC3E}">
        <p14:creationId xmlns:p14="http://schemas.microsoft.com/office/powerpoint/2010/main" val="5100522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62</a:t>
            </a:fld>
            <a:endParaRPr lang="zh-CN" altLang="en-US"/>
          </a:p>
        </p:txBody>
      </p:sp>
    </p:spTree>
    <p:extLst>
      <p:ext uri="{BB962C8B-B14F-4D97-AF65-F5344CB8AC3E}">
        <p14:creationId xmlns:p14="http://schemas.microsoft.com/office/powerpoint/2010/main" val="17071779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63</a:t>
            </a:fld>
            <a:endParaRPr lang="zh-CN" altLang="en-US"/>
          </a:p>
        </p:txBody>
      </p:sp>
    </p:spTree>
    <p:extLst>
      <p:ext uri="{BB962C8B-B14F-4D97-AF65-F5344CB8AC3E}">
        <p14:creationId xmlns:p14="http://schemas.microsoft.com/office/powerpoint/2010/main" val="1334279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74</a:t>
            </a:fld>
            <a:endParaRPr lang="zh-CN" altLang="en-US"/>
          </a:p>
        </p:txBody>
      </p:sp>
    </p:spTree>
    <p:extLst>
      <p:ext uri="{BB962C8B-B14F-4D97-AF65-F5344CB8AC3E}">
        <p14:creationId xmlns:p14="http://schemas.microsoft.com/office/powerpoint/2010/main" val="8684701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B5DFFA-A160-4C59-B7CF-A81743C6001C}" type="slidenum">
              <a:rPr lang="en-US" altLang="zh-CN"/>
              <a:pPr/>
              <a:t>80</a:t>
            </a:fld>
            <a:endParaRPr lang="en-US" altLang="zh-CN"/>
          </a:p>
        </p:txBody>
      </p:sp>
      <p:sp>
        <p:nvSpPr>
          <p:cNvPr id="700418" name="Rectangle 2"/>
          <p:cNvSpPr>
            <a:spLocks noGrp="1" noRot="1" noChangeAspect="1" noChangeArrowheads="1" noTextEdit="1"/>
          </p:cNvSpPr>
          <p:nvPr>
            <p:ph type="sldImg"/>
          </p:nvPr>
        </p:nvSpPr>
        <p:spPr>
          <a:ln/>
        </p:spPr>
      </p:sp>
      <p:sp>
        <p:nvSpPr>
          <p:cNvPr id="700419" name="Rectangle 3"/>
          <p:cNvSpPr>
            <a:spLocks noGrp="1" noChangeArrowheads="1"/>
          </p:cNvSpPr>
          <p:nvPr>
            <p:ph type="body" idx="1"/>
          </p:nvPr>
        </p:nvSpPr>
        <p:spPr/>
        <p:txBody>
          <a:bodyPr/>
          <a:lstStyle/>
          <a:p>
            <a:r>
              <a:rPr kumimoji="1" lang="zh-CN" altLang="en-US" b="1" dirty="0">
                <a:solidFill>
                  <a:srgbClr val="0000FF"/>
                </a:solidFill>
              </a:rPr>
              <a:t>熵增加原理或第二定律熵表述：</a:t>
            </a:r>
            <a:r>
              <a:rPr kumimoji="1" lang="zh-CN" altLang="en-US" b="1" dirty="0">
                <a:solidFill>
                  <a:srgbClr val="000000"/>
                </a:solidFill>
                <a:sym typeface="Symbol" pitchFamily="18" charset="2"/>
              </a:rPr>
              <a:t>系统经一绝热过程后，熵永不减少。如果过程是可逆的，则熵的数值不变；如果过程是不可逆的，则熵的数值增加。</a:t>
            </a:r>
            <a:endParaRPr kumimoji="1" lang="en-US" altLang="zh-CN" b="1" dirty="0">
              <a:solidFill>
                <a:srgbClr val="000000"/>
              </a:solidFill>
              <a:sym typeface="Symbol" pitchFamily="18" charset="2"/>
            </a:endParaRPr>
          </a:p>
          <a:p>
            <a:r>
              <a:rPr lang="zh-CN" altLang="en-US" dirty="0">
                <a:effectLst/>
              </a:rPr>
              <a:t>内能不变，平均温度不变，过程不可逆 </a:t>
            </a:r>
            <a:br>
              <a:rPr lang="zh-CN" altLang="en-US" dirty="0">
                <a:effectLst/>
              </a:rPr>
            </a:br>
            <a:endParaRPr kumimoji="1" lang="zh-CN" altLang="en-US" b="1" dirty="0">
              <a:solidFill>
                <a:srgbClr val="000000"/>
              </a:solidFill>
              <a:sym typeface="Symbol" pitchFamily="18" charset="2"/>
            </a:endParaRPr>
          </a:p>
        </p:txBody>
      </p:sp>
    </p:spTree>
    <p:extLst>
      <p:ext uri="{BB962C8B-B14F-4D97-AF65-F5344CB8AC3E}">
        <p14:creationId xmlns:p14="http://schemas.microsoft.com/office/powerpoint/2010/main" val="23988262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849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eaLnBrk="1" hangingPunct="1"/>
            <a:fld id="{CDC17D56-D4AD-4492-A902-2D32DE2A5A0C}" type="slidenum">
              <a:rPr lang="zh-CN" altLang="en-US" sz="1200" smtClean="0"/>
              <a:pPr eaLnBrk="1" hangingPunct="1"/>
              <a:t>81</a:t>
            </a:fld>
            <a:endParaRPr lang="zh-CN" altLang="en-US" sz="1200"/>
          </a:p>
        </p:txBody>
      </p:sp>
    </p:spTree>
    <p:extLst>
      <p:ext uri="{BB962C8B-B14F-4D97-AF65-F5344CB8AC3E}">
        <p14:creationId xmlns:p14="http://schemas.microsoft.com/office/powerpoint/2010/main" val="42171265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孤立系统：与外界有没有能量交换和物质交换。</a:t>
            </a:r>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82</a:t>
            </a:fld>
            <a:endParaRPr lang="zh-CN" altLang="en-US"/>
          </a:p>
        </p:txBody>
      </p:sp>
    </p:spTree>
    <p:extLst>
      <p:ext uri="{BB962C8B-B14F-4D97-AF65-F5344CB8AC3E}">
        <p14:creationId xmlns:p14="http://schemas.microsoft.com/office/powerpoint/2010/main" val="29728243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89</a:t>
            </a:fld>
            <a:endParaRPr lang="zh-CN" altLang="en-US"/>
          </a:p>
        </p:txBody>
      </p:sp>
    </p:spTree>
    <p:extLst>
      <p:ext uri="{BB962C8B-B14F-4D97-AF65-F5344CB8AC3E}">
        <p14:creationId xmlns:p14="http://schemas.microsoft.com/office/powerpoint/2010/main" val="4037477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在无限的空间中给定一个分子然后在这个空间中划定一个体积为</a:t>
            </a:r>
            <a:r>
              <a:rPr lang="en-US" altLang="zh-CN" dirty="0"/>
              <a:t>V</a:t>
            </a:r>
            <a:r>
              <a:rPr lang="zh-CN" altLang="en-US" dirty="0"/>
              <a:t>的“容器”，当</a:t>
            </a:r>
            <a:r>
              <a:rPr lang="en-US" altLang="zh-CN" dirty="0"/>
              <a:t>V</a:t>
            </a:r>
            <a:r>
              <a:rPr lang="zh-CN" altLang="en-US" dirty="0"/>
              <a:t>越大时，这个给定分子被这个容器所包含的概率</a:t>
            </a:r>
            <a:r>
              <a:rPr lang="en-US" altLang="zh-CN" dirty="0"/>
              <a:t>W</a:t>
            </a:r>
            <a:r>
              <a:rPr lang="zh-CN" altLang="en-US" dirty="0"/>
              <a:t>就越大。</a:t>
            </a:r>
          </a:p>
        </p:txBody>
      </p:sp>
      <p:sp>
        <p:nvSpPr>
          <p:cNvPr id="4" name="灯片编号占位符 3"/>
          <p:cNvSpPr>
            <a:spLocks noGrp="1"/>
          </p:cNvSpPr>
          <p:nvPr>
            <p:ph type="sldNum" sz="quarter" idx="10"/>
          </p:nvPr>
        </p:nvSpPr>
        <p:spPr/>
        <p:txBody>
          <a:bodyPr/>
          <a:lstStyle/>
          <a:p>
            <a:pPr>
              <a:defRPr/>
            </a:pPr>
            <a:fld id="{11F4CC6D-8FC7-4280-9D33-CCEFF559E81D}" type="slidenum">
              <a:rPr lang="zh-CN" altLang="en-US" smtClean="0"/>
              <a:pPr>
                <a:defRPr/>
              </a:pPr>
              <a:t>91</a:t>
            </a:fld>
            <a:endParaRPr lang="zh-CN" altLang="en-US"/>
          </a:p>
        </p:txBody>
      </p:sp>
    </p:spTree>
    <p:extLst>
      <p:ext uri="{BB962C8B-B14F-4D97-AF65-F5344CB8AC3E}">
        <p14:creationId xmlns:p14="http://schemas.microsoft.com/office/powerpoint/2010/main" val="26237875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1F4CC6D-8FC7-4280-9D33-CCEFF559E81D}" type="slidenum">
              <a:rPr lang="zh-CN" altLang="en-US" smtClean="0"/>
              <a:pPr>
                <a:defRPr/>
              </a:pPr>
              <a:t>102</a:t>
            </a:fld>
            <a:endParaRPr lang="zh-CN" altLang="en-US"/>
          </a:p>
        </p:txBody>
      </p:sp>
    </p:spTree>
    <p:extLst>
      <p:ext uri="{BB962C8B-B14F-4D97-AF65-F5344CB8AC3E}">
        <p14:creationId xmlns:p14="http://schemas.microsoft.com/office/powerpoint/2010/main" val="3855428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52C28B7-16DC-4E50-B49E-52A2C00BC18C}" type="slidenum">
              <a:rPr lang="en-US" altLang="zh-CN"/>
              <a:pPr>
                <a:defRPr/>
              </a:pPr>
              <a:t>‹#›</a:t>
            </a:fld>
            <a:endParaRPr lang="en-US" altLang="zh-CN"/>
          </a:p>
        </p:txBody>
      </p:sp>
    </p:spTree>
    <p:extLst>
      <p:ext uri="{BB962C8B-B14F-4D97-AF65-F5344CB8AC3E}">
        <p14:creationId xmlns:p14="http://schemas.microsoft.com/office/powerpoint/2010/main" val="3553093919"/>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CBE0668-71A5-46E9-B1DF-513000771F2A}" type="slidenum">
              <a:rPr lang="en-US" altLang="zh-CN"/>
              <a:pPr>
                <a:defRPr/>
              </a:pPr>
              <a:t>‹#›</a:t>
            </a:fld>
            <a:endParaRPr lang="en-US" altLang="zh-CN"/>
          </a:p>
        </p:txBody>
      </p:sp>
    </p:spTree>
    <p:extLst>
      <p:ext uri="{BB962C8B-B14F-4D97-AF65-F5344CB8AC3E}">
        <p14:creationId xmlns:p14="http://schemas.microsoft.com/office/powerpoint/2010/main" val="629488314"/>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7A42011-1A1D-4416-AE6F-5E4F364DC969}" type="slidenum">
              <a:rPr lang="en-US" altLang="zh-CN"/>
              <a:pPr>
                <a:defRPr/>
              </a:pPr>
              <a:t>‹#›</a:t>
            </a:fld>
            <a:endParaRPr lang="en-US" altLang="zh-CN"/>
          </a:p>
        </p:txBody>
      </p:sp>
    </p:spTree>
    <p:extLst>
      <p:ext uri="{BB962C8B-B14F-4D97-AF65-F5344CB8AC3E}">
        <p14:creationId xmlns:p14="http://schemas.microsoft.com/office/powerpoint/2010/main" val="2066910581"/>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AF0440A-C9EF-4E01-9057-58632E3C1A7F}" type="slidenum">
              <a:rPr lang="en-US" altLang="zh-CN"/>
              <a:pPr>
                <a:defRPr/>
              </a:pPr>
              <a:t>‹#›</a:t>
            </a:fld>
            <a:endParaRPr lang="en-US" altLang="zh-CN"/>
          </a:p>
        </p:txBody>
      </p:sp>
    </p:spTree>
    <p:extLst>
      <p:ext uri="{BB962C8B-B14F-4D97-AF65-F5344CB8AC3E}">
        <p14:creationId xmlns:p14="http://schemas.microsoft.com/office/powerpoint/2010/main" val="281505091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F3E2340D-E2ED-4ED5-BAF7-154A27DF492E}" type="slidenum">
              <a:rPr lang="en-US" altLang="zh-CN"/>
              <a:pPr>
                <a:defRPr/>
              </a:pPr>
              <a:t>‹#›</a:t>
            </a:fld>
            <a:endParaRPr lang="en-US" altLang="zh-CN"/>
          </a:p>
        </p:txBody>
      </p:sp>
    </p:spTree>
    <p:extLst>
      <p:ext uri="{BB962C8B-B14F-4D97-AF65-F5344CB8AC3E}">
        <p14:creationId xmlns:p14="http://schemas.microsoft.com/office/powerpoint/2010/main" val="624640070"/>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E28653CA-CF60-4CCA-A3CC-AEC7122BAC15}" type="slidenum">
              <a:rPr lang="en-US" altLang="zh-CN"/>
              <a:pPr>
                <a:defRPr/>
              </a:pPr>
              <a:t>‹#›</a:t>
            </a:fld>
            <a:endParaRPr lang="en-US" altLang="zh-CN"/>
          </a:p>
        </p:txBody>
      </p:sp>
    </p:spTree>
    <p:extLst>
      <p:ext uri="{BB962C8B-B14F-4D97-AF65-F5344CB8AC3E}">
        <p14:creationId xmlns:p14="http://schemas.microsoft.com/office/powerpoint/2010/main" val="3182523523"/>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8F784977-83B2-45C9-925F-BD08B1939C90}" type="slidenum">
              <a:rPr lang="en-US" altLang="zh-CN"/>
              <a:pPr>
                <a:defRPr/>
              </a:pPr>
              <a:t>‹#›</a:t>
            </a:fld>
            <a:endParaRPr lang="en-US" altLang="zh-CN"/>
          </a:p>
        </p:txBody>
      </p:sp>
    </p:spTree>
    <p:extLst>
      <p:ext uri="{BB962C8B-B14F-4D97-AF65-F5344CB8AC3E}">
        <p14:creationId xmlns:p14="http://schemas.microsoft.com/office/powerpoint/2010/main" val="3436337121"/>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AEC1C94-D05C-4907-8098-927F90F31DA6}" type="slidenum">
              <a:rPr lang="en-US" altLang="zh-CN"/>
              <a:pPr>
                <a:defRPr/>
              </a:pPr>
              <a:t>‹#›</a:t>
            </a:fld>
            <a:endParaRPr lang="en-US" altLang="zh-CN"/>
          </a:p>
        </p:txBody>
      </p:sp>
    </p:spTree>
    <p:extLst>
      <p:ext uri="{BB962C8B-B14F-4D97-AF65-F5344CB8AC3E}">
        <p14:creationId xmlns:p14="http://schemas.microsoft.com/office/powerpoint/2010/main" val="3281437664"/>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90C5656-25CF-4C1B-948E-7B553E3790DF}" type="slidenum">
              <a:rPr lang="en-US" altLang="zh-CN"/>
              <a:pPr>
                <a:defRPr/>
              </a:pPr>
              <a:t>‹#›</a:t>
            </a:fld>
            <a:endParaRPr lang="en-US" altLang="zh-CN"/>
          </a:p>
        </p:txBody>
      </p:sp>
    </p:spTree>
    <p:extLst>
      <p:ext uri="{BB962C8B-B14F-4D97-AF65-F5344CB8AC3E}">
        <p14:creationId xmlns:p14="http://schemas.microsoft.com/office/powerpoint/2010/main" val="741095466"/>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C383E82-8E35-467A-9258-D568E96BF393}" type="slidenum">
              <a:rPr lang="en-US" altLang="zh-CN"/>
              <a:pPr>
                <a:defRPr/>
              </a:pPr>
              <a:t>‹#›</a:t>
            </a:fld>
            <a:endParaRPr lang="en-US" altLang="zh-CN"/>
          </a:p>
        </p:txBody>
      </p:sp>
    </p:spTree>
    <p:extLst>
      <p:ext uri="{BB962C8B-B14F-4D97-AF65-F5344CB8AC3E}">
        <p14:creationId xmlns:p14="http://schemas.microsoft.com/office/powerpoint/2010/main" val="1781172046"/>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F85C26A-109B-42AC-AE34-25CB786E7838}" type="slidenum">
              <a:rPr lang="en-US" altLang="zh-CN"/>
              <a:pPr>
                <a:defRPr/>
              </a:pPr>
              <a:t>‹#›</a:t>
            </a:fld>
            <a:endParaRPr lang="en-US" altLang="zh-CN"/>
          </a:p>
        </p:txBody>
      </p:sp>
    </p:spTree>
    <p:extLst>
      <p:ext uri="{BB962C8B-B14F-4D97-AF65-F5344CB8AC3E}">
        <p14:creationId xmlns:p14="http://schemas.microsoft.com/office/powerpoint/2010/main" val="835021585"/>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56FE505E-C215-47BF-83E1-B822EC1E62B7}" type="slidenum">
              <a:rPr lang="en-US" altLang="zh-CN"/>
              <a:pPr>
                <a:defRPr/>
              </a:pPr>
              <a:t>‹#›</a:t>
            </a:fld>
            <a:endParaRPr lang="en-US" altLang="zh-CN"/>
          </a:p>
        </p:txBody>
      </p:sp>
    </p:spTree>
    <p:extLst>
      <p:ext uri="{BB962C8B-B14F-4D97-AF65-F5344CB8AC3E}">
        <p14:creationId xmlns:p14="http://schemas.microsoft.com/office/powerpoint/2010/main" val="2558814195"/>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a:t>单击此处编辑母版标题样式</a:t>
            </a:r>
          </a:p>
        </p:txBody>
      </p:sp>
      <p:sp>
        <p:nvSpPr>
          <p:cNvPr id="3" name="内容占位符 2"/>
          <p:cNvSpPr>
            <a:spLocks noGrp="1"/>
          </p:cNvSpPr>
          <p:nvPr>
            <p:ph sz="half" idx="1"/>
          </p:nvPr>
        </p:nvSpPr>
        <p:spPr>
          <a:xfrm>
            <a:off x="457200" y="1719263"/>
            <a:ext cx="8229600" cy="21288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4000500"/>
            <a:ext cx="8229600" cy="21304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DB52215C-FC07-4139-95A5-3A03EEBD321A}" type="slidenum">
              <a:rPr lang="en-US" altLang="zh-CN"/>
              <a:pPr>
                <a:defRPr/>
              </a:pPr>
              <a:t>‹#›</a:t>
            </a:fld>
            <a:endParaRPr lang="en-US" altLang="zh-CN"/>
          </a:p>
        </p:txBody>
      </p:sp>
    </p:spTree>
    <p:extLst>
      <p:ext uri="{BB962C8B-B14F-4D97-AF65-F5344CB8AC3E}">
        <p14:creationId xmlns:p14="http://schemas.microsoft.com/office/powerpoint/2010/main" val="1199059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ea typeface="宋体" pitchFamily="2"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a:defRPr/>
            </a:pPr>
            <a:fld id="{CB57E815-E9F9-4706-ABFF-159F7E92C37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3" r:id="rId13"/>
  </p:sldLayoutIdLst>
  <p:transition>
    <p:random/>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xml"/><Relationship Id="rId7" Type="http://schemas.openxmlformats.org/officeDocument/2006/relationships/image" Target="../media/image3.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wmf"/><Relationship Id="rId10" Type="http://schemas.openxmlformats.org/officeDocument/2006/relationships/image" Target="../media/image5.png"/><Relationship Id="rId4" Type="http://schemas.openxmlformats.org/officeDocument/2006/relationships/oleObject" Target="../embeddings/oleObject1.bin"/><Relationship Id="rId9" Type="http://schemas.openxmlformats.org/officeDocument/2006/relationships/image" Target="../media/image4.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9.bin"/><Relationship Id="rId18" Type="http://schemas.openxmlformats.org/officeDocument/2006/relationships/image" Target="../media/image13.wmf"/><Relationship Id="rId26" Type="http://schemas.openxmlformats.org/officeDocument/2006/relationships/oleObject" Target="../embeddings/oleObject19.bin"/><Relationship Id="rId3" Type="http://schemas.openxmlformats.org/officeDocument/2006/relationships/oleObject" Target="../embeddings/oleObject4.bin"/><Relationship Id="rId21" Type="http://schemas.openxmlformats.org/officeDocument/2006/relationships/oleObject" Target="../embeddings/oleObject14.bin"/><Relationship Id="rId7" Type="http://schemas.openxmlformats.org/officeDocument/2006/relationships/oleObject" Target="../embeddings/oleObject6.bin"/><Relationship Id="rId12" Type="http://schemas.openxmlformats.org/officeDocument/2006/relationships/image" Target="../media/image10.wmf"/><Relationship Id="rId17" Type="http://schemas.openxmlformats.org/officeDocument/2006/relationships/oleObject" Target="../embeddings/oleObject11.bin"/><Relationship Id="rId25" Type="http://schemas.openxmlformats.org/officeDocument/2006/relationships/oleObject" Target="../embeddings/oleObject18.bin"/><Relationship Id="rId2" Type="http://schemas.openxmlformats.org/officeDocument/2006/relationships/slideLayout" Target="../slideLayouts/slideLayout7.xml"/><Relationship Id="rId16" Type="http://schemas.openxmlformats.org/officeDocument/2006/relationships/image" Target="../media/image12.wmf"/><Relationship Id="rId20" Type="http://schemas.openxmlformats.org/officeDocument/2006/relationships/oleObject" Target="../embeddings/oleObject13.bin"/><Relationship Id="rId1" Type="http://schemas.openxmlformats.org/officeDocument/2006/relationships/vmlDrawing" Target="../drawings/vmlDrawing2.vml"/><Relationship Id="rId6" Type="http://schemas.openxmlformats.org/officeDocument/2006/relationships/image" Target="../media/image7.wmf"/><Relationship Id="rId11" Type="http://schemas.openxmlformats.org/officeDocument/2006/relationships/oleObject" Target="../embeddings/oleObject8.bin"/><Relationship Id="rId24" Type="http://schemas.openxmlformats.org/officeDocument/2006/relationships/oleObject" Target="../embeddings/oleObject17.bin"/><Relationship Id="rId5" Type="http://schemas.openxmlformats.org/officeDocument/2006/relationships/oleObject" Target="../embeddings/oleObject5.bin"/><Relationship Id="rId15" Type="http://schemas.openxmlformats.org/officeDocument/2006/relationships/oleObject" Target="../embeddings/oleObject10.bin"/><Relationship Id="rId23" Type="http://schemas.openxmlformats.org/officeDocument/2006/relationships/oleObject" Target="../embeddings/oleObject16.bin"/><Relationship Id="rId10" Type="http://schemas.openxmlformats.org/officeDocument/2006/relationships/image" Target="../media/image9.wmf"/><Relationship Id="rId19" Type="http://schemas.openxmlformats.org/officeDocument/2006/relationships/oleObject" Target="../embeddings/oleObject12.bin"/><Relationship Id="rId4" Type="http://schemas.openxmlformats.org/officeDocument/2006/relationships/image" Target="../media/image6.wmf"/><Relationship Id="rId9" Type="http://schemas.openxmlformats.org/officeDocument/2006/relationships/oleObject" Target="../embeddings/oleObject7.bin"/><Relationship Id="rId14" Type="http://schemas.openxmlformats.org/officeDocument/2006/relationships/image" Target="../media/image11.wmf"/><Relationship Id="rId22" Type="http://schemas.openxmlformats.org/officeDocument/2006/relationships/oleObject" Target="../embeddings/oleObject15.bin"/><Relationship Id="rId27" Type="http://schemas.openxmlformats.org/officeDocument/2006/relationships/image" Target="../media/image14.wmf"/></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7.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9.bin"/><Relationship Id="rId18" Type="http://schemas.openxmlformats.org/officeDocument/2006/relationships/image" Target="../media/image23.wmf"/><Relationship Id="rId3" Type="http://schemas.openxmlformats.org/officeDocument/2006/relationships/oleObject" Target="../embeddings/oleObject4.bin"/><Relationship Id="rId21" Type="http://schemas.openxmlformats.org/officeDocument/2006/relationships/oleObject" Target="../embeddings/oleObject11.bin"/><Relationship Id="rId7" Type="http://schemas.openxmlformats.org/officeDocument/2006/relationships/oleObject" Target="../embeddings/oleObject6.bin"/><Relationship Id="rId12" Type="http://schemas.openxmlformats.org/officeDocument/2006/relationships/image" Target="../media/image10.wmf"/><Relationship Id="rId17" Type="http://schemas.openxmlformats.org/officeDocument/2006/relationships/oleObject" Target="../embeddings/oleObject20.bin"/><Relationship Id="rId2" Type="http://schemas.openxmlformats.org/officeDocument/2006/relationships/slideLayout" Target="../slideLayouts/slideLayout1.xml"/><Relationship Id="rId16" Type="http://schemas.openxmlformats.org/officeDocument/2006/relationships/image" Target="../media/image12.wmf"/><Relationship Id="rId20" Type="http://schemas.openxmlformats.org/officeDocument/2006/relationships/image" Target="../media/image24.wmf"/><Relationship Id="rId1" Type="http://schemas.openxmlformats.org/officeDocument/2006/relationships/vmlDrawing" Target="../drawings/vmlDrawing3.vml"/><Relationship Id="rId6" Type="http://schemas.openxmlformats.org/officeDocument/2006/relationships/image" Target="../media/image7.w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oleObject" Target="../embeddings/oleObject10.bin"/><Relationship Id="rId10" Type="http://schemas.openxmlformats.org/officeDocument/2006/relationships/image" Target="../media/image9.wmf"/><Relationship Id="rId19" Type="http://schemas.openxmlformats.org/officeDocument/2006/relationships/oleObject" Target="../embeddings/oleObject21.bin"/><Relationship Id="rId4" Type="http://schemas.openxmlformats.org/officeDocument/2006/relationships/image" Target="../media/image6.wmf"/><Relationship Id="rId9" Type="http://schemas.openxmlformats.org/officeDocument/2006/relationships/oleObject" Target="../embeddings/oleObject7.bin"/><Relationship Id="rId14" Type="http://schemas.openxmlformats.org/officeDocument/2006/relationships/image" Target="../media/image11.wmf"/><Relationship Id="rId22" Type="http://schemas.openxmlformats.org/officeDocument/2006/relationships/image" Target="../media/image13.wmf"/></Relationships>
</file>

<file path=ppt/slides/_rels/slide8.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17.bin"/><Relationship Id="rId18" Type="http://schemas.openxmlformats.org/officeDocument/2006/relationships/image" Target="../media/image23.wmf"/><Relationship Id="rId3" Type="http://schemas.openxmlformats.org/officeDocument/2006/relationships/oleObject" Target="../embeddings/oleObject12.bin"/><Relationship Id="rId21" Type="http://schemas.openxmlformats.org/officeDocument/2006/relationships/oleObject" Target="../embeddings/oleObject19.bin"/><Relationship Id="rId7" Type="http://schemas.openxmlformats.org/officeDocument/2006/relationships/oleObject" Target="../embeddings/oleObject14.bin"/><Relationship Id="rId12" Type="http://schemas.openxmlformats.org/officeDocument/2006/relationships/image" Target="../media/image10.wmf"/><Relationship Id="rId17" Type="http://schemas.openxmlformats.org/officeDocument/2006/relationships/oleObject" Target="../embeddings/oleObject22.bin"/><Relationship Id="rId2" Type="http://schemas.openxmlformats.org/officeDocument/2006/relationships/slideLayout" Target="../slideLayouts/slideLayout1.xml"/><Relationship Id="rId16" Type="http://schemas.openxmlformats.org/officeDocument/2006/relationships/image" Target="../media/image12.wmf"/><Relationship Id="rId20" Type="http://schemas.openxmlformats.org/officeDocument/2006/relationships/image" Target="../media/image24.wmf"/><Relationship Id="rId1" Type="http://schemas.openxmlformats.org/officeDocument/2006/relationships/vmlDrawing" Target="../drawings/vmlDrawing4.vml"/><Relationship Id="rId6" Type="http://schemas.openxmlformats.org/officeDocument/2006/relationships/image" Target="../media/image7.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9.wmf"/><Relationship Id="rId19" Type="http://schemas.openxmlformats.org/officeDocument/2006/relationships/oleObject" Target="../embeddings/oleObject23.bin"/><Relationship Id="rId4" Type="http://schemas.openxmlformats.org/officeDocument/2006/relationships/image" Target="../media/image6.wmf"/><Relationship Id="rId9" Type="http://schemas.openxmlformats.org/officeDocument/2006/relationships/oleObject" Target="../embeddings/oleObject15.bin"/><Relationship Id="rId14" Type="http://schemas.openxmlformats.org/officeDocument/2006/relationships/image" Target="../media/image11.wmf"/><Relationship Id="rId22" Type="http://schemas.openxmlformats.org/officeDocument/2006/relationships/image" Target="../media/image14.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24.wmf"/><Relationship Id="rId3" Type="http://schemas.openxmlformats.org/officeDocument/2006/relationships/notesSlide" Target="../notesSlides/notesSlide5.xml"/><Relationship Id="rId7" Type="http://schemas.openxmlformats.org/officeDocument/2006/relationships/image" Target="../media/image7.wmf"/><Relationship Id="rId12" Type="http://schemas.openxmlformats.org/officeDocument/2006/relationships/oleObject" Target="../embeddings/oleObject28.bin"/><Relationship Id="rId17" Type="http://schemas.openxmlformats.org/officeDocument/2006/relationships/image" Target="../media/image27.jpg"/><Relationship Id="rId2" Type="http://schemas.openxmlformats.org/officeDocument/2006/relationships/slideLayout" Target="../slideLayouts/slideLayout7.xml"/><Relationship Id="rId16" Type="http://schemas.openxmlformats.org/officeDocument/2006/relationships/image" Target="../media/image26.jpg"/><Relationship Id="rId1" Type="http://schemas.openxmlformats.org/officeDocument/2006/relationships/vmlDrawing" Target="../drawings/vmlDrawing5.vml"/><Relationship Id="rId6" Type="http://schemas.openxmlformats.org/officeDocument/2006/relationships/oleObject" Target="../embeddings/oleObject25.bin"/><Relationship Id="rId11" Type="http://schemas.openxmlformats.org/officeDocument/2006/relationships/image" Target="../media/image23.wmf"/><Relationship Id="rId5" Type="http://schemas.openxmlformats.org/officeDocument/2006/relationships/image" Target="../media/image6.wmf"/><Relationship Id="rId15" Type="http://schemas.openxmlformats.org/officeDocument/2006/relationships/image" Target="../media/image25.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8.wmf"/><Relationship Id="rId14" Type="http://schemas.openxmlformats.org/officeDocument/2006/relationships/oleObject" Target="../embeddings/oleObject29.bin"/></Relationships>
</file>

<file path=ppt/slides/_rels/slide10.xml.rels><?xml version="1.0" encoding="UTF-8" standalone="yes"?>
<Relationships xmlns="http://schemas.openxmlformats.org/package/2006/relationships"><Relationship Id="rId3" Type="http://schemas.openxmlformats.org/officeDocument/2006/relationships/hyperlink" Target="file:///G:\0sywang\college_physics\&#12304;2005college%20physics&#12305;\&#28909;&#26426;.swf" TargetMode="External"/><Relationship Id="rId7"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hyperlink" Target="&#33976;&#27668;&#26426;&#21407;&#29702;.swf" TargetMode="External"/><Relationship Id="rId5" Type="http://schemas.openxmlformats.org/officeDocument/2006/relationships/image" Target="../media/image29.jpeg"/><Relationship Id="rId4" Type="http://schemas.openxmlformats.org/officeDocument/2006/relationships/image" Target="../media/image28.gi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31.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32.w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33.emf"/><Relationship Id="rId4" Type="http://schemas.openxmlformats.org/officeDocument/2006/relationships/oleObject" Target="../embeddings/oleObject32.bin"/></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20912;&#31665;&#21407;&#29702;.swf" TargetMode="External"/><Relationship Id="rId1" Type="http://schemas.openxmlformats.org/officeDocument/2006/relationships/slideLayout" Target="../slideLayouts/slideLayout2.xml"/><Relationship Id="rId5" Type="http://schemas.openxmlformats.org/officeDocument/2006/relationships/image" Target="../media/image35.gif"/><Relationship Id="rId4" Type="http://schemas.openxmlformats.org/officeDocument/2006/relationships/hyperlink" Target="../&#20912;&#31665;&#21407;&#29702;.sw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hyperlink" Target="../&#21345;&#35834;&#24490;&#29615;.swf" TargetMode="External"/><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16.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9.wmf"/><Relationship Id="rId5" Type="http://schemas.openxmlformats.org/officeDocument/2006/relationships/oleObject" Target="../embeddings/oleObject34.bin"/><Relationship Id="rId4" Type="http://schemas.openxmlformats.org/officeDocument/2006/relationships/image" Target="../media/image38.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42.wmf"/><Relationship Id="rId5" Type="http://schemas.openxmlformats.org/officeDocument/2006/relationships/oleObject" Target="../embeddings/oleObject37.bin"/><Relationship Id="rId4" Type="http://schemas.openxmlformats.org/officeDocument/2006/relationships/image" Target="../media/image41.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4.wmf"/><Relationship Id="rId5" Type="http://schemas.openxmlformats.org/officeDocument/2006/relationships/oleObject" Target="../embeddings/oleObject39.bin"/><Relationship Id="rId4" Type="http://schemas.openxmlformats.org/officeDocument/2006/relationships/image" Target="../media/image43.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image" Target="../media/image49.png"/><Relationship Id="rId7" Type="http://schemas.openxmlformats.org/officeDocument/2006/relationships/image" Target="../media/image46.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41.bin"/><Relationship Id="rId11" Type="http://schemas.openxmlformats.org/officeDocument/2006/relationships/image" Target="../media/image48.wmf"/><Relationship Id="rId5" Type="http://schemas.openxmlformats.org/officeDocument/2006/relationships/image" Target="../media/image45.w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47.wmf"/></Relationships>
</file>

<file path=ppt/slides/_rels/slide20.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oleObject" Target="../embeddings/oleObject49.bin"/><Relationship Id="rId18" Type="http://schemas.openxmlformats.org/officeDocument/2006/relationships/image" Target="../media/image57.wmf"/><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54.wmf"/><Relationship Id="rId17" Type="http://schemas.openxmlformats.org/officeDocument/2006/relationships/oleObject" Target="../embeddings/oleObject51.bin"/><Relationship Id="rId2" Type="http://schemas.openxmlformats.org/officeDocument/2006/relationships/slideLayout" Target="../slideLayouts/slideLayout7.xml"/><Relationship Id="rId16" Type="http://schemas.openxmlformats.org/officeDocument/2006/relationships/image" Target="../media/image56.wmf"/><Relationship Id="rId1" Type="http://schemas.openxmlformats.org/officeDocument/2006/relationships/vmlDrawing" Target="../drawings/vmlDrawing13.vml"/><Relationship Id="rId6" Type="http://schemas.openxmlformats.org/officeDocument/2006/relationships/image" Target="../media/image51.w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oleObject" Target="../embeddings/oleObject50.bin"/><Relationship Id="rId10" Type="http://schemas.openxmlformats.org/officeDocument/2006/relationships/image" Target="../media/image53.wmf"/><Relationship Id="rId19" Type="http://schemas.openxmlformats.org/officeDocument/2006/relationships/image" Target="../media/image49.png"/><Relationship Id="rId4" Type="http://schemas.openxmlformats.org/officeDocument/2006/relationships/image" Target="../media/image50.wmf"/><Relationship Id="rId9" Type="http://schemas.openxmlformats.org/officeDocument/2006/relationships/oleObject" Target="../embeddings/oleObject47.bin"/><Relationship Id="rId14" Type="http://schemas.openxmlformats.org/officeDocument/2006/relationships/image" Target="../media/image55.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58.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53.bin"/><Relationship Id="rId5" Type="http://schemas.openxmlformats.org/officeDocument/2006/relationships/image" Target="../media/image50.wmf"/><Relationship Id="rId4" Type="http://schemas.openxmlformats.org/officeDocument/2006/relationships/oleObject" Target="../embeddings/oleObject52.bin"/></Relationships>
</file>

<file path=ppt/slides/_rels/slide2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png"/><Relationship Id="rId1" Type="http://schemas.openxmlformats.org/officeDocument/2006/relationships/slideLayout" Target="../slideLayouts/slideLayout7.xml"/><Relationship Id="rId5" Type="http://schemas.openxmlformats.org/officeDocument/2006/relationships/image" Target="../media/image62.png"/><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64.wmf"/><Relationship Id="rId5" Type="http://schemas.openxmlformats.org/officeDocument/2006/relationships/oleObject" Target="../embeddings/oleObject55.bin"/><Relationship Id="rId10" Type="http://schemas.openxmlformats.org/officeDocument/2006/relationships/image" Target="../media/image66.wmf"/><Relationship Id="rId4" Type="http://schemas.openxmlformats.org/officeDocument/2006/relationships/image" Target="../media/image63.wmf"/><Relationship Id="rId9" Type="http://schemas.openxmlformats.org/officeDocument/2006/relationships/oleObject" Target="../embeddings/oleObject57.bin"/></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hyperlink" Target="https://baijiahao.baidu.com/s?id=1844839673585547994&amp;wfr=spider&amp;for=pc" TargetMode="External"/><Relationship Id="rId5" Type="http://schemas.openxmlformats.org/officeDocument/2006/relationships/image" Target="../media/image69.png"/><Relationship Id="rId4" Type="http://schemas.openxmlformats.org/officeDocument/2006/relationships/image" Target="../media/image68.png"/></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notesSlide" Target="../notesSlides/notesSlide10.xml"/><Relationship Id="rId7" Type="http://schemas.openxmlformats.org/officeDocument/2006/relationships/image" Target="../media/image55.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59.bin"/><Relationship Id="rId11" Type="http://schemas.openxmlformats.org/officeDocument/2006/relationships/image" Target="../media/image72.wmf"/><Relationship Id="rId5" Type="http://schemas.openxmlformats.org/officeDocument/2006/relationships/image" Target="../media/image70.wmf"/><Relationship Id="rId10" Type="http://schemas.openxmlformats.org/officeDocument/2006/relationships/oleObject" Target="../embeddings/oleObject61.bin"/><Relationship Id="rId4" Type="http://schemas.openxmlformats.org/officeDocument/2006/relationships/oleObject" Target="../embeddings/oleObject58.bin"/><Relationship Id="rId9" Type="http://schemas.openxmlformats.org/officeDocument/2006/relationships/image" Target="../media/image71.wmf"/></Relationships>
</file>

<file path=ppt/slides/_rels/slide26.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4.jpeg"/></Relationships>
</file>

<file path=ppt/slides/_rels/slide27.xml.rels><?xml version="1.0" encoding="UTF-8" standalone="yes"?>
<Relationships xmlns="http://schemas.openxmlformats.org/package/2006/relationships"><Relationship Id="rId13" Type="http://schemas.openxmlformats.org/officeDocument/2006/relationships/image" Target="../media/image9.wmf"/><Relationship Id="rId18" Type="http://schemas.openxmlformats.org/officeDocument/2006/relationships/oleObject" Target="../embeddings/oleObject69.bin"/><Relationship Id="rId26" Type="http://schemas.openxmlformats.org/officeDocument/2006/relationships/oleObject" Target="../embeddings/oleObject73.bin"/><Relationship Id="rId3" Type="http://schemas.openxmlformats.org/officeDocument/2006/relationships/notesSlide" Target="../notesSlides/notesSlide12.xml"/><Relationship Id="rId21" Type="http://schemas.openxmlformats.org/officeDocument/2006/relationships/image" Target="../media/image79.wmf"/><Relationship Id="rId7" Type="http://schemas.openxmlformats.org/officeDocument/2006/relationships/image" Target="../media/image12.wmf"/><Relationship Id="rId12" Type="http://schemas.openxmlformats.org/officeDocument/2006/relationships/oleObject" Target="../embeddings/oleObject66.bin"/><Relationship Id="rId17" Type="http://schemas.openxmlformats.org/officeDocument/2006/relationships/image" Target="../media/image11.wmf"/><Relationship Id="rId25" Type="http://schemas.openxmlformats.org/officeDocument/2006/relationships/image" Target="../media/image8.wmf"/><Relationship Id="rId33" Type="http://schemas.openxmlformats.org/officeDocument/2006/relationships/hyperlink" Target="http://www.animatedengines.com/otto.html" TargetMode="External"/><Relationship Id="rId2" Type="http://schemas.openxmlformats.org/officeDocument/2006/relationships/slideLayout" Target="../slideLayouts/slideLayout7.xml"/><Relationship Id="rId16" Type="http://schemas.openxmlformats.org/officeDocument/2006/relationships/oleObject" Target="../embeddings/oleObject68.bin"/><Relationship Id="rId20" Type="http://schemas.openxmlformats.org/officeDocument/2006/relationships/oleObject" Target="../embeddings/oleObject70.bin"/><Relationship Id="rId29" Type="http://schemas.openxmlformats.org/officeDocument/2006/relationships/image" Target="../media/image81.wmf"/><Relationship Id="rId1" Type="http://schemas.openxmlformats.org/officeDocument/2006/relationships/vmlDrawing" Target="../drawings/vmlDrawing17.vml"/><Relationship Id="rId6" Type="http://schemas.openxmlformats.org/officeDocument/2006/relationships/oleObject" Target="../embeddings/oleObject63.bin"/><Relationship Id="rId11" Type="http://schemas.openxmlformats.org/officeDocument/2006/relationships/image" Target="../media/image77.wmf"/><Relationship Id="rId24" Type="http://schemas.openxmlformats.org/officeDocument/2006/relationships/oleObject" Target="../embeddings/oleObject72.bin"/><Relationship Id="rId32" Type="http://schemas.openxmlformats.org/officeDocument/2006/relationships/hyperlink" Target="https://en.wikipedia.org/wiki/Otto_engine" TargetMode="External"/><Relationship Id="rId5" Type="http://schemas.openxmlformats.org/officeDocument/2006/relationships/image" Target="../media/image75.wmf"/><Relationship Id="rId15" Type="http://schemas.openxmlformats.org/officeDocument/2006/relationships/image" Target="../media/image10.wmf"/><Relationship Id="rId23" Type="http://schemas.openxmlformats.org/officeDocument/2006/relationships/image" Target="../media/image80.wmf"/><Relationship Id="rId28" Type="http://schemas.openxmlformats.org/officeDocument/2006/relationships/oleObject" Target="../embeddings/oleObject74.bin"/><Relationship Id="rId10" Type="http://schemas.openxmlformats.org/officeDocument/2006/relationships/oleObject" Target="../embeddings/oleObject65.bin"/><Relationship Id="rId19" Type="http://schemas.openxmlformats.org/officeDocument/2006/relationships/image" Target="../media/image78.wmf"/><Relationship Id="rId31" Type="http://schemas.openxmlformats.org/officeDocument/2006/relationships/image" Target="../media/image82.jpeg"/><Relationship Id="rId4" Type="http://schemas.openxmlformats.org/officeDocument/2006/relationships/oleObject" Target="../embeddings/oleObject62.bin"/><Relationship Id="rId9" Type="http://schemas.openxmlformats.org/officeDocument/2006/relationships/image" Target="../media/image76.wmf"/><Relationship Id="rId14" Type="http://schemas.openxmlformats.org/officeDocument/2006/relationships/oleObject" Target="../embeddings/oleObject67.bin"/><Relationship Id="rId22" Type="http://schemas.openxmlformats.org/officeDocument/2006/relationships/oleObject" Target="../embeddings/oleObject71.bin"/><Relationship Id="rId27" Type="http://schemas.openxmlformats.org/officeDocument/2006/relationships/image" Target="../media/image7.wmf"/><Relationship Id="rId30" Type="http://schemas.openxmlformats.org/officeDocument/2006/relationships/hyperlink" Target="file:///E:\Serway\Ch01~Ch22%20PowerPoint,%20Solutions%20Manual---\Media\Active_Figures\Active%20Figures%20Media\AF_2212.swf" TargetMode="External"/><Relationship Id="rId8" Type="http://schemas.openxmlformats.org/officeDocument/2006/relationships/oleObject" Target="../embeddings/oleObject64.bin"/></Relationships>
</file>

<file path=ppt/slides/_rels/slide28.xml.rels><?xml version="1.0" encoding="UTF-8" standalone="yes"?>
<Relationships xmlns="http://schemas.openxmlformats.org/package/2006/relationships"><Relationship Id="rId13" Type="http://schemas.openxmlformats.org/officeDocument/2006/relationships/oleObject" Target="../embeddings/oleObject80.bin"/><Relationship Id="rId18" Type="http://schemas.openxmlformats.org/officeDocument/2006/relationships/image" Target="../media/image12.wmf"/><Relationship Id="rId26" Type="http://schemas.openxmlformats.org/officeDocument/2006/relationships/image" Target="../media/image10.wmf"/><Relationship Id="rId39" Type="http://schemas.openxmlformats.org/officeDocument/2006/relationships/oleObject" Target="../embeddings/oleObject93.bin"/><Relationship Id="rId21" Type="http://schemas.openxmlformats.org/officeDocument/2006/relationships/oleObject" Target="../embeddings/oleObject84.bin"/><Relationship Id="rId34" Type="http://schemas.openxmlformats.org/officeDocument/2006/relationships/image" Target="../media/image80.wmf"/><Relationship Id="rId42" Type="http://schemas.openxmlformats.org/officeDocument/2006/relationships/image" Target="../media/image90.wmf"/><Relationship Id="rId7" Type="http://schemas.openxmlformats.org/officeDocument/2006/relationships/oleObject" Target="../embeddings/oleObject77.bin"/><Relationship Id="rId2" Type="http://schemas.openxmlformats.org/officeDocument/2006/relationships/slideLayout" Target="../slideLayouts/slideLayout7.xml"/><Relationship Id="rId16" Type="http://schemas.openxmlformats.org/officeDocument/2006/relationships/image" Target="../media/image89.wmf"/><Relationship Id="rId20" Type="http://schemas.openxmlformats.org/officeDocument/2006/relationships/image" Target="../media/image76.wmf"/><Relationship Id="rId29" Type="http://schemas.openxmlformats.org/officeDocument/2006/relationships/oleObject" Target="../embeddings/oleObject88.bin"/><Relationship Id="rId41" Type="http://schemas.openxmlformats.org/officeDocument/2006/relationships/oleObject" Target="../embeddings/oleObject94.bin"/><Relationship Id="rId1" Type="http://schemas.openxmlformats.org/officeDocument/2006/relationships/vmlDrawing" Target="../drawings/vmlDrawing18.vml"/><Relationship Id="rId6" Type="http://schemas.openxmlformats.org/officeDocument/2006/relationships/image" Target="../media/image84.wmf"/><Relationship Id="rId11" Type="http://schemas.openxmlformats.org/officeDocument/2006/relationships/oleObject" Target="../embeddings/oleObject79.bin"/><Relationship Id="rId24" Type="http://schemas.openxmlformats.org/officeDocument/2006/relationships/image" Target="../media/image9.wmf"/><Relationship Id="rId32" Type="http://schemas.openxmlformats.org/officeDocument/2006/relationships/image" Target="../media/image79.wmf"/><Relationship Id="rId37" Type="http://schemas.openxmlformats.org/officeDocument/2006/relationships/oleObject" Target="../embeddings/oleObject92.bin"/><Relationship Id="rId40" Type="http://schemas.openxmlformats.org/officeDocument/2006/relationships/image" Target="../media/image81.wmf"/><Relationship Id="rId5" Type="http://schemas.openxmlformats.org/officeDocument/2006/relationships/oleObject" Target="../embeddings/oleObject76.bin"/><Relationship Id="rId15" Type="http://schemas.openxmlformats.org/officeDocument/2006/relationships/oleObject" Target="../embeddings/oleObject81.bin"/><Relationship Id="rId23" Type="http://schemas.openxmlformats.org/officeDocument/2006/relationships/oleObject" Target="../embeddings/oleObject85.bin"/><Relationship Id="rId28" Type="http://schemas.openxmlformats.org/officeDocument/2006/relationships/image" Target="../media/image11.wmf"/><Relationship Id="rId36" Type="http://schemas.openxmlformats.org/officeDocument/2006/relationships/image" Target="../media/image8.wmf"/><Relationship Id="rId10" Type="http://schemas.openxmlformats.org/officeDocument/2006/relationships/image" Target="../media/image86.wmf"/><Relationship Id="rId19" Type="http://schemas.openxmlformats.org/officeDocument/2006/relationships/oleObject" Target="../embeddings/oleObject83.bin"/><Relationship Id="rId31" Type="http://schemas.openxmlformats.org/officeDocument/2006/relationships/oleObject" Target="../embeddings/oleObject89.bin"/><Relationship Id="rId4" Type="http://schemas.openxmlformats.org/officeDocument/2006/relationships/image" Target="../media/image83.wmf"/><Relationship Id="rId9" Type="http://schemas.openxmlformats.org/officeDocument/2006/relationships/oleObject" Target="../embeddings/oleObject78.bin"/><Relationship Id="rId14" Type="http://schemas.openxmlformats.org/officeDocument/2006/relationships/image" Target="../media/image88.wmf"/><Relationship Id="rId22" Type="http://schemas.openxmlformats.org/officeDocument/2006/relationships/image" Target="../media/image77.wmf"/><Relationship Id="rId27" Type="http://schemas.openxmlformats.org/officeDocument/2006/relationships/oleObject" Target="../embeddings/oleObject87.bin"/><Relationship Id="rId30" Type="http://schemas.openxmlformats.org/officeDocument/2006/relationships/image" Target="../media/image78.wmf"/><Relationship Id="rId35" Type="http://schemas.openxmlformats.org/officeDocument/2006/relationships/oleObject" Target="../embeddings/oleObject91.bin"/><Relationship Id="rId8" Type="http://schemas.openxmlformats.org/officeDocument/2006/relationships/image" Target="../media/image85.wmf"/><Relationship Id="rId3" Type="http://schemas.openxmlformats.org/officeDocument/2006/relationships/oleObject" Target="../embeddings/oleObject75.bin"/><Relationship Id="rId12" Type="http://schemas.openxmlformats.org/officeDocument/2006/relationships/image" Target="../media/image87.wmf"/><Relationship Id="rId17" Type="http://schemas.openxmlformats.org/officeDocument/2006/relationships/oleObject" Target="../embeddings/oleObject82.bin"/><Relationship Id="rId25" Type="http://schemas.openxmlformats.org/officeDocument/2006/relationships/oleObject" Target="../embeddings/oleObject86.bin"/><Relationship Id="rId33" Type="http://schemas.openxmlformats.org/officeDocument/2006/relationships/oleObject" Target="../embeddings/oleObject90.bin"/><Relationship Id="rId38" Type="http://schemas.openxmlformats.org/officeDocument/2006/relationships/image" Target="../media/image7.wmf"/></Relationships>
</file>

<file path=ppt/slides/_rels/slide29.xml.rels><?xml version="1.0" encoding="UTF-8" standalone="yes"?>
<Relationships xmlns="http://schemas.openxmlformats.org/package/2006/relationships"><Relationship Id="rId13" Type="http://schemas.openxmlformats.org/officeDocument/2006/relationships/oleObject" Target="../embeddings/oleObject100.bin"/><Relationship Id="rId18" Type="http://schemas.openxmlformats.org/officeDocument/2006/relationships/image" Target="../media/image79.wmf"/><Relationship Id="rId26" Type="http://schemas.openxmlformats.org/officeDocument/2006/relationships/image" Target="../media/image81.wmf"/><Relationship Id="rId39" Type="http://schemas.openxmlformats.org/officeDocument/2006/relationships/oleObject" Target="../embeddings/oleObject113.bin"/><Relationship Id="rId21" Type="http://schemas.openxmlformats.org/officeDocument/2006/relationships/oleObject" Target="../embeddings/oleObject104.bin"/><Relationship Id="rId34" Type="http://schemas.openxmlformats.org/officeDocument/2006/relationships/image" Target="../media/image94.wmf"/><Relationship Id="rId42" Type="http://schemas.openxmlformats.org/officeDocument/2006/relationships/image" Target="../media/image90.wmf"/><Relationship Id="rId7" Type="http://schemas.openxmlformats.org/officeDocument/2006/relationships/oleObject" Target="../embeddings/oleObject97.bin"/><Relationship Id="rId2" Type="http://schemas.openxmlformats.org/officeDocument/2006/relationships/slideLayout" Target="../slideLayouts/slideLayout7.xml"/><Relationship Id="rId16" Type="http://schemas.openxmlformats.org/officeDocument/2006/relationships/image" Target="../media/image78.wmf"/><Relationship Id="rId20" Type="http://schemas.openxmlformats.org/officeDocument/2006/relationships/image" Target="../media/image80.wmf"/><Relationship Id="rId29" Type="http://schemas.openxmlformats.org/officeDocument/2006/relationships/oleObject" Target="../embeddings/oleObject108.bin"/><Relationship Id="rId41" Type="http://schemas.openxmlformats.org/officeDocument/2006/relationships/oleObject" Target="../embeddings/oleObject114.bin"/><Relationship Id="rId1" Type="http://schemas.openxmlformats.org/officeDocument/2006/relationships/vmlDrawing" Target="../drawings/vmlDrawing19.vml"/><Relationship Id="rId6" Type="http://schemas.openxmlformats.org/officeDocument/2006/relationships/image" Target="../media/image76.wmf"/><Relationship Id="rId11" Type="http://schemas.openxmlformats.org/officeDocument/2006/relationships/oleObject" Target="../embeddings/oleObject99.bin"/><Relationship Id="rId24" Type="http://schemas.openxmlformats.org/officeDocument/2006/relationships/image" Target="../media/image7.wmf"/><Relationship Id="rId32" Type="http://schemas.openxmlformats.org/officeDocument/2006/relationships/image" Target="../media/image93.wmf"/><Relationship Id="rId37" Type="http://schemas.openxmlformats.org/officeDocument/2006/relationships/oleObject" Target="../embeddings/oleObject112.bin"/><Relationship Id="rId40" Type="http://schemas.openxmlformats.org/officeDocument/2006/relationships/image" Target="../media/image89.wmf"/><Relationship Id="rId5" Type="http://schemas.openxmlformats.org/officeDocument/2006/relationships/oleObject" Target="../embeddings/oleObject96.bin"/><Relationship Id="rId15" Type="http://schemas.openxmlformats.org/officeDocument/2006/relationships/oleObject" Target="../embeddings/oleObject101.bin"/><Relationship Id="rId23" Type="http://schemas.openxmlformats.org/officeDocument/2006/relationships/oleObject" Target="../embeddings/oleObject105.bin"/><Relationship Id="rId28" Type="http://schemas.openxmlformats.org/officeDocument/2006/relationships/image" Target="../media/image91.wmf"/><Relationship Id="rId36" Type="http://schemas.openxmlformats.org/officeDocument/2006/relationships/image" Target="../media/image95.wmf"/><Relationship Id="rId10" Type="http://schemas.openxmlformats.org/officeDocument/2006/relationships/image" Target="../media/image9.wmf"/><Relationship Id="rId19" Type="http://schemas.openxmlformats.org/officeDocument/2006/relationships/oleObject" Target="../embeddings/oleObject103.bin"/><Relationship Id="rId31" Type="http://schemas.openxmlformats.org/officeDocument/2006/relationships/oleObject" Target="../embeddings/oleObject109.bin"/><Relationship Id="rId4" Type="http://schemas.openxmlformats.org/officeDocument/2006/relationships/image" Target="../media/image12.wmf"/><Relationship Id="rId9" Type="http://schemas.openxmlformats.org/officeDocument/2006/relationships/oleObject" Target="../embeddings/oleObject98.bin"/><Relationship Id="rId14" Type="http://schemas.openxmlformats.org/officeDocument/2006/relationships/image" Target="../media/image11.wmf"/><Relationship Id="rId22" Type="http://schemas.openxmlformats.org/officeDocument/2006/relationships/image" Target="../media/image8.wmf"/><Relationship Id="rId27" Type="http://schemas.openxmlformats.org/officeDocument/2006/relationships/oleObject" Target="../embeddings/oleObject107.bin"/><Relationship Id="rId30" Type="http://schemas.openxmlformats.org/officeDocument/2006/relationships/image" Target="../media/image92.wmf"/><Relationship Id="rId35" Type="http://schemas.openxmlformats.org/officeDocument/2006/relationships/oleObject" Target="../embeddings/oleObject111.bin"/><Relationship Id="rId8" Type="http://schemas.openxmlformats.org/officeDocument/2006/relationships/image" Target="../media/image77.wmf"/><Relationship Id="rId3" Type="http://schemas.openxmlformats.org/officeDocument/2006/relationships/oleObject" Target="../embeddings/oleObject95.bin"/><Relationship Id="rId12" Type="http://schemas.openxmlformats.org/officeDocument/2006/relationships/image" Target="../media/image10.wmf"/><Relationship Id="rId17" Type="http://schemas.openxmlformats.org/officeDocument/2006/relationships/oleObject" Target="../embeddings/oleObject102.bin"/><Relationship Id="rId25" Type="http://schemas.openxmlformats.org/officeDocument/2006/relationships/oleObject" Target="../embeddings/oleObject106.bin"/><Relationship Id="rId33" Type="http://schemas.openxmlformats.org/officeDocument/2006/relationships/oleObject" Target="../embeddings/oleObject110.bin"/><Relationship Id="rId38" Type="http://schemas.openxmlformats.org/officeDocument/2006/relationships/image" Target="../media/image96.wm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98.jpeg"/><Relationship Id="rId5" Type="http://schemas.openxmlformats.org/officeDocument/2006/relationships/image" Target="../media/image97.png"/><Relationship Id="rId4" Type="http://schemas.openxmlformats.org/officeDocument/2006/relationships/oleObject" Target="../embeddings/oleObject115.bin"/></Relationships>
</file>

<file path=ppt/slides/_rels/slide31.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oleObject" Target="../embeddings/oleObject116.bin"/><Relationship Id="rId7" Type="http://schemas.openxmlformats.org/officeDocument/2006/relationships/image" Target="../media/image100.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17.bin"/><Relationship Id="rId5" Type="http://schemas.openxmlformats.org/officeDocument/2006/relationships/image" Target="../media/image101.gif"/><Relationship Id="rId4" Type="http://schemas.openxmlformats.org/officeDocument/2006/relationships/image" Target="../media/image99.wmf"/><Relationship Id="rId9" Type="http://schemas.openxmlformats.org/officeDocument/2006/relationships/image" Target="../media/image103.gif"/></Relationships>
</file>

<file path=ppt/slides/_rels/slide32.xml.rels><?xml version="1.0" encoding="UTF-8" standalone="yes"?>
<Relationships xmlns="http://schemas.openxmlformats.org/package/2006/relationships"><Relationship Id="rId8" Type="http://schemas.openxmlformats.org/officeDocument/2006/relationships/image" Target="../media/image106.wmf"/><Relationship Id="rId13" Type="http://schemas.openxmlformats.org/officeDocument/2006/relationships/image" Target="../media/image108.wmf"/><Relationship Id="rId3" Type="http://schemas.openxmlformats.org/officeDocument/2006/relationships/oleObject" Target="../embeddings/oleObject118.bin"/><Relationship Id="rId7" Type="http://schemas.openxmlformats.org/officeDocument/2006/relationships/oleObject" Target="../embeddings/oleObject120.bin"/><Relationship Id="rId12" Type="http://schemas.openxmlformats.org/officeDocument/2006/relationships/oleObject" Target="../embeddings/oleObject122.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05.wmf"/><Relationship Id="rId11" Type="http://schemas.openxmlformats.org/officeDocument/2006/relationships/image" Target="../media/image107.wmf"/><Relationship Id="rId5" Type="http://schemas.openxmlformats.org/officeDocument/2006/relationships/oleObject" Target="../embeddings/oleObject119.bin"/><Relationship Id="rId15" Type="http://schemas.openxmlformats.org/officeDocument/2006/relationships/image" Target="../media/image109.wmf"/><Relationship Id="rId10" Type="http://schemas.openxmlformats.org/officeDocument/2006/relationships/oleObject" Target="../embeddings/oleObject121.bin"/><Relationship Id="rId4" Type="http://schemas.openxmlformats.org/officeDocument/2006/relationships/image" Target="../media/image104.wmf"/><Relationship Id="rId9" Type="http://schemas.openxmlformats.org/officeDocument/2006/relationships/image" Target="../media/image102.png"/><Relationship Id="rId14" Type="http://schemas.openxmlformats.org/officeDocument/2006/relationships/oleObject" Target="../embeddings/oleObject123.bin"/></Relationships>
</file>

<file path=ppt/slides/_rels/slide33.xml.rels><?xml version="1.0" encoding="UTF-8" standalone="yes"?>
<Relationships xmlns="http://schemas.openxmlformats.org/package/2006/relationships"><Relationship Id="rId8" Type="http://schemas.openxmlformats.org/officeDocument/2006/relationships/image" Target="../media/image112.wmf"/><Relationship Id="rId13" Type="http://schemas.openxmlformats.org/officeDocument/2006/relationships/image" Target="../media/image116.gif"/><Relationship Id="rId18" Type="http://schemas.openxmlformats.org/officeDocument/2006/relationships/oleObject" Target="../embeddings/oleObject129.bin"/><Relationship Id="rId3" Type="http://schemas.openxmlformats.org/officeDocument/2006/relationships/oleObject" Target="../embeddings/oleObject124.bin"/><Relationship Id="rId21" Type="http://schemas.openxmlformats.org/officeDocument/2006/relationships/image" Target="../media/image102.png"/><Relationship Id="rId7" Type="http://schemas.openxmlformats.org/officeDocument/2006/relationships/oleObject" Target="../embeddings/oleObject126.bin"/><Relationship Id="rId12" Type="http://schemas.openxmlformats.org/officeDocument/2006/relationships/image" Target="../media/image114.wmf"/><Relationship Id="rId17" Type="http://schemas.openxmlformats.org/officeDocument/2006/relationships/image" Target="../media/image107.wmf"/><Relationship Id="rId2" Type="http://schemas.openxmlformats.org/officeDocument/2006/relationships/slideLayout" Target="../slideLayouts/slideLayout7.xml"/><Relationship Id="rId16" Type="http://schemas.openxmlformats.org/officeDocument/2006/relationships/oleObject" Target="../embeddings/oleObject121.bin"/><Relationship Id="rId20" Type="http://schemas.openxmlformats.org/officeDocument/2006/relationships/image" Target="../media/image117.png"/><Relationship Id="rId1" Type="http://schemas.openxmlformats.org/officeDocument/2006/relationships/vmlDrawing" Target="../drawings/vmlDrawing23.vml"/><Relationship Id="rId6" Type="http://schemas.openxmlformats.org/officeDocument/2006/relationships/image" Target="../media/image111.wmf"/><Relationship Id="rId11" Type="http://schemas.openxmlformats.org/officeDocument/2006/relationships/oleObject" Target="../embeddings/oleObject128.bin"/><Relationship Id="rId5" Type="http://schemas.openxmlformats.org/officeDocument/2006/relationships/oleObject" Target="../embeddings/oleObject125.bin"/><Relationship Id="rId15" Type="http://schemas.openxmlformats.org/officeDocument/2006/relationships/image" Target="../media/image104.wmf"/><Relationship Id="rId10" Type="http://schemas.openxmlformats.org/officeDocument/2006/relationships/image" Target="../media/image113.wmf"/><Relationship Id="rId19" Type="http://schemas.openxmlformats.org/officeDocument/2006/relationships/image" Target="../media/image115.wmf"/><Relationship Id="rId4" Type="http://schemas.openxmlformats.org/officeDocument/2006/relationships/image" Target="../media/image110.wmf"/><Relationship Id="rId9" Type="http://schemas.openxmlformats.org/officeDocument/2006/relationships/oleObject" Target="../embeddings/oleObject127.bin"/><Relationship Id="rId14" Type="http://schemas.openxmlformats.org/officeDocument/2006/relationships/oleObject" Target="../embeddings/oleObject118.bin"/></Relationships>
</file>

<file path=ppt/slides/_rels/slide34.xml.rels><?xml version="1.0" encoding="UTF-8" standalone="yes"?>
<Relationships xmlns="http://schemas.openxmlformats.org/package/2006/relationships"><Relationship Id="rId2" Type="http://schemas.openxmlformats.org/officeDocument/2006/relationships/image" Target="../media/image118.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haokan.baidu.com/v?pd=wisenatural&amp;vid=612168551255787746" TargetMode="External"/><Relationship Id="rId2" Type="http://schemas.openxmlformats.org/officeDocument/2006/relationships/image" Target="../media/image119.png"/><Relationship Id="rId1" Type="http://schemas.openxmlformats.org/officeDocument/2006/relationships/slideLayout" Target="../slideLayouts/slideLayout7.xml"/><Relationship Id="rId6" Type="http://schemas.openxmlformats.org/officeDocument/2006/relationships/image" Target="../media/image121.gif"/><Relationship Id="rId5" Type="http://schemas.openxmlformats.org/officeDocument/2006/relationships/hyperlink" Target="https://en.wikipedia.org/wiki/File:Alpha_Stirling.gif" TargetMode="External"/><Relationship Id="rId4" Type="http://schemas.openxmlformats.org/officeDocument/2006/relationships/image" Target="../media/image120.jpeg"/></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32.bin"/><Relationship Id="rId13" Type="http://schemas.openxmlformats.org/officeDocument/2006/relationships/oleObject" Target="../embeddings/oleObject134.bin"/><Relationship Id="rId3" Type="http://schemas.openxmlformats.org/officeDocument/2006/relationships/notesSlide" Target="../notesSlides/notesSlide14.xml"/><Relationship Id="rId7" Type="http://schemas.openxmlformats.org/officeDocument/2006/relationships/image" Target="../media/image123.wmf"/><Relationship Id="rId12" Type="http://schemas.openxmlformats.org/officeDocument/2006/relationships/image" Target="../media/image119.png"/><Relationship Id="rId2" Type="http://schemas.openxmlformats.org/officeDocument/2006/relationships/slideLayout" Target="../slideLayouts/slideLayout7.xml"/><Relationship Id="rId16" Type="http://schemas.openxmlformats.org/officeDocument/2006/relationships/image" Target="../media/image127.wmf"/><Relationship Id="rId1" Type="http://schemas.openxmlformats.org/officeDocument/2006/relationships/vmlDrawing" Target="../drawings/vmlDrawing24.vml"/><Relationship Id="rId6" Type="http://schemas.openxmlformats.org/officeDocument/2006/relationships/oleObject" Target="../embeddings/oleObject131.bin"/><Relationship Id="rId11" Type="http://schemas.openxmlformats.org/officeDocument/2006/relationships/image" Target="../media/image125.wmf"/><Relationship Id="rId5" Type="http://schemas.openxmlformats.org/officeDocument/2006/relationships/image" Target="../media/image122.wmf"/><Relationship Id="rId15" Type="http://schemas.openxmlformats.org/officeDocument/2006/relationships/oleObject" Target="../embeddings/oleObject135.bin"/><Relationship Id="rId10" Type="http://schemas.openxmlformats.org/officeDocument/2006/relationships/oleObject" Target="../embeddings/oleObject133.bin"/><Relationship Id="rId4" Type="http://schemas.openxmlformats.org/officeDocument/2006/relationships/oleObject" Target="../embeddings/oleObject130.bin"/><Relationship Id="rId9" Type="http://schemas.openxmlformats.org/officeDocument/2006/relationships/image" Target="../media/image124.wmf"/><Relationship Id="rId14" Type="http://schemas.openxmlformats.org/officeDocument/2006/relationships/image" Target="../media/image126.wmf"/></Relationships>
</file>

<file path=ppt/slides/_rels/slide37.xml.rels><?xml version="1.0" encoding="UTF-8" standalone="yes"?>
<Relationships xmlns="http://schemas.openxmlformats.org/package/2006/relationships"><Relationship Id="rId8" Type="http://schemas.openxmlformats.org/officeDocument/2006/relationships/image" Target="../media/image130.emf"/><Relationship Id="rId3" Type="http://schemas.openxmlformats.org/officeDocument/2006/relationships/oleObject" Target="../embeddings/oleObject136.bin"/><Relationship Id="rId7" Type="http://schemas.openxmlformats.org/officeDocument/2006/relationships/oleObject" Target="../embeddings/oleObject138.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29.emf"/><Relationship Id="rId5" Type="http://schemas.openxmlformats.org/officeDocument/2006/relationships/oleObject" Target="../embeddings/oleObject137.bin"/><Relationship Id="rId4" Type="http://schemas.openxmlformats.org/officeDocument/2006/relationships/image" Target="../media/image128.wmf"/></Relationships>
</file>

<file path=ppt/slides/_rels/slide38.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98.jpeg"/><Relationship Id="rId1" Type="http://schemas.openxmlformats.org/officeDocument/2006/relationships/slideLayout" Target="../slideLayouts/slideLayout2.xml"/><Relationship Id="rId4" Type="http://schemas.openxmlformats.org/officeDocument/2006/relationships/image" Target="../media/image132.jpeg"/></Relationships>
</file>

<file path=ppt/slides/_rels/slide39.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image" Target="../media/image13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135.wmf"/><Relationship Id="rId13" Type="http://schemas.openxmlformats.org/officeDocument/2006/relationships/oleObject" Target="../embeddings/oleObject144.bin"/><Relationship Id="rId3" Type="http://schemas.openxmlformats.org/officeDocument/2006/relationships/oleObject" Target="../embeddings/oleObject139.bin"/><Relationship Id="rId7" Type="http://schemas.openxmlformats.org/officeDocument/2006/relationships/oleObject" Target="../embeddings/oleObject141.bin"/><Relationship Id="rId12" Type="http://schemas.openxmlformats.org/officeDocument/2006/relationships/image" Target="../media/image137.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34.wmf"/><Relationship Id="rId11" Type="http://schemas.openxmlformats.org/officeDocument/2006/relationships/oleObject" Target="../embeddings/oleObject143.bin"/><Relationship Id="rId5" Type="http://schemas.openxmlformats.org/officeDocument/2006/relationships/oleObject" Target="../embeddings/oleObject140.bin"/><Relationship Id="rId10" Type="http://schemas.openxmlformats.org/officeDocument/2006/relationships/image" Target="../media/image136.wmf"/><Relationship Id="rId4" Type="http://schemas.openxmlformats.org/officeDocument/2006/relationships/image" Target="../media/image133.wmf"/><Relationship Id="rId9" Type="http://schemas.openxmlformats.org/officeDocument/2006/relationships/oleObject" Target="../embeddings/oleObject142.bin"/><Relationship Id="rId14" Type="http://schemas.openxmlformats.org/officeDocument/2006/relationships/image" Target="../media/image138.wmf"/></Relationships>
</file>

<file path=ppt/slides/_rels/slide41.xml.rels><?xml version="1.0" encoding="UTF-8" standalone="yes"?>
<Relationships xmlns="http://schemas.openxmlformats.org/package/2006/relationships"><Relationship Id="rId8" Type="http://schemas.openxmlformats.org/officeDocument/2006/relationships/hyperlink" Target="http://en.wikipedia.org/wiki/File:US336505-Atkinson_Opposed_Piston_Engine.png" TargetMode="External"/><Relationship Id="rId13" Type="http://schemas.openxmlformats.org/officeDocument/2006/relationships/hyperlink" Target="https://baike.baidu.com/item/%E7%BB%9D%E7%83%AD" TargetMode="External"/><Relationship Id="rId3" Type="http://schemas.openxmlformats.org/officeDocument/2006/relationships/image" Target="../media/image139.gif"/><Relationship Id="rId7" Type="http://schemas.openxmlformats.org/officeDocument/2006/relationships/image" Target="../media/image141.gif"/><Relationship Id="rId12" Type="http://schemas.openxmlformats.org/officeDocument/2006/relationships/hyperlink" Target="https://baike.baidu.com/item/%E5%8F%AF%E9%80%86" TargetMode="External"/><Relationship Id="rId2" Type="http://schemas.openxmlformats.org/officeDocument/2006/relationships/hyperlink" Target="http://en.wikipedia.org/wiki/File:Atkinson_Opposed_Piston_Engine.gif" TargetMode="External"/><Relationship Id="rId1" Type="http://schemas.openxmlformats.org/officeDocument/2006/relationships/slideLayout" Target="../slideLayouts/slideLayout7.xml"/><Relationship Id="rId6" Type="http://schemas.openxmlformats.org/officeDocument/2006/relationships/hyperlink" Target="http://en.wikipedia.org/wiki/File:Atkinson_Engine_with_Intake.gif" TargetMode="External"/><Relationship Id="rId11" Type="http://schemas.openxmlformats.org/officeDocument/2006/relationships/hyperlink" Target="https://baike.baidu.com/item/%E7%AD%89%E7%86%B5" TargetMode="External"/><Relationship Id="rId5" Type="http://schemas.openxmlformats.org/officeDocument/2006/relationships/image" Target="../media/image140.png"/><Relationship Id="rId10" Type="http://schemas.openxmlformats.org/officeDocument/2006/relationships/image" Target="../media/image143.png"/><Relationship Id="rId4" Type="http://schemas.openxmlformats.org/officeDocument/2006/relationships/hyperlink" Target="http://en.wikipedia.org/wiki/File:Atkinson-Gas-Engine.png" TargetMode="External"/><Relationship Id="rId9" Type="http://schemas.openxmlformats.org/officeDocument/2006/relationships/image" Target="../media/image142.png"/><Relationship Id="rId14" Type="http://schemas.openxmlformats.org/officeDocument/2006/relationships/hyperlink" Target="https://baike.baidu.com/item/%E7%AD%89%E5%8E%8B" TargetMode="External"/></Relationships>
</file>

<file path=ppt/slides/_rels/slide42.xml.rels><?xml version="1.0" encoding="UTF-8" standalone="yes"?>
<Relationships xmlns="http://schemas.openxmlformats.org/package/2006/relationships"><Relationship Id="rId13" Type="http://schemas.openxmlformats.org/officeDocument/2006/relationships/image" Target="../media/image7.wmf"/><Relationship Id="rId18" Type="http://schemas.openxmlformats.org/officeDocument/2006/relationships/oleObject" Target="../embeddings/oleObject152.bin"/><Relationship Id="rId26" Type="http://schemas.openxmlformats.org/officeDocument/2006/relationships/oleObject" Target="../embeddings/oleObject156.bin"/><Relationship Id="rId3" Type="http://schemas.openxmlformats.org/officeDocument/2006/relationships/notesSlide" Target="../notesSlides/notesSlide15.xml"/><Relationship Id="rId21" Type="http://schemas.openxmlformats.org/officeDocument/2006/relationships/image" Target="../media/image150.wmf"/><Relationship Id="rId34" Type="http://schemas.openxmlformats.org/officeDocument/2006/relationships/image" Target="../media/image156.wmf"/><Relationship Id="rId7" Type="http://schemas.openxmlformats.org/officeDocument/2006/relationships/image" Target="../media/image145.wmf"/><Relationship Id="rId12" Type="http://schemas.openxmlformats.org/officeDocument/2006/relationships/oleObject" Target="../embeddings/oleObject149.bin"/><Relationship Id="rId17" Type="http://schemas.openxmlformats.org/officeDocument/2006/relationships/image" Target="../media/image148.wmf"/><Relationship Id="rId25" Type="http://schemas.openxmlformats.org/officeDocument/2006/relationships/image" Target="../media/image152.wmf"/><Relationship Id="rId33" Type="http://schemas.openxmlformats.org/officeDocument/2006/relationships/oleObject" Target="../embeddings/oleObject159.bin"/><Relationship Id="rId2" Type="http://schemas.openxmlformats.org/officeDocument/2006/relationships/slideLayout" Target="../slideLayouts/slideLayout7.xml"/><Relationship Id="rId16" Type="http://schemas.openxmlformats.org/officeDocument/2006/relationships/oleObject" Target="../embeddings/oleObject151.bin"/><Relationship Id="rId20" Type="http://schemas.openxmlformats.org/officeDocument/2006/relationships/oleObject" Target="../embeddings/oleObject153.bin"/><Relationship Id="rId29" Type="http://schemas.openxmlformats.org/officeDocument/2006/relationships/image" Target="../media/image154.wmf"/><Relationship Id="rId1" Type="http://schemas.openxmlformats.org/officeDocument/2006/relationships/vmlDrawing" Target="../drawings/vmlDrawing27.vml"/><Relationship Id="rId6" Type="http://schemas.openxmlformats.org/officeDocument/2006/relationships/oleObject" Target="../embeddings/oleObject146.bin"/><Relationship Id="rId11" Type="http://schemas.openxmlformats.org/officeDocument/2006/relationships/image" Target="../media/image146.wmf"/><Relationship Id="rId24" Type="http://schemas.openxmlformats.org/officeDocument/2006/relationships/oleObject" Target="../embeddings/oleObject155.bin"/><Relationship Id="rId32" Type="http://schemas.openxmlformats.org/officeDocument/2006/relationships/image" Target="../media/image155.wmf"/><Relationship Id="rId5" Type="http://schemas.openxmlformats.org/officeDocument/2006/relationships/image" Target="../media/image144.wmf"/><Relationship Id="rId15" Type="http://schemas.openxmlformats.org/officeDocument/2006/relationships/image" Target="../media/image147.wmf"/><Relationship Id="rId23" Type="http://schemas.openxmlformats.org/officeDocument/2006/relationships/image" Target="../media/image151.wmf"/><Relationship Id="rId28" Type="http://schemas.openxmlformats.org/officeDocument/2006/relationships/oleObject" Target="../embeddings/oleObject157.bin"/><Relationship Id="rId10" Type="http://schemas.openxmlformats.org/officeDocument/2006/relationships/oleObject" Target="../embeddings/oleObject148.bin"/><Relationship Id="rId19" Type="http://schemas.openxmlformats.org/officeDocument/2006/relationships/image" Target="../media/image149.wmf"/><Relationship Id="rId31" Type="http://schemas.openxmlformats.org/officeDocument/2006/relationships/oleObject" Target="../embeddings/oleObject158.bin"/><Relationship Id="rId4" Type="http://schemas.openxmlformats.org/officeDocument/2006/relationships/oleObject" Target="../embeddings/oleObject145.bin"/><Relationship Id="rId9" Type="http://schemas.openxmlformats.org/officeDocument/2006/relationships/image" Target="../media/image6.wmf"/><Relationship Id="rId14" Type="http://schemas.openxmlformats.org/officeDocument/2006/relationships/oleObject" Target="../embeddings/oleObject150.bin"/><Relationship Id="rId22" Type="http://schemas.openxmlformats.org/officeDocument/2006/relationships/oleObject" Target="../embeddings/oleObject154.bin"/><Relationship Id="rId27" Type="http://schemas.openxmlformats.org/officeDocument/2006/relationships/image" Target="../media/image153.wmf"/><Relationship Id="rId30" Type="http://schemas.openxmlformats.org/officeDocument/2006/relationships/image" Target="../media/image157.png"/><Relationship Id="rId8" Type="http://schemas.openxmlformats.org/officeDocument/2006/relationships/oleObject" Target="../embeddings/oleObject147.bin"/></Relationships>
</file>

<file path=ppt/slides/_rels/slide43.xml.rels><?xml version="1.0" encoding="UTF-8" standalone="yes"?>
<Relationships xmlns="http://schemas.openxmlformats.org/package/2006/relationships"><Relationship Id="rId13" Type="http://schemas.openxmlformats.org/officeDocument/2006/relationships/oleObject" Target="../embeddings/oleObject165.bin"/><Relationship Id="rId18" Type="http://schemas.openxmlformats.org/officeDocument/2006/relationships/image" Target="../media/image150.wmf"/><Relationship Id="rId26" Type="http://schemas.openxmlformats.org/officeDocument/2006/relationships/image" Target="../media/image161.wmf"/><Relationship Id="rId39" Type="http://schemas.openxmlformats.org/officeDocument/2006/relationships/oleObject" Target="../embeddings/oleObject178.bin"/><Relationship Id="rId21" Type="http://schemas.openxmlformats.org/officeDocument/2006/relationships/oleObject" Target="../embeddings/oleObject169.bin"/><Relationship Id="rId34" Type="http://schemas.openxmlformats.org/officeDocument/2006/relationships/image" Target="../media/image165.wmf"/><Relationship Id="rId42" Type="http://schemas.openxmlformats.org/officeDocument/2006/relationships/image" Target="../media/image169.wmf"/><Relationship Id="rId7" Type="http://schemas.openxmlformats.org/officeDocument/2006/relationships/oleObject" Target="../embeddings/oleObject162.bin"/><Relationship Id="rId2" Type="http://schemas.openxmlformats.org/officeDocument/2006/relationships/slideLayout" Target="../slideLayouts/slideLayout7.xml"/><Relationship Id="rId16" Type="http://schemas.openxmlformats.org/officeDocument/2006/relationships/image" Target="../media/image149.wmf"/><Relationship Id="rId20" Type="http://schemas.openxmlformats.org/officeDocument/2006/relationships/image" Target="../media/image158.wmf"/><Relationship Id="rId29" Type="http://schemas.openxmlformats.org/officeDocument/2006/relationships/oleObject" Target="../embeddings/oleObject173.bin"/><Relationship Id="rId41" Type="http://schemas.openxmlformats.org/officeDocument/2006/relationships/oleObject" Target="../embeddings/oleObject179.bin"/><Relationship Id="rId1" Type="http://schemas.openxmlformats.org/officeDocument/2006/relationships/vmlDrawing" Target="../drawings/vmlDrawing28.vml"/><Relationship Id="rId6" Type="http://schemas.openxmlformats.org/officeDocument/2006/relationships/image" Target="../media/image145.wmf"/><Relationship Id="rId11" Type="http://schemas.openxmlformats.org/officeDocument/2006/relationships/oleObject" Target="../embeddings/oleObject164.bin"/><Relationship Id="rId24" Type="http://schemas.openxmlformats.org/officeDocument/2006/relationships/image" Target="../media/image160.wmf"/><Relationship Id="rId32" Type="http://schemas.openxmlformats.org/officeDocument/2006/relationships/image" Target="../media/image164.wmf"/><Relationship Id="rId37" Type="http://schemas.openxmlformats.org/officeDocument/2006/relationships/oleObject" Target="../embeddings/oleObject177.bin"/><Relationship Id="rId40" Type="http://schemas.openxmlformats.org/officeDocument/2006/relationships/image" Target="../media/image168.wmf"/><Relationship Id="rId5" Type="http://schemas.openxmlformats.org/officeDocument/2006/relationships/oleObject" Target="../embeddings/oleObject161.bin"/><Relationship Id="rId15" Type="http://schemas.openxmlformats.org/officeDocument/2006/relationships/oleObject" Target="../embeddings/oleObject166.bin"/><Relationship Id="rId23" Type="http://schemas.openxmlformats.org/officeDocument/2006/relationships/oleObject" Target="../embeddings/oleObject170.bin"/><Relationship Id="rId28" Type="http://schemas.openxmlformats.org/officeDocument/2006/relationships/image" Target="../media/image162.wmf"/><Relationship Id="rId36" Type="http://schemas.openxmlformats.org/officeDocument/2006/relationships/image" Target="../media/image166.wmf"/><Relationship Id="rId10" Type="http://schemas.openxmlformats.org/officeDocument/2006/relationships/image" Target="../media/image146.wmf"/><Relationship Id="rId19" Type="http://schemas.openxmlformats.org/officeDocument/2006/relationships/oleObject" Target="../embeddings/oleObject168.bin"/><Relationship Id="rId31" Type="http://schemas.openxmlformats.org/officeDocument/2006/relationships/oleObject" Target="../embeddings/oleObject174.bin"/><Relationship Id="rId44" Type="http://schemas.openxmlformats.org/officeDocument/2006/relationships/image" Target="../media/image170.wmf"/><Relationship Id="rId4" Type="http://schemas.openxmlformats.org/officeDocument/2006/relationships/image" Target="../media/image144.wmf"/><Relationship Id="rId9" Type="http://schemas.openxmlformats.org/officeDocument/2006/relationships/oleObject" Target="../embeddings/oleObject163.bin"/><Relationship Id="rId14" Type="http://schemas.openxmlformats.org/officeDocument/2006/relationships/image" Target="../media/image148.wmf"/><Relationship Id="rId22" Type="http://schemas.openxmlformats.org/officeDocument/2006/relationships/image" Target="../media/image159.wmf"/><Relationship Id="rId27" Type="http://schemas.openxmlformats.org/officeDocument/2006/relationships/oleObject" Target="../embeddings/oleObject172.bin"/><Relationship Id="rId30" Type="http://schemas.openxmlformats.org/officeDocument/2006/relationships/image" Target="../media/image163.wmf"/><Relationship Id="rId35" Type="http://schemas.openxmlformats.org/officeDocument/2006/relationships/oleObject" Target="../embeddings/oleObject176.bin"/><Relationship Id="rId43" Type="http://schemas.openxmlformats.org/officeDocument/2006/relationships/oleObject" Target="../embeddings/oleObject180.bin"/><Relationship Id="rId8" Type="http://schemas.openxmlformats.org/officeDocument/2006/relationships/image" Target="../media/image6.wmf"/><Relationship Id="rId3" Type="http://schemas.openxmlformats.org/officeDocument/2006/relationships/oleObject" Target="../embeddings/oleObject160.bin"/><Relationship Id="rId12" Type="http://schemas.openxmlformats.org/officeDocument/2006/relationships/image" Target="../media/image7.wmf"/><Relationship Id="rId17" Type="http://schemas.openxmlformats.org/officeDocument/2006/relationships/oleObject" Target="../embeddings/oleObject167.bin"/><Relationship Id="rId25" Type="http://schemas.openxmlformats.org/officeDocument/2006/relationships/oleObject" Target="../embeddings/oleObject171.bin"/><Relationship Id="rId33" Type="http://schemas.openxmlformats.org/officeDocument/2006/relationships/oleObject" Target="../embeddings/oleObject175.bin"/><Relationship Id="rId38" Type="http://schemas.openxmlformats.org/officeDocument/2006/relationships/image" Target="../media/image167.wmf"/></Relationships>
</file>

<file path=ppt/slides/_rels/slide44.xml.rels><?xml version="1.0" encoding="UTF-8" standalone="yes"?>
<Relationships xmlns="http://schemas.openxmlformats.org/package/2006/relationships"><Relationship Id="rId13" Type="http://schemas.openxmlformats.org/officeDocument/2006/relationships/oleObject" Target="../embeddings/oleObject186.bin"/><Relationship Id="rId18" Type="http://schemas.openxmlformats.org/officeDocument/2006/relationships/image" Target="../media/image149.wmf"/><Relationship Id="rId26" Type="http://schemas.openxmlformats.org/officeDocument/2006/relationships/image" Target="../media/image172.wmf"/><Relationship Id="rId39" Type="http://schemas.openxmlformats.org/officeDocument/2006/relationships/image" Target="../media/image170.wmf"/><Relationship Id="rId21" Type="http://schemas.openxmlformats.org/officeDocument/2006/relationships/oleObject" Target="../embeddings/oleObject190.bin"/><Relationship Id="rId34" Type="http://schemas.openxmlformats.org/officeDocument/2006/relationships/oleObject" Target="../embeddings/oleObject197.bin"/><Relationship Id="rId7" Type="http://schemas.openxmlformats.org/officeDocument/2006/relationships/oleObject" Target="../embeddings/oleObject183.bin"/><Relationship Id="rId12" Type="http://schemas.openxmlformats.org/officeDocument/2006/relationships/image" Target="../media/image146.wmf"/><Relationship Id="rId17" Type="http://schemas.openxmlformats.org/officeDocument/2006/relationships/oleObject" Target="../embeddings/oleObject188.bin"/><Relationship Id="rId25" Type="http://schemas.openxmlformats.org/officeDocument/2006/relationships/oleObject" Target="../embeddings/oleObject192.bin"/><Relationship Id="rId33" Type="http://schemas.openxmlformats.org/officeDocument/2006/relationships/image" Target="../media/image175.wmf"/><Relationship Id="rId38" Type="http://schemas.openxmlformats.org/officeDocument/2006/relationships/oleObject" Target="../embeddings/oleObject199.bin"/><Relationship Id="rId2" Type="http://schemas.openxmlformats.org/officeDocument/2006/relationships/slideLayout" Target="../slideLayouts/slideLayout7.xml"/><Relationship Id="rId16" Type="http://schemas.openxmlformats.org/officeDocument/2006/relationships/image" Target="../media/image148.wmf"/><Relationship Id="rId20" Type="http://schemas.openxmlformats.org/officeDocument/2006/relationships/image" Target="../media/image150.wmf"/><Relationship Id="rId29" Type="http://schemas.openxmlformats.org/officeDocument/2006/relationships/image" Target="../media/image173.wmf"/><Relationship Id="rId1" Type="http://schemas.openxmlformats.org/officeDocument/2006/relationships/vmlDrawing" Target="../drawings/vmlDrawing29.vml"/><Relationship Id="rId6" Type="http://schemas.openxmlformats.org/officeDocument/2006/relationships/image" Target="../media/image144.wmf"/><Relationship Id="rId11" Type="http://schemas.openxmlformats.org/officeDocument/2006/relationships/oleObject" Target="../embeddings/oleObject185.bin"/><Relationship Id="rId24" Type="http://schemas.openxmlformats.org/officeDocument/2006/relationships/image" Target="../media/image85.wmf"/><Relationship Id="rId32" Type="http://schemas.openxmlformats.org/officeDocument/2006/relationships/oleObject" Target="../embeddings/oleObject196.bin"/><Relationship Id="rId37" Type="http://schemas.openxmlformats.org/officeDocument/2006/relationships/image" Target="../media/image177.wmf"/><Relationship Id="rId5" Type="http://schemas.openxmlformats.org/officeDocument/2006/relationships/oleObject" Target="../embeddings/oleObject182.bin"/><Relationship Id="rId15" Type="http://schemas.openxmlformats.org/officeDocument/2006/relationships/oleObject" Target="../embeddings/oleObject187.bin"/><Relationship Id="rId23" Type="http://schemas.openxmlformats.org/officeDocument/2006/relationships/oleObject" Target="../embeddings/oleObject191.bin"/><Relationship Id="rId28" Type="http://schemas.openxmlformats.org/officeDocument/2006/relationships/oleObject" Target="../embeddings/oleObject194.bin"/><Relationship Id="rId36" Type="http://schemas.openxmlformats.org/officeDocument/2006/relationships/oleObject" Target="../embeddings/oleObject198.bin"/><Relationship Id="rId10" Type="http://schemas.openxmlformats.org/officeDocument/2006/relationships/image" Target="../media/image6.wmf"/><Relationship Id="rId19" Type="http://schemas.openxmlformats.org/officeDocument/2006/relationships/oleObject" Target="../embeddings/oleObject189.bin"/><Relationship Id="rId31" Type="http://schemas.openxmlformats.org/officeDocument/2006/relationships/image" Target="../media/image174.wmf"/><Relationship Id="rId4" Type="http://schemas.openxmlformats.org/officeDocument/2006/relationships/image" Target="../media/image171.wmf"/><Relationship Id="rId9" Type="http://schemas.openxmlformats.org/officeDocument/2006/relationships/oleObject" Target="../embeddings/oleObject184.bin"/><Relationship Id="rId14" Type="http://schemas.openxmlformats.org/officeDocument/2006/relationships/image" Target="../media/image7.wmf"/><Relationship Id="rId22" Type="http://schemas.openxmlformats.org/officeDocument/2006/relationships/image" Target="../media/image158.wmf"/><Relationship Id="rId27" Type="http://schemas.openxmlformats.org/officeDocument/2006/relationships/oleObject" Target="../embeddings/oleObject193.bin"/><Relationship Id="rId30" Type="http://schemas.openxmlformats.org/officeDocument/2006/relationships/oleObject" Target="../embeddings/oleObject195.bin"/><Relationship Id="rId35" Type="http://schemas.openxmlformats.org/officeDocument/2006/relationships/image" Target="../media/image176.wmf"/><Relationship Id="rId8" Type="http://schemas.openxmlformats.org/officeDocument/2006/relationships/image" Target="../media/image145.wmf"/><Relationship Id="rId3" Type="http://schemas.openxmlformats.org/officeDocument/2006/relationships/oleObject" Target="../embeddings/oleObject181.bin"/></Relationships>
</file>

<file path=ppt/slides/_rels/slide45.xml.rels><?xml version="1.0" encoding="UTF-8" standalone="yes"?>
<Relationships xmlns="http://schemas.openxmlformats.org/package/2006/relationships"><Relationship Id="rId3" Type="http://schemas.openxmlformats.org/officeDocument/2006/relationships/image" Target="../media/image178.emf"/><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80.png"/><Relationship Id="rId4" Type="http://schemas.openxmlformats.org/officeDocument/2006/relationships/image" Target="../media/image179.png"/></Relationships>
</file>

<file path=ppt/slides/_rels/slide46.xml.rels><?xml version="1.0" encoding="UTF-8" standalone="yes"?>
<Relationships xmlns="http://schemas.openxmlformats.org/package/2006/relationships"><Relationship Id="rId8" Type="http://schemas.openxmlformats.org/officeDocument/2006/relationships/image" Target="../media/image181.wmf"/><Relationship Id="rId13" Type="http://schemas.openxmlformats.org/officeDocument/2006/relationships/image" Target="../media/image49.png"/><Relationship Id="rId3" Type="http://schemas.openxmlformats.org/officeDocument/2006/relationships/notesSlide" Target="../notesSlides/notesSlide17.xml"/><Relationship Id="rId7" Type="http://schemas.openxmlformats.org/officeDocument/2006/relationships/oleObject" Target="../embeddings/oleObject201.bin"/><Relationship Id="rId12" Type="http://schemas.openxmlformats.org/officeDocument/2006/relationships/image" Target="../media/image183.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50.wmf"/><Relationship Id="rId11" Type="http://schemas.openxmlformats.org/officeDocument/2006/relationships/oleObject" Target="../embeddings/oleObject203.bin"/><Relationship Id="rId5" Type="http://schemas.openxmlformats.org/officeDocument/2006/relationships/oleObject" Target="../embeddings/oleObject200.bin"/><Relationship Id="rId10" Type="http://schemas.openxmlformats.org/officeDocument/2006/relationships/image" Target="../media/image182.emf"/><Relationship Id="rId4" Type="http://schemas.openxmlformats.org/officeDocument/2006/relationships/image" Target="../media/image184.png"/><Relationship Id="rId9" Type="http://schemas.openxmlformats.org/officeDocument/2006/relationships/oleObject" Target="../embeddings/oleObject202.bin"/><Relationship Id="rId14" Type="http://schemas.openxmlformats.org/officeDocument/2006/relationships/image" Target="../media/image185.png"/></Relationships>
</file>

<file path=ppt/slides/_rels/slide47.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87.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88.gif"/><Relationship Id="rId1" Type="http://schemas.openxmlformats.org/officeDocument/2006/relationships/slideLayout" Target="../slideLayouts/slideLayout7.xml"/><Relationship Id="rId4" Type="http://schemas.openxmlformats.org/officeDocument/2006/relationships/image" Target="../media/image190.png"/></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06.bin"/><Relationship Id="rId13" Type="http://schemas.openxmlformats.org/officeDocument/2006/relationships/image" Target="../media/image195.emf"/><Relationship Id="rId18" Type="http://schemas.openxmlformats.org/officeDocument/2006/relationships/oleObject" Target="../embeddings/oleObject211.bin"/><Relationship Id="rId3" Type="http://schemas.openxmlformats.org/officeDocument/2006/relationships/notesSlide" Target="../notesSlides/notesSlide18.xml"/><Relationship Id="rId7" Type="http://schemas.openxmlformats.org/officeDocument/2006/relationships/image" Target="../media/image192.wmf"/><Relationship Id="rId12" Type="http://schemas.openxmlformats.org/officeDocument/2006/relationships/oleObject" Target="../embeddings/oleObject208.bin"/><Relationship Id="rId17" Type="http://schemas.openxmlformats.org/officeDocument/2006/relationships/image" Target="../media/image197.emf"/><Relationship Id="rId2" Type="http://schemas.openxmlformats.org/officeDocument/2006/relationships/slideLayout" Target="../slideLayouts/slideLayout12.xml"/><Relationship Id="rId16" Type="http://schemas.openxmlformats.org/officeDocument/2006/relationships/oleObject" Target="../embeddings/oleObject210.bin"/><Relationship Id="rId20" Type="http://schemas.openxmlformats.org/officeDocument/2006/relationships/image" Target="../media/image199.png"/><Relationship Id="rId1" Type="http://schemas.openxmlformats.org/officeDocument/2006/relationships/vmlDrawing" Target="../drawings/vmlDrawing31.vml"/><Relationship Id="rId6" Type="http://schemas.openxmlformats.org/officeDocument/2006/relationships/oleObject" Target="../embeddings/oleObject205.bin"/><Relationship Id="rId11" Type="http://schemas.openxmlformats.org/officeDocument/2006/relationships/image" Target="../media/image194.emf"/><Relationship Id="rId5" Type="http://schemas.openxmlformats.org/officeDocument/2006/relationships/image" Target="../media/image191.wmf"/><Relationship Id="rId15" Type="http://schemas.openxmlformats.org/officeDocument/2006/relationships/image" Target="../media/image196.wmf"/><Relationship Id="rId10" Type="http://schemas.openxmlformats.org/officeDocument/2006/relationships/oleObject" Target="../embeddings/oleObject207.bin"/><Relationship Id="rId19" Type="http://schemas.openxmlformats.org/officeDocument/2006/relationships/image" Target="../media/image198.emf"/><Relationship Id="rId4" Type="http://schemas.openxmlformats.org/officeDocument/2006/relationships/oleObject" Target="../embeddings/oleObject204.bin"/><Relationship Id="rId9" Type="http://schemas.openxmlformats.org/officeDocument/2006/relationships/image" Target="../media/image193.wmf"/><Relationship Id="rId14" Type="http://schemas.openxmlformats.org/officeDocument/2006/relationships/oleObject" Target="../embeddings/oleObject209.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hyperlink" Target="https://haokan.baidu.com/v?pd=wisenatural&amp;vid=2695237482610984975" TargetMode="External"/><Relationship Id="rId5" Type="http://schemas.openxmlformats.org/officeDocument/2006/relationships/image" Target="../media/image200.wmf"/><Relationship Id="rId4" Type="http://schemas.openxmlformats.org/officeDocument/2006/relationships/oleObject" Target="../embeddings/oleObject212.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02.jpg"/><Relationship Id="rId2" Type="http://schemas.openxmlformats.org/officeDocument/2006/relationships/slideLayout" Target="../slideLayouts/slideLayout7.xml"/><Relationship Id="rId1" Type="http://schemas.openxmlformats.org/officeDocument/2006/relationships/vmlDrawing" Target="../drawings/vmlDrawing33.vml"/><Relationship Id="rId5" Type="http://schemas.openxmlformats.org/officeDocument/2006/relationships/image" Target="../media/image201.wmf"/><Relationship Id="rId4" Type="http://schemas.openxmlformats.org/officeDocument/2006/relationships/oleObject" Target="../embeddings/oleObject213.bin"/></Relationships>
</file>

<file path=ppt/slides/_rels/slide55.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04.gif"/></Relationships>
</file>

<file path=ppt/slides/_rels/slide56.xml.rels><?xml version="1.0" encoding="UTF-8" standalone="yes"?>
<Relationships xmlns="http://schemas.openxmlformats.org/package/2006/relationships"><Relationship Id="rId3" Type="http://schemas.openxmlformats.org/officeDocument/2006/relationships/image" Target="../media/image206.gif"/><Relationship Id="rId2" Type="http://schemas.openxmlformats.org/officeDocument/2006/relationships/image" Target="../media/image205.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07.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image" Target="../media/image209.wmf"/><Relationship Id="rId13" Type="http://schemas.openxmlformats.org/officeDocument/2006/relationships/oleObject" Target="../embeddings/oleObject218.bin"/><Relationship Id="rId18" Type="http://schemas.openxmlformats.org/officeDocument/2006/relationships/image" Target="../media/image214.wmf"/><Relationship Id="rId3" Type="http://schemas.openxmlformats.org/officeDocument/2006/relationships/notesSlide" Target="../notesSlides/notesSlide21.xml"/><Relationship Id="rId21" Type="http://schemas.openxmlformats.org/officeDocument/2006/relationships/oleObject" Target="../embeddings/oleObject223.bin"/><Relationship Id="rId7" Type="http://schemas.openxmlformats.org/officeDocument/2006/relationships/oleObject" Target="../embeddings/oleObject215.bin"/><Relationship Id="rId12" Type="http://schemas.openxmlformats.org/officeDocument/2006/relationships/image" Target="../media/image211.wmf"/><Relationship Id="rId17" Type="http://schemas.openxmlformats.org/officeDocument/2006/relationships/oleObject" Target="../embeddings/oleObject220.bin"/><Relationship Id="rId2" Type="http://schemas.openxmlformats.org/officeDocument/2006/relationships/slideLayout" Target="../slideLayouts/slideLayout7.xml"/><Relationship Id="rId16" Type="http://schemas.openxmlformats.org/officeDocument/2006/relationships/image" Target="../media/image213.wmf"/><Relationship Id="rId20" Type="http://schemas.openxmlformats.org/officeDocument/2006/relationships/oleObject" Target="../embeddings/oleObject222.bin"/><Relationship Id="rId1" Type="http://schemas.openxmlformats.org/officeDocument/2006/relationships/vmlDrawing" Target="../drawings/vmlDrawing34.vml"/><Relationship Id="rId6" Type="http://schemas.openxmlformats.org/officeDocument/2006/relationships/image" Target="../media/image208.wmf"/><Relationship Id="rId11" Type="http://schemas.openxmlformats.org/officeDocument/2006/relationships/oleObject" Target="../embeddings/oleObject217.bin"/><Relationship Id="rId5" Type="http://schemas.openxmlformats.org/officeDocument/2006/relationships/oleObject" Target="../embeddings/oleObject214.bin"/><Relationship Id="rId15" Type="http://schemas.openxmlformats.org/officeDocument/2006/relationships/oleObject" Target="../embeddings/oleObject219.bin"/><Relationship Id="rId10" Type="http://schemas.openxmlformats.org/officeDocument/2006/relationships/image" Target="../media/image210.wmf"/><Relationship Id="rId19" Type="http://schemas.openxmlformats.org/officeDocument/2006/relationships/oleObject" Target="../embeddings/oleObject221.bin"/><Relationship Id="rId4" Type="http://schemas.openxmlformats.org/officeDocument/2006/relationships/image" Target="../media/image215.png"/><Relationship Id="rId9" Type="http://schemas.openxmlformats.org/officeDocument/2006/relationships/oleObject" Target="../embeddings/oleObject216.bin"/><Relationship Id="rId14" Type="http://schemas.openxmlformats.org/officeDocument/2006/relationships/image" Target="../media/image212.wmf"/></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27.bin"/><Relationship Id="rId13" Type="http://schemas.openxmlformats.org/officeDocument/2006/relationships/image" Target="../media/image218.wmf"/><Relationship Id="rId3" Type="http://schemas.openxmlformats.org/officeDocument/2006/relationships/image" Target="../media/image220.png"/><Relationship Id="rId7" Type="http://schemas.openxmlformats.org/officeDocument/2006/relationships/oleObject" Target="../embeddings/oleObject226.bin"/><Relationship Id="rId12" Type="http://schemas.openxmlformats.org/officeDocument/2006/relationships/oleObject" Target="../embeddings/oleObject229.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225.bin"/><Relationship Id="rId11" Type="http://schemas.openxmlformats.org/officeDocument/2006/relationships/image" Target="../media/image217.wmf"/><Relationship Id="rId5" Type="http://schemas.openxmlformats.org/officeDocument/2006/relationships/image" Target="../media/image211.wmf"/><Relationship Id="rId15" Type="http://schemas.openxmlformats.org/officeDocument/2006/relationships/image" Target="../media/image219.wmf"/><Relationship Id="rId10" Type="http://schemas.openxmlformats.org/officeDocument/2006/relationships/oleObject" Target="../embeddings/oleObject228.bin"/><Relationship Id="rId4" Type="http://schemas.openxmlformats.org/officeDocument/2006/relationships/oleObject" Target="../embeddings/oleObject224.bin"/><Relationship Id="rId9" Type="http://schemas.openxmlformats.org/officeDocument/2006/relationships/image" Target="../media/image216.wmf"/><Relationship Id="rId14" Type="http://schemas.openxmlformats.org/officeDocument/2006/relationships/oleObject" Target="../embeddings/oleObject230.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222.wmf"/><Relationship Id="rId2" Type="http://schemas.openxmlformats.org/officeDocument/2006/relationships/slideLayout" Target="../slideLayouts/slideLayout6.xml"/><Relationship Id="rId1" Type="http://schemas.openxmlformats.org/officeDocument/2006/relationships/vmlDrawing" Target="../drawings/vmlDrawing36.vml"/><Relationship Id="rId6" Type="http://schemas.openxmlformats.org/officeDocument/2006/relationships/oleObject" Target="../embeddings/oleObject232.bin"/><Relationship Id="rId5" Type="http://schemas.openxmlformats.org/officeDocument/2006/relationships/image" Target="../media/image221.wmf"/><Relationship Id="rId4" Type="http://schemas.openxmlformats.org/officeDocument/2006/relationships/oleObject" Target="../embeddings/oleObject231.bin"/></Relationships>
</file>

<file path=ppt/slides/_rels/slide64.xml.rels><?xml version="1.0" encoding="UTF-8" standalone="yes"?>
<Relationships xmlns="http://schemas.openxmlformats.org/package/2006/relationships"><Relationship Id="rId8" Type="http://schemas.openxmlformats.org/officeDocument/2006/relationships/image" Target="../media/image225.wmf"/><Relationship Id="rId13" Type="http://schemas.openxmlformats.org/officeDocument/2006/relationships/oleObject" Target="../embeddings/oleObject238.bin"/><Relationship Id="rId18" Type="http://schemas.openxmlformats.org/officeDocument/2006/relationships/image" Target="../media/image230.emf"/><Relationship Id="rId26" Type="http://schemas.openxmlformats.org/officeDocument/2006/relationships/image" Target="../media/image234.emf"/><Relationship Id="rId3" Type="http://schemas.openxmlformats.org/officeDocument/2006/relationships/oleObject" Target="../embeddings/oleObject233.bin"/><Relationship Id="rId21" Type="http://schemas.openxmlformats.org/officeDocument/2006/relationships/oleObject" Target="../embeddings/oleObject242.bin"/><Relationship Id="rId7" Type="http://schemas.openxmlformats.org/officeDocument/2006/relationships/oleObject" Target="../embeddings/oleObject235.bin"/><Relationship Id="rId12" Type="http://schemas.openxmlformats.org/officeDocument/2006/relationships/image" Target="../media/image227.wmf"/><Relationship Id="rId17" Type="http://schemas.openxmlformats.org/officeDocument/2006/relationships/oleObject" Target="../embeddings/oleObject240.bin"/><Relationship Id="rId25" Type="http://schemas.openxmlformats.org/officeDocument/2006/relationships/oleObject" Target="../embeddings/oleObject244.bin"/><Relationship Id="rId2" Type="http://schemas.openxmlformats.org/officeDocument/2006/relationships/slideLayout" Target="../slideLayouts/slideLayout12.xml"/><Relationship Id="rId16" Type="http://schemas.openxmlformats.org/officeDocument/2006/relationships/image" Target="../media/image229.emf"/><Relationship Id="rId20" Type="http://schemas.openxmlformats.org/officeDocument/2006/relationships/image" Target="../media/image231.emf"/><Relationship Id="rId29" Type="http://schemas.openxmlformats.org/officeDocument/2006/relationships/hyperlink" Target="http://www.wyxwyx.com/shudian/printpage.asp?ArticleID=1346" TargetMode="External"/><Relationship Id="rId1" Type="http://schemas.openxmlformats.org/officeDocument/2006/relationships/vmlDrawing" Target="../drawings/vmlDrawing37.vml"/><Relationship Id="rId6" Type="http://schemas.openxmlformats.org/officeDocument/2006/relationships/image" Target="../media/image224.wmf"/><Relationship Id="rId11" Type="http://schemas.openxmlformats.org/officeDocument/2006/relationships/oleObject" Target="../embeddings/oleObject237.bin"/><Relationship Id="rId24" Type="http://schemas.openxmlformats.org/officeDocument/2006/relationships/image" Target="../media/image233.emf"/><Relationship Id="rId5" Type="http://schemas.openxmlformats.org/officeDocument/2006/relationships/oleObject" Target="../embeddings/oleObject234.bin"/><Relationship Id="rId15" Type="http://schemas.openxmlformats.org/officeDocument/2006/relationships/oleObject" Target="../embeddings/oleObject239.bin"/><Relationship Id="rId23" Type="http://schemas.openxmlformats.org/officeDocument/2006/relationships/oleObject" Target="../embeddings/oleObject243.bin"/><Relationship Id="rId28" Type="http://schemas.openxmlformats.org/officeDocument/2006/relationships/image" Target="../media/image235.emf"/><Relationship Id="rId10" Type="http://schemas.openxmlformats.org/officeDocument/2006/relationships/image" Target="../media/image226.wmf"/><Relationship Id="rId19" Type="http://schemas.openxmlformats.org/officeDocument/2006/relationships/oleObject" Target="../embeddings/oleObject241.bin"/><Relationship Id="rId31" Type="http://schemas.openxmlformats.org/officeDocument/2006/relationships/image" Target="../media/image236.emf"/><Relationship Id="rId4" Type="http://schemas.openxmlformats.org/officeDocument/2006/relationships/image" Target="../media/image223.wmf"/><Relationship Id="rId9" Type="http://schemas.openxmlformats.org/officeDocument/2006/relationships/oleObject" Target="../embeddings/oleObject236.bin"/><Relationship Id="rId14" Type="http://schemas.openxmlformats.org/officeDocument/2006/relationships/image" Target="../media/image228.wmf"/><Relationship Id="rId22" Type="http://schemas.openxmlformats.org/officeDocument/2006/relationships/image" Target="../media/image232.emf"/><Relationship Id="rId27" Type="http://schemas.openxmlformats.org/officeDocument/2006/relationships/oleObject" Target="../embeddings/oleObject245.bin"/><Relationship Id="rId30" Type="http://schemas.openxmlformats.org/officeDocument/2006/relationships/oleObject" Target="../embeddings/oleObject246.bin"/></Relationships>
</file>

<file path=ppt/slides/_rels/slide65.xml.rels><?xml version="1.0" encoding="UTF-8" standalone="yes"?>
<Relationships xmlns="http://schemas.openxmlformats.org/package/2006/relationships"><Relationship Id="rId8" Type="http://schemas.openxmlformats.org/officeDocument/2006/relationships/image" Target="../media/image239.wmf"/><Relationship Id="rId13" Type="http://schemas.openxmlformats.org/officeDocument/2006/relationships/oleObject" Target="../embeddings/oleObject252.bin"/><Relationship Id="rId3" Type="http://schemas.openxmlformats.org/officeDocument/2006/relationships/oleObject" Target="../embeddings/oleObject247.bin"/><Relationship Id="rId7" Type="http://schemas.openxmlformats.org/officeDocument/2006/relationships/oleObject" Target="../embeddings/oleObject249.bin"/><Relationship Id="rId12" Type="http://schemas.openxmlformats.org/officeDocument/2006/relationships/image" Target="../media/image241.wmf"/><Relationship Id="rId2" Type="http://schemas.openxmlformats.org/officeDocument/2006/relationships/slideLayout" Target="../slideLayouts/slideLayout7.xml"/><Relationship Id="rId16" Type="http://schemas.openxmlformats.org/officeDocument/2006/relationships/image" Target="../media/image243.wmf"/><Relationship Id="rId1" Type="http://schemas.openxmlformats.org/officeDocument/2006/relationships/vmlDrawing" Target="../drawings/vmlDrawing38.vml"/><Relationship Id="rId6" Type="http://schemas.openxmlformats.org/officeDocument/2006/relationships/image" Target="../media/image238.wmf"/><Relationship Id="rId11" Type="http://schemas.openxmlformats.org/officeDocument/2006/relationships/oleObject" Target="../embeddings/oleObject251.bin"/><Relationship Id="rId5" Type="http://schemas.openxmlformats.org/officeDocument/2006/relationships/oleObject" Target="../embeddings/oleObject248.bin"/><Relationship Id="rId15" Type="http://schemas.openxmlformats.org/officeDocument/2006/relationships/oleObject" Target="../embeddings/oleObject253.bin"/><Relationship Id="rId10" Type="http://schemas.openxmlformats.org/officeDocument/2006/relationships/image" Target="../media/image240.wmf"/><Relationship Id="rId4" Type="http://schemas.openxmlformats.org/officeDocument/2006/relationships/image" Target="../media/image237.wmf"/><Relationship Id="rId9" Type="http://schemas.openxmlformats.org/officeDocument/2006/relationships/oleObject" Target="../embeddings/oleObject250.bin"/><Relationship Id="rId14" Type="http://schemas.openxmlformats.org/officeDocument/2006/relationships/image" Target="../media/image242.wmf"/></Relationships>
</file>

<file path=ppt/slides/_rels/slide66.xml.rels><?xml version="1.0" encoding="UTF-8" standalone="yes"?>
<Relationships xmlns="http://schemas.openxmlformats.org/package/2006/relationships"><Relationship Id="rId8" Type="http://schemas.openxmlformats.org/officeDocument/2006/relationships/image" Target="../media/image246.emf"/><Relationship Id="rId3" Type="http://schemas.openxmlformats.org/officeDocument/2006/relationships/oleObject" Target="../embeddings/oleObject254.bin"/><Relationship Id="rId7" Type="http://schemas.openxmlformats.org/officeDocument/2006/relationships/oleObject" Target="../embeddings/oleObject256.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media/image245.wmf"/><Relationship Id="rId5" Type="http://schemas.openxmlformats.org/officeDocument/2006/relationships/oleObject" Target="../embeddings/oleObject255.bin"/><Relationship Id="rId10" Type="http://schemas.openxmlformats.org/officeDocument/2006/relationships/image" Target="../media/image247.gif"/><Relationship Id="rId4" Type="http://schemas.openxmlformats.org/officeDocument/2006/relationships/image" Target="../media/image244.emf"/><Relationship Id="rId9" Type="http://schemas.openxmlformats.org/officeDocument/2006/relationships/hyperlink" Target="09&#29109;&#21644;&#29109;&#22686;&#21152;&#21407;&#29702;.ppt" TargetMode="Externa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257.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249.wmf"/><Relationship Id="rId5" Type="http://schemas.openxmlformats.org/officeDocument/2006/relationships/oleObject" Target="../embeddings/oleObject258.bin"/><Relationship Id="rId4" Type="http://schemas.openxmlformats.org/officeDocument/2006/relationships/image" Target="../media/image248.wmf"/></Relationships>
</file>

<file path=ppt/slides/_rels/slide68.xml.rels><?xml version="1.0" encoding="UTF-8" standalone="yes"?>
<Relationships xmlns="http://schemas.openxmlformats.org/package/2006/relationships"><Relationship Id="rId8" Type="http://schemas.openxmlformats.org/officeDocument/2006/relationships/image" Target="../media/image252.wmf"/><Relationship Id="rId13" Type="http://schemas.openxmlformats.org/officeDocument/2006/relationships/image" Target="../media/image255.png"/><Relationship Id="rId3" Type="http://schemas.openxmlformats.org/officeDocument/2006/relationships/oleObject" Target="../embeddings/oleObject259.bin"/><Relationship Id="rId7" Type="http://schemas.openxmlformats.org/officeDocument/2006/relationships/oleObject" Target="../embeddings/oleObject261.bin"/><Relationship Id="rId12" Type="http://schemas.openxmlformats.org/officeDocument/2006/relationships/image" Target="../media/image254.w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251.wmf"/><Relationship Id="rId11" Type="http://schemas.openxmlformats.org/officeDocument/2006/relationships/oleObject" Target="../embeddings/oleObject263.bin"/><Relationship Id="rId5" Type="http://schemas.openxmlformats.org/officeDocument/2006/relationships/oleObject" Target="../embeddings/oleObject260.bin"/><Relationship Id="rId10" Type="http://schemas.openxmlformats.org/officeDocument/2006/relationships/image" Target="../media/image253.wmf"/><Relationship Id="rId4" Type="http://schemas.openxmlformats.org/officeDocument/2006/relationships/image" Target="../media/image250.wmf"/><Relationship Id="rId9" Type="http://schemas.openxmlformats.org/officeDocument/2006/relationships/oleObject" Target="../embeddings/oleObject262.bin"/></Relationships>
</file>

<file path=ppt/slides/_rels/slide69.xml.rels><?xml version="1.0" encoding="UTF-8" standalone="yes"?>
<Relationships xmlns="http://schemas.openxmlformats.org/package/2006/relationships"><Relationship Id="rId8" Type="http://schemas.openxmlformats.org/officeDocument/2006/relationships/image" Target="../media/image258.wmf"/><Relationship Id="rId3" Type="http://schemas.openxmlformats.org/officeDocument/2006/relationships/oleObject" Target="../embeddings/oleObject264.bin"/><Relationship Id="rId7" Type="http://schemas.openxmlformats.org/officeDocument/2006/relationships/oleObject" Target="../embeddings/oleObject266.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257.wmf"/><Relationship Id="rId5" Type="http://schemas.openxmlformats.org/officeDocument/2006/relationships/oleObject" Target="../embeddings/oleObject265.bin"/><Relationship Id="rId10" Type="http://schemas.openxmlformats.org/officeDocument/2006/relationships/image" Target="../media/image259.wmf"/><Relationship Id="rId4" Type="http://schemas.openxmlformats.org/officeDocument/2006/relationships/image" Target="../media/image256.wmf"/><Relationship Id="rId9" Type="http://schemas.openxmlformats.org/officeDocument/2006/relationships/oleObject" Target="../embeddings/oleObject267.bin"/></Relationships>
</file>

<file path=ppt/slides/_rels/slide70.xml.rels><?xml version="1.0" encoding="UTF-8" standalone="yes"?>
<Relationships xmlns="http://schemas.openxmlformats.org/package/2006/relationships"><Relationship Id="rId8" Type="http://schemas.openxmlformats.org/officeDocument/2006/relationships/image" Target="../media/image262.wmf"/><Relationship Id="rId13" Type="http://schemas.openxmlformats.org/officeDocument/2006/relationships/oleObject" Target="../embeddings/oleObject273.bin"/><Relationship Id="rId3" Type="http://schemas.openxmlformats.org/officeDocument/2006/relationships/oleObject" Target="../embeddings/oleObject268.bin"/><Relationship Id="rId7" Type="http://schemas.openxmlformats.org/officeDocument/2006/relationships/oleObject" Target="../embeddings/oleObject270.bin"/><Relationship Id="rId12" Type="http://schemas.openxmlformats.org/officeDocument/2006/relationships/image" Target="../media/image258.wmf"/><Relationship Id="rId2" Type="http://schemas.openxmlformats.org/officeDocument/2006/relationships/slideLayout" Target="../slideLayouts/slideLayout4.xml"/><Relationship Id="rId1" Type="http://schemas.openxmlformats.org/officeDocument/2006/relationships/vmlDrawing" Target="../drawings/vmlDrawing43.vml"/><Relationship Id="rId6" Type="http://schemas.openxmlformats.org/officeDocument/2006/relationships/image" Target="../media/image261.wmf"/><Relationship Id="rId11" Type="http://schemas.openxmlformats.org/officeDocument/2006/relationships/oleObject" Target="../embeddings/oleObject272.bin"/><Relationship Id="rId5" Type="http://schemas.openxmlformats.org/officeDocument/2006/relationships/oleObject" Target="../embeddings/oleObject269.bin"/><Relationship Id="rId10" Type="http://schemas.openxmlformats.org/officeDocument/2006/relationships/image" Target="../media/image257.wmf"/><Relationship Id="rId4" Type="http://schemas.openxmlformats.org/officeDocument/2006/relationships/image" Target="../media/image260.wmf"/><Relationship Id="rId9" Type="http://schemas.openxmlformats.org/officeDocument/2006/relationships/oleObject" Target="../embeddings/oleObject271.bin"/><Relationship Id="rId14" Type="http://schemas.openxmlformats.org/officeDocument/2006/relationships/image" Target="../media/image256.wmf"/></Relationships>
</file>

<file path=ppt/slides/_rels/slide71.xml.rels><?xml version="1.0" encoding="UTF-8" standalone="yes"?>
<Relationships xmlns="http://schemas.openxmlformats.org/package/2006/relationships"><Relationship Id="rId2" Type="http://schemas.openxmlformats.org/officeDocument/2006/relationships/image" Target="../media/image263.jpe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274.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258.wmf"/><Relationship Id="rId5" Type="http://schemas.openxmlformats.org/officeDocument/2006/relationships/oleObject" Target="../embeddings/oleObject275.bin"/><Relationship Id="rId4" Type="http://schemas.openxmlformats.org/officeDocument/2006/relationships/image" Target="../media/image264.wmf"/></Relationships>
</file>

<file path=ppt/slides/_rels/slide73.xml.rels><?xml version="1.0" encoding="UTF-8" standalone="yes"?>
<Relationships xmlns="http://schemas.openxmlformats.org/package/2006/relationships"><Relationship Id="rId8" Type="http://schemas.openxmlformats.org/officeDocument/2006/relationships/image" Target="../media/image267.wmf"/><Relationship Id="rId3" Type="http://schemas.openxmlformats.org/officeDocument/2006/relationships/oleObject" Target="../embeddings/oleObject276.bin"/><Relationship Id="rId7" Type="http://schemas.openxmlformats.org/officeDocument/2006/relationships/oleObject" Target="../embeddings/oleObject278.bin"/><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266.wmf"/><Relationship Id="rId5" Type="http://schemas.openxmlformats.org/officeDocument/2006/relationships/oleObject" Target="../embeddings/oleObject277.bin"/><Relationship Id="rId4" Type="http://schemas.openxmlformats.org/officeDocument/2006/relationships/image" Target="../media/image265.wmf"/></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281.bin"/><Relationship Id="rId13" Type="http://schemas.openxmlformats.org/officeDocument/2006/relationships/image" Target="../media/image272.wmf"/><Relationship Id="rId3" Type="http://schemas.openxmlformats.org/officeDocument/2006/relationships/notesSlide" Target="../notesSlides/notesSlide25.xml"/><Relationship Id="rId7" Type="http://schemas.openxmlformats.org/officeDocument/2006/relationships/image" Target="../media/image269.wmf"/><Relationship Id="rId12" Type="http://schemas.openxmlformats.org/officeDocument/2006/relationships/oleObject" Target="../embeddings/oleObject283.bin"/><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oleObject" Target="../embeddings/oleObject280.bin"/><Relationship Id="rId11" Type="http://schemas.openxmlformats.org/officeDocument/2006/relationships/image" Target="../media/image271.wmf"/><Relationship Id="rId5" Type="http://schemas.openxmlformats.org/officeDocument/2006/relationships/image" Target="../media/image268.wmf"/><Relationship Id="rId15" Type="http://schemas.openxmlformats.org/officeDocument/2006/relationships/image" Target="../media/image273.wmf"/><Relationship Id="rId10" Type="http://schemas.openxmlformats.org/officeDocument/2006/relationships/oleObject" Target="../embeddings/oleObject282.bin"/><Relationship Id="rId4" Type="http://schemas.openxmlformats.org/officeDocument/2006/relationships/oleObject" Target="../embeddings/oleObject279.bin"/><Relationship Id="rId9" Type="http://schemas.openxmlformats.org/officeDocument/2006/relationships/image" Target="../media/image270.wmf"/><Relationship Id="rId14" Type="http://schemas.openxmlformats.org/officeDocument/2006/relationships/oleObject" Target="../embeddings/oleObject284.bin"/></Relationships>
</file>

<file path=ppt/slides/_rels/slide75.xml.rels><?xml version="1.0" encoding="UTF-8" standalone="yes"?>
<Relationships xmlns="http://schemas.openxmlformats.org/package/2006/relationships"><Relationship Id="rId8" Type="http://schemas.openxmlformats.org/officeDocument/2006/relationships/image" Target="../media/image276.wmf"/><Relationship Id="rId13" Type="http://schemas.openxmlformats.org/officeDocument/2006/relationships/oleObject" Target="../embeddings/oleObject290.bin"/><Relationship Id="rId3" Type="http://schemas.openxmlformats.org/officeDocument/2006/relationships/oleObject" Target="../embeddings/oleObject285.bin"/><Relationship Id="rId7" Type="http://schemas.openxmlformats.org/officeDocument/2006/relationships/oleObject" Target="../embeddings/oleObject287.bin"/><Relationship Id="rId12" Type="http://schemas.openxmlformats.org/officeDocument/2006/relationships/image" Target="../media/image278.wmf"/><Relationship Id="rId2" Type="http://schemas.openxmlformats.org/officeDocument/2006/relationships/slideLayout" Target="../slideLayouts/slideLayout7.xml"/><Relationship Id="rId16" Type="http://schemas.openxmlformats.org/officeDocument/2006/relationships/image" Target="../media/image280.wmf"/><Relationship Id="rId1" Type="http://schemas.openxmlformats.org/officeDocument/2006/relationships/vmlDrawing" Target="../drawings/vmlDrawing47.vml"/><Relationship Id="rId6" Type="http://schemas.openxmlformats.org/officeDocument/2006/relationships/image" Target="../media/image275.wmf"/><Relationship Id="rId11" Type="http://schemas.openxmlformats.org/officeDocument/2006/relationships/oleObject" Target="../embeddings/oleObject289.bin"/><Relationship Id="rId5" Type="http://schemas.openxmlformats.org/officeDocument/2006/relationships/oleObject" Target="../embeddings/oleObject286.bin"/><Relationship Id="rId15" Type="http://schemas.openxmlformats.org/officeDocument/2006/relationships/oleObject" Target="../embeddings/oleObject291.bin"/><Relationship Id="rId10" Type="http://schemas.openxmlformats.org/officeDocument/2006/relationships/image" Target="../media/image277.wmf"/><Relationship Id="rId4" Type="http://schemas.openxmlformats.org/officeDocument/2006/relationships/image" Target="../media/image274.wmf"/><Relationship Id="rId9" Type="http://schemas.openxmlformats.org/officeDocument/2006/relationships/oleObject" Target="../embeddings/oleObject288.bin"/><Relationship Id="rId14" Type="http://schemas.openxmlformats.org/officeDocument/2006/relationships/image" Target="../media/image279.wmf"/></Relationships>
</file>

<file path=ppt/slides/_rels/slide76.xml.rels><?xml version="1.0" encoding="UTF-8" standalone="yes"?>
<Relationships xmlns="http://schemas.openxmlformats.org/package/2006/relationships"><Relationship Id="rId8" Type="http://schemas.openxmlformats.org/officeDocument/2006/relationships/image" Target="../media/image283.wmf"/><Relationship Id="rId3" Type="http://schemas.openxmlformats.org/officeDocument/2006/relationships/oleObject" Target="../embeddings/oleObject292.bin"/><Relationship Id="rId7" Type="http://schemas.openxmlformats.org/officeDocument/2006/relationships/oleObject" Target="../embeddings/oleObject294.bin"/><Relationship Id="rId2" Type="http://schemas.openxmlformats.org/officeDocument/2006/relationships/slideLayout" Target="../slideLayouts/slideLayout12.xml"/><Relationship Id="rId1" Type="http://schemas.openxmlformats.org/officeDocument/2006/relationships/vmlDrawing" Target="../drawings/vmlDrawing48.vml"/><Relationship Id="rId6" Type="http://schemas.openxmlformats.org/officeDocument/2006/relationships/image" Target="../media/image282.wmf"/><Relationship Id="rId5" Type="http://schemas.openxmlformats.org/officeDocument/2006/relationships/oleObject" Target="../embeddings/oleObject293.bin"/><Relationship Id="rId4" Type="http://schemas.openxmlformats.org/officeDocument/2006/relationships/image" Target="../media/image281.wmf"/></Relationships>
</file>

<file path=ppt/slides/_rels/slide77.xml.rels><?xml version="1.0" encoding="UTF-8" standalone="yes"?>
<Relationships xmlns="http://schemas.openxmlformats.org/package/2006/relationships"><Relationship Id="rId8" Type="http://schemas.openxmlformats.org/officeDocument/2006/relationships/image" Target="../media/image286.wmf"/><Relationship Id="rId13" Type="http://schemas.openxmlformats.org/officeDocument/2006/relationships/oleObject" Target="../embeddings/oleObject300.bin"/><Relationship Id="rId3" Type="http://schemas.openxmlformats.org/officeDocument/2006/relationships/oleObject" Target="../embeddings/oleObject295.bin"/><Relationship Id="rId7" Type="http://schemas.openxmlformats.org/officeDocument/2006/relationships/oleObject" Target="../embeddings/oleObject297.bin"/><Relationship Id="rId12" Type="http://schemas.openxmlformats.org/officeDocument/2006/relationships/image" Target="../media/image288.wmf"/><Relationship Id="rId2" Type="http://schemas.openxmlformats.org/officeDocument/2006/relationships/slideLayout" Target="../slideLayouts/slideLayout12.xml"/><Relationship Id="rId1" Type="http://schemas.openxmlformats.org/officeDocument/2006/relationships/vmlDrawing" Target="../drawings/vmlDrawing49.vml"/><Relationship Id="rId6" Type="http://schemas.openxmlformats.org/officeDocument/2006/relationships/image" Target="../media/image285.wmf"/><Relationship Id="rId11" Type="http://schemas.openxmlformats.org/officeDocument/2006/relationships/oleObject" Target="../embeddings/oleObject299.bin"/><Relationship Id="rId5" Type="http://schemas.openxmlformats.org/officeDocument/2006/relationships/oleObject" Target="../embeddings/oleObject296.bin"/><Relationship Id="rId10" Type="http://schemas.openxmlformats.org/officeDocument/2006/relationships/image" Target="../media/image287.wmf"/><Relationship Id="rId4" Type="http://schemas.openxmlformats.org/officeDocument/2006/relationships/image" Target="../media/image284.wmf"/><Relationship Id="rId9" Type="http://schemas.openxmlformats.org/officeDocument/2006/relationships/oleObject" Target="../embeddings/oleObject298.bin"/><Relationship Id="rId14" Type="http://schemas.openxmlformats.org/officeDocument/2006/relationships/image" Target="../media/image289.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8" Type="http://schemas.openxmlformats.org/officeDocument/2006/relationships/image" Target="../media/image182.emf"/><Relationship Id="rId13" Type="http://schemas.openxmlformats.org/officeDocument/2006/relationships/oleObject" Target="../embeddings/oleObject265.bin"/><Relationship Id="rId3" Type="http://schemas.openxmlformats.org/officeDocument/2006/relationships/oleObject" Target="../embeddings/oleObject200.bin"/><Relationship Id="rId7" Type="http://schemas.openxmlformats.org/officeDocument/2006/relationships/oleObject" Target="../embeddings/oleObject202.bin"/><Relationship Id="rId12" Type="http://schemas.openxmlformats.org/officeDocument/2006/relationships/image" Target="../media/image264.wmf"/><Relationship Id="rId2" Type="http://schemas.openxmlformats.org/officeDocument/2006/relationships/slideLayout" Target="../slideLayouts/slideLayout7.xml"/><Relationship Id="rId16" Type="http://schemas.openxmlformats.org/officeDocument/2006/relationships/image" Target="../media/image259.wmf"/><Relationship Id="rId1" Type="http://schemas.openxmlformats.org/officeDocument/2006/relationships/vmlDrawing" Target="../drawings/vmlDrawing50.vml"/><Relationship Id="rId6" Type="http://schemas.openxmlformats.org/officeDocument/2006/relationships/image" Target="../media/image181.wmf"/><Relationship Id="rId11" Type="http://schemas.openxmlformats.org/officeDocument/2006/relationships/oleObject" Target="../embeddings/oleObject274.bin"/><Relationship Id="rId5" Type="http://schemas.openxmlformats.org/officeDocument/2006/relationships/oleObject" Target="../embeddings/oleObject201.bin"/><Relationship Id="rId15" Type="http://schemas.openxmlformats.org/officeDocument/2006/relationships/oleObject" Target="../embeddings/oleObject267.bin"/><Relationship Id="rId10" Type="http://schemas.openxmlformats.org/officeDocument/2006/relationships/image" Target="../media/image183.wmf"/><Relationship Id="rId4" Type="http://schemas.openxmlformats.org/officeDocument/2006/relationships/image" Target="../media/image50.wmf"/><Relationship Id="rId9" Type="http://schemas.openxmlformats.org/officeDocument/2006/relationships/oleObject" Target="../embeddings/oleObject203.bin"/><Relationship Id="rId14" Type="http://schemas.openxmlformats.org/officeDocument/2006/relationships/image" Target="../media/image257.wmf"/></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303.bin"/><Relationship Id="rId13" Type="http://schemas.openxmlformats.org/officeDocument/2006/relationships/image" Target="../media/image294.wmf"/><Relationship Id="rId3" Type="http://schemas.openxmlformats.org/officeDocument/2006/relationships/notesSlide" Target="../notesSlides/notesSlide26.xml"/><Relationship Id="rId7" Type="http://schemas.openxmlformats.org/officeDocument/2006/relationships/image" Target="../media/image291.wmf"/><Relationship Id="rId12" Type="http://schemas.openxmlformats.org/officeDocument/2006/relationships/oleObject" Target="../embeddings/oleObject305.bin"/><Relationship Id="rId2" Type="http://schemas.openxmlformats.org/officeDocument/2006/relationships/slideLayout" Target="../slideLayouts/slideLayout7.xml"/><Relationship Id="rId16" Type="http://schemas.openxmlformats.org/officeDocument/2006/relationships/image" Target="../media/image296.png"/><Relationship Id="rId1" Type="http://schemas.openxmlformats.org/officeDocument/2006/relationships/vmlDrawing" Target="../drawings/vmlDrawing51.vml"/><Relationship Id="rId6" Type="http://schemas.openxmlformats.org/officeDocument/2006/relationships/oleObject" Target="../embeddings/oleObject302.bin"/><Relationship Id="rId11" Type="http://schemas.openxmlformats.org/officeDocument/2006/relationships/image" Target="../media/image293.wmf"/><Relationship Id="rId5" Type="http://schemas.openxmlformats.org/officeDocument/2006/relationships/image" Target="../media/image290.wmf"/><Relationship Id="rId15" Type="http://schemas.openxmlformats.org/officeDocument/2006/relationships/image" Target="../media/image295.wmf"/><Relationship Id="rId10" Type="http://schemas.openxmlformats.org/officeDocument/2006/relationships/oleObject" Target="../embeddings/oleObject304.bin"/><Relationship Id="rId4" Type="http://schemas.openxmlformats.org/officeDocument/2006/relationships/oleObject" Target="../embeddings/oleObject301.bin"/><Relationship Id="rId9" Type="http://schemas.openxmlformats.org/officeDocument/2006/relationships/image" Target="../media/image292.wmf"/><Relationship Id="rId14" Type="http://schemas.openxmlformats.org/officeDocument/2006/relationships/oleObject" Target="../embeddings/oleObject306.bin"/></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309.bin"/><Relationship Id="rId13" Type="http://schemas.openxmlformats.org/officeDocument/2006/relationships/image" Target="../media/image295.wmf"/><Relationship Id="rId3" Type="http://schemas.openxmlformats.org/officeDocument/2006/relationships/notesSlide" Target="../notesSlides/notesSlide27.xml"/><Relationship Id="rId7" Type="http://schemas.openxmlformats.org/officeDocument/2006/relationships/image" Target="../media/image258.wmf"/><Relationship Id="rId12" Type="http://schemas.openxmlformats.org/officeDocument/2006/relationships/oleObject" Target="../embeddings/oleObject311.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oleObject" Target="../embeddings/oleObject308.bin"/><Relationship Id="rId11" Type="http://schemas.openxmlformats.org/officeDocument/2006/relationships/image" Target="../media/image293.wmf"/><Relationship Id="rId5" Type="http://schemas.openxmlformats.org/officeDocument/2006/relationships/image" Target="../media/image256.wmf"/><Relationship Id="rId10" Type="http://schemas.openxmlformats.org/officeDocument/2006/relationships/oleObject" Target="../embeddings/oleObject310.bin"/><Relationship Id="rId4" Type="http://schemas.openxmlformats.org/officeDocument/2006/relationships/oleObject" Target="../embeddings/oleObject307.bin"/><Relationship Id="rId9" Type="http://schemas.openxmlformats.org/officeDocument/2006/relationships/image" Target="../media/image297.wmf"/></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53.vml"/><Relationship Id="rId5" Type="http://schemas.openxmlformats.org/officeDocument/2006/relationships/image" Target="../media/image298.wmf"/><Relationship Id="rId4" Type="http://schemas.openxmlformats.org/officeDocument/2006/relationships/oleObject" Target="../embeddings/oleObject312.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315.bin"/><Relationship Id="rId3" Type="http://schemas.openxmlformats.org/officeDocument/2006/relationships/image" Target="../media/image302.jpeg"/><Relationship Id="rId7" Type="http://schemas.openxmlformats.org/officeDocument/2006/relationships/image" Target="../media/image300.wmf"/><Relationship Id="rId2" Type="http://schemas.openxmlformats.org/officeDocument/2006/relationships/slideLayout" Target="../slideLayouts/slideLayout13.xml"/><Relationship Id="rId1" Type="http://schemas.openxmlformats.org/officeDocument/2006/relationships/vmlDrawing" Target="../drawings/vmlDrawing54.vml"/><Relationship Id="rId6" Type="http://schemas.openxmlformats.org/officeDocument/2006/relationships/oleObject" Target="../embeddings/oleObject314.bin"/><Relationship Id="rId11" Type="http://schemas.openxmlformats.org/officeDocument/2006/relationships/oleObject" Target="../embeddings/oleObject317.bin"/><Relationship Id="rId5" Type="http://schemas.openxmlformats.org/officeDocument/2006/relationships/image" Target="../media/image299.wmf"/><Relationship Id="rId10" Type="http://schemas.openxmlformats.org/officeDocument/2006/relationships/oleObject" Target="../embeddings/oleObject316.bin"/><Relationship Id="rId4" Type="http://schemas.openxmlformats.org/officeDocument/2006/relationships/oleObject" Target="../embeddings/oleObject313.bin"/><Relationship Id="rId9" Type="http://schemas.openxmlformats.org/officeDocument/2006/relationships/image" Target="../media/image301.wmf"/></Relationships>
</file>

<file path=ppt/slides/_rels/slide87.xml.rels><?xml version="1.0" encoding="UTF-8" standalone="yes"?>
<Relationships xmlns="http://schemas.openxmlformats.org/package/2006/relationships"><Relationship Id="rId8" Type="http://schemas.openxmlformats.org/officeDocument/2006/relationships/image" Target="../media/image303.wmf"/><Relationship Id="rId3" Type="http://schemas.openxmlformats.org/officeDocument/2006/relationships/image" Target="../media/image2490.png"/><Relationship Id="rId7" Type="http://schemas.openxmlformats.org/officeDocument/2006/relationships/oleObject" Target="../embeddings/oleObject318.bin"/><Relationship Id="rId2" Type="http://schemas.openxmlformats.org/officeDocument/2006/relationships/slideLayout" Target="../slideLayouts/slideLayout2.xml"/><Relationship Id="rId1" Type="http://schemas.openxmlformats.org/officeDocument/2006/relationships/vmlDrawing" Target="../drawings/vmlDrawing55.vml"/><Relationship Id="rId6" Type="http://schemas.openxmlformats.org/officeDocument/2006/relationships/image" Target="../media/image306.gif"/><Relationship Id="rId5" Type="http://schemas.openxmlformats.org/officeDocument/2006/relationships/image" Target="../media/image305.png"/><Relationship Id="rId4" Type="http://schemas.openxmlformats.org/officeDocument/2006/relationships/image" Target="../media/image30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321.bin"/><Relationship Id="rId13" Type="http://schemas.openxmlformats.org/officeDocument/2006/relationships/image" Target="../media/image310.wmf"/><Relationship Id="rId3" Type="http://schemas.openxmlformats.org/officeDocument/2006/relationships/notesSlide" Target="../notesSlides/notesSlide29.xml"/><Relationship Id="rId7" Type="http://schemas.openxmlformats.org/officeDocument/2006/relationships/image" Target="../media/image308.wmf"/><Relationship Id="rId12" Type="http://schemas.openxmlformats.org/officeDocument/2006/relationships/oleObject" Target="../embeddings/oleObject324.bin"/><Relationship Id="rId2" Type="http://schemas.openxmlformats.org/officeDocument/2006/relationships/slideLayout" Target="../slideLayouts/slideLayout6.xml"/><Relationship Id="rId1" Type="http://schemas.openxmlformats.org/officeDocument/2006/relationships/vmlDrawing" Target="../drawings/vmlDrawing56.vml"/><Relationship Id="rId6" Type="http://schemas.openxmlformats.org/officeDocument/2006/relationships/oleObject" Target="../embeddings/oleObject320.bin"/><Relationship Id="rId11" Type="http://schemas.openxmlformats.org/officeDocument/2006/relationships/image" Target="../media/image309.wmf"/><Relationship Id="rId5" Type="http://schemas.openxmlformats.org/officeDocument/2006/relationships/image" Target="../media/image307.wmf"/><Relationship Id="rId10" Type="http://schemas.openxmlformats.org/officeDocument/2006/relationships/oleObject" Target="../embeddings/oleObject323.bin"/><Relationship Id="rId4" Type="http://schemas.openxmlformats.org/officeDocument/2006/relationships/oleObject" Target="../embeddings/oleObject319.bin"/><Relationship Id="rId9" Type="http://schemas.openxmlformats.org/officeDocument/2006/relationships/oleObject" Target="../embeddings/oleObject322.bin"/></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325.bin"/><Relationship Id="rId2" Type="http://schemas.openxmlformats.org/officeDocument/2006/relationships/slideLayout" Target="../slideLayouts/slideLayout12.xml"/><Relationship Id="rId1" Type="http://schemas.openxmlformats.org/officeDocument/2006/relationships/vmlDrawing" Target="../drawings/vmlDrawing57.vml"/><Relationship Id="rId4" Type="http://schemas.openxmlformats.org/officeDocument/2006/relationships/image" Target="../media/image310.wmf"/></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312.wmf"/><Relationship Id="rId2" Type="http://schemas.openxmlformats.org/officeDocument/2006/relationships/slideLayout" Target="../slideLayouts/slideLayout7.xml"/><Relationship Id="rId1" Type="http://schemas.openxmlformats.org/officeDocument/2006/relationships/vmlDrawing" Target="../drawings/vmlDrawing58.vml"/><Relationship Id="rId6" Type="http://schemas.openxmlformats.org/officeDocument/2006/relationships/oleObject" Target="../embeddings/oleObject327.bin"/><Relationship Id="rId5" Type="http://schemas.openxmlformats.org/officeDocument/2006/relationships/image" Target="../media/image311.wmf"/><Relationship Id="rId4" Type="http://schemas.openxmlformats.org/officeDocument/2006/relationships/oleObject" Target="../embeddings/oleObject326.bin"/></Relationships>
</file>

<file path=ppt/slides/_rels/slide92.xml.rels><?xml version="1.0" encoding="UTF-8" standalone="yes"?>
<Relationships xmlns="http://schemas.openxmlformats.org/package/2006/relationships"><Relationship Id="rId8" Type="http://schemas.openxmlformats.org/officeDocument/2006/relationships/image" Target="../media/image315.wmf"/><Relationship Id="rId3" Type="http://schemas.openxmlformats.org/officeDocument/2006/relationships/oleObject" Target="../embeddings/oleObject328.bin"/><Relationship Id="rId7" Type="http://schemas.openxmlformats.org/officeDocument/2006/relationships/oleObject" Target="../embeddings/oleObject330.bin"/><Relationship Id="rId12" Type="http://schemas.openxmlformats.org/officeDocument/2006/relationships/image" Target="../media/image317.wmf"/><Relationship Id="rId2" Type="http://schemas.openxmlformats.org/officeDocument/2006/relationships/slideLayout" Target="../slideLayouts/slideLayout7.xml"/><Relationship Id="rId1" Type="http://schemas.openxmlformats.org/officeDocument/2006/relationships/vmlDrawing" Target="../drawings/vmlDrawing59.vml"/><Relationship Id="rId6" Type="http://schemas.openxmlformats.org/officeDocument/2006/relationships/image" Target="../media/image314.emf"/><Relationship Id="rId11" Type="http://schemas.openxmlformats.org/officeDocument/2006/relationships/oleObject" Target="../embeddings/oleObject332.bin"/><Relationship Id="rId5" Type="http://schemas.openxmlformats.org/officeDocument/2006/relationships/oleObject" Target="../embeddings/oleObject329.bin"/><Relationship Id="rId10" Type="http://schemas.openxmlformats.org/officeDocument/2006/relationships/image" Target="../media/image316.wmf"/><Relationship Id="rId4" Type="http://schemas.openxmlformats.org/officeDocument/2006/relationships/image" Target="../media/image313.emf"/><Relationship Id="rId9" Type="http://schemas.openxmlformats.org/officeDocument/2006/relationships/oleObject" Target="../embeddings/oleObject331.bin"/></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3" Type="http://schemas.openxmlformats.org/officeDocument/2006/relationships/hyperlink" Target="https://baike.baidu.com/item/%E7%83%AD%E5%B9%B3%E8%A1%A1%E7%8A%B6%E6%80%81/5229359" TargetMode="External"/><Relationship Id="rId2" Type="http://schemas.openxmlformats.org/officeDocument/2006/relationships/hyperlink" Target="https://baike.baidu.com/item/%E7%86%B5/101181"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333.bin"/><Relationship Id="rId2" Type="http://schemas.openxmlformats.org/officeDocument/2006/relationships/slideLayout" Target="../slideLayouts/slideLayout7.xml"/><Relationship Id="rId1" Type="http://schemas.openxmlformats.org/officeDocument/2006/relationships/vmlDrawing" Target="../drawings/vmlDrawing60.vml"/><Relationship Id="rId6" Type="http://schemas.openxmlformats.org/officeDocument/2006/relationships/image" Target="../media/image319.wmf"/><Relationship Id="rId5" Type="http://schemas.openxmlformats.org/officeDocument/2006/relationships/oleObject" Target="../embeddings/oleObject334.bin"/><Relationship Id="rId4" Type="http://schemas.openxmlformats.org/officeDocument/2006/relationships/image" Target="../media/image318.emf"/></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335.bin"/><Relationship Id="rId2" Type="http://schemas.openxmlformats.org/officeDocument/2006/relationships/slideLayout" Target="../slideLayouts/slideLayout7.xml"/><Relationship Id="rId1" Type="http://schemas.openxmlformats.org/officeDocument/2006/relationships/vmlDrawing" Target="../drawings/vmlDrawing61.vml"/><Relationship Id="rId4" Type="http://schemas.openxmlformats.org/officeDocument/2006/relationships/image" Target="../media/image320.emf"/></Relationships>
</file>

<file path=ppt/slides/_rels/slide98.xml.rels><?xml version="1.0" encoding="UTF-8" standalone="yes"?>
<Relationships xmlns="http://schemas.openxmlformats.org/package/2006/relationships"><Relationship Id="rId3" Type="http://schemas.openxmlformats.org/officeDocument/2006/relationships/image" Target="../media/image322.wmf"/><Relationship Id="rId7" Type="http://schemas.openxmlformats.org/officeDocument/2006/relationships/image" Target="../media/image321.wmf"/><Relationship Id="rId2" Type="http://schemas.openxmlformats.org/officeDocument/2006/relationships/slideLayout" Target="../slideLayouts/slideLayout6.xml"/><Relationship Id="rId1" Type="http://schemas.openxmlformats.org/officeDocument/2006/relationships/vmlDrawing" Target="../drawings/vmlDrawing62.vml"/><Relationship Id="rId6" Type="http://schemas.openxmlformats.org/officeDocument/2006/relationships/oleObject" Target="../embeddings/oleObject336.bin"/><Relationship Id="rId5" Type="http://schemas.openxmlformats.org/officeDocument/2006/relationships/image" Target="../media/image324.wmf"/><Relationship Id="rId4" Type="http://schemas.openxmlformats.org/officeDocument/2006/relationships/image" Target="../media/image323.w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325.jpeg"/><Relationship Id="rId2" Type="http://schemas.openxmlformats.org/officeDocument/2006/relationships/hyperlink" Target="http://www.wyxwyx.com/shudian/printpage.asp?ArticleID=1346" TargetMode="External"/><Relationship Id="rId1" Type="http://schemas.openxmlformats.org/officeDocument/2006/relationships/slideLayout" Target="../slideLayouts/slideLayout6.xml"/><Relationship Id="rId4" Type="http://schemas.openxmlformats.org/officeDocument/2006/relationships/hyperlink" Target="http://www.ruanyifeng.com/blog/2013/04/entropy.html" TargetMode="External"/></Relationships>
</file>

<file path=ppt/slides/_rels/slide102.xml.rels><?xml version="1.0" encoding="UTF-8" standalone="yes"?>
<Relationships xmlns="http://schemas.openxmlformats.org/package/2006/relationships"><Relationship Id="rId3" Type="http://schemas.openxmlformats.org/officeDocument/2006/relationships/hyperlink" Target="https://max.book118.com/html/2019/0323/8017105142002013.shtm"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hyperlink" Target="https://wenku.baidu.com/view/853dd7697e21af45b307a879.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B49C42FA-9E95-471E-862C-FBB8BD0AF308}"/>
              </a:ext>
            </a:extLst>
          </p:cNvPr>
          <p:cNvSpPr>
            <a:spLocks noChangeArrowheads="1"/>
          </p:cNvSpPr>
          <p:nvPr/>
        </p:nvSpPr>
        <p:spPr bwMode="auto">
          <a:xfrm>
            <a:off x="-193675" y="404813"/>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i="0">
                <a:solidFill>
                  <a:srgbClr val="FF0000"/>
                </a:solidFill>
                <a:ea typeface="楷体_GB2312" pitchFamily="49" charset="-122"/>
              </a:rPr>
              <a:t>五种热力学过程的主要公式</a:t>
            </a:r>
          </a:p>
        </p:txBody>
      </p:sp>
      <p:graphicFrame>
        <p:nvGraphicFramePr>
          <p:cNvPr id="198716" name="Group 60">
            <a:extLst>
              <a:ext uri="{FF2B5EF4-FFF2-40B4-BE49-F238E27FC236}">
                <a16:creationId xmlns:a16="http://schemas.microsoft.com/office/drawing/2014/main" id="{EFA17D3D-D661-4635-9BF8-723FFE3D9424}"/>
              </a:ext>
            </a:extLst>
          </p:cNvPr>
          <p:cNvGraphicFramePr>
            <a:graphicFrameLocks noGrp="1"/>
          </p:cNvGraphicFramePr>
          <p:nvPr>
            <p:extLst/>
          </p:nvPr>
        </p:nvGraphicFramePr>
        <p:xfrm>
          <a:off x="107950" y="1214438"/>
          <a:ext cx="9036050" cy="4170121"/>
        </p:xfrm>
        <a:graphic>
          <a:graphicData uri="http://schemas.openxmlformats.org/drawingml/2006/table">
            <a:tbl>
              <a:tblPr/>
              <a:tblGrid>
                <a:gridCol w="884739">
                  <a:extLst>
                    <a:ext uri="{9D8B030D-6E8A-4147-A177-3AD203B41FA5}">
                      <a16:colId xmlns:a16="http://schemas.microsoft.com/office/drawing/2014/main" val="20000"/>
                    </a:ext>
                  </a:extLst>
                </a:gridCol>
                <a:gridCol w="1696293">
                  <a:extLst>
                    <a:ext uri="{9D8B030D-6E8A-4147-A177-3AD203B41FA5}">
                      <a16:colId xmlns:a16="http://schemas.microsoft.com/office/drawing/2014/main" val="20001"/>
                    </a:ext>
                  </a:extLst>
                </a:gridCol>
                <a:gridCol w="2027034">
                  <a:extLst>
                    <a:ext uri="{9D8B030D-6E8A-4147-A177-3AD203B41FA5}">
                      <a16:colId xmlns:a16="http://schemas.microsoft.com/office/drawing/2014/main" val="20002"/>
                    </a:ext>
                  </a:extLst>
                </a:gridCol>
                <a:gridCol w="2326728">
                  <a:extLst>
                    <a:ext uri="{9D8B030D-6E8A-4147-A177-3AD203B41FA5}">
                      <a16:colId xmlns:a16="http://schemas.microsoft.com/office/drawing/2014/main" val="20003"/>
                    </a:ext>
                  </a:extLst>
                </a:gridCol>
                <a:gridCol w="2101256">
                  <a:extLst>
                    <a:ext uri="{9D8B030D-6E8A-4147-A177-3AD203B41FA5}">
                      <a16:colId xmlns:a16="http://schemas.microsoft.com/office/drawing/2014/main" val="20004"/>
                    </a:ext>
                  </a:extLst>
                </a:gridCol>
              </a:tblGrid>
              <a:tr h="701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a:ln>
                            <a:noFill/>
                          </a:ln>
                          <a:solidFill>
                            <a:srgbClr val="3333FF"/>
                          </a:solidFill>
                          <a:effectLst/>
                          <a:latin typeface="Times New Roman" pitchFamily="18" charset="0"/>
                          <a:ea typeface="楷体_GB2312" pitchFamily="49" charset="-122"/>
                        </a:rPr>
                        <a:t>过程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rgbClr val="3333FF"/>
                          </a:solidFill>
                          <a:effectLst/>
                          <a:latin typeface="Times New Roman" pitchFamily="18" charset="0"/>
                          <a:ea typeface="楷体_GB2312" pitchFamily="49" charset="-122"/>
                        </a:rPr>
                        <a:t>过程方程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rgbClr val="3333FF"/>
                          </a:solidFill>
                          <a:effectLst/>
                          <a:latin typeface="楷体_GB2312" pitchFamily="49" charset="-122"/>
                          <a:ea typeface="楷体_GB2312" pitchFamily="49" charset="-122"/>
                          <a:sym typeface="Symbol" pitchFamily="18" charset="2"/>
                        </a:rPr>
                        <a:t></a:t>
                      </a:r>
                      <a:r>
                        <a:rPr kumimoji="1" lang="en-US" altLang="zh-CN" sz="1800" b="1" i="1" u="none" strike="noStrike" cap="none" normalizeH="0" baseline="0">
                          <a:ln>
                            <a:noFill/>
                          </a:ln>
                          <a:solidFill>
                            <a:srgbClr val="3333FF"/>
                          </a:solidFill>
                          <a:effectLst/>
                          <a:latin typeface="楷体_GB2312" pitchFamily="49" charset="-122"/>
                          <a:ea typeface="楷体_GB2312" pitchFamily="49" charset="-122"/>
                          <a:sym typeface="Symbol" pitchFamily="18" charset="2"/>
                        </a:rPr>
                        <a:t>E</a:t>
                      </a:r>
                      <a:r>
                        <a:rPr kumimoji="1" lang="zh-CN" altLang="en-US" sz="1800" b="1" i="0" u="none" strike="noStrike" cap="none" normalizeH="0" baseline="0">
                          <a:ln>
                            <a:noFill/>
                          </a:ln>
                          <a:solidFill>
                            <a:srgbClr val="3333FF"/>
                          </a:solidFill>
                          <a:effectLst/>
                          <a:latin typeface="楷体_GB2312" pitchFamily="49" charset="-122"/>
                          <a:ea typeface="楷体_GB2312" pitchFamily="49" charset="-122"/>
                          <a:sym typeface="Symbol" pitchFamily="18" charset="2"/>
                        </a:rPr>
                        <a:t>＝</a:t>
                      </a:r>
                      <a:r>
                        <a:rPr kumimoji="1" lang="en-US" altLang="zh-CN" sz="1800" b="1" i="1" u="none" strike="noStrike" cap="none" normalizeH="0" baseline="0">
                          <a:ln>
                            <a:noFill/>
                          </a:ln>
                          <a:solidFill>
                            <a:srgbClr val="3333FF"/>
                          </a:solidFill>
                          <a:effectLst/>
                          <a:latin typeface="楷体_GB2312" pitchFamily="49" charset="-122"/>
                          <a:ea typeface="楷体_GB2312" pitchFamily="49" charset="-122"/>
                          <a:sym typeface="Symbol" pitchFamily="18" charset="2"/>
                        </a:rPr>
                        <a:t>E</a:t>
                      </a:r>
                      <a:r>
                        <a:rPr kumimoji="1" lang="zh-CN" altLang="en-US" sz="1800" b="1" i="0" u="none" strike="noStrike" cap="none" normalizeH="0" baseline="-25000">
                          <a:ln>
                            <a:noFill/>
                          </a:ln>
                          <a:solidFill>
                            <a:srgbClr val="3333FF"/>
                          </a:solidFill>
                          <a:effectLst/>
                          <a:latin typeface="楷体_GB2312" pitchFamily="49" charset="-122"/>
                          <a:ea typeface="楷体_GB2312" pitchFamily="49" charset="-122"/>
                          <a:sym typeface="Symbol" pitchFamily="18" charset="2"/>
                        </a:rPr>
                        <a:t>末态</a:t>
                      </a:r>
                      <a:r>
                        <a:rPr kumimoji="1" lang="zh-CN" altLang="en-US" sz="1800" b="1" i="0" u="none" strike="noStrike" cap="none" normalizeH="0" baseline="0">
                          <a:ln>
                            <a:noFill/>
                          </a:ln>
                          <a:solidFill>
                            <a:srgbClr val="3333FF"/>
                          </a:solidFill>
                          <a:effectLst/>
                          <a:latin typeface="楷体_GB2312" pitchFamily="49" charset="-122"/>
                          <a:ea typeface="楷体_GB2312" pitchFamily="49" charset="-122"/>
                          <a:sym typeface="Symbol" pitchFamily="18" charset="2"/>
                        </a:rPr>
                        <a:t>－</a:t>
                      </a:r>
                      <a:r>
                        <a:rPr kumimoji="1" lang="en-US" altLang="zh-CN" sz="1800" b="1" i="1" u="none" strike="noStrike" cap="none" normalizeH="0" baseline="0">
                          <a:ln>
                            <a:noFill/>
                          </a:ln>
                          <a:solidFill>
                            <a:srgbClr val="3333FF"/>
                          </a:solidFill>
                          <a:effectLst/>
                          <a:latin typeface="楷体_GB2312" pitchFamily="49" charset="-122"/>
                          <a:ea typeface="楷体_GB2312" pitchFamily="49" charset="-122"/>
                          <a:sym typeface="Symbol" pitchFamily="18" charset="2"/>
                        </a:rPr>
                        <a:t>E</a:t>
                      </a:r>
                      <a:r>
                        <a:rPr kumimoji="1" lang="zh-CN" altLang="en-US" sz="1800" b="1" i="0" u="none" strike="noStrike" cap="none" normalizeH="0" baseline="-25000">
                          <a:ln>
                            <a:noFill/>
                          </a:ln>
                          <a:solidFill>
                            <a:srgbClr val="3333FF"/>
                          </a:solidFill>
                          <a:effectLst/>
                          <a:latin typeface="楷体_GB2312" pitchFamily="49" charset="-122"/>
                          <a:ea typeface="楷体_GB2312" pitchFamily="49" charset="-122"/>
                          <a:sym typeface="Symbol" pitchFamily="18" charset="2"/>
                        </a:rPr>
                        <a:t>初态</a:t>
                      </a:r>
                      <a:endParaRPr kumimoji="1" lang="zh-CN" altLang="en-US" sz="1800" b="1" i="0" u="none" strike="noStrike" cap="none" normalizeH="0" baseline="0">
                        <a:ln>
                          <a:noFill/>
                        </a:ln>
                        <a:solidFill>
                          <a:srgbClr val="3333FF"/>
                        </a:solidFill>
                        <a:effectLst/>
                        <a:latin typeface="楷体_GB2312" pitchFamily="49" charset="-122"/>
                        <a:ea typeface="楷体_GB2312" pitchFamily="49" charset="-122"/>
                        <a:sym typeface="Symbol" pitchFamily="18" charset="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rgbClr val="3333FF"/>
                          </a:solidFill>
                          <a:effectLst/>
                          <a:latin typeface="Times New Roman" pitchFamily="18" charset="0"/>
                          <a:ea typeface="楷体_GB2312" pitchFamily="49" charset="-122"/>
                        </a:rPr>
                        <a:t>（与过程无关）</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a:ln>
                            <a:noFill/>
                          </a:ln>
                          <a:solidFill>
                            <a:srgbClr val="3333FF"/>
                          </a:solidFill>
                          <a:effectLst/>
                          <a:latin typeface="Times New Roman" pitchFamily="18" charset="0"/>
                          <a:ea typeface="楷体_GB2312" pitchFamily="49"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a:ln>
                            <a:noFill/>
                          </a:ln>
                          <a:solidFill>
                            <a:srgbClr val="3333FF"/>
                          </a:solidFill>
                          <a:effectLst/>
                          <a:latin typeface="Times New Roman" pitchFamily="18" charset="0"/>
                          <a:ea typeface="楷体_GB2312" pitchFamily="49" charset="-122"/>
                        </a:rPr>
                        <a:t>Q</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67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rgbClr val="00B050"/>
                          </a:solidFill>
                          <a:effectLst/>
                          <a:latin typeface="Times New Roman" pitchFamily="18" charset="0"/>
                          <a:ea typeface="楷体_GB2312" pitchFamily="49" charset="-122"/>
                        </a:rPr>
                        <a:t>等容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rPr>
                        <a:t>pT</a:t>
                      </a:r>
                      <a:r>
                        <a:rPr kumimoji="1" lang="zh-CN" altLang="en-US" sz="1800" b="1" i="0" u="none" strike="noStrike" cap="none" normalizeH="0" baseline="30000" dirty="0">
                          <a:ln>
                            <a:noFill/>
                          </a:ln>
                          <a:solidFill>
                            <a:schemeClr val="tx1"/>
                          </a:solidFill>
                          <a:effectLst/>
                          <a:latin typeface="Times New Roman" pitchFamily="18" charset="0"/>
                          <a:ea typeface="楷体_GB2312" pitchFamily="49" charset="-122"/>
                        </a:rPr>
                        <a:t>－</a:t>
                      </a:r>
                      <a:r>
                        <a:rPr kumimoji="1" lang="en-US" altLang="zh-CN" sz="1800" b="1" i="0" u="none" strike="noStrike" cap="none" normalizeH="0" baseline="30000" dirty="0">
                          <a:ln>
                            <a:noFill/>
                          </a:ln>
                          <a:solidFill>
                            <a:schemeClr val="tx1"/>
                          </a:solidFill>
                          <a:effectLst/>
                          <a:latin typeface="Times New Roman" pitchFamily="18" charset="0"/>
                          <a:ea typeface="楷体_GB2312" pitchFamily="49" charset="-122"/>
                        </a:rPr>
                        <a:t>1</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rPr>
                        <a:t>=</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rPr>
                        <a:t>常数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C</a:t>
                      </a:r>
                      <a:r>
                        <a:rPr kumimoji="1" lang="en-US" altLang="zh-CN" sz="1800" b="1" i="1" u="none" strike="noStrike" cap="none" normalizeH="0" baseline="-25000" dirty="0" err="1">
                          <a:ln>
                            <a:noFill/>
                          </a:ln>
                          <a:solidFill>
                            <a:schemeClr val="tx1"/>
                          </a:solidFill>
                          <a:effectLst/>
                          <a:latin typeface="Times New Roman" pitchFamily="18" charset="0"/>
                          <a:ea typeface="楷体_GB2312" pitchFamily="49" charset="-122"/>
                          <a:sym typeface="Symbol" pitchFamily="18" charset="2"/>
                        </a:rPr>
                        <a:t>V,m</a:t>
                      </a:r>
                      <a:r>
                        <a:rPr kumimoji="1" lang="en-US" altLang="zh-CN" sz="1800" b="1" i="1"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 </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 </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endParaRPr kumimoji="1" lang="zh-CN" altLang="en-US"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楷体_GB2312"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C</a:t>
                      </a:r>
                      <a:r>
                        <a:rPr kumimoji="1" lang="en-US" altLang="zh-CN" sz="1800" b="1" i="1" u="none" strike="noStrike" cap="none" normalizeH="0" baseline="-25000" dirty="0" err="1">
                          <a:ln>
                            <a:noFill/>
                          </a:ln>
                          <a:solidFill>
                            <a:schemeClr val="tx1"/>
                          </a:solidFill>
                          <a:effectLst/>
                          <a:latin typeface="Times New Roman" pitchFamily="18" charset="0"/>
                          <a:ea typeface="楷体_GB2312" pitchFamily="49" charset="-122"/>
                          <a:sym typeface="Symbol" pitchFamily="18" charset="2"/>
                        </a:rPr>
                        <a:t>V,m</a:t>
                      </a:r>
                      <a:r>
                        <a:rPr kumimoji="1" lang="en-US" altLang="zh-CN" sz="1800" b="1" i="1"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 </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 </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rgbClr val="00B050"/>
                          </a:solidFill>
                          <a:effectLst/>
                          <a:latin typeface="Times New Roman" pitchFamily="18" charset="0"/>
                          <a:ea typeface="楷体_GB2312" pitchFamily="49" charset="-122"/>
                        </a:rPr>
                        <a:t>等压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a:ln>
                            <a:noFill/>
                          </a:ln>
                          <a:solidFill>
                            <a:schemeClr val="tx1"/>
                          </a:solidFill>
                          <a:effectLst/>
                          <a:latin typeface="Times New Roman" pitchFamily="18" charset="0"/>
                          <a:ea typeface="楷体_GB2312" pitchFamily="49" charset="-122"/>
                        </a:rPr>
                        <a:t>VT</a:t>
                      </a:r>
                      <a:r>
                        <a:rPr kumimoji="1" lang="zh-CN" altLang="en-US" sz="1800" b="1" i="0" u="none" strike="noStrike" cap="none" normalizeH="0" baseline="30000">
                          <a:ln>
                            <a:noFill/>
                          </a:ln>
                          <a:solidFill>
                            <a:schemeClr val="tx1"/>
                          </a:solidFill>
                          <a:effectLst/>
                          <a:latin typeface="Times New Roman" pitchFamily="18" charset="0"/>
                          <a:ea typeface="楷体_GB2312" pitchFamily="49" charset="-122"/>
                        </a:rPr>
                        <a:t>－</a:t>
                      </a:r>
                      <a:r>
                        <a:rPr kumimoji="1" lang="en-US" altLang="zh-CN" sz="1800" b="1" i="0" u="none" strike="noStrike" cap="none" normalizeH="0" baseline="30000">
                          <a:ln>
                            <a:noFill/>
                          </a:ln>
                          <a:solidFill>
                            <a:schemeClr val="tx1"/>
                          </a:solidFill>
                          <a:effectLst/>
                          <a:latin typeface="Times New Roman" pitchFamily="18" charset="0"/>
                          <a:ea typeface="楷体_GB2312" pitchFamily="49" charset="-122"/>
                        </a:rPr>
                        <a:t>1</a:t>
                      </a:r>
                      <a:r>
                        <a:rPr kumimoji="1" lang="en-US" altLang="zh-CN" sz="1800" b="1" i="0" u="none" strike="noStrike" cap="none" normalizeH="0" baseline="0">
                          <a:ln>
                            <a:noFill/>
                          </a:ln>
                          <a:solidFill>
                            <a:schemeClr val="tx1"/>
                          </a:solidFill>
                          <a:effectLst/>
                          <a:latin typeface="Times New Roman" pitchFamily="18" charset="0"/>
                          <a:ea typeface="楷体_GB2312" pitchFamily="49" charset="-122"/>
                        </a:rPr>
                        <a:t>=</a:t>
                      </a:r>
                      <a:r>
                        <a:rPr kumimoji="1" lang="zh-CN" altLang="en-US" sz="1800" b="1" i="0" u="none" strike="noStrike" cap="none" normalizeH="0" baseline="0">
                          <a:ln>
                            <a:noFill/>
                          </a:ln>
                          <a:solidFill>
                            <a:schemeClr val="tx1"/>
                          </a:solidFill>
                          <a:effectLst/>
                          <a:latin typeface="Times New Roman" pitchFamily="18" charset="0"/>
                          <a:ea typeface="楷体_GB2312" pitchFamily="49" charset="-122"/>
                        </a:rPr>
                        <a:t>常数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C</a:t>
                      </a:r>
                      <a:r>
                        <a:rPr kumimoji="1" lang="en-US" altLang="zh-CN" sz="1800" b="1" i="1" u="none" strike="noStrike" cap="none" normalizeH="0" baseline="-25000" dirty="0" err="1">
                          <a:ln>
                            <a:noFill/>
                          </a:ln>
                          <a:solidFill>
                            <a:schemeClr val="tx1"/>
                          </a:solidFill>
                          <a:effectLst/>
                          <a:latin typeface="Times New Roman" pitchFamily="18" charset="0"/>
                          <a:ea typeface="楷体_GB2312" pitchFamily="49" charset="-122"/>
                          <a:sym typeface="Symbol" pitchFamily="18" charset="2"/>
                        </a:rPr>
                        <a:t>V,m</a:t>
                      </a:r>
                      <a:r>
                        <a:rPr kumimoji="1" lang="en-US" altLang="zh-CN" sz="1800" b="1" i="1"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 </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 </a:t>
                      </a:r>
                      <a:r>
                        <a:rPr kumimoji="1" lang="en-US" altLang="zh-CN" sz="1800" b="1" i="1" u="none" strike="noStrike" cap="none" normalizeH="0" baseline="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a:ln>
                            <a:noFill/>
                          </a:ln>
                          <a:solidFill>
                            <a:schemeClr val="tx1"/>
                          </a:solidFill>
                          <a:effectLst/>
                          <a:latin typeface="Times New Roman" pitchFamily="18" charset="0"/>
                          <a:ea typeface="楷体_GB2312" pitchFamily="49" charset="-122"/>
                          <a:sym typeface="Symbol" pitchFamily="18" charset="2"/>
                        </a:rPr>
                        <a:t>1</a:t>
                      </a:r>
                      <a:r>
                        <a:rPr kumimoji="1" lang="zh-CN" altLang="en-US"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rPr>
                        <a:t>）</a:t>
                      </a:r>
                      <a:endParaRPr kumimoji="1" lang="zh-CN" altLang="en-US"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a:ln>
                            <a:noFill/>
                          </a:ln>
                          <a:solidFill>
                            <a:schemeClr val="tx1"/>
                          </a:solidFill>
                          <a:effectLst/>
                          <a:latin typeface="Times New Roman" pitchFamily="18" charset="0"/>
                          <a:ea typeface="楷体_GB2312" pitchFamily="49" charset="-122"/>
                        </a:rPr>
                        <a:t>P(V</a:t>
                      </a:r>
                      <a:r>
                        <a:rPr kumimoji="1" lang="en-US" altLang="zh-CN" sz="1800" b="1" i="1" u="none" strike="noStrike" cap="none" normalizeH="0" baseline="-25000">
                          <a:ln>
                            <a:noFill/>
                          </a:ln>
                          <a:solidFill>
                            <a:schemeClr val="tx1"/>
                          </a:solidFill>
                          <a:effectLst/>
                          <a:latin typeface="Times New Roman" pitchFamily="18" charset="0"/>
                          <a:ea typeface="楷体_GB2312" pitchFamily="49" charset="-122"/>
                        </a:rPr>
                        <a:t>2</a:t>
                      </a:r>
                      <a:r>
                        <a:rPr kumimoji="1" lang="en-US" altLang="zh-CN" sz="1800" b="1" i="1" u="none" strike="noStrike" cap="none" normalizeH="0" baseline="0">
                          <a:ln>
                            <a:noFill/>
                          </a:ln>
                          <a:solidFill>
                            <a:schemeClr val="tx1"/>
                          </a:solidFill>
                          <a:effectLst/>
                          <a:latin typeface="Times New Roman" pitchFamily="18" charset="0"/>
                          <a:ea typeface="楷体_GB2312" pitchFamily="49" charset="-122"/>
                        </a:rPr>
                        <a:t>-V</a:t>
                      </a:r>
                      <a:r>
                        <a:rPr kumimoji="1" lang="en-US" altLang="zh-CN" sz="1800" b="1" i="1" u="none" strike="noStrike" cap="none" normalizeH="0" baseline="-25000">
                          <a:ln>
                            <a:noFill/>
                          </a:ln>
                          <a:solidFill>
                            <a:schemeClr val="tx1"/>
                          </a:solidFill>
                          <a:effectLst/>
                          <a:latin typeface="Times New Roman" pitchFamily="18" charset="0"/>
                          <a:ea typeface="楷体_GB2312" pitchFamily="49" charset="-122"/>
                        </a:rPr>
                        <a:t>1</a:t>
                      </a:r>
                      <a:r>
                        <a:rPr kumimoji="1" lang="en-US" altLang="zh-CN" sz="1800" b="1" i="1" u="none" strike="noStrike" cap="none" normalizeH="0" baseline="0">
                          <a:ln>
                            <a:noFill/>
                          </a:ln>
                          <a:solidFill>
                            <a:schemeClr val="tx1"/>
                          </a:solidFill>
                          <a:effectLst/>
                          <a:latin typeface="Times New Roman" pitchFamily="18" charset="0"/>
                          <a:ea typeface="楷体_GB2312" pitchFamily="49" charset="-122"/>
                        </a:rPr>
                        <a:t>)</a:t>
                      </a:r>
                      <a:endParaRPr kumimoji="1" lang="en-US" altLang="zh-CN"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C</a:t>
                      </a:r>
                      <a:r>
                        <a:rPr kumimoji="1" lang="en-US" altLang="zh-CN" sz="1800" b="1" i="1" u="none" strike="noStrike" cap="none" normalizeH="0" baseline="-25000" dirty="0" err="1">
                          <a:ln>
                            <a:noFill/>
                          </a:ln>
                          <a:solidFill>
                            <a:schemeClr val="tx1"/>
                          </a:solidFill>
                          <a:effectLst/>
                          <a:latin typeface="Times New Roman" pitchFamily="18" charset="0"/>
                          <a:ea typeface="楷体_GB2312" pitchFamily="49" charset="-122"/>
                          <a:sym typeface="Symbol" pitchFamily="18" charset="2"/>
                        </a:rPr>
                        <a:t>P,m</a:t>
                      </a:r>
                      <a:r>
                        <a:rPr kumimoji="1" lang="en-US" altLang="zh-CN" sz="1800" b="1" i="0" u="none" strike="noStrike" cap="none" normalizeH="0" baseline="0" err="1">
                          <a:ln>
                            <a:noFill/>
                          </a:ln>
                          <a:solidFill>
                            <a:schemeClr val="tx1"/>
                          </a:solidFill>
                          <a:effectLst/>
                          <a:latin typeface="楷体_GB2312" pitchFamily="49" charset="-122"/>
                          <a:ea typeface="楷体_GB2312" pitchFamily="49" charset="-122"/>
                          <a:sym typeface="Symbol" pitchFamily="18" charset="2"/>
                        </a:rPr>
                        <a:t></a:t>
                      </a:r>
                      <a:r>
                        <a:rPr kumimoji="1" lang="en-US" altLang="zh-CN" sz="1800" b="1" i="1" u="none" strike="noStrike" cap="none" normalizeH="0" baseline="0">
                          <a:ln>
                            <a:noFill/>
                          </a:ln>
                          <a:solidFill>
                            <a:schemeClr val="tx1"/>
                          </a:solidFill>
                          <a:effectLst/>
                          <a:latin typeface="Times New Roman" pitchFamily="18" charset="0"/>
                          <a:ea typeface="楷体_GB2312" pitchFamily="49" charset="-122"/>
                          <a:sym typeface="Symbol" pitchFamily="18" charset="2"/>
                        </a:rPr>
                        <a:t>T</a:t>
                      </a:r>
                      <a:endPar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6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rgbClr val="00B050"/>
                          </a:solidFill>
                          <a:effectLst/>
                          <a:latin typeface="Times New Roman" pitchFamily="18" charset="0"/>
                          <a:ea typeface="楷体_GB2312" pitchFamily="49" charset="-122"/>
                        </a:rPr>
                        <a:t>等温</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a:ln>
                            <a:noFill/>
                          </a:ln>
                          <a:solidFill>
                            <a:schemeClr val="tx1"/>
                          </a:solidFill>
                          <a:effectLst/>
                          <a:latin typeface="Times New Roman" pitchFamily="18" charset="0"/>
                          <a:ea typeface="楷体_GB2312" pitchFamily="49" charset="-122"/>
                        </a:rPr>
                        <a:t>pV</a:t>
                      </a:r>
                      <a:r>
                        <a:rPr kumimoji="1" lang="zh-CN" altLang="en-US" sz="1800" b="1" i="0" u="none" strike="noStrike" cap="none" normalizeH="0" baseline="0">
                          <a:ln>
                            <a:noFill/>
                          </a:ln>
                          <a:solidFill>
                            <a:schemeClr val="tx1"/>
                          </a:solidFill>
                          <a:effectLst/>
                          <a:latin typeface="Times New Roman" pitchFamily="18" charset="0"/>
                          <a:ea typeface="楷体_GB2312" pitchFamily="49" charset="-122"/>
                        </a:rPr>
                        <a:t>＝常数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itchFamily="18" charset="0"/>
                          <a:ea typeface="楷体_GB2312"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RT</a:t>
                      </a:r>
                      <a:r>
                        <a:rPr kumimoji="1" lang="en-US" altLang="zh-CN" sz="1800" b="1" i="0"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ln</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(V</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/V</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RT</a:t>
                      </a:r>
                      <a:r>
                        <a:rPr kumimoji="1" lang="en-US" altLang="zh-CN" sz="1800" b="1" i="0"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ln</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(P</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/P</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RT</a:t>
                      </a:r>
                      <a:r>
                        <a:rPr kumimoji="1" lang="en-US" altLang="zh-CN" sz="1800" b="1" i="0"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ln</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(V</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/V</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或</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RT</a:t>
                      </a:r>
                      <a:r>
                        <a:rPr kumimoji="1" lang="en-US" altLang="zh-CN" sz="1800" b="1" i="0"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ln</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(P</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/P</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endPar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7412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rgbClr val="00B050"/>
                          </a:solidFill>
                          <a:effectLst/>
                          <a:latin typeface="Times New Roman" pitchFamily="18" charset="0"/>
                          <a:ea typeface="楷体_GB2312" pitchFamily="49" charset="-122"/>
                        </a:rPr>
                        <a:t>绝热</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a:ln>
                            <a:noFill/>
                          </a:ln>
                          <a:solidFill>
                            <a:schemeClr val="tx1"/>
                          </a:solidFill>
                          <a:effectLst/>
                          <a:latin typeface="Times New Roman" pitchFamily="18" charset="0"/>
                          <a:ea typeface="楷体_GB2312" pitchFamily="49" charset="-122"/>
                        </a:rPr>
                        <a:t>pV</a:t>
                      </a:r>
                      <a:r>
                        <a:rPr kumimoji="1" lang="en-US" altLang="zh-CN" sz="1800" b="1" i="1" u="none" strike="noStrike" cap="none" normalizeH="0" baseline="30000">
                          <a:ln>
                            <a:noFill/>
                          </a:ln>
                          <a:solidFill>
                            <a:schemeClr val="tx1"/>
                          </a:solidFill>
                          <a:effectLst/>
                          <a:latin typeface="Times New Roman" pitchFamily="18" charset="0"/>
                          <a:ea typeface="楷体_GB2312" pitchFamily="49" charset="-122"/>
                          <a:sym typeface="Symbol" pitchFamily="18" charset="2"/>
                        </a:rPr>
                        <a:t></a:t>
                      </a:r>
                      <a:r>
                        <a:rPr kumimoji="1" lang="zh-CN" altLang="en-US" sz="1800" b="1" i="0" u="none" strike="noStrike" cap="none" normalizeH="0" baseline="0">
                          <a:ln>
                            <a:noFill/>
                          </a:ln>
                          <a:solidFill>
                            <a:schemeClr val="tx1"/>
                          </a:solidFill>
                          <a:effectLst/>
                          <a:latin typeface="Times New Roman" pitchFamily="18" charset="0"/>
                          <a:ea typeface="楷体_GB2312" pitchFamily="49" charset="-122"/>
                        </a:rPr>
                        <a:t>＝常数</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a:ln>
                            <a:noFill/>
                          </a:ln>
                          <a:solidFill>
                            <a:schemeClr val="tx1"/>
                          </a:solidFill>
                          <a:effectLst/>
                          <a:latin typeface="Times New Roman" pitchFamily="18" charset="0"/>
                          <a:ea typeface="楷体_GB2312" pitchFamily="49" charset="-122"/>
                        </a:rPr>
                        <a:t>TV</a:t>
                      </a:r>
                      <a:r>
                        <a:rPr kumimoji="1" lang="en-US" altLang="zh-CN" sz="1800" b="1" i="1" u="none" strike="noStrike" cap="none" normalizeH="0" baseline="30000">
                          <a:ln>
                            <a:noFill/>
                          </a:ln>
                          <a:solidFill>
                            <a:schemeClr val="tx1"/>
                          </a:solidFill>
                          <a:effectLst/>
                          <a:latin typeface="Times New Roman" pitchFamily="18" charset="0"/>
                          <a:ea typeface="楷体_GB2312" pitchFamily="49" charset="-122"/>
                          <a:sym typeface="Symbol" pitchFamily="18" charset="2"/>
                        </a:rPr>
                        <a:t>-1</a:t>
                      </a:r>
                      <a:r>
                        <a:rPr kumimoji="1" lang="zh-CN" altLang="en-US" sz="1800" b="1" i="0" u="none" strike="noStrike" cap="none" normalizeH="0" baseline="0">
                          <a:ln>
                            <a:noFill/>
                          </a:ln>
                          <a:solidFill>
                            <a:schemeClr val="tx1"/>
                          </a:solidFill>
                          <a:effectLst/>
                          <a:latin typeface="Times New Roman" pitchFamily="18" charset="0"/>
                          <a:ea typeface="楷体_GB2312" pitchFamily="49" charset="-122"/>
                        </a:rPr>
                        <a:t>＝常数</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a:ln>
                            <a:noFill/>
                          </a:ln>
                          <a:solidFill>
                            <a:schemeClr val="tx1"/>
                          </a:solidFill>
                          <a:effectLst/>
                          <a:latin typeface="Times New Roman" pitchFamily="18" charset="0"/>
                          <a:ea typeface="楷体_GB2312" pitchFamily="49" charset="-122"/>
                        </a:rPr>
                        <a:t>T </a:t>
                      </a:r>
                      <a:r>
                        <a:rPr kumimoji="1" lang="en-US" altLang="zh-CN" sz="1800" b="1" i="1" u="none" strike="noStrike" cap="none" normalizeH="0" baseline="30000">
                          <a:ln>
                            <a:noFill/>
                          </a:ln>
                          <a:solidFill>
                            <a:schemeClr val="tx1"/>
                          </a:solidFill>
                          <a:effectLst/>
                          <a:latin typeface="Times New Roman" pitchFamily="18" charset="0"/>
                          <a:ea typeface="楷体_GB2312" pitchFamily="49" charset="-122"/>
                        </a:rPr>
                        <a:t>- </a:t>
                      </a:r>
                      <a:r>
                        <a:rPr kumimoji="1" lang="en-US" altLang="zh-CN" sz="1800" b="1" i="1" u="none" strike="noStrike" cap="none" normalizeH="0" baseline="3000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30000">
                          <a:ln>
                            <a:noFill/>
                          </a:ln>
                          <a:solidFill>
                            <a:schemeClr val="tx1"/>
                          </a:solidFill>
                          <a:effectLst/>
                          <a:latin typeface="Times New Roman" pitchFamily="18" charset="0"/>
                          <a:ea typeface="楷体_GB2312" pitchFamily="49" charset="-122"/>
                        </a:rPr>
                        <a:t> </a:t>
                      </a:r>
                      <a:r>
                        <a:rPr kumimoji="1" lang="en-US" altLang="zh-CN" sz="1800" b="1" i="1" u="none" strike="noStrike" cap="none" normalizeH="0" baseline="0">
                          <a:ln>
                            <a:noFill/>
                          </a:ln>
                          <a:solidFill>
                            <a:schemeClr val="tx1"/>
                          </a:solidFill>
                          <a:effectLst/>
                          <a:latin typeface="Times New Roman" pitchFamily="18" charset="0"/>
                          <a:ea typeface="楷体_GB2312" pitchFamily="49" charset="-122"/>
                        </a:rPr>
                        <a:t>V</a:t>
                      </a:r>
                      <a:r>
                        <a:rPr kumimoji="1" lang="en-US" altLang="zh-CN" sz="1800" b="1" i="1" u="none" strike="noStrike" cap="none" normalizeH="0" baseline="30000">
                          <a:ln>
                            <a:noFill/>
                          </a:ln>
                          <a:solidFill>
                            <a:schemeClr val="tx1"/>
                          </a:solidFill>
                          <a:effectLst/>
                          <a:latin typeface="Times New Roman" pitchFamily="18" charset="0"/>
                          <a:ea typeface="楷体_GB2312" pitchFamily="49" charset="-122"/>
                          <a:sym typeface="Symbol" pitchFamily="18" charset="2"/>
                        </a:rPr>
                        <a:t>-1</a:t>
                      </a:r>
                      <a:r>
                        <a:rPr kumimoji="1" lang="zh-CN" altLang="en-US" sz="1800" b="1" i="0" u="none" strike="noStrike" cap="none" normalizeH="0" baseline="0">
                          <a:ln>
                            <a:noFill/>
                          </a:ln>
                          <a:solidFill>
                            <a:schemeClr val="tx1"/>
                          </a:solidFill>
                          <a:effectLst/>
                          <a:latin typeface="Times New Roman" pitchFamily="18" charset="0"/>
                          <a:ea typeface="楷体_GB2312" pitchFamily="49" charset="-122"/>
                        </a:rPr>
                        <a:t>＝常数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C</a:t>
                      </a:r>
                      <a:r>
                        <a:rPr kumimoji="1" lang="en-US" altLang="zh-CN" sz="1800" b="1" i="1" u="none" strike="noStrike" cap="none" normalizeH="0" baseline="-25000" dirty="0" err="1">
                          <a:ln>
                            <a:noFill/>
                          </a:ln>
                          <a:solidFill>
                            <a:schemeClr val="tx1"/>
                          </a:solidFill>
                          <a:effectLst/>
                          <a:latin typeface="Times New Roman" pitchFamily="18" charset="0"/>
                          <a:ea typeface="楷体_GB2312" pitchFamily="49" charset="-122"/>
                          <a:sym typeface="Symbol" pitchFamily="18" charset="2"/>
                        </a:rPr>
                        <a:t>V,m</a:t>
                      </a:r>
                      <a:r>
                        <a:rPr kumimoji="1" lang="en-US" altLang="zh-CN" sz="1800" b="1" i="1"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 </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 </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endParaRPr kumimoji="1" lang="zh-CN" altLang="en-US"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-C</a:t>
                      </a:r>
                      <a:r>
                        <a:rPr kumimoji="1" lang="en-US" altLang="zh-CN" sz="1800" b="1" i="1"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V ,m</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 </a:t>
                      </a:r>
                      <a:r>
                        <a:rPr kumimoji="1" lang="en-US" altLang="zh-CN" sz="1800" b="1" i="1" u="none" strike="noStrike" cap="none" normalizeH="0" baseline="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a:ln>
                            <a:noFill/>
                          </a:ln>
                          <a:solidFill>
                            <a:schemeClr val="tx1"/>
                          </a:solidFill>
                          <a:effectLst/>
                          <a:latin typeface="Times New Roman" pitchFamily="18" charset="0"/>
                          <a:ea typeface="楷体_GB2312" pitchFamily="49" charset="-122"/>
                          <a:sym typeface="Symbol" pitchFamily="18" charset="2"/>
                        </a:rPr>
                        <a:t>1</a:t>
                      </a:r>
                      <a:r>
                        <a:rPr kumimoji="1" lang="zh-CN" altLang="en-US"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rPr>
                        <a:t>）</a:t>
                      </a:r>
                      <a:endParaRPr kumimoji="1" lang="en-US" altLang="zh-CN"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rPr>
                        <a:t>或</a:t>
                      </a:r>
                      <a:endParaRPr kumimoji="1" lang="en-US" altLang="zh-CN"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P</a:t>
                      </a:r>
                      <a:r>
                        <a:rPr kumimoji="1" lang="en-US" altLang="zh-CN" sz="1800" b="1" i="1"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V</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 </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P</a:t>
                      </a:r>
                      <a:r>
                        <a:rPr kumimoji="1" lang="en-US" altLang="zh-CN" sz="1800" b="1" i="1"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V</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65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a:ln>
                            <a:noFill/>
                          </a:ln>
                          <a:solidFill>
                            <a:srgbClr val="00B050"/>
                          </a:solidFill>
                          <a:effectLst/>
                          <a:latin typeface="Times New Roman" pitchFamily="18" charset="0"/>
                          <a:ea typeface="楷体_GB2312" pitchFamily="49" charset="-122"/>
                        </a:rPr>
                        <a:t>多方</a:t>
                      </a:r>
                      <a:r>
                        <a:rPr kumimoji="1" lang="en-US" altLang="zh-CN" sz="1800" b="1" i="0" u="none" strike="noStrike" cap="none" normalizeH="0" baseline="0" dirty="0">
                          <a:ln>
                            <a:noFill/>
                          </a:ln>
                          <a:solidFill>
                            <a:srgbClr val="00B050"/>
                          </a:solidFill>
                          <a:effectLst/>
                          <a:latin typeface="Times New Roman" pitchFamily="18" charset="0"/>
                          <a:ea typeface="楷体_GB2312" pitchFamily="49" charset="-122"/>
                        </a:rPr>
                        <a:t>*</a:t>
                      </a:r>
                      <a:endParaRPr kumimoji="1" lang="zh-CN" altLang="en-US" sz="1800" b="1" i="0" u="none" strike="noStrike" cap="none" normalizeH="0" baseline="0" dirty="0">
                        <a:ln>
                          <a:noFill/>
                        </a:ln>
                        <a:solidFill>
                          <a:srgbClr val="00B050"/>
                        </a:solidFill>
                        <a:effectLst/>
                        <a:latin typeface="Times New Roman" pitchFamily="18"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a:ln>
                            <a:noFill/>
                          </a:ln>
                          <a:solidFill>
                            <a:schemeClr val="tx1"/>
                          </a:solidFill>
                          <a:effectLst/>
                          <a:latin typeface="Times New Roman" pitchFamily="18" charset="0"/>
                          <a:ea typeface="楷体_GB2312" pitchFamily="49" charset="-122"/>
                        </a:rPr>
                        <a:t>pV</a:t>
                      </a:r>
                      <a:r>
                        <a:rPr kumimoji="1" lang="en-US" altLang="zh-CN" sz="1800" b="1" i="1" u="none" strike="noStrike" cap="none" normalizeH="0" baseline="30000">
                          <a:ln>
                            <a:noFill/>
                          </a:ln>
                          <a:solidFill>
                            <a:schemeClr val="tx1"/>
                          </a:solidFill>
                          <a:effectLst/>
                          <a:latin typeface="Times New Roman" pitchFamily="18" charset="0"/>
                          <a:ea typeface="楷体_GB2312" pitchFamily="49" charset="-122"/>
                        </a:rPr>
                        <a:t>n</a:t>
                      </a:r>
                      <a:r>
                        <a:rPr kumimoji="1" lang="zh-CN" altLang="en-US" sz="1800" b="1" i="0" u="none" strike="noStrike" cap="none" normalizeH="0" baseline="0">
                          <a:ln>
                            <a:noFill/>
                          </a:ln>
                          <a:solidFill>
                            <a:schemeClr val="tx1"/>
                          </a:solidFill>
                          <a:effectLst/>
                          <a:latin typeface="Times New Roman" pitchFamily="18" charset="0"/>
                          <a:ea typeface="楷体_GB2312" pitchFamily="49" charset="-122"/>
                        </a:rPr>
                        <a:t>＝常数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C</a:t>
                      </a:r>
                      <a:r>
                        <a:rPr kumimoji="1" lang="en-US" altLang="zh-CN" sz="1800" b="1" i="1" u="none" strike="noStrike" cap="none" normalizeH="0" baseline="-25000" dirty="0" err="1">
                          <a:ln>
                            <a:noFill/>
                          </a:ln>
                          <a:solidFill>
                            <a:schemeClr val="tx1"/>
                          </a:solidFill>
                          <a:effectLst/>
                          <a:latin typeface="Times New Roman" pitchFamily="18" charset="0"/>
                          <a:ea typeface="楷体_GB2312" pitchFamily="49" charset="-122"/>
                          <a:sym typeface="Symbol" pitchFamily="18" charset="2"/>
                        </a:rPr>
                        <a:t>V,m</a:t>
                      </a:r>
                      <a:r>
                        <a:rPr kumimoji="1" lang="en-US" altLang="zh-CN" sz="1800" b="1" i="1"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 </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 </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a:ln>
                            <a:noFill/>
                          </a:ln>
                          <a:solidFill>
                            <a:schemeClr val="tx1"/>
                          </a:solidFill>
                          <a:effectLst/>
                          <a:latin typeface="Times New Roman" pitchFamily="18" charset="0"/>
                          <a:ea typeface="楷体_GB2312" pitchFamily="49" charset="-122"/>
                          <a:sym typeface="Symbol" pitchFamily="18" charset="2"/>
                        </a:rPr>
                        <a:t>P</a:t>
                      </a:r>
                      <a:r>
                        <a:rPr kumimoji="1" lang="en-US" altLang="zh-CN" sz="1800" b="1" i="1" u="none" strike="noStrike" cap="none" normalizeH="0" baseline="-25000">
                          <a:ln>
                            <a:noFill/>
                          </a:ln>
                          <a:solidFill>
                            <a:schemeClr val="tx1"/>
                          </a:solidFill>
                          <a:effectLst/>
                          <a:latin typeface="Times New Roman" pitchFamily="18" charset="0"/>
                          <a:ea typeface="楷体_GB2312" pitchFamily="49" charset="-122"/>
                          <a:sym typeface="Symbol" pitchFamily="18" charset="2"/>
                        </a:rPr>
                        <a:t>2</a:t>
                      </a:r>
                      <a:r>
                        <a:rPr kumimoji="1" lang="en-US" altLang="zh-CN" sz="1800" b="1" i="1" u="none" strike="noStrike" cap="none" normalizeH="0" baseline="0">
                          <a:ln>
                            <a:noFill/>
                          </a:ln>
                          <a:solidFill>
                            <a:schemeClr val="tx1"/>
                          </a:solidFill>
                          <a:effectLst/>
                          <a:latin typeface="Times New Roman" pitchFamily="18" charset="0"/>
                          <a:ea typeface="楷体_GB2312" pitchFamily="49" charset="-122"/>
                          <a:sym typeface="Symbol" pitchFamily="18" charset="2"/>
                        </a:rPr>
                        <a:t>V</a:t>
                      </a:r>
                      <a:r>
                        <a:rPr kumimoji="1" lang="en-US" altLang="zh-CN" sz="1800" b="1" i="0" u="none" strike="noStrike" cap="none" normalizeH="0" baseline="-25000">
                          <a:ln>
                            <a:noFill/>
                          </a:ln>
                          <a:solidFill>
                            <a:schemeClr val="tx1"/>
                          </a:solidFill>
                          <a:effectLst/>
                          <a:latin typeface="Times New Roman" pitchFamily="18" charset="0"/>
                          <a:ea typeface="楷体_GB2312" pitchFamily="49" charset="-122"/>
                          <a:sym typeface="Symbol" pitchFamily="18" charset="2"/>
                        </a:rPr>
                        <a:t>2</a:t>
                      </a:r>
                      <a:r>
                        <a:rPr kumimoji="1" lang="en-US" altLang="zh-CN"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rPr>
                        <a:t>- </a:t>
                      </a:r>
                      <a:r>
                        <a:rPr kumimoji="1" lang="en-US" altLang="zh-CN" sz="1800" b="1" i="1" u="none" strike="noStrike" cap="none" normalizeH="0" baseline="0">
                          <a:ln>
                            <a:noFill/>
                          </a:ln>
                          <a:solidFill>
                            <a:schemeClr val="tx1"/>
                          </a:solidFill>
                          <a:effectLst/>
                          <a:latin typeface="Times New Roman" pitchFamily="18" charset="0"/>
                          <a:ea typeface="楷体_GB2312" pitchFamily="49" charset="-122"/>
                          <a:sym typeface="Symbol" pitchFamily="18" charset="2"/>
                        </a:rPr>
                        <a:t>P</a:t>
                      </a:r>
                      <a:r>
                        <a:rPr kumimoji="1" lang="en-US" altLang="zh-CN" sz="1800" b="1" i="1" u="none" strike="noStrike" cap="none" normalizeH="0" baseline="-25000">
                          <a:ln>
                            <a:noFill/>
                          </a:ln>
                          <a:solidFill>
                            <a:schemeClr val="tx1"/>
                          </a:solidFill>
                          <a:effectLst/>
                          <a:latin typeface="Times New Roman" pitchFamily="18" charset="0"/>
                          <a:ea typeface="楷体_GB2312" pitchFamily="49" charset="-122"/>
                          <a:sym typeface="Symbol" pitchFamily="18" charset="2"/>
                        </a:rPr>
                        <a:t>1</a:t>
                      </a:r>
                      <a:r>
                        <a:rPr kumimoji="1" lang="en-US" altLang="zh-CN" sz="1800" b="1" i="1" u="none" strike="noStrike" cap="none" normalizeH="0" baseline="0">
                          <a:ln>
                            <a:noFill/>
                          </a:ln>
                          <a:solidFill>
                            <a:schemeClr val="tx1"/>
                          </a:solidFill>
                          <a:effectLst/>
                          <a:latin typeface="Times New Roman" pitchFamily="18" charset="0"/>
                          <a:ea typeface="楷体_GB2312" pitchFamily="49" charset="-122"/>
                          <a:sym typeface="Symbol" pitchFamily="18" charset="2"/>
                        </a:rPr>
                        <a:t>V</a:t>
                      </a:r>
                      <a:r>
                        <a:rPr kumimoji="1" lang="en-US" altLang="zh-CN" sz="1800" b="1" i="0" u="none" strike="noStrike" cap="none" normalizeH="0" baseline="-25000">
                          <a:ln>
                            <a:noFill/>
                          </a:ln>
                          <a:solidFill>
                            <a:schemeClr val="tx1"/>
                          </a:solidFill>
                          <a:effectLst/>
                          <a:latin typeface="Times New Roman" pitchFamily="18" charset="0"/>
                          <a:ea typeface="楷体_GB2312" pitchFamily="49" charset="-122"/>
                          <a:sym typeface="Symbol" pitchFamily="18" charset="2"/>
                        </a:rPr>
                        <a:t>1</a:t>
                      </a:r>
                      <a:r>
                        <a:rPr kumimoji="1" lang="en-US" altLang="zh-CN"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a:ln>
                            <a:noFill/>
                          </a:ln>
                          <a:solidFill>
                            <a:schemeClr val="tx1"/>
                          </a:solidFill>
                          <a:effectLst/>
                          <a:latin typeface="Times New Roman" pitchFamily="18" charset="0"/>
                          <a:ea typeface="楷体_GB2312" pitchFamily="49" charset="-122"/>
                          <a:sym typeface="Symbol" pitchFamily="18" charset="2"/>
                        </a:rPr>
                        <a:t>n</a:t>
                      </a:r>
                      <a:r>
                        <a:rPr kumimoji="1" lang="en-US" altLang="zh-CN" sz="1800" b="1" i="0" u="none" strike="noStrike" cap="none" normalizeH="0" baseline="0">
                          <a:ln>
                            <a:noFill/>
                          </a:ln>
                          <a:solidFill>
                            <a:schemeClr val="tx1"/>
                          </a:solidFill>
                          <a:effectLst/>
                          <a:latin typeface="Times New Roman" pitchFamily="18" charset="0"/>
                          <a:ea typeface="楷体_GB2312" pitchFamily="49" charset="-122"/>
                          <a:sym typeface="Symbol" pitchFamily="18" charset="2"/>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err="1">
                          <a:ln>
                            <a:noFill/>
                          </a:ln>
                          <a:solidFill>
                            <a:schemeClr val="tx1"/>
                          </a:solidFill>
                          <a:effectLst/>
                          <a:latin typeface="Times New Roman" pitchFamily="18" charset="0"/>
                          <a:ea typeface="楷体_GB2312" pitchFamily="49" charset="-122"/>
                          <a:sym typeface="Symbol" pitchFamily="18" charset="2"/>
                        </a:rPr>
                        <a:t>C</a:t>
                      </a:r>
                      <a:r>
                        <a:rPr kumimoji="1" lang="en-US" altLang="zh-CN" sz="1800" b="1" i="1" u="none" strike="noStrike" cap="none" normalizeH="0" baseline="-25000" dirty="0" err="1">
                          <a:ln>
                            <a:noFill/>
                          </a:ln>
                          <a:solidFill>
                            <a:schemeClr val="tx1"/>
                          </a:solidFill>
                          <a:effectLst/>
                          <a:latin typeface="Times New Roman" pitchFamily="18" charset="0"/>
                          <a:ea typeface="楷体_GB2312" pitchFamily="49" charset="-122"/>
                          <a:sym typeface="Symbol" pitchFamily="18" charset="2"/>
                        </a:rPr>
                        <a:t>V,m</a:t>
                      </a:r>
                      <a:r>
                        <a:rPr kumimoji="1" lang="en-US" altLang="zh-CN" sz="1800" b="1" i="1"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 </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 </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T</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zh-CN" altLang="en-US"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P</a:t>
                      </a:r>
                      <a:r>
                        <a:rPr kumimoji="1" lang="en-US" altLang="zh-CN" sz="1800" b="1" i="1"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V</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2</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 </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P</a:t>
                      </a:r>
                      <a:r>
                        <a:rPr kumimoji="1" lang="en-US" altLang="zh-CN" sz="1800" b="1" i="1"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V</a:t>
                      </a:r>
                      <a:r>
                        <a:rPr kumimoji="1" lang="en-US" altLang="zh-CN" sz="1800" b="1" i="0" u="none" strike="noStrike" cap="none" normalizeH="0" baseline="-25000" dirty="0">
                          <a:ln>
                            <a:noFill/>
                          </a:ln>
                          <a:solidFill>
                            <a:schemeClr val="tx1"/>
                          </a:solidFill>
                          <a:effectLst/>
                          <a:latin typeface="Times New Roman" pitchFamily="18" charset="0"/>
                          <a:ea typeface="楷体_GB2312" pitchFamily="49" charset="-122"/>
                          <a:sym typeface="Symbol" pitchFamily="18" charset="2"/>
                        </a:rPr>
                        <a:t>1</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1"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a:t>
                      </a:r>
                      <a:r>
                        <a:rPr kumimoji="1" lang="en-US" altLang="zh-CN" sz="1800" b="1" i="0" u="none" strike="noStrike" cap="none" normalizeH="0" baseline="0" dirty="0">
                          <a:ln>
                            <a:noFill/>
                          </a:ln>
                          <a:solidFill>
                            <a:schemeClr val="tx1"/>
                          </a:solidFill>
                          <a:effectLst/>
                          <a:latin typeface="Times New Roman" pitchFamily="18" charset="0"/>
                          <a:ea typeface="楷体_GB2312" pitchFamily="49" charset="-122"/>
                          <a:sym typeface="Symbol" pitchFamily="18" charset="2"/>
                        </a:rPr>
                        <a:t> -1)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61491" name="Object 4">
            <a:extLst>
              <a:ext uri="{FF2B5EF4-FFF2-40B4-BE49-F238E27FC236}">
                <a16:creationId xmlns:a16="http://schemas.microsoft.com/office/drawing/2014/main" id="{FB247094-E0E1-40F8-A0AC-C9B0A5134DE8}"/>
              </a:ext>
            </a:extLst>
          </p:cNvPr>
          <p:cNvGraphicFramePr>
            <a:graphicFrameLocks/>
          </p:cNvGraphicFramePr>
          <p:nvPr>
            <p:extLst/>
          </p:nvPr>
        </p:nvGraphicFramePr>
        <p:xfrm>
          <a:off x="2898775" y="436563"/>
          <a:ext cx="2165350" cy="369887"/>
        </p:xfrm>
        <a:graphic>
          <a:graphicData uri="http://schemas.openxmlformats.org/presentationml/2006/ole">
            <mc:AlternateContent xmlns:mc="http://schemas.openxmlformats.org/markup-compatibility/2006">
              <mc:Choice xmlns:v="urn:schemas-microsoft-com:vml" Requires="v">
                <p:oleObj spid="_x0000_s175152" name="Equation" r:id="rId4" imgW="1053643" imgH="215806" progId="Equation.3">
                  <p:embed/>
                </p:oleObj>
              </mc:Choice>
              <mc:Fallback>
                <p:oleObj name="Equation" r:id="rId4" imgW="1053643" imgH="215806" progId="Equation.3">
                  <p:embed/>
                  <p:pic>
                    <p:nvPicPr>
                      <p:cNvPr id="61491" name="Object 4">
                        <a:extLst>
                          <a:ext uri="{FF2B5EF4-FFF2-40B4-BE49-F238E27FC236}">
                            <a16:creationId xmlns:a16="http://schemas.microsoft.com/office/drawing/2014/main" id="{FB247094-E0E1-40F8-A0AC-C9B0A5134DE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8775" y="436563"/>
                        <a:ext cx="2165350" cy="369887"/>
                      </a:xfrm>
                      <a:prstGeom prst="rect">
                        <a:avLst/>
                      </a:prstGeom>
                      <a:solidFill>
                        <a:schemeClr val="bg1"/>
                      </a:solidFill>
                      <a:ln>
                        <a:noFill/>
                      </a:ln>
                    </p:spPr>
                  </p:pic>
                </p:oleObj>
              </mc:Fallback>
            </mc:AlternateContent>
          </a:graphicData>
        </a:graphic>
      </p:graphicFrame>
      <p:sp>
        <p:nvSpPr>
          <p:cNvPr id="61492" name="矩形 1">
            <a:extLst>
              <a:ext uri="{FF2B5EF4-FFF2-40B4-BE49-F238E27FC236}">
                <a16:creationId xmlns:a16="http://schemas.microsoft.com/office/drawing/2014/main" id="{6A159491-B0BE-4B2A-BF62-CD7F4A031B6D}"/>
              </a:ext>
            </a:extLst>
          </p:cNvPr>
          <p:cNvSpPr>
            <a:spLocks noChangeArrowheads="1"/>
          </p:cNvSpPr>
          <p:nvPr/>
        </p:nvSpPr>
        <p:spPr bwMode="auto">
          <a:xfrm>
            <a:off x="449088" y="436563"/>
            <a:ext cx="2062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b="1">
                <a:solidFill>
                  <a:srgbClr val="FF0000"/>
                </a:solidFill>
                <a:ea typeface="楷体_GB2312" pitchFamily="49" charset="-122"/>
              </a:rPr>
              <a:t>热力学第一定律</a:t>
            </a:r>
            <a:r>
              <a:rPr lang="zh-CN" altLang="en-US" sz="2000" b="1">
                <a:latin typeface="Arial" panose="020B0604020202020204" pitchFamily="34" charset="0"/>
              </a:rPr>
              <a:t> </a:t>
            </a:r>
            <a:endParaRPr lang="zh-CN" altLang="en-US" sz="2000"/>
          </a:p>
        </p:txBody>
      </p:sp>
      <p:sp>
        <p:nvSpPr>
          <p:cNvPr id="61493" name="矩形 1">
            <a:extLst>
              <a:ext uri="{FF2B5EF4-FFF2-40B4-BE49-F238E27FC236}">
                <a16:creationId xmlns:a16="http://schemas.microsoft.com/office/drawing/2014/main" id="{3037522D-06A3-46E2-A4E4-A818927BFA7C}"/>
              </a:ext>
            </a:extLst>
          </p:cNvPr>
          <p:cNvSpPr>
            <a:spLocks noChangeArrowheads="1"/>
          </p:cNvSpPr>
          <p:nvPr/>
        </p:nvSpPr>
        <p:spPr bwMode="auto">
          <a:xfrm>
            <a:off x="2123728" y="41275"/>
            <a:ext cx="3900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zh-CN" altLang="en-US" sz="2400" b="1">
                <a:solidFill>
                  <a:srgbClr val="FF3300"/>
                </a:solidFill>
                <a:ea typeface="楷体_GB2312" pitchFamily="49" charset="-122"/>
              </a:rPr>
              <a:t>上节内容回顾</a:t>
            </a:r>
            <a:endParaRPr kumimoji="0" lang="en-US" altLang="zh-CN" sz="2400" b="1">
              <a:solidFill>
                <a:srgbClr val="FF3300"/>
              </a:solidFill>
              <a:ea typeface="楷体_GB2312" pitchFamily="49" charset="-122"/>
            </a:endParaRPr>
          </a:p>
        </p:txBody>
      </p:sp>
      <p:graphicFrame>
        <p:nvGraphicFramePr>
          <p:cNvPr id="61494" name="Object 5">
            <a:extLst>
              <a:ext uri="{FF2B5EF4-FFF2-40B4-BE49-F238E27FC236}">
                <a16:creationId xmlns:a16="http://schemas.microsoft.com/office/drawing/2014/main" id="{E6697DFC-C54E-4FC1-9EC3-92596C5165FD}"/>
              </a:ext>
            </a:extLst>
          </p:cNvPr>
          <p:cNvGraphicFramePr>
            <a:graphicFrameLocks noChangeAspect="1"/>
          </p:cNvGraphicFramePr>
          <p:nvPr>
            <p:extLst/>
          </p:nvPr>
        </p:nvGraphicFramePr>
        <p:xfrm>
          <a:off x="5319713" y="331788"/>
          <a:ext cx="3824287" cy="717550"/>
        </p:xfrm>
        <a:graphic>
          <a:graphicData uri="http://schemas.openxmlformats.org/presentationml/2006/ole">
            <mc:AlternateContent xmlns:mc="http://schemas.openxmlformats.org/markup-compatibility/2006">
              <mc:Choice xmlns:v="urn:schemas-microsoft-com:vml" Requires="v">
                <p:oleObj spid="_x0000_s175153" name="Equation" r:id="rId6" imgW="2132674" imgH="406224" progId="Equation.DSMT4">
                  <p:embed/>
                </p:oleObj>
              </mc:Choice>
              <mc:Fallback>
                <p:oleObj name="Equation" r:id="rId6" imgW="2132674" imgH="406224" progId="Equation.DSMT4">
                  <p:embed/>
                  <p:pic>
                    <p:nvPicPr>
                      <p:cNvPr id="61494" name="Object 5">
                        <a:extLst>
                          <a:ext uri="{FF2B5EF4-FFF2-40B4-BE49-F238E27FC236}">
                            <a16:creationId xmlns:a16="http://schemas.microsoft.com/office/drawing/2014/main" id="{E6697DFC-C54E-4FC1-9EC3-92596C5165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9713" y="331788"/>
                        <a:ext cx="3824287" cy="717550"/>
                      </a:xfrm>
                      <a:prstGeom prst="rect">
                        <a:avLst/>
                      </a:prstGeom>
                      <a:solidFill>
                        <a:schemeClr val="bg1"/>
                      </a:solidFill>
                      <a:ln>
                        <a:noFill/>
                      </a:ln>
                    </p:spPr>
                  </p:pic>
                </p:oleObj>
              </mc:Fallback>
            </mc:AlternateContent>
          </a:graphicData>
        </a:graphic>
      </p:graphicFrame>
      <p:sp>
        <p:nvSpPr>
          <p:cNvPr id="2" name="矩形 1">
            <a:extLst>
              <a:ext uri="{FF2B5EF4-FFF2-40B4-BE49-F238E27FC236}">
                <a16:creationId xmlns:a16="http://schemas.microsoft.com/office/drawing/2014/main" id="{B1426603-709F-49C6-8D8B-1A4AC9235070}"/>
              </a:ext>
            </a:extLst>
          </p:cNvPr>
          <p:cNvSpPr/>
          <p:nvPr/>
        </p:nvSpPr>
        <p:spPr>
          <a:xfrm>
            <a:off x="-511782" y="6280574"/>
            <a:ext cx="5623548" cy="553998"/>
          </a:xfrm>
          <a:prstGeom prst="rect">
            <a:avLst/>
          </a:prstGeom>
        </p:spPr>
        <p:txBody>
          <a:bodyPr wrap="square">
            <a:spAutoFit/>
          </a:bodyPr>
          <a:lstStyle/>
          <a:p>
            <a:pPr lvl="1" algn="l" eaLnBrk="1" hangingPunct="1">
              <a:buFontTx/>
              <a:buChar char="•"/>
            </a:pPr>
            <a:r>
              <a:rPr lang="zh-CN" altLang="en-US" sz="3000" b="1">
                <a:solidFill>
                  <a:srgbClr val="FF0000"/>
                </a:solidFill>
                <a:latin typeface="宋体" pitchFamily="2" charset="-122"/>
              </a:rPr>
              <a:t>如何判断等温线和绝热线</a:t>
            </a:r>
            <a:endParaRPr lang="zh-CN" altLang="en-US" sz="3000" b="1">
              <a:latin typeface="宋体" pitchFamily="2" charset="-122"/>
            </a:endParaRPr>
          </a:p>
        </p:txBody>
      </p:sp>
      <p:sp>
        <p:nvSpPr>
          <p:cNvPr id="3" name="矩形 2">
            <a:extLst>
              <a:ext uri="{FF2B5EF4-FFF2-40B4-BE49-F238E27FC236}">
                <a16:creationId xmlns:a16="http://schemas.microsoft.com/office/drawing/2014/main" id="{91798082-37CD-490A-8203-FFF0691BD21D}"/>
              </a:ext>
            </a:extLst>
          </p:cNvPr>
          <p:cNvSpPr/>
          <p:nvPr/>
        </p:nvSpPr>
        <p:spPr bwMode="auto">
          <a:xfrm>
            <a:off x="1079538" y="1963212"/>
            <a:ext cx="8064461" cy="529684"/>
          </a:xfrm>
          <a:prstGeom prst="rect">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000" b="0" i="0" u="none" strike="noStrike" cap="none" normalizeH="0" baseline="0">
              <a:ln>
                <a:noFill/>
              </a:ln>
              <a:solidFill>
                <a:schemeClr val="tx1"/>
              </a:solidFill>
              <a:effectLst/>
              <a:latin typeface="Times New Roman" pitchFamily="18" charset="0"/>
              <a:ea typeface="宋体" pitchFamily="2" charset="-122"/>
            </a:endParaRPr>
          </a:p>
        </p:txBody>
      </p:sp>
      <p:sp>
        <p:nvSpPr>
          <p:cNvPr id="10" name="矩形 9">
            <a:extLst>
              <a:ext uri="{FF2B5EF4-FFF2-40B4-BE49-F238E27FC236}">
                <a16:creationId xmlns:a16="http://schemas.microsoft.com/office/drawing/2014/main" id="{AC9644E0-0E42-40DE-8831-9D57605B454F}"/>
              </a:ext>
            </a:extLst>
          </p:cNvPr>
          <p:cNvSpPr/>
          <p:nvPr/>
        </p:nvSpPr>
        <p:spPr bwMode="auto">
          <a:xfrm>
            <a:off x="1079537" y="2416763"/>
            <a:ext cx="8064461" cy="529684"/>
          </a:xfrm>
          <a:prstGeom prst="rect">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000" b="0" i="0" u="none" strike="noStrike" cap="none" normalizeH="0" baseline="0">
              <a:ln>
                <a:noFill/>
              </a:ln>
              <a:solidFill>
                <a:schemeClr val="tx1"/>
              </a:solidFill>
              <a:effectLst/>
              <a:latin typeface="Times New Roman" pitchFamily="18" charset="0"/>
              <a:ea typeface="宋体" pitchFamily="2" charset="-122"/>
            </a:endParaRPr>
          </a:p>
        </p:txBody>
      </p:sp>
      <p:sp>
        <p:nvSpPr>
          <p:cNvPr id="11" name="矩形 10">
            <a:extLst>
              <a:ext uri="{FF2B5EF4-FFF2-40B4-BE49-F238E27FC236}">
                <a16:creationId xmlns:a16="http://schemas.microsoft.com/office/drawing/2014/main" id="{F5645079-C311-4FE1-9030-3854017D3456}"/>
              </a:ext>
            </a:extLst>
          </p:cNvPr>
          <p:cNvSpPr/>
          <p:nvPr/>
        </p:nvSpPr>
        <p:spPr bwMode="auto">
          <a:xfrm>
            <a:off x="1079539" y="2908295"/>
            <a:ext cx="8064461" cy="628664"/>
          </a:xfrm>
          <a:prstGeom prst="rect">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000" b="0"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71987271-FE06-4273-AA43-9D36ECD1CFFF}"/>
              </a:ext>
            </a:extLst>
          </p:cNvPr>
          <p:cNvSpPr/>
          <p:nvPr/>
        </p:nvSpPr>
        <p:spPr bwMode="auto">
          <a:xfrm>
            <a:off x="1079536" y="3570014"/>
            <a:ext cx="8064461" cy="1070290"/>
          </a:xfrm>
          <a:prstGeom prst="rect">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000" b="0" i="0" u="none" strike="noStrike" cap="none" normalizeH="0" baseline="0">
              <a:ln>
                <a:noFill/>
              </a:ln>
              <a:solidFill>
                <a:schemeClr val="tx1"/>
              </a:solidFill>
              <a:effectLst/>
              <a:latin typeface="Times New Roman" pitchFamily="18" charset="0"/>
              <a:ea typeface="宋体" pitchFamily="2" charset="-122"/>
            </a:endParaRPr>
          </a:p>
        </p:txBody>
      </p:sp>
      <p:sp>
        <p:nvSpPr>
          <p:cNvPr id="13" name="矩形 12">
            <a:extLst>
              <a:ext uri="{FF2B5EF4-FFF2-40B4-BE49-F238E27FC236}">
                <a16:creationId xmlns:a16="http://schemas.microsoft.com/office/drawing/2014/main" id="{03433CD2-83A7-4535-A23F-7CE03CE26E03}"/>
              </a:ext>
            </a:extLst>
          </p:cNvPr>
          <p:cNvSpPr/>
          <p:nvPr/>
        </p:nvSpPr>
        <p:spPr bwMode="auto">
          <a:xfrm>
            <a:off x="1079539" y="4660634"/>
            <a:ext cx="8064461" cy="690870"/>
          </a:xfrm>
          <a:prstGeom prst="rect">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000" b="0" i="0" u="none" strike="noStrike" cap="none" normalizeH="0" baseline="0">
              <a:ln>
                <a:noFill/>
              </a:ln>
              <a:solidFill>
                <a:schemeClr val="tx1"/>
              </a:solidFill>
              <a:effectLst/>
              <a:latin typeface="Times New Roman" pitchFamily="18" charset="0"/>
              <a:ea typeface="宋体" pitchFamily="2" charset="-122"/>
            </a:endParaRPr>
          </a:p>
        </p:txBody>
      </p:sp>
      <p:sp>
        <p:nvSpPr>
          <p:cNvPr id="56" name="Text Box 51">
            <a:extLst>
              <a:ext uri="{FF2B5EF4-FFF2-40B4-BE49-F238E27FC236}">
                <a16:creationId xmlns:a16="http://schemas.microsoft.com/office/drawing/2014/main" id="{C5084D47-97DC-454C-98BD-02F9A0D5196F}"/>
              </a:ext>
            </a:extLst>
          </p:cNvPr>
          <p:cNvSpPr txBox="1">
            <a:spLocks noChangeArrowheads="1"/>
          </p:cNvSpPr>
          <p:nvPr/>
        </p:nvSpPr>
        <p:spPr bwMode="auto">
          <a:xfrm>
            <a:off x="78752" y="5643561"/>
            <a:ext cx="9144000" cy="676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l" eaLnBrk="1" hangingPunct="1">
              <a:lnSpc>
                <a:spcPts val="1500"/>
              </a:lnSpc>
              <a:spcBef>
                <a:spcPct val="50000"/>
              </a:spcBef>
            </a:pPr>
            <a:r>
              <a:rPr lang="zh-CN" altLang="en-US" sz="2300" b="1" i="0" u="sng">
                <a:latin typeface="楷体_GB2312" pitchFamily="49" charset="-122"/>
                <a:ea typeface="楷体_GB2312" pitchFamily="49" charset="-122"/>
              </a:rPr>
              <a:t>功的计算（</a:t>
            </a:r>
            <a:r>
              <a:rPr lang="zh-CN" altLang="en-US" sz="2300" b="1" i="0">
                <a:latin typeface="楷体_GB2312" pitchFamily="49" charset="-122"/>
                <a:ea typeface="楷体_GB2312" pitchFamily="49" charset="-122"/>
              </a:rPr>
              <a:t>过程量</a:t>
            </a:r>
            <a:r>
              <a:rPr lang="en-US" altLang="zh-CN" sz="2300" b="1" i="0">
                <a:latin typeface="楷体_GB2312" pitchFamily="49" charset="-122"/>
                <a:ea typeface="楷体_GB2312" pitchFamily="49" charset="-122"/>
              </a:rPr>
              <a:t>) 1</a:t>
            </a:r>
            <a:r>
              <a:rPr lang="zh-CN" altLang="en-US" sz="2300" b="1" i="0">
                <a:latin typeface="楷体_GB2312" pitchFamily="49" charset="-122"/>
                <a:ea typeface="楷体_GB2312" pitchFamily="49" charset="-122"/>
              </a:rPr>
              <a:t>、                  </a:t>
            </a:r>
            <a:r>
              <a:rPr lang="en-US" altLang="zh-CN" sz="2300" b="1" i="0">
                <a:latin typeface="楷体_GB2312" pitchFamily="49" charset="-122"/>
                <a:ea typeface="楷体_GB2312" pitchFamily="49" charset="-122"/>
              </a:rPr>
              <a:t>(</a:t>
            </a:r>
            <a:r>
              <a:rPr lang="zh-CN" altLang="en-US" sz="2300" b="1" i="0">
                <a:latin typeface="楷体_GB2312" pitchFamily="49" charset="-122"/>
                <a:ea typeface="楷体_GB2312" pitchFamily="49" charset="-122"/>
              </a:rPr>
              <a:t>准静态过程体积功</a:t>
            </a:r>
            <a:r>
              <a:rPr lang="en-US" altLang="zh-CN" sz="2300" b="1" i="0">
                <a:latin typeface="楷体_GB2312" pitchFamily="49" charset="-122"/>
                <a:ea typeface="楷体_GB2312" pitchFamily="49" charset="-122"/>
              </a:rPr>
              <a:t>); </a:t>
            </a:r>
          </a:p>
          <a:p>
            <a:pPr algn="l" eaLnBrk="1" hangingPunct="1">
              <a:lnSpc>
                <a:spcPts val="1500"/>
              </a:lnSpc>
              <a:spcBef>
                <a:spcPct val="50000"/>
              </a:spcBef>
            </a:pPr>
            <a:r>
              <a:rPr lang="en-US" altLang="zh-CN" sz="2300" b="1">
                <a:latin typeface="楷体_GB2312" pitchFamily="49" charset="-122"/>
                <a:ea typeface="楷体_GB2312" pitchFamily="49" charset="-122"/>
              </a:rPr>
              <a:t>                              </a:t>
            </a:r>
            <a:r>
              <a:rPr lang="en-US" altLang="zh-CN" sz="2300" b="1" i="0">
                <a:latin typeface="楷体_GB2312" pitchFamily="49" charset="-122"/>
                <a:ea typeface="楷体_GB2312" pitchFamily="49" charset="-122"/>
              </a:rPr>
              <a:t>2</a:t>
            </a:r>
            <a:r>
              <a:rPr lang="zh-CN" altLang="en-US" sz="2300" b="1" i="0">
                <a:latin typeface="楷体_GB2312" pitchFamily="49" charset="-122"/>
                <a:ea typeface="楷体_GB2312" pitchFamily="49" charset="-122"/>
              </a:rPr>
              <a:t>、</a:t>
            </a:r>
            <a:r>
              <a:rPr lang="en-US" altLang="zh-CN" sz="2300" b="1">
                <a:latin typeface="楷体_GB2312" pitchFamily="49" charset="-122"/>
                <a:ea typeface="楷体_GB2312" pitchFamily="49" charset="-122"/>
              </a:rPr>
              <a:t>p-V</a:t>
            </a:r>
            <a:r>
              <a:rPr lang="en-US" altLang="zh-CN" sz="2300" b="1" i="0">
                <a:latin typeface="楷体_GB2312" pitchFamily="49" charset="-122"/>
                <a:ea typeface="楷体_GB2312" pitchFamily="49" charset="-122"/>
              </a:rPr>
              <a:t> </a:t>
            </a:r>
            <a:r>
              <a:rPr lang="zh-CN" altLang="en-US" sz="2300" b="1" i="0">
                <a:latin typeface="楷体_GB2312" pitchFamily="49" charset="-122"/>
                <a:ea typeface="楷体_GB2312" pitchFamily="49" charset="-122"/>
              </a:rPr>
              <a:t>图中过程曲线下的面积 </a:t>
            </a:r>
          </a:p>
        </p:txBody>
      </p:sp>
      <p:graphicFrame>
        <p:nvGraphicFramePr>
          <p:cNvPr id="57" name="Object 52">
            <a:extLst>
              <a:ext uri="{FF2B5EF4-FFF2-40B4-BE49-F238E27FC236}">
                <a16:creationId xmlns:a16="http://schemas.microsoft.com/office/drawing/2014/main" id="{FEFB0ED1-5BC6-4F39-82C6-EB91B3DA3388}"/>
              </a:ext>
            </a:extLst>
          </p:cNvPr>
          <p:cNvGraphicFramePr>
            <a:graphicFrameLocks noChangeAspect="1"/>
          </p:cNvGraphicFramePr>
          <p:nvPr>
            <p:extLst>
              <p:ext uri="{D42A27DB-BD31-4B8C-83A1-F6EECF244321}">
                <p14:modId xmlns:p14="http://schemas.microsoft.com/office/powerpoint/2010/main" val="468193714"/>
              </p:ext>
            </p:extLst>
          </p:nvPr>
        </p:nvGraphicFramePr>
        <p:xfrm>
          <a:off x="3317477" y="5371834"/>
          <a:ext cx="1296995" cy="569375"/>
        </p:xfrm>
        <a:graphic>
          <a:graphicData uri="http://schemas.openxmlformats.org/presentationml/2006/ole">
            <mc:AlternateContent xmlns:mc="http://schemas.openxmlformats.org/markup-compatibility/2006">
              <mc:Choice xmlns:v="urn:schemas-microsoft-com:vml" Requires="v">
                <p:oleObj spid="_x0000_s175154" name="公式" r:id="rId8" imgW="812447" imgH="355446" progId="Equation.3">
                  <p:embed/>
                </p:oleObj>
              </mc:Choice>
              <mc:Fallback>
                <p:oleObj name="公式" r:id="rId8" imgW="812447" imgH="355446" progId="Equation.3">
                  <p:embed/>
                  <p:pic>
                    <p:nvPicPr>
                      <p:cNvPr id="61490" name="Object 52">
                        <a:extLst>
                          <a:ext uri="{FF2B5EF4-FFF2-40B4-BE49-F238E27FC236}">
                            <a16:creationId xmlns:a16="http://schemas.microsoft.com/office/drawing/2014/main" id="{15A3907B-A26D-459D-8A1B-219BDF2E6CB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17477" y="5371834"/>
                        <a:ext cx="1296995" cy="569375"/>
                      </a:xfrm>
                      <a:prstGeom prst="rect">
                        <a:avLst/>
                      </a:prstGeom>
                      <a:solidFill>
                        <a:schemeClr val="bg1"/>
                      </a:solidFill>
                      <a:ln>
                        <a:noFill/>
                      </a:ln>
                    </p:spPr>
                  </p:pic>
                </p:oleObj>
              </mc:Fallback>
            </mc:AlternateContent>
          </a:graphicData>
        </a:graphic>
      </p:graphicFrame>
      <p:pic>
        <p:nvPicPr>
          <p:cNvPr id="5" name="图片 4">
            <a:extLst>
              <a:ext uri="{FF2B5EF4-FFF2-40B4-BE49-F238E27FC236}">
                <a16:creationId xmlns:a16="http://schemas.microsoft.com/office/drawing/2014/main" id="{4FC1E999-8074-4DC2-AC5F-410BA76595E3}"/>
              </a:ext>
            </a:extLst>
          </p:cNvPr>
          <p:cNvPicPr>
            <a:picLocks noChangeAspect="1"/>
          </p:cNvPicPr>
          <p:nvPr/>
        </p:nvPicPr>
        <p:blipFill>
          <a:blip r:embed="rId10"/>
          <a:stretch>
            <a:fillRect/>
          </a:stretch>
        </p:blipFill>
        <p:spPr>
          <a:xfrm>
            <a:off x="2594556" y="41275"/>
            <a:ext cx="6977591" cy="6816725"/>
          </a:xfrm>
          <a:prstGeom prst="rect">
            <a:avLst/>
          </a:prstGeom>
        </p:spPr>
      </p:pic>
    </p:spTree>
    <p:extLst>
      <p:ext uri="{BB962C8B-B14F-4D97-AF65-F5344CB8AC3E}">
        <p14:creationId xmlns:p14="http://schemas.microsoft.com/office/powerpoint/2010/main" val="257416753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4" fill="hold" grpId="0" nodeType="clickEffect">
                                  <p:stCondLst>
                                    <p:cond delay="0"/>
                                  </p:stCondLst>
                                  <p:childTnLst>
                                    <p:anim calcmode="lin" valueType="num">
                                      <p:cBhvr additive="base">
                                        <p:cTn id="21" dur="500"/>
                                        <p:tgtEl>
                                          <p:spTgt spid="11"/>
                                        </p:tgtEl>
                                        <p:attrNameLst>
                                          <p:attrName>ppt_x</p:attrName>
                                        </p:attrNameLst>
                                      </p:cBhvr>
                                      <p:tavLst>
                                        <p:tav tm="0">
                                          <p:val>
                                            <p:strVal val="ppt_x"/>
                                          </p:val>
                                        </p:tav>
                                        <p:tav tm="100000">
                                          <p:val>
                                            <p:strVal val="ppt_x"/>
                                          </p:val>
                                        </p:tav>
                                      </p:tavLst>
                                    </p:anim>
                                    <p:anim calcmode="lin" valueType="num">
                                      <p:cBhvr additive="base">
                                        <p:cTn id="22" dur="500"/>
                                        <p:tgtEl>
                                          <p:spTgt spid="11"/>
                                        </p:tgtEl>
                                        <p:attrNameLst>
                                          <p:attrName>ppt_y</p:attrName>
                                        </p:attrNameLst>
                                      </p:cBhvr>
                                      <p:tavLst>
                                        <p:tav tm="0">
                                          <p:val>
                                            <p:strVal val="ppt_y"/>
                                          </p:val>
                                        </p:tav>
                                        <p:tav tm="100000">
                                          <p:val>
                                            <p:strVal val="1+ppt_h/2"/>
                                          </p:val>
                                        </p:tav>
                                      </p:tavLst>
                                    </p:anim>
                                    <p:set>
                                      <p:cBhvr>
                                        <p:cTn id="23" dur="1" fill="hold">
                                          <p:stCondLst>
                                            <p:cond delay="499"/>
                                          </p:stCondLst>
                                        </p:cTn>
                                        <p:tgtEl>
                                          <p:spTgt spid="11"/>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grpId="0" nodeType="clickEffect">
                                  <p:stCondLst>
                                    <p:cond delay="0"/>
                                  </p:stCondLst>
                                  <p:childTnLst>
                                    <p:animEffect transition="out" filter="fade">
                                      <p:cBhvr>
                                        <p:cTn id="27" dur="1000"/>
                                        <p:tgtEl>
                                          <p:spTgt spid="12"/>
                                        </p:tgtEl>
                                      </p:cBhvr>
                                    </p:animEffect>
                                    <p:anim calcmode="lin" valueType="num">
                                      <p:cBhvr>
                                        <p:cTn id="28" dur="1000"/>
                                        <p:tgtEl>
                                          <p:spTgt spid="12"/>
                                        </p:tgtEl>
                                        <p:attrNameLst>
                                          <p:attrName>ppt_x</p:attrName>
                                        </p:attrNameLst>
                                      </p:cBhvr>
                                      <p:tavLst>
                                        <p:tav tm="0">
                                          <p:val>
                                            <p:strVal val="ppt_x"/>
                                          </p:val>
                                        </p:tav>
                                        <p:tav tm="100000">
                                          <p:val>
                                            <p:strVal val="ppt_x"/>
                                          </p:val>
                                        </p:tav>
                                      </p:tavLst>
                                    </p:anim>
                                    <p:anim calcmode="lin" valueType="num">
                                      <p:cBhvr>
                                        <p:cTn id="29" dur="1000"/>
                                        <p:tgtEl>
                                          <p:spTgt spid="12"/>
                                        </p:tgtEl>
                                        <p:attrNameLst>
                                          <p:attrName>ppt_y</p:attrName>
                                        </p:attrNameLst>
                                      </p:cBhvr>
                                      <p:tavLst>
                                        <p:tav tm="0">
                                          <p:val>
                                            <p:strVal val="ppt_y"/>
                                          </p:val>
                                        </p:tav>
                                        <p:tav tm="100000">
                                          <p:val>
                                            <p:strVal val="ppt_y+.1"/>
                                          </p:val>
                                        </p:tav>
                                      </p:tavLst>
                                    </p:anim>
                                    <p:set>
                                      <p:cBhvr>
                                        <p:cTn id="30" dur="1" fill="hold">
                                          <p:stCondLst>
                                            <p:cond delay="999"/>
                                          </p:stCondLst>
                                        </p:cTn>
                                        <p:tgtEl>
                                          <p:spTgt spid="1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6" presetClass="exit" presetSubtype="21" fill="hold" grpId="0" nodeType="clickEffect">
                                  <p:stCondLst>
                                    <p:cond delay="0"/>
                                  </p:stCondLst>
                                  <p:childTnLst>
                                    <p:animEffect transition="out" filter="barn(inVertical)">
                                      <p:cBhvr>
                                        <p:cTn id="34" dur="500"/>
                                        <p:tgtEl>
                                          <p:spTgt spid="13"/>
                                        </p:tgtEl>
                                      </p:cBhvr>
                                    </p:animEffect>
                                    <p:set>
                                      <p:cBhvr>
                                        <p:cTn id="35" dur="1" fill="hold">
                                          <p:stCondLst>
                                            <p:cond delay="499"/>
                                          </p:stCondLst>
                                        </p:cTn>
                                        <p:tgtEl>
                                          <p:spTgt spid="13"/>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10" grpId="0" animBg="1"/>
      <p:bldP spid="11" grpId="0" animBg="1"/>
      <p:bldP spid="12" grpId="0" animBg="1"/>
      <p:bldP spid="13" grpId="0" animBg="1"/>
      <p:bldP spid="5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Text Box 4"/>
          <p:cNvSpPr txBox="1">
            <a:spLocks noChangeArrowheads="1"/>
          </p:cNvSpPr>
          <p:nvPr/>
        </p:nvSpPr>
        <p:spPr bwMode="auto">
          <a:xfrm>
            <a:off x="0" y="4365625"/>
            <a:ext cx="8893175" cy="234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solidFill>
                  <a:srgbClr val="3333FF"/>
                </a:solidFill>
                <a:ea typeface="楷体_GB2312" pitchFamily="49" charset="-122"/>
              </a:rPr>
              <a:t>    2</a:t>
            </a:r>
            <a:r>
              <a:rPr lang="zh-CN" altLang="en-US" sz="2800" b="1">
                <a:solidFill>
                  <a:srgbClr val="3333FF"/>
                </a:solidFill>
                <a:ea typeface="楷体_GB2312" pitchFamily="49" charset="-122"/>
              </a:rPr>
              <a:t>、特点：</a:t>
            </a:r>
            <a:endParaRPr lang="zh-CN" altLang="en-US" sz="2400"/>
          </a:p>
          <a:p>
            <a:pPr lvl="1" algn="l" eaLnBrk="1" hangingPunct="1">
              <a:buFontTx/>
              <a:buChar char="•"/>
            </a:pPr>
            <a:r>
              <a:rPr lang="zh-CN" altLang="en-US" sz="2400" b="1">
                <a:latin typeface="宋体" pitchFamily="2" charset="-122"/>
              </a:rPr>
              <a:t>若循环的每一阶段都是准静态过程，则此循环可用</a:t>
            </a:r>
            <a:r>
              <a:rPr lang="en-US" altLang="zh-CN" sz="2400" b="1" i="1">
                <a:latin typeface="宋体" pitchFamily="2" charset="-122"/>
              </a:rPr>
              <a:t>P-V</a:t>
            </a:r>
            <a:r>
              <a:rPr lang="zh-CN" altLang="en-US" sz="2400" b="1">
                <a:latin typeface="宋体" pitchFamily="2" charset="-122"/>
              </a:rPr>
              <a:t>图上的一条闭合曲线表示。</a:t>
            </a:r>
          </a:p>
          <a:p>
            <a:pPr lvl="1" algn="l" eaLnBrk="1" hangingPunct="1">
              <a:buFontTx/>
              <a:buChar char="•"/>
            </a:pPr>
            <a:r>
              <a:rPr lang="zh-CN" altLang="en-US" b="1">
                <a:solidFill>
                  <a:srgbClr val="FF3300"/>
                </a:solidFill>
              </a:rPr>
              <a:t>工作物质</a:t>
            </a:r>
            <a:r>
              <a:rPr lang="zh-CN" altLang="en-US" sz="2400" b="1">
                <a:latin typeface="宋体" pitchFamily="2" charset="-122"/>
              </a:rPr>
              <a:t>在整个循环过程中</a:t>
            </a:r>
            <a:r>
              <a:rPr lang="zh-CN" altLang="en-US" sz="2400" b="1">
                <a:solidFill>
                  <a:srgbClr val="3333FF"/>
                </a:solidFill>
                <a:latin typeface="宋体" pitchFamily="2" charset="-122"/>
              </a:rPr>
              <a:t>对外作的净功</a:t>
            </a:r>
            <a:r>
              <a:rPr lang="zh-CN" altLang="en-US" sz="2400" b="1">
                <a:latin typeface="宋体" pitchFamily="2" charset="-122"/>
              </a:rPr>
              <a:t>等于曲线所包围的面积。该功的大小等于</a:t>
            </a:r>
            <a:r>
              <a:rPr lang="zh-CN" altLang="en-US" sz="2400" b="1"/>
              <a:t>系统吸收的</a:t>
            </a:r>
            <a:r>
              <a:rPr lang="zh-CN" altLang="en-US" sz="2400" b="1">
                <a:solidFill>
                  <a:schemeClr val="folHlink"/>
                </a:solidFill>
              </a:rPr>
              <a:t>净热量。</a:t>
            </a:r>
            <a:endParaRPr lang="zh-CN" altLang="en-US" sz="2400" b="1">
              <a:solidFill>
                <a:schemeClr val="folHlink"/>
              </a:solidFill>
              <a:latin typeface="宋体" pitchFamily="2" charset="-122"/>
            </a:endParaRPr>
          </a:p>
          <a:p>
            <a:pPr lvl="1" algn="l" eaLnBrk="1" hangingPunct="1">
              <a:buFontTx/>
              <a:buChar char="•"/>
            </a:pPr>
            <a:r>
              <a:rPr lang="zh-CN" altLang="en-US" sz="2400" b="1">
                <a:latin typeface="宋体" pitchFamily="2" charset="-122"/>
              </a:rPr>
              <a:t>系统经过一个循环以后，系统的内能没有变化</a:t>
            </a:r>
          </a:p>
        </p:txBody>
      </p:sp>
      <p:sp>
        <p:nvSpPr>
          <p:cNvPr id="92168" name="Text Box 8"/>
          <p:cNvSpPr txBox="1">
            <a:spLocks noChangeArrowheads="1"/>
          </p:cNvSpPr>
          <p:nvPr/>
        </p:nvSpPr>
        <p:spPr bwMode="auto">
          <a:xfrm>
            <a:off x="2133600" y="120650"/>
            <a:ext cx="571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3200" b="1">
                <a:solidFill>
                  <a:srgbClr val="FF3300"/>
                </a:solidFill>
                <a:ea typeface="楷体_GB2312" pitchFamily="49" charset="-122"/>
              </a:rPr>
              <a:t>6</a:t>
            </a:r>
            <a:r>
              <a:rPr lang="zh-CN" altLang="en-US" sz="3200" b="1">
                <a:solidFill>
                  <a:srgbClr val="FF3300"/>
                </a:solidFill>
                <a:ea typeface="楷体_GB2312" pitchFamily="49" charset="-122"/>
              </a:rPr>
              <a:t>－</a:t>
            </a:r>
            <a:r>
              <a:rPr lang="en-US" altLang="zh-CN" sz="3200" b="1">
                <a:solidFill>
                  <a:srgbClr val="FF3300"/>
                </a:solidFill>
                <a:ea typeface="楷体_GB2312" pitchFamily="49" charset="-122"/>
              </a:rPr>
              <a:t>3  </a:t>
            </a:r>
            <a:r>
              <a:rPr lang="zh-CN" altLang="en-US" sz="3600" b="1">
                <a:solidFill>
                  <a:srgbClr val="FF3300"/>
                </a:solidFill>
                <a:ea typeface="楷体_GB2312" pitchFamily="49" charset="-122"/>
              </a:rPr>
              <a:t>循环过程  卡诺循环</a:t>
            </a:r>
          </a:p>
        </p:txBody>
      </p:sp>
      <p:sp>
        <p:nvSpPr>
          <p:cNvPr id="92169" name="Text Box 9"/>
          <p:cNvSpPr txBox="1">
            <a:spLocks noChangeArrowheads="1"/>
          </p:cNvSpPr>
          <p:nvPr/>
        </p:nvSpPr>
        <p:spPr bwMode="auto">
          <a:xfrm>
            <a:off x="152400" y="838200"/>
            <a:ext cx="3175000" cy="519113"/>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sz="3200" b="1">
                <a:solidFill>
                  <a:schemeClr val="folHlink"/>
                </a:solidFill>
                <a:latin typeface="Arial" pitchFamily="34" charset="0"/>
                <a:ea typeface="楷体_GB2312" pitchFamily="49" charset="-122"/>
              </a:rPr>
              <a:t>一、循环过程</a:t>
            </a:r>
          </a:p>
        </p:txBody>
      </p:sp>
      <p:sp>
        <p:nvSpPr>
          <p:cNvPr id="92170" name="Text Box 10"/>
          <p:cNvSpPr txBox="1">
            <a:spLocks noChangeArrowheads="1"/>
          </p:cNvSpPr>
          <p:nvPr/>
        </p:nvSpPr>
        <p:spPr bwMode="auto">
          <a:xfrm>
            <a:off x="365125" y="2852738"/>
            <a:ext cx="8310563"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a:solidFill>
                  <a:srgbClr val="3333FF"/>
                </a:solidFill>
                <a:ea typeface="楷体_GB2312" pitchFamily="49" charset="-122"/>
              </a:rPr>
              <a:t>1</a:t>
            </a:r>
            <a:r>
              <a:rPr lang="zh-CN" altLang="en-US" sz="2800" b="1">
                <a:solidFill>
                  <a:srgbClr val="3333FF"/>
                </a:solidFill>
                <a:ea typeface="楷体_GB2312" pitchFamily="49" charset="-122"/>
              </a:rPr>
              <a:t>、定义：</a:t>
            </a:r>
          </a:p>
          <a:p>
            <a:pPr lvl="1" algn="l" eaLnBrk="1" hangingPunct="1">
              <a:spcBef>
                <a:spcPct val="20000"/>
              </a:spcBef>
            </a:pPr>
            <a:r>
              <a:rPr lang="zh-CN" altLang="en-US" sz="2400" b="1"/>
              <a:t>      系统经过一系列状态变化以后，又回到原来状态的过程叫作热力学系统的</a:t>
            </a:r>
            <a:r>
              <a:rPr lang="zh-CN" altLang="en-US" sz="2800" b="1">
                <a:solidFill>
                  <a:srgbClr val="FF3300"/>
                </a:solidFill>
                <a:ea typeface="楷体_GB2312" pitchFamily="49" charset="-122"/>
              </a:rPr>
              <a:t>循环过程</a:t>
            </a:r>
            <a:r>
              <a:rPr lang="zh-CN" altLang="en-US" sz="2400" b="1"/>
              <a:t>，简称</a:t>
            </a:r>
            <a:r>
              <a:rPr lang="zh-CN" altLang="en-US" sz="2800" b="1">
                <a:solidFill>
                  <a:srgbClr val="FF3300"/>
                </a:solidFill>
                <a:ea typeface="楷体_GB2312" pitchFamily="49" charset="-122"/>
              </a:rPr>
              <a:t>循环</a:t>
            </a:r>
            <a:r>
              <a:rPr lang="zh-CN" altLang="en-US" sz="2400" b="1"/>
              <a:t>。</a:t>
            </a:r>
          </a:p>
        </p:txBody>
      </p:sp>
      <p:sp>
        <p:nvSpPr>
          <p:cNvPr id="92183" name="Rectangle 23"/>
          <p:cNvSpPr>
            <a:spLocks noChangeArrowheads="1"/>
          </p:cNvSpPr>
          <p:nvPr/>
        </p:nvSpPr>
        <p:spPr bwMode="auto">
          <a:xfrm>
            <a:off x="250825" y="1557338"/>
            <a:ext cx="8534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a:latin typeface="宋体" pitchFamily="2" charset="-122"/>
              </a:rPr>
              <a:t>   </a:t>
            </a:r>
            <a:r>
              <a:rPr lang="zh-CN" altLang="en-US" sz="2400" b="1">
                <a:latin typeface="宋体" pitchFamily="2" charset="-122"/>
              </a:rPr>
              <a:t>历史上，热力学理论最初是在研究热机工作过程的基础上发展起来的。在热机中被用来吸收热量并对外作功的物质叫</a:t>
            </a:r>
            <a:r>
              <a:rPr lang="zh-CN" altLang="en-US" sz="2400" b="1">
                <a:solidFill>
                  <a:schemeClr val="folHlink"/>
                </a:solidFill>
                <a:latin typeface="宋体" pitchFamily="2" charset="-122"/>
              </a:rPr>
              <a:t>工作物质</a:t>
            </a:r>
            <a:r>
              <a:rPr lang="zh-CN" altLang="en-US" sz="2400" b="1">
                <a:latin typeface="宋体" pitchFamily="2" charset="-122"/>
              </a:rPr>
              <a:t>。工作物质往往经历一系列变化后又回到初始状态。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68"/>
                                        </p:tgtEl>
                                        <p:attrNameLst>
                                          <p:attrName>style.visibility</p:attrName>
                                        </p:attrNameLst>
                                      </p:cBhvr>
                                      <p:to>
                                        <p:strVal val="visible"/>
                                      </p:to>
                                    </p:set>
                                    <p:animEffect transition="in" filter="wipe(left)">
                                      <p:cBhvr>
                                        <p:cTn id="7" dur="500"/>
                                        <p:tgtEl>
                                          <p:spTgt spid="921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69">
                                            <p:bg/>
                                          </p:spTgt>
                                        </p:tgtEl>
                                        <p:attrNameLst>
                                          <p:attrName>style.visibility</p:attrName>
                                        </p:attrNameLst>
                                      </p:cBhvr>
                                      <p:to>
                                        <p:strVal val="visible"/>
                                      </p:to>
                                    </p:set>
                                    <p:animEffect transition="in" filter="wipe(left)">
                                      <p:cBhvr>
                                        <p:cTn id="12" dur="500"/>
                                        <p:tgtEl>
                                          <p:spTgt spid="92169">
                                            <p:bg/>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69">
                                            <p:txEl>
                                              <p:pRg st="0" end="0"/>
                                            </p:txEl>
                                          </p:spTgt>
                                        </p:tgtEl>
                                        <p:attrNameLst>
                                          <p:attrName>style.visibility</p:attrName>
                                        </p:attrNameLst>
                                      </p:cBhvr>
                                      <p:to>
                                        <p:strVal val="visible"/>
                                      </p:to>
                                    </p:set>
                                    <p:animEffect transition="in" filter="wipe(left)">
                                      <p:cBhvr>
                                        <p:cTn id="17" dur="500"/>
                                        <p:tgtEl>
                                          <p:spTgt spid="9216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2183"/>
                                        </p:tgtEl>
                                        <p:attrNameLst>
                                          <p:attrName>style.visibility</p:attrName>
                                        </p:attrNameLst>
                                      </p:cBhvr>
                                      <p:to>
                                        <p:strVal val="visible"/>
                                      </p:to>
                                    </p:set>
                                    <p:animEffect transition="in" filter="box(out)">
                                      <p:cBhvr>
                                        <p:cTn id="22" dur="500"/>
                                        <p:tgtEl>
                                          <p:spTgt spid="921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170">
                                            <p:txEl>
                                              <p:pRg st="0" end="0"/>
                                            </p:txEl>
                                          </p:spTgt>
                                        </p:tgtEl>
                                        <p:attrNameLst>
                                          <p:attrName>style.visibility</p:attrName>
                                        </p:attrNameLst>
                                      </p:cBhvr>
                                      <p:to>
                                        <p:strVal val="visible"/>
                                      </p:to>
                                    </p:set>
                                    <p:animEffect transition="in" filter="wipe(left)">
                                      <p:cBhvr>
                                        <p:cTn id="27" dur="500"/>
                                        <p:tgtEl>
                                          <p:spTgt spid="92170">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2170">
                                            <p:txEl>
                                              <p:pRg st="1" end="1"/>
                                            </p:txEl>
                                          </p:spTgt>
                                        </p:tgtEl>
                                        <p:attrNameLst>
                                          <p:attrName>style.visibility</p:attrName>
                                        </p:attrNameLst>
                                      </p:cBhvr>
                                      <p:to>
                                        <p:strVal val="visible"/>
                                      </p:to>
                                    </p:set>
                                    <p:animEffect transition="in" filter="wipe(left)">
                                      <p:cBhvr>
                                        <p:cTn id="32" dur="500"/>
                                        <p:tgtEl>
                                          <p:spTgt spid="92170">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2164">
                                            <p:txEl>
                                              <p:pRg st="0" end="0"/>
                                            </p:txEl>
                                          </p:spTgt>
                                        </p:tgtEl>
                                        <p:attrNameLst>
                                          <p:attrName>style.visibility</p:attrName>
                                        </p:attrNameLst>
                                      </p:cBhvr>
                                      <p:to>
                                        <p:strVal val="visible"/>
                                      </p:to>
                                    </p:set>
                                    <p:animEffect transition="in" filter="wipe(left)">
                                      <p:cBhvr>
                                        <p:cTn id="37" dur="500"/>
                                        <p:tgtEl>
                                          <p:spTgt spid="92164">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2164">
                                            <p:txEl>
                                              <p:pRg st="1" end="1"/>
                                            </p:txEl>
                                          </p:spTgt>
                                        </p:tgtEl>
                                        <p:attrNameLst>
                                          <p:attrName>style.visibility</p:attrName>
                                        </p:attrNameLst>
                                      </p:cBhvr>
                                      <p:to>
                                        <p:strVal val="visible"/>
                                      </p:to>
                                    </p:set>
                                    <p:animEffect transition="in" filter="wipe(left)">
                                      <p:cBhvr>
                                        <p:cTn id="42" dur="500"/>
                                        <p:tgtEl>
                                          <p:spTgt spid="92164">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2164">
                                            <p:txEl>
                                              <p:pRg st="2" end="2"/>
                                            </p:txEl>
                                          </p:spTgt>
                                        </p:tgtEl>
                                        <p:attrNameLst>
                                          <p:attrName>style.visibility</p:attrName>
                                        </p:attrNameLst>
                                      </p:cBhvr>
                                      <p:to>
                                        <p:strVal val="visible"/>
                                      </p:to>
                                    </p:set>
                                    <p:animEffect transition="in" filter="wipe(left)">
                                      <p:cBhvr>
                                        <p:cTn id="47" dur="500"/>
                                        <p:tgtEl>
                                          <p:spTgt spid="92164">
                                            <p:txEl>
                                              <p:pRg st="2" end="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2164">
                                            <p:txEl>
                                              <p:pRg st="3" end="3"/>
                                            </p:txEl>
                                          </p:spTgt>
                                        </p:tgtEl>
                                        <p:attrNameLst>
                                          <p:attrName>style.visibility</p:attrName>
                                        </p:attrNameLst>
                                      </p:cBhvr>
                                      <p:to>
                                        <p:strVal val="visible"/>
                                      </p:to>
                                    </p:set>
                                    <p:animEffect transition="in" filter="wipe(left)">
                                      <p:cBhvr>
                                        <p:cTn id="52" dur="500"/>
                                        <p:tgtEl>
                                          <p:spTgt spid="9216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build="p" bldLvl="2" autoUpdateAnimBg="0"/>
      <p:bldP spid="92168" grpId="0" autoUpdateAnimBg="0"/>
      <p:bldP spid="92169" grpId="0" build="p" animBg="1" autoUpdateAnimBg="0"/>
      <p:bldP spid="92170" grpId="0" build="p" bldLvl="2" autoUpdateAnimBg="0"/>
      <p:bldP spid="9218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1">
            <a:extLst>
              <a:ext uri="{FF2B5EF4-FFF2-40B4-BE49-F238E27FC236}">
                <a16:creationId xmlns:a16="http://schemas.microsoft.com/office/drawing/2014/main" id="{B4B3A625-397E-4D15-8124-808DA4A7134F}"/>
              </a:ext>
            </a:extLst>
          </p:cNvPr>
          <p:cNvGrpSpPr>
            <a:grpSpLocks/>
          </p:cNvGrpSpPr>
          <p:nvPr/>
        </p:nvGrpSpPr>
        <p:grpSpPr bwMode="auto">
          <a:xfrm>
            <a:off x="683145" y="1365443"/>
            <a:ext cx="3816350" cy="2541588"/>
            <a:chOff x="249" y="717"/>
            <a:chExt cx="2404" cy="1601"/>
          </a:xfrm>
        </p:grpSpPr>
        <p:sp>
          <p:nvSpPr>
            <p:cNvPr id="3" name="Freeform 102" descr="宽上对角线">
              <a:extLst>
                <a:ext uri="{FF2B5EF4-FFF2-40B4-BE49-F238E27FC236}">
                  <a16:creationId xmlns:a16="http://schemas.microsoft.com/office/drawing/2014/main" id="{8A009A4F-F61F-4DCE-8F41-2B3CC7A2C6FF}"/>
                </a:ext>
              </a:extLst>
            </p:cNvPr>
            <p:cNvSpPr>
              <a:spLocks/>
            </p:cNvSpPr>
            <p:nvPr/>
          </p:nvSpPr>
          <p:spPr bwMode="auto">
            <a:xfrm>
              <a:off x="777" y="1028"/>
              <a:ext cx="1005" cy="1055"/>
            </a:xfrm>
            <a:custGeom>
              <a:avLst/>
              <a:gdLst>
                <a:gd name="T0" fmla="*/ 0 w 1104"/>
                <a:gd name="T1" fmla="*/ 0 h 1296"/>
                <a:gd name="T2" fmla="*/ 74 w 1104"/>
                <a:gd name="T3" fmla="*/ 0 h 1296"/>
                <a:gd name="T4" fmla="*/ 174 w 1104"/>
                <a:gd name="T5" fmla="*/ 11 h 1296"/>
                <a:gd name="T6" fmla="*/ 249 w 1104"/>
                <a:gd name="T7" fmla="*/ 23 h 1296"/>
                <a:gd name="T8" fmla="*/ 349 w 1104"/>
                <a:gd name="T9" fmla="*/ 45 h 1296"/>
                <a:gd name="T10" fmla="*/ 398 w 1104"/>
                <a:gd name="T11" fmla="*/ 68 h 1296"/>
                <a:gd name="T12" fmla="*/ 448 w 1104"/>
                <a:gd name="T13" fmla="*/ 91 h 1296"/>
                <a:gd name="T14" fmla="*/ 498 w 1104"/>
                <a:gd name="T15" fmla="*/ 148 h 1296"/>
                <a:gd name="T16" fmla="*/ 548 w 1104"/>
                <a:gd name="T17" fmla="*/ 205 h 1296"/>
                <a:gd name="T18" fmla="*/ 572 w 1104"/>
                <a:gd name="T19" fmla="*/ 239 h 1296"/>
                <a:gd name="T20" fmla="*/ 572 w 1104"/>
                <a:gd name="T21" fmla="*/ 307 h 1296"/>
                <a:gd name="T22" fmla="*/ 0 w 1104"/>
                <a:gd name="T23" fmla="*/ 307 h 1296"/>
                <a:gd name="T24" fmla="*/ 0 w 1104"/>
                <a:gd name="T25" fmla="*/ 0 h 12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04" h="1296">
                  <a:moveTo>
                    <a:pt x="0" y="0"/>
                  </a:moveTo>
                  <a:lnTo>
                    <a:pt x="144" y="0"/>
                  </a:lnTo>
                  <a:lnTo>
                    <a:pt x="336" y="48"/>
                  </a:lnTo>
                  <a:lnTo>
                    <a:pt x="480" y="96"/>
                  </a:lnTo>
                  <a:lnTo>
                    <a:pt x="672" y="192"/>
                  </a:lnTo>
                  <a:lnTo>
                    <a:pt x="768" y="288"/>
                  </a:lnTo>
                  <a:lnTo>
                    <a:pt x="864" y="384"/>
                  </a:lnTo>
                  <a:lnTo>
                    <a:pt x="960" y="624"/>
                  </a:lnTo>
                  <a:lnTo>
                    <a:pt x="1056" y="864"/>
                  </a:lnTo>
                  <a:lnTo>
                    <a:pt x="1104" y="1008"/>
                  </a:lnTo>
                  <a:lnTo>
                    <a:pt x="1104" y="1296"/>
                  </a:lnTo>
                  <a:lnTo>
                    <a:pt x="0" y="1296"/>
                  </a:lnTo>
                  <a:lnTo>
                    <a:pt x="0" y="0"/>
                  </a:lnTo>
                  <a:close/>
                </a:path>
              </a:pathLst>
            </a:custGeom>
            <a:pattFill prst="wdUpDiag">
              <a:fgClr>
                <a:srgbClr val="FF00FF"/>
              </a:fgClr>
              <a:bgClr>
                <a:schemeClr val="bg1"/>
              </a:bgClr>
            </a:pattFill>
            <a:ln>
              <a:noFill/>
            </a:ln>
            <a:effectLst/>
            <a:extLst>
              <a:ext uri="{91240B29-F687-4F45-9708-019B960494DF}">
                <a14:hiddenLine xmlns:a14="http://schemas.microsoft.com/office/drawing/2010/main" w="19050" cap="flat" cmpd="sng">
                  <a:solidFill>
                    <a:schemeClr val="tx1"/>
                  </a:solidFill>
                  <a:prstDash val="solid"/>
                  <a:round/>
                  <a:headEnd type="none" w="med" len="me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Freeform 103">
              <a:extLst>
                <a:ext uri="{FF2B5EF4-FFF2-40B4-BE49-F238E27FC236}">
                  <a16:creationId xmlns:a16="http://schemas.microsoft.com/office/drawing/2014/main" id="{370DBBBA-E63F-43AA-8F4C-9E1D94E44648}"/>
                </a:ext>
              </a:extLst>
            </p:cNvPr>
            <p:cNvSpPr>
              <a:spLocks/>
            </p:cNvSpPr>
            <p:nvPr/>
          </p:nvSpPr>
          <p:spPr bwMode="auto">
            <a:xfrm flipH="1" flipV="1">
              <a:off x="762" y="1009"/>
              <a:ext cx="1005" cy="820"/>
            </a:xfrm>
            <a:custGeom>
              <a:avLst/>
              <a:gdLst>
                <a:gd name="T0" fmla="*/ 0 w 1104"/>
                <a:gd name="T1" fmla="*/ 0 h 1008"/>
                <a:gd name="T2" fmla="*/ 74 w 1104"/>
                <a:gd name="T3" fmla="*/ 103 h 1008"/>
                <a:gd name="T4" fmla="*/ 198 w 1104"/>
                <a:gd name="T5" fmla="*/ 181 h 1008"/>
                <a:gd name="T6" fmla="*/ 422 w 1104"/>
                <a:gd name="T7" fmla="*/ 226 h 1008"/>
                <a:gd name="T8" fmla="*/ 572 w 1104"/>
                <a:gd name="T9" fmla="*/ 238 h 10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04" h="1008">
                  <a:moveTo>
                    <a:pt x="0" y="0"/>
                  </a:moveTo>
                  <a:cubicBezTo>
                    <a:pt x="40" y="152"/>
                    <a:pt x="80" y="304"/>
                    <a:pt x="144" y="432"/>
                  </a:cubicBezTo>
                  <a:cubicBezTo>
                    <a:pt x="208" y="560"/>
                    <a:pt x="272" y="680"/>
                    <a:pt x="384" y="768"/>
                  </a:cubicBezTo>
                  <a:cubicBezTo>
                    <a:pt x="496" y="856"/>
                    <a:pt x="696" y="920"/>
                    <a:pt x="816" y="960"/>
                  </a:cubicBezTo>
                  <a:cubicBezTo>
                    <a:pt x="936" y="1000"/>
                    <a:pt x="1056" y="1000"/>
                    <a:pt x="1104" y="1008"/>
                  </a:cubicBezTo>
                </a:path>
              </a:pathLst>
            </a:custGeom>
            <a:noFill/>
            <a:ln w="19050" cap="flat" cmpd="sng">
              <a:solidFill>
                <a:srgbClr val="FF00FF"/>
              </a:solidFill>
              <a:prstDash val="solid"/>
              <a:round/>
              <a:headEnd type="non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Freeform 104">
              <a:extLst>
                <a:ext uri="{FF2B5EF4-FFF2-40B4-BE49-F238E27FC236}">
                  <a16:creationId xmlns:a16="http://schemas.microsoft.com/office/drawing/2014/main" id="{C787CBB5-C625-4109-A746-279F42F8C25A}"/>
                </a:ext>
              </a:extLst>
            </p:cNvPr>
            <p:cNvSpPr>
              <a:spLocks/>
            </p:cNvSpPr>
            <p:nvPr/>
          </p:nvSpPr>
          <p:spPr bwMode="auto">
            <a:xfrm>
              <a:off x="777" y="1028"/>
              <a:ext cx="1005" cy="820"/>
            </a:xfrm>
            <a:custGeom>
              <a:avLst/>
              <a:gdLst>
                <a:gd name="T0" fmla="*/ 0 w 1104"/>
                <a:gd name="T1" fmla="*/ 0 h 1008"/>
                <a:gd name="T2" fmla="*/ 74 w 1104"/>
                <a:gd name="T3" fmla="*/ 103 h 1008"/>
                <a:gd name="T4" fmla="*/ 198 w 1104"/>
                <a:gd name="T5" fmla="*/ 181 h 1008"/>
                <a:gd name="T6" fmla="*/ 422 w 1104"/>
                <a:gd name="T7" fmla="*/ 226 h 1008"/>
                <a:gd name="T8" fmla="*/ 572 w 1104"/>
                <a:gd name="T9" fmla="*/ 238 h 10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04" h="1008">
                  <a:moveTo>
                    <a:pt x="0" y="0"/>
                  </a:moveTo>
                  <a:cubicBezTo>
                    <a:pt x="40" y="152"/>
                    <a:pt x="80" y="304"/>
                    <a:pt x="144" y="432"/>
                  </a:cubicBezTo>
                  <a:cubicBezTo>
                    <a:pt x="208" y="560"/>
                    <a:pt x="272" y="680"/>
                    <a:pt x="384" y="768"/>
                  </a:cubicBezTo>
                  <a:cubicBezTo>
                    <a:pt x="496" y="856"/>
                    <a:pt x="696" y="920"/>
                    <a:pt x="816" y="960"/>
                  </a:cubicBezTo>
                  <a:cubicBezTo>
                    <a:pt x="936" y="1000"/>
                    <a:pt x="1056" y="1000"/>
                    <a:pt x="1104" y="1008"/>
                  </a:cubicBezTo>
                </a:path>
              </a:pathLst>
            </a:custGeom>
            <a:noFill/>
            <a:ln w="19050" cap="flat" cmpd="sng">
              <a:solidFill>
                <a:schemeClr val="accent2"/>
              </a:solidFill>
              <a:prstDash val="solid"/>
              <a:round/>
              <a:headEnd type="non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106">
              <a:extLst>
                <a:ext uri="{FF2B5EF4-FFF2-40B4-BE49-F238E27FC236}">
                  <a16:creationId xmlns:a16="http://schemas.microsoft.com/office/drawing/2014/main" id="{F5A23008-5F38-4FE2-87D5-DCF9447FB927}"/>
                </a:ext>
              </a:extLst>
            </p:cNvPr>
            <p:cNvSpPr>
              <a:spLocks noChangeShapeType="1"/>
            </p:cNvSpPr>
            <p:nvPr/>
          </p:nvSpPr>
          <p:spPr bwMode="auto">
            <a:xfrm flipV="1">
              <a:off x="471" y="717"/>
              <a:ext cx="0" cy="1367"/>
            </a:xfrm>
            <a:prstGeom prst="line">
              <a:avLst/>
            </a:prstGeom>
            <a:noFill/>
            <a:ln w="19050">
              <a:solidFill>
                <a:schemeClr val="tx1"/>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107">
              <a:extLst>
                <a:ext uri="{FF2B5EF4-FFF2-40B4-BE49-F238E27FC236}">
                  <a16:creationId xmlns:a16="http://schemas.microsoft.com/office/drawing/2014/main" id="{1CD255B6-005C-4CA7-A5F1-245F13F0B60D}"/>
                </a:ext>
              </a:extLst>
            </p:cNvPr>
            <p:cNvSpPr>
              <a:spLocks noChangeShapeType="1"/>
            </p:cNvSpPr>
            <p:nvPr/>
          </p:nvSpPr>
          <p:spPr bwMode="auto">
            <a:xfrm>
              <a:off x="471" y="2084"/>
              <a:ext cx="1879" cy="0"/>
            </a:xfrm>
            <a:prstGeom prst="line">
              <a:avLst/>
            </a:prstGeom>
            <a:noFill/>
            <a:ln w="19050">
              <a:solidFill>
                <a:schemeClr val="tx1"/>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 name="Object 108">
              <a:extLst>
                <a:ext uri="{FF2B5EF4-FFF2-40B4-BE49-F238E27FC236}">
                  <a16:creationId xmlns:a16="http://schemas.microsoft.com/office/drawing/2014/main" id="{0FEB36E9-3F6C-4BAF-B544-30BF2BE38CD6}"/>
                </a:ext>
              </a:extLst>
            </p:cNvPr>
            <p:cNvGraphicFramePr>
              <a:graphicFrameLocks noChangeAspect="1"/>
            </p:cNvGraphicFramePr>
            <p:nvPr/>
          </p:nvGraphicFramePr>
          <p:xfrm>
            <a:off x="249" y="2071"/>
            <a:ext cx="145" cy="149"/>
          </p:xfrm>
          <a:graphic>
            <a:graphicData uri="http://schemas.openxmlformats.org/presentationml/2006/ole">
              <mc:AlternateContent xmlns:mc="http://schemas.openxmlformats.org/markup-compatibility/2006">
                <mc:Choice xmlns:v="urn:schemas-microsoft-com:vml" Requires="v">
                  <p:oleObj spid="_x0000_s163490" name="公式" r:id="rId3" imgW="253890" imgH="291973" progId="Equation.3">
                    <p:embed/>
                  </p:oleObj>
                </mc:Choice>
                <mc:Fallback>
                  <p:oleObj name="公式" r:id="rId3" imgW="253890" imgH="291973" progId="Equation.3">
                    <p:embed/>
                    <p:pic>
                      <p:nvPicPr>
                        <p:cNvPr id="4136" name="Object 1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 y="2071"/>
                          <a:ext cx="145" cy="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109">
              <a:extLst>
                <a:ext uri="{FF2B5EF4-FFF2-40B4-BE49-F238E27FC236}">
                  <a16:creationId xmlns:a16="http://schemas.microsoft.com/office/drawing/2014/main" id="{E50D0997-B8B0-4CF1-A7F6-FF6133268DFC}"/>
                </a:ext>
              </a:extLst>
            </p:cNvPr>
            <p:cNvGraphicFramePr>
              <a:graphicFrameLocks noChangeAspect="1"/>
            </p:cNvGraphicFramePr>
            <p:nvPr/>
          </p:nvGraphicFramePr>
          <p:xfrm>
            <a:off x="255" y="845"/>
            <a:ext cx="176" cy="181"/>
          </p:xfrm>
          <a:graphic>
            <a:graphicData uri="http://schemas.openxmlformats.org/presentationml/2006/ole">
              <mc:AlternateContent xmlns:mc="http://schemas.openxmlformats.org/markup-compatibility/2006">
                <mc:Choice xmlns:v="urn:schemas-microsoft-com:vml" Requires="v">
                  <p:oleObj spid="_x0000_s163491" name="Equation" r:id="rId5" imgW="393529" imgH="393529" progId="Equation.DSMT4">
                    <p:embed/>
                  </p:oleObj>
                </mc:Choice>
                <mc:Fallback>
                  <p:oleObj name="Equation" r:id="rId5" imgW="393529" imgH="393529" progId="Equation.DSMT4">
                    <p:embed/>
                    <p:pic>
                      <p:nvPicPr>
                        <p:cNvPr id="4137" name="Object 10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 y="845"/>
                          <a:ext cx="176"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10">
              <a:extLst>
                <a:ext uri="{FF2B5EF4-FFF2-40B4-BE49-F238E27FC236}">
                  <a16:creationId xmlns:a16="http://schemas.microsoft.com/office/drawing/2014/main" id="{87536B6D-077E-492E-AFA8-D1133E1D5655}"/>
                </a:ext>
              </a:extLst>
            </p:cNvPr>
            <p:cNvGraphicFramePr>
              <a:graphicFrameLocks noChangeAspect="1"/>
            </p:cNvGraphicFramePr>
            <p:nvPr/>
          </p:nvGraphicFramePr>
          <p:xfrm>
            <a:off x="2350" y="2003"/>
            <a:ext cx="225" cy="207"/>
          </p:xfrm>
          <a:graphic>
            <a:graphicData uri="http://schemas.openxmlformats.org/presentationml/2006/ole">
              <mc:AlternateContent xmlns:mc="http://schemas.openxmlformats.org/markup-compatibility/2006">
                <mc:Choice xmlns:v="urn:schemas-microsoft-com:vml" Requires="v">
                  <p:oleObj spid="_x0000_s163492" name="公式" r:id="rId7" imgW="393359" imgH="406048" progId="Equation.3">
                    <p:embed/>
                  </p:oleObj>
                </mc:Choice>
                <mc:Fallback>
                  <p:oleObj name="公式" r:id="rId7" imgW="393359" imgH="406048" progId="Equation.3">
                    <p:embed/>
                    <p:pic>
                      <p:nvPicPr>
                        <p:cNvPr id="4138" name="Object 1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0" y="2003"/>
                          <a:ext cx="225"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Line 111">
              <a:extLst>
                <a:ext uri="{FF2B5EF4-FFF2-40B4-BE49-F238E27FC236}">
                  <a16:creationId xmlns:a16="http://schemas.microsoft.com/office/drawing/2014/main" id="{BCA4669D-718F-4CD7-B9E0-256B6377409A}"/>
                </a:ext>
              </a:extLst>
            </p:cNvPr>
            <p:cNvSpPr>
              <a:spLocks noChangeShapeType="1"/>
            </p:cNvSpPr>
            <p:nvPr/>
          </p:nvSpPr>
          <p:spPr bwMode="auto">
            <a:xfrm>
              <a:off x="1782" y="1848"/>
              <a:ext cx="0" cy="235"/>
            </a:xfrm>
            <a:prstGeom prst="line">
              <a:avLst/>
            </a:prstGeom>
            <a:noFill/>
            <a:ln w="19050">
              <a:solidFill>
                <a:schemeClr val="accent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12">
              <a:extLst>
                <a:ext uri="{FF2B5EF4-FFF2-40B4-BE49-F238E27FC236}">
                  <a16:creationId xmlns:a16="http://schemas.microsoft.com/office/drawing/2014/main" id="{ADFE0F5D-A0A4-4989-AA90-11E60311D5F6}"/>
                </a:ext>
              </a:extLst>
            </p:cNvPr>
            <p:cNvSpPr>
              <a:spLocks noChangeShapeType="1"/>
            </p:cNvSpPr>
            <p:nvPr/>
          </p:nvSpPr>
          <p:spPr bwMode="auto">
            <a:xfrm>
              <a:off x="1214" y="1106"/>
              <a:ext cx="175" cy="78"/>
            </a:xfrm>
            <a:prstGeom prst="line">
              <a:avLst/>
            </a:prstGeom>
            <a:noFill/>
            <a:ln w="571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3">
              <a:extLst>
                <a:ext uri="{FF2B5EF4-FFF2-40B4-BE49-F238E27FC236}">
                  <a16:creationId xmlns:a16="http://schemas.microsoft.com/office/drawing/2014/main" id="{B54C5A44-24DB-4F0B-97F4-4B774308AC17}"/>
                </a:ext>
              </a:extLst>
            </p:cNvPr>
            <p:cNvSpPr>
              <a:spLocks noChangeShapeType="1"/>
            </p:cNvSpPr>
            <p:nvPr/>
          </p:nvSpPr>
          <p:spPr bwMode="auto">
            <a:xfrm flipH="1">
              <a:off x="777" y="1028"/>
              <a:ext cx="0" cy="1094"/>
            </a:xfrm>
            <a:prstGeom prst="line">
              <a:avLst/>
            </a:prstGeom>
            <a:noFill/>
            <a:ln w="19050">
              <a:solidFill>
                <a:schemeClr val="accent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 name="Object 114">
              <a:extLst>
                <a:ext uri="{FF2B5EF4-FFF2-40B4-BE49-F238E27FC236}">
                  <a16:creationId xmlns:a16="http://schemas.microsoft.com/office/drawing/2014/main" id="{8314DD85-507C-4CCE-AE89-23AC61458A29}"/>
                </a:ext>
              </a:extLst>
            </p:cNvPr>
            <p:cNvGraphicFramePr>
              <a:graphicFrameLocks noChangeAspect="1"/>
            </p:cNvGraphicFramePr>
            <p:nvPr/>
          </p:nvGraphicFramePr>
          <p:xfrm>
            <a:off x="1914" y="1614"/>
            <a:ext cx="151" cy="189"/>
          </p:xfrm>
          <a:graphic>
            <a:graphicData uri="http://schemas.openxmlformats.org/presentationml/2006/ole">
              <mc:AlternateContent xmlns:mc="http://schemas.openxmlformats.org/markup-compatibility/2006">
                <mc:Choice xmlns:v="urn:schemas-microsoft-com:vml" Requires="v">
                  <p:oleObj spid="_x0000_s163493" name="公式" r:id="rId9" imgW="266584" imgH="368140" progId="Equation.3">
                    <p:embed/>
                  </p:oleObj>
                </mc:Choice>
                <mc:Fallback>
                  <p:oleObj name="公式" r:id="rId9" imgW="266584" imgH="368140" progId="Equation.3">
                    <p:embed/>
                    <p:pic>
                      <p:nvPicPr>
                        <p:cNvPr id="4142" name="Object 1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14" y="1614"/>
                          <a:ext cx="151"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15">
              <a:extLst>
                <a:ext uri="{FF2B5EF4-FFF2-40B4-BE49-F238E27FC236}">
                  <a16:creationId xmlns:a16="http://schemas.microsoft.com/office/drawing/2014/main" id="{95A2C64B-FFAA-49F4-867E-3E5F3918C2C0}"/>
                </a:ext>
              </a:extLst>
            </p:cNvPr>
            <p:cNvGraphicFramePr>
              <a:graphicFrameLocks noChangeAspect="1"/>
            </p:cNvGraphicFramePr>
            <p:nvPr/>
          </p:nvGraphicFramePr>
          <p:xfrm>
            <a:off x="821" y="755"/>
            <a:ext cx="122" cy="189"/>
          </p:xfrm>
          <a:graphic>
            <a:graphicData uri="http://schemas.openxmlformats.org/presentationml/2006/ole">
              <mc:AlternateContent xmlns:mc="http://schemas.openxmlformats.org/markup-compatibility/2006">
                <mc:Choice xmlns:v="urn:schemas-microsoft-com:vml" Requires="v">
                  <p:oleObj spid="_x0000_s163494" name="公式" r:id="rId11" imgW="215806" imgH="368140" progId="Equation.3">
                    <p:embed/>
                  </p:oleObj>
                </mc:Choice>
                <mc:Fallback>
                  <p:oleObj name="公式" r:id="rId11" imgW="215806" imgH="368140" progId="Equation.3">
                    <p:embed/>
                    <p:pic>
                      <p:nvPicPr>
                        <p:cNvPr id="4143" name="Object 1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1" y="755"/>
                          <a:ext cx="122"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Oval 116">
              <a:extLst>
                <a:ext uri="{FF2B5EF4-FFF2-40B4-BE49-F238E27FC236}">
                  <a16:creationId xmlns:a16="http://schemas.microsoft.com/office/drawing/2014/main" id="{539C8553-DCEC-4D5D-909B-B8A1D2B21E35}"/>
                </a:ext>
              </a:extLst>
            </p:cNvPr>
            <p:cNvSpPr>
              <a:spLocks noChangeArrowheads="1"/>
            </p:cNvSpPr>
            <p:nvPr/>
          </p:nvSpPr>
          <p:spPr bwMode="auto">
            <a:xfrm>
              <a:off x="777" y="990"/>
              <a:ext cx="44" cy="38"/>
            </a:xfrm>
            <a:prstGeom prst="ellipse">
              <a:avLst/>
            </a:prstGeom>
            <a:solidFill>
              <a:schemeClr val="accent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Oval 117">
              <a:extLst>
                <a:ext uri="{FF2B5EF4-FFF2-40B4-BE49-F238E27FC236}">
                  <a16:creationId xmlns:a16="http://schemas.microsoft.com/office/drawing/2014/main" id="{02F2959B-09EE-4602-854E-FE0DF5851FB6}"/>
                </a:ext>
              </a:extLst>
            </p:cNvPr>
            <p:cNvSpPr>
              <a:spLocks noChangeArrowheads="1"/>
            </p:cNvSpPr>
            <p:nvPr/>
          </p:nvSpPr>
          <p:spPr bwMode="auto">
            <a:xfrm>
              <a:off x="1739" y="1810"/>
              <a:ext cx="43" cy="38"/>
            </a:xfrm>
            <a:prstGeom prst="ellipse">
              <a:avLst/>
            </a:prstGeom>
            <a:solidFill>
              <a:schemeClr val="accent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 name="Object 118">
              <a:extLst>
                <a:ext uri="{FF2B5EF4-FFF2-40B4-BE49-F238E27FC236}">
                  <a16:creationId xmlns:a16="http://schemas.microsoft.com/office/drawing/2014/main" id="{19B2BDC5-CF11-42CC-BB18-F59713E66B68}"/>
                </a:ext>
              </a:extLst>
            </p:cNvPr>
            <p:cNvGraphicFramePr>
              <a:graphicFrameLocks noChangeAspect="1"/>
            </p:cNvGraphicFramePr>
            <p:nvPr/>
          </p:nvGraphicFramePr>
          <p:xfrm>
            <a:off x="1764" y="2134"/>
            <a:ext cx="176" cy="184"/>
          </p:xfrm>
          <a:graphic>
            <a:graphicData uri="http://schemas.openxmlformats.org/presentationml/2006/ole">
              <mc:AlternateContent xmlns:mc="http://schemas.openxmlformats.org/markup-compatibility/2006">
                <mc:Choice xmlns:v="urn:schemas-microsoft-com:vml" Requires="v">
                  <p:oleObj spid="_x0000_s163495" name="公式" r:id="rId13" imgW="457002" imgH="533169" progId="Equation.3">
                    <p:embed/>
                  </p:oleObj>
                </mc:Choice>
                <mc:Fallback>
                  <p:oleObj name="公式" r:id="rId13" imgW="457002" imgH="533169" progId="Equation.3">
                    <p:embed/>
                    <p:pic>
                      <p:nvPicPr>
                        <p:cNvPr id="4146" name="Object 1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64" y="2134"/>
                          <a:ext cx="176"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19">
              <a:extLst>
                <a:ext uri="{FF2B5EF4-FFF2-40B4-BE49-F238E27FC236}">
                  <a16:creationId xmlns:a16="http://schemas.microsoft.com/office/drawing/2014/main" id="{34012E20-D503-4B92-8A43-B2BA8E38C9D0}"/>
                </a:ext>
              </a:extLst>
            </p:cNvPr>
            <p:cNvGraphicFramePr>
              <a:graphicFrameLocks noChangeAspect="1"/>
            </p:cNvGraphicFramePr>
            <p:nvPr/>
          </p:nvGraphicFramePr>
          <p:xfrm>
            <a:off x="690" y="2134"/>
            <a:ext cx="160" cy="184"/>
          </p:xfrm>
          <a:graphic>
            <a:graphicData uri="http://schemas.openxmlformats.org/presentationml/2006/ole">
              <mc:AlternateContent xmlns:mc="http://schemas.openxmlformats.org/markup-compatibility/2006">
                <mc:Choice xmlns:v="urn:schemas-microsoft-com:vml" Requires="v">
                  <p:oleObj spid="_x0000_s163496" name="公式" r:id="rId15" imgW="418918" imgH="533169" progId="Equation.3">
                    <p:embed/>
                  </p:oleObj>
                </mc:Choice>
                <mc:Fallback>
                  <p:oleObj name="公式" r:id="rId15" imgW="418918" imgH="533169" progId="Equation.3">
                    <p:embed/>
                    <p:pic>
                      <p:nvPicPr>
                        <p:cNvPr id="4147" name="Object 1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0" y="2134"/>
                          <a:ext cx="160"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Freeform 120">
              <a:extLst>
                <a:ext uri="{FF2B5EF4-FFF2-40B4-BE49-F238E27FC236}">
                  <a16:creationId xmlns:a16="http://schemas.microsoft.com/office/drawing/2014/main" id="{7D111D1B-DD10-4BDB-82A1-C04307B1A2B5}"/>
                </a:ext>
              </a:extLst>
            </p:cNvPr>
            <p:cNvSpPr>
              <a:spLocks/>
            </p:cNvSpPr>
            <p:nvPr/>
          </p:nvSpPr>
          <p:spPr bwMode="auto">
            <a:xfrm>
              <a:off x="777" y="1028"/>
              <a:ext cx="1005" cy="1055"/>
            </a:xfrm>
            <a:custGeom>
              <a:avLst/>
              <a:gdLst>
                <a:gd name="T0" fmla="*/ 0 w 1104"/>
                <a:gd name="T1" fmla="*/ 0 h 1296"/>
                <a:gd name="T2" fmla="*/ 25 w 1104"/>
                <a:gd name="T3" fmla="*/ 56 h 1296"/>
                <a:gd name="T4" fmla="*/ 74 w 1104"/>
                <a:gd name="T5" fmla="*/ 103 h 1296"/>
                <a:gd name="T6" fmla="*/ 99 w 1104"/>
                <a:gd name="T7" fmla="*/ 125 h 1296"/>
                <a:gd name="T8" fmla="*/ 149 w 1104"/>
                <a:gd name="T9" fmla="*/ 159 h 1296"/>
                <a:gd name="T10" fmla="*/ 198 w 1104"/>
                <a:gd name="T11" fmla="*/ 182 h 1296"/>
                <a:gd name="T12" fmla="*/ 273 w 1104"/>
                <a:gd name="T13" fmla="*/ 205 h 1296"/>
                <a:gd name="T14" fmla="*/ 349 w 1104"/>
                <a:gd name="T15" fmla="*/ 216 h 1296"/>
                <a:gd name="T16" fmla="*/ 422 w 1104"/>
                <a:gd name="T17" fmla="*/ 228 h 1296"/>
                <a:gd name="T18" fmla="*/ 498 w 1104"/>
                <a:gd name="T19" fmla="*/ 239 h 1296"/>
                <a:gd name="T20" fmla="*/ 548 w 1104"/>
                <a:gd name="T21" fmla="*/ 239 h 1296"/>
                <a:gd name="T22" fmla="*/ 572 w 1104"/>
                <a:gd name="T23" fmla="*/ 239 h 1296"/>
                <a:gd name="T24" fmla="*/ 572 w 1104"/>
                <a:gd name="T25" fmla="*/ 307 h 1296"/>
                <a:gd name="T26" fmla="*/ 0 w 1104"/>
                <a:gd name="T27" fmla="*/ 307 h 1296"/>
                <a:gd name="T28" fmla="*/ 0 w 1104"/>
                <a:gd name="T29" fmla="*/ 0 h 12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04" h="1296">
                  <a:moveTo>
                    <a:pt x="0" y="0"/>
                  </a:moveTo>
                  <a:lnTo>
                    <a:pt x="48" y="240"/>
                  </a:lnTo>
                  <a:lnTo>
                    <a:pt x="144" y="432"/>
                  </a:lnTo>
                  <a:lnTo>
                    <a:pt x="192" y="528"/>
                  </a:lnTo>
                  <a:lnTo>
                    <a:pt x="288" y="672"/>
                  </a:lnTo>
                  <a:lnTo>
                    <a:pt x="384" y="768"/>
                  </a:lnTo>
                  <a:lnTo>
                    <a:pt x="528" y="864"/>
                  </a:lnTo>
                  <a:lnTo>
                    <a:pt x="672" y="912"/>
                  </a:lnTo>
                  <a:lnTo>
                    <a:pt x="816" y="960"/>
                  </a:lnTo>
                  <a:lnTo>
                    <a:pt x="960" y="1008"/>
                  </a:lnTo>
                  <a:lnTo>
                    <a:pt x="1056" y="1008"/>
                  </a:lnTo>
                  <a:lnTo>
                    <a:pt x="1104" y="1008"/>
                  </a:lnTo>
                  <a:lnTo>
                    <a:pt x="1104" y="1296"/>
                  </a:lnTo>
                  <a:lnTo>
                    <a:pt x="0" y="1296"/>
                  </a:lnTo>
                  <a:lnTo>
                    <a:pt x="0" y="0"/>
                  </a:lnTo>
                  <a:close/>
                </a:path>
              </a:pathLst>
            </a:custGeom>
            <a:solidFill>
              <a:srgbClr val="00CCFF">
                <a:alpha val="50195"/>
              </a:srgbClr>
            </a:solidFill>
            <a:ln>
              <a:noFill/>
            </a:ln>
            <a:effectLst/>
            <a:extLst>
              <a:ext uri="{91240B29-F687-4F45-9708-019B960494DF}">
                <a14:hiddenLine xmlns:a14="http://schemas.microsoft.com/office/drawing/2010/main" w="19050" cap="flat" cmpd="sng">
                  <a:solidFill>
                    <a:schemeClr val="tx1"/>
                  </a:solidFill>
                  <a:prstDash val="solid"/>
                  <a:round/>
                  <a:headEnd type="none" w="med" len="me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21">
              <a:extLst>
                <a:ext uri="{FF2B5EF4-FFF2-40B4-BE49-F238E27FC236}">
                  <a16:creationId xmlns:a16="http://schemas.microsoft.com/office/drawing/2014/main" id="{5F2DDFB6-5197-4928-9055-B0D81981C466}"/>
                </a:ext>
              </a:extLst>
            </p:cNvPr>
            <p:cNvSpPr>
              <a:spLocks noChangeShapeType="1"/>
            </p:cNvSpPr>
            <p:nvPr/>
          </p:nvSpPr>
          <p:spPr bwMode="auto">
            <a:xfrm flipH="1" flipV="1">
              <a:off x="1082" y="1628"/>
              <a:ext cx="132" cy="77"/>
            </a:xfrm>
            <a:prstGeom prst="line">
              <a:avLst/>
            </a:prstGeom>
            <a:noFill/>
            <a:ln w="571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Rectangle 122">
              <a:extLst>
                <a:ext uri="{FF2B5EF4-FFF2-40B4-BE49-F238E27FC236}">
                  <a16:creationId xmlns:a16="http://schemas.microsoft.com/office/drawing/2014/main" id="{3FDE2941-C362-45FE-B9E1-C0B8953D79AB}"/>
                </a:ext>
              </a:extLst>
            </p:cNvPr>
            <p:cNvSpPr>
              <a:spLocks noChangeArrowheads="1"/>
            </p:cNvSpPr>
            <p:nvPr/>
          </p:nvSpPr>
          <p:spPr bwMode="auto">
            <a:xfrm>
              <a:off x="1651" y="887"/>
              <a:ext cx="10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FF0000"/>
                  </a:solidFill>
                  <a:latin typeface="Century Schoolbook" pitchFamily="18" charset="0"/>
                </a:rPr>
                <a:t>正循环</a:t>
              </a:r>
            </a:p>
          </p:txBody>
        </p:sp>
        <p:sp>
          <p:nvSpPr>
            <p:cNvPr id="24" name="Arc 124">
              <a:extLst>
                <a:ext uri="{FF2B5EF4-FFF2-40B4-BE49-F238E27FC236}">
                  <a16:creationId xmlns:a16="http://schemas.microsoft.com/office/drawing/2014/main" id="{0032B1A9-8834-4296-AE5A-35AE8B2E262A}"/>
                </a:ext>
              </a:extLst>
            </p:cNvPr>
            <p:cNvSpPr>
              <a:spLocks/>
            </p:cNvSpPr>
            <p:nvPr/>
          </p:nvSpPr>
          <p:spPr bwMode="auto">
            <a:xfrm flipH="1">
              <a:off x="1257" y="1576"/>
              <a:ext cx="44" cy="35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57150">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127">
              <a:extLst>
                <a:ext uri="{FF2B5EF4-FFF2-40B4-BE49-F238E27FC236}">
                  <a16:creationId xmlns:a16="http://schemas.microsoft.com/office/drawing/2014/main" id="{5B405E88-1AD2-4516-8282-A91BC8145DE1}"/>
                </a:ext>
              </a:extLst>
            </p:cNvPr>
            <p:cNvSpPr>
              <a:spLocks noChangeShapeType="1"/>
            </p:cNvSpPr>
            <p:nvPr/>
          </p:nvSpPr>
          <p:spPr bwMode="auto">
            <a:xfrm>
              <a:off x="1301" y="1577"/>
              <a:ext cx="525" cy="0"/>
            </a:xfrm>
            <a:prstGeom prst="line">
              <a:avLst/>
            </a:prstGeom>
            <a:noFill/>
            <a:ln w="57150">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8" name="Object 128">
              <a:extLst>
                <a:ext uri="{FF2B5EF4-FFF2-40B4-BE49-F238E27FC236}">
                  <a16:creationId xmlns:a16="http://schemas.microsoft.com/office/drawing/2014/main" id="{EFDADB78-E5A1-46CC-9487-CCEB902D3F6E}"/>
                </a:ext>
              </a:extLst>
            </p:cNvPr>
            <p:cNvGraphicFramePr>
              <a:graphicFrameLocks noChangeAspect="1"/>
            </p:cNvGraphicFramePr>
            <p:nvPr/>
          </p:nvGraphicFramePr>
          <p:xfrm>
            <a:off x="1957" y="1303"/>
            <a:ext cx="282" cy="273"/>
          </p:xfrm>
          <a:graphic>
            <a:graphicData uri="http://schemas.openxmlformats.org/presentationml/2006/ole">
              <mc:AlternateContent xmlns:mc="http://schemas.openxmlformats.org/markup-compatibility/2006">
                <mc:Choice xmlns:v="urn:schemas-microsoft-com:vml" Requires="v">
                  <p:oleObj spid="_x0000_s163497" name="公式" r:id="rId17" imgW="152268" imgH="164957" progId="Equation.3">
                    <p:embed/>
                  </p:oleObj>
                </mc:Choice>
                <mc:Fallback>
                  <p:oleObj name="公式" r:id="rId17" imgW="152268" imgH="164957" progId="Equation.3">
                    <p:embed/>
                    <p:pic>
                      <p:nvPicPr>
                        <p:cNvPr id="4156" name="Object 1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57" y="1303"/>
                          <a:ext cx="282"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9" name="Group 129">
            <a:extLst>
              <a:ext uri="{FF2B5EF4-FFF2-40B4-BE49-F238E27FC236}">
                <a16:creationId xmlns:a16="http://schemas.microsoft.com/office/drawing/2014/main" id="{18D33E38-151F-45AE-A5DB-670D1FEBEB29}"/>
              </a:ext>
            </a:extLst>
          </p:cNvPr>
          <p:cNvGrpSpPr>
            <a:grpSpLocks/>
          </p:cNvGrpSpPr>
          <p:nvPr/>
        </p:nvGrpSpPr>
        <p:grpSpPr bwMode="auto">
          <a:xfrm>
            <a:off x="5516022" y="1009692"/>
            <a:ext cx="3060700" cy="2841625"/>
            <a:chOff x="3264" y="2269"/>
            <a:chExt cx="2361" cy="1907"/>
          </a:xfrm>
        </p:grpSpPr>
        <p:sp>
          <p:nvSpPr>
            <p:cNvPr id="30" name="Freeform 130" descr="宽上对角线">
              <a:extLst>
                <a:ext uri="{FF2B5EF4-FFF2-40B4-BE49-F238E27FC236}">
                  <a16:creationId xmlns:a16="http://schemas.microsoft.com/office/drawing/2014/main" id="{886EB9AE-F637-4B8A-B706-CFD21F4316B4}"/>
                </a:ext>
              </a:extLst>
            </p:cNvPr>
            <p:cNvSpPr>
              <a:spLocks/>
            </p:cNvSpPr>
            <p:nvPr/>
          </p:nvSpPr>
          <p:spPr bwMode="auto">
            <a:xfrm>
              <a:off x="3862" y="2623"/>
              <a:ext cx="984" cy="1195"/>
            </a:xfrm>
            <a:custGeom>
              <a:avLst/>
              <a:gdLst>
                <a:gd name="T0" fmla="*/ 0 w 1104"/>
                <a:gd name="T1" fmla="*/ 0 h 1296"/>
                <a:gd name="T2" fmla="*/ 64 w 1104"/>
                <a:gd name="T3" fmla="*/ 0 h 1296"/>
                <a:gd name="T4" fmla="*/ 150 w 1104"/>
                <a:gd name="T5" fmla="*/ 28 h 1296"/>
                <a:gd name="T6" fmla="*/ 215 w 1104"/>
                <a:gd name="T7" fmla="*/ 55 h 1296"/>
                <a:gd name="T8" fmla="*/ 300 w 1104"/>
                <a:gd name="T9" fmla="*/ 108 h 1296"/>
                <a:gd name="T10" fmla="*/ 344 w 1104"/>
                <a:gd name="T11" fmla="*/ 163 h 1296"/>
                <a:gd name="T12" fmla="*/ 386 w 1104"/>
                <a:gd name="T13" fmla="*/ 218 h 1296"/>
                <a:gd name="T14" fmla="*/ 429 w 1104"/>
                <a:gd name="T15" fmla="*/ 354 h 1296"/>
                <a:gd name="T16" fmla="*/ 472 w 1104"/>
                <a:gd name="T17" fmla="*/ 490 h 1296"/>
                <a:gd name="T18" fmla="*/ 494 w 1104"/>
                <a:gd name="T19" fmla="*/ 571 h 1296"/>
                <a:gd name="T20" fmla="*/ 494 w 1104"/>
                <a:gd name="T21" fmla="*/ 735 h 1296"/>
                <a:gd name="T22" fmla="*/ 0 w 1104"/>
                <a:gd name="T23" fmla="*/ 735 h 1296"/>
                <a:gd name="T24" fmla="*/ 0 w 1104"/>
                <a:gd name="T25" fmla="*/ 0 h 12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04" h="1296">
                  <a:moveTo>
                    <a:pt x="0" y="0"/>
                  </a:moveTo>
                  <a:lnTo>
                    <a:pt x="144" y="0"/>
                  </a:lnTo>
                  <a:lnTo>
                    <a:pt x="336" y="48"/>
                  </a:lnTo>
                  <a:lnTo>
                    <a:pt x="480" y="96"/>
                  </a:lnTo>
                  <a:lnTo>
                    <a:pt x="672" y="192"/>
                  </a:lnTo>
                  <a:lnTo>
                    <a:pt x="768" y="288"/>
                  </a:lnTo>
                  <a:lnTo>
                    <a:pt x="864" y="384"/>
                  </a:lnTo>
                  <a:lnTo>
                    <a:pt x="960" y="624"/>
                  </a:lnTo>
                  <a:lnTo>
                    <a:pt x="1056" y="864"/>
                  </a:lnTo>
                  <a:lnTo>
                    <a:pt x="1104" y="1008"/>
                  </a:lnTo>
                  <a:lnTo>
                    <a:pt x="1104" y="1296"/>
                  </a:lnTo>
                  <a:lnTo>
                    <a:pt x="0" y="1296"/>
                  </a:lnTo>
                  <a:lnTo>
                    <a:pt x="0" y="0"/>
                  </a:lnTo>
                  <a:close/>
                </a:path>
              </a:pathLst>
            </a:custGeom>
            <a:pattFill prst="wdUpDiag">
              <a:fgClr>
                <a:srgbClr val="00CCFF"/>
              </a:fgClr>
              <a:bgClr>
                <a:schemeClr val="bg1"/>
              </a:bgClr>
            </a:pattFill>
            <a:ln>
              <a:noFill/>
            </a:ln>
            <a:effectLst/>
            <a:extLst>
              <a:ext uri="{91240B29-F687-4F45-9708-019B960494DF}">
                <a14:hiddenLine xmlns:a14="http://schemas.microsoft.com/office/drawing/2010/main" w="19050" cap="flat" cmpd="sng">
                  <a:solidFill>
                    <a:schemeClr val="tx1"/>
                  </a:solidFill>
                  <a:prstDash val="solid"/>
                  <a:round/>
                  <a:headEnd type="none" w="med" len="me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Freeform 131">
              <a:extLst>
                <a:ext uri="{FF2B5EF4-FFF2-40B4-BE49-F238E27FC236}">
                  <a16:creationId xmlns:a16="http://schemas.microsoft.com/office/drawing/2014/main" id="{16021B17-3708-4370-BDFA-4C5A6DABF7EB}"/>
                </a:ext>
              </a:extLst>
            </p:cNvPr>
            <p:cNvSpPr>
              <a:spLocks/>
            </p:cNvSpPr>
            <p:nvPr/>
          </p:nvSpPr>
          <p:spPr bwMode="auto">
            <a:xfrm flipH="1" flipV="1">
              <a:off x="3852" y="2601"/>
              <a:ext cx="983" cy="929"/>
            </a:xfrm>
            <a:custGeom>
              <a:avLst/>
              <a:gdLst>
                <a:gd name="T0" fmla="*/ 0 w 1104"/>
                <a:gd name="T1" fmla="*/ 0 h 1008"/>
                <a:gd name="T2" fmla="*/ 64 w 1104"/>
                <a:gd name="T3" fmla="*/ 244 h 1008"/>
                <a:gd name="T4" fmla="*/ 170 w 1104"/>
                <a:gd name="T5" fmla="*/ 435 h 1008"/>
                <a:gd name="T6" fmla="*/ 362 w 1104"/>
                <a:gd name="T7" fmla="*/ 543 h 1008"/>
                <a:gd name="T8" fmla="*/ 490 w 1104"/>
                <a:gd name="T9" fmla="*/ 569 h 10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04" h="1008">
                  <a:moveTo>
                    <a:pt x="0" y="0"/>
                  </a:moveTo>
                  <a:cubicBezTo>
                    <a:pt x="40" y="152"/>
                    <a:pt x="80" y="304"/>
                    <a:pt x="144" y="432"/>
                  </a:cubicBezTo>
                  <a:cubicBezTo>
                    <a:pt x="208" y="560"/>
                    <a:pt x="272" y="680"/>
                    <a:pt x="384" y="768"/>
                  </a:cubicBezTo>
                  <a:cubicBezTo>
                    <a:pt x="496" y="856"/>
                    <a:pt x="696" y="920"/>
                    <a:pt x="816" y="960"/>
                  </a:cubicBezTo>
                  <a:cubicBezTo>
                    <a:pt x="936" y="1000"/>
                    <a:pt x="1056" y="1000"/>
                    <a:pt x="1104" y="1008"/>
                  </a:cubicBezTo>
                </a:path>
              </a:pathLst>
            </a:custGeom>
            <a:noFill/>
            <a:ln w="19050" cap="flat" cmpd="sng">
              <a:solidFill>
                <a:schemeClr val="accent2"/>
              </a:solidFill>
              <a:prstDash val="solid"/>
              <a:round/>
              <a:headEnd type="non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Freeform 132">
              <a:extLst>
                <a:ext uri="{FF2B5EF4-FFF2-40B4-BE49-F238E27FC236}">
                  <a16:creationId xmlns:a16="http://schemas.microsoft.com/office/drawing/2014/main" id="{1EDE2C72-D01B-4E34-A7A1-D4CEA5BD182A}"/>
                </a:ext>
              </a:extLst>
            </p:cNvPr>
            <p:cNvSpPr>
              <a:spLocks/>
            </p:cNvSpPr>
            <p:nvPr/>
          </p:nvSpPr>
          <p:spPr bwMode="auto">
            <a:xfrm>
              <a:off x="3866" y="2623"/>
              <a:ext cx="983" cy="930"/>
            </a:xfrm>
            <a:custGeom>
              <a:avLst/>
              <a:gdLst>
                <a:gd name="T0" fmla="*/ 0 w 1104"/>
                <a:gd name="T1" fmla="*/ 0 h 1008"/>
                <a:gd name="T2" fmla="*/ 64 w 1104"/>
                <a:gd name="T3" fmla="*/ 247 h 1008"/>
                <a:gd name="T4" fmla="*/ 170 w 1104"/>
                <a:gd name="T5" fmla="*/ 436 h 1008"/>
                <a:gd name="T6" fmla="*/ 362 w 1104"/>
                <a:gd name="T7" fmla="*/ 546 h 1008"/>
                <a:gd name="T8" fmla="*/ 490 w 1104"/>
                <a:gd name="T9" fmla="*/ 574 h 10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04" h="1008">
                  <a:moveTo>
                    <a:pt x="0" y="0"/>
                  </a:moveTo>
                  <a:cubicBezTo>
                    <a:pt x="40" y="152"/>
                    <a:pt x="80" y="304"/>
                    <a:pt x="144" y="432"/>
                  </a:cubicBezTo>
                  <a:cubicBezTo>
                    <a:pt x="208" y="560"/>
                    <a:pt x="272" y="680"/>
                    <a:pt x="384" y="768"/>
                  </a:cubicBezTo>
                  <a:cubicBezTo>
                    <a:pt x="496" y="856"/>
                    <a:pt x="696" y="920"/>
                    <a:pt x="816" y="960"/>
                  </a:cubicBezTo>
                  <a:cubicBezTo>
                    <a:pt x="936" y="1000"/>
                    <a:pt x="1056" y="1000"/>
                    <a:pt x="1104" y="1008"/>
                  </a:cubicBezTo>
                </a:path>
              </a:pathLst>
            </a:custGeom>
            <a:noFill/>
            <a:ln w="19050" cap="flat" cmpd="sng">
              <a:solidFill>
                <a:srgbClr val="FF0000"/>
              </a:solidFill>
              <a:prstDash val="solid"/>
              <a:round/>
              <a:headEnd type="non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 name="Group 133">
              <a:extLst>
                <a:ext uri="{FF2B5EF4-FFF2-40B4-BE49-F238E27FC236}">
                  <a16:creationId xmlns:a16="http://schemas.microsoft.com/office/drawing/2014/main" id="{FB2760FC-31FF-434F-9F1E-B91416E8EBDA}"/>
                </a:ext>
              </a:extLst>
            </p:cNvPr>
            <p:cNvGrpSpPr>
              <a:grpSpLocks/>
            </p:cNvGrpSpPr>
            <p:nvPr/>
          </p:nvGrpSpPr>
          <p:grpSpPr bwMode="auto">
            <a:xfrm>
              <a:off x="3264" y="2269"/>
              <a:ext cx="2361" cy="1703"/>
              <a:chOff x="2928" y="2304"/>
              <a:chExt cx="2651" cy="1847"/>
            </a:xfrm>
          </p:grpSpPr>
          <p:sp>
            <p:nvSpPr>
              <p:cNvPr id="51" name="Line 134">
                <a:extLst>
                  <a:ext uri="{FF2B5EF4-FFF2-40B4-BE49-F238E27FC236}">
                    <a16:creationId xmlns:a16="http://schemas.microsoft.com/office/drawing/2014/main" id="{5230538D-543E-41F5-827E-7BE1CC363CB0}"/>
                  </a:ext>
                </a:extLst>
              </p:cNvPr>
              <p:cNvSpPr>
                <a:spLocks noChangeShapeType="1"/>
              </p:cNvSpPr>
              <p:nvPr/>
            </p:nvSpPr>
            <p:spPr bwMode="auto">
              <a:xfrm flipV="1">
                <a:off x="3268" y="2304"/>
                <a:ext cx="0" cy="1680"/>
              </a:xfrm>
              <a:prstGeom prst="line">
                <a:avLst/>
              </a:prstGeom>
              <a:noFill/>
              <a:ln w="19050">
                <a:solidFill>
                  <a:schemeClr val="tx1"/>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135">
                <a:extLst>
                  <a:ext uri="{FF2B5EF4-FFF2-40B4-BE49-F238E27FC236}">
                    <a16:creationId xmlns:a16="http://schemas.microsoft.com/office/drawing/2014/main" id="{3C2E2ED0-4AFD-4E1D-AF2E-BC470EB27256}"/>
                  </a:ext>
                </a:extLst>
              </p:cNvPr>
              <p:cNvSpPr>
                <a:spLocks noChangeShapeType="1"/>
              </p:cNvSpPr>
              <p:nvPr/>
            </p:nvSpPr>
            <p:spPr bwMode="auto">
              <a:xfrm>
                <a:off x="3268" y="3984"/>
                <a:ext cx="2064" cy="0"/>
              </a:xfrm>
              <a:prstGeom prst="line">
                <a:avLst/>
              </a:prstGeom>
              <a:noFill/>
              <a:ln w="19050">
                <a:solidFill>
                  <a:schemeClr val="tx1"/>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3" name="Object 136">
                <a:extLst>
                  <a:ext uri="{FF2B5EF4-FFF2-40B4-BE49-F238E27FC236}">
                    <a16:creationId xmlns:a16="http://schemas.microsoft.com/office/drawing/2014/main" id="{6CDE1CFD-8F24-4D95-BE53-CE3FD80C3B06}"/>
                  </a:ext>
                </a:extLst>
              </p:cNvPr>
              <p:cNvGraphicFramePr>
                <a:graphicFrameLocks noChangeAspect="1"/>
              </p:cNvGraphicFramePr>
              <p:nvPr/>
            </p:nvGraphicFramePr>
            <p:xfrm>
              <a:off x="3024" y="3968"/>
              <a:ext cx="159" cy="183"/>
            </p:xfrm>
            <a:graphic>
              <a:graphicData uri="http://schemas.openxmlformats.org/presentationml/2006/ole">
                <mc:AlternateContent xmlns:mc="http://schemas.openxmlformats.org/markup-compatibility/2006">
                  <mc:Choice xmlns:v="urn:schemas-microsoft-com:vml" Requires="v">
                    <p:oleObj spid="_x0000_s163498" name="公式" r:id="rId19" imgW="253890" imgH="291973" progId="Equation.3">
                      <p:embed/>
                    </p:oleObj>
                  </mc:Choice>
                  <mc:Fallback>
                    <p:oleObj name="公式" r:id="rId19" imgW="253890" imgH="291973" progId="Equation.3">
                      <p:embed/>
                      <p:pic>
                        <p:nvPicPr>
                          <p:cNvPr id="4128" name="Object 1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4" y="3968"/>
                            <a:ext cx="159"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137">
                <a:extLst>
                  <a:ext uri="{FF2B5EF4-FFF2-40B4-BE49-F238E27FC236}">
                    <a16:creationId xmlns:a16="http://schemas.microsoft.com/office/drawing/2014/main" id="{96C0A4C1-002B-4E00-BA98-2FE4015A6A36}"/>
                  </a:ext>
                </a:extLst>
              </p:cNvPr>
              <p:cNvGraphicFramePr>
                <a:graphicFrameLocks noChangeAspect="1"/>
              </p:cNvGraphicFramePr>
              <p:nvPr/>
            </p:nvGraphicFramePr>
            <p:xfrm>
              <a:off x="2928" y="2304"/>
              <a:ext cx="247" cy="247"/>
            </p:xfrm>
            <a:graphic>
              <a:graphicData uri="http://schemas.openxmlformats.org/presentationml/2006/ole">
                <mc:AlternateContent xmlns:mc="http://schemas.openxmlformats.org/markup-compatibility/2006">
                  <mc:Choice xmlns:v="urn:schemas-microsoft-com:vml" Requires="v">
                    <p:oleObj spid="_x0000_s163499" name="公式" r:id="rId20" imgW="393529" imgH="393529" progId="Equation.3">
                      <p:embed/>
                    </p:oleObj>
                  </mc:Choice>
                  <mc:Fallback>
                    <p:oleObj name="公式" r:id="rId20" imgW="393529" imgH="393529" progId="Equation.3">
                      <p:embed/>
                      <p:pic>
                        <p:nvPicPr>
                          <p:cNvPr id="4129" name="Object 1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8" y="2304"/>
                            <a:ext cx="247"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138">
                <a:extLst>
                  <a:ext uri="{FF2B5EF4-FFF2-40B4-BE49-F238E27FC236}">
                    <a16:creationId xmlns:a16="http://schemas.microsoft.com/office/drawing/2014/main" id="{17025A86-1392-4D18-B37B-82AFD7ADE5AA}"/>
                  </a:ext>
                </a:extLst>
              </p:cNvPr>
              <p:cNvGraphicFramePr>
                <a:graphicFrameLocks noChangeAspect="1"/>
              </p:cNvGraphicFramePr>
              <p:nvPr/>
            </p:nvGraphicFramePr>
            <p:xfrm>
              <a:off x="5332" y="3884"/>
              <a:ext cx="247" cy="255"/>
            </p:xfrm>
            <a:graphic>
              <a:graphicData uri="http://schemas.openxmlformats.org/presentationml/2006/ole">
                <mc:AlternateContent xmlns:mc="http://schemas.openxmlformats.org/markup-compatibility/2006">
                  <mc:Choice xmlns:v="urn:schemas-microsoft-com:vml" Requires="v">
                    <p:oleObj spid="_x0000_s163500" name="公式" r:id="rId21" imgW="393359" imgH="406048" progId="Equation.3">
                      <p:embed/>
                    </p:oleObj>
                  </mc:Choice>
                  <mc:Fallback>
                    <p:oleObj name="公式" r:id="rId21" imgW="393359" imgH="406048" progId="Equation.3">
                      <p:embed/>
                      <p:pic>
                        <p:nvPicPr>
                          <p:cNvPr id="4130" name="Object 1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2" y="3884"/>
                            <a:ext cx="247"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4" name="Line 139">
              <a:extLst>
                <a:ext uri="{FF2B5EF4-FFF2-40B4-BE49-F238E27FC236}">
                  <a16:creationId xmlns:a16="http://schemas.microsoft.com/office/drawing/2014/main" id="{5CD58845-10C5-474F-8075-832982FD3534}"/>
                </a:ext>
              </a:extLst>
            </p:cNvPr>
            <p:cNvSpPr>
              <a:spLocks noChangeShapeType="1"/>
            </p:cNvSpPr>
            <p:nvPr/>
          </p:nvSpPr>
          <p:spPr bwMode="auto">
            <a:xfrm>
              <a:off x="4849" y="3553"/>
              <a:ext cx="0" cy="265"/>
            </a:xfrm>
            <a:prstGeom prst="line">
              <a:avLst/>
            </a:prstGeom>
            <a:noFill/>
            <a:ln w="19050">
              <a:solidFill>
                <a:schemeClr val="accent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140">
              <a:extLst>
                <a:ext uri="{FF2B5EF4-FFF2-40B4-BE49-F238E27FC236}">
                  <a16:creationId xmlns:a16="http://schemas.microsoft.com/office/drawing/2014/main" id="{FE6BA17B-3911-47D1-B421-9ACBDC41C228}"/>
                </a:ext>
              </a:extLst>
            </p:cNvPr>
            <p:cNvSpPr>
              <a:spLocks noChangeShapeType="1"/>
            </p:cNvSpPr>
            <p:nvPr/>
          </p:nvSpPr>
          <p:spPr bwMode="auto">
            <a:xfrm>
              <a:off x="4293" y="2711"/>
              <a:ext cx="172" cy="88"/>
            </a:xfrm>
            <a:prstGeom prst="line">
              <a:avLst/>
            </a:prstGeom>
            <a:noFill/>
            <a:ln w="57150">
              <a:solidFill>
                <a:srgbClr val="FF0000"/>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141">
              <a:extLst>
                <a:ext uri="{FF2B5EF4-FFF2-40B4-BE49-F238E27FC236}">
                  <a16:creationId xmlns:a16="http://schemas.microsoft.com/office/drawing/2014/main" id="{E84ED376-B468-483D-BF1D-86742C0894E2}"/>
                </a:ext>
              </a:extLst>
            </p:cNvPr>
            <p:cNvSpPr>
              <a:spLocks noChangeShapeType="1"/>
            </p:cNvSpPr>
            <p:nvPr/>
          </p:nvSpPr>
          <p:spPr bwMode="auto">
            <a:xfrm flipH="1">
              <a:off x="3862" y="2623"/>
              <a:ext cx="0" cy="1239"/>
            </a:xfrm>
            <a:prstGeom prst="line">
              <a:avLst/>
            </a:prstGeom>
            <a:noFill/>
            <a:ln w="19050">
              <a:solidFill>
                <a:schemeClr val="accent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 name="Object 142">
              <a:extLst>
                <a:ext uri="{FF2B5EF4-FFF2-40B4-BE49-F238E27FC236}">
                  <a16:creationId xmlns:a16="http://schemas.microsoft.com/office/drawing/2014/main" id="{6CB55A42-C62A-430D-967A-48C73A99BB45}"/>
                </a:ext>
              </a:extLst>
            </p:cNvPr>
            <p:cNvGraphicFramePr>
              <a:graphicFrameLocks noChangeAspect="1"/>
            </p:cNvGraphicFramePr>
            <p:nvPr/>
          </p:nvGraphicFramePr>
          <p:xfrm>
            <a:off x="4974" y="3287"/>
            <a:ext cx="149" cy="214"/>
          </p:xfrm>
          <a:graphic>
            <a:graphicData uri="http://schemas.openxmlformats.org/presentationml/2006/ole">
              <mc:AlternateContent xmlns:mc="http://schemas.openxmlformats.org/markup-compatibility/2006">
                <mc:Choice xmlns:v="urn:schemas-microsoft-com:vml" Requires="v">
                  <p:oleObj spid="_x0000_s163501" name="公式" r:id="rId22" imgW="266584" imgH="368140" progId="Equation.3">
                    <p:embed/>
                  </p:oleObj>
                </mc:Choice>
                <mc:Fallback>
                  <p:oleObj name="公式" r:id="rId22" imgW="266584" imgH="368140" progId="Equation.3">
                    <p:embed/>
                    <p:pic>
                      <p:nvPicPr>
                        <p:cNvPr id="4112" name="Object 1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74" y="3287"/>
                          <a:ext cx="149"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143">
              <a:extLst>
                <a:ext uri="{FF2B5EF4-FFF2-40B4-BE49-F238E27FC236}">
                  <a16:creationId xmlns:a16="http://schemas.microsoft.com/office/drawing/2014/main" id="{AE6AAD01-0B6E-4B29-82A5-75A41E629193}"/>
                </a:ext>
              </a:extLst>
            </p:cNvPr>
            <p:cNvGraphicFramePr>
              <a:graphicFrameLocks noChangeAspect="1"/>
            </p:cNvGraphicFramePr>
            <p:nvPr/>
          </p:nvGraphicFramePr>
          <p:xfrm>
            <a:off x="3905" y="2313"/>
            <a:ext cx="120" cy="214"/>
          </p:xfrm>
          <a:graphic>
            <a:graphicData uri="http://schemas.openxmlformats.org/presentationml/2006/ole">
              <mc:AlternateContent xmlns:mc="http://schemas.openxmlformats.org/markup-compatibility/2006">
                <mc:Choice xmlns:v="urn:schemas-microsoft-com:vml" Requires="v">
                  <p:oleObj spid="_x0000_s163502" name="公式" r:id="rId23" imgW="215806" imgH="368140" progId="Equation.3">
                    <p:embed/>
                  </p:oleObj>
                </mc:Choice>
                <mc:Fallback>
                  <p:oleObj name="公式" r:id="rId23" imgW="215806" imgH="368140" progId="Equation.3">
                    <p:embed/>
                    <p:pic>
                      <p:nvPicPr>
                        <p:cNvPr id="4113" name="Object 1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05" y="2313"/>
                          <a:ext cx="120"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 name="Oval 144">
              <a:extLst>
                <a:ext uri="{FF2B5EF4-FFF2-40B4-BE49-F238E27FC236}">
                  <a16:creationId xmlns:a16="http://schemas.microsoft.com/office/drawing/2014/main" id="{5F87F597-431E-4721-B2CB-3FEE97BB520A}"/>
                </a:ext>
              </a:extLst>
            </p:cNvPr>
            <p:cNvSpPr>
              <a:spLocks noChangeArrowheads="1"/>
            </p:cNvSpPr>
            <p:nvPr/>
          </p:nvSpPr>
          <p:spPr bwMode="auto">
            <a:xfrm>
              <a:off x="3845" y="2601"/>
              <a:ext cx="42" cy="44"/>
            </a:xfrm>
            <a:prstGeom prst="ellipse">
              <a:avLst/>
            </a:prstGeom>
            <a:solidFill>
              <a:schemeClr val="accent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Oval 145">
              <a:extLst>
                <a:ext uri="{FF2B5EF4-FFF2-40B4-BE49-F238E27FC236}">
                  <a16:creationId xmlns:a16="http://schemas.microsoft.com/office/drawing/2014/main" id="{B2565E76-49F4-4D50-9CB4-8A24709CB829}"/>
                </a:ext>
              </a:extLst>
            </p:cNvPr>
            <p:cNvSpPr>
              <a:spLocks noChangeArrowheads="1"/>
            </p:cNvSpPr>
            <p:nvPr/>
          </p:nvSpPr>
          <p:spPr bwMode="auto">
            <a:xfrm>
              <a:off x="4806" y="3508"/>
              <a:ext cx="43" cy="45"/>
            </a:xfrm>
            <a:prstGeom prst="ellipse">
              <a:avLst/>
            </a:prstGeom>
            <a:solidFill>
              <a:schemeClr val="accent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 name="Object 146">
              <a:extLst>
                <a:ext uri="{FF2B5EF4-FFF2-40B4-BE49-F238E27FC236}">
                  <a16:creationId xmlns:a16="http://schemas.microsoft.com/office/drawing/2014/main" id="{CD800EB3-1FBB-4A33-9874-A105F5F07E18}"/>
                </a:ext>
              </a:extLst>
            </p:cNvPr>
            <p:cNvGraphicFramePr>
              <a:graphicFrameLocks noChangeAspect="1"/>
            </p:cNvGraphicFramePr>
            <p:nvPr/>
          </p:nvGraphicFramePr>
          <p:xfrm>
            <a:off x="4763" y="3907"/>
            <a:ext cx="223" cy="269"/>
          </p:xfrm>
          <a:graphic>
            <a:graphicData uri="http://schemas.openxmlformats.org/presentationml/2006/ole">
              <mc:AlternateContent xmlns:mc="http://schemas.openxmlformats.org/markup-compatibility/2006">
                <mc:Choice xmlns:v="urn:schemas-microsoft-com:vml" Requires="v">
                  <p:oleObj spid="_x0000_s163503" name="公式" r:id="rId24" imgW="457002" imgH="533169" progId="Equation.3">
                    <p:embed/>
                  </p:oleObj>
                </mc:Choice>
                <mc:Fallback>
                  <p:oleObj name="公式" r:id="rId24" imgW="457002" imgH="533169" progId="Equation.3">
                    <p:embed/>
                    <p:pic>
                      <p:nvPicPr>
                        <p:cNvPr id="4116" name="Object 14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63" y="3907"/>
                          <a:ext cx="223"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147">
              <a:extLst>
                <a:ext uri="{FF2B5EF4-FFF2-40B4-BE49-F238E27FC236}">
                  <a16:creationId xmlns:a16="http://schemas.microsoft.com/office/drawing/2014/main" id="{0109A5D7-E7BD-4224-B0EC-C5778F186BDA}"/>
                </a:ext>
              </a:extLst>
            </p:cNvPr>
            <p:cNvGraphicFramePr>
              <a:graphicFrameLocks noChangeAspect="1"/>
            </p:cNvGraphicFramePr>
            <p:nvPr/>
          </p:nvGraphicFramePr>
          <p:xfrm>
            <a:off x="3784" y="3951"/>
            <a:ext cx="170" cy="225"/>
          </p:xfrm>
          <a:graphic>
            <a:graphicData uri="http://schemas.openxmlformats.org/presentationml/2006/ole">
              <mc:AlternateContent xmlns:mc="http://schemas.openxmlformats.org/markup-compatibility/2006">
                <mc:Choice xmlns:v="urn:schemas-microsoft-com:vml" Requires="v">
                  <p:oleObj spid="_x0000_s163504" name="公式" r:id="rId25" imgW="418918" imgH="533169" progId="Equation.3">
                    <p:embed/>
                  </p:oleObj>
                </mc:Choice>
                <mc:Fallback>
                  <p:oleObj name="公式" r:id="rId25" imgW="418918" imgH="533169" progId="Equation.3">
                    <p:embed/>
                    <p:pic>
                      <p:nvPicPr>
                        <p:cNvPr id="4117" name="Object 14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84" y="3951"/>
                          <a:ext cx="170"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 name="Freeform 148">
              <a:extLst>
                <a:ext uri="{FF2B5EF4-FFF2-40B4-BE49-F238E27FC236}">
                  <a16:creationId xmlns:a16="http://schemas.microsoft.com/office/drawing/2014/main" id="{D40574E0-2312-4C1F-9E84-EFB5CE6C8B52}"/>
                </a:ext>
              </a:extLst>
            </p:cNvPr>
            <p:cNvSpPr>
              <a:spLocks/>
            </p:cNvSpPr>
            <p:nvPr/>
          </p:nvSpPr>
          <p:spPr bwMode="auto">
            <a:xfrm>
              <a:off x="3866" y="2623"/>
              <a:ext cx="983" cy="1195"/>
            </a:xfrm>
            <a:custGeom>
              <a:avLst/>
              <a:gdLst>
                <a:gd name="T0" fmla="*/ 0 w 1104"/>
                <a:gd name="T1" fmla="*/ 0 h 1296"/>
                <a:gd name="T2" fmla="*/ 21 w 1104"/>
                <a:gd name="T3" fmla="*/ 136 h 1296"/>
                <a:gd name="T4" fmla="*/ 64 w 1104"/>
                <a:gd name="T5" fmla="*/ 245 h 1296"/>
                <a:gd name="T6" fmla="*/ 85 w 1104"/>
                <a:gd name="T7" fmla="*/ 300 h 1296"/>
                <a:gd name="T8" fmla="*/ 127 w 1104"/>
                <a:gd name="T9" fmla="*/ 381 h 1296"/>
                <a:gd name="T10" fmla="*/ 170 w 1104"/>
                <a:gd name="T11" fmla="*/ 435 h 1296"/>
                <a:gd name="T12" fmla="*/ 234 w 1104"/>
                <a:gd name="T13" fmla="*/ 490 h 1296"/>
                <a:gd name="T14" fmla="*/ 298 w 1104"/>
                <a:gd name="T15" fmla="*/ 517 h 1296"/>
                <a:gd name="T16" fmla="*/ 362 w 1104"/>
                <a:gd name="T17" fmla="*/ 543 h 1296"/>
                <a:gd name="T18" fmla="*/ 427 w 1104"/>
                <a:gd name="T19" fmla="*/ 571 h 1296"/>
                <a:gd name="T20" fmla="*/ 467 w 1104"/>
                <a:gd name="T21" fmla="*/ 571 h 1296"/>
                <a:gd name="T22" fmla="*/ 490 w 1104"/>
                <a:gd name="T23" fmla="*/ 571 h 1296"/>
                <a:gd name="T24" fmla="*/ 490 w 1104"/>
                <a:gd name="T25" fmla="*/ 735 h 1296"/>
                <a:gd name="T26" fmla="*/ 0 w 1104"/>
                <a:gd name="T27" fmla="*/ 735 h 1296"/>
                <a:gd name="T28" fmla="*/ 0 w 1104"/>
                <a:gd name="T29" fmla="*/ 0 h 12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04" h="1296">
                  <a:moveTo>
                    <a:pt x="0" y="0"/>
                  </a:moveTo>
                  <a:lnTo>
                    <a:pt x="48" y="240"/>
                  </a:lnTo>
                  <a:lnTo>
                    <a:pt x="144" y="432"/>
                  </a:lnTo>
                  <a:lnTo>
                    <a:pt x="192" y="528"/>
                  </a:lnTo>
                  <a:lnTo>
                    <a:pt x="288" y="672"/>
                  </a:lnTo>
                  <a:lnTo>
                    <a:pt x="384" y="768"/>
                  </a:lnTo>
                  <a:lnTo>
                    <a:pt x="528" y="864"/>
                  </a:lnTo>
                  <a:lnTo>
                    <a:pt x="672" y="912"/>
                  </a:lnTo>
                  <a:lnTo>
                    <a:pt x="816" y="960"/>
                  </a:lnTo>
                  <a:lnTo>
                    <a:pt x="960" y="1008"/>
                  </a:lnTo>
                  <a:lnTo>
                    <a:pt x="1056" y="1008"/>
                  </a:lnTo>
                  <a:lnTo>
                    <a:pt x="1104" y="1008"/>
                  </a:lnTo>
                  <a:lnTo>
                    <a:pt x="1104" y="1296"/>
                  </a:lnTo>
                  <a:lnTo>
                    <a:pt x="0" y="1296"/>
                  </a:lnTo>
                  <a:lnTo>
                    <a:pt x="0" y="0"/>
                  </a:lnTo>
                  <a:close/>
                </a:path>
              </a:pathLst>
            </a:custGeom>
            <a:solidFill>
              <a:srgbClr val="FF00FF">
                <a:alpha val="50195"/>
              </a:srgbClr>
            </a:solidFill>
            <a:ln>
              <a:noFill/>
            </a:ln>
            <a:effectLst/>
            <a:extLst>
              <a:ext uri="{91240B29-F687-4F45-9708-019B960494DF}">
                <a14:hiddenLine xmlns:a14="http://schemas.microsoft.com/office/drawing/2010/main" w="19050" cap="flat" cmpd="sng">
                  <a:solidFill>
                    <a:schemeClr val="tx1"/>
                  </a:solidFill>
                  <a:prstDash val="solid"/>
                  <a:round/>
                  <a:headEnd type="none" w="med" len="me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149">
              <a:extLst>
                <a:ext uri="{FF2B5EF4-FFF2-40B4-BE49-F238E27FC236}">
                  <a16:creationId xmlns:a16="http://schemas.microsoft.com/office/drawing/2014/main" id="{8C42BE65-98CC-43C5-A1A8-CE7429E1076F}"/>
                </a:ext>
              </a:extLst>
            </p:cNvPr>
            <p:cNvSpPr>
              <a:spLocks noChangeShapeType="1"/>
            </p:cNvSpPr>
            <p:nvPr/>
          </p:nvSpPr>
          <p:spPr bwMode="auto">
            <a:xfrm flipH="1" flipV="1">
              <a:off x="4164" y="3303"/>
              <a:ext cx="129" cy="87"/>
            </a:xfrm>
            <a:prstGeom prst="line">
              <a:avLst/>
            </a:prstGeom>
            <a:noFill/>
            <a:ln w="38100">
              <a:solidFill>
                <a:srgbClr val="FF0000"/>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Arc 151">
              <a:extLst>
                <a:ext uri="{FF2B5EF4-FFF2-40B4-BE49-F238E27FC236}">
                  <a16:creationId xmlns:a16="http://schemas.microsoft.com/office/drawing/2014/main" id="{3ED52C00-C0E8-4CA1-B1BA-FDF0724F8417}"/>
                </a:ext>
              </a:extLst>
            </p:cNvPr>
            <p:cNvSpPr>
              <a:spLocks/>
            </p:cNvSpPr>
            <p:nvPr/>
          </p:nvSpPr>
          <p:spPr bwMode="auto">
            <a:xfrm flipH="1">
              <a:off x="4336" y="3244"/>
              <a:ext cx="43" cy="39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57150">
              <a:solidFill>
                <a:schemeClr val="tx1"/>
              </a:solidFill>
              <a:round/>
              <a:headEnd type="stealth"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154">
              <a:extLst>
                <a:ext uri="{FF2B5EF4-FFF2-40B4-BE49-F238E27FC236}">
                  <a16:creationId xmlns:a16="http://schemas.microsoft.com/office/drawing/2014/main" id="{571779F9-613F-4CB1-9260-9D5BEE8228DC}"/>
                </a:ext>
              </a:extLst>
            </p:cNvPr>
            <p:cNvSpPr>
              <a:spLocks noChangeShapeType="1"/>
            </p:cNvSpPr>
            <p:nvPr/>
          </p:nvSpPr>
          <p:spPr bwMode="auto">
            <a:xfrm>
              <a:off x="4422" y="3021"/>
              <a:ext cx="513" cy="0"/>
            </a:xfrm>
            <a:prstGeom prst="line">
              <a:avLst/>
            </a:prstGeom>
            <a:noFill/>
            <a:ln w="57150">
              <a:solidFill>
                <a:schemeClr val="accent2"/>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0" name="Object 155">
              <a:extLst>
                <a:ext uri="{FF2B5EF4-FFF2-40B4-BE49-F238E27FC236}">
                  <a16:creationId xmlns:a16="http://schemas.microsoft.com/office/drawing/2014/main" id="{BC1AA368-D673-43B3-9F55-BABA05D88D37}"/>
                </a:ext>
              </a:extLst>
            </p:cNvPr>
            <p:cNvGraphicFramePr>
              <a:graphicFrameLocks noChangeAspect="1"/>
            </p:cNvGraphicFramePr>
            <p:nvPr/>
          </p:nvGraphicFramePr>
          <p:xfrm>
            <a:off x="4974" y="2844"/>
            <a:ext cx="254" cy="284"/>
          </p:xfrm>
          <a:graphic>
            <a:graphicData uri="http://schemas.openxmlformats.org/presentationml/2006/ole">
              <mc:AlternateContent xmlns:mc="http://schemas.openxmlformats.org/markup-compatibility/2006">
                <mc:Choice xmlns:v="urn:schemas-microsoft-com:vml" Requires="v">
                  <p:oleObj spid="_x0000_s163505" name="公式" r:id="rId26" imgW="152268" imgH="164957" progId="Equation.3">
                    <p:embed/>
                  </p:oleObj>
                </mc:Choice>
                <mc:Fallback>
                  <p:oleObj name="公式" r:id="rId26" imgW="152268" imgH="164957" progId="Equation.3">
                    <p:embed/>
                    <p:pic>
                      <p:nvPicPr>
                        <p:cNvPr id="4125" name="Object 15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974" y="2844"/>
                          <a:ext cx="254"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6" name="Rectangle 122">
            <a:extLst>
              <a:ext uri="{FF2B5EF4-FFF2-40B4-BE49-F238E27FC236}">
                <a16:creationId xmlns:a16="http://schemas.microsoft.com/office/drawing/2014/main" id="{38DD5AAE-A1C1-4D0E-8256-10975BFE4C54}"/>
              </a:ext>
            </a:extLst>
          </p:cNvPr>
          <p:cNvSpPr>
            <a:spLocks noChangeArrowheads="1"/>
          </p:cNvSpPr>
          <p:nvPr/>
        </p:nvSpPr>
        <p:spPr bwMode="auto">
          <a:xfrm>
            <a:off x="7527384" y="1185650"/>
            <a:ext cx="15906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FF0000"/>
                </a:solidFill>
                <a:latin typeface="Century Schoolbook" pitchFamily="18" charset="0"/>
              </a:rPr>
              <a:t>逆循环</a:t>
            </a:r>
          </a:p>
        </p:txBody>
      </p:sp>
      <p:sp>
        <p:nvSpPr>
          <p:cNvPr id="57" name="Text Box 8">
            <a:extLst>
              <a:ext uri="{FF2B5EF4-FFF2-40B4-BE49-F238E27FC236}">
                <a16:creationId xmlns:a16="http://schemas.microsoft.com/office/drawing/2014/main" id="{70CED159-5F32-440B-955D-653FA1628092}"/>
              </a:ext>
            </a:extLst>
          </p:cNvPr>
          <p:cNvSpPr txBox="1">
            <a:spLocks noChangeArrowheads="1"/>
          </p:cNvSpPr>
          <p:nvPr/>
        </p:nvSpPr>
        <p:spPr bwMode="auto">
          <a:xfrm>
            <a:off x="1937790" y="110382"/>
            <a:ext cx="571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3200" b="1">
                <a:solidFill>
                  <a:srgbClr val="FF3300"/>
                </a:solidFill>
                <a:ea typeface="楷体_GB2312" pitchFamily="49" charset="-122"/>
              </a:rPr>
              <a:t>6</a:t>
            </a:r>
            <a:r>
              <a:rPr lang="zh-CN" altLang="en-US" sz="3200" b="1">
                <a:solidFill>
                  <a:srgbClr val="FF3300"/>
                </a:solidFill>
                <a:ea typeface="楷体_GB2312" pitchFamily="49" charset="-122"/>
              </a:rPr>
              <a:t>－</a:t>
            </a:r>
            <a:r>
              <a:rPr lang="en-US" altLang="zh-CN" sz="3200" b="1">
                <a:solidFill>
                  <a:srgbClr val="FF3300"/>
                </a:solidFill>
                <a:ea typeface="楷体_GB2312" pitchFamily="49" charset="-122"/>
              </a:rPr>
              <a:t>3  </a:t>
            </a:r>
            <a:r>
              <a:rPr lang="zh-CN" altLang="en-US" sz="3600" b="1">
                <a:solidFill>
                  <a:srgbClr val="FF3300"/>
                </a:solidFill>
                <a:ea typeface="楷体_GB2312" pitchFamily="49" charset="-122"/>
              </a:rPr>
              <a:t>循环过程  卡诺循环</a:t>
            </a:r>
          </a:p>
        </p:txBody>
      </p:sp>
      <p:sp>
        <p:nvSpPr>
          <p:cNvPr id="58" name="Text Box 49">
            <a:extLst>
              <a:ext uri="{FF2B5EF4-FFF2-40B4-BE49-F238E27FC236}">
                <a16:creationId xmlns:a16="http://schemas.microsoft.com/office/drawing/2014/main" id="{26D993F7-BB5D-46C6-831B-E9C8DCAFB2A3}"/>
              </a:ext>
            </a:extLst>
          </p:cNvPr>
          <p:cNvSpPr txBox="1">
            <a:spLocks noChangeArrowheads="1"/>
          </p:cNvSpPr>
          <p:nvPr/>
        </p:nvSpPr>
        <p:spPr bwMode="auto">
          <a:xfrm>
            <a:off x="298380" y="4030618"/>
            <a:ext cx="4033838"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dirty="0">
                <a:latin typeface="宋体" pitchFamily="2" charset="-122"/>
              </a:rPr>
              <a:t>沿顺时针方向进行的循环称为</a:t>
            </a:r>
            <a:r>
              <a:rPr lang="zh-CN" altLang="en-US" sz="2400" b="1" dirty="0">
                <a:solidFill>
                  <a:srgbClr val="FF3300"/>
                </a:solidFill>
                <a:ea typeface="楷体_GB2312" pitchFamily="49" charset="-122"/>
              </a:rPr>
              <a:t>正循环</a:t>
            </a:r>
            <a:r>
              <a:rPr lang="en-US" altLang="zh-CN" sz="2400" b="1" dirty="0">
                <a:solidFill>
                  <a:srgbClr val="FF3300"/>
                </a:solidFill>
                <a:ea typeface="楷体_GB2312" pitchFamily="49" charset="-122"/>
              </a:rPr>
              <a:t>,</a:t>
            </a:r>
            <a:r>
              <a:rPr lang="zh-CN" altLang="en-US" sz="2400" b="1" dirty="0">
                <a:solidFill>
                  <a:srgbClr val="FF3300"/>
                </a:solidFill>
                <a:ea typeface="楷体_GB2312" pitchFamily="49" charset="-122"/>
              </a:rPr>
              <a:t>热机</a:t>
            </a:r>
            <a:r>
              <a:rPr lang="zh-CN" altLang="en-US" sz="2400" b="1" dirty="0">
                <a:latin typeface="宋体" pitchFamily="2" charset="-122"/>
              </a:rPr>
              <a:t>。</a:t>
            </a:r>
          </a:p>
          <a:p>
            <a:pPr algn="l" eaLnBrk="1" hangingPunct="1">
              <a:spcBef>
                <a:spcPct val="50000"/>
              </a:spcBef>
            </a:pPr>
            <a:r>
              <a:rPr lang="zh-CN" altLang="en-US" sz="2400" b="1" dirty="0">
                <a:solidFill>
                  <a:schemeClr val="accent2"/>
                </a:solidFill>
              </a:rPr>
              <a:t>在一般情况下，系统要从某些</a:t>
            </a:r>
            <a:r>
              <a:rPr lang="zh-CN" altLang="en-US" sz="2400" b="1" dirty="0">
                <a:solidFill>
                  <a:srgbClr val="FF0000"/>
                </a:solidFill>
              </a:rPr>
              <a:t>高温热源处吸收热量</a:t>
            </a:r>
            <a:r>
              <a:rPr lang="zh-CN" altLang="en-US" sz="2400" b="1" dirty="0">
                <a:solidFill>
                  <a:schemeClr val="accent2"/>
                </a:solidFill>
              </a:rPr>
              <a:t>，部分用来</a:t>
            </a:r>
            <a:r>
              <a:rPr lang="zh-CN" altLang="en-US" sz="2400" b="1" dirty="0">
                <a:solidFill>
                  <a:srgbClr val="FF0000"/>
                </a:solidFill>
              </a:rPr>
              <a:t>对外作功</a:t>
            </a:r>
            <a:r>
              <a:rPr lang="zh-CN" altLang="en-US" sz="2400" b="1" dirty="0">
                <a:solidFill>
                  <a:schemeClr val="accent2"/>
                </a:solidFill>
              </a:rPr>
              <a:t>，部分在某些</a:t>
            </a:r>
            <a:r>
              <a:rPr lang="zh-CN" altLang="en-US" sz="2400" b="1" dirty="0">
                <a:solidFill>
                  <a:srgbClr val="FF0000"/>
                </a:solidFill>
              </a:rPr>
              <a:t>低温热源处放出</a:t>
            </a:r>
            <a:r>
              <a:rPr lang="zh-CN" altLang="en-US" sz="2400" b="1" dirty="0">
                <a:solidFill>
                  <a:schemeClr val="accent2"/>
                </a:solidFill>
              </a:rPr>
              <a:t>，而系统回到原来的状态。</a:t>
            </a:r>
          </a:p>
        </p:txBody>
      </p:sp>
      <p:sp>
        <p:nvSpPr>
          <p:cNvPr id="59" name="Rectangle 157">
            <a:extLst>
              <a:ext uri="{FF2B5EF4-FFF2-40B4-BE49-F238E27FC236}">
                <a16:creationId xmlns:a16="http://schemas.microsoft.com/office/drawing/2014/main" id="{C4323B03-A6B8-41DA-BE5A-7B1145475FC7}"/>
              </a:ext>
            </a:extLst>
          </p:cNvPr>
          <p:cNvSpPr>
            <a:spLocks noChangeArrowheads="1"/>
          </p:cNvSpPr>
          <p:nvPr/>
        </p:nvSpPr>
        <p:spPr bwMode="auto">
          <a:xfrm>
            <a:off x="4991858" y="4092172"/>
            <a:ext cx="4105275" cy="280076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dirty="0"/>
              <a:t>沿逆时针方向进行的循环称为</a:t>
            </a:r>
            <a:r>
              <a:rPr lang="zh-CN" altLang="en-US" sz="2800" b="1" dirty="0">
                <a:solidFill>
                  <a:srgbClr val="FF3300"/>
                </a:solidFill>
              </a:rPr>
              <a:t>逆循环，制冷机</a:t>
            </a:r>
            <a:r>
              <a:rPr lang="zh-CN" altLang="en-US" sz="2800" b="1" dirty="0"/>
              <a:t>。</a:t>
            </a:r>
          </a:p>
          <a:p>
            <a:pPr algn="l"/>
            <a:r>
              <a:rPr lang="zh-CN" altLang="en-US" sz="2400" b="1" dirty="0">
                <a:solidFill>
                  <a:schemeClr val="accent2"/>
                </a:solidFill>
              </a:rPr>
              <a:t>对于逆循环过程，通过外界对系统作功，系统要从某些</a:t>
            </a:r>
            <a:r>
              <a:rPr lang="zh-CN" altLang="en-US" sz="2400" b="1" dirty="0">
                <a:solidFill>
                  <a:srgbClr val="FF0000"/>
                </a:solidFill>
              </a:rPr>
              <a:t>低温热源处吸收热量</a:t>
            </a:r>
            <a:r>
              <a:rPr lang="zh-CN" altLang="en-US" sz="2400" b="1" dirty="0">
                <a:solidFill>
                  <a:schemeClr val="accent2"/>
                </a:solidFill>
              </a:rPr>
              <a:t>，并向高温</a:t>
            </a:r>
            <a:r>
              <a:rPr lang="zh-CN" altLang="en-US" sz="2400" b="1" dirty="0">
                <a:solidFill>
                  <a:srgbClr val="FF0000"/>
                </a:solidFill>
              </a:rPr>
              <a:t>热源处放出热</a:t>
            </a:r>
            <a:r>
              <a:rPr lang="zh-CN" altLang="en-US" sz="2400" b="1" dirty="0">
                <a:solidFill>
                  <a:schemeClr val="accent2"/>
                </a:solidFill>
              </a:rPr>
              <a:t>量，而系统回到原来的状态。</a:t>
            </a:r>
          </a:p>
        </p:txBody>
      </p:sp>
      <p:sp>
        <p:nvSpPr>
          <p:cNvPr id="60" name="Text Box 9">
            <a:extLst>
              <a:ext uri="{FF2B5EF4-FFF2-40B4-BE49-F238E27FC236}">
                <a16:creationId xmlns:a16="http://schemas.microsoft.com/office/drawing/2014/main" id="{AD0BD3AF-4A78-41C7-A751-83AF826F67AC}"/>
              </a:ext>
            </a:extLst>
          </p:cNvPr>
          <p:cNvSpPr txBox="1">
            <a:spLocks noChangeArrowheads="1"/>
          </p:cNvSpPr>
          <p:nvPr/>
        </p:nvSpPr>
        <p:spPr bwMode="auto">
          <a:xfrm>
            <a:off x="241105" y="749492"/>
            <a:ext cx="3175000" cy="519113"/>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sz="3200" b="1">
                <a:solidFill>
                  <a:schemeClr val="folHlink"/>
                </a:solidFill>
                <a:latin typeface="Arial" pitchFamily="34" charset="0"/>
                <a:ea typeface="楷体_GB2312" pitchFamily="49" charset="-122"/>
              </a:rPr>
              <a:t>引言</a:t>
            </a:r>
          </a:p>
        </p:txBody>
      </p:sp>
    </p:spTree>
    <p:extLst>
      <p:ext uri="{BB962C8B-B14F-4D97-AF65-F5344CB8AC3E}">
        <p14:creationId xmlns:p14="http://schemas.microsoft.com/office/powerpoint/2010/main" val="402161885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5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iterate type="lt">
                                    <p:tmPct val="100000"/>
                                  </p:iterate>
                                  <p:childTnLst>
                                    <p:set>
                                      <p:cBhvr>
                                        <p:cTn id="17" dur="1" fill="hold">
                                          <p:stCondLst>
                                            <p:cond delay="0"/>
                                          </p:stCondLst>
                                        </p:cTn>
                                        <p:tgtEl>
                                          <p:spTgt spid="58"/>
                                        </p:tgtEl>
                                        <p:attrNameLst>
                                          <p:attrName>style.visibility</p:attrName>
                                        </p:attrNameLst>
                                      </p:cBhvr>
                                      <p:to>
                                        <p:strVal val="visible"/>
                                      </p:to>
                                    </p:set>
                                    <p:animEffect transition="in" filter="wipe(left)">
                                      <p:cBhvr>
                                        <p:cTn id="18" dur="75"/>
                                        <p:tgtEl>
                                          <p:spTgt spid="5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wipe(down)">
                                      <p:cBhvr>
                                        <p:cTn id="23"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8" name="Text Box 8"/>
          <p:cNvSpPr txBox="1">
            <a:spLocks noChangeArrowheads="1"/>
          </p:cNvSpPr>
          <p:nvPr/>
        </p:nvSpPr>
        <p:spPr bwMode="auto">
          <a:xfrm>
            <a:off x="2133600" y="120650"/>
            <a:ext cx="571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3200" b="1">
                <a:solidFill>
                  <a:srgbClr val="FF3300"/>
                </a:solidFill>
                <a:ea typeface="楷体_GB2312" pitchFamily="49" charset="-122"/>
              </a:rPr>
              <a:t>6</a:t>
            </a:r>
            <a:r>
              <a:rPr lang="zh-CN" altLang="en-US" sz="3200" b="1">
                <a:solidFill>
                  <a:srgbClr val="FF3300"/>
                </a:solidFill>
                <a:ea typeface="楷体_GB2312" pitchFamily="49" charset="-122"/>
              </a:rPr>
              <a:t>－</a:t>
            </a:r>
            <a:r>
              <a:rPr lang="en-US" altLang="zh-CN" sz="3200" b="1">
                <a:solidFill>
                  <a:srgbClr val="FF3300"/>
                </a:solidFill>
                <a:ea typeface="楷体_GB2312" pitchFamily="49" charset="-122"/>
              </a:rPr>
              <a:t>3  </a:t>
            </a:r>
            <a:r>
              <a:rPr lang="zh-CN" altLang="en-US" sz="3600" b="1">
                <a:solidFill>
                  <a:srgbClr val="FF3300"/>
                </a:solidFill>
                <a:ea typeface="楷体_GB2312" pitchFamily="49" charset="-122"/>
              </a:rPr>
              <a:t>循环过程  卡诺循环</a:t>
            </a:r>
          </a:p>
        </p:txBody>
      </p:sp>
      <p:sp>
        <p:nvSpPr>
          <p:cNvPr id="92169" name="Text Box 9"/>
          <p:cNvSpPr txBox="1">
            <a:spLocks noChangeArrowheads="1"/>
          </p:cNvSpPr>
          <p:nvPr/>
        </p:nvSpPr>
        <p:spPr bwMode="auto">
          <a:xfrm>
            <a:off x="156423" y="830523"/>
            <a:ext cx="3175000" cy="519113"/>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sz="3200" b="1">
                <a:solidFill>
                  <a:schemeClr val="folHlink"/>
                </a:solidFill>
                <a:latin typeface="Arial" pitchFamily="34" charset="0"/>
                <a:ea typeface="楷体_GB2312" pitchFamily="49" charset="-122"/>
              </a:rPr>
              <a:t>引言</a:t>
            </a:r>
          </a:p>
        </p:txBody>
      </p:sp>
      <p:pic>
        <p:nvPicPr>
          <p:cNvPr id="7" name="图片 6"/>
          <p:cNvPicPr>
            <a:picLocks noChangeAspect="1"/>
          </p:cNvPicPr>
          <p:nvPr/>
        </p:nvPicPr>
        <p:blipFill rotWithShape="1">
          <a:blip r:embed="rId3"/>
          <a:srcRect l="55906" t="18500" r="18107" b="9400"/>
          <a:stretch/>
        </p:blipFill>
        <p:spPr>
          <a:xfrm>
            <a:off x="420801" y="1484586"/>
            <a:ext cx="2959364" cy="4618401"/>
          </a:xfrm>
          <a:prstGeom prst="rect">
            <a:avLst/>
          </a:prstGeom>
        </p:spPr>
      </p:pic>
      <p:sp>
        <p:nvSpPr>
          <p:cNvPr id="9" name="文本框 8"/>
          <p:cNvSpPr txBox="1"/>
          <p:nvPr/>
        </p:nvSpPr>
        <p:spPr>
          <a:xfrm>
            <a:off x="5977451" y="5995465"/>
            <a:ext cx="2749472" cy="400110"/>
          </a:xfrm>
          <a:prstGeom prst="rect">
            <a:avLst/>
          </a:prstGeom>
          <a:noFill/>
        </p:spPr>
        <p:txBody>
          <a:bodyPr wrap="none" rtlCol="0">
            <a:spAutoFit/>
          </a:bodyPr>
          <a:lstStyle/>
          <a:p>
            <a:r>
              <a:rPr lang="zh-CN" altLang="en-US">
                <a:solidFill>
                  <a:srgbClr val="FF0000"/>
                </a:solidFill>
              </a:rPr>
              <a:t>汽车发动机的基本原理</a:t>
            </a:r>
          </a:p>
        </p:txBody>
      </p:sp>
      <p:sp>
        <p:nvSpPr>
          <p:cNvPr id="15" name="文本框 14"/>
          <p:cNvSpPr txBox="1"/>
          <p:nvPr/>
        </p:nvSpPr>
        <p:spPr>
          <a:xfrm>
            <a:off x="946743" y="6075389"/>
            <a:ext cx="1980029" cy="400110"/>
          </a:xfrm>
          <a:prstGeom prst="rect">
            <a:avLst/>
          </a:prstGeom>
          <a:noFill/>
        </p:spPr>
        <p:txBody>
          <a:bodyPr wrap="none" rtlCol="0">
            <a:spAutoFit/>
          </a:bodyPr>
          <a:lstStyle/>
          <a:p>
            <a:r>
              <a:rPr lang="zh-CN" altLang="en-US">
                <a:solidFill>
                  <a:srgbClr val="FF0000"/>
                </a:solidFill>
              </a:rPr>
              <a:t>最简易的汽轮机</a:t>
            </a:r>
          </a:p>
        </p:txBody>
      </p:sp>
      <p:sp>
        <p:nvSpPr>
          <p:cNvPr id="16" name="文本框 15"/>
          <p:cNvSpPr txBox="1"/>
          <p:nvPr/>
        </p:nvSpPr>
        <p:spPr>
          <a:xfrm>
            <a:off x="1972285" y="6433828"/>
            <a:ext cx="5570756" cy="400110"/>
          </a:xfrm>
          <a:prstGeom prst="rect">
            <a:avLst/>
          </a:prstGeom>
          <a:noFill/>
        </p:spPr>
        <p:txBody>
          <a:bodyPr wrap="none" rtlCol="0">
            <a:spAutoFit/>
          </a:bodyPr>
          <a:lstStyle/>
          <a:p>
            <a:r>
              <a:rPr lang="zh-CN" altLang="en-US">
                <a:solidFill>
                  <a:srgbClr val="FF0000"/>
                </a:solidFill>
              </a:rPr>
              <a:t>由汽油发动机和电动机组成的混合型汽车发动机</a:t>
            </a:r>
          </a:p>
        </p:txBody>
      </p:sp>
      <p:pic>
        <p:nvPicPr>
          <p:cNvPr id="175106" name="Picture 2" descr="https://p0.itc.cn/q_70/images03/20220823/51e8bec9fcc74280b68fc995c9caa5f3.jpeg">
            <a:extLst>
              <a:ext uri="{FF2B5EF4-FFF2-40B4-BE49-F238E27FC236}">
                <a16:creationId xmlns:a16="http://schemas.microsoft.com/office/drawing/2014/main" id="{8772C8ED-781F-4931-8035-5A3FFC038A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040" y="1579349"/>
            <a:ext cx="4091228" cy="3961915"/>
          </a:xfrm>
          <a:prstGeom prst="rect">
            <a:avLst/>
          </a:prstGeom>
          <a:noFill/>
          <a:extLst>
            <a:ext uri="{909E8E84-426E-40DD-AFC4-6F175D3DCCD1}">
              <a14:hiddenFill xmlns:a14="http://schemas.microsoft.com/office/drawing/2010/main">
                <a:solidFill>
                  <a:srgbClr val="FFFFFF"/>
                </a:solidFill>
              </a14:hiddenFill>
            </a:ext>
          </a:extLst>
        </p:spPr>
      </p:pic>
      <p:pic>
        <p:nvPicPr>
          <p:cNvPr id="175108" name="Picture 4" descr="https://p4.itc.cn/q_70/images03/20220823/53cd5e48fbb24041b6463dd857168552.jpeg">
            <a:extLst>
              <a:ext uri="{FF2B5EF4-FFF2-40B4-BE49-F238E27FC236}">
                <a16:creationId xmlns:a16="http://schemas.microsoft.com/office/drawing/2014/main" id="{397C8FAE-5436-4930-A2C1-46E719152C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63" y="1196752"/>
            <a:ext cx="9144000" cy="5737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19590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5108"/>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animEffect transition="in" filter="fade">
                                      <p:cBhvr>
                                        <p:cTn id="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8" name="Text Box 8"/>
          <p:cNvSpPr txBox="1">
            <a:spLocks noChangeArrowheads="1"/>
          </p:cNvSpPr>
          <p:nvPr/>
        </p:nvSpPr>
        <p:spPr bwMode="auto">
          <a:xfrm>
            <a:off x="2133600" y="120650"/>
            <a:ext cx="571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3200" b="1">
                <a:solidFill>
                  <a:srgbClr val="FF3300"/>
                </a:solidFill>
                <a:ea typeface="楷体_GB2312" pitchFamily="49" charset="-122"/>
              </a:rPr>
              <a:t>6</a:t>
            </a:r>
            <a:r>
              <a:rPr lang="zh-CN" altLang="en-US" sz="3200" b="1">
                <a:solidFill>
                  <a:srgbClr val="FF3300"/>
                </a:solidFill>
                <a:ea typeface="楷体_GB2312" pitchFamily="49" charset="-122"/>
              </a:rPr>
              <a:t>－</a:t>
            </a:r>
            <a:r>
              <a:rPr lang="en-US" altLang="zh-CN" sz="3200" b="1">
                <a:solidFill>
                  <a:srgbClr val="FF3300"/>
                </a:solidFill>
                <a:ea typeface="楷体_GB2312" pitchFamily="49" charset="-122"/>
              </a:rPr>
              <a:t>3  </a:t>
            </a:r>
            <a:r>
              <a:rPr lang="zh-CN" altLang="en-US" sz="3600" b="1">
                <a:solidFill>
                  <a:srgbClr val="FF3300"/>
                </a:solidFill>
                <a:ea typeface="楷体_GB2312" pitchFamily="49" charset="-122"/>
              </a:rPr>
              <a:t>循环过程  卡诺循环</a:t>
            </a:r>
          </a:p>
        </p:txBody>
      </p:sp>
      <p:sp>
        <p:nvSpPr>
          <p:cNvPr id="92169" name="Text Box 9"/>
          <p:cNvSpPr txBox="1">
            <a:spLocks noChangeArrowheads="1"/>
          </p:cNvSpPr>
          <p:nvPr/>
        </p:nvSpPr>
        <p:spPr bwMode="auto">
          <a:xfrm>
            <a:off x="156423" y="830523"/>
            <a:ext cx="3175000" cy="519113"/>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sz="3200" b="1">
                <a:solidFill>
                  <a:schemeClr val="folHlink"/>
                </a:solidFill>
                <a:latin typeface="Arial" pitchFamily="34" charset="0"/>
                <a:ea typeface="楷体_GB2312" pitchFamily="49" charset="-122"/>
              </a:rPr>
              <a:t>引言</a:t>
            </a:r>
          </a:p>
        </p:txBody>
      </p:sp>
      <p:pic>
        <p:nvPicPr>
          <p:cNvPr id="8" name="图片 7"/>
          <p:cNvPicPr>
            <a:picLocks noChangeAspect="1"/>
          </p:cNvPicPr>
          <p:nvPr/>
        </p:nvPicPr>
        <p:blipFill rotWithShape="1">
          <a:blip r:embed="rId3"/>
          <a:srcRect l="27557" t="50000" r="29919" b="10101"/>
          <a:stretch/>
        </p:blipFill>
        <p:spPr>
          <a:xfrm>
            <a:off x="-146975" y="1284660"/>
            <a:ext cx="9437949" cy="4981140"/>
          </a:xfrm>
          <a:prstGeom prst="rect">
            <a:avLst/>
          </a:prstGeom>
        </p:spPr>
      </p:pic>
      <p:sp>
        <p:nvSpPr>
          <p:cNvPr id="16" name="文本框 15"/>
          <p:cNvSpPr txBox="1"/>
          <p:nvPr/>
        </p:nvSpPr>
        <p:spPr>
          <a:xfrm>
            <a:off x="1972285" y="6433828"/>
            <a:ext cx="5570756" cy="400110"/>
          </a:xfrm>
          <a:prstGeom prst="rect">
            <a:avLst/>
          </a:prstGeom>
          <a:noFill/>
        </p:spPr>
        <p:txBody>
          <a:bodyPr wrap="none" rtlCol="0">
            <a:spAutoFit/>
          </a:bodyPr>
          <a:lstStyle/>
          <a:p>
            <a:r>
              <a:rPr lang="zh-CN" altLang="en-US">
                <a:solidFill>
                  <a:srgbClr val="FF0000"/>
                </a:solidFill>
              </a:rPr>
              <a:t>由汽油发动机和电动机组成的混合型汽车发动机</a:t>
            </a:r>
          </a:p>
        </p:txBody>
      </p:sp>
      <p:pic>
        <p:nvPicPr>
          <p:cNvPr id="10" name="图片 9"/>
          <p:cNvPicPr>
            <a:picLocks noChangeAspect="1"/>
          </p:cNvPicPr>
          <p:nvPr/>
        </p:nvPicPr>
        <p:blipFill rotWithShape="1">
          <a:blip r:embed="rId4"/>
          <a:srcRect l="24013" t="38100" r="48030" b="11501"/>
          <a:stretch/>
        </p:blipFill>
        <p:spPr>
          <a:xfrm>
            <a:off x="2937008" y="981371"/>
            <a:ext cx="5404878" cy="5481003"/>
          </a:xfrm>
          <a:prstGeom prst="rect">
            <a:avLst/>
          </a:prstGeom>
        </p:spPr>
      </p:pic>
      <p:pic>
        <p:nvPicPr>
          <p:cNvPr id="160770" name="Picture 2" descr="https://gimg2.baidu.com/image_search/src=http%3A%2F%2Fpic2.zhimg.com%2Fv2-a792b614145debff256411d5494f5d45_r.jpg&amp;refer=http%3A%2F%2Fpic2.zhimg.com&amp;app=2002&amp;size=f9999,10000&amp;q=a80&amp;n=0&amp;g=0n&amp;fmt=auto?sec=1671625132&amp;t=cbb4972f8f35dbd4e23d8736bc67dcd0">
            <a:extLst>
              <a:ext uri="{FF2B5EF4-FFF2-40B4-BE49-F238E27FC236}">
                <a16:creationId xmlns:a16="http://schemas.microsoft.com/office/drawing/2014/main" id="{19D035E3-A39D-44F2-8F87-DDE3E71C02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3" y="1319121"/>
            <a:ext cx="8954865" cy="5530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2480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07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8" name="Text Box 8"/>
          <p:cNvSpPr txBox="1">
            <a:spLocks noChangeArrowheads="1"/>
          </p:cNvSpPr>
          <p:nvPr/>
        </p:nvSpPr>
        <p:spPr bwMode="auto">
          <a:xfrm>
            <a:off x="2133600" y="120650"/>
            <a:ext cx="571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3200" b="1">
                <a:solidFill>
                  <a:srgbClr val="FF3300"/>
                </a:solidFill>
                <a:ea typeface="楷体_GB2312" pitchFamily="49" charset="-122"/>
              </a:rPr>
              <a:t>6</a:t>
            </a:r>
            <a:r>
              <a:rPr lang="zh-CN" altLang="en-US" sz="3200" b="1">
                <a:solidFill>
                  <a:srgbClr val="FF3300"/>
                </a:solidFill>
                <a:ea typeface="楷体_GB2312" pitchFamily="49" charset="-122"/>
              </a:rPr>
              <a:t>－</a:t>
            </a:r>
            <a:r>
              <a:rPr lang="en-US" altLang="zh-CN" sz="3200" b="1">
                <a:solidFill>
                  <a:srgbClr val="FF3300"/>
                </a:solidFill>
                <a:ea typeface="楷体_GB2312" pitchFamily="49" charset="-122"/>
              </a:rPr>
              <a:t>3  </a:t>
            </a:r>
            <a:r>
              <a:rPr lang="zh-CN" altLang="en-US" sz="3600" b="1">
                <a:solidFill>
                  <a:srgbClr val="FF3300"/>
                </a:solidFill>
                <a:ea typeface="楷体_GB2312" pitchFamily="49" charset="-122"/>
              </a:rPr>
              <a:t>循环过程  卡诺循环</a:t>
            </a:r>
          </a:p>
        </p:txBody>
      </p:sp>
      <p:sp>
        <p:nvSpPr>
          <p:cNvPr id="92169" name="Text Box 9"/>
          <p:cNvSpPr txBox="1">
            <a:spLocks noChangeArrowheads="1"/>
          </p:cNvSpPr>
          <p:nvPr/>
        </p:nvSpPr>
        <p:spPr bwMode="auto">
          <a:xfrm>
            <a:off x="156423" y="830523"/>
            <a:ext cx="3175000" cy="519113"/>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sz="3200" b="1">
                <a:solidFill>
                  <a:schemeClr val="folHlink"/>
                </a:solidFill>
                <a:latin typeface="Arial" pitchFamily="34" charset="0"/>
                <a:ea typeface="楷体_GB2312" pitchFamily="49" charset="-122"/>
              </a:rPr>
              <a:t>引言</a:t>
            </a:r>
          </a:p>
        </p:txBody>
      </p:sp>
      <p:sp>
        <p:nvSpPr>
          <p:cNvPr id="16" name="文本框 15"/>
          <p:cNvSpPr txBox="1"/>
          <p:nvPr/>
        </p:nvSpPr>
        <p:spPr>
          <a:xfrm>
            <a:off x="3524032" y="6262991"/>
            <a:ext cx="1467068" cy="400110"/>
          </a:xfrm>
          <a:prstGeom prst="rect">
            <a:avLst/>
          </a:prstGeom>
          <a:noFill/>
        </p:spPr>
        <p:txBody>
          <a:bodyPr wrap="none" rtlCol="0">
            <a:spAutoFit/>
          </a:bodyPr>
          <a:lstStyle/>
          <a:p>
            <a:r>
              <a:rPr lang="zh-CN" altLang="en-US">
                <a:solidFill>
                  <a:srgbClr val="FF0000"/>
                </a:solidFill>
              </a:rPr>
              <a:t>纯电动汽车</a:t>
            </a:r>
          </a:p>
        </p:txBody>
      </p:sp>
      <p:pic>
        <p:nvPicPr>
          <p:cNvPr id="176130" name="Picture 2" descr="https://p5.itc.cn/images01/20230328/504694a7e21e4b8eaaff3ee74e38daa9.jpeg">
            <a:extLst>
              <a:ext uri="{FF2B5EF4-FFF2-40B4-BE49-F238E27FC236}">
                <a16:creationId xmlns:a16="http://schemas.microsoft.com/office/drawing/2014/main" id="{FC0D60B5-46E3-406A-AD05-2B8821159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33475"/>
            <a:ext cx="9144000" cy="4591050"/>
          </a:xfrm>
          <a:prstGeom prst="rect">
            <a:avLst/>
          </a:prstGeom>
          <a:noFill/>
          <a:extLst>
            <a:ext uri="{909E8E84-426E-40DD-AFC4-6F175D3DCCD1}">
              <a14:hiddenFill xmlns:a14="http://schemas.microsoft.com/office/drawing/2010/main">
                <a:solidFill>
                  <a:srgbClr val="FFFFFF"/>
                </a:solidFill>
              </a14:hiddenFill>
            </a:ext>
          </a:extLst>
        </p:spPr>
      </p:pic>
      <p:pic>
        <p:nvPicPr>
          <p:cNvPr id="176132" name="Picture 4" descr="https://p1.itc.cn/images01/20230328/4f0909c7fc7146bbacff9567b9c75777.jpeg">
            <a:extLst>
              <a:ext uri="{FF2B5EF4-FFF2-40B4-BE49-F238E27FC236}">
                <a16:creationId xmlns:a16="http://schemas.microsoft.com/office/drawing/2014/main" id="{99CEBC07-941E-4D57-ADC9-6D1019E89B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418159"/>
            <a:ext cx="9144000" cy="4591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302973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6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9" name="Text Box 49"/>
          <p:cNvSpPr txBox="1">
            <a:spLocks noChangeArrowheads="1"/>
          </p:cNvSpPr>
          <p:nvPr/>
        </p:nvSpPr>
        <p:spPr bwMode="auto">
          <a:xfrm>
            <a:off x="250825" y="3789363"/>
            <a:ext cx="4033838"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dirty="0">
                <a:latin typeface="宋体" pitchFamily="2" charset="-122"/>
              </a:rPr>
              <a:t>沿顺时针方向进行的循环称为</a:t>
            </a:r>
            <a:r>
              <a:rPr lang="zh-CN" altLang="en-US" sz="2800" b="1" dirty="0">
                <a:solidFill>
                  <a:srgbClr val="FF3300"/>
                </a:solidFill>
                <a:ea typeface="楷体_GB2312" pitchFamily="49" charset="-122"/>
              </a:rPr>
              <a:t>正循环</a:t>
            </a:r>
            <a:r>
              <a:rPr lang="en-US" altLang="zh-CN" sz="2800" b="1" dirty="0">
                <a:solidFill>
                  <a:srgbClr val="FF3300"/>
                </a:solidFill>
                <a:ea typeface="楷体_GB2312" pitchFamily="49" charset="-122"/>
              </a:rPr>
              <a:t>,</a:t>
            </a:r>
            <a:r>
              <a:rPr lang="zh-CN" altLang="en-US" sz="2800" b="1" dirty="0">
                <a:solidFill>
                  <a:srgbClr val="FF3300"/>
                </a:solidFill>
                <a:ea typeface="楷体_GB2312" pitchFamily="49" charset="-122"/>
              </a:rPr>
              <a:t>热机</a:t>
            </a:r>
            <a:r>
              <a:rPr lang="zh-CN" altLang="en-US" sz="2400" b="1" dirty="0">
                <a:latin typeface="宋体" pitchFamily="2" charset="-122"/>
              </a:rPr>
              <a:t>。</a:t>
            </a:r>
          </a:p>
          <a:p>
            <a:pPr algn="l" eaLnBrk="1" hangingPunct="1">
              <a:spcBef>
                <a:spcPct val="50000"/>
              </a:spcBef>
            </a:pPr>
            <a:r>
              <a:rPr lang="zh-CN" altLang="en-US" sz="2400" b="1" dirty="0">
                <a:solidFill>
                  <a:schemeClr val="accent2"/>
                </a:solidFill>
              </a:rPr>
              <a:t>在一般情况下，系统要从某些</a:t>
            </a:r>
            <a:r>
              <a:rPr lang="zh-CN" altLang="en-US" sz="2400" b="1" dirty="0">
                <a:solidFill>
                  <a:srgbClr val="FF0000"/>
                </a:solidFill>
              </a:rPr>
              <a:t>高温热源处吸收热量</a:t>
            </a:r>
            <a:r>
              <a:rPr lang="zh-CN" altLang="en-US" sz="2400" b="1" dirty="0">
                <a:solidFill>
                  <a:schemeClr val="accent2"/>
                </a:solidFill>
              </a:rPr>
              <a:t>，部分用来</a:t>
            </a:r>
            <a:r>
              <a:rPr lang="zh-CN" altLang="en-US" sz="2400" b="1" dirty="0">
                <a:solidFill>
                  <a:srgbClr val="FF0000"/>
                </a:solidFill>
              </a:rPr>
              <a:t>对外作功</a:t>
            </a:r>
            <a:r>
              <a:rPr lang="zh-CN" altLang="en-US" sz="2400" b="1" dirty="0">
                <a:solidFill>
                  <a:schemeClr val="accent2"/>
                </a:solidFill>
              </a:rPr>
              <a:t>，部分在某些</a:t>
            </a:r>
            <a:r>
              <a:rPr lang="zh-CN" altLang="en-US" sz="2400" b="1" dirty="0">
                <a:solidFill>
                  <a:srgbClr val="FF0000"/>
                </a:solidFill>
              </a:rPr>
              <a:t>低温热源处放出</a:t>
            </a:r>
            <a:r>
              <a:rPr lang="zh-CN" altLang="en-US" sz="2400" b="1" dirty="0">
                <a:solidFill>
                  <a:schemeClr val="accent2"/>
                </a:solidFill>
              </a:rPr>
              <a:t>，而系统回到原来的状态。</a:t>
            </a:r>
          </a:p>
        </p:txBody>
      </p:sp>
      <p:sp>
        <p:nvSpPr>
          <p:cNvPr id="5172" name="Text Box 52"/>
          <p:cNvSpPr txBox="1">
            <a:spLocks noChangeArrowheads="1"/>
          </p:cNvSpPr>
          <p:nvPr/>
        </p:nvSpPr>
        <p:spPr bwMode="auto">
          <a:xfrm>
            <a:off x="152400" y="166688"/>
            <a:ext cx="3657600" cy="519112"/>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sz="3200" b="1">
                <a:solidFill>
                  <a:schemeClr val="folHlink"/>
                </a:solidFill>
                <a:latin typeface="Arial" pitchFamily="34" charset="0"/>
                <a:ea typeface="楷体_GB2312" pitchFamily="49" charset="-122"/>
              </a:rPr>
              <a:t>二、热机和制冷机</a:t>
            </a:r>
          </a:p>
        </p:txBody>
      </p:sp>
      <p:sp>
        <p:nvSpPr>
          <p:cNvPr id="5173" name="Text Box 53"/>
          <p:cNvSpPr txBox="1">
            <a:spLocks noChangeArrowheads="1"/>
          </p:cNvSpPr>
          <p:nvPr/>
        </p:nvSpPr>
        <p:spPr bwMode="auto">
          <a:xfrm>
            <a:off x="288925" y="685800"/>
            <a:ext cx="42116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a:solidFill>
                  <a:srgbClr val="3333FF"/>
                </a:solidFill>
                <a:ea typeface="楷体_GB2312" pitchFamily="49" charset="-122"/>
              </a:rPr>
              <a:t>1</a:t>
            </a:r>
            <a:r>
              <a:rPr lang="zh-CN" altLang="en-US" sz="2800" b="1">
                <a:solidFill>
                  <a:srgbClr val="3333FF"/>
                </a:solidFill>
                <a:ea typeface="楷体_GB2312" pitchFamily="49" charset="-122"/>
              </a:rPr>
              <a:t>、循环过程的分类</a:t>
            </a:r>
            <a:endParaRPr lang="zh-CN" altLang="en-US" sz="2400" b="1"/>
          </a:p>
        </p:txBody>
      </p:sp>
      <p:grpSp>
        <p:nvGrpSpPr>
          <p:cNvPr id="5281" name="Group 161"/>
          <p:cNvGrpSpPr>
            <a:grpSpLocks/>
          </p:cNvGrpSpPr>
          <p:nvPr/>
        </p:nvGrpSpPr>
        <p:grpSpPr bwMode="auto">
          <a:xfrm>
            <a:off x="395288" y="1125538"/>
            <a:ext cx="3816350" cy="2667000"/>
            <a:chOff x="249" y="638"/>
            <a:chExt cx="2404" cy="1680"/>
          </a:xfrm>
        </p:grpSpPr>
        <p:sp>
          <p:nvSpPr>
            <p:cNvPr id="4131" name="Freeform 102" descr="宽上对角线"/>
            <p:cNvSpPr>
              <a:spLocks/>
            </p:cNvSpPr>
            <p:nvPr/>
          </p:nvSpPr>
          <p:spPr bwMode="auto">
            <a:xfrm>
              <a:off x="777" y="1028"/>
              <a:ext cx="1005" cy="1055"/>
            </a:xfrm>
            <a:custGeom>
              <a:avLst/>
              <a:gdLst>
                <a:gd name="T0" fmla="*/ 0 w 1104"/>
                <a:gd name="T1" fmla="*/ 0 h 1296"/>
                <a:gd name="T2" fmla="*/ 74 w 1104"/>
                <a:gd name="T3" fmla="*/ 0 h 1296"/>
                <a:gd name="T4" fmla="*/ 174 w 1104"/>
                <a:gd name="T5" fmla="*/ 11 h 1296"/>
                <a:gd name="T6" fmla="*/ 249 w 1104"/>
                <a:gd name="T7" fmla="*/ 23 h 1296"/>
                <a:gd name="T8" fmla="*/ 349 w 1104"/>
                <a:gd name="T9" fmla="*/ 45 h 1296"/>
                <a:gd name="T10" fmla="*/ 398 w 1104"/>
                <a:gd name="T11" fmla="*/ 68 h 1296"/>
                <a:gd name="T12" fmla="*/ 448 w 1104"/>
                <a:gd name="T13" fmla="*/ 91 h 1296"/>
                <a:gd name="T14" fmla="*/ 498 w 1104"/>
                <a:gd name="T15" fmla="*/ 148 h 1296"/>
                <a:gd name="T16" fmla="*/ 548 w 1104"/>
                <a:gd name="T17" fmla="*/ 205 h 1296"/>
                <a:gd name="T18" fmla="*/ 572 w 1104"/>
                <a:gd name="T19" fmla="*/ 239 h 1296"/>
                <a:gd name="T20" fmla="*/ 572 w 1104"/>
                <a:gd name="T21" fmla="*/ 307 h 1296"/>
                <a:gd name="T22" fmla="*/ 0 w 1104"/>
                <a:gd name="T23" fmla="*/ 307 h 1296"/>
                <a:gd name="T24" fmla="*/ 0 w 1104"/>
                <a:gd name="T25" fmla="*/ 0 h 12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04" h="1296">
                  <a:moveTo>
                    <a:pt x="0" y="0"/>
                  </a:moveTo>
                  <a:lnTo>
                    <a:pt x="144" y="0"/>
                  </a:lnTo>
                  <a:lnTo>
                    <a:pt x="336" y="48"/>
                  </a:lnTo>
                  <a:lnTo>
                    <a:pt x="480" y="96"/>
                  </a:lnTo>
                  <a:lnTo>
                    <a:pt x="672" y="192"/>
                  </a:lnTo>
                  <a:lnTo>
                    <a:pt x="768" y="288"/>
                  </a:lnTo>
                  <a:lnTo>
                    <a:pt x="864" y="384"/>
                  </a:lnTo>
                  <a:lnTo>
                    <a:pt x="960" y="624"/>
                  </a:lnTo>
                  <a:lnTo>
                    <a:pt x="1056" y="864"/>
                  </a:lnTo>
                  <a:lnTo>
                    <a:pt x="1104" y="1008"/>
                  </a:lnTo>
                  <a:lnTo>
                    <a:pt x="1104" y="1296"/>
                  </a:lnTo>
                  <a:lnTo>
                    <a:pt x="0" y="1296"/>
                  </a:lnTo>
                  <a:lnTo>
                    <a:pt x="0" y="0"/>
                  </a:lnTo>
                  <a:close/>
                </a:path>
              </a:pathLst>
            </a:custGeom>
            <a:pattFill prst="wdUpDiag">
              <a:fgClr>
                <a:srgbClr val="FF00FF"/>
              </a:fgClr>
              <a:bgClr>
                <a:schemeClr val="bg1"/>
              </a:bgClr>
            </a:pattFill>
            <a:ln>
              <a:noFill/>
            </a:ln>
            <a:effectLst/>
            <a:extLst>
              <a:ext uri="{91240B29-F687-4F45-9708-019B960494DF}">
                <a14:hiddenLine xmlns:a14="http://schemas.microsoft.com/office/drawing/2010/main" w="19050" cap="flat" cmpd="sng">
                  <a:solidFill>
                    <a:schemeClr val="tx1"/>
                  </a:solidFill>
                  <a:prstDash val="solid"/>
                  <a:round/>
                  <a:headEnd type="none" w="med" len="me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2" name="Freeform 103"/>
            <p:cNvSpPr>
              <a:spLocks/>
            </p:cNvSpPr>
            <p:nvPr/>
          </p:nvSpPr>
          <p:spPr bwMode="auto">
            <a:xfrm flipH="1" flipV="1">
              <a:off x="762" y="1009"/>
              <a:ext cx="1005" cy="820"/>
            </a:xfrm>
            <a:custGeom>
              <a:avLst/>
              <a:gdLst>
                <a:gd name="T0" fmla="*/ 0 w 1104"/>
                <a:gd name="T1" fmla="*/ 0 h 1008"/>
                <a:gd name="T2" fmla="*/ 74 w 1104"/>
                <a:gd name="T3" fmla="*/ 103 h 1008"/>
                <a:gd name="T4" fmla="*/ 198 w 1104"/>
                <a:gd name="T5" fmla="*/ 181 h 1008"/>
                <a:gd name="T6" fmla="*/ 422 w 1104"/>
                <a:gd name="T7" fmla="*/ 226 h 1008"/>
                <a:gd name="T8" fmla="*/ 572 w 1104"/>
                <a:gd name="T9" fmla="*/ 238 h 10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04" h="1008">
                  <a:moveTo>
                    <a:pt x="0" y="0"/>
                  </a:moveTo>
                  <a:cubicBezTo>
                    <a:pt x="40" y="152"/>
                    <a:pt x="80" y="304"/>
                    <a:pt x="144" y="432"/>
                  </a:cubicBezTo>
                  <a:cubicBezTo>
                    <a:pt x="208" y="560"/>
                    <a:pt x="272" y="680"/>
                    <a:pt x="384" y="768"/>
                  </a:cubicBezTo>
                  <a:cubicBezTo>
                    <a:pt x="496" y="856"/>
                    <a:pt x="696" y="920"/>
                    <a:pt x="816" y="960"/>
                  </a:cubicBezTo>
                  <a:cubicBezTo>
                    <a:pt x="936" y="1000"/>
                    <a:pt x="1056" y="1000"/>
                    <a:pt x="1104" y="1008"/>
                  </a:cubicBezTo>
                </a:path>
              </a:pathLst>
            </a:custGeom>
            <a:noFill/>
            <a:ln w="19050" cap="flat" cmpd="sng">
              <a:solidFill>
                <a:srgbClr val="FF00FF"/>
              </a:solidFill>
              <a:prstDash val="solid"/>
              <a:round/>
              <a:headEnd type="non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3" name="Freeform 104"/>
            <p:cNvSpPr>
              <a:spLocks/>
            </p:cNvSpPr>
            <p:nvPr/>
          </p:nvSpPr>
          <p:spPr bwMode="auto">
            <a:xfrm>
              <a:off x="777" y="1028"/>
              <a:ext cx="1005" cy="820"/>
            </a:xfrm>
            <a:custGeom>
              <a:avLst/>
              <a:gdLst>
                <a:gd name="T0" fmla="*/ 0 w 1104"/>
                <a:gd name="T1" fmla="*/ 0 h 1008"/>
                <a:gd name="T2" fmla="*/ 74 w 1104"/>
                <a:gd name="T3" fmla="*/ 103 h 1008"/>
                <a:gd name="T4" fmla="*/ 198 w 1104"/>
                <a:gd name="T5" fmla="*/ 181 h 1008"/>
                <a:gd name="T6" fmla="*/ 422 w 1104"/>
                <a:gd name="T7" fmla="*/ 226 h 1008"/>
                <a:gd name="T8" fmla="*/ 572 w 1104"/>
                <a:gd name="T9" fmla="*/ 238 h 10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04" h="1008">
                  <a:moveTo>
                    <a:pt x="0" y="0"/>
                  </a:moveTo>
                  <a:cubicBezTo>
                    <a:pt x="40" y="152"/>
                    <a:pt x="80" y="304"/>
                    <a:pt x="144" y="432"/>
                  </a:cubicBezTo>
                  <a:cubicBezTo>
                    <a:pt x="208" y="560"/>
                    <a:pt x="272" y="680"/>
                    <a:pt x="384" y="768"/>
                  </a:cubicBezTo>
                  <a:cubicBezTo>
                    <a:pt x="496" y="856"/>
                    <a:pt x="696" y="920"/>
                    <a:pt x="816" y="960"/>
                  </a:cubicBezTo>
                  <a:cubicBezTo>
                    <a:pt x="936" y="1000"/>
                    <a:pt x="1056" y="1000"/>
                    <a:pt x="1104" y="1008"/>
                  </a:cubicBezTo>
                </a:path>
              </a:pathLst>
            </a:custGeom>
            <a:noFill/>
            <a:ln w="19050" cap="flat" cmpd="sng">
              <a:solidFill>
                <a:schemeClr val="accent2"/>
              </a:solidFill>
              <a:prstDash val="solid"/>
              <a:round/>
              <a:headEnd type="non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4" name="Line 106"/>
            <p:cNvSpPr>
              <a:spLocks noChangeShapeType="1"/>
            </p:cNvSpPr>
            <p:nvPr/>
          </p:nvSpPr>
          <p:spPr bwMode="auto">
            <a:xfrm flipV="1">
              <a:off x="471" y="717"/>
              <a:ext cx="0" cy="1367"/>
            </a:xfrm>
            <a:prstGeom prst="line">
              <a:avLst/>
            </a:prstGeom>
            <a:noFill/>
            <a:ln w="19050">
              <a:solidFill>
                <a:schemeClr val="tx1"/>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35" name="Line 107"/>
            <p:cNvSpPr>
              <a:spLocks noChangeShapeType="1"/>
            </p:cNvSpPr>
            <p:nvPr/>
          </p:nvSpPr>
          <p:spPr bwMode="auto">
            <a:xfrm>
              <a:off x="471" y="2084"/>
              <a:ext cx="1879" cy="0"/>
            </a:xfrm>
            <a:prstGeom prst="line">
              <a:avLst/>
            </a:prstGeom>
            <a:noFill/>
            <a:ln w="19050">
              <a:solidFill>
                <a:schemeClr val="tx1"/>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36" name="Object 108"/>
            <p:cNvGraphicFramePr>
              <a:graphicFrameLocks noChangeAspect="1"/>
            </p:cNvGraphicFramePr>
            <p:nvPr/>
          </p:nvGraphicFramePr>
          <p:xfrm>
            <a:off x="249" y="2071"/>
            <a:ext cx="145" cy="149"/>
          </p:xfrm>
          <a:graphic>
            <a:graphicData uri="http://schemas.openxmlformats.org/presentationml/2006/ole">
              <mc:AlternateContent xmlns:mc="http://schemas.openxmlformats.org/markup-compatibility/2006">
                <mc:Choice xmlns:v="urn:schemas-microsoft-com:vml" Requires="v">
                  <p:oleObj spid="_x0000_s151370" name="公式" r:id="rId3" imgW="253890" imgH="291973" progId="Equation.3">
                    <p:embed/>
                  </p:oleObj>
                </mc:Choice>
                <mc:Fallback>
                  <p:oleObj name="公式" r:id="rId3" imgW="253890" imgH="291973" progId="Equation.3">
                    <p:embed/>
                    <p:pic>
                      <p:nvPicPr>
                        <p:cNvPr id="4136" name="Object 1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 y="2071"/>
                          <a:ext cx="145" cy="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37" name="Object 109"/>
            <p:cNvGraphicFramePr>
              <a:graphicFrameLocks noChangeAspect="1"/>
            </p:cNvGraphicFramePr>
            <p:nvPr/>
          </p:nvGraphicFramePr>
          <p:xfrm>
            <a:off x="255" y="845"/>
            <a:ext cx="176" cy="181"/>
          </p:xfrm>
          <a:graphic>
            <a:graphicData uri="http://schemas.openxmlformats.org/presentationml/2006/ole">
              <mc:AlternateContent xmlns:mc="http://schemas.openxmlformats.org/markup-compatibility/2006">
                <mc:Choice xmlns:v="urn:schemas-microsoft-com:vml" Requires="v">
                  <p:oleObj spid="_x0000_s151371" name="Equation" r:id="rId5" imgW="393529" imgH="393529" progId="Equation.DSMT4">
                    <p:embed/>
                  </p:oleObj>
                </mc:Choice>
                <mc:Fallback>
                  <p:oleObj name="Equation" r:id="rId5" imgW="393529" imgH="393529" progId="Equation.DSMT4">
                    <p:embed/>
                    <p:pic>
                      <p:nvPicPr>
                        <p:cNvPr id="4137" name="Object 10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 y="845"/>
                          <a:ext cx="176"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38" name="Object 110"/>
            <p:cNvGraphicFramePr>
              <a:graphicFrameLocks noChangeAspect="1"/>
            </p:cNvGraphicFramePr>
            <p:nvPr/>
          </p:nvGraphicFramePr>
          <p:xfrm>
            <a:off x="2350" y="2003"/>
            <a:ext cx="225" cy="207"/>
          </p:xfrm>
          <a:graphic>
            <a:graphicData uri="http://schemas.openxmlformats.org/presentationml/2006/ole">
              <mc:AlternateContent xmlns:mc="http://schemas.openxmlformats.org/markup-compatibility/2006">
                <mc:Choice xmlns:v="urn:schemas-microsoft-com:vml" Requires="v">
                  <p:oleObj spid="_x0000_s151372" name="公式" r:id="rId7" imgW="393359" imgH="406048" progId="Equation.3">
                    <p:embed/>
                  </p:oleObj>
                </mc:Choice>
                <mc:Fallback>
                  <p:oleObj name="公式" r:id="rId7" imgW="393359" imgH="406048" progId="Equation.3">
                    <p:embed/>
                    <p:pic>
                      <p:nvPicPr>
                        <p:cNvPr id="4138" name="Object 1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0" y="2003"/>
                          <a:ext cx="225"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39" name="Line 111"/>
            <p:cNvSpPr>
              <a:spLocks noChangeShapeType="1"/>
            </p:cNvSpPr>
            <p:nvPr/>
          </p:nvSpPr>
          <p:spPr bwMode="auto">
            <a:xfrm>
              <a:off x="1782" y="1848"/>
              <a:ext cx="0" cy="235"/>
            </a:xfrm>
            <a:prstGeom prst="line">
              <a:avLst/>
            </a:prstGeom>
            <a:noFill/>
            <a:ln w="19050">
              <a:solidFill>
                <a:schemeClr val="accent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0" name="Line 112"/>
            <p:cNvSpPr>
              <a:spLocks noChangeShapeType="1"/>
            </p:cNvSpPr>
            <p:nvPr/>
          </p:nvSpPr>
          <p:spPr bwMode="auto">
            <a:xfrm>
              <a:off x="1214" y="1106"/>
              <a:ext cx="175" cy="78"/>
            </a:xfrm>
            <a:prstGeom prst="line">
              <a:avLst/>
            </a:prstGeom>
            <a:noFill/>
            <a:ln w="571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1" name="Line 113"/>
            <p:cNvSpPr>
              <a:spLocks noChangeShapeType="1"/>
            </p:cNvSpPr>
            <p:nvPr/>
          </p:nvSpPr>
          <p:spPr bwMode="auto">
            <a:xfrm flipH="1">
              <a:off x="777" y="1028"/>
              <a:ext cx="0" cy="1094"/>
            </a:xfrm>
            <a:prstGeom prst="line">
              <a:avLst/>
            </a:prstGeom>
            <a:noFill/>
            <a:ln w="19050">
              <a:solidFill>
                <a:schemeClr val="accent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42" name="Object 114"/>
            <p:cNvGraphicFramePr>
              <a:graphicFrameLocks noChangeAspect="1"/>
            </p:cNvGraphicFramePr>
            <p:nvPr/>
          </p:nvGraphicFramePr>
          <p:xfrm>
            <a:off x="1914" y="1614"/>
            <a:ext cx="151" cy="189"/>
          </p:xfrm>
          <a:graphic>
            <a:graphicData uri="http://schemas.openxmlformats.org/presentationml/2006/ole">
              <mc:AlternateContent xmlns:mc="http://schemas.openxmlformats.org/markup-compatibility/2006">
                <mc:Choice xmlns:v="urn:schemas-microsoft-com:vml" Requires="v">
                  <p:oleObj spid="_x0000_s151373" name="公式" r:id="rId9" imgW="266584" imgH="368140" progId="Equation.3">
                    <p:embed/>
                  </p:oleObj>
                </mc:Choice>
                <mc:Fallback>
                  <p:oleObj name="公式" r:id="rId9" imgW="266584" imgH="368140" progId="Equation.3">
                    <p:embed/>
                    <p:pic>
                      <p:nvPicPr>
                        <p:cNvPr id="4142" name="Object 1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14" y="1614"/>
                          <a:ext cx="151"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43" name="Object 115"/>
            <p:cNvGraphicFramePr>
              <a:graphicFrameLocks noChangeAspect="1"/>
            </p:cNvGraphicFramePr>
            <p:nvPr/>
          </p:nvGraphicFramePr>
          <p:xfrm>
            <a:off x="821" y="755"/>
            <a:ext cx="122" cy="189"/>
          </p:xfrm>
          <a:graphic>
            <a:graphicData uri="http://schemas.openxmlformats.org/presentationml/2006/ole">
              <mc:AlternateContent xmlns:mc="http://schemas.openxmlformats.org/markup-compatibility/2006">
                <mc:Choice xmlns:v="urn:schemas-microsoft-com:vml" Requires="v">
                  <p:oleObj spid="_x0000_s151374" name="公式" r:id="rId11" imgW="215806" imgH="368140" progId="Equation.3">
                    <p:embed/>
                  </p:oleObj>
                </mc:Choice>
                <mc:Fallback>
                  <p:oleObj name="公式" r:id="rId11" imgW="215806" imgH="368140" progId="Equation.3">
                    <p:embed/>
                    <p:pic>
                      <p:nvPicPr>
                        <p:cNvPr id="4143" name="Object 1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1" y="755"/>
                          <a:ext cx="122"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44" name="Oval 116"/>
            <p:cNvSpPr>
              <a:spLocks noChangeArrowheads="1"/>
            </p:cNvSpPr>
            <p:nvPr/>
          </p:nvSpPr>
          <p:spPr bwMode="auto">
            <a:xfrm>
              <a:off x="777" y="990"/>
              <a:ext cx="44" cy="38"/>
            </a:xfrm>
            <a:prstGeom prst="ellipse">
              <a:avLst/>
            </a:prstGeom>
            <a:solidFill>
              <a:schemeClr val="accent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5" name="Oval 117"/>
            <p:cNvSpPr>
              <a:spLocks noChangeArrowheads="1"/>
            </p:cNvSpPr>
            <p:nvPr/>
          </p:nvSpPr>
          <p:spPr bwMode="auto">
            <a:xfrm>
              <a:off x="1739" y="1810"/>
              <a:ext cx="43" cy="38"/>
            </a:xfrm>
            <a:prstGeom prst="ellipse">
              <a:avLst/>
            </a:prstGeom>
            <a:solidFill>
              <a:schemeClr val="accent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46" name="Object 118"/>
            <p:cNvGraphicFramePr>
              <a:graphicFrameLocks noChangeAspect="1"/>
            </p:cNvGraphicFramePr>
            <p:nvPr/>
          </p:nvGraphicFramePr>
          <p:xfrm>
            <a:off x="1764" y="2134"/>
            <a:ext cx="176" cy="184"/>
          </p:xfrm>
          <a:graphic>
            <a:graphicData uri="http://schemas.openxmlformats.org/presentationml/2006/ole">
              <mc:AlternateContent xmlns:mc="http://schemas.openxmlformats.org/markup-compatibility/2006">
                <mc:Choice xmlns:v="urn:schemas-microsoft-com:vml" Requires="v">
                  <p:oleObj spid="_x0000_s151375" name="公式" r:id="rId13" imgW="457002" imgH="533169" progId="Equation.3">
                    <p:embed/>
                  </p:oleObj>
                </mc:Choice>
                <mc:Fallback>
                  <p:oleObj name="公式" r:id="rId13" imgW="457002" imgH="533169" progId="Equation.3">
                    <p:embed/>
                    <p:pic>
                      <p:nvPicPr>
                        <p:cNvPr id="4146" name="Object 1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64" y="2134"/>
                          <a:ext cx="176"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47" name="Object 119"/>
            <p:cNvGraphicFramePr>
              <a:graphicFrameLocks noChangeAspect="1"/>
            </p:cNvGraphicFramePr>
            <p:nvPr/>
          </p:nvGraphicFramePr>
          <p:xfrm>
            <a:off x="690" y="2134"/>
            <a:ext cx="160" cy="184"/>
          </p:xfrm>
          <a:graphic>
            <a:graphicData uri="http://schemas.openxmlformats.org/presentationml/2006/ole">
              <mc:AlternateContent xmlns:mc="http://schemas.openxmlformats.org/markup-compatibility/2006">
                <mc:Choice xmlns:v="urn:schemas-microsoft-com:vml" Requires="v">
                  <p:oleObj spid="_x0000_s151376" name="公式" r:id="rId15" imgW="418918" imgH="533169" progId="Equation.3">
                    <p:embed/>
                  </p:oleObj>
                </mc:Choice>
                <mc:Fallback>
                  <p:oleObj name="公式" r:id="rId15" imgW="418918" imgH="533169" progId="Equation.3">
                    <p:embed/>
                    <p:pic>
                      <p:nvPicPr>
                        <p:cNvPr id="4147" name="Object 1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0" y="2134"/>
                          <a:ext cx="160"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48" name="Freeform 120"/>
            <p:cNvSpPr>
              <a:spLocks/>
            </p:cNvSpPr>
            <p:nvPr/>
          </p:nvSpPr>
          <p:spPr bwMode="auto">
            <a:xfrm>
              <a:off x="777" y="1028"/>
              <a:ext cx="1005" cy="1055"/>
            </a:xfrm>
            <a:custGeom>
              <a:avLst/>
              <a:gdLst>
                <a:gd name="T0" fmla="*/ 0 w 1104"/>
                <a:gd name="T1" fmla="*/ 0 h 1296"/>
                <a:gd name="T2" fmla="*/ 25 w 1104"/>
                <a:gd name="T3" fmla="*/ 56 h 1296"/>
                <a:gd name="T4" fmla="*/ 74 w 1104"/>
                <a:gd name="T5" fmla="*/ 103 h 1296"/>
                <a:gd name="T6" fmla="*/ 99 w 1104"/>
                <a:gd name="T7" fmla="*/ 125 h 1296"/>
                <a:gd name="T8" fmla="*/ 149 w 1104"/>
                <a:gd name="T9" fmla="*/ 159 h 1296"/>
                <a:gd name="T10" fmla="*/ 198 w 1104"/>
                <a:gd name="T11" fmla="*/ 182 h 1296"/>
                <a:gd name="T12" fmla="*/ 273 w 1104"/>
                <a:gd name="T13" fmla="*/ 205 h 1296"/>
                <a:gd name="T14" fmla="*/ 349 w 1104"/>
                <a:gd name="T15" fmla="*/ 216 h 1296"/>
                <a:gd name="T16" fmla="*/ 422 w 1104"/>
                <a:gd name="T17" fmla="*/ 228 h 1296"/>
                <a:gd name="T18" fmla="*/ 498 w 1104"/>
                <a:gd name="T19" fmla="*/ 239 h 1296"/>
                <a:gd name="T20" fmla="*/ 548 w 1104"/>
                <a:gd name="T21" fmla="*/ 239 h 1296"/>
                <a:gd name="T22" fmla="*/ 572 w 1104"/>
                <a:gd name="T23" fmla="*/ 239 h 1296"/>
                <a:gd name="T24" fmla="*/ 572 w 1104"/>
                <a:gd name="T25" fmla="*/ 307 h 1296"/>
                <a:gd name="T26" fmla="*/ 0 w 1104"/>
                <a:gd name="T27" fmla="*/ 307 h 1296"/>
                <a:gd name="T28" fmla="*/ 0 w 1104"/>
                <a:gd name="T29" fmla="*/ 0 h 12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04" h="1296">
                  <a:moveTo>
                    <a:pt x="0" y="0"/>
                  </a:moveTo>
                  <a:lnTo>
                    <a:pt x="48" y="240"/>
                  </a:lnTo>
                  <a:lnTo>
                    <a:pt x="144" y="432"/>
                  </a:lnTo>
                  <a:lnTo>
                    <a:pt x="192" y="528"/>
                  </a:lnTo>
                  <a:lnTo>
                    <a:pt x="288" y="672"/>
                  </a:lnTo>
                  <a:lnTo>
                    <a:pt x="384" y="768"/>
                  </a:lnTo>
                  <a:lnTo>
                    <a:pt x="528" y="864"/>
                  </a:lnTo>
                  <a:lnTo>
                    <a:pt x="672" y="912"/>
                  </a:lnTo>
                  <a:lnTo>
                    <a:pt x="816" y="960"/>
                  </a:lnTo>
                  <a:lnTo>
                    <a:pt x="960" y="1008"/>
                  </a:lnTo>
                  <a:lnTo>
                    <a:pt x="1056" y="1008"/>
                  </a:lnTo>
                  <a:lnTo>
                    <a:pt x="1104" y="1008"/>
                  </a:lnTo>
                  <a:lnTo>
                    <a:pt x="1104" y="1296"/>
                  </a:lnTo>
                  <a:lnTo>
                    <a:pt x="0" y="1296"/>
                  </a:lnTo>
                  <a:lnTo>
                    <a:pt x="0" y="0"/>
                  </a:lnTo>
                  <a:close/>
                </a:path>
              </a:pathLst>
            </a:custGeom>
            <a:solidFill>
              <a:srgbClr val="00CCFF">
                <a:alpha val="50195"/>
              </a:srgbClr>
            </a:solidFill>
            <a:ln>
              <a:noFill/>
            </a:ln>
            <a:effectLst/>
            <a:extLst>
              <a:ext uri="{91240B29-F687-4F45-9708-019B960494DF}">
                <a14:hiddenLine xmlns:a14="http://schemas.microsoft.com/office/drawing/2010/main" w="19050" cap="flat" cmpd="sng">
                  <a:solidFill>
                    <a:schemeClr val="tx1"/>
                  </a:solidFill>
                  <a:prstDash val="solid"/>
                  <a:round/>
                  <a:headEnd type="none" w="med" len="me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9" name="Line 121"/>
            <p:cNvSpPr>
              <a:spLocks noChangeShapeType="1"/>
            </p:cNvSpPr>
            <p:nvPr/>
          </p:nvSpPr>
          <p:spPr bwMode="auto">
            <a:xfrm flipH="1" flipV="1">
              <a:off x="1082" y="1628"/>
              <a:ext cx="132" cy="77"/>
            </a:xfrm>
            <a:prstGeom prst="line">
              <a:avLst/>
            </a:prstGeom>
            <a:noFill/>
            <a:ln w="571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50" name="Rectangle 122"/>
            <p:cNvSpPr>
              <a:spLocks noChangeArrowheads="1"/>
            </p:cNvSpPr>
            <p:nvPr/>
          </p:nvSpPr>
          <p:spPr bwMode="auto">
            <a:xfrm>
              <a:off x="1651" y="887"/>
              <a:ext cx="10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FF0000"/>
                  </a:solidFill>
                  <a:latin typeface="Century Schoolbook" pitchFamily="18" charset="0"/>
                </a:rPr>
                <a:t>正循环</a:t>
              </a:r>
            </a:p>
          </p:txBody>
        </p:sp>
        <p:sp>
          <p:nvSpPr>
            <p:cNvPr id="4151" name="Arc 123"/>
            <p:cNvSpPr>
              <a:spLocks/>
            </p:cNvSpPr>
            <p:nvPr/>
          </p:nvSpPr>
          <p:spPr bwMode="auto">
            <a:xfrm flipH="1">
              <a:off x="1082" y="951"/>
              <a:ext cx="307" cy="27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52" name="Arc 124"/>
            <p:cNvSpPr>
              <a:spLocks/>
            </p:cNvSpPr>
            <p:nvPr/>
          </p:nvSpPr>
          <p:spPr bwMode="auto">
            <a:xfrm flipH="1">
              <a:off x="1257" y="1576"/>
              <a:ext cx="44" cy="35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53" name="Object 125"/>
            <p:cNvGraphicFramePr>
              <a:graphicFrameLocks noChangeAspect="1"/>
            </p:cNvGraphicFramePr>
            <p:nvPr/>
          </p:nvGraphicFramePr>
          <p:xfrm>
            <a:off x="1301" y="638"/>
            <a:ext cx="343" cy="287"/>
          </p:xfrm>
          <a:graphic>
            <a:graphicData uri="http://schemas.openxmlformats.org/presentationml/2006/ole">
              <mc:AlternateContent xmlns:mc="http://schemas.openxmlformats.org/markup-compatibility/2006">
                <mc:Choice xmlns:v="urn:schemas-microsoft-com:vml" Requires="v">
                  <p:oleObj spid="_x0000_s151377" name="公式" r:id="rId17" imgW="596900" imgH="558800" progId="Equation.3">
                    <p:embed/>
                  </p:oleObj>
                </mc:Choice>
                <mc:Fallback>
                  <p:oleObj name="公式" r:id="rId17" imgW="596900" imgH="558800" progId="Equation.3">
                    <p:embed/>
                    <p:pic>
                      <p:nvPicPr>
                        <p:cNvPr id="4153" name="Object 1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01" y="638"/>
                          <a:ext cx="343"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54" name="Object 126"/>
            <p:cNvGraphicFramePr>
              <a:graphicFrameLocks noChangeAspect="1"/>
            </p:cNvGraphicFramePr>
            <p:nvPr/>
          </p:nvGraphicFramePr>
          <p:xfrm>
            <a:off x="860" y="1768"/>
            <a:ext cx="350" cy="293"/>
          </p:xfrm>
          <a:graphic>
            <a:graphicData uri="http://schemas.openxmlformats.org/presentationml/2006/ole">
              <mc:AlternateContent xmlns:mc="http://schemas.openxmlformats.org/markup-compatibility/2006">
                <mc:Choice xmlns:v="urn:schemas-microsoft-com:vml" Requires="v">
                  <p:oleObj spid="_x0000_s151378" name="公式" r:id="rId19" imgW="609336" imgH="571252" progId="Equation.3">
                    <p:embed/>
                  </p:oleObj>
                </mc:Choice>
                <mc:Fallback>
                  <p:oleObj name="公式" r:id="rId19" imgW="609336" imgH="571252" progId="Equation.3">
                    <p:embed/>
                    <p:pic>
                      <p:nvPicPr>
                        <p:cNvPr id="4154" name="Object 12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60" y="1768"/>
                          <a:ext cx="350"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55" name="Line 127"/>
            <p:cNvSpPr>
              <a:spLocks noChangeShapeType="1"/>
            </p:cNvSpPr>
            <p:nvPr/>
          </p:nvSpPr>
          <p:spPr bwMode="auto">
            <a:xfrm>
              <a:off x="1301" y="1577"/>
              <a:ext cx="525" cy="0"/>
            </a:xfrm>
            <a:prstGeom prst="line">
              <a:avLst/>
            </a:prstGeom>
            <a:noFill/>
            <a:ln w="19050">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56" name="Object 128"/>
            <p:cNvGraphicFramePr>
              <a:graphicFrameLocks noChangeAspect="1"/>
            </p:cNvGraphicFramePr>
            <p:nvPr/>
          </p:nvGraphicFramePr>
          <p:xfrm>
            <a:off x="1957" y="1303"/>
            <a:ext cx="282" cy="273"/>
          </p:xfrm>
          <a:graphic>
            <a:graphicData uri="http://schemas.openxmlformats.org/presentationml/2006/ole">
              <mc:AlternateContent xmlns:mc="http://schemas.openxmlformats.org/markup-compatibility/2006">
                <mc:Choice xmlns:v="urn:schemas-microsoft-com:vml" Requires="v">
                  <p:oleObj spid="_x0000_s151379" name="公式" r:id="rId21" imgW="152268" imgH="164957" progId="Equation.3">
                    <p:embed/>
                  </p:oleObj>
                </mc:Choice>
                <mc:Fallback>
                  <p:oleObj name="公式" r:id="rId21" imgW="152268" imgH="164957" progId="Equation.3">
                    <p:embed/>
                    <p:pic>
                      <p:nvPicPr>
                        <p:cNvPr id="4156" name="Object 1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57" y="1303"/>
                          <a:ext cx="282"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1" name="Group 1032"/>
          <p:cNvGrpSpPr>
            <a:grpSpLocks/>
          </p:cNvGrpSpPr>
          <p:nvPr/>
        </p:nvGrpSpPr>
        <p:grpSpPr bwMode="auto">
          <a:xfrm>
            <a:off x="4524375" y="373639"/>
            <a:ext cx="4646395" cy="6253597"/>
            <a:chOff x="3648" y="2208"/>
            <a:chExt cx="1496" cy="1584"/>
          </a:xfrm>
        </p:grpSpPr>
        <p:sp>
          <p:nvSpPr>
            <p:cNvPr id="62" name="Rectangle 1033"/>
            <p:cNvSpPr>
              <a:spLocks noChangeArrowheads="1"/>
            </p:cNvSpPr>
            <p:nvPr/>
          </p:nvSpPr>
          <p:spPr bwMode="auto">
            <a:xfrm>
              <a:off x="3648" y="2208"/>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zh-CN" sz="4000" b="1">
                  <a:solidFill>
                    <a:srgbClr val="3333FF"/>
                  </a:solidFill>
                  <a:latin typeface="Arial" pitchFamily="34" charset="0"/>
                  <a:ea typeface="楷体_GB2312" pitchFamily="49" charset="-122"/>
                </a:rPr>
                <a:t>高温热源</a:t>
              </a:r>
              <a:r>
                <a:rPr lang="zh-CN" altLang="zh-CN" sz="4000" b="1">
                  <a:latin typeface="Arial" pitchFamily="34" charset="0"/>
                </a:rPr>
                <a:t> </a:t>
              </a:r>
              <a:r>
                <a:rPr lang="en-US" altLang="zh-CN" sz="4000" b="1">
                  <a:latin typeface="Arial" pitchFamily="34" charset="0"/>
                </a:rPr>
                <a:t>T</a:t>
              </a:r>
              <a:r>
                <a:rPr lang="en-US" altLang="zh-CN" sz="4000" b="1" baseline="-25000">
                  <a:latin typeface="Arial" pitchFamily="34" charset="0"/>
                </a:rPr>
                <a:t>1</a:t>
              </a:r>
              <a:endParaRPr lang="en-US" altLang="zh-CN" sz="4000" b="1">
                <a:latin typeface="Arial" pitchFamily="34" charset="0"/>
              </a:endParaRPr>
            </a:p>
          </p:txBody>
        </p:sp>
        <p:sp>
          <p:nvSpPr>
            <p:cNvPr id="63" name="Oval 1034" descr="深色下对角线"/>
            <p:cNvSpPr>
              <a:spLocks noChangeArrowheads="1"/>
            </p:cNvSpPr>
            <p:nvPr/>
          </p:nvSpPr>
          <p:spPr bwMode="auto">
            <a:xfrm>
              <a:off x="3889" y="2703"/>
              <a:ext cx="888" cy="643"/>
            </a:xfrm>
            <a:prstGeom prst="ellipse">
              <a:avLst/>
            </a:prstGeom>
            <a:pattFill prst="dkDnDiag">
              <a:fgClr>
                <a:schemeClr val="tx1"/>
              </a:fgClr>
              <a:bgClr>
                <a:schemeClr val="accent1"/>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Rectangle 1035"/>
            <p:cNvSpPr>
              <a:spLocks noChangeArrowheads="1"/>
            </p:cNvSpPr>
            <p:nvPr/>
          </p:nvSpPr>
          <p:spPr bwMode="auto">
            <a:xfrm>
              <a:off x="4153" y="2448"/>
              <a:ext cx="215" cy="110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Rectangle 1036"/>
            <p:cNvSpPr>
              <a:spLocks noChangeArrowheads="1"/>
            </p:cNvSpPr>
            <p:nvPr/>
          </p:nvSpPr>
          <p:spPr bwMode="auto">
            <a:xfrm>
              <a:off x="4368" y="2448"/>
              <a:ext cx="144" cy="432"/>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1037"/>
            <p:cNvSpPr>
              <a:spLocks noChangeArrowheads="1"/>
            </p:cNvSpPr>
            <p:nvPr/>
          </p:nvSpPr>
          <p:spPr bwMode="auto">
            <a:xfrm>
              <a:off x="4560" y="2976"/>
              <a:ext cx="384" cy="14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AutoShape 1038"/>
            <p:cNvSpPr>
              <a:spLocks noChangeArrowheads="1"/>
            </p:cNvSpPr>
            <p:nvPr/>
          </p:nvSpPr>
          <p:spPr bwMode="auto">
            <a:xfrm rot="-1764019">
              <a:off x="4319" y="2496"/>
              <a:ext cx="384" cy="720"/>
            </a:xfrm>
            <a:prstGeom prst="moon">
              <a:avLst>
                <a:gd name="adj" fmla="val 50000"/>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p>
          </p:txBody>
        </p:sp>
        <p:sp>
          <p:nvSpPr>
            <p:cNvPr id="68" name="Rectangle 1039"/>
            <p:cNvSpPr>
              <a:spLocks noChangeArrowheads="1"/>
            </p:cNvSpPr>
            <p:nvPr/>
          </p:nvSpPr>
          <p:spPr bwMode="auto">
            <a:xfrm>
              <a:off x="3648" y="3552"/>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4000" b="1">
                  <a:solidFill>
                    <a:srgbClr val="3333FF"/>
                  </a:solidFill>
                  <a:latin typeface="Arial" pitchFamily="34" charset="0"/>
                  <a:ea typeface="楷体_GB2312" pitchFamily="49" charset="-122"/>
                </a:rPr>
                <a:t>低温热源</a:t>
              </a:r>
              <a:r>
                <a:rPr lang="zh-CN" altLang="en-US" sz="4000" b="1">
                  <a:latin typeface="Arial" pitchFamily="34" charset="0"/>
                </a:rPr>
                <a:t> </a:t>
              </a:r>
              <a:r>
                <a:rPr lang="en-US" altLang="zh-CN" sz="4000" b="1">
                  <a:latin typeface="Arial" pitchFamily="34" charset="0"/>
                </a:rPr>
                <a:t>T</a:t>
              </a:r>
              <a:r>
                <a:rPr lang="en-US" altLang="zh-CN" sz="4000" b="1" baseline="-25000">
                  <a:latin typeface="Arial" pitchFamily="34" charset="0"/>
                </a:rPr>
                <a:t>2</a:t>
              </a:r>
              <a:endParaRPr lang="en-US" altLang="zh-CN" sz="4000" b="1">
                <a:latin typeface="Arial" pitchFamily="34" charset="0"/>
              </a:endParaRPr>
            </a:p>
          </p:txBody>
        </p:sp>
        <p:sp>
          <p:nvSpPr>
            <p:cNvPr id="69" name="Line 1040"/>
            <p:cNvSpPr>
              <a:spLocks noChangeShapeType="1"/>
            </p:cNvSpPr>
            <p:nvPr/>
          </p:nvSpPr>
          <p:spPr bwMode="auto">
            <a:xfrm>
              <a:off x="4329" y="2463"/>
              <a:ext cx="0" cy="24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1041"/>
            <p:cNvSpPr>
              <a:spLocks noChangeShapeType="1"/>
            </p:cNvSpPr>
            <p:nvPr/>
          </p:nvSpPr>
          <p:spPr bwMode="auto">
            <a:xfrm>
              <a:off x="4279" y="3312"/>
              <a:ext cx="0" cy="24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Text Box 1042"/>
            <p:cNvSpPr txBox="1">
              <a:spLocks noChangeArrowheads="1"/>
            </p:cNvSpPr>
            <p:nvPr/>
          </p:nvSpPr>
          <p:spPr bwMode="auto">
            <a:xfrm>
              <a:off x="4220" y="2703"/>
              <a:ext cx="249"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4000" b="1">
                  <a:latin typeface="Arial" pitchFamily="34" charset="0"/>
                </a:rPr>
                <a:t>Q</a:t>
              </a:r>
              <a:r>
                <a:rPr lang="en-US" altLang="zh-CN" sz="4000" b="1" baseline="-25000">
                  <a:latin typeface="Arial" pitchFamily="34" charset="0"/>
                </a:rPr>
                <a:t>1</a:t>
              </a:r>
              <a:endParaRPr lang="en-US" altLang="zh-CN" sz="4000" b="1">
                <a:latin typeface="Arial" pitchFamily="34" charset="0"/>
              </a:endParaRPr>
            </a:p>
          </p:txBody>
        </p:sp>
        <p:sp>
          <p:nvSpPr>
            <p:cNvPr id="72" name="Text Box 1043"/>
            <p:cNvSpPr txBox="1">
              <a:spLocks noChangeArrowheads="1"/>
            </p:cNvSpPr>
            <p:nvPr/>
          </p:nvSpPr>
          <p:spPr bwMode="auto">
            <a:xfrm>
              <a:off x="4143" y="3109"/>
              <a:ext cx="249"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4000" b="1">
                  <a:latin typeface="Arial" pitchFamily="34" charset="0"/>
                </a:rPr>
                <a:t>Q</a:t>
              </a:r>
              <a:r>
                <a:rPr lang="en-US" altLang="zh-CN" sz="4000" b="1" baseline="-25000">
                  <a:latin typeface="Arial" pitchFamily="34" charset="0"/>
                </a:rPr>
                <a:t>2</a:t>
              </a:r>
              <a:endParaRPr lang="en-US" altLang="zh-CN" sz="4000" b="1">
                <a:latin typeface="Arial" pitchFamily="34" charset="0"/>
              </a:endParaRPr>
            </a:p>
          </p:txBody>
        </p:sp>
        <p:sp>
          <p:nvSpPr>
            <p:cNvPr id="73" name="Line 1044"/>
            <p:cNvSpPr>
              <a:spLocks noChangeShapeType="1"/>
            </p:cNvSpPr>
            <p:nvPr/>
          </p:nvSpPr>
          <p:spPr bwMode="auto">
            <a:xfrm>
              <a:off x="4752" y="3024"/>
              <a:ext cx="240"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Text Box 1045"/>
            <p:cNvSpPr txBox="1">
              <a:spLocks noChangeArrowheads="1"/>
            </p:cNvSpPr>
            <p:nvPr/>
          </p:nvSpPr>
          <p:spPr bwMode="auto">
            <a:xfrm>
              <a:off x="4965" y="2934"/>
              <a:ext cx="179"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4000" b="1" i="1">
                  <a:latin typeface="Arial" pitchFamily="34" charset="0"/>
                </a:rPr>
                <a:t>A</a:t>
              </a:r>
            </a:p>
          </p:txBody>
        </p:sp>
      </p:grpSp>
    </p:spTree>
    <p:extLst>
      <p:ext uri="{BB962C8B-B14F-4D97-AF65-F5344CB8AC3E}">
        <p14:creationId xmlns:p14="http://schemas.microsoft.com/office/powerpoint/2010/main" val="238727313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72"/>
                                        </p:tgtEl>
                                        <p:attrNameLst>
                                          <p:attrName>style.visibility</p:attrName>
                                        </p:attrNameLst>
                                      </p:cBhvr>
                                      <p:to>
                                        <p:strVal val="visible"/>
                                      </p:to>
                                    </p:set>
                                    <p:animEffect transition="in" filter="wipe(left)">
                                      <p:cBhvr>
                                        <p:cTn id="7" dur="500"/>
                                        <p:tgtEl>
                                          <p:spTgt spid="51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73"/>
                                        </p:tgtEl>
                                        <p:attrNameLst>
                                          <p:attrName>style.visibility</p:attrName>
                                        </p:attrNameLst>
                                      </p:cBhvr>
                                      <p:to>
                                        <p:strVal val="visible"/>
                                      </p:to>
                                    </p:set>
                                    <p:animEffect transition="in" filter="wipe(left)">
                                      <p:cBhvr>
                                        <p:cTn id="12" dur="500"/>
                                        <p:tgtEl>
                                          <p:spTgt spid="51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281"/>
                                        </p:tgtEl>
                                        <p:attrNameLst>
                                          <p:attrName>style.visibility</p:attrName>
                                        </p:attrNameLst>
                                      </p:cBhvr>
                                      <p:to>
                                        <p:strVal val="visible"/>
                                      </p:to>
                                    </p:set>
                                    <p:animEffect transition="in" filter="blinds(horizontal)">
                                      <p:cBhvr>
                                        <p:cTn id="17" dur="500"/>
                                        <p:tgtEl>
                                          <p:spTgt spid="52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iterate type="lt">
                                    <p:tmPct val="100000"/>
                                  </p:iterate>
                                  <p:childTnLst>
                                    <p:set>
                                      <p:cBhvr>
                                        <p:cTn id="21" dur="1" fill="hold">
                                          <p:stCondLst>
                                            <p:cond delay="0"/>
                                          </p:stCondLst>
                                        </p:cTn>
                                        <p:tgtEl>
                                          <p:spTgt spid="5169"/>
                                        </p:tgtEl>
                                        <p:attrNameLst>
                                          <p:attrName>style.visibility</p:attrName>
                                        </p:attrNameLst>
                                      </p:cBhvr>
                                      <p:to>
                                        <p:strVal val="visible"/>
                                      </p:to>
                                    </p:set>
                                    <p:animEffect transition="in" filter="wipe(left)">
                                      <p:cBhvr>
                                        <p:cTn id="22" dur="75"/>
                                        <p:tgtEl>
                                          <p:spTgt spid="516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box(out)">
                                      <p:cBhvr>
                                        <p:cTn id="2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2" grpId="0" animBg="1" autoUpdateAnimBg="0"/>
      <p:bldP spid="517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2" name="Text Box 52"/>
          <p:cNvSpPr txBox="1">
            <a:spLocks noChangeArrowheads="1"/>
          </p:cNvSpPr>
          <p:nvPr/>
        </p:nvSpPr>
        <p:spPr bwMode="auto">
          <a:xfrm>
            <a:off x="410872" y="-63728"/>
            <a:ext cx="3846803" cy="1042014"/>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r>
              <a:rPr lang="zh-CN" altLang="en-US" sz="4400" b="1">
                <a:solidFill>
                  <a:schemeClr val="folHlink"/>
                </a:solidFill>
                <a:latin typeface="Arial" pitchFamily="34" charset="0"/>
                <a:ea typeface="楷体_GB2312" pitchFamily="49" charset="-122"/>
              </a:rPr>
              <a:t>逆循环</a:t>
            </a:r>
          </a:p>
        </p:txBody>
      </p:sp>
      <p:grpSp>
        <p:nvGrpSpPr>
          <p:cNvPr id="5249" name="Group 129"/>
          <p:cNvGrpSpPr>
            <a:grpSpLocks/>
          </p:cNvGrpSpPr>
          <p:nvPr/>
        </p:nvGrpSpPr>
        <p:grpSpPr bwMode="auto">
          <a:xfrm>
            <a:off x="655637" y="1184448"/>
            <a:ext cx="3060700" cy="2841625"/>
            <a:chOff x="3264" y="2269"/>
            <a:chExt cx="2361" cy="1907"/>
          </a:xfrm>
        </p:grpSpPr>
        <p:sp>
          <p:nvSpPr>
            <p:cNvPr id="4105" name="Freeform 130" descr="宽上对角线"/>
            <p:cNvSpPr>
              <a:spLocks/>
            </p:cNvSpPr>
            <p:nvPr/>
          </p:nvSpPr>
          <p:spPr bwMode="auto">
            <a:xfrm>
              <a:off x="3862" y="2623"/>
              <a:ext cx="984" cy="1195"/>
            </a:xfrm>
            <a:custGeom>
              <a:avLst/>
              <a:gdLst>
                <a:gd name="T0" fmla="*/ 0 w 1104"/>
                <a:gd name="T1" fmla="*/ 0 h 1296"/>
                <a:gd name="T2" fmla="*/ 64 w 1104"/>
                <a:gd name="T3" fmla="*/ 0 h 1296"/>
                <a:gd name="T4" fmla="*/ 150 w 1104"/>
                <a:gd name="T5" fmla="*/ 28 h 1296"/>
                <a:gd name="T6" fmla="*/ 215 w 1104"/>
                <a:gd name="T7" fmla="*/ 55 h 1296"/>
                <a:gd name="T8" fmla="*/ 300 w 1104"/>
                <a:gd name="T9" fmla="*/ 108 h 1296"/>
                <a:gd name="T10" fmla="*/ 344 w 1104"/>
                <a:gd name="T11" fmla="*/ 163 h 1296"/>
                <a:gd name="T12" fmla="*/ 386 w 1104"/>
                <a:gd name="T13" fmla="*/ 218 h 1296"/>
                <a:gd name="T14" fmla="*/ 429 w 1104"/>
                <a:gd name="T15" fmla="*/ 354 h 1296"/>
                <a:gd name="T16" fmla="*/ 472 w 1104"/>
                <a:gd name="T17" fmla="*/ 490 h 1296"/>
                <a:gd name="T18" fmla="*/ 494 w 1104"/>
                <a:gd name="T19" fmla="*/ 571 h 1296"/>
                <a:gd name="T20" fmla="*/ 494 w 1104"/>
                <a:gd name="T21" fmla="*/ 735 h 1296"/>
                <a:gd name="T22" fmla="*/ 0 w 1104"/>
                <a:gd name="T23" fmla="*/ 735 h 1296"/>
                <a:gd name="T24" fmla="*/ 0 w 1104"/>
                <a:gd name="T25" fmla="*/ 0 h 12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04" h="1296">
                  <a:moveTo>
                    <a:pt x="0" y="0"/>
                  </a:moveTo>
                  <a:lnTo>
                    <a:pt x="144" y="0"/>
                  </a:lnTo>
                  <a:lnTo>
                    <a:pt x="336" y="48"/>
                  </a:lnTo>
                  <a:lnTo>
                    <a:pt x="480" y="96"/>
                  </a:lnTo>
                  <a:lnTo>
                    <a:pt x="672" y="192"/>
                  </a:lnTo>
                  <a:lnTo>
                    <a:pt x="768" y="288"/>
                  </a:lnTo>
                  <a:lnTo>
                    <a:pt x="864" y="384"/>
                  </a:lnTo>
                  <a:lnTo>
                    <a:pt x="960" y="624"/>
                  </a:lnTo>
                  <a:lnTo>
                    <a:pt x="1056" y="864"/>
                  </a:lnTo>
                  <a:lnTo>
                    <a:pt x="1104" y="1008"/>
                  </a:lnTo>
                  <a:lnTo>
                    <a:pt x="1104" y="1296"/>
                  </a:lnTo>
                  <a:lnTo>
                    <a:pt x="0" y="1296"/>
                  </a:lnTo>
                  <a:lnTo>
                    <a:pt x="0" y="0"/>
                  </a:lnTo>
                  <a:close/>
                </a:path>
              </a:pathLst>
            </a:custGeom>
            <a:pattFill prst="wdUpDiag">
              <a:fgClr>
                <a:srgbClr val="00CCFF"/>
              </a:fgClr>
              <a:bgClr>
                <a:schemeClr val="bg1"/>
              </a:bgClr>
            </a:pattFill>
            <a:ln>
              <a:noFill/>
            </a:ln>
            <a:effectLst/>
            <a:extLst>
              <a:ext uri="{91240B29-F687-4F45-9708-019B960494DF}">
                <a14:hiddenLine xmlns:a14="http://schemas.microsoft.com/office/drawing/2010/main" w="19050" cap="flat" cmpd="sng">
                  <a:solidFill>
                    <a:schemeClr val="tx1"/>
                  </a:solidFill>
                  <a:prstDash val="solid"/>
                  <a:round/>
                  <a:headEnd type="none" w="med" len="me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6" name="Freeform 131"/>
            <p:cNvSpPr>
              <a:spLocks/>
            </p:cNvSpPr>
            <p:nvPr/>
          </p:nvSpPr>
          <p:spPr bwMode="auto">
            <a:xfrm flipH="1" flipV="1">
              <a:off x="3852" y="2601"/>
              <a:ext cx="983" cy="929"/>
            </a:xfrm>
            <a:custGeom>
              <a:avLst/>
              <a:gdLst>
                <a:gd name="T0" fmla="*/ 0 w 1104"/>
                <a:gd name="T1" fmla="*/ 0 h 1008"/>
                <a:gd name="T2" fmla="*/ 64 w 1104"/>
                <a:gd name="T3" fmla="*/ 244 h 1008"/>
                <a:gd name="T4" fmla="*/ 170 w 1104"/>
                <a:gd name="T5" fmla="*/ 435 h 1008"/>
                <a:gd name="T6" fmla="*/ 362 w 1104"/>
                <a:gd name="T7" fmla="*/ 543 h 1008"/>
                <a:gd name="T8" fmla="*/ 490 w 1104"/>
                <a:gd name="T9" fmla="*/ 569 h 10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04" h="1008">
                  <a:moveTo>
                    <a:pt x="0" y="0"/>
                  </a:moveTo>
                  <a:cubicBezTo>
                    <a:pt x="40" y="152"/>
                    <a:pt x="80" y="304"/>
                    <a:pt x="144" y="432"/>
                  </a:cubicBezTo>
                  <a:cubicBezTo>
                    <a:pt x="208" y="560"/>
                    <a:pt x="272" y="680"/>
                    <a:pt x="384" y="768"/>
                  </a:cubicBezTo>
                  <a:cubicBezTo>
                    <a:pt x="496" y="856"/>
                    <a:pt x="696" y="920"/>
                    <a:pt x="816" y="960"/>
                  </a:cubicBezTo>
                  <a:cubicBezTo>
                    <a:pt x="936" y="1000"/>
                    <a:pt x="1056" y="1000"/>
                    <a:pt x="1104" y="1008"/>
                  </a:cubicBezTo>
                </a:path>
              </a:pathLst>
            </a:custGeom>
            <a:noFill/>
            <a:ln w="19050" cap="flat" cmpd="sng">
              <a:solidFill>
                <a:schemeClr val="accent2"/>
              </a:solidFill>
              <a:prstDash val="solid"/>
              <a:round/>
              <a:headEnd type="non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7" name="Freeform 132"/>
            <p:cNvSpPr>
              <a:spLocks/>
            </p:cNvSpPr>
            <p:nvPr/>
          </p:nvSpPr>
          <p:spPr bwMode="auto">
            <a:xfrm>
              <a:off x="3866" y="2623"/>
              <a:ext cx="983" cy="930"/>
            </a:xfrm>
            <a:custGeom>
              <a:avLst/>
              <a:gdLst>
                <a:gd name="T0" fmla="*/ 0 w 1104"/>
                <a:gd name="T1" fmla="*/ 0 h 1008"/>
                <a:gd name="T2" fmla="*/ 64 w 1104"/>
                <a:gd name="T3" fmla="*/ 247 h 1008"/>
                <a:gd name="T4" fmla="*/ 170 w 1104"/>
                <a:gd name="T5" fmla="*/ 436 h 1008"/>
                <a:gd name="T6" fmla="*/ 362 w 1104"/>
                <a:gd name="T7" fmla="*/ 546 h 1008"/>
                <a:gd name="T8" fmla="*/ 490 w 1104"/>
                <a:gd name="T9" fmla="*/ 574 h 10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04" h="1008">
                  <a:moveTo>
                    <a:pt x="0" y="0"/>
                  </a:moveTo>
                  <a:cubicBezTo>
                    <a:pt x="40" y="152"/>
                    <a:pt x="80" y="304"/>
                    <a:pt x="144" y="432"/>
                  </a:cubicBezTo>
                  <a:cubicBezTo>
                    <a:pt x="208" y="560"/>
                    <a:pt x="272" y="680"/>
                    <a:pt x="384" y="768"/>
                  </a:cubicBezTo>
                  <a:cubicBezTo>
                    <a:pt x="496" y="856"/>
                    <a:pt x="696" y="920"/>
                    <a:pt x="816" y="960"/>
                  </a:cubicBezTo>
                  <a:cubicBezTo>
                    <a:pt x="936" y="1000"/>
                    <a:pt x="1056" y="1000"/>
                    <a:pt x="1104" y="1008"/>
                  </a:cubicBezTo>
                </a:path>
              </a:pathLst>
            </a:custGeom>
            <a:noFill/>
            <a:ln w="19050" cap="flat" cmpd="sng">
              <a:solidFill>
                <a:srgbClr val="FF0000"/>
              </a:solidFill>
              <a:prstDash val="solid"/>
              <a:round/>
              <a:headEnd type="none" w="med" len="me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108" name="Group 133"/>
            <p:cNvGrpSpPr>
              <a:grpSpLocks/>
            </p:cNvGrpSpPr>
            <p:nvPr/>
          </p:nvGrpSpPr>
          <p:grpSpPr bwMode="auto">
            <a:xfrm>
              <a:off x="3264" y="2269"/>
              <a:ext cx="2361" cy="1703"/>
              <a:chOff x="2928" y="2304"/>
              <a:chExt cx="2651" cy="1847"/>
            </a:xfrm>
          </p:grpSpPr>
          <p:sp>
            <p:nvSpPr>
              <p:cNvPr id="4126" name="Line 134"/>
              <p:cNvSpPr>
                <a:spLocks noChangeShapeType="1"/>
              </p:cNvSpPr>
              <p:nvPr/>
            </p:nvSpPr>
            <p:spPr bwMode="auto">
              <a:xfrm flipV="1">
                <a:off x="3268" y="2304"/>
                <a:ext cx="0" cy="1680"/>
              </a:xfrm>
              <a:prstGeom prst="line">
                <a:avLst/>
              </a:prstGeom>
              <a:noFill/>
              <a:ln w="19050">
                <a:solidFill>
                  <a:schemeClr val="tx1"/>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27" name="Line 135"/>
              <p:cNvSpPr>
                <a:spLocks noChangeShapeType="1"/>
              </p:cNvSpPr>
              <p:nvPr/>
            </p:nvSpPr>
            <p:spPr bwMode="auto">
              <a:xfrm>
                <a:off x="3268" y="3984"/>
                <a:ext cx="2064" cy="0"/>
              </a:xfrm>
              <a:prstGeom prst="line">
                <a:avLst/>
              </a:prstGeom>
              <a:noFill/>
              <a:ln w="19050">
                <a:solidFill>
                  <a:schemeClr val="tx1"/>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28" name="Object 136"/>
              <p:cNvGraphicFramePr>
                <a:graphicFrameLocks noChangeAspect="1"/>
              </p:cNvGraphicFramePr>
              <p:nvPr/>
            </p:nvGraphicFramePr>
            <p:xfrm>
              <a:off x="3024" y="3968"/>
              <a:ext cx="159" cy="183"/>
            </p:xfrm>
            <a:graphic>
              <a:graphicData uri="http://schemas.openxmlformats.org/presentationml/2006/ole">
                <mc:AlternateContent xmlns:mc="http://schemas.openxmlformats.org/markup-compatibility/2006">
                  <mc:Choice xmlns:v="urn:schemas-microsoft-com:vml" Requires="v">
                    <p:oleObj spid="_x0000_s168239" name="公式" r:id="rId3" imgW="253890" imgH="291973" progId="Equation.3">
                      <p:embed/>
                    </p:oleObj>
                  </mc:Choice>
                  <mc:Fallback>
                    <p:oleObj name="公式" r:id="rId3" imgW="253890" imgH="291973" progId="Equation.3">
                      <p:embed/>
                      <p:pic>
                        <p:nvPicPr>
                          <p:cNvPr id="0" name="Object 1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4" y="3968"/>
                            <a:ext cx="159"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29" name="Object 137"/>
              <p:cNvGraphicFramePr>
                <a:graphicFrameLocks noChangeAspect="1"/>
              </p:cNvGraphicFramePr>
              <p:nvPr/>
            </p:nvGraphicFramePr>
            <p:xfrm>
              <a:off x="2928" y="2304"/>
              <a:ext cx="247" cy="247"/>
            </p:xfrm>
            <a:graphic>
              <a:graphicData uri="http://schemas.openxmlformats.org/presentationml/2006/ole">
                <mc:AlternateContent xmlns:mc="http://schemas.openxmlformats.org/markup-compatibility/2006">
                  <mc:Choice xmlns:v="urn:schemas-microsoft-com:vml" Requires="v">
                    <p:oleObj spid="_x0000_s168240" name="公式" r:id="rId5" imgW="393529" imgH="393529" progId="Equation.3">
                      <p:embed/>
                    </p:oleObj>
                  </mc:Choice>
                  <mc:Fallback>
                    <p:oleObj name="公式" r:id="rId5" imgW="393529" imgH="393529" progId="Equation.3">
                      <p:embed/>
                      <p:pic>
                        <p:nvPicPr>
                          <p:cNvPr id="0" name="Object 1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8" y="2304"/>
                            <a:ext cx="247"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30" name="Object 138"/>
              <p:cNvGraphicFramePr>
                <a:graphicFrameLocks noChangeAspect="1"/>
              </p:cNvGraphicFramePr>
              <p:nvPr/>
            </p:nvGraphicFramePr>
            <p:xfrm>
              <a:off x="5332" y="3884"/>
              <a:ext cx="247" cy="255"/>
            </p:xfrm>
            <a:graphic>
              <a:graphicData uri="http://schemas.openxmlformats.org/presentationml/2006/ole">
                <mc:AlternateContent xmlns:mc="http://schemas.openxmlformats.org/markup-compatibility/2006">
                  <mc:Choice xmlns:v="urn:schemas-microsoft-com:vml" Requires="v">
                    <p:oleObj spid="_x0000_s168241" name="公式" r:id="rId7" imgW="393359" imgH="406048" progId="Equation.3">
                      <p:embed/>
                    </p:oleObj>
                  </mc:Choice>
                  <mc:Fallback>
                    <p:oleObj name="公式" r:id="rId7" imgW="393359" imgH="406048" progId="Equation.3">
                      <p:embed/>
                      <p:pic>
                        <p:nvPicPr>
                          <p:cNvPr id="0" name="Object 1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2" y="3884"/>
                            <a:ext cx="247"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109" name="Line 139"/>
            <p:cNvSpPr>
              <a:spLocks noChangeShapeType="1"/>
            </p:cNvSpPr>
            <p:nvPr/>
          </p:nvSpPr>
          <p:spPr bwMode="auto">
            <a:xfrm>
              <a:off x="4849" y="3553"/>
              <a:ext cx="0" cy="265"/>
            </a:xfrm>
            <a:prstGeom prst="line">
              <a:avLst/>
            </a:prstGeom>
            <a:noFill/>
            <a:ln w="19050">
              <a:solidFill>
                <a:schemeClr val="accent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0" name="Line 140"/>
            <p:cNvSpPr>
              <a:spLocks noChangeShapeType="1"/>
            </p:cNvSpPr>
            <p:nvPr/>
          </p:nvSpPr>
          <p:spPr bwMode="auto">
            <a:xfrm>
              <a:off x="4293" y="2711"/>
              <a:ext cx="172" cy="88"/>
            </a:xfrm>
            <a:prstGeom prst="line">
              <a:avLst/>
            </a:prstGeom>
            <a:noFill/>
            <a:ln w="57150">
              <a:solidFill>
                <a:srgbClr val="FF0000"/>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1" name="Line 141"/>
            <p:cNvSpPr>
              <a:spLocks noChangeShapeType="1"/>
            </p:cNvSpPr>
            <p:nvPr/>
          </p:nvSpPr>
          <p:spPr bwMode="auto">
            <a:xfrm flipH="1">
              <a:off x="3862" y="2623"/>
              <a:ext cx="0" cy="1239"/>
            </a:xfrm>
            <a:prstGeom prst="line">
              <a:avLst/>
            </a:prstGeom>
            <a:noFill/>
            <a:ln w="19050">
              <a:solidFill>
                <a:schemeClr val="accent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12" name="Object 142"/>
            <p:cNvGraphicFramePr>
              <a:graphicFrameLocks noChangeAspect="1"/>
            </p:cNvGraphicFramePr>
            <p:nvPr/>
          </p:nvGraphicFramePr>
          <p:xfrm>
            <a:off x="4974" y="3287"/>
            <a:ext cx="149" cy="214"/>
          </p:xfrm>
          <a:graphic>
            <a:graphicData uri="http://schemas.openxmlformats.org/presentationml/2006/ole">
              <mc:AlternateContent xmlns:mc="http://schemas.openxmlformats.org/markup-compatibility/2006">
                <mc:Choice xmlns:v="urn:schemas-microsoft-com:vml" Requires="v">
                  <p:oleObj spid="_x0000_s168242" name="公式" r:id="rId9" imgW="266584" imgH="368140" progId="Equation.3">
                    <p:embed/>
                  </p:oleObj>
                </mc:Choice>
                <mc:Fallback>
                  <p:oleObj name="公式" r:id="rId9" imgW="266584" imgH="368140" progId="Equation.3">
                    <p:embed/>
                    <p:pic>
                      <p:nvPicPr>
                        <p:cNvPr id="0" name="Object 1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74" y="3287"/>
                          <a:ext cx="149"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3" name="Object 143"/>
            <p:cNvGraphicFramePr>
              <a:graphicFrameLocks noChangeAspect="1"/>
            </p:cNvGraphicFramePr>
            <p:nvPr/>
          </p:nvGraphicFramePr>
          <p:xfrm>
            <a:off x="3905" y="2313"/>
            <a:ext cx="120" cy="214"/>
          </p:xfrm>
          <a:graphic>
            <a:graphicData uri="http://schemas.openxmlformats.org/presentationml/2006/ole">
              <mc:AlternateContent xmlns:mc="http://schemas.openxmlformats.org/markup-compatibility/2006">
                <mc:Choice xmlns:v="urn:schemas-microsoft-com:vml" Requires="v">
                  <p:oleObj spid="_x0000_s168243" name="公式" r:id="rId11" imgW="215806" imgH="368140" progId="Equation.3">
                    <p:embed/>
                  </p:oleObj>
                </mc:Choice>
                <mc:Fallback>
                  <p:oleObj name="公式" r:id="rId11" imgW="215806" imgH="368140" progId="Equation.3">
                    <p:embed/>
                    <p:pic>
                      <p:nvPicPr>
                        <p:cNvPr id="0" name="Object 1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05" y="2313"/>
                          <a:ext cx="120"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4" name="Oval 144"/>
            <p:cNvSpPr>
              <a:spLocks noChangeArrowheads="1"/>
            </p:cNvSpPr>
            <p:nvPr/>
          </p:nvSpPr>
          <p:spPr bwMode="auto">
            <a:xfrm>
              <a:off x="3845" y="2601"/>
              <a:ext cx="42" cy="44"/>
            </a:xfrm>
            <a:prstGeom prst="ellipse">
              <a:avLst/>
            </a:prstGeom>
            <a:solidFill>
              <a:schemeClr val="accent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5" name="Oval 145"/>
            <p:cNvSpPr>
              <a:spLocks noChangeArrowheads="1"/>
            </p:cNvSpPr>
            <p:nvPr/>
          </p:nvSpPr>
          <p:spPr bwMode="auto">
            <a:xfrm>
              <a:off x="4806" y="3508"/>
              <a:ext cx="43" cy="45"/>
            </a:xfrm>
            <a:prstGeom prst="ellipse">
              <a:avLst/>
            </a:prstGeom>
            <a:solidFill>
              <a:schemeClr val="accent1"/>
            </a:solidFill>
            <a:ln w="19050">
              <a:solidFill>
                <a:schemeClr val="tx1"/>
              </a:solidFill>
              <a:round/>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16" name="Object 146"/>
            <p:cNvGraphicFramePr>
              <a:graphicFrameLocks noChangeAspect="1"/>
            </p:cNvGraphicFramePr>
            <p:nvPr/>
          </p:nvGraphicFramePr>
          <p:xfrm>
            <a:off x="4763" y="3907"/>
            <a:ext cx="223" cy="269"/>
          </p:xfrm>
          <a:graphic>
            <a:graphicData uri="http://schemas.openxmlformats.org/presentationml/2006/ole">
              <mc:AlternateContent xmlns:mc="http://schemas.openxmlformats.org/markup-compatibility/2006">
                <mc:Choice xmlns:v="urn:schemas-microsoft-com:vml" Requires="v">
                  <p:oleObj spid="_x0000_s168244" name="公式" r:id="rId13" imgW="457002" imgH="533169" progId="Equation.3">
                    <p:embed/>
                  </p:oleObj>
                </mc:Choice>
                <mc:Fallback>
                  <p:oleObj name="公式" r:id="rId13" imgW="457002" imgH="533169" progId="Equation.3">
                    <p:embed/>
                    <p:pic>
                      <p:nvPicPr>
                        <p:cNvPr id="0" name="Object 14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63" y="3907"/>
                          <a:ext cx="223"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7" name="Object 147"/>
            <p:cNvGraphicFramePr>
              <a:graphicFrameLocks noChangeAspect="1"/>
            </p:cNvGraphicFramePr>
            <p:nvPr/>
          </p:nvGraphicFramePr>
          <p:xfrm>
            <a:off x="3784" y="3951"/>
            <a:ext cx="170" cy="225"/>
          </p:xfrm>
          <a:graphic>
            <a:graphicData uri="http://schemas.openxmlformats.org/presentationml/2006/ole">
              <mc:AlternateContent xmlns:mc="http://schemas.openxmlformats.org/markup-compatibility/2006">
                <mc:Choice xmlns:v="urn:schemas-microsoft-com:vml" Requires="v">
                  <p:oleObj spid="_x0000_s168245" name="公式" r:id="rId15" imgW="418918" imgH="533169" progId="Equation.3">
                    <p:embed/>
                  </p:oleObj>
                </mc:Choice>
                <mc:Fallback>
                  <p:oleObj name="公式" r:id="rId15" imgW="418918" imgH="533169" progId="Equation.3">
                    <p:embed/>
                    <p:pic>
                      <p:nvPicPr>
                        <p:cNvPr id="0" name="Object 14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84" y="3951"/>
                          <a:ext cx="170"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8" name="Freeform 148"/>
            <p:cNvSpPr>
              <a:spLocks/>
            </p:cNvSpPr>
            <p:nvPr/>
          </p:nvSpPr>
          <p:spPr bwMode="auto">
            <a:xfrm>
              <a:off x="3866" y="2623"/>
              <a:ext cx="983" cy="1195"/>
            </a:xfrm>
            <a:custGeom>
              <a:avLst/>
              <a:gdLst>
                <a:gd name="T0" fmla="*/ 0 w 1104"/>
                <a:gd name="T1" fmla="*/ 0 h 1296"/>
                <a:gd name="T2" fmla="*/ 21 w 1104"/>
                <a:gd name="T3" fmla="*/ 136 h 1296"/>
                <a:gd name="T4" fmla="*/ 64 w 1104"/>
                <a:gd name="T5" fmla="*/ 245 h 1296"/>
                <a:gd name="T6" fmla="*/ 85 w 1104"/>
                <a:gd name="T7" fmla="*/ 300 h 1296"/>
                <a:gd name="T8" fmla="*/ 127 w 1104"/>
                <a:gd name="T9" fmla="*/ 381 h 1296"/>
                <a:gd name="T10" fmla="*/ 170 w 1104"/>
                <a:gd name="T11" fmla="*/ 435 h 1296"/>
                <a:gd name="T12" fmla="*/ 234 w 1104"/>
                <a:gd name="T13" fmla="*/ 490 h 1296"/>
                <a:gd name="T14" fmla="*/ 298 w 1104"/>
                <a:gd name="T15" fmla="*/ 517 h 1296"/>
                <a:gd name="T16" fmla="*/ 362 w 1104"/>
                <a:gd name="T17" fmla="*/ 543 h 1296"/>
                <a:gd name="T18" fmla="*/ 427 w 1104"/>
                <a:gd name="T19" fmla="*/ 571 h 1296"/>
                <a:gd name="T20" fmla="*/ 467 w 1104"/>
                <a:gd name="T21" fmla="*/ 571 h 1296"/>
                <a:gd name="T22" fmla="*/ 490 w 1104"/>
                <a:gd name="T23" fmla="*/ 571 h 1296"/>
                <a:gd name="T24" fmla="*/ 490 w 1104"/>
                <a:gd name="T25" fmla="*/ 735 h 1296"/>
                <a:gd name="T26" fmla="*/ 0 w 1104"/>
                <a:gd name="T27" fmla="*/ 735 h 1296"/>
                <a:gd name="T28" fmla="*/ 0 w 1104"/>
                <a:gd name="T29" fmla="*/ 0 h 12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04" h="1296">
                  <a:moveTo>
                    <a:pt x="0" y="0"/>
                  </a:moveTo>
                  <a:lnTo>
                    <a:pt x="48" y="240"/>
                  </a:lnTo>
                  <a:lnTo>
                    <a:pt x="144" y="432"/>
                  </a:lnTo>
                  <a:lnTo>
                    <a:pt x="192" y="528"/>
                  </a:lnTo>
                  <a:lnTo>
                    <a:pt x="288" y="672"/>
                  </a:lnTo>
                  <a:lnTo>
                    <a:pt x="384" y="768"/>
                  </a:lnTo>
                  <a:lnTo>
                    <a:pt x="528" y="864"/>
                  </a:lnTo>
                  <a:lnTo>
                    <a:pt x="672" y="912"/>
                  </a:lnTo>
                  <a:lnTo>
                    <a:pt x="816" y="960"/>
                  </a:lnTo>
                  <a:lnTo>
                    <a:pt x="960" y="1008"/>
                  </a:lnTo>
                  <a:lnTo>
                    <a:pt x="1056" y="1008"/>
                  </a:lnTo>
                  <a:lnTo>
                    <a:pt x="1104" y="1008"/>
                  </a:lnTo>
                  <a:lnTo>
                    <a:pt x="1104" y="1296"/>
                  </a:lnTo>
                  <a:lnTo>
                    <a:pt x="0" y="1296"/>
                  </a:lnTo>
                  <a:lnTo>
                    <a:pt x="0" y="0"/>
                  </a:lnTo>
                  <a:close/>
                </a:path>
              </a:pathLst>
            </a:custGeom>
            <a:solidFill>
              <a:srgbClr val="FF00FF">
                <a:alpha val="50195"/>
              </a:srgbClr>
            </a:solidFill>
            <a:ln>
              <a:noFill/>
            </a:ln>
            <a:effectLst/>
            <a:extLst>
              <a:ext uri="{91240B29-F687-4F45-9708-019B960494DF}">
                <a14:hiddenLine xmlns:a14="http://schemas.microsoft.com/office/drawing/2010/main" w="19050" cap="flat" cmpd="sng">
                  <a:solidFill>
                    <a:schemeClr val="tx1"/>
                  </a:solidFill>
                  <a:prstDash val="solid"/>
                  <a:round/>
                  <a:headEnd type="none" w="med" len="me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9" name="Line 149"/>
            <p:cNvSpPr>
              <a:spLocks noChangeShapeType="1"/>
            </p:cNvSpPr>
            <p:nvPr/>
          </p:nvSpPr>
          <p:spPr bwMode="auto">
            <a:xfrm flipH="1" flipV="1">
              <a:off x="4164" y="3303"/>
              <a:ext cx="129" cy="87"/>
            </a:xfrm>
            <a:prstGeom prst="line">
              <a:avLst/>
            </a:prstGeom>
            <a:noFill/>
            <a:ln w="38100">
              <a:solidFill>
                <a:srgbClr val="FF0000"/>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20" name="Arc 150"/>
            <p:cNvSpPr>
              <a:spLocks/>
            </p:cNvSpPr>
            <p:nvPr/>
          </p:nvSpPr>
          <p:spPr bwMode="auto">
            <a:xfrm flipH="1">
              <a:off x="4164" y="2534"/>
              <a:ext cx="300" cy="31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type="stealth"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21" name="Arc 151"/>
            <p:cNvSpPr>
              <a:spLocks/>
            </p:cNvSpPr>
            <p:nvPr/>
          </p:nvSpPr>
          <p:spPr bwMode="auto">
            <a:xfrm flipH="1">
              <a:off x="4336" y="3244"/>
              <a:ext cx="43" cy="39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type="stealth"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22" name="Object 152"/>
            <p:cNvGraphicFramePr>
              <a:graphicFrameLocks noChangeAspect="1"/>
            </p:cNvGraphicFramePr>
            <p:nvPr/>
          </p:nvGraphicFramePr>
          <p:xfrm>
            <a:off x="3951" y="3420"/>
            <a:ext cx="335" cy="324"/>
          </p:xfrm>
          <a:graphic>
            <a:graphicData uri="http://schemas.openxmlformats.org/presentationml/2006/ole">
              <mc:AlternateContent xmlns:mc="http://schemas.openxmlformats.org/markup-compatibility/2006">
                <mc:Choice xmlns:v="urn:schemas-microsoft-com:vml" Requires="v">
                  <p:oleObj spid="_x0000_s168246" name="公式" r:id="rId17" imgW="596900" imgH="558800" progId="Equation.3">
                    <p:embed/>
                  </p:oleObj>
                </mc:Choice>
                <mc:Fallback>
                  <p:oleObj name="公式" r:id="rId17" imgW="596900" imgH="558800" progId="Equation.3">
                    <p:embed/>
                    <p:pic>
                      <p:nvPicPr>
                        <p:cNvPr id="0" name="Object 15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51" y="3420"/>
                          <a:ext cx="335"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23" name="Object 153"/>
            <p:cNvGraphicFramePr>
              <a:graphicFrameLocks noChangeAspect="1"/>
            </p:cNvGraphicFramePr>
            <p:nvPr/>
          </p:nvGraphicFramePr>
          <p:xfrm>
            <a:off x="4461" y="2402"/>
            <a:ext cx="342" cy="332"/>
          </p:xfrm>
          <a:graphic>
            <a:graphicData uri="http://schemas.openxmlformats.org/presentationml/2006/ole">
              <mc:AlternateContent xmlns:mc="http://schemas.openxmlformats.org/markup-compatibility/2006">
                <mc:Choice xmlns:v="urn:schemas-microsoft-com:vml" Requires="v">
                  <p:oleObj spid="_x0000_s168247" name="公式" r:id="rId19" imgW="609336" imgH="571252" progId="Equation.3">
                    <p:embed/>
                  </p:oleObj>
                </mc:Choice>
                <mc:Fallback>
                  <p:oleObj name="公式" r:id="rId19" imgW="609336" imgH="571252" progId="Equation.3">
                    <p:embed/>
                    <p:pic>
                      <p:nvPicPr>
                        <p:cNvPr id="0" name="Object 15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61" y="2402"/>
                          <a:ext cx="342"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24" name="Line 154"/>
            <p:cNvSpPr>
              <a:spLocks noChangeShapeType="1"/>
            </p:cNvSpPr>
            <p:nvPr/>
          </p:nvSpPr>
          <p:spPr bwMode="auto">
            <a:xfrm>
              <a:off x="4422" y="3021"/>
              <a:ext cx="513" cy="0"/>
            </a:xfrm>
            <a:prstGeom prst="line">
              <a:avLst/>
            </a:prstGeom>
            <a:noFill/>
            <a:ln w="19050">
              <a:solidFill>
                <a:schemeClr val="accent2"/>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25" name="Object 155"/>
            <p:cNvGraphicFramePr>
              <a:graphicFrameLocks noChangeAspect="1"/>
            </p:cNvGraphicFramePr>
            <p:nvPr/>
          </p:nvGraphicFramePr>
          <p:xfrm>
            <a:off x="4974" y="2844"/>
            <a:ext cx="254" cy="284"/>
          </p:xfrm>
          <a:graphic>
            <a:graphicData uri="http://schemas.openxmlformats.org/presentationml/2006/ole">
              <mc:AlternateContent xmlns:mc="http://schemas.openxmlformats.org/markup-compatibility/2006">
                <mc:Choice xmlns:v="urn:schemas-microsoft-com:vml" Requires="v">
                  <p:oleObj spid="_x0000_s168248" name="公式" r:id="rId21" imgW="152268" imgH="164957" progId="Equation.3">
                    <p:embed/>
                  </p:oleObj>
                </mc:Choice>
                <mc:Fallback>
                  <p:oleObj name="公式" r:id="rId21" imgW="152268" imgH="164957" progId="Equation.3">
                    <p:embed/>
                    <p:pic>
                      <p:nvPicPr>
                        <p:cNvPr id="0" name="Object 15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74" y="2844"/>
                          <a:ext cx="254"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277" name="Rectangle 157"/>
          <p:cNvSpPr>
            <a:spLocks noChangeArrowheads="1"/>
          </p:cNvSpPr>
          <p:nvPr/>
        </p:nvSpPr>
        <p:spPr bwMode="auto">
          <a:xfrm>
            <a:off x="152400" y="4135611"/>
            <a:ext cx="4105275" cy="280076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dirty="0"/>
              <a:t>沿逆时针方向进行的循环称为</a:t>
            </a:r>
            <a:r>
              <a:rPr lang="zh-CN" altLang="en-US" sz="2800" b="1" dirty="0">
                <a:solidFill>
                  <a:srgbClr val="FF3300"/>
                </a:solidFill>
              </a:rPr>
              <a:t>逆循环，制冷机</a:t>
            </a:r>
            <a:r>
              <a:rPr lang="zh-CN" altLang="en-US" sz="2800" b="1" dirty="0"/>
              <a:t>。</a:t>
            </a:r>
          </a:p>
          <a:p>
            <a:pPr algn="l"/>
            <a:r>
              <a:rPr lang="zh-CN" altLang="en-US" sz="2400" b="1" dirty="0">
                <a:solidFill>
                  <a:schemeClr val="accent2"/>
                </a:solidFill>
              </a:rPr>
              <a:t>对于逆循环过程，通过外界对系统作功，系统要从某些</a:t>
            </a:r>
            <a:r>
              <a:rPr lang="zh-CN" altLang="en-US" sz="2400" b="1" dirty="0">
                <a:solidFill>
                  <a:srgbClr val="FF0000"/>
                </a:solidFill>
              </a:rPr>
              <a:t>低温热源处吸收热量</a:t>
            </a:r>
            <a:r>
              <a:rPr lang="zh-CN" altLang="en-US" sz="2400" b="1" dirty="0">
                <a:solidFill>
                  <a:schemeClr val="accent2"/>
                </a:solidFill>
              </a:rPr>
              <a:t>，并向高温</a:t>
            </a:r>
            <a:r>
              <a:rPr lang="zh-CN" altLang="en-US" sz="2400" b="1" dirty="0">
                <a:solidFill>
                  <a:srgbClr val="FF0000"/>
                </a:solidFill>
              </a:rPr>
              <a:t>热源处放出热</a:t>
            </a:r>
            <a:r>
              <a:rPr lang="zh-CN" altLang="en-US" sz="2400" b="1" dirty="0">
                <a:solidFill>
                  <a:schemeClr val="accent2"/>
                </a:solidFill>
              </a:rPr>
              <a:t>量，而系统回到原来的状态。</a:t>
            </a:r>
          </a:p>
        </p:txBody>
      </p:sp>
      <p:sp>
        <p:nvSpPr>
          <p:cNvPr id="5278" name="Rectangle 158"/>
          <p:cNvSpPr>
            <a:spLocks noChangeArrowheads="1"/>
          </p:cNvSpPr>
          <p:nvPr/>
        </p:nvSpPr>
        <p:spPr bwMode="auto">
          <a:xfrm>
            <a:off x="2746375" y="1433686"/>
            <a:ext cx="946150"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rgbClr val="FF0000"/>
                </a:solidFill>
              </a:rPr>
              <a:t>逆循环</a:t>
            </a:r>
          </a:p>
        </p:txBody>
      </p:sp>
      <p:grpSp>
        <p:nvGrpSpPr>
          <p:cNvPr id="61" name="Group 19"/>
          <p:cNvGrpSpPr>
            <a:grpSpLocks/>
          </p:cNvGrpSpPr>
          <p:nvPr/>
        </p:nvGrpSpPr>
        <p:grpSpPr bwMode="auto">
          <a:xfrm>
            <a:off x="4622927" y="762832"/>
            <a:ext cx="4298659" cy="5855935"/>
            <a:chOff x="3936" y="480"/>
            <a:chExt cx="1498" cy="1584"/>
          </a:xfrm>
        </p:grpSpPr>
        <p:sp>
          <p:nvSpPr>
            <p:cNvPr id="62" name="Rectangle 6"/>
            <p:cNvSpPr>
              <a:spLocks noChangeArrowheads="1"/>
            </p:cNvSpPr>
            <p:nvPr/>
          </p:nvSpPr>
          <p:spPr bwMode="auto">
            <a:xfrm>
              <a:off x="3936" y="480"/>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zh-CN" sz="4400" b="1">
                  <a:solidFill>
                    <a:srgbClr val="3333FF"/>
                  </a:solidFill>
                  <a:latin typeface="Arial" pitchFamily="34" charset="0"/>
                  <a:ea typeface="楷体_GB2312" pitchFamily="49" charset="-122"/>
                </a:rPr>
                <a:t>高温热源</a:t>
              </a:r>
              <a:r>
                <a:rPr lang="zh-CN" altLang="zh-CN" sz="4400" b="1">
                  <a:latin typeface="Arial" pitchFamily="34" charset="0"/>
                </a:rPr>
                <a:t> </a:t>
              </a:r>
              <a:r>
                <a:rPr lang="en-US" altLang="zh-CN" sz="4400" b="1">
                  <a:latin typeface="Arial" pitchFamily="34" charset="0"/>
                </a:rPr>
                <a:t>T</a:t>
              </a:r>
              <a:r>
                <a:rPr lang="en-US" altLang="zh-CN" sz="4400" b="1" baseline="-25000">
                  <a:latin typeface="Arial" pitchFamily="34" charset="0"/>
                </a:rPr>
                <a:t>1</a:t>
              </a:r>
              <a:endParaRPr lang="en-US" altLang="zh-CN" sz="4400" b="1">
                <a:latin typeface="Arial" pitchFamily="34" charset="0"/>
              </a:endParaRPr>
            </a:p>
          </p:txBody>
        </p:sp>
        <p:sp>
          <p:nvSpPr>
            <p:cNvPr id="63" name="Oval 7" descr="深色下对角线"/>
            <p:cNvSpPr>
              <a:spLocks noChangeArrowheads="1"/>
            </p:cNvSpPr>
            <p:nvPr/>
          </p:nvSpPr>
          <p:spPr bwMode="auto">
            <a:xfrm>
              <a:off x="4334" y="1006"/>
              <a:ext cx="638" cy="480"/>
            </a:xfrm>
            <a:prstGeom prst="ellipse">
              <a:avLst/>
            </a:prstGeom>
            <a:pattFill prst="dkDnDiag">
              <a:fgClr>
                <a:schemeClr val="tx1"/>
              </a:fgClr>
              <a:bgClr>
                <a:schemeClr val="accent1"/>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Rectangle 8"/>
            <p:cNvSpPr>
              <a:spLocks noChangeArrowheads="1"/>
            </p:cNvSpPr>
            <p:nvPr/>
          </p:nvSpPr>
          <p:spPr bwMode="auto">
            <a:xfrm>
              <a:off x="4512" y="720"/>
              <a:ext cx="144" cy="110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Rectangle 9"/>
            <p:cNvSpPr>
              <a:spLocks noChangeArrowheads="1"/>
            </p:cNvSpPr>
            <p:nvPr/>
          </p:nvSpPr>
          <p:spPr bwMode="auto">
            <a:xfrm>
              <a:off x="4656" y="720"/>
              <a:ext cx="144" cy="432"/>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10"/>
            <p:cNvSpPr>
              <a:spLocks noChangeArrowheads="1"/>
            </p:cNvSpPr>
            <p:nvPr/>
          </p:nvSpPr>
          <p:spPr bwMode="auto">
            <a:xfrm>
              <a:off x="4848" y="1248"/>
              <a:ext cx="384" cy="14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AutoShape 11"/>
            <p:cNvSpPr>
              <a:spLocks noChangeArrowheads="1"/>
            </p:cNvSpPr>
            <p:nvPr/>
          </p:nvSpPr>
          <p:spPr bwMode="auto">
            <a:xfrm rot="-1764019">
              <a:off x="4607" y="768"/>
              <a:ext cx="384" cy="720"/>
            </a:xfrm>
            <a:prstGeom prst="moon">
              <a:avLst>
                <a:gd name="adj" fmla="val 50000"/>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p>
          </p:txBody>
        </p:sp>
        <p:sp>
          <p:nvSpPr>
            <p:cNvPr id="68" name="Rectangle 12"/>
            <p:cNvSpPr>
              <a:spLocks noChangeArrowheads="1"/>
            </p:cNvSpPr>
            <p:nvPr/>
          </p:nvSpPr>
          <p:spPr bwMode="auto">
            <a:xfrm>
              <a:off x="3936" y="1824"/>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4400" b="1">
                  <a:solidFill>
                    <a:srgbClr val="3333FF"/>
                  </a:solidFill>
                  <a:latin typeface="Arial" pitchFamily="34" charset="0"/>
                  <a:ea typeface="楷体_GB2312" pitchFamily="49" charset="-122"/>
                </a:rPr>
                <a:t>低温热源</a:t>
              </a:r>
              <a:r>
                <a:rPr lang="zh-CN" altLang="en-US" sz="4400" b="1">
                  <a:latin typeface="Arial" pitchFamily="34" charset="0"/>
                </a:rPr>
                <a:t> </a:t>
              </a:r>
              <a:r>
                <a:rPr lang="en-US" altLang="zh-CN" sz="4400" b="1">
                  <a:latin typeface="Arial" pitchFamily="34" charset="0"/>
                </a:rPr>
                <a:t>T</a:t>
              </a:r>
              <a:r>
                <a:rPr lang="en-US" altLang="zh-CN" sz="4400" b="1" baseline="-25000">
                  <a:latin typeface="Arial" pitchFamily="34" charset="0"/>
                </a:rPr>
                <a:t>2</a:t>
              </a:r>
              <a:endParaRPr lang="en-US" altLang="zh-CN" sz="4400" b="1">
                <a:latin typeface="Arial" pitchFamily="34" charset="0"/>
              </a:endParaRPr>
            </a:p>
          </p:txBody>
        </p:sp>
        <p:sp>
          <p:nvSpPr>
            <p:cNvPr id="69" name="Line 13"/>
            <p:cNvSpPr>
              <a:spLocks noChangeShapeType="1"/>
            </p:cNvSpPr>
            <p:nvPr/>
          </p:nvSpPr>
          <p:spPr bwMode="auto">
            <a:xfrm>
              <a:off x="4656" y="720"/>
              <a:ext cx="0" cy="240"/>
            </a:xfrm>
            <a:prstGeom prst="line">
              <a:avLst/>
            </a:prstGeom>
            <a:noFill/>
            <a:ln w="762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14"/>
            <p:cNvSpPr>
              <a:spLocks noChangeShapeType="1"/>
            </p:cNvSpPr>
            <p:nvPr/>
          </p:nvSpPr>
          <p:spPr bwMode="auto">
            <a:xfrm>
              <a:off x="4560" y="1584"/>
              <a:ext cx="0" cy="240"/>
            </a:xfrm>
            <a:prstGeom prst="line">
              <a:avLst/>
            </a:prstGeom>
            <a:noFill/>
            <a:ln w="762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Text Box 15"/>
            <p:cNvSpPr txBox="1">
              <a:spLocks noChangeArrowheads="1"/>
            </p:cNvSpPr>
            <p:nvPr/>
          </p:nvSpPr>
          <p:spPr bwMode="auto">
            <a:xfrm>
              <a:off x="4580" y="965"/>
              <a:ext cx="249"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3600" b="1">
                  <a:latin typeface="Arial" pitchFamily="34" charset="0"/>
                </a:rPr>
                <a:t>Q</a:t>
              </a:r>
              <a:r>
                <a:rPr lang="en-US" altLang="zh-CN" sz="3600" b="1" baseline="-25000">
                  <a:latin typeface="Arial" pitchFamily="34" charset="0"/>
                </a:rPr>
                <a:t>1</a:t>
              </a:r>
              <a:endParaRPr lang="en-US" altLang="zh-CN" sz="3600" b="1">
                <a:latin typeface="Arial" pitchFamily="34" charset="0"/>
              </a:endParaRPr>
            </a:p>
          </p:txBody>
        </p:sp>
        <p:sp>
          <p:nvSpPr>
            <p:cNvPr id="72" name="Text Box 16"/>
            <p:cNvSpPr txBox="1">
              <a:spLocks noChangeArrowheads="1"/>
            </p:cNvSpPr>
            <p:nvPr/>
          </p:nvSpPr>
          <p:spPr bwMode="auto">
            <a:xfrm>
              <a:off x="4485" y="1399"/>
              <a:ext cx="249"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3600" b="1">
                  <a:latin typeface="Arial" pitchFamily="34" charset="0"/>
                </a:rPr>
                <a:t>Q</a:t>
              </a:r>
              <a:r>
                <a:rPr lang="en-US" altLang="zh-CN" sz="3600" b="1" baseline="-25000">
                  <a:latin typeface="Arial" pitchFamily="34" charset="0"/>
                </a:rPr>
                <a:t>2</a:t>
              </a:r>
              <a:endParaRPr lang="en-US" altLang="zh-CN" sz="3600" b="1">
                <a:latin typeface="Arial" pitchFamily="34" charset="0"/>
              </a:endParaRPr>
            </a:p>
          </p:txBody>
        </p:sp>
        <p:sp>
          <p:nvSpPr>
            <p:cNvPr id="73" name="Line 17"/>
            <p:cNvSpPr>
              <a:spLocks noChangeShapeType="1"/>
            </p:cNvSpPr>
            <p:nvPr/>
          </p:nvSpPr>
          <p:spPr bwMode="auto">
            <a:xfrm>
              <a:off x="5040" y="1296"/>
              <a:ext cx="240" cy="0"/>
            </a:xfrm>
            <a:prstGeom prst="line">
              <a:avLst/>
            </a:prstGeom>
            <a:noFill/>
            <a:ln w="762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Text Box 18"/>
            <p:cNvSpPr txBox="1">
              <a:spLocks noChangeArrowheads="1"/>
            </p:cNvSpPr>
            <p:nvPr/>
          </p:nvSpPr>
          <p:spPr bwMode="auto">
            <a:xfrm>
              <a:off x="5253" y="1206"/>
              <a:ext cx="181"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3600" b="1">
                  <a:latin typeface="Arial" pitchFamily="34" charset="0"/>
                </a:rPr>
                <a:t>A</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72"/>
                                        </p:tgtEl>
                                        <p:attrNameLst>
                                          <p:attrName>style.visibility</p:attrName>
                                        </p:attrNameLst>
                                      </p:cBhvr>
                                      <p:to>
                                        <p:strVal val="visible"/>
                                      </p:to>
                                    </p:set>
                                    <p:animEffect transition="in" filter="wipe(left)">
                                      <p:cBhvr>
                                        <p:cTn id="7" dur="500"/>
                                        <p:tgtEl>
                                          <p:spTgt spid="51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5249"/>
                                        </p:tgtEl>
                                        <p:attrNameLst>
                                          <p:attrName>style.visibility</p:attrName>
                                        </p:attrNameLst>
                                      </p:cBhvr>
                                      <p:to>
                                        <p:strVal val="visible"/>
                                      </p:to>
                                    </p:set>
                                    <p:animEffect transition="in" filter="wipe(down)">
                                      <p:cBhvr>
                                        <p:cTn id="12" dur="500"/>
                                        <p:tgtEl>
                                          <p:spTgt spid="52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278"/>
                                        </p:tgtEl>
                                        <p:attrNameLst>
                                          <p:attrName>style.visibility</p:attrName>
                                        </p:attrNameLst>
                                      </p:cBhvr>
                                      <p:to>
                                        <p:strVal val="visible"/>
                                      </p:to>
                                    </p:set>
                                    <p:animEffect transition="in" filter="blinds(horizontal)">
                                      <p:cBhvr>
                                        <p:cTn id="17" dur="500"/>
                                        <p:tgtEl>
                                          <p:spTgt spid="52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5277"/>
                                        </p:tgtEl>
                                        <p:attrNameLst>
                                          <p:attrName>style.visibility</p:attrName>
                                        </p:attrNameLst>
                                      </p:cBhvr>
                                      <p:to>
                                        <p:strVal val="visible"/>
                                      </p:to>
                                    </p:set>
                                    <p:animEffect transition="in" filter="wipe(down)">
                                      <p:cBhvr>
                                        <p:cTn id="22" dur="500"/>
                                        <p:tgtEl>
                                          <p:spTgt spid="52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wipe(left)">
                                      <p:cBhvr>
                                        <p:cTn id="2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2" grpId="0" animBg="1" autoUpdateAnimBg="0"/>
      <p:bldP spid="527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Text Box 4"/>
          <p:cNvSpPr txBox="1">
            <a:spLocks noChangeArrowheads="1"/>
          </p:cNvSpPr>
          <p:nvPr/>
        </p:nvSpPr>
        <p:spPr bwMode="auto">
          <a:xfrm>
            <a:off x="292100" y="82361"/>
            <a:ext cx="19034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a:solidFill>
                  <a:srgbClr val="3333FF"/>
                </a:solidFill>
                <a:ea typeface="楷体_GB2312" pitchFamily="49" charset="-122"/>
              </a:rPr>
              <a:t>2</a:t>
            </a:r>
            <a:r>
              <a:rPr lang="zh-CN" altLang="en-US" sz="2800" b="1">
                <a:solidFill>
                  <a:srgbClr val="3333FF"/>
                </a:solidFill>
                <a:ea typeface="楷体_GB2312" pitchFamily="49" charset="-122"/>
              </a:rPr>
              <a:t>、热机</a:t>
            </a:r>
            <a:endParaRPr lang="zh-CN" altLang="en-US" sz="3600" b="1">
              <a:solidFill>
                <a:srgbClr val="FF3300"/>
              </a:solidFill>
              <a:ea typeface="楷体_GB2312" pitchFamily="49" charset="-122"/>
            </a:endParaRPr>
          </a:p>
        </p:txBody>
      </p:sp>
      <p:sp>
        <p:nvSpPr>
          <p:cNvPr id="124933" name="Text Box 5"/>
          <p:cNvSpPr txBox="1">
            <a:spLocks noChangeArrowheads="1"/>
          </p:cNvSpPr>
          <p:nvPr/>
        </p:nvSpPr>
        <p:spPr bwMode="auto">
          <a:xfrm>
            <a:off x="503214" y="605287"/>
            <a:ext cx="828129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a:latin typeface="宋体" pitchFamily="2" charset="-122"/>
              </a:rPr>
              <a:t>  </a:t>
            </a:r>
            <a:r>
              <a:rPr lang="zh-CN" altLang="en-US" sz="2800" b="1">
                <a:latin typeface="宋体" pitchFamily="2" charset="-122"/>
              </a:rPr>
              <a:t>工作物质作正循环的机器，称为</a:t>
            </a:r>
            <a:r>
              <a:rPr lang="zh-CN" altLang="en-US" sz="2800" b="1">
                <a:solidFill>
                  <a:srgbClr val="FF3300"/>
                </a:solidFill>
                <a:ea typeface="楷体_GB2312" pitchFamily="49" charset="-122"/>
              </a:rPr>
              <a:t>热机</a:t>
            </a:r>
            <a:r>
              <a:rPr lang="zh-CN" altLang="en-US" sz="2800" b="1">
                <a:latin typeface="宋体" pitchFamily="2" charset="-122"/>
              </a:rPr>
              <a:t>，它是</a:t>
            </a:r>
            <a:r>
              <a:rPr lang="zh-CN" altLang="en-US" sz="2800" b="1"/>
              <a:t>把吸收热量持续不断地转化为功的机器。</a:t>
            </a:r>
          </a:p>
        </p:txBody>
      </p:sp>
      <p:sp>
        <p:nvSpPr>
          <p:cNvPr id="124934" name="Text Box 6"/>
          <p:cNvSpPr txBox="1">
            <a:spLocks noChangeArrowheads="1"/>
          </p:cNvSpPr>
          <p:nvPr/>
        </p:nvSpPr>
        <p:spPr bwMode="auto">
          <a:xfrm>
            <a:off x="4264133" y="1481898"/>
            <a:ext cx="4583498"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500" b="1" dirty="0">
                <a:solidFill>
                  <a:schemeClr val="accent2"/>
                </a:solidFill>
                <a:latin typeface="Century Schoolbook" pitchFamily="18" charset="0"/>
              </a:rPr>
              <a:t>    </a:t>
            </a:r>
            <a:r>
              <a:rPr lang="zh-CN" altLang="en-US" sz="2500" b="1" dirty="0">
                <a:solidFill>
                  <a:schemeClr val="accent2"/>
                </a:solidFill>
                <a:latin typeface="Century Schoolbook" pitchFamily="18" charset="0"/>
              </a:rPr>
              <a:t>把热能转换成机械能的装置，实际使用的热机：如蒸汽机</a:t>
            </a:r>
            <a:r>
              <a:rPr lang="en-US" altLang="zh-CN" sz="2500" b="1" dirty="0">
                <a:solidFill>
                  <a:schemeClr val="accent2"/>
                </a:solidFill>
                <a:latin typeface="Century Schoolbook" pitchFamily="18" charset="0"/>
              </a:rPr>
              <a:t>(</a:t>
            </a:r>
            <a:r>
              <a:rPr lang="zh-CN" altLang="en-US" sz="2500" b="1" dirty="0">
                <a:solidFill>
                  <a:schemeClr val="accent2"/>
                </a:solidFill>
                <a:latin typeface="Century Schoolbook" pitchFamily="18" charset="0"/>
              </a:rPr>
              <a:t>水蒸气</a:t>
            </a:r>
            <a:r>
              <a:rPr lang="en-US" altLang="zh-CN" sz="2500" b="1" dirty="0">
                <a:solidFill>
                  <a:schemeClr val="accent2"/>
                </a:solidFill>
                <a:latin typeface="Century Schoolbook" pitchFamily="18" charset="0"/>
              </a:rPr>
              <a:t>)</a:t>
            </a:r>
            <a:r>
              <a:rPr lang="zh-CN" altLang="en-US" sz="2500" b="1" dirty="0">
                <a:solidFill>
                  <a:schemeClr val="accent2"/>
                </a:solidFill>
                <a:latin typeface="Century Schoolbook" pitchFamily="18" charset="0"/>
              </a:rPr>
              <a:t>、</a:t>
            </a:r>
            <a:r>
              <a:rPr lang="zh-CN" altLang="en-US" sz="2500" b="1">
                <a:solidFill>
                  <a:schemeClr val="accent2"/>
                </a:solidFill>
                <a:latin typeface="Century Schoolbook" pitchFamily="18" charset="0"/>
              </a:rPr>
              <a:t>内燃机（卡车：空气和柴油、轿车：空气和汽油的</a:t>
            </a:r>
            <a:r>
              <a:rPr lang="zh-CN" altLang="en-US" sz="2500" b="1" dirty="0">
                <a:solidFill>
                  <a:schemeClr val="accent2"/>
                </a:solidFill>
                <a:latin typeface="Century Schoolbook" pitchFamily="18" charset="0"/>
              </a:rPr>
              <a:t>混合物）等。</a:t>
            </a:r>
          </a:p>
        </p:txBody>
      </p:sp>
      <p:sp>
        <p:nvSpPr>
          <p:cNvPr id="124935" name="Text Box 7"/>
          <p:cNvSpPr txBox="1">
            <a:spLocks noChangeArrowheads="1"/>
          </p:cNvSpPr>
          <p:nvPr/>
        </p:nvSpPr>
        <p:spPr bwMode="auto">
          <a:xfrm>
            <a:off x="-154452" y="1582314"/>
            <a:ext cx="3048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800" b="1">
                <a:solidFill>
                  <a:srgbClr val="FF3300"/>
                </a:solidFill>
                <a:latin typeface="Century Schoolbook" pitchFamily="18" charset="0"/>
              </a:rPr>
              <a:t> </a:t>
            </a:r>
            <a:r>
              <a:rPr lang="zh-CN" altLang="en-US" sz="2800" b="1">
                <a:solidFill>
                  <a:srgbClr val="FF3300"/>
                </a:solidFill>
                <a:latin typeface="Century Schoolbook" pitchFamily="18" charset="0"/>
              </a:rPr>
              <a:t>热机工作特点</a:t>
            </a:r>
          </a:p>
        </p:txBody>
      </p:sp>
      <p:sp>
        <p:nvSpPr>
          <p:cNvPr id="124936" name="Text Box 8"/>
          <p:cNvSpPr txBox="1">
            <a:spLocks noChangeArrowheads="1"/>
          </p:cNvSpPr>
          <p:nvPr/>
        </p:nvSpPr>
        <p:spPr bwMode="auto">
          <a:xfrm>
            <a:off x="120597" y="2137622"/>
            <a:ext cx="4319588"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buFontTx/>
              <a:buChar char="•"/>
            </a:pPr>
            <a:r>
              <a:rPr lang="zh-CN" altLang="en-US" sz="2800" b="1">
                <a:solidFill>
                  <a:schemeClr val="accent2"/>
                </a:solidFill>
                <a:latin typeface="Century Schoolbook" pitchFamily="18" charset="0"/>
              </a:rPr>
              <a:t>需要一定工作物质；</a:t>
            </a:r>
            <a:endParaRPr lang="en-US" altLang="zh-CN" sz="2800" b="1">
              <a:solidFill>
                <a:schemeClr val="accent2"/>
              </a:solidFill>
              <a:latin typeface="Century Schoolbook" pitchFamily="18" charset="0"/>
            </a:endParaRPr>
          </a:p>
          <a:p>
            <a:pPr algn="l" eaLnBrk="1" hangingPunct="1">
              <a:spcBef>
                <a:spcPct val="50000"/>
              </a:spcBef>
              <a:buFontTx/>
              <a:buChar char="•"/>
            </a:pPr>
            <a:r>
              <a:rPr lang="zh-CN" altLang="en-US" sz="2800" b="1">
                <a:solidFill>
                  <a:schemeClr val="accent2"/>
                </a:solidFill>
                <a:latin typeface="Century Schoolbook" pitchFamily="18" charset="0"/>
              </a:rPr>
              <a:t>需要两个热源</a:t>
            </a:r>
            <a:r>
              <a:rPr lang="en-US" altLang="zh-CN" sz="2800" b="1">
                <a:solidFill>
                  <a:schemeClr val="accent2"/>
                </a:solidFill>
                <a:latin typeface="Century Schoolbook" pitchFamily="18" charset="0"/>
              </a:rPr>
              <a:t>;</a:t>
            </a:r>
          </a:p>
          <a:p>
            <a:pPr algn="l" eaLnBrk="1" hangingPunct="1">
              <a:spcBef>
                <a:spcPct val="50000"/>
              </a:spcBef>
              <a:buFontTx/>
              <a:buChar char="•"/>
            </a:pPr>
            <a:r>
              <a:rPr lang="zh-CN" altLang="en-US" sz="2800" b="1">
                <a:solidFill>
                  <a:schemeClr val="accent2"/>
                </a:solidFill>
                <a:latin typeface="Century Schoolbook" pitchFamily="18" charset="0"/>
              </a:rPr>
              <a:t>热机是正循环工作的。</a:t>
            </a:r>
          </a:p>
        </p:txBody>
      </p:sp>
      <p:grpSp>
        <p:nvGrpSpPr>
          <p:cNvPr id="124939" name="Group 11"/>
          <p:cNvGrpSpPr>
            <a:grpSpLocks/>
          </p:cNvGrpSpPr>
          <p:nvPr/>
        </p:nvGrpSpPr>
        <p:grpSpPr bwMode="auto">
          <a:xfrm>
            <a:off x="611188" y="4005064"/>
            <a:ext cx="2789237" cy="2819400"/>
            <a:chOff x="2972" y="192"/>
            <a:chExt cx="2555" cy="2135"/>
          </a:xfrm>
        </p:grpSpPr>
        <p:sp>
          <p:nvSpPr>
            <p:cNvPr id="5146" name="Line 12"/>
            <p:cNvSpPr>
              <a:spLocks noChangeShapeType="1"/>
            </p:cNvSpPr>
            <p:nvPr/>
          </p:nvSpPr>
          <p:spPr bwMode="auto">
            <a:xfrm flipV="1">
              <a:off x="3216" y="480"/>
              <a:ext cx="0" cy="1680"/>
            </a:xfrm>
            <a:prstGeom prst="line">
              <a:avLst/>
            </a:prstGeom>
            <a:noFill/>
            <a:ln w="19050">
              <a:solidFill>
                <a:schemeClr val="tx1"/>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7" name="Line 13"/>
            <p:cNvSpPr>
              <a:spLocks noChangeShapeType="1"/>
            </p:cNvSpPr>
            <p:nvPr/>
          </p:nvSpPr>
          <p:spPr bwMode="auto">
            <a:xfrm>
              <a:off x="3216" y="2160"/>
              <a:ext cx="2064" cy="0"/>
            </a:xfrm>
            <a:prstGeom prst="line">
              <a:avLst/>
            </a:prstGeom>
            <a:noFill/>
            <a:ln w="19050">
              <a:solidFill>
                <a:schemeClr val="tx1"/>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48" name="Object 14"/>
            <p:cNvGraphicFramePr>
              <a:graphicFrameLocks noChangeAspect="1"/>
            </p:cNvGraphicFramePr>
            <p:nvPr/>
          </p:nvGraphicFramePr>
          <p:xfrm>
            <a:off x="2972" y="2144"/>
            <a:ext cx="159" cy="183"/>
          </p:xfrm>
          <a:graphic>
            <a:graphicData uri="http://schemas.openxmlformats.org/presentationml/2006/ole">
              <mc:AlternateContent xmlns:mc="http://schemas.openxmlformats.org/markup-compatibility/2006">
                <mc:Choice xmlns:v="urn:schemas-microsoft-com:vml" Requires="v">
                  <p:oleObj spid="_x0000_s6094" name="公式" r:id="rId4" imgW="253890" imgH="291973" progId="Equation.3">
                    <p:embed/>
                  </p:oleObj>
                </mc:Choice>
                <mc:Fallback>
                  <p:oleObj name="公式" r:id="rId4" imgW="253890" imgH="291973"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2" y="2144"/>
                          <a:ext cx="159"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9" name="Object 15"/>
            <p:cNvGraphicFramePr>
              <a:graphicFrameLocks noChangeAspect="1"/>
            </p:cNvGraphicFramePr>
            <p:nvPr/>
          </p:nvGraphicFramePr>
          <p:xfrm>
            <a:off x="3072" y="192"/>
            <a:ext cx="247" cy="247"/>
          </p:xfrm>
          <a:graphic>
            <a:graphicData uri="http://schemas.openxmlformats.org/presentationml/2006/ole">
              <mc:AlternateContent xmlns:mc="http://schemas.openxmlformats.org/markup-compatibility/2006">
                <mc:Choice xmlns:v="urn:schemas-microsoft-com:vml" Requires="v">
                  <p:oleObj spid="_x0000_s6095" name="公式" r:id="rId6" imgW="393529" imgH="393529" progId="Equation.3">
                    <p:embed/>
                  </p:oleObj>
                </mc:Choice>
                <mc:Fallback>
                  <p:oleObj name="公式" r:id="rId6" imgW="393529" imgH="393529"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2" y="192"/>
                          <a:ext cx="247"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50" name="Object 16"/>
            <p:cNvGraphicFramePr>
              <a:graphicFrameLocks noChangeAspect="1"/>
            </p:cNvGraphicFramePr>
            <p:nvPr/>
          </p:nvGraphicFramePr>
          <p:xfrm>
            <a:off x="5280" y="2060"/>
            <a:ext cx="247" cy="255"/>
          </p:xfrm>
          <a:graphic>
            <a:graphicData uri="http://schemas.openxmlformats.org/presentationml/2006/ole">
              <mc:AlternateContent xmlns:mc="http://schemas.openxmlformats.org/markup-compatibility/2006">
                <mc:Choice xmlns:v="urn:schemas-microsoft-com:vml" Requires="v">
                  <p:oleObj spid="_x0000_s6096" name="公式" r:id="rId8" imgW="393359" imgH="406048" progId="Equation.3">
                    <p:embed/>
                  </p:oleObj>
                </mc:Choice>
                <mc:Fallback>
                  <p:oleObj name="公式" r:id="rId8" imgW="393359" imgH="406048"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80" y="2060"/>
                          <a:ext cx="247"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4945" name="Rectangle 17"/>
          <p:cNvSpPr>
            <a:spLocks noChangeArrowheads="1"/>
          </p:cNvSpPr>
          <p:nvPr/>
        </p:nvSpPr>
        <p:spPr bwMode="auto">
          <a:xfrm>
            <a:off x="2684878" y="4699553"/>
            <a:ext cx="1812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FF0000"/>
                </a:solidFill>
                <a:latin typeface="Century Schoolbook" pitchFamily="18" charset="0"/>
              </a:rPr>
              <a:t>正循环</a:t>
            </a:r>
          </a:p>
        </p:txBody>
      </p:sp>
      <p:grpSp>
        <p:nvGrpSpPr>
          <p:cNvPr id="124946" name="Group 18"/>
          <p:cNvGrpSpPr>
            <a:grpSpLocks/>
          </p:cNvGrpSpPr>
          <p:nvPr/>
        </p:nvGrpSpPr>
        <p:grpSpPr bwMode="auto">
          <a:xfrm>
            <a:off x="1941513" y="4259064"/>
            <a:ext cx="409575" cy="1012825"/>
            <a:chOff x="4272" y="1968"/>
            <a:chExt cx="376" cy="767"/>
          </a:xfrm>
        </p:grpSpPr>
        <p:sp>
          <p:nvSpPr>
            <p:cNvPr id="5144" name="Arc 19"/>
            <p:cNvSpPr>
              <a:spLocks/>
            </p:cNvSpPr>
            <p:nvPr/>
          </p:nvSpPr>
          <p:spPr bwMode="auto">
            <a:xfrm flipH="1">
              <a:off x="4294" y="2399"/>
              <a:ext cx="336"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type="none"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45" name="Object 20"/>
            <p:cNvGraphicFramePr>
              <a:graphicFrameLocks noChangeAspect="1"/>
            </p:cNvGraphicFramePr>
            <p:nvPr/>
          </p:nvGraphicFramePr>
          <p:xfrm>
            <a:off x="4272" y="1968"/>
            <a:ext cx="376" cy="352"/>
          </p:xfrm>
          <a:graphic>
            <a:graphicData uri="http://schemas.openxmlformats.org/presentationml/2006/ole">
              <mc:AlternateContent xmlns:mc="http://schemas.openxmlformats.org/markup-compatibility/2006">
                <mc:Choice xmlns:v="urn:schemas-microsoft-com:vml" Requires="v">
                  <p:oleObj spid="_x0000_s6097" name="公式" r:id="rId10" imgW="596900" imgH="558800" progId="Equation.3">
                    <p:embed/>
                  </p:oleObj>
                </mc:Choice>
                <mc:Fallback>
                  <p:oleObj name="公式" r:id="rId10" imgW="596900" imgH="558800" progId="Equation.3">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72" y="1968"/>
                          <a:ext cx="376"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4949" name="Group 21"/>
          <p:cNvGrpSpPr>
            <a:grpSpLocks/>
          </p:cNvGrpSpPr>
          <p:nvPr/>
        </p:nvGrpSpPr>
        <p:grpSpPr bwMode="auto">
          <a:xfrm>
            <a:off x="1333500" y="5798939"/>
            <a:ext cx="862013" cy="665162"/>
            <a:chOff x="3552" y="3120"/>
            <a:chExt cx="790" cy="504"/>
          </a:xfrm>
        </p:grpSpPr>
        <p:sp>
          <p:nvSpPr>
            <p:cNvPr id="5142" name="Arc 22"/>
            <p:cNvSpPr>
              <a:spLocks/>
            </p:cNvSpPr>
            <p:nvPr/>
          </p:nvSpPr>
          <p:spPr bwMode="auto">
            <a:xfrm flipH="1">
              <a:off x="4294" y="3120"/>
              <a:ext cx="48" cy="43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type="none"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43" name="Object 23"/>
            <p:cNvGraphicFramePr>
              <a:graphicFrameLocks noChangeAspect="1"/>
            </p:cNvGraphicFramePr>
            <p:nvPr/>
          </p:nvGraphicFramePr>
          <p:xfrm>
            <a:off x="3552" y="3264"/>
            <a:ext cx="384" cy="360"/>
          </p:xfrm>
          <a:graphic>
            <a:graphicData uri="http://schemas.openxmlformats.org/presentationml/2006/ole">
              <mc:AlternateContent xmlns:mc="http://schemas.openxmlformats.org/markup-compatibility/2006">
                <mc:Choice xmlns:v="urn:schemas-microsoft-com:vml" Requires="v">
                  <p:oleObj spid="_x0000_s6098" name="公式" r:id="rId12" imgW="609336" imgH="571252" progId="Equation.3">
                    <p:embed/>
                  </p:oleObj>
                </mc:Choice>
                <mc:Fallback>
                  <p:oleObj name="公式" r:id="rId12" imgW="609336" imgH="571252" progId="Equation.3">
                    <p:embed/>
                    <p:pic>
                      <p:nvPicPr>
                        <p:cNvPr id="0"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52" y="3264"/>
                          <a:ext cx="384"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4952" name="Group 24"/>
          <p:cNvGrpSpPr>
            <a:grpSpLocks/>
          </p:cNvGrpSpPr>
          <p:nvPr/>
        </p:nvGrpSpPr>
        <p:grpSpPr bwMode="auto">
          <a:xfrm>
            <a:off x="2070100" y="5273476"/>
            <a:ext cx="1025525" cy="344488"/>
            <a:chOff x="4390" y="2736"/>
            <a:chExt cx="939" cy="261"/>
          </a:xfrm>
        </p:grpSpPr>
        <p:sp>
          <p:nvSpPr>
            <p:cNvPr id="5140" name="Line 25"/>
            <p:cNvSpPr>
              <a:spLocks noChangeShapeType="1"/>
            </p:cNvSpPr>
            <p:nvPr/>
          </p:nvSpPr>
          <p:spPr bwMode="auto">
            <a:xfrm>
              <a:off x="4390" y="2879"/>
              <a:ext cx="655" cy="1"/>
            </a:xfrm>
            <a:prstGeom prst="line">
              <a:avLst/>
            </a:prstGeom>
            <a:noFill/>
            <a:ln w="19050">
              <a:solidFill>
                <a:schemeClr val="accent2"/>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41" name="Object 26"/>
            <p:cNvGraphicFramePr>
              <a:graphicFrameLocks noChangeAspect="1"/>
            </p:cNvGraphicFramePr>
            <p:nvPr/>
          </p:nvGraphicFramePr>
          <p:xfrm>
            <a:off x="5086" y="2736"/>
            <a:ext cx="243" cy="261"/>
          </p:xfrm>
          <a:graphic>
            <a:graphicData uri="http://schemas.openxmlformats.org/presentationml/2006/ole">
              <mc:AlternateContent xmlns:mc="http://schemas.openxmlformats.org/markup-compatibility/2006">
                <mc:Choice xmlns:v="urn:schemas-microsoft-com:vml" Requires="v">
                  <p:oleObj spid="_x0000_s6099" name="公式" r:id="rId14" imgW="152268" imgH="164957" progId="Equation.3">
                    <p:embed/>
                  </p:oleObj>
                </mc:Choice>
                <mc:Fallback>
                  <p:oleObj name="公式" r:id="rId14" imgW="152268" imgH="164957" progId="Equation.3">
                    <p:embed/>
                    <p:pic>
                      <p:nvPicPr>
                        <p:cNvPr id="0" name="Object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86" y="2736"/>
                          <a:ext cx="243"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4955" name="Group 27"/>
          <p:cNvGrpSpPr>
            <a:grpSpLocks/>
          </p:cNvGrpSpPr>
          <p:nvPr/>
        </p:nvGrpSpPr>
        <p:grpSpPr bwMode="auto">
          <a:xfrm>
            <a:off x="1114425" y="4808339"/>
            <a:ext cx="1539875" cy="1133475"/>
            <a:chOff x="3526" y="2454"/>
            <a:chExt cx="1344" cy="789"/>
          </a:xfrm>
        </p:grpSpPr>
        <p:sp>
          <p:nvSpPr>
            <p:cNvPr id="5137" name="Oval 28"/>
            <p:cNvSpPr>
              <a:spLocks noChangeArrowheads="1"/>
            </p:cNvSpPr>
            <p:nvPr/>
          </p:nvSpPr>
          <p:spPr bwMode="auto">
            <a:xfrm rot="2336752">
              <a:off x="3526" y="2543"/>
              <a:ext cx="1344" cy="624"/>
            </a:xfrm>
            <a:prstGeom prst="ellipse">
              <a:avLst/>
            </a:prstGeom>
            <a:noFill/>
            <a:ln w="19050">
              <a:solidFill>
                <a:schemeClr val="accent2"/>
              </a:solidFill>
              <a:round/>
              <a:headEnd type="non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8" name="Line 29"/>
            <p:cNvSpPr>
              <a:spLocks noChangeShapeType="1"/>
            </p:cNvSpPr>
            <p:nvPr/>
          </p:nvSpPr>
          <p:spPr bwMode="auto">
            <a:xfrm flipH="1" flipV="1">
              <a:off x="4128" y="2454"/>
              <a:ext cx="191" cy="90"/>
            </a:xfrm>
            <a:prstGeom prst="line">
              <a:avLst/>
            </a:prstGeom>
            <a:noFill/>
            <a:ln w="19050">
              <a:solidFill>
                <a:srgbClr val="FF0000"/>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9" name="Line 30"/>
            <p:cNvSpPr>
              <a:spLocks noChangeShapeType="1"/>
            </p:cNvSpPr>
            <p:nvPr/>
          </p:nvSpPr>
          <p:spPr bwMode="auto">
            <a:xfrm>
              <a:off x="4032" y="3120"/>
              <a:ext cx="213" cy="123"/>
            </a:xfrm>
            <a:prstGeom prst="line">
              <a:avLst/>
            </a:prstGeom>
            <a:noFill/>
            <a:ln w="19050">
              <a:solidFill>
                <a:srgbClr val="FF0000"/>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4959" name="Line 31"/>
          <p:cNvSpPr>
            <a:spLocks noChangeShapeType="1"/>
          </p:cNvSpPr>
          <p:nvPr/>
        </p:nvSpPr>
        <p:spPr bwMode="auto">
          <a:xfrm>
            <a:off x="1187450" y="4592439"/>
            <a:ext cx="0" cy="2016125"/>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960" name="Line 32"/>
          <p:cNvSpPr>
            <a:spLocks noChangeShapeType="1"/>
          </p:cNvSpPr>
          <p:nvPr/>
        </p:nvSpPr>
        <p:spPr bwMode="auto">
          <a:xfrm>
            <a:off x="2555875" y="5384601"/>
            <a:ext cx="0" cy="1223963"/>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 name="图片 1"/>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160850" y="3788520"/>
            <a:ext cx="4615759" cy="3069480"/>
          </a:xfrm>
          <a:prstGeom prst="rect">
            <a:avLst/>
          </a:prstGeom>
        </p:spPr>
      </p:pic>
      <p:pic>
        <p:nvPicPr>
          <p:cNvPr id="3" name="图片 2"/>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175373" y="3456568"/>
            <a:ext cx="4853456" cy="3315003"/>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32"/>
                                        </p:tgtEl>
                                        <p:attrNameLst>
                                          <p:attrName>style.visibility</p:attrName>
                                        </p:attrNameLst>
                                      </p:cBhvr>
                                      <p:to>
                                        <p:strVal val="visible"/>
                                      </p:to>
                                    </p:set>
                                    <p:animEffect transition="in" filter="wipe(left)">
                                      <p:cBhvr>
                                        <p:cTn id="7" dur="500"/>
                                        <p:tgtEl>
                                          <p:spTgt spid="1249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4933"/>
                                        </p:tgtEl>
                                        <p:attrNameLst>
                                          <p:attrName>style.visibility</p:attrName>
                                        </p:attrNameLst>
                                      </p:cBhvr>
                                      <p:to>
                                        <p:strVal val="visible"/>
                                      </p:to>
                                    </p:set>
                                    <p:animEffect transition="in" filter="wipe(left)">
                                      <p:cBhvr>
                                        <p:cTn id="12" dur="500"/>
                                        <p:tgtEl>
                                          <p:spTgt spid="1249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24934"/>
                                        </p:tgtEl>
                                        <p:attrNameLst>
                                          <p:attrName>style.visibility</p:attrName>
                                        </p:attrNameLst>
                                      </p:cBhvr>
                                      <p:to>
                                        <p:strVal val="visible"/>
                                      </p:to>
                                    </p:set>
                                    <p:animEffect transition="in" filter="strips(downRight)">
                                      <p:cBhvr>
                                        <p:cTn id="17" dur="500"/>
                                        <p:tgtEl>
                                          <p:spTgt spid="12493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24935"/>
                                        </p:tgtEl>
                                        <p:attrNameLst>
                                          <p:attrName>style.visibility</p:attrName>
                                        </p:attrNameLst>
                                      </p:cBhvr>
                                      <p:to>
                                        <p:strVal val="visible"/>
                                      </p:to>
                                    </p:set>
                                    <p:animEffect transition="in" filter="wipe(left)">
                                      <p:cBhvr>
                                        <p:cTn id="30" dur="500"/>
                                        <p:tgtEl>
                                          <p:spTgt spid="12493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4936"/>
                                        </p:tgtEl>
                                        <p:attrNameLst>
                                          <p:attrName>style.visibility</p:attrName>
                                        </p:attrNameLst>
                                      </p:cBhvr>
                                      <p:to>
                                        <p:strVal val="visible"/>
                                      </p:to>
                                    </p:set>
                                    <p:animEffect transition="in" filter="wipe(left)">
                                      <p:cBhvr>
                                        <p:cTn id="35" dur="500"/>
                                        <p:tgtEl>
                                          <p:spTgt spid="12493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24939"/>
                                        </p:tgtEl>
                                        <p:attrNameLst>
                                          <p:attrName>style.visibility</p:attrName>
                                        </p:attrNameLst>
                                      </p:cBhvr>
                                      <p:to>
                                        <p:strVal val="visible"/>
                                      </p:to>
                                    </p:set>
                                    <p:animEffect transition="in" filter="wipe(left)">
                                      <p:cBhvr>
                                        <p:cTn id="40" dur="500"/>
                                        <p:tgtEl>
                                          <p:spTgt spid="12493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nodeType="clickEffect">
                                  <p:stCondLst>
                                    <p:cond delay="0"/>
                                  </p:stCondLst>
                                  <p:childTnLst>
                                    <p:set>
                                      <p:cBhvr>
                                        <p:cTn id="44" dur="1" fill="hold">
                                          <p:stCondLst>
                                            <p:cond delay="0"/>
                                          </p:stCondLst>
                                        </p:cTn>
                                        <p:tgtEl>
                                          <p:spTgt spid="124955"/>
                                        </p:tgtEl>
                                        <p:attrNameLst>
                                          <p:attrName>style.visibility</p:attrName>
                                        </p:attrNameLst>
                                      </p:cBhvr>
                                      <p:to>
                                        <p:strVal val="visible"/>
                                      </p:to>
                                    </p:set>
                                    <p:animEffect transition="in" filter="box(in)">
                                      <p:cBhvr>
                                        <p:cTn id="45" dur="500"/>
                                        <p:tgtEl>
                                          <p:spTgt spid="12495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24945"/>
                                        </p:tgtEl>
                                        <p:attrNameLst>
                                          <p:attrName>style.visibility</p:attrName>
                                        </p:attrNameLst>
                                      </p:cBhvr>
                                      <p:to>
                                        <p:strVal val="visible"/>
                                      </p:to>
                                    </p:set>
                                    <p:animEffect transition="in" filter="wipe(left)">
                                      <p:cBhvr>
                                        <p:cTn id="50" dur="500"/>
                                        <p:tgtEl>
                                          <p:spTgt spid="12494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495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24960"/>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124946"/>
                                        </p:tgtEl>
                                        <p:attrNameLst>
                                          <p:attrName>style.visibility</p:attrName>
                                        </p:attrNameLst>
                                      </p:cBhvr>
                                      <p:to>
                                        <p:strVal val="visible"/>
                                      </p:to>
                                    </p:set>
                                    <p:animEffect transition="in" filter="wipe(up)">
                                      <p:cBhvr>
                                        <p:cTn id="61" dur="500"/>
                                        <p:tgtEl>
                                          <p:spTgt spid="12494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24952"/>
                                        </p:tgtEl>
                                        <p:attrNameLst>
                                          <p:attrName>style.visibility</p:attrName>
                                        </p:attrNameLst>
                                      </p:cBhvr>
                                      <p:to>
                                        <p:strVal val="visible"/>
                                      </p:to>
                                    </p:set>
                                    <p:animEffect transition="in" filter="wipe(left)">
                                      <p:cBhvr>
                                        <p:cTn id="66" dur="500"/>
                                        <p:tgtEl>
                                          <p:spTgt spid="12495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nodeType="clickEffect">
                                  <p:stCondLst>
                                    <p:cond delay="0"/>
                                  </p:stCondLst>
                                  <p:childTnLst>
                                    <p:set>
                                      <p:cBhvr>
                                        <p:cTn id="70" dur="1" fill="hold">
                                          <p:stCondLst>
                                            <p:cond delay="0"/>
                                          </p:stCondLst>
                                        </p:cTn>
                                        <p:tgtEl>
                                          <p:spTgt spid="124949"/>
                                        </p:tgtEl>
                                        <p:attrNameLst>
                                          <p:attrName>style.visibility</p:attrName>
                                        </p:attrNameLst>
                                      </p:cBhvr>
                                      <p:to>
                                        <p:strVal val="visible"/>
                                      </p:to>
                                    </p:set>
                                    <p:animEffect transition="in" filter="wipe(up)">
                                      <p:cBhvr>
                                        <p:cTn id="71" dur="500"/>
                                        <p:tgtEl>
                                          <p:spTgt spid="124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2" grpId="0" autoUpdateAnimBg="0"/>
      <p:bldP spid="124933" grpId="0" autoUpdateAnimBg="0"/>
      <p:bldP spid="124934" grpId="0" autoUpdateAnimBg="0"/>
      <p:bldP spid="124935" grpId="0" autoUpdateAnimBg="0"/>
      <p:bldP spid="124936" grpId="0" autoUpdateAnimBg="0"/>
      <p:bldP spid="124945" grpId="0" autoUpdateAnimBg="0"/>
      <p:bldP spid="124959" grpId="0" animBg="1"/>
      <p:bldP spid="12496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descr="ml_motor1">
            <a:hlinkClick r:id="rId3"/>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flipH="1">
            <a:off x="3408536" y="-26392"/>
            <a:ext cx="4979888" cy="2938462"/>
          </a:xfrm>
          <a:prstGeom prst="rect">
            <a:avLst/>
          </a:prstGeom>
          <a:noFill/>
          <a:extLst>
            <a:ext uri="{909E8E84-426E-40DD-AFC4-6F175D3DCCD1}">
              <a14:hiddenFill xmlns:a14="http://schemas.microsoft.com/office/drawing/2010/main">
                <a:solidFill>
                  <a:srgbClr val="FFFFFF"/>
                </a:solidFill>
              </a14:hiddenFill>
            </a:ext>
          </a:extLst>
        </p:spPr>
      </p:pic>
      <p:pic>
        <p:nvPicPr>
          <p:cNvPr id="82947" name="Picture 3" descr="1-9"/>
          <p:cNvPicPr>
            <a:picLocks noChangeAspect="1" noChangeArrowheads="1"/>
          </p:cNvPicPr>
          <p:nvPr/>
        </p:nvPicPr>
        <p:blipFill>
          <a:blip r:embed="rId5">
            <a:clrChange>
              <a:clrFrom>
                <a:srgbClr val="FAFAFA"/>
              </a:clrFrom>
              <a:clrTo>
                <a:srgbClr val="FAFAFA">
                  <a:alpha val="0"/>
                </a:srgbClr>
              </a:clrTo>
            </a:clrChange>
            <a:extLst>
              <a:ext uri="{28A0092B-C50C-407E-A947-70E740481C1C}">
                <a14:useLocalDpi xmlns:a14="http://schemas.microsoft.com/office/drawing/2010/main" val="0"/>
              </a:ext>
            </a:extLst>
          </a:blip>
          <a:srcRect/>
          <a:stretch>
            <a:fillRect/>
          </a:stretch>
        </p:blipFill>
        <p:spPr bwMode="auto">
          <a:xfrm>
            <a:off x="323528" y="2924944"/>
            <a:ext cx="4210050" cy="3796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4"/>
          <p:cNvSpPr txBox="1">
            <a:spLocks noChangeArrowheads="1"/>
          </p:cNvSpPr>
          <p:nvPr/>
        </p:nvSpPr>
        <p:spPr bwMode="auto">
          <a:xfrm>
            <a:off x="1804665" y="4297189"/>
            <a:ext cx="935038"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宋体" pitchFamily="2" charset="-122"/>
              </a:rPr>
              <a:t>A</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 name="Text Box 5"/>
          <p:cNvSpPr txBox="1">
            <a:spLocks noChangeArrowheads="1"/>
          </p:cNvSpPr>
          <p:nvPr/>
        </p:nvSpPr>
        <p:spPr bwMode="auto">
          <a:xfrm>
            <a:off x="2886547" y="4624994"/>
            <a:ext cx="354012"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宋体" pitchFamily="2" charset="-122"/>
              </a:rPr>
              <a:t>B</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 name="Text Box 6"/>
          <p:cNvSpPr txBox="1">
            <a:spLocks noChangeArrowheads="1"/>
          </p:cNvSpPr>
          <p:nvPr/>
        </p:nvSpPr>
        <p:spPr bwMode="auto">
          <a:xfrm>
            <a:off x="1947540" y="4946476"/>
            <a:ext cx="354013"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宋体" pitchFamily="2" charset="-122"/>
              </a:rPr>
              <a:t>C</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5" name="Text Box 7"/>
          <p:cNvSpPr txBox="1">
            <a:spLocks noChangeArrowheads="1"/>
          </p:cNvSpPr>
          <p:nvPr/>
        </p:nvSpPr>
        <p:spPr bwMode="auto">
          <a:xfrm>
            <a:off x="323528" y="4511501"/>
            <a:ext cx="368300"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宋体" pitchFamily="2" charset="-122"/>
              </a:rPr>
              <a:t>D</a:t>
            </a: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6" name="Text Box 8"/>
          <p:cNvSpPr txBox="1">
            <a:spLocks noChangeArrowheads="1"/>
          </p:cNvSpPr>
          <p:nvPr/>
        </p:nvSpPr>
        <p:spPr bwMode="auto">
          <a:xfrm>
            <a:off x="3685059" y="3578051"/>
            <a:ext cx="1206500"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1" i="0" u="none" strike="noStrike" cap="none" normalizeH="0" baseline="0" dirty="0">
                <a:ln>
                  <a:noFill/>
                </a:ln>
                <a:solidFill>
                  <a:schemeClr val="folHlink"/>
                </a:solidFill>
                <a:effectLst/>
                <a:latin typeface="Times New Roman" pitchFamily="18" charset="0"/>
                <a:ea typeface="宋体" pitchFamily="2" charset="-122"/>
                <a:cs typeface="宋体" pitchFamily="2" charset="-122"/>
              </a:rPr>
              <a:t>绝热材料</a:t>
            </a:r>
            <a:endParaRPr kumimoji="0" 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7" name="Line 9"/>
          <p:cNvSpPr>
            <a:spLocks noChangeShapeType="1"/>
          </p:cNvSpPr>
          <p:nvPr/>
        </p:nvSpPr>
        <p:spPr bwMode="auto">
          <a:xfrm flipH="1">
            <a:off x="4036690" y="3938414"/>
            <a:ext cx="503238" cy="64770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endParaRPr lang="zh-CN" altLang="en-US"/>
          </a:p>
        </p:txBody>
      </p:sp>
      <p:sp>
        <p:nvSpPr>
          <p:cNvPr id="8" name="Text Box 10"/>
          <p:cNvSpPr txBox="1">
            <a:spLocks noChangeArrowheads="1"/>
          </p:cNvSpPr>
          <p:nvPr/>
        </p:nvSpPr>
        <p:spPr bwMode="auto">
          <a:xfrm>
            <a:off x="437034" y="810427"/>
            <a:ext cx="2735262" cy="95410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800" b="1" i="0" u="none" strike="noStrike" cap="none" normalizeH="0" baseline="0" dirty="0">
                <a:ln>
                  <a:noFill/>
                </a:ln>
                <a:solidFill>
                  <a:schemeClr val="folHlink"/>
                </a:solidFill>
                <a:effectLst/>
                <a:latin typeface="Times New Roman" pitchFamily="18" charset="0"/>
                <a:ea typeface="宋体" pitchFamily="2" charset="-122"/>
                <a:cs typeface="宋体" pitchFamily="2" charset="-122"/>
              </a:rPr>
              <a:t>热机</a:t>
            </a:r>
            <a:r>
              <a:rPr kumimoji="0" lang="en-US" altLang="zh-CN" sz="2800" b="1" i="0" u="none" strike="noStrike" cap="none" normalizeH="0" baseline="0" dirty="0">
                <a:ln>
                  <a:noFill/>
                </a:ln>
                <a:solidFill>
                  <a:schemeClr val="folHlink"/>
                </a:solidFill>
                <a:effectLst/>
                <a:latin typeface="Times New Roman" pitchFamily="18" charset="0"/>
                <a:ea typeface="宋体" pitchFamily="2" charset="-122"/>
                <a:cs typeface="宋体" pitchFamily="2" charset="-122"/>
              </a:rPr>
              <a:t>(</a:t>
            </a:r>
            <a:r>
              <a:rPr kumimoji="0" lang="zh-CN" altLang="en-US" sz="2800" b="1" i="0" u="none" strike="noStrike" cap="none" normalizeH="0" baseline="0" dirty="0">
                <a:ln>
                  <a:noFill/>
                </a:ln>
                <a:solidFill>
                  <a:schemeClr val="folHlink"/>
                </a:solidFill>
                <a:effectLst/>
                <a:latin typeface="Times New Roman" pitchFamily="18" charset="0"/>
                <a:ea typeface="宋体" pitchFamily="2" charset="-122"/>
                <a:cs typeface="宋体" pitchFamily="2" charset="-122"/>
              </a:rPr>
              <a:t>蒸汽机</a:t>
            </a:r>
            <a:r>
              <a:rPr kumimoji="0" lang="en-US" altLang="zh-CN" sz="2800" b="1" i="0" u="none" strike="noStrike" cap="none" normalizeH="0" baseline="0" dirty="0">
                <a:ln>
                  <a:noFill/>
                </a:ln>
                <a:solidFill>
                  <a:schemeClr val="folHlink"/>
                </a:solidFill>
                <a:effectLst/>
                <a:latin typeface="Times New Roman" pitchFamily="18" charset="0"/>
                <a:ea typeface="宋体" pitchFamily="2" charset="-122"/>
                <a:cs typeface="宋体" pitchFamily="2" charset="-122"/>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2800" b="1" i="0" u="none" strike="noStrike" cap="none" normalizeH="0" baseline="0" dirty="0">
                <a:ln>
                  <a:noFill/>
                </a:ln>
                <a:solidFill>
                  <a:schemeClr val="folHlink"/>
                </a:solidFill>
                <a:effectLst/>
                <a:latin typeface="Times New Roman" pitchFamily="18" charset="0"/>
                <a:ea typeface="宋体" pitchFamily="2" charset="-122"/>
                <a:cs typeface="宋体" pitchFamily="2" charset="-122"/>
              </a:rPr>
              <a:t>工作原理</a:t>
            </a:r>
            <a:endParaRPr kumimoji="0" 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pic>
        <p:nvPicPr>
          <p:cNvPr id="11" name="Picture 37">
            <a:hlinkClick r:id="rId6" action="ppaction://hlinkfile"/>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97487" y="3401678"/>
            <a:ext cx="4018249" cy="3013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Group 34"/>
          <p:cNvGraphicFramePr>
            <a:graphicFrameLocks noGrp="1"/>
          </p:cNvGraphicFramePr>
          <p:nvPr>
            <p:extLst>
              <p:ext uri="{D42A27DB-BD31-4B8C-83A1-F6EECF244321}">
                <p14:modId xmlns:p14="http://schemas.microsoft.com/office/powerpoint/2010/main" val="3137066140"/>
              </p:ext>
            </p:extLst>
          </p:nvPr>
        </p:nvGraphicFramePr>
        <p:xfrm>
          <a:off x="4788024" y="6453336"/>
          <a:ext cx="4355976" cy="548502"/>
        </p:xfrm>
        <a:graphic>
          <a:graphicData uri="http://schemas.openxmlformats.org/drawingml/2006/table">
            <a:tbl>
              <a:tblPr/>
              <a:tblGrid>
                <a:gridCol w="4355976">
                  <a:extLst>
                    <a:ext uri="{9D8B030D-6E8A-4147-A177-3AD203B41FA5}">
                      <a16:colId xmlns:a16="http://schemas.microsoft.com/office/drawing/2014/main" val="20000"/>
                    </a:ext>
                  </a:extLst>
                </a:gridCol>
              </a:tblGrid>
              <a:tr h="53780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500" b="0" i="0" u="none" strike="noStrike" cap="none" normalizeH="0" baseline="0" dirty="0">
                          <a:ln>
                            <a:noFill/>
                          </a:ln>
                          <a:solidFill>
                            <a:schemeClr val="tx1"/>
                          </a:solidFill>
                          <a:effectLst/>
                          <a:latin typeface="Times New Roman" pitchFamily="18" charset="0"/>
                          <a:ea typeface="宋体" pitchFamily="2" charset="-122"/>
                        </a:rPr>
                        <a:t>　</a:t>
                      </a:r>
                      <a:r>
                        <a:rPr kumimoji="1" lang="en-US" altLang="zh-CN" sz="1500" b="1" i="0" u="none" strike="noStrike" cap="none" normalizeH="0" baseline="0" dirty="0">
                          <a:ln>
                            <a:noFill/>
                          </a:ln>
                          <a:solidFill>
                            <a:schemeClr val="tx1"/>
                          </a:solidFill>
                          <a:effectLst/>
                          <a:latin typeface="Times New Roman" pitchFamily="18" charset="0"/>
                          <a:ea typeface="宋体" pitchFamily="2" charset="-122"/>
                        </a:rPr>
                        <a:t>A-</a:t>
                      </a:r>
                      <a:r>
                        <a:rPr kumimoji="1" lang="zh-CN" altLang="en-US" sz="1500" b="1" i="0" u="none" strike="noStrike" cap="none" normalizeH="0" baseline="0" dirty="0">
                          <a:ln>
                            <a:noFill/>
                          </a:ln>
                          <a:solidFill>
                            <a:schemeClr val="tx1"/>
                          </a:solidFill>
                          <a:effectLst/>
                          <a:latin typeface="Times New Roman" pitchFamily="18" charset="0"/>
                          <a:ea typeface="宋体" pitchFamily="2" charset="-122"/>
                        </a:rPr>
                        <a:t>高温热源　</a:t>
                      </a:r>
                      <a:r>
                        <a:rPr kumimoji="1" lang="en-US" altLang="zh-CN" sz="1500" b="1" i="0" u="none" strike="noStrike" cap="none" normalizeH="0" baseline="0" dirty="0">
                          <a:ln>
                            <a:noFill/>
                          </a:ln>
                          <a:solidFill>
                            <a:schemeClr val="tx1"/>
                          </a:solidFill>
                          <a:effectLst/>
                          <a:latin typeface="Times New Roman" pitchFamily="18" charset="0"/>
                          <a:ea typeface="宋体" pitchFamily="2" charset="-122"/>
                        </a:rPr>
                        <a:t>B-</a:t>
                      </a:r>
                      <a:r>
                        <a:rPr kumimoji="1" lang="zh-CN" altLang="en-US" sz="1500" b="1" i="0" u="none" strike="noStrike" cap="none" normalizeH="0" baseline="0" dirty="0">
                          <a:ln>
                            <a:noFill/>
                          </a:ln>
                          <a:solidFill>
                            <a:schemeClr val="tx1"/>
                          </a:solidFill>
                          <a:effectLst/>
                          <a:latin typeface="Times New Roman" pitchFamily="18" charset="0"/>
                          <a:ea typeface="宋体" pitchFamily="2" charset="-122"/>
                        </a:rPr>
                        <a:t>锅炉  </a:t>
                      </a:r>
                      <a:r>
                        <a:rPr kumimoji="1" lang="en-US" altLang="zh-CN" sz="1500" b="1" i="0" u="none" strike="noStrike" cap="none" normalizeH="0" baseline="0" dirty="0">
                          <a:ln>
                            <a:noFill/>
                          </a:ln>
                          <a:solidFill>
                            <a:schemeClr val="tx1"/>
                          </a:solidFill>
                          <a:effectLst/>
                          <a:latin typeface="Times New Roman" pitchFamily="18" charset="0"/>
                          <a:ea typeface="宋体" pitchFamily="2" charset="-122"/>
                        </a:rPr>
                        <a:t>C-</a:t>
                      </a:r>
                      <a:r>
                        <a:rPr kumimoji="1" lang="zh-CN" altLang="en-US" sz="1500" b="1" i="0" u="none" strike="noStrike" cap="none" normalizeH="0" baseline="0" dirty="0">
                          <a:ln>
                            <a:noFill/>
                          </a:ln>
                          <a:solidFill>
                            <a:schemeClr val="tx1"/>
                          </a:solidFill>
                          <a:effectLst/>
                          <a:latin typeface="Times New Roman" pitchFamily="18" charset="0"/>
                          <a:ea typeface="宋体" pitchFamily="2" charset="-122"/>
                        </a:rPr>
                        <a:t>泵 </a:t>
                      </a:r>
                      <a:r>
                        <a:rPr kumimoji="1" lang="en-US" altLang="zh-CN" sz="1500" b="1" i="0" u="none" strike="noStrike" cap="none" normalizeH="0" baseline="0" dirty="0">
                          <a:ln>
                            <a:noFill/>
                          </a:ln>
                          <a:solidFill>
                            <a:schemeClr val="tx1"/>
                          </a:solidFill>
                          <a:effectLst/>
                          <a:latin typeface="Times New Roman" pitchFamily="18" charset="0"/>
                          <a:ea typeface="宋体" pitchFamily="2" charset="-122"/>
                        </a:rPr>
                        <a:t>D-</a:t>
                      </a:r>
                      <a:r>
                        <a:rPr kumimoji="1" lang="zh-CN" altLang="en-US" sz="1500" b="1" i="0" u="none" strike="noStrike" cap="none" normalizeH="0" baseline="0" dirty="0">
                          <a:ln>
                            <a:noFill/>
                          </a:ln>
                          <a:solidFill>
                            <a:schemeClr val="tx1"/>
                          </a:solidFill>
                          <a:effectLst/>
                          <a:latin typeface="Times New Roman" pitchFamily="18" charset="0"/>
                          <a:ea typeface="宋体" pitchFamily="2" charset="-122"/>
                        </a:rPr>
                        <a:t>气缸</a:t>
                      </a:r>
                      <a:r>
                        <a:rPr kumimoji="1" lang="en-US" altLang="zh-CN" sz="1500" b="1" i="0" u="none" strike="noStrike" cap="none" normalizeH="0" baseline="0" dirty="0">
                          <a:ln>
                            <a:noFill/>
                          </a:ln>
                          <a:solidFill>
                            <a:schemeClr val="tx1"/>
                          </a:solidFill>
                          <a:effectLst/>
                          <a:latin typeface="Times New Roman" pitchFamily="18" charset="0"/>
                          <a:ea typeface="宋体" pitchFamily="2" charset="-122"/>
                        </a:rPr>
                        <a:t>E-</a:t>
                      </a:r>
                      <a:r>
                        <a:rPr kumimoji="1" lang="zh-CN" altLang="en-US" sz="1500" b="1" i="0" u="none" strike="noStrike" cap="none" normalizeH="0" baseline="0" dirty="0">
                          <a:ln>
                            <a:noFill/>
                          </a:ln>
                          <a:solidFill>
                            <a:schemeClr val="tx1"/>
                          </a:solidFill>
                          <a:effectLst/>
                          <a:latin typeface="Times New Roman" pitchFamily="18" charset="0"/>
                          <a:ea typeface="宋体" pitchFamily="2" charset="-122"/>
                        </a:rPr>
                        <a:t>低温热源　　　　　</a:t>
                      </a:r>
                      <a:br>
                        <a:rPr kumimoji="1" lang="zh-CN" altLang="en-US" sz="1500" b="1" i="0" u="none" strike="noStrike" cap="none" normalizeH="0" baseline="0" dirty="0">
                          <a:ln>
                            <a:noFill/>
                          </a:ln>
                          <a:solidFill>
                            <a:schemeClr val="tx1"/>
                          </a:solidFill>
                          <a:effectLst/>
                          <a:latin typeface="Times New Roman" pitchFamily="18" charset="0"/>
                          <a:ea typeface="宋体" pitchFamily="2" charset="-122"/>
                        </a:rPr>
                      </a:br>
                      <a:endParaRPr kumimoji="1" lang="zh-CN" altLang="en-US" sz="1500" b="1" i="0" u="none" strike="noStrike" cap="none" normalizeH="0" baseline="0" dirty="0">
                        <a:ln>
                          <a:noFill/>
                        </a:ln>
                        <a:solidFill>
                          <a:schemeClr val="tx1"/>
                        </a:solidFill>
                        <a:effectLst/>
                        <a:latin typeface="Times New Roman" pitchFamily="18" charset="0"/>
                        <a:ea typeface="宋体" pitchFamily="2" charset="-122"/>
                      </a:endParaRPr>
                    </a:p>
                  </a:txBody>
                  <a:tcPr marT="45651" marB="45651" anchor="ctr"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4379078"/>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1026"/>
          <p:cNvSpPr txBox="1">
            <a:spLocks noChangeArrowheads="1"/>
          </p:cNvSpPr>
          <p:nvPr/>
        </p:nvSpPr>
        <p:spPr bwMode="auto">
          <a:xfrm>
            <a:off x="152400" y="152400"/>
            <a:ext cx="4114800"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3333FF"/>
                </a:solidFill>
                <a:ea typeface="楷体_GB2312" pitchFamily="49" charset="-122"/>
              </a:rPr>
              <a:t>吸热与做功的关系</a:t>
            </a:r>
            <a:r>
              <a:rPr lang="en-US" altLang="zh-CN" sz="2800" b="1">
                <a:solidFill>
                  <a:srgbClr val="3333FF"/>
                </a:solidFill>
                <a:ea typeface="楷体_GB2312" pitchFamily="49" charset="-122"/>
              </a:rPr>
              <a:t>:</a:t>
            </a:r>
            <a:endParaRPr lang="en-US" altLang="zh-CN" sz="2400" b="1">
              <a:latin typeface="Arial" pitchFamily="34" charset="0"/>
              <a:ea typeface="楷体_GB2312" pitchFamily="49" charset="-122"/>
            </a:endParaRPr>
          </a:p>
          <a:p>
            <a:pPr lvl="1" algn="l" eaLnBrk="1" hangingPunct="1"/>
            <a:r>
              <a:rPr lang="en-US" altLang="zh-CN" sz="2400" b="1">
                <a:latin typeface="宋体" pitchFamily="2" charset="-122"/>
              </a:rPr>
              <a:t>   </a:t>
            </a:r>
            <a:r>
              <a:rPr lang="zh-CN" altLang="en-US" sz="2400" b="1">
                <a:latin typeface="宋体" pitchFamily="2" charset="-122"/>
              </a:rPr>
              <a:t>一定质量的工作物质在一次循环过程中要从高温热源吸热</a:t>
            </a:r>
            <a:r>
              <a:rPr lang="en-US" altLang="zh-CN" sz="2400" b="1" i="1">
                <a:latin typeface="宋体" pitchFamily="2" charset="-122"/>
              </a:rPr>
              <a:t>Q</a:t>
            </a:r>
            <a:r>
              <a:rPr lang="en-US" altLang="zh-CN" sz="2400" b="1" baseline="-25000">
                <a:latin typeface="宋体" pitchFamily="2" charset="-122"/>
              </a:rPr>
              <a:t>1</a:t>
            </a:r>
            <a:r>
              <a:rPr lang="zh-CN" altLang="en-US" sz="2400" b="1">
                <a:latin typeface="宋体" pitchFamily="2" charset="-122"/>
              </a:rPr>
              <a:t>，对外作净功</a:t>
            </a:r>
            <a:r>
              <a:rPr lang="en-US" altLang="zh-CN" sz="2400" b="1" i="1">
                <a:latin typeface="宋体" pitchFamily="2" charset="-122"/>
              </a:rPr>
              <a:t>A</a:t>
            </a:r>
            <a:r>
              <a:rPr lang="zh-CN" altLang="en-US" sz="2400" b="1">
                <a:latin typeface="宋体" pitchFamily="2" charset="-122"/>
              </a:rPr>
              <a:t>，又向低温热源放出热量</a:t>
            </a:r>
            <a:r>
              <a:rPr lang="en-US" altLang="zh-CN" sz="2400" b="1" i="1">
                <a:latin typeface="宋体" pitchFamily="2" charset="-122"/>
              </a:rPr>
              <a:t>Q</a:t>
            </a:r>
            <a:r>
              <a:rPr lang="en-US" altLang="zh-CN" sz="2400" b="1" baseline="-25000">
                <a:latin typeface="宋体" pitchFamily="2" charset="-122"/>
              </a:rPr>
              <a:t>2</a:t>
            </a:r>
            <a:r>
              <a:rPr lang="zh-CN" altLang="en-US" sz="2400" b="1">
                <a:latin typeface="宋体" pitchFamily="2" charset="-122"/>
              </a:rPr>
              <a:t>。并且工质回到初态，内能不变。</a:t>
            </a:r>
          </a:p>
          <a:p>
            <a:pPr lvl="1" algn="l" eaLnBrk="1" hangingPunct="1"/>
            <a:endParaRPr lang="zh-CN" altLang="en-US" sz="2400" b="1">
              <a:latin typeface="宋体" pitchFamily="2" charset="-122"/>
            </a:endParaRPr>
          </a:p>
          <a:p>
            <a:pPr lvl="1" algn="l" eaLnBrk="1" hangingPunct="1"/>
            <a:r>
              <a:rPr lang="zh-CN" altLang="en-US" sz="2400" b="1">
                <a:latin typeface="宋体" pitchFamily="2" charset="-122"/>
              </a:rPr>
              <a:t>工作物质经一循环</a:t>
            </a:r>
          </a:p>
          <a:p>
            <a:pPr algn="l" eaLnBrk="1" hangingPunct="1"/>
            <a:r>
              <a:rPr lang="zh-CN" altLang="en-US" sz="2400" b="1">
                <a:latin typeface="Arial" pitchFamily="34" charset="0"/>
                <a:ea typeface="楷体_GB2312" pitchFamily="49" charset="-122"/>
              </a:rPr>
              <a:t>                 </a:t>
            </a:r>
            <a:r>
              <a:rPr lang="en-US" altLang="zh-CN" sz="3200" b="1" i="1">
                <a:ea typeface="楷体_GB2312" pitchFamily="49" charset="-122"/>
              </a:rPr>
              <a:t>A= Q</a:t>
            </a:r>
            <a:r>
              <a:rPr lang="en-US" altLang="zh-CN" sz="3200" b="1" baseline="-25000">
                <a:ea typeface="楷体_GB2312" pitchFamily="49" charset="-122"/>
              </a:rPr>
              <a:t>1</a:t>
            </a:r>
            <a:r>
              <a:rPr lang="en-US" altLang="zh-CN" sz="3200" b="1" i="1">
                <a:ea typeface="楷体_GB2312" pitchFamily="49" charset="-122"/>
              </a:rPr>
              <a:t>-|Q</a:t>
            </a:r>
            <a:r>
              <a:rPr lang="en-US" altLang="zh-CN" sz="3200" b="1" baseline="-25000">
                <a:ea typeface="楷体_GB2312" pitchFamily="49" charset="-122"/>
              </a:rPr>
              <a:t>2</a:t>
            </a:r>
            <a:r>
              <a:rPr lang="en-US" altLang="zh-CN" sz="3200" b="1">
                <a:ea typeface="楷体_GB2312" pitchFamily="49" charset="-122"/>
              </a:rPr>
              <a:t>|</a:t>
            </a:r>
            <a:endParaRPr lang="en-US" altLang="zh-CN" sz="2800" b="1">
              <a:latin typeface="Arial" pitchFamily="34" charset="0"/>
              <a:ea typeface="楷体_GB2312" pitchFamily="49" charset="-122"/>
            </a:endParaRPr>
          </a:p>
          <a:p>
            <a:pPr algn="l" eaLnBrk="1" hangingPunct="1"/>
            <a:endParaRPr lang="en-US" altLang="zh-CN" sz="2400" b="1" baseline="-25000">
              <a:latin typeface="Arial" pitchFamily="34" charset="0"/>
              <a:ea typeface="楷体_GB2312" pitchFamily="49" charset="-122"/>
            </a:endParaRPr>
          </a:p>
        </p:txBody>
      </p:sp>
      <p:sp>
        <p:nvSpPr>
          <p:cNvPr id="94212" name="Text Box 1028"/>
          <p:cNvSpPr txBox="1">
            <a:spLocks noChangeArrowheads="1"/>
          </p:cNvSpPr>
          <p:nvPr/>
        </p:nvSpPr>
        <p:spPr bwMode="auto">
          <a:xfrm>
            <a:off x="304800" y="4221163"/>
            <a:ext cx="4627563" cy="88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3333FF"/>
                </a:solidFill>
                <a:ea typeface="楷体_GB2312" pitchFamily="49" charset="-122"/>
              </a:rPr>
              <a:t>热机效率或循环效率：</a:t>
            </a:r>
          </a:p>
          <a:p>
            <a:pPr lvl="1" algn="l" eaLnBrk="1" hangingPunct="1"/>
            <a:r>
              <a:rPr lang="zh-CN" altLang="en-US" sz="2400" b="1">
                <a:latin typeface="宋体" pitchFamily="2" charset="-122"/>
              </a:rPr>
              <a:t>表示热机的效能</a:t>
            </a:r>
            <a:endParaRPr lang="zh-CN" altLang="en-US">
              <a:latin typeface="楷体_GB2312" pitchFamily="49" charset="-122"/>
              <a:ea typeface="楷体_GB2312" pitchFamily="49" charset="-122"/>
            </a:endParaRPr>
          </a:p>
        </p:txBody>
      </p:sp>
      <p:graphicFrame>
        <p:nvGraphicFramePr>
          <p:cNvPr id="94213" name="Object 1029"/>
          <p:cNvGraphicFramePr>
            <a:graphicFrameLocks noChangeAspect="1"/>
          </p:cNvGraphicFramePr>
          <p:nvPr/>
        </p:nvGraphicFramePr>
        <p:xfrm>
          <a:off x="107950" y="5500688"/>
          <a:ext cx="4546600" cy="1093787"/>
        </p:xfrm>
        <a:graphic>
          <a:graphicData uri="http://schemas.openxmlformats.org/presentationml/2006/ole">
            <mc:AlternateContent xmlns:mc="http://schemas.openxmlformats.org/markup-compatibility/2006">
              <mc:Choice xmlns:v="urn:schemas-microsoft-com:vml" Requires="v">
                <p:oleObj spid="_x0000_s7356" name="公式" r:id="rId3" imgW="1892300" imgH="457200" progId="Equation.3">
                  <p:embed/>
                </p:oleObj>
              </mc:Choice>
              <mc:Fallback>
                <p:oleObj name="公式" r:id="rId3" imgW="1892300" imgH="457200" progId="Equation.3">
                  <p:embed/>
                  <p:pic>
                    <p:nvPicPr>
                      <p:cNvPr id="0" name="Object 10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5500688"/>
                        <a:ext cx="4546600" cy="1093787"/>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4216" name="Group 1032"/>
          <p:cNvGrpSpPr>
            <a:grpSpLocks/>
          </p:cNvGrpSpPr>
          <p:nvPr/>
        </p:nvGrpSpPr>
        <p:grpSpPr bwMode="auto">
          <a:xfrm>
            <a:off x="5661025" y="3651250"/>
            <a:ext cx="2439988" cy="2514600"/>
            <a:chOff x="3648" y="2208"/>
            <a:chExt cx="1537" cy="1584"/>
          </a:xfrm>
        </p:grpSpPr>
        <p:sp>
          <p:nvSpPr>
            <p:cNvPr id="7189" name="Rectangle 1033"/>
            <p:cNvSpPr>
              <a:spLocks noChangeArrowheads="1"/>
            </p:cNvSpPr>
            <p:nvPr/>
          </p:nvSpPr>
          <p:spPr bwMode="auto">
            <a:xfrm>
              <a:off x="3648" y="2208"/>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zh-CN" sz="2400" b="1">
                  <a:solidFill>
                    <a:srgbClr val="3333FF"/>
                  </a:solidFill>
                  <a:latin typeface="Arial" pitchFamily="34" charset="0"/>
                  <a:ea typeface="楷体_GB2312" pitchFamily="49" charset="-122"/>
                </a:rPr>
                <a:t>高温热源</a:t>
              </a:r>
              <a:r>
                <a:rPr lang="zh-CN" altLang="zh-CN" sz="1800" b="1">
                  <a:latin typeface="Arial" pitchFamily="34" charset="0"/>
                </a:rPr>
                <a:t> </a:t>
              </a:r>
              <a:r>
                <a:rPr lang="en-US" altLang="zh-CN" sz="1800" b="1">
                  <a:latin typeface="Arial" pitchFamily="34" charset="0"/>
                </a:rPr>
                <a:t>T</a:t>
              </a:r>
              <a:r>
                <a:rPr lang="en-US" altLang="zh-CN" sz="1800" b="1" baseline="-25000">
                  <a:latin typeface="Arial" pitchFamily="34" charset="0"/>
                </a:rPr>
                <a:t>1</a:t>
              </a:r>
              <a:endParaRPr lang="en-US" altLang="zh-CN" sz="1800" b="1">
                <a:latin typeface="Arial" pitchFamily="34" charset="0"/>
              </a:endParaRPr>
            </a:p>
          </p:txBody>
        </p:sp>
        <p:sp>
          <p:nvSpPr>
            <p:cNvPr id="7190" name="Oval 1034" descr="深色下对角线"/>
            <p:cNvSpPr>
              <a:spLocks noChangeArrowheads="1"/>
            </p:cNvSpPr>
            <p:nvPr/>
          </p:nvSpPr>
          <p:spPr bwMode="auto">
            <a:xfrm>
              <a:off x="4128" y="2784"/>
              <a:ext cx="480" cy="480"/>
            </a:xfrm>
            <a:prstGeom prst="ellipse">
              <a:avLst/>
            </a:prstGeom>
            <a:pattFill prst="dkDnDiag">
              <a:fgClr>
                <a:schemeClr val="tx1"/>
              </a:fgClr>
              <a:bgClr>
                <a:schemeClr val="accent1"/>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1" name="Rectangle 1035"/>
            <p:cNvSpPr>
              <a:spLocks noChangeArrowheads="1"/>
            </p:cNvSpPr>
            <p:nvPr/>
          </p:nvSpPr>
          <p:spPr bwMode="auto">
            <a:xfrm>
              <a:off x="4224" y="2448"/>
              <a:ext cx="144" cy="110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2" name="Rectangle 1036"/>
            <p:cNvSpPr>
              <a:spLocks noChangeArrowheads="1"/>
            </p:cNvSpPr>
            <p:nvPr/>
          </p:nvSpPr>
          <p:spPr bwMode="auto">
            <a:xfrm>
              <a:off x="4368" y="2448"/>
              <a:ext cx="144" cy="432"/>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3" name="Rectangle 1037"/>
            <p:cNvSpPr>
              <a:spLocks noChangeArrowheads="1"/>
            </p:cNvSpPr>
            <p:nvPr/>
          </p:nvSpPr>
          <p:spPr bwMode="auto">
            <a:xfrm>
              <a:off x="4560" y="2976"/>
              <a:ext cx="384" cy="14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4" name="AutoShape 1038"/>
            <p:cNvSpPr>
              <a:spLocks noChangeArrowheads="1"/>
            </p:cNvSpPr>
            <p:nvPr/>
          </p:nvSpPr>
          <p:spPr bwMode="auto">
            <a:xfrm rot="-1764019">
              <a:off x="4319" y="2496"/>
              <a:ext cx="384" cy="720"/>
            </a:xfrm>
            <a:prstGeom prst="moon">
              <a:avLst>
                <a:gd name="adj" fmla="val 50000"/>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p>
          </p:txBody>
        </p:sp>
        <p:sp>
          <p:nvSpPr>
            <p:cNvPr id="7195" name="Rectangle 1039"/>
            <p:cNvSpPr>
              <a:spLocks noChangeArrowheads="1"/>
            </p:cNvSpPr>
            <p:nvPr/>
          </p:nvSpPr>
          <p:spPr bwMode="auto">
            <a:xfrm>
              <a:off x="3648" y="3552"/>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b="1">
                  <a:solidFill>
                    <a:srgbClr val="3333FF"/>
                  </a:solidFill>
                  <a:latin typeface="Arial" pitchFamily="34" charset="0"/>
                  <a:ea typeface="楷体_GB2312" pitchFamily="49" charset="-122"/>
                </a:rPr>
                <a:t>低温热源</a:t>
              </a:r>
              <a:r>
                <a:rPr lang="zh-CN" altLang="en-US" sz="1800" b="1">
                  <a:latin typeface="Arial" pitchFamily="34" charset="0"/>
                </a:rPr>
                <a:t> </a:t>
              </a:r>
              <a:r>
                <a:rPr lang="en-US" altLang="zh-CN" sz="1800" b="1">
                  <a:latin typeface="Arial" pitchFamily="34" charset="0"/>
                </a:rPr>
                <a:t>T</a:t>
              </a:r>
              <a:r>
                <a:rPr lang="en-US" altLang="zh-CN" sz="1800" b="1" baseline="-25000">
                  <a:latin typeface="Arial" pitchFamily="34" charset="0"/>
                </a:rPr>
                <a:t>2</a:t>
              </a:r>
              <a:endParaRPr lang="en-US" altLang="zh-CN" sz="1800" b="1">
                <a:latin typeface="Arial" pitchFamily="34" charset="0"/>
              </a:endParaRPr>
            </a:p>
          </p:txBody>
        </p:sp>
        <p:sp>
          <p:nvSpPr>
            <p:cNvPr id="7196" name="Line 1040"/>
            <p:cNvSpPr>
              <a:spLocks noChangeShapeType="1"/>
            </p:cNvSpPr>
            <p:nvPr/>
          </p:nvSpPr>
          <p:spPr bwMode="auto">
            <a:xfrm>
              <a:off x="4368" y="2448"/>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Line 1041"/>
            <p:cNvSpPr>
              <a:spLocks noChangeShapeType="1"/>
            </p:cNvSpPr>
            <p:nvPr/>
          </p:nvSpPr>
          <p:spPr bwMode="auto">
            <a:xfrm>
              <a:off x="4272" y="3312"/>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Text Box 1042"/>
            <p:cNvSpPr txBox="1">
              <a:spLocks noChangeArrowheads="1"/>
            </p:cNvSpPr>
            <p:nvPr/>
          </p:nvSpPr>
          <p:spPr bwMode="auto">
            <a:xfrm>
              <a:off x="4224" y="2646"/>
              <a:ext cx="2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a:latin typeface="Arial" pitchFamily="34" charset="0"/>
                </a:rPr>
                <a:t>Q</a:t>
              </a:r>
              <a:r>
                <a:rPr lang="en-US" altLang="zh-CN" sz="1800" b="1" baseline="-25000">
                  <a:latin typeface="Arial" pitchFamily="34" charset="0"/>
                </a:rPr>
                <a:t>1</a:t>
              </a:r>
              <a:endParaRPr lang="en-US" altLang="zh-CN" sz="1800" b="1">
                <a:latin typeface="Arial" pitchFamily="34" charset="0"/>
              </a:endParaRPr>
            </a:p>
          </p:txBody>
        </p:sp>
        <p:sp>
          <p:nvSpPr>
            <p:cNvPr id="7199" name="Text Box 1043"/>
            <p:cNvSpPr txBox="1">
              <a:spLocks noChangeArrowheads="1"/>
            </p:cNvSpPr>
            <p:nvPr/>
          </p:nvSpPr>
          <p:spPr bwMode="auto">
            <a:xfrm>
              <a:off x="4128" y="3126"/>
              <a:ext cx="2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a:latin typeface="Arial" pitchFamily="34" charset="0"/>
                </a:rPr>
                <a:t>Q</a:t>
              </a:r>
              <a:r>
                <a:rPr lang="en-US" altLang="zh-CN" sz="1800" b="1" baseline="-25000">
                  <a:latin typeface="Arial" pitchFamily="34" charset="0"/>
                </a:rPr>
                <a:t>2</a:t>
              </a:r>
              <a:endParaRPr lang="en-US" altLang="zh-CN" sz="1800" b="1">
                <a:latin typeface="Arial" pitchFamily="34" charset="0"/>
              </a:endParaRPr>
            </a:p>
          </p:txBody>
        </p:sp>
        <p:sp>
          <p:nvSpPr>
            <p:cNvPr id="7200" name="Line 1044"/>
            <p:cNvSpPr>
              <a:spLocks noChangeShapeType="1"/>
            </p:cNvSpPr>
            <p:nvPr/>
          </p:nvSpPr>
          <p:spPr bwMode="auto">
            <a:xfrm>
              <a:off x="4752" y="3024"/>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Text Box 1045"/>
            <p:cNvSpPr txBox="1">
              <a:spLocks noChangeArrowheads="1"/>
            </p:cNvSpPr>
            <p:nvPr/>
          </p:nvSpPr>
          <p:spPr bwMode="auto">
            <a:xfrm>
              <a:off x="4965" y="2934"/>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i="1">
                  <a:latin typeface="Arial" pitchFamily="34" charset="0"/>
                </a:rPr>
                <a:t>A</a:t>
              </a:r>
            </a:p>
          </p:txBody>
        </p:sp>
      </p:grpSp>
      <p:grpSp>
        <p:nvGrpSpPr>
          <p:cNvPr id="94231" name="Group 1047"/>
          <p:cNvGrpSpPr>
            <a:grpSpLocks/>
          </p:cNvGrpSpPr>
          <p:nvPr/>
        </p:nvGrpSpPr>
        <p:grpSpPr bwMode="auto">
          <a:xfrm>
            <a:off x="4254500" y="115888"/>
            <a:ext cx="4889500" cy="2743200"/>
            <a:chOff x="2448" y="2304"/>
            <a:chExt cx="3080" cy="1728"/>
          </a:xfrm>
        </p:grpSpPr>
        <p:sp>
          <p:nvSpPr>
            <p:cNvPr id="7175" name="Rectangle 1048"/>
            <p:cNvSpPr>
              <a:spLocks noChangeArrowheads="1"/>
            </p:cNvSpPr>
            <p:nvPr/>
          </p:nvSpPr>
          <p:spPr bwMode="auto">
            <a:xfrm>
              <a:off x="2850" y="2640"/>
              <a:ext cx="1872"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 name="Rectangle 1049"/>
            <p:cNvSpPr>
              <a:spLocks noChangeArrowheads="1"/>
            </p:cNvSpPr>
            <p:nvPr/>
          </p:nvSpPr>
          <p:spPr bwMode="auto">
            <a:xfrm>
              <a:off x="3522" y="2304"/>
              <a:ext cx="576"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400" b="1" i="1"/>
                <a:t>T</a:t>
              </a:r>
              <a:r>
                <a:rPr lang="en-US" altLang="zh-CN" sz="2400" b="1" i="1" baseline="-25000"/>
                <a:t>1 </a:t>
              </a:r>
              <a:r>
                <a:rPr lang="en-US" altLang="zh-CN" sz="2400" b="1" i="1"/>
                <a:t>Q</a:t>
              </a:r>
              <a:r>
                <a:rPr lang="en-US" altLang="zh-CN" sz="2400" b="1" i="1" baseline="-25000"/>
                <a:t>1</a:t>
              </a:r>
              <a:endParaRPr lang="en-US" altLang="zh-CN" sz="2400"/>
            </a:p>
          </p:txBody>
        </p:sp>
        <p:sp>
          <p:nvSpPr>
            <p:cNvPr id="7177" name="Rectangle 1050"/>
            <p:cNvSpPr>
              <a:spLocks noChangeArrowheads="1"/>
            </p:cNvSpPr>
            <p:nvPr/>
          </p:nvSpPr>
          <p:spPr bwMode="auto">
            <a:xfrm>
              <a:off x="3522" y="3696"/>
              <a:ext cx="576"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400" b="1" i="1"/>
                <a:t>T</a:t>
              </a:r>
              <a:r>
                <a:rPr lang="en-US" altLang="zh-CN" sz="2400" b="1" i="1" baseline="-25000"/>
                <a:t>2 </a:t>
              </a:r>
              <a:r>
                <a:rPr lang="en-US" altLang="zh-CN" sz="2400" b="1" i="1"/>
                <a:t>Q</a:t>
              </a:r>
              <a:r>
                <a:rPr lang="en-US" altLang="zh-CN" sz="2400" b="1" i="1" baseline="-25000"/>
                <a:t>2</a:t>
              </a:r>
              <a:endParaRPr lang="en-US" altLang="zh-CN" sz="2400"/>
            </a:p>
          </p:txBody>
        </p:sp>
        <p:sp>
          <p:nvSpPr>
            <p:cNvPr id="7178" name="Rectangle 1051" descr="20%"/>
            <p:cNvSpPr>
              <a:spLocks noChangeArrowheads="1"/>
            </p:cNvSpPr>
            <p:nvPr/>
          </p:nvSpPr>
          <p:spPr bwMode="auto">
            <a:xfrm>
              <a:off x="2946" y="2736"/>
              <a:ext cx="1680" cy="864"/>
            </a:xfrm>
            <a:prstGeom prst="rect">
              <a:avLst/>
            </a:prstGeom>
            <a:pattFill prst="pct20">
              <a:fgClr>
                <a:schemeClr val="bg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9" name="Oval 1052"/>
            <p:cNvSpPr>
              <a:spLocks noChangeArrowheads="1"/>
            </p:cNvSpPr>
            <p:nvPr/>
          </p:nvSpPr>
          <p:spPr bwMode="auto">
            <a:xfrm>
              <a:off x="2706" y="2976"/>
              <a:ext cx="384" cy="38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0" name="Rectangle 1053"/>
            <p:cNvSpPr>
              <a:spLocks noChangeArrowheads="1"/>
            </p:cNvSpPr>
            <p:nvPr/>
          </p:nvSpPr>
          <p:spPr bwMode="auto">
            <a:xfrm>
              <a:off x="4530" y="3024"/>
              <a:ext cx="288"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1" name="Line 1054"/>
            <p:cNvSpPr>
              <a:spLocks noChangeShapeType="1"/>
            </p:cNvSpPr>
            <p:nvPr/>
          </p:nvSpPr>
          <p:spPr bwMode="auto">
            <a:xfrm flipH="1">
              <a:off x="3840" y="2496"/>
              <a:ext cx="0" cy="528"/>
            </a:xfrm>
            <a:prstGeom prst="line">
              <a:avLst/>
            </a:prstGeom>
            <a:noFill/>
            <a:ln w="762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2" name="Line 1055"/>
            <p:cNvSpPr>
              <a:spLocks noChangeShapeType="1"/>
            </p:cNvSpPr>
            <p:nvPr/>
          </p:nvSpPr>
          <p:spPr bwMode="auto">
            <a:xfrm>
              <a:off x="3042" y="2832"/>
              <a:ext cx="2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3" name="Line 1056"/>
            <p:cNvSpPr>
              <a:spLocks noChangeShapeType="1"/>
            </p:cNvSpPr>
            <p:nvPr/>
          </p:nvSpPr>
          <p:spPr bwMode="auto">
            <a:xfrm flipH="1">
              <a:off x="4242" y="3504"/>
              <a:ext cx="24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4" name="Text Box 1057"/>
            <p:cNvSpPr txBox="1">
              <a:spLocks noChangeArrowheads="1"/>
            </p:cNvSpPr>
            <p:nvPr/>
          </p:nvSpPr>
          <p:spPr bwMode="auto">
            <a:xfrm>
              <a:off x="2448" y="302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a:ea typeface="仿宋_GB2312" pitchFamily="49" charset="-122"/>
                </a:rPr>
                <a:t>泵</a:t>
              </a:r>
              <a:endParaRPr lang="zh-CN" altLang="en-US" sz="2400"/>
            </a:p>
          </p:txBody>
        </p:sp>
        <p:sp>
          <p:nvSpPr>
            <p:cNvPr id="7185" name="Line 1058"/>
            <p:cNvSpPr>
              <a:spLocks noChangeShapeType="1"/>
            </p:cNvSpPr>
            <p:nvPr/>
          </p:nvSpPr>
          <p:spPr bwMode="auto">
            <a:xfrm>
              <a:off x="4818" y="3168"/>
              <a:ext cx="318"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6" name="Text Box 1059"/>
            <p:cNvSpPr txBox="1">
              <a:spLocks noChangeArrowheads="1"/>
            </p:cNvSpPr>
            <p:nvPr/>
          </p:nvSpPr>
          <p:spPr bwMode="auto">
            <a:xfrm>
              <a:off x="5136" y="3024"/>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a:ea typeface="仿宋_GB2312" pitchFamily="49" charset="-122"/>
                </a:rPr>
                <a:t>|</a:t>
              </a:r>
              <a:r>
                <a:rPr lang="en-US" altLang="zh-CN" sz="2400" b="1" i="1">
                  <a:ea typeface="仿宋_GB2312" pitchFamily="49" charset="-122"/>
                </a:rPr>
                <a:t>A</a:t>
              </a:r>
              <a:r>
                <a:rPr lang="en-US" altLang="zh-CN" sz="2400" b="1">
                  <a:ea typeface="仿宋_GB2312" pitchFamily="49" charset="-122"/>
                </a:rPr>
                <a:t>|</a:t>
              </a:r>
              <a:endParaRPr lang="en-US" altLang="zh-CN" sz="2800" b="1">
                <a:ea typeface="仿宋_GB2312" pitchFamily="49" charset="-122"/>
              </a:endParaRPr>
            </a:p>
          </p:txBody>
        </p:sp>
        <p:sp>
          <p:nvSpPr>
            <p:cNvPr id="7187" name="Text Box 1060"/>
            <p:cNvSpPr txBox="1">
              <a:spLocks noChangeArrowheads="1"/>
            </p:cNvSpPr>
            <p:nvPr/>
          </p:nvSpPr>
          <p:spPr bwMode="auto">
            <a:xfrm>
              <a:off x="4800" y="3408"/>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400" b="1">
                  <a:ea typeface="仿宋_GB2312" pitchFamily="49" charset="-122"/>
                </a:rPr>
                <a:t>气缸</a:t>
              </a:r>
            </a:p>
          </p:txBody>
        </p:sp>
        <p:sp>
          <p:nvSpPr>
            <p:cNvPr id="7188" name="Line 1061"/>
            <p:cNvSpPr>
              <a:spLocks noChangeShapeType="1"/>
            </p:cNvSpPr>
            <p:nvPr/>
          </p:nvSpPr>
          <p:spPr bwMode="auto">
            <a:xfrm flipH="1">
              <a:off x="3792" y="3312"/>
              <a:ext cx="0" cy="528"/>
            </a:xfrm>
            <a:prstGeom prst="line">
              <a:avLst/>
            </a:prstGeom>
            <a:noFill/>
            <a:ln w="762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4231"/>
                                        </p:tgtEl>
                                        <p:attrNameLst>
                                          <p:attrName>style.visibility</p:attrName>
                                        </p:attrNameLst>
                                      </p:cBhvr>
                                      <p:to>
                                        <p:strVal val="visible"/>
                                      </p:to>
                                    </p:set>
                                    <p:animEffect transition="in" filter="blinds(horizontal)">
                                      <p:cBhvr>
                                        <p:cTn id="7" dur="500"/>
                                        <p:tgtEl>
                                          <p:spTgt spid="942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210">
                                            <p:txEl>
                                              <p:pRg st="0" end="0"/>
                                            </p:txEl>
                                          </p:spTgt>
                                        </p:tgtEl>
                                        <p:attrNameLst>
                                          <p:attrName>style.visibility</p:attrName>
                                        </p:attrNameLst>
                                      </p:cBhvr>
                                      <p:to>
                                        <p:strVal val="visible"/>
                                      </p:to>
                                    </p:set>
                                    <p:animEffect transition="in" filter="wipe(left)">
                                      <p:cBhvr>
                                        <p:cTn id="12" dur="500"/>
                                        <p:tgtEl>
                                          <p:spTgt spid="9421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210">
                                            <p:txEl>
                                              <p:pRg st="1" end="1"/>
                                            </p:txEl>
                                          </p:spTgt>
                                        </p:tgtEl>
                                        <p:attrNameLst>
                                          <p:attrName>style.visibility</p:attrName>
                                        </p:attrNameLst>
                                      </p:cBhvr>
                                      <p:to>
                                        <p:strVal val="visible"/>
                                      </p:to>
                                    </p:set>
                                    <p:animEffect transition="in" filter="wipe(left)">
                                      <p:cBhvr>
                                        <p:cTn id="17" dur="500"/>
                                        <p:tgtEl>
                                          <p:spTgt spid="94210">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210">
                                            <p:txEl>
                                              <p:pRg st="3" end="3"/>
                                            </p:txEl>
                                          </p:spTgt>
                                        </p:tgtEl>
                                        <p:attrNameLst>
                                          <p:attrName>style.visibility</p:attrName>
                                        </p:attrNameLst>
                                      </p:cBhvr>
                                      <p:to>
                                        <p:strVal val="visible"/>
                                      </p:to>
                                    </p:set>
                                    <p:animEffect transition="in" filter="wipe(left)">
                                      <p:cBhvr>
                                        <p:cTn id="22" dur="500"/>
                                        <p:tgtEl>
                                          <p:spTgt spid="942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4210">
                                            <p:txEl>
                                              <p:pRg st="4" end="4"/>
                                            </p:txEl>
                                          </p:spTgt>
                                        </p:tgtEl>
                                        <p:attrNameLst>
                                          <p:attrName>style.visibility</p:attrName>
                                        </p:attrNameLst>
                                      </p:cBhvr>
                                      <p:to>
                                        <p:strVal val="visible"/>
                                      </p:to>
                                    </p:set>
                                    <p:animEffect transition="in" filter="wipe(left)">
                                      <p:cBhvr>
                                        <p:cTn id="27" dur="500"/>
                                        <p:tgtEl>
                                          <p:spTgt spid="942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94216"/>
                                        </p:tgtEl>
                                        <p:attrNameLst>
                                          <p:attrName>style.visibility</p:attrName>
                                        </p:attrNameLst>
                                      </p:cBhvr>
                                      <p:to>
                                        <p:strVal val="visible"/>
                                      </p:to>
                                    </p:set>
                                    <p:animEffect transition="in" filter="box(out)">
                                      <p:cBhvr>
                                        <p:cTn id="32" dur="500"/>
                                        <p:tgtEl>
                                          <p:spTgt spid="9421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4212">
                                            <p:txEl>
                                              <p:pRg st="0" end="0"/>
                                            </p:txEl>
                                          </p:spTgt>
                                        </p:tgtEl>
                                        <p:attrNameLst>
                                          <p:attrName>style.visibility</p:attrName>
                                        </p:attrNameLst>
                                      </p:cBhvr>
                                      <p:to>
                                        <p:strVal val="visible"/>
                                      </p:to>
                                    </p:set>
                                    <p:animEffect transition="in" filter="wipe(left)">
                                      <p:cBhvr>
                                        <p:cTn id="37" dur="500"/>
                                        <p:tgtEl>
                                          <p:spTgt spid="94212">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4212">
                                            <p:txEl>
                                              <p:pRg st="1" end="1"/>
                                            </p:txEl>
                                          </p:spTgt>
                                        </p:tgtEl>
                                        <p:attrNameLst>
                                          <p:attrName>style.visibility</p:attrName>
                                        </p:attrNameLst>
                                      </p:cBhvr>
                                      <p:to>
                                        <p:strVal val="visible"/>
                                      </p:to>
                                    </p:set>
                                    <p:animEffect transition="in" filter="wipe(left)">
                                      <p:cBhvr>
                                        <p:cTn id="42" dur="500"/>
                                        <p:tgtEl>
                                          <p:spTgt spid="94212">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4213"/>
                                        </p:tgtEl>
                                        <p:attrNameLst>
                                          <p:attrName>style.visibility</p:attrName>
                                        </p:attrNameLst>
                                      </p:cBhvr>
                                      <p:to>
                                        <p:strVal val="visible"/>
                                      </p:to>
                                    </p:set>
                                    <p:animEffect transition="in" filter="wipe(left)">
                                      <p:cBhvr>
                                        <p:cTn id="47" dur="500"/>
                                        <p:tgtEl>
                                          <p:spTgt spid="94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build="p" bldLvl="2" autoUpdateAnimBg="0"/>
      <p:bldP spid="94212" grpId="0" build="p" bldLvl="2"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2"/>
          <p:cNvSpPr txBox="1">
            <a:spLocks noChangeArrowheads="1"/>
          </p:cNvSpPr>
          <p:nvPr/>
        </p:nvSpPr>
        <p:spPr bwMode="auto">
          <a:xfrm>
            <a:off x="0" y="1371600"/>
            <a:ext cx="6553200"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dirty="0">
                <a:solidFill>
                  <a:srgbClr val="3333FF"/>
                </a:solidFill>
                <a:ea typeface="楷体_GB2312" pitchFamily="49" charset="-122"/>
              </a:rPr>
              <a:t>逆循环的特征：</a:t>
            </a:r>
            <a:endParaRPr lang="zh-CN" altLang="en-US" sz="2400" b="1" dirty="0">
              <a:latin typeface="Arial" pitchFamily="34" charset="0"/>
              <a:ea typeface="楷体_GB2312" pitchFamily="49" charset="-122"/>
            </a:endParaRPr>
          </a:p>
          <a:p>
            <a:pPr lvl="1" algn="l" eaLnBrk="1" hangingPunct="1"/>
            <a:r>
              <a:rPr lang="zh-CN" altLang="en-US" sz="2400" b="1" dirty="0">
                <a:latin typeface="宋体" pitchFamily="2" charset="-122"/>
              </a:rPr>
              <a:t>   制冷机经历一个逆循环后，由于外界对它作功，可以把热量由低温热源传递到高温热源。在一个循环中，外界作功</a:t>
            </a:r>
            <a:r>
              <a:rPr lang="en-US" altLang="zh-CN" sz="2400" b="1" i="1" dirty="0">
                <a:latin typeface="宋体" pitchFamily="2" charset="-122"/>
              </a:rPr>
              <a:t>A</a:t>
            </a:r>
            <a:r>
              <a:rPr lang="zh-CN" altLang="en-US" sz="2400" b="1" dirty="0">
                <a:latin typeface="宋体" pitchFamily="2" charset="-122"/>
              </a:rPr>
              <a:t>，从低温热源吸收热量</a:t>
            </a:r>
            <a:r>
              <a:rPr lang="en-US" altLang="zh-CN" sz="2400" b="1" i="1" dirty="0">
                <a:latin typeface="宋体" pitchFamily="2" charset="-122"/>
              </a:rPr>
              <a:t>Q</a:t>
            </a:r>
            <a:r>
              <a:rPr lang="en-US" altLang="zh-CN" sz="2400" b="1" baseline="-25000" dirty="0">
                <a:latin typeface="宋体" pitchFamily="2" charset="-122"/>
              </a:rPr>
              <a:t>2</a:t>
            </a:r>
            <a:r>
              <a:rPr lang="zh-CN" altLang="en-US" sz="2400" b="1" baseline="-25000" dirty="0">
                <a:latin typeface="宋体" pitchFamily="2" charset="-122"/>
              </a:rPr>
              <a:t>，</a:t>
            </a:r>
            <a:r>
              <a:rPr lang="zh-CN" altLang="en-US" sz="2400" b="1" dirty="0">
                <a:latin typeface="宋体" pitchFamily="2" charset="-122"/>
              </a:rPr>
              <a:t>向高温热源放出热量</a:t>
            </a:r>
            <a:r>
              <a:rPr lang="en-US" altLang="zh-CN" sz="2400" b="1" i="1" dirty="0">
                <a:latin typeface="宋体" pitchFamily="2" charset="-122"/>
              </a:rPr>
              <a:t>Q</a:t>
            </a:r>
            <a:r>
              <a:rPr lang="en-US" altLang="zh-CN" sz="2400" b="1" baseline="-25000" dirty="0">
                <a:latin typeface="宋体" pitchFamily="2" charset="-122"/>
              </a:rPr>
              <a:t>1</a:t>
            </a:r>
            <a:r>
              <a:rPr lang="zh-CN" altLang="en-US" sz="2400" b="1" dirty="0">
                <a:latin typeface="宋体" pitchFamily="2" charset="-122"/>
              </a:rPr>
              <a:t>。并且工质回到初态，内能不变。</a:t>
            </a:r>
          </a:p>
          <a:p>
            <a:pPr lvl="1" algn="l" eaLnBrk="1" hangingPunct="1"/>
            <a:r>
              <a:rPr lang="zh-CN" altLang="en-US" sz="2400" b="1" i="1" dirty="0">
                <a:latin typeface="宋体" pitchFamily="2" charset="-122"/>
              </a:rPr>
              <a:t>    </a:t>
            </a:r>
            <a:r>
              <a:rPr lang="en-US" altLang="zh-CN" sz="2400" b="1" i="1" dirty="0">
                <a:solidFill>
                  <a:srgbClr val="0066FF"/>
                </a:solidFill>
                <a:latin typeface="宋体" pitchFamily="2" charset="-122"/>
              </a:rPr>
              <a:t>A=</a:t>
            </a:r>
            <a:r>
              <a:rPr lang="en-US" altLang="zh-CN" sz="2400" b="1" dirty="0">
                <a:solidFill>
                  <a:srgbClr val="0066FF"/>
                </a:solidFill>
                <a:latin typeface="宋体" pitchFamily="2" charset="-122"/>
              </a:rPr>
              <a:t>|</a:t>
            </a:r>
            <a:r>
              <a:rPr lang="en-US" altLang="zh-CN" sz="2400" b="1" i="1" dirty="0">
                <a:solidFill>
                  <a:srgbClr val="0066FF"/>
                </a:solidFill>
                <a:latin typeface="宋体" pitchFamily="2" charset="-122"/>
              </a:rPr>
              <a:t>Q</a:t>
            </a:r>
            <a:r>
              <a:rPr lang="en-US" altLang="zh-CN" sz="2400" b="1" i="1" baseline="-25000" dirty="0">
                <a:solidFill>
                  <a:srgbClr val="0066FF"/>
                </a:solidFill>
                <a:latin typeface="宋体" pitchFamily="2" charset="-122"/>
              </a:rPr>
              <a:t>1</a:t>
            </a:r>
            <a:r>
              <a:rPr lang="en-US" altLang="zh-CN" sz="2400" b="1" dirty="0">
                <a:solidFill>
                  <a:srgbClr val="0066FF"/>
                </a:solidFill>
                <a:latin typeface="宋体" pitchFamily="2" charset="-122"/>
              </a:rPr>
              <a:t>|-</a:t>
            </a:r>
            <a:r>
              <a:rPr lang="en-US" altLang="zh-CN" sz="2400" b="1" i="1" dirty="0">
                <a:solidFill>
                  <a:srgbClr val="0066FF"/>
                </a:solidFill>
                <a:latin typeface="宋体" pitchFamily="2" charset="-122"/>
              </a:rPr>
              <a:t>Q</a:t>
            </a:r>
            <a:r>
              <a:rPr lang="en-US" altLang="zh-CN" sz="2400" b="1" i="1" baseline="-25000" dirty="0">
                <a:solidFill>
                  <a:srgbClr val="0066FF"/>
                </a:solidFill>
                <a:latin typeface="宋体" pitchFamily="2" charset="-122"/>
              </a:rPr>
              <a:t>2</a:t>
            </a:r>
            <a:endParaRPr lang="en-US" altLang="zh-CN" sz="2400" b="1" dirty="0">
              <a:solidFill>
                <a:srgbClr val="0066FF"/>
              </a:solidFill>
              <a:latin typeface="宋体" pitchFamily="2" charset="-122"/>
            </a:endParaRPr>
          </a:p>
        </p:txBody>
      </p:sp>
      <p:sp>
        <p:nvSpPr>
          <p:cNvPr id="102403" name="Text Box 3"/>
          <p:cNvSpPr txBox="1">
            <a:spLocks noChangeArrowheads="1"/>
          </p:cNvSpPr>
          <p:nvPr/>
        </p:nvSpPr>
        <p:spPr bwMode="auto">
          <a:xfrm>
            <a:off x="323850" y="4776788"/>
            <a:ext cx="48244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3333FF"/>
                </a:solidFill>
                <a:ea typeface="楷体_GB2312" pitchFamily="49" charset="-122"/>
              </a:rPr>
              <a:t>制冷系数：</a:t>
            </a:r>
            <a:r>
              <a:rPr lang="zh-CN" altLang="en-US" sz="2400" b="1">
                <a:latin typeface="宋体" pitchFamily="2" charset="-122"/>
              </a:rPr>
              <a:t>表示制冷机的效能</a:t>
            </a:r>
            <a:endParaRPr lang="zh-CN" altLang="en-US" sz="2400" b="1">
              <a:latin typeface="楷体_GB2312" pitchFamily="49" charset="-122"/>
              <a:ea typeface="楷体_GB2312" pitchFamily="49" charset="-122"/>
              <a:sym typeface="Symbol" pitchFamily="18" charset="2"/>
            </a:endParaRPr>
          </a:p>
        </p:txBody>
      </p:sp>
      <p:graphicFrame>
        <p:nvGraphicFramePr>
          <p:cNvPr id="102404" name="Object 4"/>
          <p:cNvGraphicFramePr>
            <a:graphicFrameLocks noChangeAspect="1"/>
          </p:cNvGraphicFramePr>
          <p:nvPr/>
        </p:nvGraphicFramePr>
        <p:xfrm>
          <a:off x="1189038" y="5316538"/>
          <a:ext cx="2838450" cy="1093787"/>
        </p:xfrm>
        <a:graphic>
          <a:graphicData uri="http://schemas.openxmlformats.org/presentationml/2006/ole">
            <mc:AlternateContent xmlns:mc="http://schemas.openxmlformats.org/markup-compatibility/2006">
              <mc:Choice xmlns:v="urn:schemas-microsoft-com:vml" Requires="v">
                <p:oleObj spid="_x0000_s8370" name="Equation" r:id="rId3" imgW="1181100" imgH="457200" progId="Equation.DSMT4">
                  <p:embed/>
                </p:oleObj>
              </mc:Choice>
              <mc:Fallback>
                <p:oleObj name="Equation" r:id="rId3" imgW="1181100" imgH="4572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9038" y="5316538"/>
                        <a:ext cx="2838450" cy="1093787"/>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2419" name="Group 19"/>
          <p:cNvGrpSpPr>
            <a:grpSpLocks/>
          </p:cNvGrpSpPr>
          <p:nvPr/>
        </p:nvGrpSpPr>
        <p:grpSpPr bwMode="auto">
          <a:xfrm>
            <a:off x="6653213" y="533400"/>
            <a:ext cx="2439987" cy="2514600"/>
            <a:chOff x="3936" y="480"/>
            <a:chExt cx="1537" cy="1584"/>
          </a:xfrm>
        </p:grpSpPr>
        <p:sp>
          <p:nvSpPr>
            <p:cNvPr id="8202" name="Rectangle 6"/>
            <p:cNvSpPr>
              <a:spLocks noChangeArrowheads="1"/>
            </p:cNvSpPr>
            <p:nvPr/>
          </p:nvSpPr>
          <p:spPr bwMode="auto">
            <a:xfrm>
              <a:off x="3936" y="480"/>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zh-CN" sz="2400" b="1">
                  <a:solidFill>
                    <a:srgbClr val="3333FF"/>
                  </a:solidFill>
                  <a:latin typeface="Arial" pitchFamily="34" charset="0"/>
                  <a:ea typeface="楷体_GB2312" pitchFamily="49" charset="-122"/>
                </a:rPr>
                <a:t>高温热源</a:t>
              </a:r>
              <a:r>
                <a:rPr lang="zh-CN" altLang="zh-CN" sz="1800" b="1">
                  <a:latin typeface="Arial" pitchFamily="34" charset="0"/>
                </a:rPr>
                <a:t> </a:t>
              </a:r>
              <a:r>
                <a:rPr lang="en-US" altLang="zh-CN" sz="1800" b="1">
                  <a:latin typeface="Arial" pitchFamily="34" charset="0"/>
                </a:rPr>
                <a:t>T</a:t>
              </a:r>
              <a:r>
                <a:rPr lang="en-US" altLang="zh-CN" sz="1800" b="1" baseline="-25000">
                  <a:latin typeface="Arial" pitchFamily="34" charset="0"/>
                </a:rPr>
                <a:t>1</a:t>
              </a:r>
              <a:endParaRPr lang="en-US" altLang="zh-CN" sz="1800" b="1">
                <a:latin typeface="Arial" pitchFamily="34" charset="0"/>
              </a:endParaRPr>
            </a:p>
          </p:txBody>
        </p:sp>
        <p:sp>
          <p:nvSpPr>
            <p:cNvPr id="8203" name="Oval 7" descr="深色下对角线"/>
            <p:cNvSpPr>
              <a:spLocks noChangeArrowheads="1"/>
            </p:cNvSpPr>
            <p:nvPr/>
          </p:nvSpPr>
          <p:spPr bwMode="auto">
            <a:xfrm>
              <a:off x="4416" y="1056"/>
              <a:ext cx="480" cy="480"/>
            </a:xfrm>
            <a:prstGeom prst="ellipse">
              <a:avLst/>
            </a:prstGeom>
            <a:pattFill prst="dkDnDiag">
              <a:fgClr>
                <a:schemeClr val="tx1"/>
              </a:fgClr>
              <a:bgClr>
                <a:schemeClr val="accent1"/>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Rectangle 8"/>
            <p:cNvSpPr>
              <a:spLocks noChangeArrowheads="1"/>
            </p:cNvSpPr>
            <p:nvPr/>
          </p:nvSpPr>
          <p:spPr bwMode="auto">
            <a:xfrm>
              <a:off x="4512" y="720"/>
              <a:ext cx="144" cy="110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5" name="Rectangle 9"/>
            <p:cNvSpPr>
              <a:spLocks noChangeArrowheads="1"/>
            </p:cNvSpPr>
            <p:nvPr/>
          </p:nvSpPr>
          <p:spPr bwMode="auto">
            <a:xfrm>
              <a:off x="4656" y="720"/>
              <a:ext cx="144" cy="432"/>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6" name="Rectangle 10"/>
            <p:cNvSpPr>
              <a:spLocks noChangeArrowheads="1"/>
            </p:cNvSpPr>
            <p:nvPr/>
          </p:nvSpPr>
          <p:spPr bwMode="auto">
            <a:xfrm>
              <a:off x="4848" y="1248"/>
              <a:ext cx="384" cy="14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AutoShape 11"/>
            <p:cNvSpPr>
              <a:spLocks noChangeArrowheads="1"/>
            </p:cNvSpPr>
            <p:nvPr/>
          </p:nvSpPr>
          <p:spPr bwMode="auto">
            <a:xfrm rot="-1764019">
              <a:off x="4607" y="768"/>
              <a:ext cx="384" cy="720"/>
            </a:xfrm>
            <a:prstGeom prst="moon">
              <a:avLst>
                <a:gd name="adj" fmla="val 50000"/>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p>
          </p:txBody>
        </p:sp>
        <p:sp>
          <p:nvSpPr>
            <p:cNvPr id="8208" name="Rectangle 12"/>
            <p:cNvSpPr>
              <a:spLocks noChangeArrowheads="1"/>
            </p:cNvSpPr>
            <p:nvPr/>
          </p:nvSpPr>
          <p:spPr bwMode="auto">
            <a:xfrm>
              <a:off x="3936" y="1824"/>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b="1">
                  <a:solidFill>
                    <a:srgbClr val="3333FF"/>
                  </a:solidFill>
                  <a:latin typeface="Arial" pitchFamily="34" charset="0"/>
                  <a:ea typeface="楷体_GB2312" pitchFamily="49" charset="-122"/>
                </a:rPr>
                <a:t>低温热源</a:t>
              </a:r>
              <a:r>
                <a:rPr lang="zh-CN" altLang="en-US" sz="1800" b="1">
                  <a:latin typeface="Arial" pitchFamily="34" charset="0"/>
                </a:rPr>
                <a:t> </a:t>
              </a:r>
              <a:r>
                <a:rPr lang="en-US" altLang="zh-CN" sz="1800" b="1">
                  <a:latin typeface="Arial" pitchFamily="34" charset="0"/>
                </a:rPr>
                <a:t>T</a:t>
              </a:r>
              <a:r>
                <a:rPr lang="en-US" altLang="zh-CN" sz="1800" b="1" baseline="-25000">
                  <a:latin typeface="Arial" pitchFamily="34" charset="0"/>
                </a:rPr>
                <a:t>2</a:t>
              </a:r>
              <a:endParaRPr lang="en-US" altLang="zh-CN" sz="1800" b="1">
                <a:latin typeface="Arial" pitchFamily="34" charset="0"/>
              </a:endParaRPr>
            </a:p>
          </p:txBody>
        </p:sp>
        <p:sp>
          <p:nvSpPr>
            <p:cNvPr id="8209" name="Line 13"/>
            <p:cNvSpPr>
              <a:spLocks noChangeShapeType="1"/>
            </p:cNvSpPr>
            <p:nvPr/>
          </p:nvSpPr>
          <p:spPr bwMode="auto">
            <a:xfrm>
              <a:off x="4656" y="720"/>
              <a:ext cx="0" cy="240"/>
            </a:xfrm>
            <a:prstGeom prst="line">
              <a:avLst/>
            </a:prstGeom>
            <a:noFill/>
            <a:ln w="762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0" name="Line 14"/>
            <p:cNvSpPr>
              <a:spLocks noChangeShapeType="1"/>
            </p:cNvSpPr>
            <p:nvPr/>
          </p:nvSpPr>
          <p:spPr bwMode="auto">
            <a:xfrm>
              <a:off x="4560" y="1584"/>
              <a:ext cx="0" cy="240"/>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1" name="Text Box 15"/>
            <p:cNvSpPr txBox="1">
              <a:spLocks noChangeArrowheads="1"/>
            </p:cNvSpPr>
            <p:nvPr/>
          </p:nvSpPr>
          <p:spPr bwMode="auto">
            <a:xfrm>
              <a:off x="4512" y="918"/>
              <a:ext cx="2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a:latin typeface="Arial" pitchFamily="34" charset="0"/>
                </a:rPr>
                <a:t>Q</a:t>
              </a:r>
              <a:r>
                <a:rPr lang="en-US" altLang="zh-CN" sz="1800" b="1" baseline="-25000">
                  <a:latin typeface="Arial" pitchFamily="34" charset="0"/>
                </a:rPr>
                <a:t>1</a:t>
              </a:r>
              <a:endParaRPr lang="en-US" altLang="zh-CN" sz="1800" b="1">
                <a:latin typeface="Arial" pitchFamily="34" charset="0"/>
              </a:endParaRPr>
            </a:p>
          </p:txBody>
        </p:sp>
        <p:sp>
          <p:nvSpPr>
            <p:cNvPr id="8212" name="Text Box 16"/>
            <p:cNvSpPr txBox="1">
              <a:spLocks noChangeArrowheads="1"/>
            </p:cNvSpPr>
            <p:nvPr/>
          </p:nvSpPr>
          <p:spPr bwMode="auto">
            <a:xfrm>
              <a:off x="4416" y="1398"/>
              <a:ext cx="2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a:latin typeface="Arial" pitchFamily="34" charset="0"/>
                </a:rPr>
                <a:t>Q</a:t>
              </a:r>
              <a:r>
                <a:rPr lang="en-US" altLang="zh-CN" sz="1800" b="1" baseline="-25000">
                  <a:latin typeface="Arial" pitchFamily="34" charset="0"/>
                </a:rPr>
                <a:t>2</a:t>
              </a:r>
              <a:endParaRPr lang="en-US" altLang="zh-CN" sz="1800" b="1">
                <a:latin typeface="Arial" pitchFamily="34" charset="0"/>
              </a:endParaRPr>
            </a:p>
          </p:txBody>
        </p:sp>
        <p:sp>
          <p:nvSpPr>
            <p:cNvPr id="8213" name="Line 17"/>
            <p:cNvSpPr>
              <a:spLocks noChangeShapeType="1"/>
            </p:cNvSpPr>
            <p:nvPr/>
          </p:nvSpPr>
          <p:spPr bwMode="auto">
            <a:xfrm>
              <a:off x="5040" y="1296"/>
              <a:ext cx="240" cy="0"/>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4" name="Text Box 18"/>
            <p:cNvSpPr txBox="1">
              <a:spLocks noChangeArrowheads="1"/>
            </p:cNvSpPr>
            <p:nvPr/>
          </p:nvSpPr>
          <p:spPr bwMode="auto">
            <a:xfrm>
              <a:off x="5253" y="1206"/>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a:latin typeface="Arial" pitchFamily="34" charset="0"/>
                </a:rPr>
                <a:t>A</a:t>
              </a:r>
            </a:p>
          </p:txBody>
        </p:sp>
      </p:grpSp>
      <p:sp>
        <p:nvSpPr>
          <p:cNvPr id="102421" name="Text Box 21"/>
          <p:cNvSpPr txBox="1">
            <a:spLocks noChangeArrowheads="1"/>
          </p:cNvSpPr>
          <p:nvPr/>
        </p:nvSpPr>
        <p:spPr bwMode="auto">
          <a:xfrm>
            <a:off x="31750" y="0"/>
            <a:ext cx="23796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a:solidFill>
                  <a:srgbClr val="3333FF"/>
                </a:solidFill>
                <a:ea typeface="楷体_GB2312" pitchFamily="49" charset="-122"/>
              </a:rPr>
              <a:t>3</a:t>
            </a:r>
            <a:r>
              <a:rPr lang="zh-CN" altLang="en-US" sz="2800" b="1">
                <a:solidFill>
                  <a:srgbClr val="3333FF"/>
                </a:solidFill>
                <a:ea typeface="楷体_GB2312" pitchFamily="49" charset="-122"/>
              </a:rPr>
              <a:t>、制冷机</a:t>
            </a:r>
            <a:endParaRPr lang="zh-CN" altLang="en-US" sz="3600" b="1">
              <a:solidFill>
                <a:srgbClr val="FF3300"/>
              </a:solidFill>
              <a:ea typeface="楷体_GB2312" pitchFamily="49" charset="-122"/>
            </a:endParaRPr>
          </a:p>
        </p:txBody>
      </p:sp>
      <p:sp>
        <p:nvSpPr>
          <p:cNvPr id="102422" name="Text Box 22"/>
          <p:cNvSpPr txBox="1">
            <a:spLocks noChangeArrowheads="1"/>
          </p:cNvSpPr>
          <p:nvPr/>
        </p:nvSpPr>
        <p:spPr bwMode="auto">
          <a:xfrm>
            <a:off x="381000" y="533400"/>
            <a:ext cx="6248400"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400" b="1" dirty="0">
                <a:latin typeface="宋体" pitchFamily="2" charset="-122"/>
              </a:rPr>
              <a:t>工作物质作逆循环的机器，称为</a:t>
            </a:r>
            <a:r>
              <a:rPr lang="zh-CN" altLang="en-US" sz="2800" b="1" dirty="0">
                <a:solidFill>
                  <a:srgbClr val="FF3300"/>
                </a:solidFill>
                <a:ea typeface="楷体_GB2312" pitchFamily="49" charset="-122"/>
              </a:rPr>
              <a:t>制冷机</a:t>
            </a:r>
            <a:r>
              <a:rPr lang="zh-CN" altLang="en-US" sz="2400" b="1" dirty="0">
                <a:latin typeface="宋体" pitchFamily="2" charset="-122"/>
              </a:rPr>
              <a:t>，它是</a:t>
            </a:r>
            <a:r>
              <a:rPr lang="zh-CN" altLang="en-US" sz="2400" b="1" dirty="0"/>
              <a:t>把热量从</a:t>
            </a:r>
            <a:r>
              <a:rPr lang="zh-CN" altLang="en-US" sz="2400" b="1" dirty="0">
                <a:solidFill>
                  <a:srgbClr val="FF0000"/>
                </a:solidFill>
              </a:rPr>
              <a:t>低温热源</a:t>
            </a:r>
            <a:r>
              <a:rPr lang="zh-CN" altLang="en-US" sz="2400" b="1" dirty="0"/>
              <a:t>抽到</a:t>
            </a:r>
            <a:r>
              <a:rPr lang="zh-CN" altLang="en-US" sz="2400" b="1" dirty="0">
                <a:solidFill>
                  <a:srgbClr val="FF0000"/>
                </a:solidFill>
              </a:rPr>
              <a:t>高温热源</a:t>
            </a:r>
            <a:r>
              <a:rPr lang="zh-CN" altLang="en-US" sz="2400" b="1" dirty="0"/>
              <a:t>的机器。</a:t>
            </a:r>
          </a:p>
        </p:txBody>
      </p:sp>
      <p:sp>
        <p:nvSpPr>
          <p:cNvPr id="102424" name="Rectangle 24"/>
          <p:cNvSpPr>
            <a:spLocks noChangeArrowheads="1"/>
          </p:cNvSpPr>
          <p:nvPr/>
        </p:nvSpPr>
        <p:spPr bwMode="auto">
          <a:xfrm>
            <a:off x="395288" y="4195763"/>
            <a:ext cx="6624637"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rgbClr val="FF0000"/>
                </a:solidFill>
              </a:rPr>
              <a:t>例如：</a:t>
            </a:r>
            <a:r>
              <a:rPr lang="zh-CN" altLang="en-US" sz="2400" b="1">
                <a:solidFill>
                  <a:schemeClr val="accent2"/>
                </a:solidFill>
              </a:rPr>
              <a:t>电冰箱、空调都属于致冷机。</a:t>
            </a:r>
          </a:p>
        </p:txBody>
      </p:sp>
      <p:sp>
        <p:nvSpPr>
          <p:cNvPr id="102425" name="Text Box 25"/>
          <p:cNvSpPr txBox="1">
            <a:spLocks noChangeArrowheads="1"/>
          </p:cNvSpPr>
          <p:nvPr/>
        </p:nvSpPr>
        <p:spPr bwMode="auto">
          <a:xfrm>
            <a:off x="5292725" y="5445125"/>
            <a:ext cx="3527425"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a:latin typeface="楷体_GB2312" pitchFamily="49" charset="-122"/>
                <a:ea typeface="楷体_GB2312" pitchFamily="49" charset="-122"/>
                <a:sym typeface="Symbol" pitchFamily="18" charset="2"/>
              </a:rPr>
              <a:t>室内空调</a:t>
            </a:r>
            <a:r>
              <a:rPr lang="en-US" altLang="zh-CN" sz="2400" b="1" i="1">
                <a:latin typeface="楷体_GB2312" pitchFamily="49" charset="-122"/>
                <a:ea typeface="楷体_GB2312" pitchFamily="49" charset="-122"/>
                <a:sym typeface="Symbol" pitchFamily="18" charset="2"/>
              </a:rPr>
              <a:t>w</a:t>
            </a:r>
            <a:r>
              <a:rPr lang="zh-CN" altLang="en-US" sz="2400" b="1">
                <a:latin typeface="楷体_GB2312" pitchFamily="49" charset="-122"/>
                <a:ea typeface="楷体_GB2312" pitchFamily="49" charset="-122"/>
                <a:sym typeface="Symbol" pitchFamily="18" charset="2"/>
              </a:rPr>
              <a:t>＝</a:t>
            </a:r>
            <a:r>
              <a:rPr lang="en-US" altLang="zh-CN" sz="2500" b="1">
                <a:latin typeface="楷体_GB2312" pitchFamily="49" charset="-122"/>
                <a:ea typeface="楷体_GB2312" pitchFamily="49" charset="-122"/>
                <a:sym typeface="Symbol" pitchFamily="18" charset="2"/>
              </a:rPr>
              <a:t>2.5</a:t>
            </a:r>
          </a:p>
          <a:p>
            <a:pPr algn="l" eaLnBrk="1" hangingPunct="1"/>
            <a:r>
              <a:rPr lang="zh-CN" altLang="en-US" sz="2500" b="1">
                <a:latin typeface="楷体_GB2312" pitchFamily="49" charset="-122"/>
                <a:ea typeface="楷体_GB2312" pitchFamily="49" charset="-122"/>
                <a:sym typeface="Symbol" pitchFamily="18" charset="2"/>
              </a:rPr>
              <a:t>家用冰箱</a:t>
            </a:r>
            <a:r>
              <a:rPr lang="en-US" altLang="zh-CN" sz="2500" b="1" i="1">
                <a:sym typeface="Symbol" pitchFamily="18" charset="2"/>
              </a:rPr>
              <a:t>w</a:t>
            </a:r>
            <a:r>
              <a:rPr lang="zh-CN" altLang="en-US" sz="2500" b="1">
                <a:sym typeface="Symbol" pitchFamily="18" charset="2"/>
              </a:rPr>
              <a:t>＝</a:t>
            </a:r>
            <a:r>
              <a:rPr lang="en-US" altLang="zh-CN" sz="2500" b="1">
                <a:sym typeface="Symbol" pitchFamily="18" charset="2"/>
              </a:rPr>
              <a:t>5.0</a:t>
            </a:r>
            <a:endParaRPr lang="en-US" altLang="zh-CN" sz="2500" b="1">
              <a:latin typeface="楷体_GB2312" pitchFamily="49" charset="-122"/>
              <a:ea typeface="楷体_GB2312" pitchFamily="49" charset="-122"/>
              <a:sym typeface="Symbol" pitchFamily="18" charset="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21"/>
                                        </p:tgtEl>
                                        <p:attrNameLst>
                                          <p:attrName>style.visibility</p:attrName>
                                        </p:attrNameLst>
                                      </p:cBhvr>
                                      <p:to>
                                        <p:strVal val="visible"/>
                                      </p:to>
                                    </p:set>
                                    <p:animEffect transition="in" filter="wipe(left)">
                                      <p:cBhvr>
                                        <p:cTn id="7" dur="500"/>
                                        <p:tgtEl>
                                          <p:spTgt spid="1024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22"/>
                                        </p:tgtEl>
                                        <p:attrNameLst>
                                          <p:attrName>style.visibility</p:attrName>
                                        </p:attrNameLst>
                                      </p:cBhvr>
                                      <p:to>
                                        <p:strVal val="visible"/>
                                      </p:to>
                                    </p:set>
                                    <p:animEffect transition="in" filter="wipe(left)">
                                      <p:cBhvr>
                                        <p:cTn id="12" dur="500"/>
                                        <p:tgtEl>
                                          <p:spTgt spid="1024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419"/>
                                        </p:tgtEl>
                                        <p:attrNameLst>
                                          <p:attrName>style.visibility</p:attrName>
                                        </p:attrNameLst>
                                      </p:cBhvr>
                                      <p:to>
                                        <p:strVal val="visible"/>
                                      </p:to>
                                    </p:set>
                                    <p:animEffect transition="in" filter="wipe(left)">
                                      <p:cBhvr>
                                        <p:cTn id="17" dur="500"/>
                                        <p:tgtEl>
                                          <p:spTgt spid="1024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02">
                                            <p:txEl>
                                              <p:pRg st="0" end="0"/>
                                            </p:txEl>
                                          </p:spTgt>
                                        </p:tgtEl>
                                        <p:attrNameLst>
                                          <p:attrName>style.visibility</p:attrName>
                                        </p:attrNameLst>
                                      </p:cBhvr>
                                      <p:to>
                                        <p:strVal val="visible"/>
                                      </p:to>
                                    </p:set>
                                    <p:animEffect transition="in" filter="wipe(left)">
                                      <p:cBhvr>
                                        <p:cTn id="22" dur="500"/>
                                        <p:tgtEl>
                                          <p:spTgt spid="102402">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2402">
                                            <p:txEl>
                                              <p:pRg st="1" end="1"/>
                                            </p:txEl>
                                          </p:spTgt>
                                        </p:tgtEl>
                                        <p:attrNameLst>
                                          <p:attrName>style.visibility</p:attrName>
                                        </p:attrNameLst>
                                      </p:cBhvr>
                                      <p:to>
                                        <p:strVal val="visible"/>
                                      </p:to>
                                    </p:set>
                                    <p:animEffect transition="in" filter="wipe(left)">
                                      <p:cBhvr>
                                        <p:cTn id="27" dur="500"/>
                                        <p:tgtEl>
                                          <p:spTgt spid="102402">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2402">
                                            <p:txEl>
                                              <p:pRg st="2" end="2"/>
                                            </p:txEl>
                                          </p:spTgt>
                                        </p:tgtEl>
                                        <p:attrNameLst>
                                          <p:attrName>style.visibility</p:attrName>
                                        </p:attrNameLst>
                                      </p:cBhvr>
                                      <p:to>
                                        <p:strVal val="visible"/>
                                      </p:to>
                                    </p:set>
                                    <p:animEffect transition="in" filter="wipe(left)">
                                      <p:cBhvr>
                                        <p:cTn id="32" dur="500"/>
                                        <p:tgtEl>
                                          <p:spTgt spid="102402">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02424"/>
                                        </p:tgtEl>
                                        <p:attrNameLst>
                                          <p:attrName>style.visibility</p:attrName>
                                        </p:attrNameLst>
                                      </p:cBhvr>
                                      <p:to>
                                        <p:strVal val="visible"/>
                                      </p:to>
                                    </p:set>
                                    <p:animEffect transition="in" filter="wipe(down)">
                                      <p:cBhvr>
                                        <p:cTn id="37" dur="500"/>
                                        <p:tgtEl>
                                          <p:spTgt spid="10242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2403">
                                            <p:txEl>
                                              <p:pRg st="0" end="0"/>
                                            </p:txEl>
                                          </p:spTgt>
                                        </p:tgtEl>
                                        <p:attrNameLst>
                                          <p:attrName>style.visibility</p:attrName>
                                        </p:attrNameLst>
                                      </p:cBhvr>
                                      <p:to>
                                        <p:strVal val="visible"/>
                                      </p:to>
                                    </p:set>
                                    <p:animEffect transition="in" filter="wipe(left)">
                                      <p:cBhvr>
                                        <p:cTn id="42" dur="500"/>
                                        <p:tgtEl>
                                          <p:spTgt spid="102403">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02404"/>
                                        </p:tgtEl>
                                        <p:attrNameLst>
                                          <p:attrName>style.visibility</p:attrName>
                                        </p:attrNameLst>
                                      </p:cBhvr>
                                      <p:to>
                                        <p:strVal val="visible"/>
                                      </p:to>
                                    </p:set>
                                    <p:animEffect transition="in" filter="wipe(left)">
                                      <p:cBhvr>
                                        <p:cTn id="47" dur="500"/>
                                        <p:tgtEl>
                                          <p:spTgt spid="10240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2425">
                                            <p:txEl>
                                              <p:pRg st="0" end="0"/>
                                            </p:txEl>
                                          </p:spTgt>
                                        </p:tgtEl>
                                        <p:attrNameLst>
                                          <p:attrName>style.visibility</p:attrName>
                                        </p:attrNameLst>
                                      </p:cBhvr>
                                      <p:to>
                                        <p:strVal val="visible"/>
                                      </p:to>
                                    </p:set>
                                    <p:animEffect transition="in" filter="wipe(left)">
                                      <p:cBhvr>
                                        <p:cTn id="52" dur="500"/>
                                        <p:tgtEl>
                                          <p:spTgt spid="102425">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2425">
                                            <p:txEl>
                                              <p:pRg st="1" end="1"/>
                                            </p:txEl>
                                          </p:spTgt>
                                        </p:tgtEl>
                                        <p:attrNameLst>
                                          <p:attrName>style.visibility</p:attrName>
                                        </p:attrNameLst>
                                      </p:cBhvr>
                                      <p:to>
                                        <p:strVal val="visible"/>
                                      </p:to>
                                    </p:set>
                                    <p:animEffect transition="in" filter="wipe(left)">
                                      <p:cBhvr>
                                        <p:cTn id="57" dur="500"/>
                                        <p:tgtEl>
                                          <p:spTgt spid="1024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build="p" bldLvl="2" autoUpdateAnimBg="0"/>
      <p:bldP spid="102403" grpId="0" build="p" bldLvl="2" autoUpdateAnimBg="0"/>
      <p:bldP spid="102421" grpId="0" autoUpdateAnimBg="0"/>
      <p:bldP spid="102422" grpId="0" autoUpdateAnimBg="0"/>
      <p:bldP spid="102424" grpId="0"/>
      <p:bldP spid="102425" grpId="0" build="p" bldLvl="2"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5963" name="Object 11"/>
          <p:cNvGraphicFramePr>
            <a:graphicFrameLocks noChangeAspect="1"/>
          </p:cNvGraphicFramePr>
          <p:nvPr>
            <p:extLst>
              <p:ext uri="{D42A27DB-BD31-4B8C-83A1-F6EECF244321}">
                <p14:modId xmlns:p14="http://schemas.microsoft.com/office/powerpoint/2010/main" val="1329370160"/>
              </p:ext>
            </p:extLst>
          </p:nvPr>
        </p:nvGraphicFramePr>
        <p:xfrm>
          <a:off x="1558451" y="1162347"/>
          <a:ext cx="6027098" cy="4498678"/>
        </p:xfrm>
        <a:graphic>
          <a:graphicData uri="http://schemas.openxmlformats.org/presentationml/2006/ole">
            <mc:AlternateContent xmlns:mc="http://schemas.openxmlformats.org/markup-compatibility/2006">
              <mc:Choice xmlns:v="urn:schemas-microsoft-com:vml" Requires="v">
                <p:oleObj spid="_x0000_s9376" name="Slide" r:id="rId4" imgW="4103677" imgH="3078611" progId="PowerPoint.Slide.8">
                  <p:embed/>
                </p:oleObj>
              </mc:Choice>
              <mc:Fallback>
                <p:oleObj name="Slide" r:id="rId4" imgW="4103677" imgH="3078611" progId="PowerPoint.Slide.8">
                  <p:embed/>
                  <p:pic>
                    <p:nvPicPr>
                      <p:cNvPr id="0" name="Object 11"/>
                      <p:cNvPicPr>
                        <a:picLocks noChangeAspect="1" noChangeArrowheads="1"/>
                      </p:cNvPicPr>
                      <p:nvPr/>
                    </p:nvPicPr>
                    <p:blipFill>
                      <a:blip r:embed="rId5"/>
                      <a:srcRect/>
                      <a:stretch>
                        <a:fillRect/>
                      </a:stretch>
                    </p:blipFill>
                    <p:spPr bwMode="auto">
                      <a:xfrm>
                        <a:off x="1558451" y="1162347"/>
                        <a:ext cx="6027098" cy="4498678"/>
                      </a:xfrm>
                      <a:prstGeom prst="rect">
                        <a:avLst/>
                      </a:prstGeom>
                      <a:noFill/>
                      <a:ln>
                        <a:noFill/>
                      </a:ln>
                      <a:effectLst/>
                      <a:extLst/>
                    </p:spPr>
                  </p:pic>
                </p:oleObj>
              </mc:Fallback>
            </mc:AlternateContent>
          </a:graphicData>
        </a:graphic>
      </p:graphicFrame>
      <p:sp>
        <p:nvSpPr>
          <p:cNvPr id="125956" name="Rectangle 4"/>
          <p:cNvSpPr>
            <a:spLocks noChangeArrowheads="1"/>
          </p:cNvSpPr>
          <p:nvPr/>
        </p:nvSpPr>
        <p:spPr bwMode="auto">
          <a:xfrm>
            <a:off x="395288" y="5661025"/>
            <a:ext cx="8280400" cy="10064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a:t> </a:t>
            </a:r>
            <a:r>
              <a:rPr lang="zh-CN" altLang="en-US" b="1"/>
              <a:t>电冰箱的工作物质为氟里昂 </a:t>
            </a:r>
            <a:r>
              <a:rPr lang="en-US" altLang="zh-CN"/>
              <a:t>12 (CCl</a:t>
            </a:r>
            <a:r>
              <a:rPr lang="en-US" altLang="zh-CN" baseline="-25000"/>
              <a:t>2</a:t>
            </a:r>
            <a:r>
              <a:rPr lang="en-US" altLang="zh-CN"/>
              <a:t>F</a:t>
            </a:r>
            <a:r>
              <a:rPr lang="en-US" altLang="zh-CN" baseline="-25000"/>
              <a:t>2</a:t>
            </a:r>
            <a:r>
              <a:rPr lang="en-US" altLang="zh-CN"/>
              <a:t>)</a:t>
            </a:r>
            <a:r>
              <a:rPr lang="zh-CN" altLang="en-US" b="1"/>
              <a:t>，氟里昂对大气的臭氧层有破坏的作用，</a:t>
            </a:r>
            <a:r>
              <a:rPr lang="en-US" altLang="zh-CN"/>
              <a:t>2005 </a:t>
            </a:r>
            <a:r>
              <a:rPr lang="zh-CN" altLang="en-US" b="1"/>
              <a:t>年我国将停止使用氟里昂作致冷剂。以保护臭氧层。溴化锂致冷和半导体致冷已进入市场。</a:t>
            </a:r>
          </a:p>
        </p:txBody>
      </p:sp>
      <p:sp>
        <p:nvSpPr>
          <p:cNvPr id="125962" name="Rectangle 10"/>
          <p:cNvSpPr>
            <a:spLocks noChangeArrowheads="1"/>
          </p:cNvSpPr>
          <p:nvPr/>
        </p:nvSpPr>
        <p:spPr bwMode="auto">
          <a:xfrm>
            <a:off x="250825" y="260350"/>
            <a:ext cx="3457575"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solidFill>
                  <a:schemeClr val="accent2"/>
                </a:solidFill>
              </a:rPr>
              <a:t>4.</a:t>
            </a:r>
            <a:r>
              <a:rPr lang="zh-CN" altLang="en-US" sz="2800" b="1">
                <a:solidFill>
                  <a:schemeClr val="accent2"/>
                </a:solidFill>
              </a:rPr>
              <a:t>电冰箱工作原理</a:t>
            </a: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endParaRPr lang="zh-CN" altLang="zh-CN"/>
          </a:p>
        </p:txBody>
      </p:sp>
      <p:sp>
        <p:nvSpPr>
          <p:cNvPr id="10243" name="Rectangle 3"/>
          <p:cNvSpPr>
            <a:spLocks noGrp="1" noChangeArrowheads="1"/>
          </p:cNvSpPr>
          <p:nvPr>
            <p:ph type="body" idx="1"/>
          </p:nvPr>
        </p:nvSpPr>
        <p:spPr>
          <a:xfrm>
            <a:off x="58077" y="4941168"/>
            <a:ext cx="8890377" cy="1556792"/>
          </a:xfrm>
        </p:spPr>
        <p:txBody>
          <a:bodyPr/>
          <a:lstStyle/>
          <a:p>
            <a:pPr eaLnBrk="1" hangingPunct="1"/>
            <a:r>
              <a:rPr lang="zh-CN" altLang="en-US" sz="2000" b="1"/>
              <a:t>冰箱工作的原理是压缩过程，通过压缩机</a:t>
            </a:r>
            <a:r>
              <a:rPr lang="en-US" altLang="zh-CN" sz="2000" b="1">
                <a:solidFill>
                  <a:srgbClr val="FF0000"/>
                </a:solidFill>
              </a:rPr>
              <a:t>E</a:t>
            </a:r>
            <a:r>
              <a:rPr lang="zh-CN" altLang="en-US" sz="2000" b="1"/>
              <a:t>将低温、低压的制冷剂压缩成高温、高压的过热气体，然后通过冷凝器</a:t>
            </a:r>
            <a:r>
              <a:rPr lang="en-US" altLang="zh-CN" sz="2000" b="1">
                <a:solidFill>
                  <a:srgbClr val="FF0000"/>
                </a:solidFill>
              </a:rPr>
              <a:t>B</a:t>
            </a:r>
            <a:r>
              <a:rPr lang="zh-CN" altLang="en-US" sz="2000" b="1"/>
              <a:t>散发热量，变成高温高压的过热气体，通过节流阀</a:t>
            </a:r>
            <a:r>
              <a:rPr lang="en-US" altLang="zh-CN" sz="2000" b="1">
                <a:solidFill>
                  <a:srgbClr val="FF0000"/>
                </a:solidFill>
              </a:rPr>
              <a:t>C</a:t>
            </a:r>
            <a:r>
              <a:rPr lang="zh-CN" altLang="en-US" sz="2000" b="1"/>
              <a:t>膨胀降温，最后通过蒸发器吸收冷库</a:t>
            </a:r>
            <a:r>
              <a:rPr lang="en-US" altLang="zh-CN" sz="2000" b="1">
                <a:solidFill>
                  <a:srgbClr val="FF0000"/>
                </a:solidFill>
              </a:rPr>
              <a:t>D</a:t>
            </a:r>
            <a:r>
              <a:rPr lang="zh-CN" altLang="en-US" sz="2000" b="1"/>
              <a:t>内的热量，实现冷藏的功能。</a:t>
            </a:r>
            <a:endParaRPr lang="zh-CN" altLang="zh-CN" sz="2000" b="1"/>
          </a:p>
        </p:txBody>
      </p:sp>
      <p:grpSp>
        <p:nvGrpSpPr>
          <p:cNvPr id="4" name="组合 3">
            <a:extLst>
              <a:ext uri="{FF2B5EF4-FFF2-40B4-BE49-F238E27FC236}">
                <a16:creationId xmlns:a16="http://schemas.microsoft.com/office/drawing/2014/main" id="{5EB2858E-CE2D-40D2-A612-C88DF553F0AA}"/>
              </a:ext>
            </a:extLst>
          </p:cNvPr>
          <p:cNvGrpSpPr/>
          <p:nvPr/>
        </p:nvGrpSpPr>
        <p:grpSpPr>
          <a:xfrm>
            <a:off x="253622" y="30863"/>
            <a:ext cx="8710866" cy="6638498"/>
            <a:chOff x="253622" y="30862"/>
            <a:chExt cx="8215978" cy="6646103"/>
          </a:xfrm>
        </p:grpSpPr>
        <p:pic>
          <p:nvPicPr>
            <p:cNvPr id="10244" name="Picture 8">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637" y="30862"/>
              <a:ext cx="8208963"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descr="nxh">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622" y="30862"/>
              <a:ext cx="5543550" cy="415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58CCB19C-0B32-4541-80AE-539CC0291746}"/>
                </a:ext>
              </a:extLst>
            </p:cNvPr>
            <p:cNvSpPr/>
            <p:nvPr/>
          </p:nvSpPr>
          <p:spPr>
            <a:xfrm>
              <a:off x="2687737" y="6092190"/>
              <a:ext cx="3480441" cy="584775"/>
            </a:xfrm>
            <a:prstGeom prst="rect">
              <a:avLst/>
            </a:prstGeom>
          </p:spPr>
          <p:txBody>
            <a:bodyPr wrap="none">
              <a:spAutoFit/>
            </a:bodyPr>
            <a:lstStyle/>
            <a:p>
              <a:r>
                <a:rPr lang="zh-CN" altLang="en-US" sz="3200" b="1">
                  <a:solidFill>
                    <a:schemeClr val="accent2"/>
                  </a:solidFill>
                </a:rPr>
                <a:t>电冰箱的工作原理</a:t>
              </a:r>
              <a:endParaRPr lang="zh-CN" altLang="en-US" sz="3200"/>
            </a:p>
          </p:txBody>
        </p:sp>
      </p:gr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43" name="Text Box 11"/>
          <p:cNvSpPr txBox="1">
            <a:spLocks noChangeArrowheads="1"/>
          </p:cNvSpPr>
          <p:nvPr/>
        </p:nvSpPr>
        <p:spPr bwMode="auto">
          <a:xfrm>
            <a:off x="136525" y="90488"/>
            <a:ext cx="6811963" cy="519112"/>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sz="3200" b="1">
                <a:solidFill>
                  <a:schemeClr val="folHlink"/>
                </a:solidFill>
                <a:latin typeface="Arial" pitchFamily="34" charset="0"/>
                <a:ea typeface="楷体_GB2312" pitchFamily="49" charset="-122"/>
              </a:rPr>
              <a:t>三、卡诺循环（</a:t>
            </a:r>
            <a:r>
              <a:rPr lang="en-US" altLang="zh-CN" sz="3200" b="1">
                <a:solidFill>
                  <a:schemeClr val="folHlink"/>
                </a:solidFill>
                <a:latin typeface="Arial" pitchFamily="34" charset="0"/>
                <a:ea typeface="楷体_GB2312" pitchFamily="49" charset="-122"/>
              </a:rPr>
              <a:t>Carnot cycle</a:t>
            </a:r>
            <a:r>
              <a:rPr lang="zh-CN" altLang="en-US" sz="3200" b="1">
                <a:solidFill>
                  <a:schemeClr val="folHlink"/>
                </a:solidFill>
                <a:latin typeface="Arial" pitchFamily="34" charset="0"/>
                <a:ea typeface="楷体_GB2312" pitchFamily="49" charset="-122"/>
              </a:rPr>
              <a:t>）</a:t>
            </a:r>
          </a:p>
        </p:txBody>
      </p:sp>
      <p:sp>
        <p:nvSpPr>
          <p:cNvPr id="95245" name="Text Box 13"/>
          <p:cNvSpPr txBox="1">
            <a:spLocks noChangeArrowheads="1"/>
          </p:cNvSpPr>
          <p:nvPr/>
        </p:nvSpPr>
        <p:spPr bwMode="auto">
          <a:xfrm>
            <a:off x="2438400" y="674688"/>
            <a:ext cx="6705600" cy="2436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200" b="1"/>
              <a:t>法国工程师、热力学的创始人之一。 他创造性地用“理想实验”的思维方法，提出了最简单、但有重要理论意义的热机循环</a:t>
            </a:r>
            <a:r>
              <a:rPr lang="en-US" altLang="zh-CN" sz="2200" b="1"/>
              <a:t>——</a:t>
            </a:r>
            <a:r>
              <a:rPr lang="zh-CN" altLang="en-US" sz="2200" b="1">
                <a:solidFill>
                  <a:srgbClr val="3333FF"/>
                </a:solidFill>
                <a:ea typeface="楷体_GB2312" pitchFamily="49" charset="-122"/>
              </a:rPr>
              <a:t>卡诺循环</a:t>
            </a:r>
            <a:r>
              <a:rPr lang="zh-CN" altLang="en-US" sz="2200" b="1"/>
              <a:t>，创造了一部理想的热机</a:t>
            </a:r>
            <a:r>
              <a:rPr lang="en-US" altLang="zh-CN" sz="2200" b="1"/>
              <a:t>——</a:t>
            </a:r>
            <a:r>
              <a:rPr lang="zh-CN" altLang="en-US" sz="2200" b="1"/>
              <a:t>卡诺热机。</a:t>
            </a:r>
            <a:r>
              <a:rPr lang="en-US" altLang="zh-CN" sz="2200" b="1"/>
              <a:t>1824</a:t>
            </a:r>
            <a:r>
              <a:rPr lang="zh-CN" altLang="en-US" sz="2200" b="1"/>
              <a:t>年卡诺提出了对热机设计具有普遍指导意义的卡诺定理，指出了提高热机效率的有效途径，揭示了热力学的不可逆性，被后人认为是热力学第二定律的先驱。 </a:t>
            </a:r>
          </a:p>
        </p:txBody>
      </p:sp>
      <p:sp>
        <p:nvSpPr>
          <p:cNvPr id="95251" name="Line 19"/>
          <p:cNvSpPr>
            <a:spLocks noChangeShapeType="1"/>
          </p:cNvSpPr>
          <p:nvPr/>
        </p:nvSpPr>
        <p:spPr bwMode="auto">
          <a:xfrm>
            <a:off x="0" y="609600"/>
            <a:ext cx="9144000"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2" name="Text Box 20"/>
          <p:cNvSpPr txBox="1">
            <a:spLocks noChangeArrowheads="1"/>
          </p:cNvSpPr>
          <p:nvPr/>
        </p:nvSpPr>
        <p:spPr bwMode="auto">
          <a:xfrm>
            <a:off x="228600" y="3962400"/>
            <a:ext cx="518160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just" eaLnBrk="1" hangingPunct="1">
              <a:buFontTx/>
              <a:buChar char="•"/>
            </a:pPr>
            <a:r>
              <a:rPr lang="zh-CN" altLang="en-US" sz="2200" b="1">
                <a:solidFill>
                  <a:srgbClr val="FF3300"/>
                </a:solidFill>
                <a:ea typeface="楷体_GB2312" pitchFamily="49" charset="-122"/>
              </a:rPr>
              <a:t>概念：</a:t>
            </a:r>
            <a:r>
              <a:rPr lang="zh-CN" altLang="en-US" sz="2200" b="1"/>
              <a:t>卡诺循环过程由</a:t>
            </a:r>
            <a:r>
              <a:rPr lang="zh-CN" altLang="en-US" sz="2200" b="1">
                <a:solidFill>
                  <a:srgbClr val="FF3300"/>
                </a:solidFill>
                <a:ea typeface="楷体_GB2312" pitchFamily="49" charset="-122"/>
              </a:rPr>
              <a:t>四个准静态过程</a:t>
            </a:r>
            <a:r>
              <a:rPr lang="zh-CN" altLang="en-US" sz="2200" b="1"/>
              <a:t>组成</a:t>
            </a:r>
            <a:r>
              <a:rPr lang="zh-CN" altLang="en-US" sz="2200" b="1">
                <a:solidFill>
                  <a:srgbClr val="FF3300"/>
                </a:solidFill>
                <a:ea typeface="楷体_GB2312" pitchFamily="49" charset="-122"/>
              </a:rPr>
              <a:t>，</a:t>
            </a:r>
            <a:r>
              <a:rPr lang="zh-CN" altLang="en-US" sz="2200" b="1"/>
              <a:t>其中</a:t>
            </a:r>
            <a:r>
              <a:rPr lang="zh-CN" altLang="en-US" sz="2200" b="1">
                <a:solidFill>
                  <a:srgbClr val="FF3300"/>
                </a:solidFill>
                <a:ea typeface="楷体_GB2312" pitchFamily="49" charset="-122"/>
              </a:rPr>
              <a:t>两个是等温过程</a:t>
            </a:r>
            <a:r>
              <a:rPr lang="zh-CN" altLang="en-US" sz="2200" b="1"/>
              <a:t>和</a:t>
            </a:r>
            <a:r>
              <a:rPr lang="zh-CN" altLang="en-US" sz="2200" b="1">
                <a:solidFill>
                  <a:srgbClr val="FF3300"/>
                </a:solidFill>
                <a:ea typeface="楷体_GB2312" pitchFamily="49" charset="-122"/>
              </a:rPr>
              <a:t>两个是绝热过程</a:t>
            </a:r>
            <a:r>
              <a:rPr lang="zh-CN" altLang="en-US" sz="2200" b="1"/>
              <a:t>组成。卡诺循环是一种理想化的模型。</a:t>
            </a:r>
            <a:endParaRPr lang="zh-CN" altLang="en-US" sz="2200" b="1">
              <a:latin typeface="楷体_GB2312" pitchFamily="49" charset="-122"/>
              <a:ea typeface="楷体_GB2312" pitchFamily="49" charset="-122"/>
            </a:endParaRPr>
          </a:p>
        </p:txBody>
      </p:sp>
      <p:sp>
        <p:nvSpPr>
          <p:cNvPr id="95253" name="Text Box 21"/>
          <p:cNvSpPr txBox="1">
            <a:spLocks noChangeArrowheads="1"/>
          </p:cNvSpPr>
          <p:nvPr/>
        </p:nvSpPr>
        <p:spPr bwMode="auto">
          <a:xfrm>
            <a:off x="0" y="5445125"/>
            <a:ext cx="845185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FontTx/>
              <a:buChar char="•"/>
            </a:pPr>
            <a:r>
              <a:rPr lang="zh-CN" altLang="en-US" sz="2800" b="1">
                <a:solidFill>
                  <a:srgbClr val="FF3300"/>
                </a:solidFill>
                <a:ea typeface="楷体_GB2312" pitchFamily="49" charset="-122"/>
              </a:rPr>
              <a:t>分类</a:t>
            </a:r>
            <a:endParaRPr lang="zh-CN" altLang="en-US" sz="2400" b="1">
              <a:latin typeface="宋体" pitchFamily="2" charset="-122"/>
            </a:endParaRPr>
          </a:p>
          <a:p>
            <a:pPr lvl="1" algn="just" eaLnBrk="1" hangingPunct="1"/>
            <a:r>
              <a:rPr lang="zh-CN" altLang="en-US" sz="2400" b="1">
                <a:latin typeface="宋体" pitchFamily="2" charset="-122"/>
              </a:rPr>
              <a:t>正循环</a:t>
            </a:r>
            <a:r>
              <a:rPr lang="en-US" altLang="zh-CN" sz="2400" b="1"/>
              <a:t>——</a:t>
            </a:r>
            <a:r>
              <a:rPr lang="zh-CN" altLang="en-US" sz="2800" b="1">
                <a:solidFill>
                  <a:srgbClr val="FF3300"/>
                </a:solidFill>
                <a:ea typeface="楷体_GB2312" pitchFamily="49" charset="-122"/>
              </a:rPr>
              <a:t>卡诺热机</a:t>
            </a:r>
            <a:r>
              <a:rPr lang="en-US" altLang="zh-CN" sz="2800" b="1">
                <a:solidFill>
                  <a:srgbClr val="FF3300"/>
                </a:solidFill>
                <a:ea typeface="楷体_GB2312" pitchFamily="49" charset="-122"/>
              </a:rPr>
              <a:t>(Carnot engin)</a:t>
            </a:r>
          </a:p>
          <a:p>
            <a:pPr lvl="1" algn="just" eaLnBrk="1" hangingPunct="1"/>
            <a:r>
              <a:rPr lang="en-US" altLang="zh-CN" sz="2800" b="1">
                <a:solidFill>
                  <a:srgbClr val="FF3300"/>
                </a:solidFill>
                <a:ea typeface="楷体_GB2312" pitchFamily="49" charset="-122"/>
              </a:rPr>
              <a:t> </a:t>
            </a:r>
            <a:r>
              <a:rPr lang="zh-CN" altLang="en-US" sz="2400" b="1"/>
              <a:t>逆循环</a:t>
            </a:r>
            <a:r>
              <a:rPr lang="en-US" altLang="zh-CN" sz="2400" b="1"/>
              <a:t>——</a:t>
            </a:r>
            <a:r>
              <a:rPr lang="zh-CN" altLang="en-US" sz="2800" b="1">
                <a:solidFill>
                  <a:srgbClr val="FF3300"/>
                </a:solidFill>
                <a:ea typeface="楷体_GB2312" pitchFamily="49" charset="-122"/>
              </a:rPr>
              <a:t>卡诺制冷机</a:t>
            </a:r>
            <a:r>
              <a:rPr lang="en-US" altLang="zh-CN" sz="2800" b="1">
                <a:solidFill>
                  <a:srgbClr val="FF3300"/>
                </a:solidFill>
                <a:ea typeface="楷体_GB2312" pitchFamily="49" charset="-122"/>
              </a:rPr>
              <a:t>(Carnot refrigerator)</a:t>
            </a:r>
          </a:p>
        </p:txBody>
      </p:sp>
      <p:sp>
        <p:nvSpPr>
          <p:cNvPr id="95254" name="Text Box 22"/>
          <p:cNvSpPr txBox="1">
            <a:spLocks noChangeArrowheads="1"/>
          </p:cNvSpPr>
          <p:nvPr/>
        </p:nvSpPr>
        <p:spPr bwMode="auto">
          <a:xfrm>
            <a:off x="76200" y="3581400"/>
            <a:ext cx="2155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a:solidFill>
                  <a:srgbClr val="3333FF"/>
                </a:solidFill>
                <a:ea typeface="楷体_GB2312" pitchFamily="49" charset="-122"/>
              </a:rPr>
              <a:t>1</a:t>
            </a:r>
            <a:r>
              <a:rPr lang="zh-CN" altLang="en-US" sz="2800" b="1">
                <a:solidFill>
                  <a:srgbClr val="3333FF"/>
                </a:solidFill>
                <a:ea typeface="楷体_GB2312" pitchFamily="49" charset="-122"/>
              </a:rPr>
              <a:t>、卡诺循环</a:t>
            </a:r>
            <a:endParaRPr lang="zh-CN" altLang="en-US" sz="2800" b="1">
              <a:solidFill>
                <a:srgbClr val="0033CC"/>
              </a:solidFill>
              <a:latin typeface="楷体_GB2312" pitchFamily="49" charset="-122"/>
              <a:ea typeface="楷体_GB2312" pitchFamily="49" charset="-122"/>
            </a:endParaRPr>
          </a:p>
        </p:txBody>
      </p:sp>
      <p:pic>
        <p:nvPicPr>
          <p:cNvPr id="95256" name="Picture 24" descr="carnotcycle.gif (198671 bytes)">
            <a:hlinkClick r:id="rId2" action="ppaction://hlinkfile"/>
          </p:cNvPr>
          <p:cNvPicPr>
            <a:picLocks noChangeAspect="1" noChangeArrowheads="1" noCrop="1"/>
          </p:cNvPicPr>
          <p:nvPr/>
        </p:nvPicPr>
        <p:blipFill>
          <a:blip r:embed="rId3">
            <a:lum bright="18000" contrast="70000"/>
            <a:extLst>
              <a:ext uri="{28A0092B-C50C-407E-A947-70E740481C1C}">
                <a14:useLocalDpi xmlns:a14="http://schemas.microsoft.com/office/drawing/2010/main" val="0"/>
              </a:ext>
            </a:extLst>
          </a:blip>
          <a:srcRect/>
          <a:stretch>
            <a:fillRect/>
          </a:stretch>
        </p:blipFill>
        <p:spPr bwMode="auto">
          <a:xfrm>
            <a:off x="5607050" y="3213100"/>
            <a:ext cx="3429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22p6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275170" y="702698"/>
            <a:ext cx="1757883" cy="2878702"/>
          </a:xfrm>
          <a:prstGeom prst="rect">
            <a:avLst/>
          </a:prstGeom>
        </p:spPr>
      </p:pic>
      <p:sp>
        <p:nvSpPr>
          <p:cNvPr id="2" name="矩形 1"/>
          <p:cNvSpPr/>
          <p:nvPr/>
        </p:nvSpPr>
        <p:spPr>
          <a:xfrm>
            <a:off x="2232025" y="3181290"/>
            <a:ext cx="1401346" cy="400110"/>
          </a:xfrm>
          <a:prstGeom prst="rect">
            <a:avLst/>
          </a:prstGeom>
          <a:solidFill>
            <a:schemeClr val="bg1"/>
          </a:solidFill>
          <a:ln w="38100">
            <a:solidFill>
              <a:schemeClr val="tx1"/>
            </a:solidFill>
          </a:ln>
        </p:spPr>
        <p:txBody>
          <a:bodyPr wrap="none">
            <a:spAutoFit/>
          </a:bodyPr>
          <a:lstStyle/>
          <a:p>
            <a:r>
              <a:rPr lang="en-US" altLang="zh-CN" dirty="0" err="1">
                <a:solidFill>
                  <a:srgbClr val="FF0000"/>
                </a:solidFill>
              </a:rPr>
              <a:t>Sadi</a:t>
            </a:r>
            <a:r>
              <a:rPr lang="en-US" altLang="zh-CN" dirty="0">
                <a:solidFill>
                  <a:srgbClr val="FF0000"/>
                </a:solidFill>
              </a:rPr>
              <a:t> Carnot</a:t>
            </a:r>
            <a:endParaRPr lang="zh-CN" altLang="en-US" dirty="0">
              <a:solidFill>
                <a:srgbClr val="FF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243"/>
                                        </p:tgtEl>
                                        <p:attrNameLst>
                                          <p:attrName>style.visibility</p:attrName>
                                        </p:attrNameLst>
                                      </p:cBhvr>
                                      <p:to>
                                        <p:strVal val="visible"/>
                                      </p:to>
                                    </p:set>
                                    <p:animEffect transition="in" filter="wipe(left)">
                                      <p:cBhvr>
                                        <p:cTn id="7" dur="500"/>
                                        <p:tgtEl>
                                          <p:spTgt spid="95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251"/>
                                        </p:tgtEl>
                                        <p:attrNameLst>
                                          <p:attrName>style.visibility</p:attrName>
                                        </p:attrNameLst>
                                      </p:cBhvr>
                                      <p:to>
                                        <p:strVal val="visible"/>
                                      </p:to>
                                    </p:set>
                                    <p:animEffect transition="in" filter="wipe(left)">
                                      <p:cBhvr>
                                        <p:cTn id="12" dur="500"/>
                                        <p:tgtEl>
                                          <p:spTgt spid="952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95245"/>
                                        </p:tgtEl>
                                        <p:attrNameLst>
                                          <p:attrName>style.visibility</p:attrName>
                                        </p:attrNameLst>
                                      </p:cBhvr>
                                      <p:to>
                                        <p:strVal val="visible"/>
                                      </p:to>
                                    </p:set>
                                    <p:animEffect transition="in" filter="wipe(left)">
                                      <p:cBhvr>
                                        <p:cTn id="17" dur="75"/>
                                        <p:tgtEl>
                                          <p:spTgt spid="952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5254"/>
                                        </p:tgtEl>
                                        <p:attrNameLst>
                                          <p:attrName>style.visibility</p:attrName>
                                        </p:attrNameLst>
                                      </p:cBhvr>
                                      <p:to>
                                        <p:strVal val="visible"/>
                                      </p:to>
                                    </p:set>
                                    <p:animEffect transition="in" filter="wipe(left)">
                                      <p:cBhvr>
                                        <p:cTn id="22" dur="500"/>
                                        <p:tgtEl>
                                          <p:spTgt spid="952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5256"/>
                                        </p:tgtEl>
                                        <p:attrNameLst>
                                          <p:attrName>style.visibility</p:attrName>
                                        </p:attrNameLst>
                                      </p:cBhvr>
                                      <p:to>
                                        <p:strVal val="visible"/>
                                      </p:to>
                                    </p:set>
                                    <p:animEffect transition="in" filter="wipe(left)">
                                      <p:cBhvr>
                                        <p:cTn id="27" dur="500"/>
                                        <p:tgtEl>
                                          <p:spTgt spid="9525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95252">
                                            <p:txEl>
                                              <p:pRg st="0" end="0"/>
                                            </p:txEl>
                                          </p:spTgt>
                                        </p:tgtEl>
                                        <p:attrNameLst>
                                          <p:attrName>style.visibility</p:attrName>
                                        </p:attrNameLst>
                                      </p:cBhvr>
                                      <p:to>
                                        <p:strVal val="visible"/>
                                      </p:to>
                                    </p:set>
                                    <p:animEffect transition="in" filter="wipe(left)">
                                      <p:cBhvr>
                                        <p:cTn id="32" dur="75"/>
                                        <p:tgtEl>
                                          <p:spTgt spid="95252">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95253">
                                            <p:txEl>
                                              <p:pRg st="0" end="0"/>
                                            </p:txEl>
                                          </p:spTgt>
                                        </p:tgtEl>
                                        <p:attrNameLst>
                                          <p:attrName>style.visibility</p:attrName>
                                        </p:attrNameLst>
                                      </p:cBhvr>
                                      <p:to>
                                        <p:strVal val="visible"/>
                                      </p:to>
                                    </p:set>
                                    <p:animEffect transition="in" filter="wipe(left)">
                                      <p:cBhvr>
                                        <p:cTn id="37" dur="75"/>
                                        <p:tgtEl>
                                          <p:spTgt spid="95253">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95253">
                                            <p:txEl>
                                              <p:pRg st="1" end="1"/>
                                            </p:txEl>
                                          </p:spTgt>
                                        </p:tgtEl>
                                        <p:attrNameLst>
                                          <p:attrName>style.visibility</p:attrName>
                                        </p:attrNameLst>
                                      </p:cBhvr>
                                      <p:to>
                                        <p:strVal val="visible"/>
                                      </p:to>
                                    </p:set>
                                    <p:animEffect transition="in" filter="wipe(left)">
                                      <p:cBhvr>
                                        <p:cTn id="42" dur="75"/>
                                        <p:tgtEl>
                                          <p:spTgt spid="95253">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95253">
                                            <p:txEl>
                                              <p:pRg st="2" end="2"/>
                                            </p:txEl>
                                          </p:spTgt>
                                        </p:tgtEl>
                                        <p:attrNameLst>
                                          <p:attrName>style.visibility</p:attrName>
                                        </p:attrNameLst>
                                      </p:cBhvr>
                                      <p:to>
                                        <p:strVal val="visible"/>
                                      </p:to>
                                    </p:set>
                                    <p:animEffect transition="in" filter="wipe(left)">
                                      <p:cBhvr>
                                        <p:cTn id="47" dur="75"/>
                                        <p:tgtEl>
                                          <p:spTgt spid="9525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43" grpId="0" animBg="1" autoUpdateAnimBg="0"/>
      <p:bldP spid="95245" grpId="0" autoUpdateAnimBg="0"/>
      <p:bldP spid="95251" grpId="0" animBg="1"/>
      <p:bldP spid="95252" grpId="0" build="p" autoUpdateAnimBg="0"/>
      <p:bldP spid="95253" grpId="0" build="p" bldLvl="2" autoUpdateAnimBg="0"/>
      <p:bldP spid="95254"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Text Box 4"/>
          <p:cNvSpPr txBox="1">
            <a:spLocks noChangeArrowheads="1"/>
          </p:cNvSpPr>
          <p:nvPr/>
        </p:nvSpPr>
        <p:spPr bwMode="auto">
          <a:xfrm>
            <a:off x="468313" y="333375"/>
            <a:ext cx="82073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a:solidFill>
                  <a:schemeClr val="hlink"/>
                </a:solidFill>
              </a:rPr>
              <a:t>等温过程，</a:t>
            </a:r>
            <a:r>
              <a:rPr lang="zh-CN" altLang="en-US" sz="2400" b="1"/>
              <a:t>体积由</a:t>
            </a:r>
            <a:r>
              <a:rPr lang="en-US" altLang="zh-CN" sz="2400" b="1" i="1"/>
              <a:t>V</a:t>
            </a:r>
            <a:r>
              <a:rPr lang="en-US" altLang="zh-CN" sz="2400" b="1" baseline="-25000"/>
              <a:t>1</a:t>
            </a:r>
            <a:r>
              <a:rPr lang="zh-CN" altLang="en-US" sz="2400" b="1"/>
              <a:t>到</a:t>
            </a:r>
            <a:r>
              <a:rPr lang="en-US" altLang="zh-CN" sz="2400" b="1" i="1"/>
              <a:t>V</a:t>
            </a:r>
            <a:r>
              <a:rPr lang="en-US" altLang="zh-CN" sz="2400" b="1" baseline="-25000"/>
              <a:t>2</a:t>
            </a:r>
            <a:r>
              <a:rPr lang="zh-CN" altLang="en-US" sz="2400" b="1"/>
              <a:t>，内能没有变化，系统从高温热源</a:t>
            </a:r>
            <a:r>
              <a:rPr lang="en-US" altLang="zh-CN" sz="2400" b="1" i="1"/>
              <a:t>T</a:t>
            </a:r>
            <a:r>
              <a:rPr lang="en-US" altLang="zh-CN" sz="2400" b="1" baseline="-25000"/>
              <a:t>1</a:t>
            </a:r>
            <a:r>
              <a:rPr lang="zh-CN" altLang="en-US" sz="2400" b="1"/>
              <a:t>吸收的热量全部用来对外作功</a:t>
            </a:r>
            <a:endParaRPr lang="zh-CN" altLang="en-US" sz="2400" b="1">
              <a:ea typeface="楷体_GB2312" pitchFamily="49" charset="-122"/>
            </a:endParaRPr>
          </a:p>
        </p:txBody>
      </p:sp>
      <p:graphicFrame>
        <p:nvGraphicFramePr>
          <p:cNvPr id="137221" name="Object 5"/>
          <p:cNvGraphicFramePr>
            <a:graphicFrameLocks noChangeAspect="1"/>
          </p:cNvGraphicFramePr>
          <p:nvPr/>
        </p:nvGraphicFramePr>
        <p:xfrm>
          <a:off x="539750" y="3429000"/>
          <a:ext cx="4249738" cy="1238250"/>
        </p:xfrm>
        <a:graphic>
          <a:graphicData uri="http://schemas.openxmlformats.org/presentationml/2006/ole">
            <mc:AlternateContent xmlns:mc="http://schemas.openxmlformats.org/markup-compatibility/2006">
              <mc:Choice xmlns:v="urn:schemas-microsoft-com:vml" Requires="v">
                <p:oleObj spid="_x0000_s13822" name="公式" r:id="rId3" imgW="1231366" imgH="431613" progId="Equation.3">
                  <p:embed/>
                </p:oleObj>
              </mc:Choice>
              <mc:Fallback>
                <p:oleObj name="公式" r:id="rId3" imgW="1231366" imgH="431613"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3429000"/>
                        <a:ext cx="4249738" cy="12382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7222" name="Text Box 6"/>
          <p:cNvSpPr txBox="1">
            <a:spLocks noChangeArrowheads="1"/>
          </p:cNvSpPr>
          <p:nvPr/>
        </p:nvSpPr>
        <p:spPr bwMode="auto">
          <a:xfrm>
            <a:off x="179388" y="51577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a:solidFill>
                  <a:schemeClr val="hlink"/>
                </a:solidFill>
                <a:latin typeface="宋体" pitchFamily="2" charset="-122"/>
              </a:rPr>
              <a:t>绝热过程，</a:t>
            </a:r>
            <a:r>
              <a:rPr lang="zh-CN" altLang="en-US" sz="2400" b="1">
                <a:latin typeface="宋体" pitchFamily="2" charset="-122"/>
              </a:rPr>
              <a:t>系统不吸收热量，对外所作的功等于系统减少的内能</a:t>
            </a:r>
          </a:p>
        </p:txBody>
      </p:sp>
      <p:graphicFrame>
        <p:nvGraphicFramePr>
          <p:cNvPr id="137223" name="Object 7"/>
          <p:cNvGraphicFramePr>
            <a:graphicFrameLocks noChangeAspect="1"/>
          </p:cNvGraphicFramePr>
          <p:nvPr>
            <p:extLst>
              <p:ext uri="{D42A27DB-BD31-4B8C-83A1-F6EECF244321}">
                <p14:modId xmlns:p14="http://schemas.microsoft.com/office/powerpoint/2010/main" val="29665485"/>
              </p:ext>
            </p:extLst>
          </p:nvPr>
        </p:nvGraphicFramePr>
        <p:xfrm>
          <a:off x="611560" y="5805264"/>
          <a:ext cx="5456535" cy="732400"/>
        </p:xfrm>
        <a:graphic>
          <a:graphicData uri="http://schemas.openxmlformats.org/presentationml/2006/ole">
            <mc:AlternateContent xmlns:mc="http://schemas.openxmlformats.org/markup-compatibility/2006">
              <mc:Choice xmlns:v="urn:schemas-microsoft-com:vml" Requires="v">
                <p:oleObj spid="_x0000_s13823" name="Equation" r:id="rId5" imgW="1790700" imgH="241300" progId="Equation.DSMT4">
                  <p:embed/>
                </p:oleObj>
              </mc:Choice>
              <mc:Fallback>
                <p:oleObj name="Equation" r:id="rId5" imgW="1790700" imgH="2413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60" y="5805264"/>
                        <a:ext cx="5456535" cy="732400"/>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graphicFrame>
        <p:nvGraphicFramePr>
          <p:cNvPr id="137224" name="Object 8"/>
          <p:cNvGraphicFramePr>
            <a:graphicFrameLocks noChangeAspect="1"/>
          </p:cNvGraphicFramePr>
          <p:nvPr/>
        </p:nvGraphicFramePr>
        <p:xfrm>
          <a:off x="625475" y="1509713"/>
          <a:ext cx="4111625" cy="1785937"/>
        </p:xfrm>
        <a:graphic>
          <a:graphicData uri="http://schemas.openxmlformats.org/presentationml/2006/ole">
            <mc:AlternateContent xmlns:mc="http://schemas.openxmlformats.org/markup-compatibility/2006">
              <mc:Choice xmlns:v="urn:schemas-microsoft-com:vml" Requires="v">
                <p:oleObj spid="_x0000_s13824" name="Equation" r:id="rId7" imgW="1981200" imgH="863600" progId="Equation.DSMT4">
                  <p:embed/>
                </p:oleObj>
              </mc:Choice>
              <mc:Fallback>
                <p:oleObj name="Equation" r:id="rId7" imgW="1981200" imgH="8636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5475" y="1509713"/>
                        <a:ext cx="4111625" cy="17859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7263" name="Group 47"/>
          <p:cNvGrpSpPr>
            <a:grpSpLocks/>
          </p:cNvGrpSpPr>
          <p:nvPr/>
        </p:nvGrpSpPr>
        <p:grpSpPr bwMode="auto">
          <a:xfrm>
            <a:off x="5580063" y="765175"/>
            <a:ext cx="3960812" cy="3671876"/>
            <a:chOff x="192" y="-575"/>
            <a:chExt cx="4414" cy="4195"/>
          </a:xfrm>
        </p:grpSpPr>
        <p:sp>
          <p:nvSpPr>
            <p:cNvPr id="13320" name="Text Box 48"/>
            <p:cNvSpPr txBox="1">
              <a:spLocks noChangeArrowheads="1"/>
            </p:cNvSpPr>
            <p:nvPr/>
          </p:nvSpPr>
          <p:spPr bwMode="auto">
            <a:xfrm>
              <a:off x="305" y="598"/>
              <a:ext cx="205"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endParaRPr lang="zh-CN" altLang="zh-CN" sz="1500"/>
            </a:p>
          </p:txBody>
        </p:sp>
        <p:sp>
          <p:nvSpPr>
            <p:cNvPr id="13321" name="Arc 49"/>
            <p:cNvSpPr>
              <a:spLocks/>
            </p:cNvSpPr>
            <p:nvPr/>
          </p:nvSpPr>
          <p:spPr bwMode="auto">
            <a:xfrm flipH="1" flipV="1">
              <a:off x="992" y="-575"/>
              <a:ext cx="3614" cy="2888"/>
            </a:xfrm>
            <a:custGeom>
              <a:avLst/>
              <a:gdLst>
                <a:gd name="T0" fmla="*/ 0 w 21107"/>
                <a:gd name="T1" fmla="*/ 0 h 18568"/>
                <a:gd name="T2" fmla="*/ 0 w 21107"/>
                <a:gd name="T3" fmla="*/ 0 h 18568"/>
                <a:gd name="T4" fmla="*/ 0 w 21107"/>
                <a:gd name="T5" fmla="*/ 0 h 18568"/>
                <a:gd name="T6" fmla="*/ 0 60000 65536"/>
                <a:gd name="T7" fmla="*/ 0 60000 65536"/>
                <a:gd name="T8" fmla="*/ 0 60000 65536"/>
              </a:gdLst>
              <a:ahLst/>
              <a:cxnLst>
                <a:cxn ang="T6">
                  <a:pos x="T0" y="T1"/>
                </a:cxn>
                <a:cxn ang="T7">
                  <a:pos x="T2" y="T3"/>
                </a:cxn>
                <a:cxn ang="T8">
                  <a:pos x="T4" y="T5"/>
                </a:cxn>
              </a:cxnLst>
              <a:rect l="0" t="0" r="r" b="b"/>
              <a:pathLst>
                <a:path w="21107" h="18568" fill="none" extrusionOk="0">
                  <a:moveTo>
                    <a:pt x="11035" y="0"/>
                  </a:moveTo>
                  <a:cubicBezTo>
                    <a:pt x="16186" y="3061"/>
                    <a:pt x="19834" y="8124"/>
                    <a:pt x="21107" y="13979"/>
                  </a:cubicBezTo>
                </a:path>
                <a:path w="21107" h="18568" stroke="0" extrusionOk="0">
                  <a:moveTo>
                    <a:pt x="11035" y="0"/>
                  </a:moveTo>
                  <a:cubicBezTo>
                    <a:pt x="16186" y="3061"/>
                    <a:pt x="19834" y="8124"/>
                    <a:pt x="21107" y="13979"/>
                  </a:cubicBezTo>
                  <a:lnTo>
                    <a:pt x="0" y="18568"/>
                  </a:lnTo>
                  <a:lnTo>
                    <a:pt x="11035" y="0"/>
                  </a:lnTo>
                  <a:close/>
                </a:path>
              </a:pathLst>
            </a:custGeom>
            <a:noFill/>
            <a:ln w="38100">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2" name="Line 50"/>
            <p:cNvSpPr>
              <a:spLocks noChangeShapeType="1"/>
            </p:cNvSpPr>
            <p:nvPr/>
          </p:nvSpPr>
          <p:spPr bwMode="auto">
            <a:xfrm>
              <a:off x="576" y="3072"/>
              <a:ext cx="302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3" name="Line 51"/>
            <p:cNvSpPr>
              <a:spLocks noChangeShapeType="1"/>
            </p:cNvSpPr>
            <p:nvPr/>
          </p:nvSpPr>
          <p:spPr bwMode="auto">
            <a:xfrm flipV="1">
              <a:off x="576" y="144"/>
              <a:ext cx="0" cy="292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4" name="Arc 52"/>
            <p:cNvSpPr>
              <a:spLocks/>
            </p:cNvSpPr>
            <p:nvPr/>
          </p:nvSpPr>
          <p:spPr bwMode="auto">
            <a:xfrm flipH="1" flipV="1">
              <a:off x="892" y="624"/>
              <a:ext cx="2036" cy="2064"/>
            </a:xfrm>
            <a:custGeom>
              <a:avLst/>
              <a:gdLst>
                <a:gd name="T0" fmla="*/ 0 w 20819"/>
                <a:gd name="T1" fmla="*/ 0 h 21600"/>
                <a:gd name="T2" fmla="*/ 0 w 20819"/>
                <a:gd name="T3" fmla="*/ 0 h 21600"/>
                <a:gd name="T4" fmla="*/ 0 w 20819"/>
                <a:gd name="T5" fmla="*/ 0 h 21600"/>
                <a:gd name="T6" fmla="*/ 0 60000 65536"/>
                <a:gd name="T7" fmla="*/ 0 60000 65536"/>
                <a:gd name="T8" fmla="*/ 0 60000 65536"/>
              </a:gdLst>
              <a:ahLst/>
              <a:cxnLst>
                <a:cxn ang="T6">
                  <a:pos x="T0" y="T1"/>
                </a:cxn>
                <a:cxn ang="T7">
                  <a:pos x="T2" y="T3"/>
                </a:cxn>
                <a:cxn ang="T8">
                  <a:pos x="T4" y="T5"/>
                </a:cxn>
              </a:cxnLst>
              <a:rect l="0" t="0" r="r" b="b"/>
              <a:pathLst>
                <a:path w="20819" h="21600" fill="none" extrusionOk="0">
                  <a:moveTo>
                    <a:pt x="-1" y="0"/>
                  </a:moveTo>
                  <a:cubicBezTo>
                    <a:pt x="9712" y="0"/>
                    <a:pt x="18230" y="6482"/>
                    <a:pt x="20818" y="15844"/>
                  </a:cubicBezTo>
                </a:path>
                <a:path w="20819" h="21600" stroke="0" extrusionOk="0">
                  <a:moveTo>
                    <a:pt x="-1" y="0"/>
                  </a:moveTo>
                  <a:cubicBezTo>
                    <a:pt x="9712" y="0"/>
                    <a:pt x="18230" y="6482"/>
                    <a:pt x="20818" y="15844"/>
                  </a:cubicBezTo>
                  <a:lnTo>
                    <a:pt x="0" y="21600"/>
                  </a:lnTo>
                  <a:lnTo>
                    <a:pt x="-1" y="0"/>
                  </a:lnTo>
                  <a:close/>
                </a:path>
              </a:pathLst>
            </a:custGeom>
            <a:noFill/>
            <a:ln w="38100">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p>
          </p:txBody>
        </p:sp>
        <p:sp>
          <p:nvSpPr>
            <p:cNvPr id="13325" name="Arc 53"/>
            <p:cNvSpPr>
              <a:spLocks/>
            </p:cNvSpPr>
            <p:nvPr/>
          </p:nvSpPr>
          <p:spPr bwMode="auto">
            <a:xfrm flipH="1" flipV="1">
              <a:off x="1108" y="-96"/>
              <a:ext cx="2347" cy="2868"/>
            </a:xfrm>
            <a:custGeom>
              <a:avLst/>
              <a:gdLst>
                <a:gd name="T0" fmla="*/ 0 w 21555"/>
                <a:gd name="T1" fmla="*/ 0 h 17680"/>
                <a:gd name="T2" fmla="*/ 0 w 21555"/>
                <a:gd name="T3" fmla="*/ 0 h 17680"/>
                <a:gd name="T4" fmla="*/ 0 w 21555"/>
                <a:gd name="T5" fmla="*/ 0 h 17680"/>
                <a:gd name="T6" fmla="*/ 0 60000 65536"/>
                <a:gd name="T7" fmla="*/ 0 60000 65536"/>
                <a:gd name="T8" fmla="*/ 0 60000 65536"/>
              </a:gdLst>
              <a:ahLst/>
              <a:cxnLst>
                <a:cxn ang="T6">
                  <a:pos x="T0" y="T1"/>
                </a:cxn>
                <a:cxn ang="T7">
                  <a:pos x="T2" y="T3"/>
                </a:cxn>
                <a:cxn ang="T8">
                  <a:pos x="T4" y="T5"/>
                </a:cxn>
              </a:cxnLst>
              <a:rect l="0" t="0" r="r" b="b"/>
              <a:pathLst>
                <a:path w="21555" h="17680" fill="none" extrusionOk="0">
                  <a:moveTo>
                    <a:pt x="12408" y="0"/>
                  </a:moveTo>
                  <a:cubicBezTo>
                    <a:pt x="17767" y="3761"/>
                    <a:pt x="21131" y="9749"/>
                    <a:pt x="21554" y="16283"/>
                  </a:cubicBezTo>
                </a:path>
                <a:path w="21555" h="17680" stroke="0" extrusionOk="0">
                  <a:moveTo>
                    <a:pt x="12408" y="0"/>
                  </a:moveTo>
                  <a:cubicBezTo>
                    <a:pt x="17767" y="3761"/>
                    <a:pt x="21131" y="9749"/>
                    <a:pt x="21554" y="16283"/>
                  </a:cubicBezTo>
                  <a:lnTo>
                    <a:pt x="0" y="17680"/>
                  </a:lnTo>
                  <a:lnTo>
                    <a:pt x="12408" y="0"/>
                  </a:lnTo>
                  <a:close/>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6" name="Arc 54"/>
            <p:cNvSpPr>
              <a:spLocks/>
            </p:cNvSpPr>
            <p:nvPr/>
          </p:nvSpPr>
          <p:spPr bwMode="auto">
            <a:xfrm rot="773320" flipH="1" flipV="1">
              <a:off x="1883" y="830"/>
              <a:ext cx="1918" cy="1975"/>
            </a:xfrm>
            <a:custGeom>
              <a:avLst/>
              <a:gdLst>
                <a:gd name="T0" fmla="*/ 0 w 19610"/>
                <a:gd name="T1" fmla="*/ 0 h 20669"/>
                <a:gd name="T2" fmla="*/ 0 w 19610"/>
                <a:gd name="T3" fmla="*/ 0 h 20669"/>
                <a:gd name="T4" fmla="*/ 0 w 19610"/>
                <a:gd name="T5" fmla="*/ 0 h 20669"/>
                <a:gd name="T6" fmla="*/ 0 60000 65536"/>
                <a:gd name="T7" fmla="*/ 0 60000 65536"/>
                <a:gd name="T8" fmla="*/ 0 60000 65536"/>
              </a:gdLst>
              <a:ahLst/>
              <a:cxnLst>
                <a:cxn ang="T6">
                  <a:pos x="T0" y="T1"/>
                </a:cxn>
                <a:cxn ang="T7">
                  <a:pos x="T2" y="T3"/>
                </a:cxn>
                <a:cxn ang="T8">
                  <a:pos x="T4" y="T5"/>
                </a:cxn>
              </a:cxnLst>
              <a:rect l="0" t="0" r="r" b="b"/>
              <a:pathLst>
                <a:path w="19610" h="20669" fill="none" extrusionOk="0">
                  <a:moveTo>
                    <a:pt x="6273" y="0"/>
                  </a:moveTo>
                  <a:cubicBezTo>
                    <a:pt x="12173" y="1790"/>
                    <a:pt x="17025" y="6016"/>
                    <a:pt x="19610" y="11613"/>
                  </a:cubicBezTo>
                </a:path>
                <a:path w="19610" h="20669" stroke="0" extrusionOk="0">
                  <a:moveTo>
                    <a:pt x="6273" y="0"/>
                  </a:moveTo>
                  <a:cubicBezTo>
                    <a:pt x="12173" y="1790"/>
                    <a:pt x="17025" y="6016"/>
                    <a:pt x="19610" y="11613"/>
                  </a:cubicBezTo>
                  <a:lnTo>
                    <a:pt x="0" y="20669"/>
                  </a:lnTo>
                  <a:lnTo>
                    <a:pt x="6273" y="0"/>
                  </a:lnTo>
                  <a:close/>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p>
          </p:txBody>
        </p:sp>
        <p:sp>
          <p:nvSpPr>
            <p:cNvPr id="13327" name="Text Box 55"/>
            <p:cNvSpPr txBox="1">
              <a:spLocks noChangeArrowheads="1"/>
            </p:cNvSpPr>
            <p:nvPr/>
          </p:nvSpPr>
          <p:spPr bwMode="auto">
            <a:xfrm>
              <a:off x="1151" y="624"/>
              <a:ext cx="34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500" b="1" i="1"/>
                <a:t>A</a:t>
              </a:r>
              <a:endParaRPr lang="en-US" altLang="zh-CN" sz="1500" b="1"/>
            </a:p>
          </p:txBody>
        </p:sp>
        <p:sp>
          <p:nvSpPr>
            <p:cNvPr id="13328" name="Text Box 56"/>
            <p:cNvSpPr txBox="1">
              <a:spLocks noChangeArrowheads="1"/>
            </p:cNvSpPr>
            <p:nvPr/>
          </p:nvSpPr>
          <p:spPr bwMode="auto">
            <a:xfrm>
              <a:off x="2064" y="1823"/>
              <a:ext cx="34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500" b="1" i="1"/>
                <a:t>B</a:t>
              </a:r>
              <a:endParaRPr lang="en-US" altLang="zh-CN" sz="1500" b="1"/>
            </a:p>
          </p:txBody>
        </p:sp>
        <p:sp>
          <p:nvSpPr>
            <p:cNvPr id="13329" name="Text Box 57"/>
            <p:cNvSpPr txBox="1">
              <a:spLocks noChangeArrowheads="1"/>
            </p:cNvSpPr>
            <p:nvPr/>
          </p:nvSpPr>
          <p:spPr bwMode="auto">
            <a:xfrm>
              <a:off x="2619" y="2541"/>
              <a:ext cx="34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500" b="1" i="1"/>
                <a:t>C</a:t>
              </a:r>
              <a:endParaRPr lang="en-US" altLang="zh-CN" sz="1500" b="1"/>
            </a:p>
          </p:txBody>
        </p:sp>
        <p:sp>
          <p:nvSpPr>
            <p:cNvPr id="13330" name="Text Box 58"/>
            <p:cNvSpPr txBox="1">
              <a:spLocks noChangeArrowheads="1"/>
            </p:cNvSpPr>
            <p:nvPr/>
          </p:nvSpPr>
          <p:spPr bwMode="auto">
            <a:xfrm>
              <a:off x="1613" y="2447"/>
              <a:ext cx="359"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500" b="1" i="1"/>
                <a:t>D</a:t>
              </a:r>
            </a:p>
          </p:txBody>
        </p:sp>
        <p:sp>
          <p:nvSpPr>
            <p:cNvPr id="13331" name="Text Box 59"/>
            <p:cNvSpPr txBox="1">
              <a:spLocks noChangeArrowheads="1"/>
            </p:cNvSpPr>
            <p:nvPr/>
          </p:nvSpPr>
          <p:spPr bwMode="auto">
            <a:xfrm>
              <a:off x="335" y="279"/>
              <a:ext cx="347"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500" b="1" i="1">
                  <a:latin typeface="Arial" pitchFamily="34" charset="0"/>
                </a:rPr>
                <a:t>P</a:t>
              </a:r>
              <a:endParaRPr lang="en-US" altLang="zh-CN" sz="1500" b="1">
                <a:latin typeface="Arial" pitchFamily="34" charset="0"/>
              </a:endParaRPr>
            </a:p>
          </p:txBody>
        </p:sp>
        <p:sp>
          <p:nvSpPr>
            <p:cNvPr id="13332" name="Text Box 60"/>
            <p:cNvSpPr txBox="1">
              <a:spLocks noChangeArrowheads="1"/>
            </p:cNvSpPr>
            <p:nvPr/>
          </p:nvSpPr>
          <p:spPr bwMode="auto">
            <a:xfrm>
              <a:off x="3457" y="3254"/>
              <a:ext cx="34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500" b="1" i="1">
                  <a:latin typeface="Arial" pitchFamily="34" charset="0"/>
                </a:rPr>
                <a:t>V</a:t>
              </a:r>
              <a:endParaRPr lang="en-US" altLang="zh-CN" sz="1500" b="1">
                <a:latin typeface="Arial" pitchFamily="34" charset="0"/>
              </a:endParaRPr>
            </a:p>
          </p:txBody>
        </p:sp>
        <p:sp>
          <p:nvSpPr>
            <p:cNvPr id="13333" name="Text Box 61"/>
            <p:cNvSpPr txBox="1">
              <a:spLocks noChangeArrowheads="1"/>
            </p:cNvSpPr>
            <p:nvPr/>
          </p:nvSpPr>
          <p:spPr bwMode="auto">
            <a:xfrm>
              <a:off x="383" y="3105"/>
              <a:ext cx="311"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500" b="1"/>
                <a:t>0</a:t>
              </a:r>
              <a:endParaRPr lang="en-US" altLang="zh-CN" sz="1500"/>
            </a:p>
          </p:txBody>
        </p:sp>
        <p:sp>
          <p:nvSpPr>
            <p:cNvPr id="13334" name="Line 62"/>
            <p:cNvSpPr>
              <a:spLocks noChangeShapeType="1"/>
            </p:cNvSpPr>
            <p:nvPr/>
          </p:nvSpPr>
          <p:spPr bwMode="auto">
            <a:xfrm>
              <a:off x="2640" y="2688"/>
              <a:ext cx="0" cy="384"/>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5" name="Line 63"/>
            <p:cNvSpPr>
              <a:spLocks noChangeShapeType="1"/>
            </p:cNvSpPr>
            <p:nvPr/>
          </p:nvSpPr>
          <p:spPr bwMode="auto">
            <a:xfrm>
              <a:off x="1152" y="672"/>
              <a:ext cx="0" cy="240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6" name="Line 64"/>
            <p:cNvSpPr>
              <a:spLocks noChangeShapeType="1"/>
            </p:cNvSpPr>
            <p:nvPr/>
          </p:nvSpPr>
          <p:spPr bwMode="auto">
            <a:xfrm>
              <a:off x="1776" y="2352"/>
              <a:ext cx="0" cy="72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7" name="Line 65"/>
            <p:cNvSpPr>
              <a:spLocks noChangeShapeType="1"/>
            </p:cNvSpPr>
            <p:nvPr/>
          </p:nvSpPr>
          <p:spPr bwMode="auto">
            <a:xfrm>
              <a:off x="2064" y="1872"/>
              <a:ext cx="0" cy="120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8" name="Text Box 66"/>
            <p:cNvSpPr txBox="1">
              <a:spLocks noChangeArrowheads="1"/>
            </p:cNvSpPr>
            <p:nvPr/>
          </p:nvSpPr>
          <p:spPr bwMode="auto">
            <a:xfrm>
              <a:off x="999" y="3209"/>
              <a:ext cx="424"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500" b="1" i="1">
                  <a:latin typeface="Arial" pitchFamily="34" charset="0"/>
                </a:rPr>
                <a:t>V</a:t>
              </a:r>
              <a:r>
                <a:rPr lang="en-US" altLang="zh-CN" sz="1500" b="1" baseline="-25000">
                  <a:latin typeface="Arial" pitchFamily="34" charset="0"/>
                </a:rPr>
                <a:t>1</a:t>
              </a:r>
              <a:endParaRPr lang="en-US" altLang="zh-CN" sz="1500">
                <a:latin typeface="Arial" pitchFamily="34" charset="0"/>
              </a:endParaRPr>
            </a:p>
          </p:txBody>
        </p:sp>
        <p:sp>
          <p:nvSpPr>
            <p:cNvPr id="13339" name="Text Box 67"/>
            <p:cNvSpPr txBox="1">
              <a:spLocks noChangeArrowheads="1"/>
            </p:cNvSpPr>
            <p:nvPr/>
          </p:nvSpPr>
          <p:spPr bwMode="auto">
            <a:xfrm>
              <a:off x="1652" y="3214"/>
              <a:ext cx="424"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500" b="1" i="1">
                  <a:latin typeface="Arial" pitchFamily="34" charset="0"/>
                </a:rPr>
                <a:t>V</a:t>
              </a:r>
              <a:r>
                <a:rPr lang="en-US" altLang="zh-CN" sz="1500" b="1" baseline="-25000">
                  <a:latin typeface="Arial" pitchFamily="34" charset="0"/>
                </a:rPr>
                <a:t>4</a:t>
              </a:r>
              <a:endParaRPr lang="en-US" altLang="zh-CN" sz="1500">
                <a:latin typeface="Arial" pitchFamily="34" charset="0"/>
              </a:endParaRPr>
            </a:p>
          </p:txBody>
        </p:sp>
        <p:sp>
          <p:nvSpPr>
            <p:cNvPr id="13340" name="Text Box 68"/>
            <p:cNvSpPr txBox="1">
              <a:spLocks noChangeArrowheads="1"/>
            </p:cNvSpPr>
            <p:nvPr/>
          </p:nvSpPr>
          <p:spPr bwMode="auto">
            <a:xfrm>
              <a:off x="1989" y="3214"/>
              <a:ext cx="425"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500" b="1" i="1">
                  <a:latin typeface="Arial" pitchFamily="34" charset="0"/>
                </a:rPr>
                <a:t>V</a:t>
              </a:r>
              <a:r>
                <a:rPr lang="en-US" altLang="zh-CN" sz="1500" b="1" baseline="-25000">
                  <a:latin typeface="Arial" pitchFamily="34" charset="0"/>
                </a:rPr>
                <a:t>2</a:t>
              </a:r>
              <a:endParaRPr lang="en-US" altLang="zh-CN" sz="1500">
                <a:latin typeface="Arial" pitchFamily="34" charset="0"/>
              </a:endParaRPr>
            </a:p>
          </p:txBody>
        </p:sp>
        <p:sp>
          <p:nvSpPr>
            <p:cNvPr id="13341" name="Text Box 69"/>
            <p:cNvSpPr txBox="1">
              <a:spLocks noChangeArrowheads="1"/>
            </p:cNvSpPr>
            <p:nvPr/>
          </p:nvSpPr>
          <p:spPr bwMode="auto">
            <a:xfrm>
              <a:off x="2564" y="3214"/>
              <a:ext cx="425"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500" b="1" i="1">
                  <a:latin typeface="Arial" pitchFamily="34" charset="0"/>
                </a:rPr>
                <a:t>V</a:t>
              </a:r>
              <a:r>
                <a:rPr lang="en-US" altLang="zh-CN" sz="1500" b="1" baseline="-25000">
                  <a:latin typeface="Arial" pitchFamily="34" charset="0"/>
                </a:rPr>
                <a:t>3</a:t>
              </a:r>
              <a:endParaRPr lang="en-US" altLang="zh-CN" sz="1500">
                <a:latin typeface="Arial" pitchFamily="34" charset="0"/>
              </a:endParaRPr>
            </a:p>
          </p:txBody>
        </p:sp>
        <p:sp>
          <p:nvSpPr>
            <p:cNvPr id="13342" name="Text Box 70"/>
            <p:cNvSpPr txBox="1">
              <a:spLocks noChangeArrowheads="1"/>
            </p:cNvSpPr>
            <p:nvPr/>
          </p:nvSpPr>
          <p:spPr bwMode="auto">
            <a:xfrm>
              <a:off x="2686" y="2160"/>
              <a:ext cx="613"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1500" b="1">
                  <a:solidFill>
                    <a:srgbClr val="CC3300"/>
                  </a:solidFill>
                  <a:latin typeface="Arial" pitchFamily="34" charset="0"/>
                </a:rPr>
                <a:t>T</a:t>
              </a:r>
              <a:r>
                <a:rPr lang="en-US" altLang="zh-CN" sz="1500" b="1" baseline="-25000">
                  <a:solidFill>
                    <a:srgbClr val="CC3300"/>
                  </a:solidFill>
                  <a:latin typeface="Arial" pitchFamily="34" charset="0"/>
                </a:rPr>
                <a:t>1</a:t>
              </a:r>
              <a:endParaRPr lang="en-US" altLang="zh-CN" sz="1500" b="1">
                <a:solidFill>
                  <a:srgbClr val="CC3300"/>
                </a:solidFill>
                <a:latin typeface="Arial" pitchFamily="34" charset="0"/>
              </a:endParaRPr>
            </a:p>
          </p:txBody>
        </p:sp>
        <p:sp>
          <p:nvSpPr>
            <p:cNvPr id="13343" name="Text Box 71"/>
            <p:cNvSpPr txBox="1">
              <a:spLocks noChangeArrowheads="1"/>
            </p:cNvSpPr>
            <p:nvPr/>
          </p:nvSpPr>
          <p:spPr bwMode="auto">
            <a:xfrm>
              <a:off x="2927" y="2543"/>
              <a:ext cx="673" cy="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1500" b="1">
                  <a:solidFill>
                    <a:srgbClr val="CC3300"/>
                  </a:solidFill>
                  <a:latin typeface="Arial" pitchFamily="34" charset="0"/>
                </a:rPr>
                <a:t>T</a:t>
              </a:r>
              <a:r>
                <a:rPr lang="en-US" altLang="zh-CN" sz="1500" b="1" baseline="-25000">
                  <a:solidFill>
                    <a:srgbClr val="CC3300"/>
                  </a:solidFill>
                  <a:latin typeface="Arial" pitchFamily="34" charset="0"/>
                </a:rPr>
                <a:t>2</a:t>
              </a:r>
              <a:endParaRPr lang="en-US" altLang="zh-CN" sz="1500" b="1">
                <a:solidFill>
                  <a:srgbClr val="CC3300"/>
                </a:solidFill>
                <a:latin typeface="Arial" pitchFamily="34" charset="0"/>
              </a:endParaRPr>
            </a:p>
          </p:txBody>
        </p:sp>
        <p:sp>
          <p:nvSpPr>
            <p:cNvPr id="13344" name="Line 72"/>
            <p:cNvSpPr>
              <a:spLocks noChangeShapeType="1"/>
            </p:cNvSpPr>
            <p:nvPr/>
          </p:nvSpPr>
          <p:spPr bwMode="auto">
            <a:xfrm flipH="1">
              <a:off x="575" y="623"/>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5" name="Line 73"/>
            <p:cNvSpPr>
              <a:spLocks noChangeShapeType="1"/>
            </p:cNvSpPr>
            <p:nvPr/>
          </p:nvSpPr>
          <p:spPr bwMode="auto">
            <a:xfrm flipH="1">
              <a:off x="575" y="1872"/>
              <a:ext cx="14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6" name="Line 74"/>
            <p:cNvSpPr>
              <a:spLocks noChangeShapeType="1"/>
            </p:cNvSpPr>
            <p:nvPr/>
          </p:nvSpPr>
          <p:spPr bwMode="auto">
            <a:xfrm flipH="1">
              <a:off x="576" y="2352"/>
              <a:ext cx="12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7" name="Line 75"/>
            <p:cNvSpPr>
              <a:spLocks noChangeShapeType="1"/>
            </p:cNvSpPr>
            <p:nvPr/>
          </p:nvSpPr>
          <p:spPr bwMode="auto">
            <a:xfrm flipH="1">
              <a:off x="576" y="2688"/>
              <a:ext cx="211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8" name="Text Box 76"/>
            <p:cNvSpPr txBox="1">
              <a:spLocks noChangeArrowheads="1"/>
            </p:cNvSpPr>
            <p:nvPr/>
          </p:nvSpPr>
          <p:spPr bwMode="auto">
            <a:xfrm>
              <a:off x="277" y="647"/>
              <a:ext cx="412"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1500" b="1" i="1">
                  <a:latin typeface="Arial" pitchFamily="34" charset="0"/>
                </a:rPr>
                <a:t>p</a:t>
              </a:r>
              <a:r>
                <a:rPr lang="en-US" altLang="zh-CN" sz="1500" baseline="-25000">
                  <a:latin typeface="Arial" pitchFamily="34" charset="0"/>
                </a:rPr>
                <a:t>1</a:t>
              </a:r>
            </a:p>
          </p:txBody>
        </p:sp>
        <p:sp>
          <p:nvSpPr>
            <p:cNvPr id="13349" name="Text Box 77"/>
            <p:cNvSpPr txBox="1">
              <a:spLocks noChangeArrowheads="1"/>
            </p:cNvSpPr>
            <p:nvPr/>
          </p:nvSpPr>
          <p:spPr bwMode="auto">
            <a:xfrm>
              <a:off x="192" y="2327"/>
              <a:ext cx="412"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1500" b="1" i="1">
                  <a:latin typeface="Arial" pitchFamily="34" charset="0"/>
                </a:rPr>
                <a:t>p</a:t>
              </a:r>
              <a:r>
                <a:rPr lang="en-US" altLang="zh-CN" sz="1500" b="1" baseline="-25000">
                  <a:latin typeface="Arial" pitchFamily="34" charset="0"/>
                </a:rPr>
                <a:t>4</a:t>
              </a:r>
            </a:p>
          </p:txBody>
        </p:sp>
        <p:sp>
          <p:nvSpPr>
            <p:cNvPr id="13350" name="Text Box 78"/>
            <p:cNvSpPr txBox="1">
              <a:spLocks noChangeArrowheads="1"/>
            </p:cNvSpPr>
            <p:nvPr/>
          </p:nvSpPr>
          <p:spPr bwMode="auto">
            <a:xfrm>
              <a:off x="192" y="1846"/>
              <a:ext cx="412"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1500" b="1" i="1">
                  <a:latin typeface="Arial" pitchFamily="34" charset="0"/>
                </a:rPr>
                <a:t>p</a:t>
              </a:r>
              <a:r>
                <a:rPr lang="en-US" altLang="zh-CN" sz="1500" b="1" baseline="-25000">
                  <a:latin typeface="Arial" pitchFamily="34" charset="0"/>
                </a:rPr>
                <a:t>2</a:t>
              </a:r>
            </a:p>
          </p:txBody>
        </p:sp>
        <p:sp>
          <p:nvSpPr>
            <p:cNvPr id="13351" name="Text Box 79"/>
            <p:cNvSpPr txBox="1">
              <a:spLocks noChangeArrowheads="1"/>
            </p:cNvSpPr>
            <p:nvPr/>
          </p:nvSpPr>
          <p:spPr bwMode="auto">
            <a:xfrm>
              <a:off x="192" y="2662"/>
              <a:ext cx="412"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1500" b="1" i="1">
                  <a:latin typeface="Arial" pitchFamily="34" charset="0"/>
                </a:rPr>
                <a:t>p</a:t>
              </a:r>
              <a:r>
                <a:rPr lang="en-US" altLang="zh-CN" sz="1500" b="1" baseline="-25000">
                  <a:latin typeface="Arial" pitchFamily="34" charset="0"/>
                </a:rPr>
                <a:t>3</a:t>
              </a:r>
            </a:p>
          </p:txBody>
        </p:sp>
        <p:sp>
          <p:nvSpPr>
            <p:cNvPr id="13352" name="AutoShape 80"/>
            <p:cNvSpPr>
              <a:spLocks noChangeArrowheads="1"/>
            </p:cNvSpPr>
            <p:nvPr/>
          </p:nvSpPr>
          <p:spPr bwMode="auto">
            <a:xfrm>
              <a:off x="1536" y="1008"/>
              <a:ext cx="193" cy="721"/>
            </a:xfrm>
            <a:prstGeom prst="downArrow">
              <a:avLst>
                <a:gd name="adj1" fmla="val 50000"/>
                <a:gd name="adj2" fmla="val 93394"/>
              </a:avLst>
            </a:prstGeom>
            <a:solidFill>
              <a:srgbClr val="FFFF66"/>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3" name="AutoShape 81"/>
            <p:cNvSpPr>
              <a:spLocks noChangeArrowheads="1"/>
            </p:cNvSpPr>
            <p:nvPr/>
          </p:nvSpPr>
          <p:spPr bwMode="auto">
            <a:xfrm>
              <a:off x="2208" y="2400"/>
              <a:ext cx="144" cy="576"/>
            </a:xfrm>
            <a:prstGeom prst="downArrow">
              <a:avLst>
                <a:gd name="adj1" fmla="val 50000"/>
                <a:gd name="adj2" fmla="val 100000"/>
              </a:avLst>
            </a:prstGeom>
            <a:solidFill>
              <a:srgbClr val="FFFF66"/>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4" name="Text Box 82"/>
            <p:cNvSpPr txBox="1">
              <a:spLocks noChangeArrowheads="1"/>
            </p:cNvSpPr>
            <p:nvPr/>
          </p:nvSpPr>
          <p:spPr bwMode="auto">
            <a:xfrm>
              <a:off x="1458" y="633"/>
              <a:ext cx="447" cy="36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1500" b="1" i="1">
                  <a:latin typeface="Arial" pitchFamily="34" charset="0"/>
                </a:rPr>
                <a:t>Q</a:t>
              </a:r>
              <a:r>
                <a:rPr lang="en-US" altLang="zh-CN" sz="1500" b="1" baseline="-25000">
                  <a:latin typeface="Arial" pitchFamily="34" charset="0"/>
                </a:rPr>
                <a:t>1</a:t>
              </a:r>
            </a:p>
          </p:txBody>
        </p:sp>
        <p:sp>
          <p:nvSpPr>
            <p:cNvPr id="13355" name="Text Box 83"/>
            <p:cNvSpPr txBox="1">
              <a:spLocks noChangeArrowheads="1"/>
            </p:cNvSpPr>
            <p:nvPr/>
          </p:nvSpPr>
          <p:spPr bwMode="auto">
            <a:xfrm>
              <a:off x="2221" y="2748"/>
              <a:ext cx="448" cy="36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1500" b="1" i="1">
                  <a:latin typeface="Arial" pitchFamily="34" charset="0"/>
                </a:rPr>
                <a:t>Q</a:t>
              </a:r>
              <a:r>
                <a:rPr lang="en-US" altLang="zh-CN" sz="1500" b="1" baseline="-25000">
                  <a:latin typeface="Arial" pitchFamily="34" charset="0"/>
                </a:rPr>
                <a:t>2</a:t>
              </a:r>
            </a:p>
          </p:txBody>
        </p:sp>
        <p:sp>
          <p:nvSpPr>
            <p:cNvPr id="13356" name="Line 84"/>
            <p:cNvSpPr>
              <a:spLocks noChangeShapeType="1"/>
            </p:cNvSpPr>
            <p:nvPr/>
          </p:nvSpPr>
          <p:spPr bwMode="auto">
            <a:xfrm flipH="1" flipV="1">
              <a:off x="1392" y="1632"/>
              <a:ext cx="192" cy="384"/>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7263"/>
                                        </p:tgtEl>
                                        <p:attrNameLst>
                                          <p:attrName>style.visibility</p:attrName>
                                        </p:attrNameLst>
                                      </p:cBhvr>
                                      <p:to>
                                        <p:strVal val="visible"/>
                                      </p:to>
                                    </p:set>
                                    <p:animEffect transition="in" filter="wipe(left)">
                                      <p:cBhvr>
                                        <p:cTn id="7" dur="500"/>
                                        <p:tgtEl>
                                          <p:spTgt spid="1372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20"/>
                                        </p:tgtEl>
                                        <p:attrNameLst>
                                          <p:attrName>style.visibility</p:attrName>
                                        </p:attrNameLst>
                                      </p:cBhvr>
                                      <p:to>
                                        <p:strVal val="visible"/>
                                      </p:to>
                                    </p:set>
                                    <p:animEffect transition="in" filter="wipe(left)">
                                      <p:cBhvr>
                                        <p:cTn id="12" dur="500"/>
                                        <p:tgtEl>
                                          <p:spTgt spid="1372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7221"/>
                                        </p:tgtEl>
                                        <p:attrNameLst>
                                          <p:attrName>style.visibility</p:attrName>
                                        </p:attrNameLst>
                                      </p:cBhvr>
                                      <p:to>
                                        <p:strVal val="visible"/>
                                      </p:to>
                                    </p:set>
                                    <p:animEffect transition="in" filter="wipe(left)">
                                      <p:cBhvr>
                                        <p:cTn id="17" dur="500"/>
                                        <p:tgtEl>
                                          <p:spTgt spid="137221"/>
                                        </p:tgtEl>
                                      </p:cBhvr>
                                    </p:animEffect>
                                  </p:childTnLst>
                                </p:cTn>
                              </p:par>
                              <p:par>
                                <p:cTn id="18" presetID="1" presetClass="entr" presetSubtype="0" fill="hold" nodeType="withEffect">
                                  <p:stCondLst>
                                    <p:cond delay="0"/>
                                  </p:stCondLst>
                                  <p:childTnLst>
                                    <p:set>
                                      <p:cBhvr>
                                        <p:cTn id="19" dur="1" fill="hold">
                                          <p:stCondLst>
                                            <p:cond delay="0"/>
                                          </p:stCondLst>
                                        </p:cTn>
                                        <p:tgtEl>
                                          <p:spTgt spid="137224"/>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7222"/>
                                        </p:tgtEl>
                                        <p:attrNameLst>
                                          <p:attrName>style.visibility</p:attrName>
                                        </p:attrNameLst>
                                      </p:cBhvr>
                                      <p:to>
                                        <p:strVal val="visible"/>
                                      </p:to>
                                    </p:set>
                                    <p:animEffect transition="in" filter="wipe(left)">
                                      <p:cBhvr>
                                        <p:cTn id="24" dur="500"/>
                                        <p:tgtEl>
                                          <p:spTgt spid="13722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137223"/>
                                        </p:tgtEl>
                                        <p:attrNameLst>
                                          <p:attrName>style.visibility</p:attrName>
                                        </p:attrNameLst>
                                      </p:cBhvr>
                                      <p:to>
                                        <p:strVal val="visible"/>
                                      </p:to>
                                    </p:set>
                                    <p:animEffect transition="in" filter="wipe(left)">
                                      <p:cBhvr>
                                        <p:cTn id="29" dur="500"/>
                                        <p:tgtEl>
                                          <p:spTgt spid="137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0" grpId="0" autoUpdateAnimBg="0"/>
      <p:bldP spid="137222"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301" name="Group 45"/>
          <p:cNvGrpSpPr>
            <a:grpSpLocks/>
          </p:cNvGrpSpPr>
          <p:nvPr/>
        </p:nvGrpSpPr>
        <p:grpSpPr bwMode="auto">
          <a:xfrm>
            <a:off x="67285" y="547745"/>
            <a:ext cx="7007225" cy="6323012"/>
            <a:chOff x="192" y="-575"/>
            <a:chExt cx="4414" cy="3983"/>
          </a:xfrm>
        </p:grpSpPr>
        <p:sp>
          <p:nvSpPr>
            <p:cNvPr id="14350" name="Text Box 2"/>
            <p:cNvSpPr txBox="1">
              <a:spLocks noChangeArrowheads="1"/>
            </p:cNvSpPr>
            <p:nvPr/>
          </p:nvSpPr>
          <p:spPr bwMode="auto">
            <a:xfrm>
              <a:off x="361" y="445"/>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endParaRPr lang="zh-CN" altLang="zh-CN" sz="2400"/>
            </a:p>
          </p:txBody>
        </p:sp>
        <p:sp>
          <p:nvSpPr>
            <p:cNvPr id="14351" name="Arc 4"/>
            <p:cNvSpPr>
              <a:spLocks/>
            </p:cNvSpPr>
            <p:nvPr/>
          </p:nvSpPr>
          <p:spPr bwMode="auto">
            <a:xfrm flipH="1" flipV="1">
              <a:off x="992" y="-575"/>
              <a:ext cx="3614" cy="2888"/>
            </a:xfrm>
            <a:custGeom>
              <a:avLst/>
              <a:gdLst>
                <a:gd name="T0" fmla="*/ 0 w 21107"/>
                <a:gd name="T1" fmla="*/ 0 h 18568"/>
                <a:gd name="T2" fmla="*/ 0 w 21107"/>
                <a:gd name="T3" fmla="*/ 0 h 18568"/>
                <a:gd name="T4" fmla="*/ 0 w 21107"/>
                <a:gd name="T5" fmla="*/ 0 h 18568"/>
                <a:gd name="T6" fmla="*/ 0 60000 65536"/>
                <a:gd name="T7" fmla="*/ 0 60000 65536"/>
                <a:gd name="T8" fmla="*/ 0 60000 65536"/>
              </a:gdLst>
              <a:ahLst/>
              <a:cxnLst>
                <a:cxn ang="T6">
                  <a:pos x="T0" y="T1"/>
                </a:cxn>
                <a:cxn ang="T7">
                  <a:pos x="T2" y="T3"/>
                </a:cxn>
                <a:cxn ang="T8">
                  <a:pos x="T4" y="T5"/>
                </a:cxn>
              </a:cxnLst>
              <a:rect l="0" t="0" r="r" b="b"/>
              <a:pathLst>
                <a:path w="21107" h="18568" fill="none" extrusionOk="0">
                  <a:moveTo>
                    <a:pt x="11035" y="0"/>
                  </a:moveTo>
                  <a:cubicBezTo>
                    <a:pt x="16186" y="3061"/>
                    <a:pt x="19834" y="8124"/>
                    <a:pt x="21107" y="13979"/>
                  </a:cubicBezTo>
                </a:path>
                <a:path w="21107" h="18568" stroke="0" extrusionOk="0">
                  <a:moveTo>
                    <a:pt x="11035" y="0"/>
                  </a:moveTo>
                  <a:cubicBezTo>
                    <a:pt x="16186" y="3061"/>
                    <a:pt x="19834" y="8124"/>
                    <a:pt x="21107" y="13979"/>
                  </a:cubicBezTo>
                  <a:lnTo>
                    <a:pt x="0" y="18568"/>
                  </a:lnTo>
                  <a:lnTo>
                    <a:pt x="11035" y="0"/>
                  </a:lnTo>
                  <a:close/>
                </a:path>
              </a:pathLst>
            </a:custGeom>
            <a:noFill/>
            <a:ln w="38100">
              <a:solidFill>
                <a:srgbClr val="00B05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2" name="Line 5"/>
            <p:cNvSpPr>
              <a:spLocks noChangeShapeType="1"/>
            </p:cNvSpPr>
            <p:nvPr/>
          </p:nvSpPr>
          <p:spPr bwMode="auto">
            <a:xfrm>
              <a:off x="576" y="3072"/>
              <a:ext cx="302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3" name="Line 6"/>
            <p:cNvSpPr>
              <a:spLocks noChangeShapeType="1"/>
            </p:cNvSpPr>
            <p:nvPr/>
          </p:nvSpPr>
          <p:spPr bwMode="auto">
            <a:xfrm flipV="1">
              <a:off x="576" y="144"/>
              <a:ext cx="0" cy="292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4" name="Arc 7"/>
            <p:cNvSpPr>
              <a:spLocks/>
            </p:cNvSpPr>
            <p:nvPr/>
          </p:nvSpPr>
          <p:spPr bwMode="auto">
            <a:xfrm flipH="1" flipV="1">
              <a:off x="892" y="624"/>
              <a:ext cx="2036" cy="2064"/>
            </a:xfrm>
            <a:custGeom>
              <a:avLst/>
              <a:gdLst>
                <a:gd name="T0" fmla="*/ 0 w 20819"/>
                <a:gd name="T1" fmla="*/ 0 h 21600"/>
                <a:gd name="T2" fmla="*/ 0 w 20819"/>
                <a:gd name="T3" fmla="*/ 0 h 21600"/>
                <a:gd name="T4" fmla="*/ 0 w 20819"/>
                <a:gd name="T5" fmla="*/ 0 h 21600"/>
                <a:gd name="T6" fmla="*/ 0 60000 65536"/>
                <a:gd name="T7" fmla="*/ 0 60000 65536"/>
                <a:gd name="T8" fmla="*/ 0 60000 65536"/>
              </a:gdLst>
              <a:ahLst/>
              <a:cxnLst>
                <a:cxn ang="T6">
                  <a:pos x="T0" y="T1"/>
                </a:cxn>
                <a:cxn ang="T7">
                  <a:pos x="T2" y="T3"/>
                </a:cxn>
                <a:cxn ang="T8">
                  <a:pos x="T4" y="T5"/>
                </a:cxn>
              </a:cxnLst>
              <a:rect l="0" t="0" r="r" b="b"/>
              <a:pathLst>
                <a:path w="20819" h="21600" fill="none" extrusionOk="0">
                  <a:moveTo>
                    <a:pt x="-1" y="0"/>
                  </a:moveTo>
                  <a:cubicBezTo>
                    <a:pt x="9712" y="0"/>
                    <a:pt x="18230" y="6482"/>
                    <a:pt x="20818" y="15844"/>
                  </a:cubicBezTo>
                </a:path>
                <a:path w="20819" h="21600" stroke="0" extrusionOk="0">
                  <a:moveTo>
                    <a:pt x="-1" y="0"/>
                  </a:moveTo>
                  <a:cubicBezTo>
                    <a:pt x="9712" y="0"/>
                    <a:pt x="18230" y="6482"/>
                    <a:pt x="20818" y="15844"/>
                  </a:cubicBezTo>
                  <a:lnTo>
                    <a:pt x="0" y="21600"/>
                  </a:lnTo>
                  <a:lnTo>
                    <a:pt x="-1" y="0"/>
                  </a:lnTo>
                  <a:close/>
                </a:path>
              </a:pathLst>
            </a:custGeom>
            <a:noFill/>
            <a:ln w="38100">
              <a:solidFill>
                <a:srgbClr val="00B05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p>
          </p:txBody>
        </p:sp>
        <p:sp>
          <p:nvSpPr>
            <p:cNvPr id="14355" name="Arc 8"/>
            <p:cNvSpPr>
              <a:spLocks/>
            </p:cNvSpPr>
            <p:nvPr/>
          </p:nvSpPr>
          <p:spPr bwMode="auto">
            <a:xfrm flipH="1" flipV="1">
              <a:off x="1108" y="-96"/>
              <a:ext cx="2347" cy="2868"/>
            </a:xfrm>
            <a:custGeom>
              <a:avLst/>
              <a:gdLst>
                <a:gd name="T0" fmla="*/ 0 w 21555"/>
                <a:gd name="T1" fmla="*/ 0 h 17680"/>
                <a:gd name="T2" fmla="*/ 0 w 21555"/>
                <a:gd name="T3" fmla="*/ 0 h 17680"/>
                <a:gd name="T4" fmla="*/ 0 w 21555"/>
                <a:gd name="T5" fmla="*/ 0 h 17680"/>
                <a:gd name="T6" fmla="*/ 0 60000 65536"/>
                <a:gd name="T7" fmla="*/ 0 60000 65536"/>
                <a:gd name="T8" fmla="*/ 0 60000 65536"/>
              </a:gdLst>
              <a:ahLst/>
              <a:cxnLst>
                <a:cxn ang="T6">
                  <a:pos x="T0" y="T1"/>
                </a:cxn>
                <a:cxn ang="T7">
                  <a:pos x="T2" y="T3"/>
                </a:cxn>
                <a:cxn ang="T8">
                  <a:pos x="T4" y="T5"/>
                </a:cxn>
              </a:cxnLst>
              <a:rect l="0" t="0" r="r" b="b"/>
              <a:pathLst>
                <a:path w="21555" h="17680" fill="none" extrusionOk="0">
                  <a:moveTo>
                    <a:pt x="12408" y="0"/>
                  </a:moveTo>
                  <a:cubicBezTo>
                    <a:pt x="17767" y="3761"/>
                    <a:pt x="21131" y="9749"/>
                    <a:pt x="21554" y="16283"/>
                  </a:cubicBezTo>
                </a:path>
                <a:path w="21555" h="17680" stroke="0" extrusionOk="0">
                  <a:moveTo>
                    <a:pt x="12408" y="0"/>
                  </a:moveTo>
                  <a:cubicBezTo>
                    <a:pt x="17767" y="3761"/>
                    <a:pt x="21131" y="9749"/>
                    <a:pt x="21554" y="16283"/>
                  </a:cubicBezTo>
                  <a:lnTo>
                    <a:pt x="0" y="17680"/>
                  </a:lnTo>
                  <a:lnTo>
                    <a:pt x="12408" y="0"/>
                  </a:lnTo>
                  <a:close/>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6" name="Arc 9"/>
            <p:cNvSpPr>
              <a:spLocks/>
            </p:cNvSpPr>
            <p:nvPr/>
          </p:nvSpPr>
          <p:spPr bwMode="auto">
            <a:xfrm rot="773320" flipH="1" flipV="1">
              <a:off x="1883" y="830"/>
              <a:ext cx="1918" cy="1975"/>
            </a:xfrm>
            <a:custGeom>
              <a:avLst/>
              <a:gdLst>
                <a:gd name="T0" fmla="*/ 0 w 19610"/>
                <a:gd name="T1" fmla="*/ 0 h 20669"/>
                <a:gd name="T2" fmla="*/ 0 w 19610"/>
                <a:gd name="T3" fmla="*/ 0 h 20669"/>
                <a:gd name="T4" fmla="*/ 0 w 19610"/>
                <a:gd name="T5" fmla="*/ 0 h 20669"/>
                <a:gd name="T6" fmla="*/ 0 60000 65536"/>
                <a:gd name="T7" fmla="*/ 0 60000 65536"/>
                <a:gd name="T8" fmla="*/ 0 60000 65536"/>
              </a:gdLst>
              <a:ahLst/>
              <a:cxnLst>
                <a:cxn ang="T6">
                  <a:pos x="T0" y="T1"/>
                </a:cxn>
                <a:cxn ang="T7">
                  <a:pos x="T2" y="T3"/>
                </a:cxn>
                <a:cxn ang="T8">
                  <a:pos x="T4" y="T5"/>
                </a:cxn>
              </a:cxnLst>
              <a:rect l="0" t="0" r="r" b="b"/>
              <a:pathLst>
                <a:path w="19610" h="20669" fill="none" extrusionOk="0">
                  <a:moveTo>
                    <a:pt x="6273" y="0"/>
                  </a:moveTo>
                  <a:cubicBezTo>
                    <a:pt x="12173" y="1790"/>
                    <a:pt x="17025" y="6016"/>
                    <a:pt x="19610" y="11613"/>
                  </a:cubicBezTo>
                </a:path>
                <a:path w="19610" h="20669" stroke="0" extrusionOk="0">
                  <a:moveTo>
                    <a:pt x="6273" y="0"/>
                  </a:moveTo>
                  <a:cubicBezTo>
                    <a:pt x="12173" y="1790"/>
                    <a:pt x="17025" y="6016"/>
                    <a:pt x="19610" y="11613"/>
                  </a:cubicBezTo>
                  <a:lnTo>
                    <a:pt x="0" y="20669"/>
                  </a:lnTo>
                  <a:lnTo>
                    <a:pt x="6273" y="0"/>
                  </a:lnTo>
                  <a:close/>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p>
          </p:txBody>
        </p:sp>
        <p:sp>
          <p:nvSpPr>
            <p:cNvPr id="14357" name="Text Box 10"/>
            <p:cNvSpPr txBox="1">
              <a:spLocks noChangeArrowheads="1"/>
            </p:cNvSpPr>
            <p:nvPr/>
          </p:nvSpPr>
          <p:spPr bwMode="auto">
            <a:xfrm>
              <a:off x="1152" y="480"/>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t>A</a:t>
              </a:r>
              <a:endParaRPr lang="en-US" altLang="zh-CN" sz="2400" b="1"/>
            </a:p>
          </p:txBody>
        </p:sp>
        <p:sp>
          <p:nvSpPr>
            <p:cNvPr id="14358" name="Text Box 11"/>
            <p:cNvSpPr txBox="1">
              <a:spLocks noChangeArrowheads="1"/>
            </p:cNvSpPr>
            <p:nvPr/>
          </p:nvSpPr>
          <p:spPr bwMode="auto">
            <a:xfrm>
              <a:off x="2064" y="1680"/>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t>B</a:t>
              </a:r>
              <a:endParaRPr lang="en-US" altLang="zh-CN" sz="2400" b="1"/>
            </a:p>
          </p:txBody>
        </p:sp>
        <p:sp>
          <p:nvSpPr>
            <p:cNvPr id="14359" name="Text Box 12"/>
            <p:cNvSpPr txBox="1">
              <a:spLocks noChangeArrowheads="1"/>
            </p:cNvSpPr>
            <p:nvPr/>
          </p:nvSpPr>
          <p:spPr bwMode="auto">
            <a:xfrm>
              <a:off x="2620" y="2400"/>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t>C</a:t>
              </a:r>
              <a:endParaRPr lang="en-US" altLang="zh-CN" sz="2400" b="1"/>
            </a:p>
          </p:txBody>
        </p:sp>
        <p:sp>
          <p:nvSpPr>
            <p:cNvPr id="14360" name="Text Box 13"/>
            <p:cNvSpPr txBox="1">
              <a:spLocks noChangeArrowheads="1"/>
            </p:cNvSpPr>
            <p:nvPr/>
          </p:nvSpPr>
          <p:spPr bwMode="auto">
            <a:xfrm>
              <a:off x="1612" y="2304"/>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t>D</a:t>
              </a:r>
            </a:p>
          </p:txBody>
        </p:sp>
        <p:sp>
          <p:nvSpPr>
            <p:cNvPr id="14361" name="Text Box 14"/>
            <p:cNvSpPr txBox="1">
              <a:spLocks noChangeArrowheads="1"/>
            </p:cNvSpPr>
            <p:nvPr/>
          </p:nvSpPr>
          <p:spPr bwMode="auto">
            <a:xfrm>
              <a:off x="336" y="137"/>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Arial" pitchFamily="34" charset="0"/>
                </a:rPr>
                <a:t>P</a:t>
              </a:r>
              <a:endParaRPr lang="en-US" altLang="zh-CN" sz="2800" b="1">
                <a:latin typeface="Arial" pitchFamily="34" charset="0"/>
              </a:endParaRPr>
            </a:p>
          </p:txBody>
        </p:sp>
        <p:sp>
          <p:nvSpPr>
            <p:cNvPr id="14362" name="Text Box 15"/>
            <p:cNvSpPr txBox="1">
              <a:spLocks noChangeArrowheads="1"/>
            </p:cNvSpPr>
            <p:nvPr/>
          </p:nvSpPr>
          <p:spPr bwMode="auto">
            <a:xfrm>
              <a:off x="3360" y="3081"/>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i="1">
                  <a:latin typeface="Arial" pitchFamily="34" charset="0"/>
                </a:rPr>
                <a:t>V</a:t>
              </a:r>
              <a:endParaRPr lang="en-US" altLang="zh-CN" sz="2800" b="1">
                <a:latin typeface="Arial" pitchFamily="34" charset="0"/>
              </a:endParaRPr>
            </a:p>
          </p:txBody>
        </p:sp>
        <p:sp>
          <p:nvSpPr>
            <p:cNvPr id="14363" name="Text Box 16"/>
            <p:cNvSpPr txBox="1">
              <a:spLocks noChangeArrowheads="1"/>
            </p:cNvSpPr>
            <p:nvPr/>
          </p:nvSpPr>
          <p:spPr bwMode="auto">
            <a:xfrm>
              <a:off x="384" y="289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t>0</a:t>
              </a:r>
              <a:endParaRPr lang="en-US" altLang="zh-CN" sz="2400"/>
            </a:p>
          </p:txBody>
        </p:sp>
        <p:sp>
          <p:nvSpPr>
            <p:cNvPr id="14364" name="Line 17"/>
            <p:cNvSpPr>
              <a:spLocks noChangeShapeType="1"/>
            </p:cNvSpPr>
            <p:nvPr/>
          </p:nvSpPr>
          <p:spPr bwMode="auto">
            <a:xfrm>
              <a:off x="2640" y="2688"/>
              <a:ext cx="0" cy="384"/>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 name="Line 18"/>
            <p:cNvSpPr>
              <a:spLocks noChangeShapeType="1"/>
            </p:cNvSpPr>
            <p:nvPr/>
          </p:nvSpPr>
          <p:spPr bwMode="auto">
            <a:xfrm>
              <a:off x="1152" y="672"/>
              <a:ext cx="0" cy="240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6" name="Line 19"/>
            <p:cNvSpPr>
              <a:spLocks noChangeShapeType="1"/>
            </p:cNvSpPr>
            <p:nvPr/>
          </p:nvSpPr>
          <p:spPr bwMode="auto">
            <a:xfrm>
              <a:off x="1776" y="2352"/>
              <a:ext cx="0" cy="72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7" name="Line 20"/>
            <p:cNvSpPr>
              <a:spLocks noChangeShapeType="1"/>
            </p:cNvSpPr>
            <p:nvPr/>
          </p:nvSpPr>
          <p:spPr bwMode="auto">
            <a:xfrm>
              <a:off x="2064" y="1872"/>
              <a:ext cx="0" cy="120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8" name="Text Box 21"/>
            <p:cNvSpPr txBox="1">
              <a:spLocks noChangeArrowheads="1"/>
            </p:cNvSpPr>
            <p:nvPr/>
          </p:nvSpPr>
          <p:spPr bwMode="auto">
            <a:xfrm>
              <a:off x="998" y="307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Arial" pitchFamily="34" charset="0"/>
                </a:rPr>
                <a:t>V</a:t>
              </a:r>
              <a:r>
                <a:rPr lang="en-US" altLang="zh-CN" sz="2400" b="1" baseline="-25000">
                  <a:latin typeface="Arial" pitchFamily="34" charset="0"/>
                </a:rPr>
                <a:t>1</a:t>
              </a:r>
              <a:endParaRPr lang="en-US" altLang="zh-CN" sz="2400">
                <a:latin typeface="Arial" pitchFamily="34" charset="0"/>
              </a:endParaRPr>
            </a:p>
          </p:txBody>
        </p:sp>
        <p:sp>
          <p:nvSpPr>
            <p:cNvPr id="14369" name="Text Box 22"/>
            <p:cNvSpPr txBox="1">
              <a:spLocks noChangeArrowheads="1"/>
            </p:cNvSpPr>
            <p:nvPr/>
          </p:nvSpPr>
          <p:spPr bwMode="auto">
            <a:xfrm>
              <a:off x="1653" y="307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Arial" pitchFamily="34" charset="0"/>
                </a:rPr>
                <a:t>V</a:t>
              </a:r>
              <a:r>
                <a:rPr lang="en-US" altLang="zh-CN" sz="2400" b="1" baseline="-25000">
                  <a:latin typeface="Arial" pitchFamily="34" charset="0"/>
                </a:rPr>
                <a:t>4</a:t>
              </a:r>
              <a:endParaRPr lang="en-US" altLang="zh-CN" sz="2400">
                <a:latin typeface="Arial" pitchFamily="34" charset="0"/>
              </a:endParaRPr>
            </a:p>
          </p:txBody>
        </p:sp>
        <p:sp>
          <p:nvSpPr>
            <p:cNvPr id="14370" name="Text Box 23"/>
            <p:cNvSpPr txBox="1">
              <a:spLocks noChangeArrowheads="1"/>
            </p:cNvSpPr>
            <p:nvPr/>
          </p:nvSpPr>
          <p:spPr bwMode="auto">
            <a:xfrm>
              <a:off x="1989" y="307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Arial" pitchFamily="34" charset="0"/>
                </a:rPr>
                <a:t>V</a:t>
              </a:r>
              <a:r>
                <a:rPr lang="en-US" altLang="zh-CN" sz="2400" b="1" baseline="-25000">
                  <a:latin typeface="Arial" pitchFamily="34" charset="0"/>
                </a:rPr>
                <a:t>2</a:t>
              </a:r>
              <a:endParaRPr lang="en-US" altLang="zh-CN" sz="2400">
                <a:latin typeface="Arial" pitchFamily="34" charset="0"/>
              </a:endParaRPr>
            </a:p>
          </p:txBody>
        </p:sp>
        <p:sp>
          <p:nvSpPr>
            <p:cNvPr id="14371" name="Text Box 24"/>
            <p:cNvSpPr txBox="1">
              <a:spLocks noChangeArrowheads="1"/>
            </p:cNvSpPr>
            <p:nvPr/>
          </p:nvSpPr>
          <p:spPr bwMode="auto">
            <a:xfrm>
              <a:off x="2565" y="307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Arial" pitchFamily="34" charset="0"/>
                </a:rPr>
                <a:t>V</a:t>
              </a:r>
              <a:r>
                <a:rPr lang="en-US" altLang="zh-CN" sz="2400" b="1" baseline="-25000">
                  <a:latin typeface="Arial" pitchFamily="34" charset="0"/>
                </a:rPr>
                <a:t>3</a:t>
              </a:r>
              <a:endParaRPr lang="en-US" altLang="zh-CN" sz="2400">
                <a:latin typeface="Arial" pitchFamily="34" charset="0"/>
              </a:endParaRPr>
            </a:p>
          </p:txBody>
        </p:sp>
        <p:sp>
          <p:nvSpPr>
            <p:cNvPr id="14372" name="Text Box 25"/>
            <p:cNvSpPr txBox="1">
              <a:spLocks noChangeArrowheads="1"/>
            </p:cNvSpPr>
            <p:nvPr/>
          </p:nvSpPr>
          <p:spPr bwMode="auto">
            <a:xfrm>
              <a:off x="2688" y="2160"/>
              <a:ext cx="3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400" b="1">
                  <a:solidFill>
                    <a:srgbClr val="CC3300"/>
                  </a:solidFill>
                  <a:latin typeface="Arial" pitchFamily="34" charset="0"/>
                </a:rPr>
                <a:t>T</a:t>
              </a:r>
              <a:r>
                <a:rPr lang="en-US" altLang="zh-CN" sz="2400" b="1" baseline="-25000">
                  <a:solidFill>
                    <a:srgbClr val="CC3300"/>
                  </a:solidFill>
                  <a:latin typeface="Arial" pitchFamily="34" charset="0"/>
                </a:rPr>
                <a:t>1</a:t>
              </a:r>
              <a:endParaRPr lang="en-US" altLang="zh-CN" sz="2400" b="1">
                <a:solidFill>
                  <a:srgbClr val="CC3300"/>
                </a:solidFill>
                <a:latin typeface="Arial" pitchFamily="34" charset="0"/>
              </a:endParaRPr>
            </a:p>
          </p:txBody>
        </p:sp>
        <p:sp>
          <p:nvSpPr>
            <p:cNvPr id="14373" name="Text Box 26"/>
            <p:cNvSpPr txBox="1">
              <a:spLocks noChangeArrowheads="1"/>
            </p:cNvSpPr>
            <p:nvPr/>
          </p:nvSpPr>
          <p:spPr bwMode="auto">
            <a:xfrm>
              <a:off x="2928" y="2544"/>
              <a:ext cx="3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400" b="1">
                  <a:solidFill>
                    <a:srgbClr val="CC3300"/>
                  </a:solidFill>
                  <a:latin typeface="Arial" pitchFamily="34" charset="0"/>
                </a:rPr>
                <a:t>T</a:t>
              </a:r>
              <a:r>
                <a:rPr lang="en-US" altLang="zh-CN" sz="2400" b="1" baseline="-25000">
                  <a:solidFill>
                    <a:srgbClr val="CC3300"/>
                  </a:solidFill>
                  <a:latin typeface="Arial" pitchFamily="34" charset="0"/>
                </a:rPr>
                <a:t>2</a:t>
              </a:r>
              <a:endParaRPr lang="en-US" altLang="zh-CN" sz="2400" b="1">
                <a:solidFill>
                  <a:srgbClr val="CC3300"/>
                </a:solidFill>
                <a:latin typeface="Arial" pitchFamily="34" charset="0"/>
              </a:endParaRPr>
            </a:p>
          </p:txBody>
        </p:sp>
        <p:sp>
          <p:nvSpPr>
            <p:cNvPr id="14374" name="Line 29"/>
            <p:cNvSpPr>
              <a:spLocks noChangeShapeType="1"/>
            </p:cNvSpPr>
            <p:nvPr/>
          </p:nvSpPr>
          <p:spPr bwMode="auto">
            <a:xfrm flipH="1">
              <a:off x="575" y="623"/>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5" name="Line 30"/>
            <p:cNvSpPr>
              <a:spLocks noChangeShapeType="1"/>
            </p:cNvSpPr>
            <p:nvPr/>
          </p:nvSpPr>
          <p:spPr bwMode="auto">
            <a:xfrm flipH="1">
              <a:off x="575" y="1872"/>
              <a:ext cx="14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6" name="Line 31"/>
            <p:cNvSpPr>
              <a:spLocks noChangeShapeType="1"/>
            </p:cNvSpPr>
            <p:nvPr/>
          </p:nvSpPr>
          <p:spPr bwMode="auto">
            <a:xfrm flipH="1">
              <a:off x="576" y="2352"/>
              <a:ext cx="12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7" name="Line 32"/>
            <p:cNvSpPr>
              <a:spLocks noChangeShapeType="1"/>
            </p:cNvSpPr>
            <p:nvPr/>
          </p:nvSpPr>
          <p:spPr bwMode="auto">
            <a:xfrm flipH="1">
              <a:off x="576" y="2688"/>
              <a:ext cx="211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8" name="Text Box 33"/>
            <p:cNvSpPr txBox="1">
              <a:spLocks noChangeArrowheads="1"/>
            </p:cNvSpPr>
            <p:nvPr/>
          </p:nvSpPr>
          <p:spPr bwMode="auto">
            <a:xfrm>
              <a:off x="278" y="505"/>
              <a:ext cx="3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Arial" pitchFamily="34" charset="0"/>
                </a:rPr>
                <a:t>p</a:t>
              </a:r>
              <a:r>
                <a:rPr lang="en-US" altLang="zh-CN" sz="2400" baseline="-25000">
                  <a:latin typeface="Arial" pitchFamily="34" charset="0"/>
                </a:rPr>
                <a:t>1</a:t>
              </a:r>
            </a:p>
          </p:txBody>
        </p:sp>
        <p:sp>
          <p:nvSpPr>
            <p:cNvPr id="14379" name="Text Box 34"/>
            <p:cNvSpPr txBox="1">
              <a:spLocks noChangeArrowheads="1"/>
            </p:cNvSpPr>
            <p:nvPr/>
          </p:nvSpPr>
          <p:spPr bwMode="auto">
            <a:xfrm>
              <a:off x="192" y="2185"/>
              <a:ext cx="3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Arial" pitchFamily="34" charset="0"/>
                </a:rPr>
                <a:t>p</a:t>
              </a:r>
              <a:r>
                <a:rPr lang="en-US" altLang="zh-CN" sz="2400" b="1" baseline="-25000">
                  <a:latin typeface="Arial" pitchFamily="34" charset="0"/>
                </a:rPr>
                <a:t>4</a:t>
              </a:r>
            </a:p>
          </p:txBody>
        </p:sp>
        <p:sp>
          <p:nvSpPr>
            <p:cNvPr id="14380" name="Text Box 35"/>
            <p:cNvSpPr txBox="1">
              <a:spLocks noChangeArrowheads="1"/>
            </p:cNvSpPr>
            <p:nvPr/>
          </p:nvSpPr>
          <p:spPr bwMode="auto">
            <a:xfrm>
              <a:off x="192" y="1705"/>
              <a:ext cx="3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Arial" pitchFamily="34" charset="0"/>
                </a:rPr>
                <a:t>p</a:t>
              </a:r>
              <a:r>
                <a:rPr lang="en-US" altLang="zh-CN" sz="2400" b="1" baseline="-25000">
                  <a:latin typeface="Arial" pitchFamily="34" charset="0"/>
                </a:rPr>
                <a:t>2</a:t>
              </a:r>
            </a:p>
          </p:txBody>
        </p:sp>
        <p:sp>
          <p:nvSpPr>
            <p:cNvPr id="14381" name="Text Box 36"/>
            <p:cNvSpPr txBox="1">
              <a:spLocks noChangeArrowheads="1"/>
            </p:cNvSpPr>
            <p:nvPr/>
          </p:nvSpPr>
          <p:spPr bwMode="auto">
            <a:xfrm>
              <a:off x="192" y="2521"/>
              <a:ext cx="3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Arial" pitchFamily="34" charset="0"/>
                </a:rPr>
                <a:t>p</a:t>
              </a:r>
              <a:r>
                <a:rPr lang="en-US" altLang="zh-CN" sz="2400" b="1" baseline="-25000">
                  <a:latin typeface="Arial" pitchFamily="34" charset="0"/>
                </a:rPr>
                <a:t>3</a:t>
              </a:r>
            </a:p>
          </p:txBody>
        </p:sp>
        <p:sp>
          <p:nvSpPr>
            <p:cNvPr id="14382" name="AutoShape 37"/>
            <p:cNvSpPr>
              <a:spLocks noChangeArrowheads="1"/>
            </p:cNvSpPr>
            <p:nvPr/>
          </p:nvSpPr>
          <p:spPr bwMode="auto">
            <a:xfrm>
              <a:off x="1536" y="1008"/>
              <a:ext cx="193" cy="721"/>
            </a:xfrm>
            <a:prstGeom prst="downArrow">
              <a:avLst>
                <a:gd name="adj1" fmla="val 50000"/>
                <a:gd name="adj2" fmla="val 93394"/>
              </a:avLst>
            </a:prstGeom>
            <a:solidFill>
              <a:srgbClr val="FFFF66"/>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3" name="AutoShape 38"/>
            <p:cNvSpPr>
              <a:spLocks noChangeArrowheads="1"/>
            </p:cNvSpPr>
            <p:nvPr/>
          </p:nvSpPr>
          <p:spPr bwMode="auto">
            <a:xfrm>
              <a:off x="2208" y="2400"/>
              <a:ext cx="144" cy="576"/>
            </a:xfrm>
            <a:prstGeom prst="downArrow">
              <a:avLst>
                <a:gd name="adj1" fmla="val 50000"/>
                <a:gd name="adj2" fmla="val 100000"/>
              </a:avLst>
            </a:prstGeom>
            <a:solidFill>
              <a:srgbClr val="FFFF66"/>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4" name="Text Box 39"/>
            <p:cNvSpPr txBox="1">
              <a:spLocks noChangeArrowheads="1"/>
            </p:cNvSpPr>
            <p:nvPr/>
          </p:nvSpPr>
          <p:spPr bwMode="auto">
            <a:xfrm>
              <a:off x="1718" y="1081"/>
              <a:ext cx="336"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Arial" pitchFamily="34" charset="0"/>
                </a:rPr>
                <a:t>Q</a:t>
              </a:r>
              <a:r>
                <a:rPr lang="en-US" altLang="zh-CN" sz="2400" b="1" baseline="-25000">
                  <a:latin typeface="Arial" pitchFamily="34" charset="0"/>
                </a:rPr>
                <a:t>1</a:t>
              </a:r>
            </a:p>
          </p:txBody>
        </p:sp>
        <p:sp>
          <p:nvSpPr>
            <p:cNvPr id="14385" name="Text Box 40"/>
            <p:cNvSpPr txBox="1">
              <a:spLocks noChangeArrowheads="1"/>
            </p:cNvSpPr>
            <p:nvPr/>
          </p:nvSpPr>
          <p:spPr bwMode="auto">
            <a:xfrm>
              <a:off x="2304" y="2761"/>
              <a:ext cx="336"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Arial" pitchFamily="34" charset="0"/>
                </a:rPr>
                <a:t>Q</a:t>
              </a:r>
              <a:r>
                <a:rPr lang="en-US" altLang="zh-CN" sz="2400" b="1" baseline="-25000">
                  <a:latin typeface="Arial" pitchFamily="34" charset="0"/>
                </a:rPr>
                <a:t>2</a:t>
              </a:r>
            </a:p>
          </p:txBody>
        </p:sp>
        <p:sp>
          <p:nvSpPr>
            <p:cNvPr id="14386" name="Line 41"/>
            <p:cNvSpPr>
              <a:spLocks noChangeShapeType="1"/>
            </p:cNvSpPr>
            <p:nvPr/>
          </p:nvSpPr>
          <p:spPr bwMode="auto">
            <a:xfrm flipH="1" flipV="1">
              <a:off x="1392" y="1632"/>
              <a:ext cx="192" cy="384"/>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6303" name="Text Box 47"/>
          <p:cNvSpPr txBox="1">
            <a:spLocks noChangeArrowheads="1"/>
          </p:cNvSpPr>
          <p:nvPr/>
        </p:nvSpPr>
        <p:spPr bwMode="auto">
          <a:xfrm>
            <a:off x="2635113" y="1084845"/>
            <a:ext cx="635793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3000" b="1">
                <a:solidFill>
                  <a:srgbClr val="3333FF"/>
                </a:solidFill>
                <a:latin typeface="宋体" pitchFamily="2" charset="-122"/>
              </a:rPr>
              <a:t>A</a:t>
            </a:r>
            <a:r>
              <a:rPr lang="en-US" altLang="zh-CN" sz="3000" b="1">
                <a:solidFill>
                  <a:srgbClr val="3333FF"/>
                </a:solidFill>
                <a:latin typeface="宋体" pitchFamily="2" charset="-122"/>
                <a:sym typeface="Symbol" pitchFamily="18" charset="2"/>
              </a:rPr>
              <a:t></a:t>
            </a:r>
            <a:r>
              <a:rPr lang="en-US" altLang="zh-CN" sz="3000" b="1">
                <a:solidFill>
                  <a:srgbClr val="3333FF"/>
                </a:solidFill>
                <a:latin typeface="宋体" pitchFamily="2" charset="-122"/>
              </a:rPr>
              <a:t>B</a:t>
            </a:r>
            <a:r>
              <a:rPr lang="zh-CN" altLang="en-US" sz="3000" b="1">
                <a:solidFill>
                  <a:srgbClr val="3333FF"/>
                </a:solidFill>
                <a:latin typeface="宋体" pitchFamily="2" charset="-122"/>
              </a:rPr>
              <a:t>：等温膨胀过程，</a:t>
            </a:r>
            <a:r>
              <a:rPr lang="zh-CN" altLang="en-US" sz="3000" b="1">
                <a:latin typeface="宋体" pitchFamily="2" charset="-122"/>
              </a:rPr>
              <a:t>体积由</a:t>
            </a:r>
            <a:r>
              <a:rPr lang="en-US" altLang="zh-CN" sz="3000" b="1">
                <a:latin typeface="宋体" pitchFamily="2" charset="-122"/>
              </a:rPr>
              <a:t>V</a:t>
            </a:r>
            <a:r>
              <a:rPr lang="en-US" altLang="zh-CN" sz="3000" b="1" baseline="-25000">
                <a:latin typeface="宋体" pitchFamily="2" charset="-122"/>
              </a:rPr>
              <a:t>1</a:t>
            </a:r>
            <a:r>
              <a:rPr lang="zh-CN" altLang="en-US" sz="3000" b="1">
                <a:latin typeface="宋体" pitchFamily="2" charset="-122"/>
              </a:rPr>
              <a:t>膨胀到</a:t>
            </a:r>
            <a:r>
              <a:rPr lang="en-US" altLang="zh-CN" sz="3000" b="1">
                <a:latin typeface="宋体" pitchFamily="2" charset="-122"/>
              </a:rPr>
              <a:t>V</a:t>
            </a:r>
            <a:r>
              <a:rPr lang="en-US" altLang="zh-CN" sz="3000" b="1" baseline="-25000">
                <a:latin typeface="宋体" pitchFamily="2" charset="-122"/>
              </a:rPr>
              <a:t>2</a:t>
            </a:r>
            <a:r>
              <a:rPr lang="zh-CN" altLang="en-US" sz="3000" b="1">
                <a:latin typeface="宋体" pitchFamily="2" charset="-122"/>
              </a:rPr>
              <a:t>，内能没有变化，系统从高温热源</a:t>
            </a:r>
            <a:r>
              <a:rPr lang="en-US" altLang="zh-CN" sz="3000" b="1">
                <a:latin typeface="宋体" pitchFamily="2" charset="-122"/>
              </a:rPr>
              <a:t>T</a:t>
            </a:r>
            <a:r>
              <a:rPr lang="en-US" altLang="zh-CN" sz="3000" b="1" baseline="-25000">
                <a:latin typeface="宋体" pitchFamily="2" charset="-122"/>
              </a:rPr>
              <a:t>1</a:t>
            </a:r>
            <a:r>
              <a:rPr lang="zh-CN" altLang="en-US" sz="3000" b="1">
                <a:latin typeface="宋体" pitchFamily="2" charset="-122"/>
              </a:rPr>
              <a:t>吸收的热量全部用来对外作功</a:t>
            </a:r>
            <a:endParaRPr lang="zh-CN" altLang="en-US" sz="3000" b="1">
              <a:latin typeface="Arial" pitchFamily="34" charset="0"/>
              <a:ea typeface="楷体_GB2312" pitchFamily="49" charset="-122"/>
            </a:endParaRPr>
          </a:p>
        </p:txBody>
      </p:sp>
      <p:graphicFrame>
        <p:nvGraphicFramePr>
          <p:cNvPr id="96304" name="Object 48"/>
          <p:cNvGraphicFramePr>
            <a:graphicFrameLocks noChangeAspect="1"/>
          </p:cNvGraphicFramePr>
          <p:nvPr>
            <p:extLst>
              <p:ext uri="{D42A27DB-BD31-4B8C-83A1-F6EECF244321}">
                <p14:modId xmlns:p14="http://schemas.microsoft.com/office/powerpoint/2010/main" val="802004068"/>
              </p:ext>
            </p:extLst>
          </p:nvPr>
        </p:nvGraphicFramePr>
        <p:xfrm>
          <a:off x="3877941" y="2538217"/>
          <a:ext cx="2520857" cy="880732"/>
        </p:xfrm>
        <a:graphic>
          <a:graphicData uri="http://schemas.openxmlformats.org/presentationml/2006/ole">
            <mc:AlternateContent xmlns:mc="http://schemas.openxmlformats.org/markup-compatibility/2006">
              <mc:Choice xmlns:v="urn:schemas-microsoft-com:vml" Requires="v">
                <p:oleObj spid="_x0000_s14660" name="公式" r:id="rId3" imgW="1231366" imgH="431613" progId="Equation.3">
                  <p:embed/>
                </p:oleObj>
              </mc:Choice>
              <mc:Fallback>
                <p:oleObj name="公式" r:id="rId3" imgW="1231366" imgH="431613" progId="Equation.3">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7941" y="2538217"/>
                        <a:ext cx="2520857" cy="880732"/>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
        <p:nvSpPr>
          <p:cNvPr id="96306" name="Text Box 50"/>
          <p:cNvSpPr txBox="1">
            <a:spLocks noChangeArrowheads="1"/>
          </p:cNvSpPr>
          <p:nvPr/>
        </p:nvSpPr>
        <p:spPr bwMode="auto">
          <a:xfrm>
            <a:off x="136525" y="112713"/>
            <a:ext cx="40751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a:solidFill>
                  <a:srgbClr val="3333FF"/>
                </a:solidFill>
                <a:ea typeface="楷体_GB2312" pitchFamily="49" charset="-122"/>
              </a:rPr>
              <a:t>2</a:t>
            </a:r>
            <a:r>
              <a:rPr lang="zh-CN" altLang="en-US" sz="2800" b="1">
                <a:solidFill>
                  <a:srgbClr val="3333FF"/>
                </a:solidFill>
                <a:ea typeface="楷体_GB2312" pitchFamily="49" charset="-122"/>
              </a:rPr>
              <a:t>、卡诺热机：正循环</a:t>
            </a:r>
            <a:endParaRPr lang="zh-CN" altLang="en-US" sz="2800" b="1">
              <a:solidFill>
                <a:srgbClr val="0033CC"/>
              </a:solidFill>
              <a:latin typeface="楷体_GB2312" pitchFamily="49" charset="-122"/>
              <a:ea typeface="楷体_GB2312" pitchFamily="49" charset="-122"/>
            </a:endParaRPr>
          </a:p>
        </p:txBody>
      </p:sp>
      <p:sp>
        <p:nvSpPr>
          <p:cNvPr id="96307" name="Text Box 51"/>
          <p:cNvSpPr txBox="1">
            <a:spLocks noChangeArrowheads="1"/>
          </p:cNvSpPr>
          <p:nvPr/>
        </p:nvSpPr>
        <p:spPr bwMode="auto">
          <a:xfrm>
            <a:off x="609600" y="646113"/>
            <a:ext cx="7490790" cy="52322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solidFill>
                  <a:srgbClr val="FF3300"/>
                </a:solidFill>
                <a:ea typeface="楷体_GB2312" pitchFamily="49" charset="-122"/>
              </a:rPr>
              <a:t>(1)</a:t>
            </a:r>
            <a:r>
              <a:rPr lang="zh-CN" altLang="en-US" sz="2800" b="1">
                <a:solidFill>
                  <a:srgbClr val="FF3300"/>
                </a:solidFill>
                <a:ea typeface="楷体_GB2312" pitchFamily="49" charset="-122"/>
              </a:rPr>
              <a:t>卡诺热机的四个过程：</a:t>
            </a:r>
            <a:r>
              <a:rPr lang="zh-CN" altLang="en-US" sz="2800" b="1">
                <a:solidFill>
                  <a:srgbClr val="3333FF"/>
                </a:solidFill>
                <a:ea typeface="楷体_GB2312" pitchFamily="49" charset="-122"/>
              </a:rPr>
              <a:t>等温过程</a:t>
            </a:r>
            <a:endParaRPr lang="zh-CN" altLang="en-US" sz="3600" b="1">
              <a:solidFill>
                <a:srgbClr val="3333FF"/>
              </a:solidFill>
              <a:ea typeface="楷体_GB2312" pitchFamily="49" charset="-122"/>
            </a:endParaRPr>
          </a:p>
        </p:txBody>
      </p:sp>
      <p:grpSp>
        <p:nvGrpSpPr>
          <p:cNvPr id="96313" name="Group 57"/>
          <p:cNvGrpSpPr>
            <a:grpSpLocks/>
          </p:cNvGrpSpPr>
          <p:nvPr/>
        </p:nvGrpSpPr>
        <p:grpSpPr bwMode="auto">
          <a:xfrm>
            <a:off x="1438167" y="2358755"/>
            <a:ext cx="2592388" cy="3457575"/>
            <a:chOff x="1020" y="1434"/>
            <a:chExt cx="1633" cy="2178"/>
          </a:xfrm>
        </p:grpSpPr>
        <p:sp>
          <p:nvSpPr>
            <p:cNvPr id="14346" name="Oval 53"/>
            <p:cNvSpPr>
              <a:spLocks noChangeArrowheads="1"/>
            </p:cNvSpPr>
            <p:nvPr/>
          </p:nvSpPr>
          <p:spPr bwMode="auto">
            <a:xfrm>
              <a:off x="2517" y="3476"/>
              <a:ext cx="136" cy="136"/>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solidFill>
                  <a:schemeClr val="hlink"/>
                </a:solidFill>
              </a:endParaRPr>
            </a:p>
          </p:txBody>
        </p:sp>
        <p:sp>
          <p:nvSpPr>
            <p:cNvPr id="14347" name="Oval 54"/>
            <p:cNvSpPr>
              <a:spLocks noChangeArrowheads="1"/>
            </p:cNvSpPr>
            <p:nvPr/>
          </p:nvSpPr>
          <p:spPr bwMode="auto">
            <a:xfrm>
              <a:off x="1655" y="3158"/>
              <a:ext cx="136" cy="136"/>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solidFill>
                  <a:schemeClr val="hlink"/>
                </a:solidFill>
              </a:endParaRPr>
            </a:p>
          </p:txBody>
        </p:sp>
        <p:sp>
          <p:nvSpPr>
            <p:cNvPr id="14348" name="Oval 55"/>
            <p:cNvSpPr>
              <a:spLocks noChangeArrowheads="1"/>
            </p:cNvSpPr>
            <p:nvPr/>
          </p:nvSpPr>
          <p:spPr bwMode="auto">
            <a:xfrm>
              <a:off x="1973" y="2704"/>
              <a:ext cx="136" cy="136"/>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solidFill>
                  <a:schemeClr val="hlink"/>
                </a:solidFill>
              </a:endParaRPr>
            </a:p>
          </p:txBody>
        </p:sp>
        <p:sp>
          <p:nvSpPr>
            <p:cNvPr id="14349" name="Oval 56"/>
            <p:cNvSpPr>
              <a:spLocks noChangeArrowheads="1"/>
            </p:cNvSpPr>
            <p:nvPr/>
          </p:nvSpPr>
          <p:spPr bwMode="auto">
            <a:xfrm>
              <a:off x="1020" y="1434"/>
              <a:ext cx="136" cy="136"/>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solidFill>
                  <a:schemeClr val="hlink"/>
                </a:solidFill>
              </a:endParaRPr>
            </a:p>
          </p:txBody>
        </p:sp>
      </p:grpSp>
      <p:sp>
        <p:nvSpPr>
          <p:cNvPr id="49" name="Text Box 3">
            <a:extLst>
              <a:ext uri="{FF2B5EF4-FFF2-40B4-BE49-F238E27FC236}">
                <a16:creationId xmlns:a16="http://schemas.microsoft.com/office/drawing/2014/main" id="{5C0721DB-469F-44B2-8CBD-AEA0C4952AF5}"/>
              </a:ext>
            </a:extLst>
          </p:cNvPr>
          <p:cNvSpPr txBox="1">
            <a:spLocks noChangeArrowheads="1"/>
          </p:cNvSpPr>
          <p:nvPr/>
        </p:nvSpPr>
        <p:spPr bwMode="auto">
          <a:xfrm>
            <a:off x="4568861" y="3323104"/>
            <a:ext cx="4428066"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3000" b="1">
                <a:solidFill>
                  <a:srgbClr val="3333FF"/>
                </a:solidFill>
                <a:latin typeface="宋体" pitchFamily="2" charset="-122"/>
                <a:sym typeface="Symbol" pitchFamily="18" charset="2"/>
              </a:rPr>
              <a:t>CD</a:t>
            </a:r>
            <a:r>
              <a:rPr lang="zh-CN" altLang="en-US" sz="3000" b="1">
                <a:solidFill>
                  <a:srgbClr val="3333FF"/>
                </a:solidFill>
                <a:latin typeface="宋体" pitchFamily="2" charset="-122"/>
              </a:rPr>
              <a:t>：等温压缩过程，</a:t>
            </a:r>
            <a:r>
              <a:rPr lang="zh-CN" altLang="en-US" sz="3000" b="1">
                <a:latin typeface="宋体" pitchFamily="2" charset="-122"/>
              </a:rPr>
              <a:t>体积由</a:t>
            </a:r>
            <a:r>
              <a:rPr lang="en-US" altLang="zh-CN" sz="3000" b="1">
                <a:latin typeface="宋体" pitchFamily="2" charset="-122"/>
              </a:rPr>
              <a:t>V</a:t>
            </a:r>
            <a:r>
              <a:rPr lang="en-US" altLang="zh-CN" sz="3000" b="1" baseline="-25000">
                <a:latin typeface="宋体" pitchFamily="2" charset="-122"/>
              </a:rPr>
              <a:t>3</a:t>
            </a:r>
            <a:r>
              <a:rPr lang="zh-CN" altLang="en-US" sz="3000" b="1">
                <a:latin typeface="宋体" pitchFamily="2" charset="-122"/>
              </a:rPr>
              <a:t>压缩到</a:t>
            </a:r>
            <a:r>
              <a:rPr lang="en-US" altLang="zh-CN" sz="3000" b="1">
                <a:latin typeface="宋体" pitchFamily="2" charset="-122"/>
              </a:rPr>
              <a:t>V</a:t>
            </a:r>
            <a:r>
              <a:rPr lang="en-US" altLang="zh-CN" sz="3000" b="1" baseline="-25000">
                <a:latin typeface="宋体" pitchFamily="2" charset="-122"/>
              </a:rPr>
              <a:t>4</a:t>
            </a:r>
            <a:r>
              <a:rPr lang="zh-CN" altLang="en-US" sz="3000" b="1">
                <a:latin typeface="宋体" pitchFamily="2" charset="-122"/>
              </a:rPr>
              <a:t>，内能变化为零，系统对外界所作的功等于向低温热源</a:t>
            </a:r>
            <a:r>
              <a:rPr lang="en-US" altLang="zh-CN" sz="3000" b="1">
                <a:latin typeface="宋体" pitchFamily="2" charset="-122"/>
              </a:rPr>
              <a:t>T</a:t>
            </a:r>
            <a:r>
              <a:rPr lang="en-US" altLang="zh-CN" sz="3000" b="1" baseline="-25000">
                <a:latin typeface="宋体" pitchFamily="2" charset="-122"/>
              </a:rPr>
              <a:t>2</a:t>
            </a:r>
            <a:r>
              <a:rPr lang="zh-CN" altLang="en-US" sz="3000" b="1">
                <a:latin typeface="宋体" pitchFamily="2" charset="-122"/>
              </a:rPr>
              <a:t>放出的热量</a:t>
            </a:r>
          </a:p>
        </p:txBody>
      </p:sp>
      <p:graphicFrame>
        <p:nvGraphicFramePr>
          <p:cNvPr id="50" name="Object 4">
            <a:extLst>
              <a:ext uri="{FF2B5EF4-FFF2-40B4-BE49-F238E27FC236}">
                <a16:creationId xmlns:a16="http://schemas.microsoft.com/office/drawing/2014/main" id="{7A928ECC-FB54-4B69-83A6-EF777A579673}"/>
              </a:ext>
            </a:extLst>
          </p:cNvPr>
          <p:cNvGraphicFramePr>
            <a:graphicFrameLocks noChangeAspect="1"/>
          </p:cNvGraphicFramePr>
          <p:nvPr>
            <p:extLst>
              <p:ext uri="{D42A27DB-BD31-4B8C-83A1-F6EECF244321}">
                <p14:modId xmlns:p14="http://schemas.microsoft.com/office/powerpoint/2010/main" val="3895844030"/>
              </p:ext>
            </p:extLst>
          </p:nvPr>
        </p:nvGraphicFramePr>
        <p:xfrm>
          <a:off x="5922545" y="5712857"/>
          <a:ext cx="2594608" cy="932741"/>
        </p:xfrm>
        <a:graphic>
          <a:graphicData uri="http://schemas.openxmlformats.org/presentationml/2006/ole">
            <mc:AlternateContent xmlns:mc="http://schemas.openxmlformats.org/markup-compatibility/2006">
              <mc:Choice xmlns:v="urn:schemas-microsoft-com:vml" Requires="v">
                <p:oleObj spid="_x0000_s14661" name="公式" r:id="rId5" imgW="1282700" imgH="431800" progId="Equation.3">
                  <p:embed/>
                </p:oleObj>
              </mc:Choice>
              <mc:Fallback>
                <p:oleObj name="公式" r:id="rId5" imgW="1282700" imgH="431800" progId="Equation.3">
                  <p:embed/>
                  <p:pic>
                    <p:nvPicPr>
                      <p:cNvPr id="9728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2545" y="5712857"/>
                        <a:ext cx="2594608" cy="932741"/>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306"/>
                                        </p:tgtEl>
                                        <p:attrNameLst>
                                          <p:attrName>style.visibility</p:attrName>
                                        </p:attrNameLst>
                                      </p:cBhvr>
                                      <p:to>
                                        <p:strVal val="visible"/>
                                      </p:to>
                                    </p:set>
                                    <p:animEffect transition="in" filter="wipe(left)">
                                      <p:cBhvr>
                                        <p:cTn id="7" dur="500"/>
                                        <p:tgtEl>
                                          <p:spTgt spid="963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307"/>
                                        </p:tgtEl>
                                        <p:attrNameLst>
                                          <p:attrName>style.visibility</p:attrName>
                                        </p:attrNameLst>
                                      </p:cBhvr>
                                      <p:to>
                                        <p:strVal val="visible"/>
                                      </p:to>
                                    </p:set>
                                    <p:animEffect transition="in" filter="wipe(left)">
                                      <p:cBhvr>
                                        <p:cTn id="12" dur="500"/>
                                        <p:tgtEl>
                                          <p:spTgt spid="963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303"/>
                                        </p:tgtEl>
                                        <p:attrNameLst>
                                          <p:attrName>style.visibility</p:attrName>
                                        </p:attrNameLst>
                                      </p:cBhvr>
                                      <p:to>
                                        <p:strVal val="visible"/>
                                      </p:to>
                                    </p:set>
                                    <p:animEffect transition="in" filter="wipe(left)">
                                      <p:cBhvr>
                                        <p:cTn id="17" dur="500"/>
                                        <p:tgtEl>
                                          <p:spTgt spid="963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6301"/>
                                        </p:tgtEl>
                                        <p:attrNameLst>
                                          <p:attrName>style.visibility</p:attrName>
                                        </p:attrNameLst>
                                      </p:cBhvr>
                                      <p:to>
                                        <p:strVal val="visible"/>
                                      </p:to>
                                    </p:set>
                                    <p:animEffect transition="in" filter="wipe(left)">
                                      <p:cBhvr>
                                        <p:cTn id="22" dur="500"/>
                                        <p:tgtEl>
                                          <p:spTgt spid="963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96313"/>
                                        </p:tgtEl>
                                        <p:attrNameLst>
                                          <p:attrName>style.visibility</p:attrName>
                                        </p:attrNameLst>
                                      </p:cBhvr>
                                      <p:to>
                                        <p:strVal val="visible"/>
                                      </p:to>
                                    </p:set>
                                    <p:anim calcmode="lin" valueType="num">
                                      <p:cBhvr additive="base">
                                        <p:cTn id="27" dur="500" fill="hold"/>
                                        <p:tgtEl>
                                          <p:spTgt spid="96313"/>
                                        </p:tgtEl>
                                        <p:attrNameLst>
                                          <p:attrName>ppt_x</p:attrName>
                                        </p:attrNameLst>
                                      </p:cBhvr>
                                      <p:tavLst>
                                        <p:tav tm="0">
                                          <p:val>
                                            <p:strVal val="#ppt_x"/>
                                          </p:val>
                                        </p:tav>
                                        <p:tav tm="100000">
                                          <p:val>
                                            <p:strVal val="#ppt_x"/>
                                          </p:val>
                                        </p:tav>
                                      </p:tavLst>
                                    </p:anim>
                                    <p:anim calcmode="lin" valueType="num">
                                      <p:cBhvr additive="base">
                                        <p:cTn id="28" dur="500" fill="hold"/>
                                        <p:tgtEl>
                                          <p:spTgt spid="96313"/>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96304"/>
                                        </p:tgtEl>
                                        <p:attrNameLst>
                                          <p:attrName>style.visibility</p:attrName>
                                        </p:attrNameLst>
                                      </p:cBhvr>
                                      <p:to>
                                        <p:strVal val="visible"/>
                                      </p:to>
                                    </p:set>
                                    <p:animEffect transition="in" filter="wipe(left)">
                                      <p:cBhvr>
                                        <p:cTn id="33" dur="500"/>
                                        <p:tgtEl>
                                          <p:spTgt spid="9630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wipe(left)">
                                      <p:cBhvr>
                                        <p:cTn id="38" dur="500"/>
                                        <p:tgtEl>
                                          <p:spTgt spid="4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wipe(left)">
                                      <p:cBhvr>
                                        <p:cTn id="4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03" grpId="0" autoUpdateAnimBg="0"/>
      <p:bldP spid="96306" grpId="0" autoUpdateAnimBg="0"/>
      <p:bldP spid="96307" grpId="0" autoUpdateAnimBg="0"/>
      <p:bldP spid="4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5" name="Text Box 5"/>
          <p:cNvSpPr txBox="1">
            <a:spLocks noChangeArrowheads="1"/>
          </p:cNvSpPr>
          <p:nvPr/>
        </p:nvSpPr>
        <p:spPr bwMode="auto">
          <a:xfrm>
            <a:off x="4498975" y="3716496"/>
            <a:ext cx="465786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3000" b="1">
                <a:latin typeface="宋体" pitchFamily="2" charset="-122"/>
              </a:rPr>
              <a:t>体积由</a:t>
            </a:r>
            <a:r>
              <a:rPr lang="en-US" altLang="zh-CN" sz="3000" b="1">
                <a:latin typeface="宋体" pitchFamily="2" charset="-122"/>
              </a:rPr>
              <a:t>V</a:t>
            </a:r>
            <a:r>
              <a:rPr lang="en-US" altLang="zh-CN" sz="3000" b="1" baseline="-25000">
                <a:latin typeface="宋体" pitchFamily="2" charset="-122"/>
              </a:rPr>
              <a:t>4</a:t>
            </a:r>
            <a:r>
              <a:rPr lang="zh-CN" altLang="en-US" sz="3000" b="1">
                <a:latin typeface="宋体" pitchFamily="2" charset="-122"/>
              </a:rPr>
              <a:t>变到</a:t>
            </a:r>
            <a:r>
              <a:rPr lang="en-US" altLang="zh-CN" sz="3000" b="1">
                <a:latin typeface="宋体" pitchFamily="2" charset="-122"/>
              </a:rPr>
              <a:t>V</a:t>
            </a:r>
            <a:r>
              <a:rPr lang="en-US" altLang="zh-CN" sz="3000" b="1" baseline="-25000">
                <a:latin typeface="宋体" pitchFamily="2" charset="-122"/>
              </a:rPr>
              <a:t>1</a:t>
            </a:r>
            <a:r>
              <a:rPr lang="zh-CN" altLang="en-US" sz="3000" b="1">
                <a:latin typeface="宋体" pitchFamily="2" charset="-122"/>
              </a:rPr>
              <a:t>，系统不吸收热量，外界对系统所作的功等于系统增加的内能。</a:t>
            </a:r>
          </a:p>
        </p:txBody>
      </p:sp>
      <p:graphicFrame>
        <p:nvGraphicFramePr>
          <p:cNvPr id="97342" name="Object 62"/>
          <p:cNvGraphicFramePr>
            <a:graphicFrameLocks noChangeAspect="1"/>
          </p:cNvGraphicFramePr>
          <p:nvPr>
            <p:extLst>
              <p:ext uri="{D42A27DB-BD31-4B8C-83A1-F6EECF244321}">
                <p14:modId xmlns:p14="http://schemas.microsoft.com/office/powerpoint/2010/main" val="2950682152"/>
              </p:ext>
            </p:extLst>
          </p:nvPr>
        </p:nvGraphicFramePr>
        <p:xfrm>
          <a:off x="5808662" y="5340059"/>
          <a:ext cx="3279775" cy="1357312"/>
        </p:xfrm>
        <a:graphic>
          <a:graphicData uri="http://schemas.openxmlformats.org/presentationml/2006/ole">
            <mc:AlternateContent xmlns:mc="http://schemas.openxmlformats.org/markup-compatibility/2006">
              <mc:Choice xmlns:v="urn:schemas-microsoft-com:vml" Requires="v">
                <p:oleObj spid="_x0000_s148615" name="Equation" r:id="rId3" imgW="1130040" imgH="469800" progId="Equation.DSMT4">
                  <p:embed/>
                </p:oleObj>
              </mc:Choice>
              <mc:Fallback>
                <p:oleObj name="Equation" r:id="rId3" imgW="1130040" imgH="469800" progId="Equation.DSMT4">
                  <p:embed/>
                  <p:pic>
                    <p:nvPicPr>
                      <p:cNvPr id="97342" name="Object 62"/>
                      <p:cNvPicPr>
                        <a:picLocks noChangeAspect="1" noChangeArrowheads="1"/>
                      </p:cNvPicPr>
                      <p:nvPr/>
                    </p:nvPicPr>
                    <p:blipFill>
                      <a:blip r:embed="rId4"/>
                      <a:srcRect/>
                      <a:stretch>
                        <a:fillRect/>
                      </a:stretch>
                    </p:blipFill>
                    <p:spPr bwMode="auto">
                      <a:xfrm>
                        <a:off x="5808662" y="5340059"/>
                        <a:ext cx="3279775" cy="1357312"/>
                      </a:xfrm>
                      <a:prstGeom prst="rect">
                        <a:avLst/>
                      </a:prstGeom>
                      <a:gradFill rotWithShape="0">
                        <a:gsLst>
                          <a:gs pos="0">
                            <a:schemeClr val="accent1"/>
                          </a:gs>
                          <a:gs pos="50000">
                            <a:srgbClr val="FFFFFF"/>
                          </a:gs>
                          <a:gs pos="100000">
                            <a:schemeClr val="accent1"/>
                          </a:gs>
                        </a:gsLst>
                        <a:lin ang="5400000" scaled="1"/>
                      </a:gradFill>
                      <a:ln>
                        <a:noFill/>
                      </a:ln>
                      <a:extLst/>
                    </p:spPr>
                  </p:pic>
                </p:oleObj>
              </mc:Fallback>
            </mc:AlternateContent>
          </a:graphicData>
        </a:graphic>
      </p:graphicFrame>
      <p:grpSp>
        <p:nvGrpSpPr>
          <p:cNvPr id="15366" name="Group 68"/>
          <p:cNvGrpSpPr>
            <a:grpSpLocks/>
          </p:cNvGrpSpPr>
          <p:nvPr/>
        </p:nvGrpSpPr>
        <p:grpSpPr bwMode="auto">
          <a:xfrm>
            <a:off x="85725" y="476250"/>
            <a:ext cx="7007225" cy="6302375"/>
            <a:chOff x="54" y="300"/>
            <a:chExt cx="4414" cy="3970"/>
          </a:xfrm>
        </p:grpSpPr>
        <p:grpSp>
          <p:nvGrpSpPr>
            <p:cNvPr id="15367" name="Group 23"/>
            <p:cNvGrpSpPr>
              <a:grpSpLocks/>
            </p:cNvGrpSpPr>
            <p:nvPr/>
          </p:nvGrpSpPr>
          <p:grpSpPr bwMode="auto">
            <a:xfrm>
              <a:off x="54" y="300"/>
              <a:ext cx="4414" cy="3970"/>
              <a:chOff x="192" y="-575"/>
              <a:chExt cx="4414" cy="3970"/>
            </a:xfrm>
          </p:grpSpPr>
          <p:sp>
            <p:nvSpPr>
              <p:cNvPr id="15372" name="Text Box 24"/>
              <p:cNvSpPr txBox="1">
                <a:spLocks noChangeArrowheads="1"/>
              </p:cNvSpPr>
              <p:nvPr/>
            </p:nvSpPr>
            <p:spPr bwMode="auto">
              <a:xfrm>
                <a:off x="361" y="445"/>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endParaRPr lang="zh-CN" altLang="zh-CN" sz="2400">
                  <a:latin typeface="宋体" pitchFamily="2" charset="-122"/>
                </a:endParaRPr>
              </a:p>
            </p:txBody>
          </p:sp>
          <p:sp>
            <p:nvSpPr>
              <p:cNvPr id="15373" name="Arc 25"/>
              <p:cNvSpPr>
                <a:spLocks/>
              </p:cNvSpPr>
              <p:nvPr/>
            </p:nvSpPr>
            <p:spPr bwMode="auto">
              <a:xfrm flipH="1" flipV="1">
                <a:off x="992" y="-575"/>
                <a:ext cx="3614" cy="2888"/>
              </a:xfrm>
              <a:custGeom>
                <a:avLst/>
                <a:gdLst>
                  <a:gd name="T0" fmla="*/ 0 w 21107"/>
                  <a:gd name="T1" fmla="*/ 0 h 18568"/>
                  <a:gd name="T2" fmla="*/ 0 w 21107"/>
                  <a:gd name="T3" fmla="*/ 0 h 18568"/>
                  <a:gd name="T4" fmla="*/ 0 w 21107"/>
                  <a:gd name="T5" fmla="*/ 0 h 18568"/>
                  <a:gd name="T6" fmla="*/ 0 60000 65536"/>
                  <a:gd name="T7" fmla="*/ 0 60000 65536"/>
                  <a:gd name="T8" fmla="*/ 0 60000 65536"/>
                </a:gdLst>
                <a:ahLst/>
                <a:cxnLst>
                  <a:cxn ang="T6">
                    <a:pos x="T0" y="T1"/>
                  </a:cxn>
                  <a:cxn ang="T7">
                    <a:pos x="T2" y="T3"/>
                  </a:cxn>
                  <a:cxn ang="T8">
                    <a:pos x="T4" y="T5"/>
                  </a:cxn>
                </a:cxnLst>
                <a:rect l="0" t="0" r="r" b="b"/>
                <a:pathLst>
                  <a:path w="21107" h="18568" fill="none" extrusionOk="0">
                    <a:moveTo>
                      <a:pt x="11035" y="0"/>
                    </a:moveTo>
                    <a:cubicBezTo>
                      <a:pt x="16186" y="3061"/>
                      <a:pt x="19834" y="8124"/>
                      <a:pt x="21107" y="13979"/>
                    </a:cubicBezTo>
                  </a:path>
                  <a:path w="21107" h="18568" stroke="0" extrusionOk="0">
                    <a:moveTo>
                      <a:pt x="11035" y="0"/>
                    </a:moveTo>
                    <a:cubicBezTo>
                      <a:pt x="16186" y="3061"/>
                      <a:pt x="19834" y="8124"/>
                      <a:pt x="21107" y="13979"/>
                    </a:cubicBezTo>
                    <a:lnTo>
                      <a:pt x="0" y="18568"/>
                    </a:lnTo>
                    <a:lnTo>
                      <a:pt x="11035" y="0"/>
                    </a:lnTo>
                    <a:close/>
                  </a:path>
                </a:pathLst>
              </a:custGeom>
              <a:noFill/>
              <a:ln w="38100">
                <a:solidFill>
                  <a:srgbClr val="00B05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4" name="Line 26"/>
              <p:cNvSpPr>
                <a:spLocks noChangeShapeType="1"/>
              </p:cNvSpPr>
              <p:nvPr/>
            </p:nvSpPr>
            <p:spPr bwMode="auto">
              <a:xfrm>
                <a:off x="576" y="3072"/>
                <a:ext cx="302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5" name="Line 27"/>
              <p:cNvSpPr>
                <a:spLocks noChangeShapeType="1"/>
              </p:cNvSpPr>
              <p:nvPr/>
            </p:nvSpPr>
            <p:spPr bwMode="auto">
              <a:xfrm flipV="1">
                <a:off x="576" y="144"/>
                <a:ext cx="0" cy="292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6" name="Arc 28"/>
              <p:cNvSpPr>
                <a:spLocks/>
              </p:cNvSpPr>
              <p:nvPr/>
            </p:nvSpPr>
            <p:spPr bwMode="auto">
              <a:xfrm flipH="1" flipV="1">
                <a:off x="892" y="624"/>
                <a:ext cx="2036" cy="2064"/>
              </a:xfrm>
              <a:custGeom>
                <a:avLst/>
                <a:gdLst>
                  <a:gd name="T0" fmla="*/ 0 w 20819"/>
                  <a:gd name="T1" fmla="*/ 0 h 21600"/>
                  <a:gd name="T2" fmla="*/ 0 w 20819"/>
                  <a:gd name="T3" fmla="*/ 0 h 21600"/>
                  <a:gd name="T4" fmla="*/ 0 w 20819"/>
                  <a:gd name="T5" fmla="*/ 0 h 21600"/>
                  <a:gd name="T6" fmla="*/ 0 60000 65536"/>
                  <a:gd name="T7" fmla="*/ 0 60000 65536"/>
                  <a:gd name="T8" fmla="*/ 0 60000 65536"/>
                </a:gdLst>
                <a:ahLst/>
                <a:cxnLst>
                  <a:cxn ang="T6">
                    <a:pos x="T0" y="T1"/>
                  </a:cxn>
                  <a:cxn ang="T7">
                    <a:pos x="T2" y="T3"/>
                  </a:cxn>
                  <a:cxn ang="T8">
                    <a:pos x="T4" y="T5"/>
                  </a:cxn>
                </a:cxnLst>
                <a:rect l="0" t="0" r="r" b="b"/>
                <a:pathLst>
                  <a:path w="20819" h="21600" fill="none" extrusionOk="0">
                    <a:moveTo>
                      <a:pt x="-1" y="0"/>
                    </a:moveTo>
                    <a:cubicBezTo>
                      <a:pt x="9712" y="0"/>
                      <a:pt x="18230" y="6482"/>
                      <a:pt x="20818" y="15844"/>
                    </a:cubicBezTo>
                  </a:path>
                  <a:path w="20819" h="21600" stroke="0" extrusionOk="0">
                    <a:moveTo>
                      <a:pt x="-1" y="0"/>
                    </a:moveTo>
                    <a:cubicBezTo>
                      <a:pt x="9712" y="0"/>
                      <a:pt x="18230" y="6482"/>
                      <a:pt x="20818" y="15844"/>
                    </a:cubicBezTo>
                    <a:lnTo>
                      <a:pt x="0" y="21600"/>
                    </a:lnTo>
                    <a:lnTo>
                      <a:pt x="-1" y="0"/>
                    </a:lnTo>
                    <a:close/>
                  </a:path>
                </a:pathLst>
              </a:custGeom>
              <a:noFill/>
              <a:ln w="38100">
                <a:solidFill>
                  <a:srgbClr val="00B05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p>
            </p:txBody>
          </p:sp>
          <p:sp>
            <p:nvSpPr>
              <p:cNvPr id="15377" name="Arc 29"/>
              <p:cNvSpPr>
                <a:spLocks/>
              </p:cNvSpPr>
              <p:nvPr/>
            </p:nvSpPr>
            <p:spPr bwMode="auto">
              <a:xfrm flipH="1" flipV="1">
                <a:off x="1108" y="-96"/>
                <a:ext cx="2347" cy="2868"/>
              </a:xfrm>
              <a:custGeom>
                <a:avLst/>
                <a:gdLst>
                  <a:gd name="T0" fmla="*/ 0 w 21555"/>
                  <a:gd name="T1" fmla="*/ 0 h 17680"/>
                  <a:gd name="T2" fmla="*/ 0 w 21555"/>
                  <a:gd name="T3" fmla="*/ 0 h 17680"/>
                  <a:gd name="T4" fmla="*/ 0 w 21555"/>
                  <a:gd name="T5" fmla="*/ 0 h 17680"/>
                  <a:gd name="T6" fmla="*/ 0 60000 65536"/>
                  <a:gd name="T7" fmla="*/ 0 60000 65536"/>
                  <a:gd name="T8" fmla="*/ 0 60000 65536"/>
                </a:gdLst>
                <a:ahLst/>
                <a:cxnLst>
                  <a:cxn ang="T6">
                    <a:pos x="T0" y="T1"/>
                  </a:cxn>
                  <a:cxn ang="T7">
                    <a:pos x="T2" y="T3"/>
                  </a:cxn>
                  <a:cxn ang="T8">
                    <a:pos x="T4" y="T5"/>
                  </a:cxn>
                </a:cxnLst>
                <a:rect l="0" t="0" r="r" b="b"/>
                <a:pathLst>
                  <a:path w="21555" h="17680" fill="none" extrusionOk="0">
                    <a:moveTo>
                      <a:pt x="12408" y="0"/>
                    </a:moveTo>
                    <a:cubicBezTo>
                      <a:pt x="17767" y="3761"/>
                      <a:pt x="21131" y="9749"/>
                      <a:pt x="21554" y="16283"/>
                    </a:cubicBezTo>
                  </a:path>
                  <a:path w="21555" h="17680" stroke="0" extrusionOk="0">
                    <a:moveTo>
                      <a:pt x="12408" y="0"/>
                    </a:moveTo>
                    <a:cubicBezTo>
                      <a:pt x="17767" y="3761"/>
                      <a:pt x="21131" y="9749"/>
                      <a:pt x="21554" y="16283"/>
                    </a:cubicBezTo>
                    <a:lnTo>
                      <a:pt x="0" y="17680"/>
                    </a:lnTo>
                    <a:lnTo>
                      <a:pt x="12408" y="0"/>
                    </a:lnTo>
                    <a:close/>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8" name="Arc 30"/>
              <p:cNvSpPr>
                <a:spLocks/>
              </p:cNvSpPr>
              <p:nvPr/>
            </p:nvSpPr>
            <p:spPr bwMode="auto">
              <a:xfrm rot="773320" flipH="1" flipV="1">
                <a:off x="1883" y="830"/>
                <a:ext cx="1918" cy="1975"/>
              </a:xfrm>
              <a:custGeom>
                <a:avLst/>
                <a:gdLst>
                  <a:gd name="T0" fmla="*/ 0 w 19610"/>
                  <a:gd name="T1" fmla="*/ 0 h 20669"/>
                  <a:gd name="T2" fmla="*/ 0 w 19610"/>
                  <a:gd name="T3" fmla="*/ 0 h 20669"/>
                  <a:gd name="T4" fmla="*/ 0 w 19610"/>
                  <a:gd name="T5" fmla="*/ 0 h 20669"/>
                  <a:gd name="T6" fmla="*/ 0 60000 65536"/>
                  <a:gd name="T7" fmla="*/ 0 60000 65536"/>
                  <a:gd name="T8" fmla="*/ 0 60000 65536"/>
                </a:gdLst>
                <a:ahLst/>
                <a:cxnLst>
                  <a:cxn ang="T6">
                    <a:pos x="T0" y="T1"/>
                  </a:cxn>
                  <a:cxn ang="T7">
                    <a:pos x="T2" y="T3"/>
                  </a:cxn>
                  <a:cxn ang="T8">
                    <a:pos x="T4" y="T5"/>
                  </a:cxn>
                </a:cxnLst>
                <a:rect l="0" t="0" r="r" b="b"/>
                <a:pathLst>
                  <a:path w="19610" h="20669" fill="none" extrusionOk="0">
                    <a:moveTo>
                      <a:pt x="6273" y="0"/>
                    </a:moveTo>
                    <a:cubicBezTo>
                      <a:pt x="12173" y="1790"/>
                      <a:pt x="17025" y="6016"/>
                      <a:pt x="19610" y="11613"/>
                    </a:cubicBezTo>
                  </a:path>
                  <a:path w="19610" h="20669" stroke="0" extrusionOk="0">
                    <a:moveTo>
                      <a:pt x="6273" y="0"/>
                    </a:moveTo>
                    <a:cubicBezTo>
                      <a:pt x="12173" y="1790"/>
                      <a:pt x="17025" y="6016"/>
                      <a:pt x="19610" y="11613"/>
                    </a:cubicBezTo>
                    <a:lnTo>
                      <a:pt x="0" y="20669"/>
                    </a:lnTo>
                    <a:lnTo>
                      <a:pt x="6273" y="0"/>
                    </a:lnTo>
                    <a:close/>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p>
            </p:txBody>
          </p:sp>
          <p:sp>
            <p:nvSpPr>
              <p:cNvPr id="15379" name="Text Box 31"/>
              <p:cNvSpPr txBox="1">
                <a:spLocks noChangeArrowheads="1"/>
              </p:cNvSpPr>
              <p:nvPr/>
            </p:nvSpPr>
            <p:spPr bwMode="auto">
              <a:xfrm>
                <a:off x="1152" y="46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A</a:t>
                </a:r>
                <a:endParaRPr lang="en-US" altLang="zh-CN" sz="2400" b="1">
                  <a:latin typeface="宋体" pitchFamily="2" charset="-122"/>
                </a:endParaRPr>
              </a:p>
            </p:txBody>
          </p:sp>
          <p:sp>
            <p:nvSpPr>
              <p:cNvPr id="15380" name="Text Box 32"/>
              <p:cNvSpPr txBox="1">
                <a:spLocks noChangeArrowheads="1"/>
              </p:cNvSpPr>
              <p:nvPr/>
            </p:nvSpPr>
            <p:spPr bwMode="auto">
              <a:xfrm>
                <a:off x="2064" y="166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B</a:t>
                </a:r>
                <a:endParaRPr lang="en-US" altLang="zh-CN" sz="2400" b="1">
                  <a:latin typeface="宋体" pitchFamily="2" charset="-122"/>
                </a:endParaRPr>
              </a:p>
            </p:txBody>
          </p:sp>
          <p:sp>
            <p:nvSpPr>
              <p:cNvPr id="15381" name="Text Box 33"/>
              <p:cNvSpPr txBox="1">
                <a:spLocks noChangeArrowheads="1"/>
              </p:cNvSpPr>
              <p:nvPr/>
            </p:nvSpPr>
            <p:spPr bwMode="auto">
              <a:xfrm>
                <a:off x="2620" y="238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C</a:t>
                </a:r>
                <a:endParaRPr lang="en-US" altLang="zh-CN" sz="2400" b="1">
                  <a:latin typeface="宋体" pitchFamily="2" charset="-122"/>
                </a:endParaRPr>
              </a:p>
            </p:txBody>
          </p:sp>
          <p:sp>
            <p:nvSpPr>
              <p:cNvPr id="15382" name="Text Box 34"/>
              <p:cNvSpPr txBox="1">
                <a:spLocks noChangeArrowheads="1"/>
              </p:cNvSpPr>
              <p:nvPr/>
            </p:nvSpPr>
            <p:spPr bwMode="auto">
              <a:xfrm>
                <a:off x="1476" y="2147"/>
                <a:ext cx="21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endParaRPr lang="en-US" altLang="zh-CN" sz="2400" b="1" i="1">
                  <a:latin typeface="宋体" pitchFamily="2" charset="-122"/>
                </a:endParaRPr>
              </a:p>
              <a:p>
                <a:pPr algn="l" eaLnBrk="1" hangingPunct="1"/>
                <a:r>
                  <a:rPr lang="en-US" altLang="zh-CN" sz="2400" b="1" i="1">
                    <a:latin typeface="宋体" pitchFamily="2" charset="-122"/>
                  </a:rPr>
                  <a:t>D</a:t>
                </a:r>
              </a:p>
            </p:txBody>
          </p:sp>
          <p:sp>
            <p:nvSpPr>
              <p:cNvPr id="15383" name="Text Box 35"/>
              <p:cNvSpPr txBox="1">
                <a:spLocks noChangeArrowheads="1"/>
              </p:cNvSpPr>
              <p:nvPr/>
            </p:nvSpPr>
            <p:spPr bwMode="auto">
              <a:xfrm>
                <a:off x="336" y="12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P</a:t>
                </a:r>
                <a:endParaRPr lang="en-US" altLang="zh-CN" sz="2800" b="1">
                  <a:latin typeface="宋体" pitchFamily="2" charset="-122"/>
                </a:endParaRPr>
              </a:p>
            </p:txBody>
          </p:sp>
          <p:sp>
            <p:nvSpPr>
              <p:cNvPr id="15384" name="Text Box 36"/>
              <p:cNvSpPr txBox="1">
                <a:spLocks noChangeArrowheads="1"/>
              </p:cNvSpPr>
              <p:nvPr/>
            </p:nvSpPr>
            <p:spPr bwMode="auto">
              <a:xfrm>
                <a:off x="3360" y="3068"/>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i="1">
                    <a:latin typeface="宋体" pitchFamily="2" charset="-122"/>
                  </a:rPr>
                  <a:t>V</a:t>
                </a:r>
                <a:endParaRPr lang="en-US" altLang="zh-CN" sz="2800" b="1">
                  <a:latin typeface="宋体" pitchFamily="2" charset="-122"/>
                </a:endParaRPr>
              </a:p>
            </p:txBody>
          </p:sp>
          <p:sp>
            <p:nvSpPr>
              <p:cNvPr id="15385" name="Text Box 37"/>
              <p:cNvSpPr txBox="1">
                <a:spLocks noChangeArrowheads="1"/>
              </p:cNvSpPr>
              <p:nvPr/>
            </p:nvSpPr>
            <p:spPr bwMode="auto">
              <a:xfrm>
                <a:off x="384" y="2882"/>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latin typeface="宋体" pitchFamily="2" charset="-122"/>
                  </a:rPr>
                  <a:t>0</a:t>
                </a:r>
                <a:endParaRPr lang="en-US" altLang="zh-CN" sz="2400">
                  <a:latin typeface="宋体" pitchFamily="2" charset="-122"/>
                </a:endParaRPr>
              </a:p>
            </p:txBody>
          </p:sp>
          <p:sp>
            <p:nvSpPr>
              <p:cNvPr id="15386" name="Line 38"/>
              <p:cNvSpPr>
                <a:spLocks noChangeShapeType="1"/>
              </p:cNvSpPr>
              <p:nvPr/>
            </p:nvSpPr>
            <p:spPr bwMode="auto">
              <a:xfrm>
                <a:off x="2640" y="2688"/>
                <a:ext cx="0" cy="384"/>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7" name="Line 39"/>
              <p:cNvSpPr>
                <a:spLocks noChangeShapeType="1"/>
              </p:cNvSpPr>
              <p:nvPr/>
            </p:nvSpPr>
            <p:spPr bwMode="auto">
              <a:xfrm>
                <a:off x="1152" y="672"/>
                <a:ext cx="0" cy="240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8" name="Line 40"/>
              <p:cNvSpPr>
                <a:spLocks noChangeShapeType="1"/>
              </p:cNvSpPr>
              <p:nvPr/>
            </p:nvSpPr>
            <p:spPr bwMode="auto">
              <a:xfrm>
                <a:off x="1776" y="2352"/>
                <a:ext cx="0" cy="72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9" name="Line 41"/>
              <p:cNvSpPr>
                <a:spLocks noChangeShapeType="1"/>
              </p:cNvSpPr>
              <p:nvPr/>
            </p:nvSpPr>
            <p:spPr bwMode="auto">
              <a:xfrm>
                <a:off x="2064" y="1872"/>
                <a:ext cx="0" cy="120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0" name="Text Box 42"/>
              <p:cNvSpPr txBox="1">
                <a:spLocks noChangeArrowheads="1"/>
              </p:cNvSpPr>
              <p:nvPr/>
            </p:nvSpPr>
            <p:spPr bwMode="auto">
              <a:xfrm>
                <a:off x="998" y="3060"/>
                <a:ext cx="2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V</a:t>
                </a:r>
                <a:r>
                  <a:rPr lang="en-US" altLang="zh-CN" sz="2400" b="1" baseline="-25000">
                    <a:latin typeface="宋体" pitchFamily="2" charset="-122"/>
                  </a:rPr>
                  <a:t>1</a:t>
                </a:r>
                <a:endParaRPr lang="en-US" altLang="zh-CN" sz="2400">
                  <a:latin typeface="宋体" pitchFamily="2" charset="-122"/>
                </a:endParaRPr>
              </a:p>
            </p:txBody>
          </p:sp>
          <p:sp>
            <p:nvSpPr>
              <p:cNvPr id="15391" name="Text Box 43"/>
              <p:cNvSpPr txBox="1">
                <a:spLocks noChangeArrowheads="1"/>
              </p:cNvSpPr>
              <p:nvPr/>
            </p:nvSpPr>
            <p:spPr bwMode="auto">
              <a:xfrm>
                <a:off x="1653" y="3060"/>
                <a:ext cx="2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V</a:t>
                </a:r>
                <a:r>
                  <a:rPr lang="en-US" altLang="zh-CN" sz="2400" b="1" baseline="-25000">
                    <a:latin typeface="宋体" pitchFamily="2" charset="-122"/>
                  </a:rPr>
                  <a:t>4</a:t>
                </a:r>
                <a:endParaRPr lang="en-US" altLang="zh-CN" sz="2400">
                  <a:latin typeface="宋体" pitchFamily="2" charset="-122"/>
                </a:endParaRPr>
              </a:p>
            </p:txBody>
          </p:sp>
          <p:sp>
            <p:nvSpPr>
              <p:cNvPr id="15392" name="Text Box 44"/>
              <p:cNvSpPr txBox="1">
                <a:spLocks noChangeArrowheads="1"/>
              </p:cNvSpPr>
              <p:nvPr/>
            </p:nvSpPr>
            <p:spPr bwMode="auto">
              <a:xfrm>
                <a:off x="1989" y="3060"/>
                <a:ext cx="2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V</a:t>
                </a:r>
                <a:r>
                  <a:rPr lang="en-US" altLang="zh-CN" sz="2400" b="1" baseline="-25000">
                    <a:latin typeface="宋体" pitchFamily="2" charset="-122"/>
                  </a:rPr>
                  <a:t>2</a:t>
                </a:r>
                <a:endParaRPr lang="en-US" altLang="zh-CN" sz="2400">
                  <a:latin typeface="宋体" pitchFamily="2" charset="-122"/>
                </a:endParaRPr>
              </a:p>
            </p:txBody>
          </p:sp>
          <p:sp>
            <p:nvSpPr>
              <p:cNvPr id="15393" name="Text Box 45"/>
              <p:cNvSpPr txBox="1">
                <a:spLocks noChangeArrowheads="1"/>
              </p:cNvSpPr>
              <p:nvPr/>
            </p:nvSpPr>
            <p:spPr bwMode="auto">
              <a:xfrm>
                <a:off x="2565" y="3060"/>
                <a:ext cx="2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V</a:t>
                </a:r>
                <a:r>
                  <a:rPr lang="en-US" altLang="zh-CN" sz="2400" b="1" baseline="-25000">
                    <a:latin typeface="宋体" pitchFamily="2" charset="-122"/>
                  </a:rPr>
                  <a:t>3</a:t>
                </a:r>
                <a:endParaRPr lang="en-US" altLang="zh-CN" sz="2400">
                  <a:latin typeface="宋体" pitchFamily="2" charset="-122"/>
                </a:endParaRPr>
              </a:p>
            </p:txBody>
          </p:sp>
          <p:sp>
            <p:nvSpPr>
              <p:cNvPr id="15394" name="Text Box 46"/>
              <p:cNvSpPr txBox="1">
                <a:spLocks noChangeArrowheads="1"/>
              </p:cNvSpPr>
              <p:nvPr/>
            </p:nvSpPr>
            <p:spPr bwMode="auto">
              <a:xfrm>
                <a:off x="2688" y="2160"/>
                <a:ext cx="3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400" b="1">
                    <a:solidFill>
                      <a:srgbClr val="CC3300"/>
                    </a:solidFill>
                    <a:latin typeface="宋体" pitchFamily="2" charset="-122"/>
                  </a:rPr>
                  <a:t>T</a:t>
                </a:r>
                <a:r>
                  <a:rPr lang="en-US" altLang="zh-CN" sz="2400" b="1" baseline="-25000">
                    <a:solidFill>
                      <a:srgbClr val="CC3300"/>
                    </a:solidFill>
                    <a:latin typeface="宋体" pitchFamily="2" charset="-122"/>
                  </a:rPr>
                  <a:t>1</a:t>
                </a:r>
                <a:endParaRPr lang="en-US" altLang="zh-CN" sz="2400" b="1">
                  <a:solidFill>
                    <a:srgbClr val="CC3300"/>
                  </a:solidFill>
                  <a:latin typeface="宋体" pitchFamily="2" charset="-122"/>
                </a:endParaRPr>
              </a:p>
            </p:txBody>
          </p:sp>
          <p:sp>
            <p:nvSpPr>
              <p:cNvPr id="15395" name="Text Box 47"/>
              <p:cNvSpPr txBox="1">
                <a:spLocks noChangeArrowheads="1"/>
              </p:cNvSpPr>
              <p:nvPr/>
            </p:nvSpPr>
            <p:spPr bwMode="auto">
              <a:xfrm>
                <a:off x="2928" y="2544"/>
                <a:ext cx="3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400" b="1">
                    <a:solidFill>
                      <a:srgbClr val="CC3300"/>
                    </a:solidFill>
                    <a:latin typeface="宋体" pitchFamily="2" charset="-122"/>
                  </a:rPr>
                  <a:t>T</a:t>
                </a:r>
                <a:r>
                  <a:rPr lang="en-US" altLang="zh-CN" sz="2400" b="1" baseline="-25000">
                    <a:solidFill>
                      <a:srgbClr val="CC3300"/>
                    </a:solidFill>
                    <a:latin typeface="宋体" pitchFamily="2" charset="-122"/>
                  </a:rPr>
                  <a:t>2</a:t>
                </a:r>
                <a:endParaRPr lang="en-US" altLang="zh-CN" sz="2400" b="1">
                  <a:solidFill>
                    <a:srgbClr val="CC3300"/>
                  </a:solidFill>
                  <a:latin typeface="宋体" pitchFamily="2" charset="-122"/>
                </a:endParaRPr>
              </a:p>
            </p:txBody>
          </p:sp>
          <p:sp>
            <p:nvSpPr>
              <p:cNvPr id="15396" name="Line 48"/>
              <p:cNvSpPr>
                <a:spLocks noChangeShapeType="1"/>
              </p:cNvSpPr>
              <p:nvPr/>
            </p:nvSpPr>
            <p:spPr bwMode="auto">
              <a:xfrm flipH="1">
                <a:off x="575" y="623"/>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7" name="Line 49"/>
              <p:cNvSpPr>
                <a:spLocks noChangeShapeType="1"/>
              </p:cNvSpPr>
              <p:nvPr/>
            </p:nvSpPr>
            <p:spPr bwMode="auto">
              <a:xfrm flipH="1">
                <a:off x="575" y="1872"/>
                <a:ext cx="14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8" name="Line 50"/>
              <p:cNvSpPr>
                <a:spLocks noChangeShapeType="1"/>
              </p:cNvSpPr>
              <p:nvPr/>
            </p:nvSpPr>
            <p:spPr bwMode="auto">
              <a:xfrm flipH="1">
                <a:off x="576" y="2352"/>
                <a:ext cx="12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9" name="Line 51"/>
              <p:cNvSpPr>
                <a:spLocks noChangeShapeType="1"/>
              </p:cNvSpPr>
              <p:nvPr/>
            </p:nvSpPr>
            <p:spPr bwMode="auto">
              <a:xfrm flipH="1">
                <a:off x="576" y="2688"/>
                <a:ext cx="211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0" name="Text Box 52"/>
              <p:cNvSpPr txBox="1">
                <a:spLocks noChangeArrowheads="1"/>
              </p:cNvSpPr>
              <p:nvPr/>
            </p:nvSpPr>
            <p:spPr bwMode="auto">
              <a:xfrm>
                <a:off x="278" y="493"/>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宋体" pitchFamily="2" charset="-122"/>
                  </a:rPr>
                  <a:t>p</a:t>
                </a:r>
                <a:r>
                  <a:rPr lang="en-US" altLang="zh-CN" sz="2400" baseline="-25000">
                    <a:latin typeface="宋体" pitchFamily="2" charset="-122"/>
                  </a:rPr>
                  <a:t>1</a:t>
                </a:r>
              </a:p>
            </p:txBody>
          </p:sp>
          <p:sp>
            <p:nvSpPr>
              <p:cNvPr id="15401" name="Text Box 53"/>
              <p:cNvSpPr txBox="1">
                <a:spLocks noChangeArrowheads="1"/>
              </p:cNvSpPr>
              <p:nvPr/>
            </p:nvSpPr>
            <p:spPr bwMode="auto">
              <a:xfrm>
                <a:off x="192" y="2173"/>
                <a:ext cx="2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宋体" pitchFamily="2" charset="-122"/>
                  </a:rPr>
                  <a:t>p</a:t>
                </a:r>
                <a:r>
                  <a:rPr lang="en-US" altLang="zh-CN" sz="2400" b="1" baseline="-25000">
                    <a:latin typeface="宋体" pitchFamily="2" charset="-122"/>
                  </a:rPr>
                  <a:t>4</a:t>
                </a:r>
              </a:p>
            </p:txBody>
          </p:sp>
          <p:sp>
            <p:nvSpPr>
              <p:cNvPr id="15402" name="Text Box 54"/>
              <p:cNvSpPr txBox="1">
                <a:spLocks noChangeArrowheads="1"/>
              </p:cNvSpPr>
              <p:nvPr/>
            </p:nvSpPr>
            <p:spPr bwMode="auto">
              <a:xfrm>
                <a:off x="192" y="1693"/>
                <a:ext cx="2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宋体" pitchFamily="2" charset="-122"/>
                  </a:rPr>
                  <a:t>p</a:t>
                </a:r>
                <a:r>
                  <a:rPr lang="en-US" altLang="zh-CN" sz="2400" b="1" baseline="-25000">
                    <a:latin typeface="宋体" pitchFamily="2" charset="-122"/>
                  </a:rPr>
                  <a:t>2</a:t>
                </a:r>
              </a:p>
            </p:txBody>
          </p:sp>
          <p:sp>
            <p:nvSpPr>
              <p:cNvPr id="15403" name="Text Box 55"/>
              <p:cNvSpPr txBox="1">
                <a:spLocks noChangeArrowheads="1"/>
              </p:cNvSpPr>
              <p:nvPr/>
            </p:nvSpPr>
            <p:spPr bwMode="auto">
              <a:xfrm>
                <a:off x="192" y="2509"/>
                <a:ext cx="2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宋体" pitchFamily="2" charset="-122"/>
                  </a:rPr>
                  <a:t>p</a:t>
                </a:r>
                <a:r>
                  <a:rPr lang="en-US" altLang="zh-CN" sz="2400" b="1" baseline="-25000">
                    <a:latin typeface="宋体" pitchFamily="2" charset="-122"/>
                  </a:rPr>
                  <a:t>3</a:t>
                </a:r>
              </a:p>
            </p:txBody>
          </p:sp>
          <p:sp>
            <p:nvSpPr>
              <p:cNvPr id="15404" name="AutoShape 56"/>
              <p:cNvSpPr>
                <a:spLocks noChangeArrowheads="1"/>
              </p:cNvSpPr>
              <p:nvPr/>
            </p:nvSpPr>
            <p:spPr bwMode="auto">
              <a:xfrm>
                <a:off x="1536" y="1008"/>
                <a:ext cx="193" cy="721"/>
              </a:xfrm>
              <a:prstGeom prst="downArrow">
                <a:avLst>
                  <a:gd name="adj1" fmla="val 50000"/>
                  <a:gd name="adj2" fmla="val 93394"/>
                </a:avLst>
              </a:prstGeom>
              <a:solidFill>
                <a:srgbClr val="FFFF66"/>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5" name="AutoShape 57"/>
              <p:cNvSpPr>
                <a:spLocks noChangeArrowheads="1"/>
              </p:cNvSpPr>
              <p:nvPr/>
            </p:nvSpPr>
            <p:spPr bwMode="auto">
              <a:xfrm>
                <a:off x="2208" y="2400"/>
                <a:ext cx="144" cy="576"/>
              </a:xfrm>
              <a:prstGeom prst="downArrow">
                <a:avLst>
                  <a:gd name="adj1" fmla="val 50000"/>
                  <a:gd name="adj2" fmla="val 100000"/>
                </a:avLst>
              </a:prstGeom>
              <a:solidFill>
                <a:srgbClr val="FFFF66"/>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6" name="Text Box 58"/>
              <p:cNvSpPr txBox="1">
                <a:spLocks noChangeArrowheads="1"/>
              </p:cNvSpPr>
              <p:nvPr/>
            </p:nvSpPr>
            <p:spPr bwMode="auto">
              <a:xfrm>
                <a:off x="1718" y="1069"/>
                <a:ext cx="278"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宋体" pitchFamily="2" charset="-122"/>
                  </a:rPr>
                  <a:t>Q</a:t>
                </a:r>
                <a:r>
                  <a:rPr lang="en-US" altLang="zh-CN" sz="2400" b="1" baseline="-25000">
                    <a:latin typeface="宋体" pitchFamily="2" charset="-122"/>
                  </a:rPr>
                  <a:t>1</a:t>
                </a:r>
              </a:p>
            </p:txBody>
          </p:sp>
          <p:sp>
            <p:nvSpPr>
              <p:cNvPr id="15407" name="Text Box 59"/>
              <p:cNvSpPr txBox="1">
                <a:spLocks noChangeArrowheads="1"/>
              </p:cNvSpPr>
              <p:nvPr/>
            </p:nvSpPr>
            <p:spPr bwMode="auto">
              <a:xfrm>
                <a:off x="2304" y="2749"/>
                <a:ext cx="278"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宋体" pitchFamily="2" charset="-122"/>
                  </a:rPr>
                  <a:t>Q</a:t>
                </a:r>
                <a:r>
                  <a:rPr lang="en-US" altLang="zh-CN" sz="2400" b="1" baseline="-25000">
                    <a:latin typeface="宋体" pitchFamily="2" charset="-122"/>
                  </a:rPr>
                  <a:t>2</a:t>
                </a:r>
              </a:p>
            </p:txBody>
          </p:sp>
          <p:sp>
            <p:nvSpPr>
              <p:cNvPr id="15408" name="Line 60"/>
              <p:cNvSpPr>
                <a:spLocks noChangeShapeType="1"/>
              </p:cNvSpPr>
              <p:nvPr/>
            </p:nvSpPr>
            <p:spPr bwMode="auto">
              <a:xfrm flipH="1" flipV="1">
                <a:off x="1392" y="1632"/>
                <a:ext cx="192" cy="384"/>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368" name="Oval 64"/>
            <p:cNvSpPr>
              <a:spLocks noChangeArrowheads="1"/>
            </p:cNvSpPr>
            <p:nvPr/>
          </p:nvSpPr>
          <p:spPr bwMode="auto">
            <a:xfrm>
              <a:off x="2472" y="3475"/>
              <a:ext cx="136" cy="136"/>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solidFill>
                  <a:schemeClr val="hlink"/>
                </a:solidFill>
              </a:endParaRPr>
            </a:p>
          </p:txBody>
        </p:sp>
        <p:sp>
          <p:nvSpPr>
            <p:cNvPr id="15369" name="Oval 65"/>
            <p:cNvSpPr>
              <a:spLocks noChangeArrowheads="1"/>
            </p:cNvSpPr>
            <p:nvPr/>
          </p:nvSpPr>
          <p:spPr bwMode="auto">
            <a:xfrm>
              <a:off x="1565" y="3158"/>
              <a:ext cx="136" cy="136"/>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solidFill>
                  <a:schemeClr val="hlink"/>
                </a:solidFill>
              </a:endParaRPr>
            </a:p>
          </p:txBody>
        </p:sp>
        <p:sp>
          <p:nvSpPr>
            <p:cNvPr id="15370" name="Oval 66"/>
            <p:cNvSpPr>
              <a:spLocks noChangeArrowheads="1"/>
            </p:cNvSpPr>
            <p:nvPr/>
          </p:nvSpPr>
          <p:spPr bwMode="auto">
            <a:xfrm>
              <a:off x="1837" y="2704"/>
              <a:ext cx="136" cy="136"/>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solidFill>
                  <a:schemeClr val="hlink"/>
                </a:solidFill>
              </a:endParaRPr>
            </a:p>
          </p:txBody>
        </p:sp>
        <p:sp>
          <p:nvSpPr>
            <p:cNvPr id="15371" name="Oval 67"/>
            <p:cNvSpPr>
              <a:spLocks noChangeArrowheads="1"/>
            </p:cNvSpPr>
            <p:nvPr/>
          </p:nvSpPr>
          <p:spPr bwMode="auto">
            <a:xfrm>
              <a:off x="930" y="1434"/>
              <a:ext cx="136" cy="136"/>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solidFill>
                  <a:schemeClr val="hlink"/>
                </a:solidFill>
              </a:endParaRPr>
            </a:p>
          </p:txBody>
        </p:sp>
      </p:grpSp>
      <p:sp>
        <p:nvSpPr>
          <p:cNvPr id="2" name="矩形 1"/>
          <p:cNvSpPr/>
          <p:nvPr/>
        </p:nvSpPr>
        <p:spPr>
          <a:xfrm>
            <a:off x="3658826" y="3057775"/>
            <a:ext cx="5588388" cy="553998"/>
          </a:xfrm>
          <a:prstGeom prst="rect">
            <a:avLst/>
          </a:prstGeom>
        </p:spPr>
        <p:txBody>
          <a:bodyPr wrap="none">
            <a:spAutoFit/>
          </a:bodyPr>
          <a:lstStyle/>
          <a:p>
            <a:r>
              <a:rPr lang="en-US" altLang="zh-CN" sz="3000" b="1">
                <a:solidFill>
                  <a:srgbClr val="3333FF"/>
                </a:solidFill>
                <a:latin typeface="宋体" pitchFamily="2" charset="-122"/>
                <a:sym typeface="Symbol" pitchFamily="18" charset="2"/>
              </a:rPr>
              <a:t>DA</a:t>
            </a:r>
            <a:r>
              <a:rPr lang="zh-CN" altLang="en-US" sz="3000" b="1">
                <a:solidFill>
                  <a:srgbClr val="3333FF"/>
                </a:solidFill>
                <a:latin typeface="宋体" pitchFamily="2" charset="-122"/>
              </a:rPr>
              <a:t>：绝热压缩绝热压缩过程</a:t>
            </a:r>
            <a:r>
              <a:rPr lang="zh-CN" altLang="en-US" sz="3000" b="1">
                <a:solidFill>
                  <a:srgbClr val="FF0000"/>
                </a:solidFill>
                <a:latin typeface="宋体" pitchFamily="2" charset="-122"/>
              </a:rPr>
              <a:t>：</a:t>
            </a:r>
            <a:endParaRPr lang="zh-CN" altLang="en-US" sz="3000">
              <a:solidFill>
                <a:srgbClr val="FF0000"/>
              </a:solidFill>
            </a:endParaRPr>
          </a:p>
        </p:txBody>
      </p:sp>
      <p:sp>
        <p:nvSpPr>
          <p:cNvPr id="48" name="Text Box 49">
            <a:extLst>
              <a:ext uri="{FF2B5EF4-FFF2-40B4-BE49-F238E27FC236}">
                <a16:creationId xmlns:a16="http://schemas.microsoft.com/office/drawing/2014/main" id="{38169A39-003B-4852-8E1A-5CE1C2F517E0}"/>
              </a:ext>
            </a:extLst>
          </p:cNvPr>
          <p:cNvSpPr txBox="1">
            <a:spLocks noChangeArrowheads="1"/>
          </p:cNvSpPr>
          <p:nvPr/>
        </p:nvSpPr>
        <p:spPr bwMode="auto">
          <a:xfrm>
            <a:off x="2319436" y="631615"/>
            <a:ext cx="692777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3000" b="1">
                <a:solidFill>
                  <a:srgbClr val="3333FF"/>
                </a:solidFill>
                <a:latin typeface="宋体" pitchFamily="2" charset="-122"/>
              </a:rPr>
              <a:t>B</a:t>
            </a:r>
            <a:r>
              <a:rPr lang="en-US" altLang="zh-CN" sz="3000" b="1">
                <a:solidFill>
                  <a:srgbClr val="3333FF"/>
                </a:solidFill>
                <a:latin typeface="宋体" pitchFamily="2" charset="-122"/>
                <a:sym typeface="Symbol" pitchFamily="18" charset="2"/>
              </a:rPr>
              <a:t>C</a:t>
            </a:r>
            <a:r>
              <a:rPr lang="zh-CN" altLang="en-US" sz="3000" b="1">
                <a:solidFill>
                  <a:srgbClr val="3333FF"/>
                </a:solidFill>
                <a:latin typeface="宋体" pitchFamily="2" charset="-122"/>
              </a:rPr>
              <a:t>：绝热膨胀，体积</a:t>
            </a:r>
            <a:r>
              <a:rPr lang="zh-CN" altLang="en-US" sz="3000" b="1">
                <a:latin typeface="宋体" pitchFamily="2" charset="-122"/>
              </a:rPr>
              <a:t>由</a:t>
            </a:r>
            <a:r>
              <a:rPr lang="en-US" altLang="zh-CN" sz="3000" b="1">
                <a:latin typeface="宋体" pitchFamily="2" charset="-122"/>
              </a:rPr>
              <a:t>V</a:t>
            </a:r>
            <a:r>
              <a:rPr lang="en-US" altLang="zh-CN" sz="3000" b="1" baseline="-25000">
                <a:latin typeface="宋体" pitchFamily="2" charset="-122"/>
              </a:rPr>
              <a:t>2</a:t>
            </a:r>
            <a:r>
              <a:rPr lang="zh-CN" altLang="en-US" sz="3000" b="1">
                <a:latin typeface="宋体" pitchFamily="2" charset="-122"/>
              </a:rPr>
              <a:t>变到</a:t>
            </a:r>
            <a:r>
              <a:rPr lang="en-US" altLang="zh-CN" sz="3000" b="1">
                <a:latin typeface="宋体" pitchFamily="2" charset="-122"/>
              </a:rPr>
              <a:t>V</a:t>
            </a:r>
            <a:r>
              <a:rPr lang="en-US" altLang="zh-CN" sz="3000" b="1" baseline="-25000">
                <a:latin typeface="宋体" pitchFamily="2" charset="-122"/>
              </a:rPr>
              <a:t>3</a:t>
            </a:r>
            <a:r>
              <a:rPr lang="zh-CN" altLang="en-US" sz="3000" b="1">
                <a:latin typeface="宋体" pitchFamily="2" charset="-122"/>
              </a:rPr>
              <a:t>，系统不吸收热量，对外所作的功等于系统减少的内能</a:t>
            </a:r>
          </a:p>
        </p:txBody>
      </p:sp>
      <p:graphicFrame>
        <p:nvGraphicFramePr>
          <p:cNvPr id="49" name="Object 52">
            <a:extLst>
              <a:ext uri="{FF2B5EF4-FFF2-40B4-BE49-F238E27FC236}">
                <a16:creationId xmlns:a16="http://schemas.microsoft.com/office/drawing/2014/main" id="{570D482C-F61B-45D7-9655-E6BCCCDA1834}"/>
              </a:ext>
            </a:extLst>
          </p:cNvPr>
          <p:cNvGraphicFramePr>
            <a:graphicFrameLocks noChangeAspect="1"/>
          </p:cNvGraphicFramePr>
          <p:nvPr>
            <p:extLst>
              <p:ext uri="{D42A27DB-BD31-4B8C-83A1-F6EECF244321}">
                <p14:modId xmlns:p14="http://schemas.microsoft.com/office/powerpoint/2010/main" val="3735293186"/>
              </p:ext>
            </p:extLst>
          </p:nvPr>
        </p:nvGraphicFramePr>
        <p:xfrm>
          <a:off x="2872704" y="2130040"/>
          <a:ext cx="6188075" cy="850900"/>
        </p:xfrm>
        <a:graphic>
          <a:graphicData uri="http://schemas.openxmlformats.org/presentationml/2006/ole">
            <mc:AlternateContent xmlns:mc="http://schemas.openxmlformats.org/markup-compatibility/2006">
              <mc:Choice xmlns:v="urn:schemas-microsoft-com:vml" Requires="v">
                <p:oleObj spid="_x0000_s148616" name="Equation" r:id="rId5" imgW="1752480" imgH="241200" progId="Equation.DSMT4">
                  <p:embed/>
                </p:oleObj>
              </mc:Choice>
              <mc:Fallback>
                <p:oleObj name="Equation" r:id="rId5" imgW="1752480" imgH="241200" progId="Equation.DSMT4">
                  <p:embed/>
                  <p:pic>
                    <p:nvPicPr>
                      <p:cNvPr id="49" name="Object 52">
                        <a:extLst>
                          <a:ext uri="{FF2B5EF4-FFF2-40B4-BE49-F238E27FC236}">
                            <a16:creationId xmlns:a16="http://schemas.microsoft.com/office/drawing/2014/main" id="{06381CF7-AA6E-4B5E-8C3E-640D3E8847C0}"/>
                          </a:ext>
                        </a:extLst>
                      </p:cNvPr>
                      <p:cNvPicPr>
                        <a:picLocks noChangeAspect="1" noChangeArrowheads="1"/>
                      </p:cNvPicPr>
                      <p:nvPr/>
                    </p:nvPicPr>
                    <p:blipFill>
                      <a:blip r:embed="rId6"/>
                      <a:srcRect/>
                      <a:stretch>
                        <a:fillRect/>
                      </a:stretch>
                    </p:blipFill>
                    <p:spPr bwMode="auto">
                      <a:xfrm>
                        <a:off x="2872704" y="2130040"/>
                        <a:ext cx="6188075" cy="850900"/>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
        <p:nvSpPr>
          <p:cNvPr id="50" name="Text Box 51">
            <a:extLst>
              <a:ext uri="{FF2B5EF4-FFF2-40B4-BE49-F238E27FC236}">
                <a16:creationId xmlns:a16="http://schemas.microsoft.com/office/drawing/2014/main" id="{D37B178A-21BC-43C6-B1DF-20286B53BE8F}"/>
              </a:ext>
            </a:extLst>
          </p:cNvPr>
          <p:cNvSpPr txBox="1">
            <a:spLocks noChangeArrowheads="1"/>
          </p:cNvSpPr>
          <p:nvPr/>
        </p:nvSpPr>
        <p:spPr bwMode="auto">
          <a:xfrm>
            <a:off x="222250" y="68916"/>
            <a:ext cx="7490790" cy="52322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solidFill>
                  <a:srgbClr val="FF3300"/>
                </a:solidFill>
                <a:ea typeface="楷体_GB2312" pitchFamily="49" charset="-122"/>
              </a:rPr>
              <a:t>(1)</a:t>
            </a:r>
            <a:r>
              <a:rPr lang="zh-CN" altLang="en-US" sz="2800" b="1">
                <a:solidFill>
                  <a:srgbClr val="FF3300"/>
                </a:solidFill>
                <a:ea typeface="楷体_GB2312" pitchFamily="49" charset="-122"/>
              </a:rPr>
              <a:t>卡诺热机的四个过程：</a:t>
            </a:r>
            <a:r>
              <a:rPr lang="zh-CN" altLang="en-US" sz="2800" b="1">
                <a:solidFill>
                  <a:srgbClr val="3333FF"/>
                </a:solidFill>
                <a:ea typeface="楷体_GB2312" pitchFamily="49" charset="-122"/>
              </a:rPr>
              <a:t>绝热过程</a:t>
            </a:r>
            <a:endParaRPr lang="zh-CN" altLang="en-US" sz="3600" b="1">
              <a:solidFill>
                <a:srgbClr val="3333FF"/>
              </a:solidFill>
              <a:ea typeface="楷体_GB2312" pitchFamily="49" charset="-122"/>
            </a:endParaRPr>
          </a:p>
        </p:txBody>
      </p:sp>
    </p:spTree>
    <p:extLst>
      <p:ext uri="{BB962C8B-B14F-4D97-AF65-F5344CB8AC3E}">
        <p14:creationId xmlns:p14="http://schemas.microsoft.com/office/powerpoint/2010/main" val="87150726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left)">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left)">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left)">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7285"/>
                                        </p:tgtEl>
                                        <p:attrNameLst>
                                          <p:attrName>style.visibility</p:attrName>
                                        </p:attrNameLst>
                                      </p:cBhvr>
                                      <p:to>
                                        <p:strVal val="visible"/>
                                      </p:to>
                                    </p:set>
                                    <p:animEffect transition="in" filter="wipe(left)">
                                      <p:cBhvr>
                                        <p:cTn id="26" dur="500"/>
                                        <p:tgtEl>
                                          <p:spTgt spid="9728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7342"/>
                                        </p:tgtEl>
                                        <p:attrNameLst>
                                          <p:attrName>style.visibility</p:attrName>
                                        </p:attrNameLst>
                                      </p:cBhvr>
                                      <p:to>
                                        <p:strVal val="visible"/>
                                      </p:to>
                                    </p:set>
                                    <p:animEffect transition="in" filter="wipe(left)">
                                      <p:cBhvr>
                                        <p:cTn id="31" dur="500"/>
                                        <p:tgtEl>
                                          <p:spTgt spid="97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5" grpId="0" autoUpdateAnimBg="0"/>
      <p:bldP spid="2" grpId="0"/>
      <p:bldP spid="48" grpId="0" autoUpdateAnimBg="0"/>
      <p:bldP spid="5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03" name="Picture 2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99" y="3485236"/>
            <a:ext cx="4336041" cy="3370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6196" name="Text Box 4"/>
          <p:cNvSpPr txBox="1">
            <a:spLocks noChangeArrowheads="1"/>
          </p:cNvSpPr>
          <p:nvPr/>
        </p:nvSpPr>
        <p:spPr bwMode="auto">
          <a:xfrm>
            <a:off x="2849051" y="2561256"/>
            <a:ext cx="5832475" cy="2449513"/>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a:latin typeface="宋体" pitchFamily="2" charset="-122"/>
              </a:rPr>
              <a:t>在一次循环中，系统对外界所作的净功为</a:t>
            </a:r>
          </a:p>
          <a:p>
            <a:pPr algn="l" eaLnBrk="1" hangingPunct="1"/>
            <a:r>
              <a:rPr lang="zh-CN" altLang="en-US" sz="2400" b="1">
                <a:latin typeface="宋体" pitchFamily="2" charset="-122"/>
              </a:rPr>
              <a:t>   </a:t>
            </a:r>
            <a:r>
              <a:rPr lang="en-US" altLang="zh-CN" sz="2400" b="1" i="1">
                <a:latin typeface="宋体" pitchFamily="2" charset="-122"/>
              </a:rPr>
              <a:t>A</a:t>
            </a:r>
            <a:r>
              <a:rPr lang="en-US" altLang="zh-CN" sz="2400" b="1" i="1"/>
              <a:t>= A</a:t>
            </a:r>
            <a:r>
              <a:rPr lang="en-US" altLang="zh-CN" sz="2400" b="1" baseline="-25000"/>
              <a:t>1</a:t>
            </a:r>
            <a:r>
              <a:rPr lang="en-US" altLang="zh-CN" sz="2400" b="1" i="1"/>
              <a:t>+A</a:t>
            </a:r>
            <a:r>
              <a:rPr lang="en-US" altLang="zh-CN" sz="2400" b="1" baseline="-25000"/>
              <a:t>2</a:t>
            </a:r>
            <a:r>
              <a:rPr lang="en-US" altLang="zh-CN" sz="2400" b="1" i="1"/>
              <a:t>+A</a:t>
            </a:r>
            <a:r>
              <a:rPr lang="en-US" altLang="zh-CN" sz="2400" b="1" baseline="-25000"/>
              <a:t>3</a:t>
            </a:r>
            <a:r>
              <a:rPr lang="en-US" altLang="zh-CN" sz="2400" b="1" i="1"/>
              <a:t>+A</a:t>
            </a:r>
            <a:r>
              <a:rPr lang="en-US" altLang="zh-CN" sz="2400" b="1" baseline="-25000"/>
              <a:t>4</a:t>
            </a:r>
            <a:r>
              <a:rPr lang="en-US" altLang="zh-CN" sz="2400" b="1" i="1"/>
              <a:t>=Q</a:t>
            </a:r>
            <a:r>
              <a:rPr lang="en-US" altLang="zh-CN" sz="2400" b="1" baseline="-25000"/>
              <a:t>1</a:t>
            </a:r>
            <a:r>
              <a:rPr lang="en-US" altLang="zh-CN" sz="2400" b="1" i="1"/>
              <a:t>+Q</a:t>
            </a:r>
            <a:r>
              <a:rPr lang="en-US" altLang="zh-CN" sz="2400" b="1" baseline="-25000"/>
              <a:t>2</a:t>
            </a:r>
          </a:p>
          <a:p>
            <a:pPr algn="l" eaLnBrk="1" hangingPunct="1"/>
            <a:r>
              <a:rPr lang="zh-CN" altLang="en-US" sz="2400" b="1"/>
              <a:t>由于</a:t>
            </a:r>
            <a:r>
              <a:rPr lang="en-US" altLang="zh-CN" sz="2400" b="1" i="1"/>
              <a:t>V</a:t>
            </a:r>
            <a:r>
              <a:rPr lang="en-US" altLang="zh-CN" sz="2400" b="1" baseline="-25000"/>
              <a:t>2</a:t>
            </a:r>
            <a:r>
              <a:rPr lang="en-US" altLang="zh-CN" sz="2400" b="1" i="1"/>
              <a:t>&gt;V</a:t>
            </a:r>
            <a:r>
              <a:rPr lang="en-US" altLang="zh-CN" sz="2400" b="1" baseline="-25000"/>
              <a:t>1</a:t>
            </a:r>
            <a:r>
              <a:rPr lang="en-US" altLang="zh-CN" sz="2400" b="1" i="1"/>
              <a:t>,V</a:t>
            </a:r>
            <a:r>
              <a:rPr lang="en-US" altLang="zh-CN" sz="2400" b="1" baseline="-25000"/>
              <a:t>3</a:t>
            </a:r>
            <a:r>
              <a:rPr lang="en-US" altLang="zh-CN" sz="2400" b="1" i="1"/>
              <a:t>&gt;V</a:t>
            </a:r>
            <a:r>
              <a:rPr lang="en-US" altLang="zh-CN" sz="2400" b="1" baseline="-25000"/>
              <a:t>4  </a:t>
            </a:r>
            <a:r>
              <a:rPr lang="en-US" altLang="zh-CN" sz="2400" b="1" i="1"/>
              <a:t>T</a:t>
            </a:r>
            <a:r>
              <a:rPr lang="en-US" altLang="zh-CN" sz="2400" b="1" baseline="-25000"/>
              <a:t>1</a:t>
            </a:r>
            <a:r>
              <a:rPr lang="en-US" altLang="zh-CN" sz="2400" b="1" i="1"/>
              <a:t>&gt;T</a:t>
            </a:r>
            <a:r>
              <a:rPr lang="en-US" altLang="zh-CN" sz="2400" b="1" baseline="-25000"/>
              <a:t>2</a:t>
            </a:r>
          </a:p>
          <a:p>
            <a:pPr algn="l" eaLnBrk="1" hangingPunct="1"/>
            <a:r>
              <a:rPr lang="zh-CN" altLang="en-US" sz="2400" b="1"/>
              <a:t>所以</a:t>
            </a:r>
            <a:r>
              <a:rPr lang="zh-CN" altLang="en-US" sz="2400" b="1" i="1"/>
              <a:t>     </a:t>
            </a:r>
            <a:r>
              <a:rPr lang="en-US" altLang="zh-CN" sz="2400" b="1" i="1"/>
              <a:t>Q</a:t>
            </a:r>
            <a:r>
              <a:rPr lang="en-US" altLang="zh-CN" sz="2400" b="1" baseline="-25000"/>
              <a:t>1</a:t>
            </a:r>
            <a:r>
              <a:rPr lang="en-US" altLang="zh-CN" sz="2400" b="1" i="1"/>
              <a:t>&gt;0  </a:t>
            </a:r>
            <a:r>
              <a:rPr lang="en-US" altLang="zh-CN" sz="2400" b="1"/>
              <a:t>(</a:t>
            </a:r>
            <a:r>
              <a:rPr lang="zh-CN" altLang="en-US" sz="2400" b="1"/>
              <a:t>从高温热源吸热</a:t>
            </a:r>
            <a:r>
              <a:rPr lang="en-US" altLang="zh-CN" sz="2400" b="1"/>
              <a:t>)</a:t>
            </a:r>
          </a:p>
          <a:p>
            <a:pPr algn="l" eaLnBrk="1" hangingPunct="1"/>
            <a:r>
              <a:rPr lang="en-US" altLang="zh-CN" sz="2400" b="1" i="1"/>
              <a:t>            Q</a:t>
            </a:r>
            <a:r>
              <a:rPr lang="en-US" altLang="zh-CN" sz="2400" b="1" baseline="-25000"/>
              <a:t>2</a:t>
            </a:r>
            <a:r>
              <a:rPr lang="en-US" altLang="zh-CN" sz="2400" b="1" i="1"/>
              <a:t>&lt;0</a:t>
            </a:r>
            <a:r>
              <a:rPr lang="zh-CN" altLang="en-US" sz="2400" b="1"/>
              <a:t>（向低温热源放热）</a:t>
            </a:r>
          </a:p>
          <a:p>
            <a:pPr algn="l" eaLnBrk="1" hangingPunct="1"/>
            <a:r>
              <a:rPr lang="zh-CN" altLang="en-US" sz="2400" b="1"/>
              <a:t>净功为   </a:t>
            </a:r>
            <a:r>
              <a:rPr lang="en-US" altLang="zh-CN" sz="2400" b="1" i="1"/>
              <a:t>A=Q</a:t>
            </a:r>
            <a:r>
              <a:rPr lang="en-US" altLang="zh-CN" sz="2400" b="1" baseline="-25000"/>
              <a:t>1</a:t>
            </a:r>
            <a:r>
              <a:rPr lang="zh-CN" altLang="en-US" sz="2400" b="1" i="1"/>
              <a:t>－</a:t>
            </a:r>
            <a:r>
              <a:rPr lang="en-US" altLang="zh-CN" sz="2400" b="1" i="1"/>
              <a:t>|Q</a:t>
            </a:r>
            <a:r>
              <a:rPr lang="en-US" altLang="zh-CN" sz="2400" b="1" baseline="-25000"/>
              <a:t>2</a:t>
            </a:r>
            <a:r>
              <a:rPr lang="en-US" altLang="zh-CN" sz="2400" b="1" i="1"/>
              <a:t>|</a:t>
            </a:r>
          </a:p>
          <a:p>
            <a:pPr algn="l" eaLnBrk="1" hangingPunct="1"/>
            <a:endParaRPr lang="en-US" altLang="zh-CN" b="1"/>
          </a:p>
        </p:txBody>
      </p:sp>
      <p:grpSp>
        <p:nvGrpSpPr>
          <p:cNvPr id="136197" name="Group 5"/>
          <p:cNvGrpSpPr>
            <a:grpSpLocks/>
          </p:cNvGrpSpPr>
          <p:nvPr/>
        </p:nvGrpSpPr>
        <p:grpSpPr bwMode="auto">
          <a:xfrm>
            <a:off x="6753226" y="5069774"/>
            <a:ext cx="2057400" cy="1799656"/>
            <a:chOff x="3648" y="2208"/>
            <a:chExt cx="1506" cy="1584"/>
          </a:xfrm>
        </p:grpSpPr>
        <p:sp>
          <p:nvSpPr>
            <p:cNvPr id="16430" name="Rectangle 6"/>
            <p:cNvSpPr>
              <a:spLocks noChangeArrowheads="1"/>
            </p:cNvSpPr>
            <p:nvPr/>
          </p:nvSpPr>
          <p:spPr bwMode="auto">
            <a:xfrm>
              <a:off x="3648" y="2208"/>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b="1">
                  <a:latin typeface="宋体" pitchFamily="2" charset="-122"/>
                </a:rPr>
                <a:t>T</a:t>
              </a:r>
              <a:r>
                <a:rPr lang="en-US" altLang="zh-CN" sz="1800" b="1" baseline="-25000">
                  <a:latin typeface="宋体" pitchFamily="2" charset="-122"/>
                </a:rPr>
                <a:t>1</a:t>
              </a:r>
              <a:endParaRPr lang="en-US" altLang="zh-CN" sz="1800" b="1">
                <a:latin typeface="宋体" pitchFamily="2" charset="-122"/>
              </a:endParaRPr>
            </a:p>
          </p:txBody>
        </p:sp>
        <p:sp>
          <p:nvSpPr>
            <p:cNvPr id="16431" name="Oval 7" descr="深色下对角线"/>
            <p:cNvSpPr>
              <a:spLocks noChangeArrowheads="1"/>
            </p:cNvSpPr>
            <p:nvPr/>
          </p:nvSpPr>
          <p:spPr bwMode="auto">
            <a:xfrm>
              <a:off x="4128" y="2784"/>
              <a:ext cx="480" cy="480"/>
            </a:xfrm>
            <a:prstGeom prst="ellipse">
              <a:avLst/>
            </a:prstGeom>
            <a:pattFill prst="dkDnDiag">
              <a:fgClr>
                <a:schemeClr val="tx1"/>
              </a:fgClr>
              <a:bgClr>
                <a:schemeClr val="accent1"/>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2" name="Rectangle 8"/>
            <p:cNvSpPr>
              <a:spLocks noChangeArrowheads="1"/>
            </p:cNvSpPr>
            <p:nvPr/>
          </p:nvSpPr>
          <p:spPr bwMode="auto">
            <a:xfrm>
              <a:off x="4224" y="2448"/>
              <a:ext cx="144" cy="110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3" name="Rectangle 9"/>
            <p:cNvSpPr>
              <a:spLocks noChangeArrowheads="1"/>
            </p:cNvSpPr>
            <p:nvPr/>
          </p:nvSpPr>
          <p:spPr bwMode="auto">
            <a:xfrm>
              <a:off x="4368" y="2448"/>
              <a:ext cx="144" cy="432"/>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4" name="Rectangle 10"/>
            <p:cNvSpPr>
              <a:spLocks noChangeArrowheads="1"/>
            </p:cNvSpPr>
            <p:nvPr/>
          </p:nvSpPr>
          <p:spPr bwMode="auto">
            <a:xfrm>
              <a:off x="4560" y="2976"/>
              <a:ext cx="384" cy="14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5" name="AutoShape 11"/>
            <p:cNvSpPr>
              <a:spLocks noChangeArrowheads="1"/>
            </p:cNvSpPr>
            <p:nvPr/>
          </p:nvSpPr>
          <p:spPr bwMode="auto">
            <a:xfrm rot="-1764019">
              <a:off x="4319" y="2496"/>
              <a:ext cx="384" cy="720"/>
            </a:xfrm>
            <a:prstGeom prst="moon">
              <a:avLst>
                <a:gd name="adj" fmla="val 50000"/>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宋体" pitchFamily="2" charset="-122"/>
              </a:endParaRPr>
            </a:p>
          </p:txBody>
        </p:sp>
        <p:sp>
          <p:nvSpPr>
            <p:cNvPr id="16436" name="Rectangle 12"/>
            <p:cNvSpPr>
              <a:spLocks noChangeArrowheads="1"/>
            </p:cNvSpPr>
            <p:nvPr/>
          </p:nvSpPr>
          <p:spPr bwMode="auto">
            <a:xfrm>
              <a:off x="3648" y="3552"/>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b="1">
                  <a:latin typeface="宋体" pitchFamily="2" charset="-122"/>
                </a:rPr>
                <a:t>T</a:t>
              </a:r>
              <a:r>
                <a:rPr lang="en-US" altLang="zh-CN" sz="1800" b="1" baseline="-25000">
                  <a:latin typeface="宋体" pitchFamily="2" charset="-122"/>
                </a:rPr>
                <a:t>2</a:t>
              </a:r>
              <a:endParaRPr lang="en-US" altLang="zh-CN" sz="1800" b="1">
                <a:latin typeface="宋体" pitchFamily="2" charset="-122"/>
              </a:endParaRPr>
            </a:p>
          </p:txBody>
        </p:sp>
        <p:sp>
          <p:nvSpPr>
            <p:cNvPr id="16437" name="Line 13"/>
            <p:cNvSpPr>
              <a:spLocks noChangeShapeType="1"/>
            </p:cNvSpPr>
            <p:nvPr/>
          </p:nvSpPr>
          <p:spPr bwMode="auto">
            <a:xfrm>
              <a:off x="4368" y="2448"/>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8" name="Line 14"/>
            <p:cNvSpPr>
              <a:spLocks noChangeShapeType="1"/>
            </p:cNvSpPr>
            <p:nvPr/>
          </p:nvSpPr>
          <p:spPr bwMode="auto">
            <a:xfrm>
              <a:off x="4272" y="3312"/>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9" name="Text Box 15"/>
            <p:cNvSpPr txBox="1">
              <a:spLocks noChangeArrowheads="1"/>
            </p:cNvSpPr>
            <p:nvPr/>
          </p:nvSpPr>
          <p:spPr bwMode="auto">
            <a:xfrm>
              <a:off x="4224" y="2637"/>
              <a:ext cx="2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i="1">
                  <a:latin typeface="宋体" pitchFamily="2" charset="-122"/>
                </a:rPr>
                <a:t>Q</a:t>
              </a:r>
              <a:r>
                <a:rPr lang="en-US" altLang="zh-CN" sz="1800" b="1" baseline="-25000">
                  <a:latin typeface="宋体" pitchFamily="2" charset="-122"/>
                </a:rPr>
                <a:t>1</a:t>
              </a:r>
              <a:endParaRPr lang="en-US" altLang="zh-CN" sz="1800" b="1">
                <a:latin typeface="宋体" pitchFamily="2" charset="-122"/>
              </a:endParaRPr>
            </a:p>
          </p:txBody>
        </p:sp>
        <p:sp>
          <p:nvSpPr>
            <p:cNvPr id="16440" name="Text Box 16"/>
            <p:cNvSpPr txBox="1">
              <a:spLocks noChangeArrowheads="1"/>
            </p:cNvSpPr>
            <p:nvPr/>
          </p:nvSpPr>
          <p:spPr bwMode="auto">
            <a:xfrm>
              <a:off x="4128" y="3117"/>
              <a:ext cx="2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i="1">
                  <a:latin typeface="宋体" pitchFamily="2" charset="-122"/>
                </a:rPr>
                <a:t>Q</a:t>
              </a:r>
              <a:r>
                <a:rPr lang="en-US" altLang="zh-CN" sz="1800" b="1" baseline="-25000">
                  <a:latin typeface="宋体" pitchFamily="2" charset="-122"/>
                </a:rPr>
                <a:t>2</a:t>
              </a:r>
              <a:endParaRPr lang="en-US" altLang="zh-CN" sz="1800" b="1">
                <a:latin typeface="宋体" pitchFamily="2" charset="-122"/>
              </a:endParaRPr>
            </a:p>
          </p:txBody>
        </p:sp>
        <p:sp>
          <p:nvSpPr>
            <p:cNvPr id="16441" name="Line 17"/>
            <p:cNvSpPr>
              <a:spLocks noChangeShapeType="1"/>
            </p:cNvSpPr>
            <p:nvPr/>
          </p:nvSpPr>
          <p:spPr bwMode="auto">
            <a:xfrm>
              <a:off x="4752" y="3024"/>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42" name="Text Box 18"/>
            <p:cNvSpPr txBox="1">
              <a:spLocks noChangeArrowheads="1"/>
            </p:cNvSpPr>
            <p:nvPr/>
          </p:nvSpPr>
          <p:spPr bwMode="auto">
            <a:xfrm>
              <a:off x="4965" y="2925"/>
              <a:ext cx="18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i="1">
                  <a:latin typeface="宋体" pitchFamily="2" charset="-122"/>
                </a:rPr>
                <a:t>A</a:t>
              </a:r>
            </a:p>
          </p:txBody>
        </p:sp>
      </p:grpSp>
      <p:graphicFrame>
        <p:nvGraphicFramePr>
          <p:cNvPr id="136211" name="Object 19"/>
          <p:cNvGraphicFramePr>
            <a:graphicFrameLocks noChangeAspect="1"/>
          </p:cNvGraphicFramePr>
          <p:nvPr>
            <p:extLst>
              <p:ext uri="{D42A27DB-BD31-4B8C-83A1-F6EECF244321}">
                <p14:modId xmlns:p14="http://schemas.microsoft.com/office/powerpoint/2010/main" val="1241814639"/>
              </p:ext>
            </p:extLst>
          </p:nvPr>
        </p:nvGraphicFramePr>
        <p:xfrm>
          <a:off x="571689" y="523710"/>
          <a:ext cx="2935287" cy="1025525"/>
        </p:xfrm>
        <a:graphic>
          <a:graphicData uri="http://schemas.openxmlformats.org/presentationml/2006/ole">
            <mc:AlternateContent xmlns:mc="http://schemas.openxmlformats.org/markup-compatibility/2006">
              <mc:Choice xmlns:v="urn:schemas-microsoft-com:vml" Requires="v">
                <p:oleObj spid="_x0000_s17072" name="公式" r:id="rId4" imgW="1231366" imgH="431613" progId="Equation.3">
                  <p:embed/>
                </p:oleObj>
              </mc:Choice>
              <mc:Fallback>
                <p:oleObj name="公式" r:id="rId4" imgW="1231366" imgH="431613" progId="Equation.3">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689" y="523710"/>
                        <a:ext cx="2935287" cy="10255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6212" name="Object 20"/>
          <p:cNvGraphicFramePr>
            <a:graphicFrameLocks noChangeAspect="1"/>
          </p:cNvGraphicFramePr>
          <p:nvPr>
            <p:extLst>
              <p:ext uri="{D42A27DB-BD31-4B8C-83A1-F6EECF244321}">
                <p14:modId xmlns:p14="http://schemas.microsoft.com/office/powerpoint/2010/main" val="3307675625"/>
              </p:ext>
            </p:extLst>
          </p:nvPr>
        </p:nvGraphicFramePr>
        <p:xfrm>
          <a:off x="400584" y="1658658"/>
          <a:ext cx="4350116" cy="695990"/>
        </p:xfrm>
        <a:graphic>
          <a:graphicData uri="http://schemas.openxmlformats.org/presentationml/2006/ole">
            <mc:AlternateContent xmlns:mc="http://schemas.openxmlformats.org/markup-compatibility/2006">
              <mc:Choice xmlns:v="urn:schemas-microsoft-com:vml" Requires="v">
                <p:oleObj spid="_x0000_s17073" name="Equation" r:id="rId6" imgW="1790640" imgH="241200" progId="Equation.DSMT4">
                  <p:embed/>
                </p:oleObj>
              </mc:Choice>
              <mc:Fallback>
                <p:oleObj name="Equation" r:id="rId6" imgW="1790640" imgH="241200" progId="Equation.DSMT4">
                  <p:embed/>
                  <p:pic>
                    <p:nvPicPr>
                      <p:cNvPr id="0" name="Object 20"/>
                      <p:cNvPicPr>
                        <a:picLocks noChangeAspect="1" noChangeArrowheads="1"/>
                      </p:cNvPicPr>
                      <p:nvPr/>
                    </p:nvPicPr>
                    <p:blipFill>
                      <a:blip r:embed="rId7"/>
                      <a:srcRect/>
                      <a:stretch>
                        <a:fillRect/>
                      </a:stretch>
                    </p:blipFill>
                    <p:spPr bwMode="auto">
                      <a:xfrm>
                        <a:off x="400584" y="1658658"/>
                        <a:ext cx="4350116" cy="695990"/>
                      </a:xfrm>
                      <a:prstGeom prst="rect">
                        <a:avLst/>
                      </a:prstGeom>
                      <a:gradFill rotWithShape="0">
                        <a:gsLst>
                          <a:gs pos="0">
                            <a:schemeClr val="accent1"/>
                          </a:gs>
                          <a:gs pos="50000">
                            <a:srgbClr val="FFFFFF"/>
                          </a:gs>
                          <a:gs pos="100000">
                            <a:schemeClr val="accent1"/>
                          </a:gs>
                        </a:gsLst>
                        <a:lin ang="5400000" scaled="1"/>
                      </a:gradFill>
                      <a:ln>
                        <a:noFill/>
                      </a:ln>
                      <a:extLst/>
                    </p:spPr>
                  </p:pic>
                </p:oleObj>
              </mc:Fallback>
            </mc:AlternateContent>
          </a:graphicData>
        </a:graphic>
      </p:graphicFrame>
      <p:graphicFrame>
        <p:nvGraphicFramePr>
          <p:cNvPr id="136213" name="Object 21"/>
          <p:cNvGraphicFramePr>
            <a:graphicFrameLocks noChangeAspect="1"/>
          </p:cNvGraphicFramePr>
          <p:nvPr>
            <p:extLst>
              <p:ext uri="{D42A27DB-BD31-4B8C-83A1-F6EECF244321}">
                <p14:modId xmlns:p14="http://schemas.microsoft.com/office/powerpoint/2010/main" val="3108295275"/>
              </p:ext>
            </p:extLst>
          </p:nvPr>
        </p:nvGraphicFramePr>
        <p:xfrm>
          <a:off x="5510303" y="487454"/>
          <a:ext cx="2751137" cy="989013"/>
        </p:xfrm>
        <a:graphic>
          <a:graphicData uri="http://schemas.openxmlformats.org/presentationml/2006/ole">
            <mc:AlternateContent xmlns:mc="http://schemas.openxmlformats.org/markup-compatibility/2006">
              <mc:Choice xmlns:v="urn:schemas-microsoft-com:vml" Requires="v">
                <p:oleObj spid="_x0000_s17074" name="公式" r:id="rId8" imgW="1282700" imgH="431800" progId="Equation.3">
                  <p:embed/>
                </p:oleObj>
              </mc:Choice>
              <mc:Fallback>
                <p:oleObj name="公式" r:id="rId8" imgW="1282700" imgH="431800" progId="Equation.3">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10303" y="487454"/>
                        <a:ext cx="2751137" cy="98901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6214" name="Object 22"/>
          <p:cNvGraphicFramePr>
            <a:graphicFrameLocks noChangeAspect="1"/>
          </p:cNvGraphicFramePr>
          <p:nvPr>
            <p:extLst>
              <p:ext uri="{D42A27DB-BD31-4B8C-83A1-F6EECF244321}">
                <p14:modId xmlns:p14="http://schemas.microsoft.com/office/powerpoint/2010/main" val="2578100237"/>
              </p:ext>
            </p:extLst>
          </p:nvPr>
        </p:nvGraphicFramePr>
        <p:xfrm>
          <a:off x="5170391" y="1527927"/>
          <a:ext cx="3577389" cy="977090"/>
        </p:xfrm>
        <a:graphic>
          <a:graphicData uri="http://schemas.openxmlformats.org/presentationml/2006/ole">
            <mc:AlternateContent xmlns:mc="http://schemas.openxmlformats.org/markup-compatibility/2006">
              <mc:Choice xmlns:v="urn:schemas-microsoft-com:vml" Requires="v">
                <p:oleObj spid="_x0000_s17075" name="Equation" r:id="rId10" imgW="1765300" imgH="482600" progId="Equation.DSMT4">
                  <p:embed/>
                </p:oleObj>
              </mc:Choice>
              <mc:Fallback>
                <p:oleObj name="Equation" r:id="rId10" imgW="1765300" imgH="482600" progId="Equation.DSMT4">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70391" y="1527927"/>
                        <a:ext cx="3577389" cy="977090"/>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
        <p:nvSpPr>
          <p:cNvPr id="22" name="Text Box 51">
            <a:extLst>
              <a:ext uri="{FF2B5EF4-FFF2-40B4-BE49-F238E27FC236}">
                <a16:creationId xmlns:a16="http://schemas.microsoft.com/office/drawing/2014/main" id="{DD16A535-9807-4469-8D6A-374825D9A275}"/>
              </a:ext>
            </a:extLst>
          </p:cNvPr>
          <p:cNvSpPr txBox="1">
            <a:spLocks noChangeArrowheads="1"/>
          </p:cNvSpPr>
          <p:nvPr/>
        </p:nvSpPr>
        <p:spPr bwMode="auto">
          <a:xfrm>
            <a:off x="519735" y="45069"/>
            <a:ext cx="7490790" cy="52322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solidFill>
                  <a:srgbClr val="FF3300"/>
                </a:solidFill>
                <a:ea typeface="楷体_GB2312" pitchFamily="49" charset="-122"/>
              </a:rPr>
              <a:t>(1)</a:t>
            </a:r>
            <a:r>
              <a:rPr lang="zh-CN" altLang="en-US" sz="2800" b="1">
                <a:solidFill>
                  <a:srgbClr val="FF3300"/>
                </a:solidFill>
                <a:ea typeface="楷体_GB2312" pitchFamily="49" charset="-122"/>
              </a:rPr>
              <a:t>卡诺热机的四个过程中系统对外做的总功</a:t>
            </a:r>
            <a:endParaRPr lang="zh-CN" altLang="en-US" sz="3600" b="1">
              <a:solidFill>
                <a:srgbClr val="3333FF"/>
              </a:solidFill>
              <a:ea typeface="楷体_GB2312" pitchFamily="49" charset="-122"/>
            </a:endParaRPr>
          </a:p>
        </p:txBody>
      </p:sp>
      <p:sp>
        <p:nvSpPr>
          <p:cNvPr id="2" name="箭头: 左 1">
            <a:extLst>
              <a:ext uri="{FF2B5EF4-FFF2-40B4-BE49-F238E27FC236}">
                <a16:creationId xmlns:a16="http://schemas.microsoft.com/office/drawing/2014/main" id="{058F9FE3-85D5-489B-9E56-7BB374929487}"/>
              </a:ext>
            </a:extLst>
          </p:cNvPr>
          <p:cNvSpPr/>
          <p:nvPr/>
        </p:nvSpPr>
        <p:spPr bwMode="auto">
          <a:xfrm flipH="1">
            <a:off x="2311102" y="5175298"/>
            <a:ext cx="931334" cy="334302"/>
          </a:xfrm>
          <a:prstGeom prst="leftArrow">
            <a:avLst/>
          </a:prstGeom>
          <a:solidFill>
            <a:srgbClr val="FF0000"/>
          </a:solidFill>
          <a:ln w="9525" cap="flat" cmpd="sng" algn="ctr">
            <a:solidFill>
              <a:srgbClr val="FF00FF"/>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FF00"/>
                </a:solidFill>
                <a:effectLst/>
                <a:latin typeface="Times New Roman" pitchFamily="18" charset="0"/>
                <a:ea typeface="宋体" pitchFamily="2" charset="-122"/>
              </a:rPr>
              <a:t>A</a:t>
            </a:r>
            <a:endParaRPr kumimoji="1" lang="zh-CN" altLang="en-US" sz="2000" b="1" i="0" u="none" strike="noStrike" cap="none" normalizeH="0" baseline="0">
              <a:ln>
                <a:noFill/>
              </a:ln>
              <a:solidFill>
                <a:srgbClr val="FFFF00"/>
              </a:solidFill>
              <a:effectLst/>
              <a:latin typeface="Times New Roman" pitchFamily="18"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6211"/>
                                        </p:tgtEl>
                                        <p:attrNameLst>
                                          <p:attrName>style.visibility</p:attrName>
                                        </p:attrNameLst>
                                      </p:cBhvr>
                                      <p:to>
                                        <p:strVal val="visible"/>
                                      </p:to>
                                    </p:set>
                                    <p:animEffect transition="in" filter="wipe(left)">
                                      <p:cBhvr>
                                        <p:cTn id="12" dur="500"/>
                                        <p:tgtEl>
                                          <p:spTgt spid="1362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6212"/>
                                        </p:tgtEl>
                                        <p:attrNameLst>
                                          <p:attrName>style.visibility</p:attrName>
                                        </p:attrNameLst>
                                      </p:cBhvr>
                                      <p:to>
                                        <p:strVal val="visible"/>
                                      </p:to>
                                    </p:set>
                                    <p:animEffect transition="in" filter="wipe(left)">
                                      <p:cBhvr>
                                        <p:cTn id="17" dur="500"/>
                                        <p:tgtEl>
                                          <p:spTgt spid="1362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6213"/>
                                        </p:tgtEl>
                                        <p:attrNameLst>
                                          <p:attrName>style.visibility</p:attrName>
                                        </p:attrNameLst>
                                      </p:cBhvr>
                                      <p:to>
                                        <p:strVal val="visible"/>
                                      </p:to>
                                    </p:set>
                                    <p:animEffect transition="in" filter="wipe(left)">
                                      <p:cBhvr>
                                        <p:cTn id="22" dur="500"/>
                                        <p:tgtEl>
                                          <p:spTgt spid="1362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6214"/>
                                        </p:tgtEl>
                                        <p:attrNameLst>
                                          <p:attrName>style.visibility</p:attrName>
                                        </p:attrNameLst>
                                      </p:cBhvr>
                                      <p:to>
                                        <p:strVal val="visible"/>
                                      </p:to>
                                    </p:set>
                                    <p:animEffect transition="in" filter="wipe(left)">
                                      <p:cBhvr>
                                        <p:cTn id="27" dur="500"/>
                                        <p:tgtEl>
                                          <p:spTgt spid="1362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6197"/>
                                        </p:tgtEl>
                                        <p:attrNameLst>
                                          <p:attrName>style.visibility</p:attrName>
                                        </p:attrNameLst>
                                      </p:cBhvr>
                                      <p:to>
                                        <p:strVal val="visible"/>
                                      </p:to>
                                    </p:set>
                                    <p:animEffect transition="in" filter="wipe(left)">
                                      <p:cBhvr>
                                        <p:cTn id="32" dur="500"/>
                                        <p:tgtEl>
                                          <p:spTgt spid="13619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36196"/>
                                        </p:tgtEl>
                                        <p:attrNameLst>
                                          <p:attrName>style.visibility</p:attrName>
                                        </p:attrNameLst>
                                      </p:cBhvr>
                                      <p:to>
                                        <p:strVal val="visible"/>
                                      </p:to>
                                    </p:set>
                                    <p:animEffect transition="in" filter="wipe(left)">
                                      <p:cBhvr>
                                        <p:cTn id="41" dur="500"/>
                                        <p:tgtEl>
                                          <p:spTgt spid="136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nimBg="1" autoUpdateAnimBg="0"/>
      <p:bldP spid="22" grpId="0" autoUpdateAnimBg="0"/>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AutoShape 2"/>
          <p:cNvSpPr>
            <a:spLocks noChangeArrowheads="1"/>
          </p:cNvSpPr>
          <p:nvPr/>
        </p:nvSpPr>
        <p:spPr bwMode="auto">
          <a:xfrm>
            <a:off x="5638800" y="3048000"/>
            <a:ext cx="3505200" cy="1676400"/>
          </a:xfrm>
          <a:prstGeom prst="cloudCallout">
            <a:avLst>
              <a:gd name="adj1" fmla="val -26856"/>
              <a:gd name="adj2" fmla="val 90815"/>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b="1">
                <a:solidFill>
                  <a:srgbClr val="FFFF66"/>
                </a:solidFill>
                <a:ea typeface="楷体_GB2312" pitchFamily="49" charset="-122"/>
              </a:rPr>
              <a:t>理想气体卡诺循环</a:t>
            </a:r>
          </a:p>
          <a:p>
            <a:r>
              <a:rPr lang="zh-CN" altLang="en-US" sz="2400" b="1">
                <a:solidFill>
                  <a:srgbClr val="FFFF66"/>
                </a:solidFill>
                <a:ea typeface="楷体_GB2312" pitchFamily="49" charset="-122"/>
              </a:rPr>
              <a:t>的效率只与两热</a:t>
            </a:r>
          </a:p>
          <a:p>
            <a:r>
              <a:rPr lang="zh-CN" altLang="en-US" sz="2400" b="1">
                <a:solidFill>
                  <a:srgbClr val="FFFF66"/>
                </a:solidFill>
                <a:ea typeface="楷体_GB2312" pitchFamily="49" charset="-122"/>
              </a:rPr>
              <a:t>源的温度有关</a:t>
            </a:r>
            <a:endParaRPr lang="zh-CN" altLang="en-US">
              <a:solidFill>
                <a:srgbClr val="FFFF66"/>
              </a:solidFill>
            </a:endParaRPr>
          </a:p>
        </p:txBody>
      </p:sp>
      <p:graphicFrame>
        <p:nvGraphicFramePr>
          <p:cNvPr id="98310" name="Object 6"/>
          <p:cNvGraphicFramePr>
            <a:graphicFrameLocks noChangeAspect="1"/>
          </p:cNvGraphicFramePr>
          <p:nvPr/>
        </p:nvGraphicFramePr>
        <p:xfrm>
          <a:off x="5665788" y="5486400"/>
          <a:ext cx="2411412" cy="1208088"/>
        </p:xfrm>
        <a:graphic>
          <a:graphicData uri="http://schemas.openxmlformats.org/presentationml/2006/ole">
            <mc:AlternateContent xmlns:mc="http://schemas.openxmlformats.org/markup-compatibility/2006">
              <mc:Choice xmlns:v="urn:schemas-microsoft-com:vml" Requires="v">
                <p:oleObj spid="_x0000_s167172" name="公式" r:id="rId3" imgW="660113" imgH="444307" progId="Equation.3">
                  <p:embed/>
                </p:oleObj>
              </mc:Choice>
              <mc:Fallback>
                <p:oleObj name="公式" r:id="rId3" imgW="660113" imgH="444307"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5788" y="5486400"/>
                        <a:ext cx="2411412" cy="120808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311" name="Text Box 7"/>
          <p:cNvSpPr txBox="1">
            <a:spLocks noChangeArrowheads="1"/>
          </p:cNvSpPr>
          <p:nvPr/>
        </p:nvSpPr>
        <p:spPr bwMode="auto">
          <a:xfrm>
            <a:off x="228600" y="188913"/>
            <a:ext cx="32639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solidFill>
                  <a:srgbClr val="FF3300"/>
                </a:solidFill>
                <a:ea typeface="楷体_GB2312" pitchFamily="49" charset="-122"/>
              </a:rPr>
              <a:t>(2)</a:t>
            </a:r>
            <a:r>
              <a:rPr lang="zh-CN" altLang="en-US" sz="2800" b="1">
                <a:solidFill>
                  <a:srgbClr val="FF3300"/>
                </a:solidFill>
                <a:ea typeface="楷体_GB2312" pitchFamily="49" charset="-122"/>
              </a:rPr>
              <a:t>卡诺热机效率</a:t>
            </a:r>
            <a:endParaRPr lang="zh-CN" altLang="en-US" sz="2400" b="1">
              <a:ea typeface="楷体_GB2312" pitchFamily="49" charset="-122"/>
            </a:endParaRPr>
          </a:p>
        </p:txBody>
      </p:sp>
      <p:graphicFrame>
        <p:nvGraphicFramePr>
          <p:cNvPr id="98312" name="Object 8"/>
          <p:cNvGraphicFramePr>
            <a:graphicFrameLocks noChangeAspect="1"/>
          </p:cNvGraphicFramePr>
          <p:nvPr/>
        </p:nvGraphicFramePr>
        <p:xfrm>
          <a:off x="85725" y="754063"/>
          <a:ext cx="4833938" cy="1601787"/>
        </p:xfrm>
        <a:graphic>
          <a:graphicData uri="http://schemas.openxmlformats.org/presentationml/2006/ole">
            <mc:AlternateContent xmlns:mc="http://schemas.openxmlformats.org/markup-compatibility/2006">
              <mc:Choice xmlns:v="urn:schemas-microsoft-com:vml" Requires="v">
                <p:oleObj spid="_x0000_s167173" name="Equation" r:id="rId5" imgW="2565400" imgH="850900" progId="Equation.DSMT4">
                  <p:embed/>
                </p:oleObj>
              </mc:Choice>
              <mc:Fallback>
                <p:oleObj name="Equation" r:id="rId5" imgW="2565400" imgH="8509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725" y="754063"/>
                        <a:ext cx="4833938" cy="1601787"/>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8324" name="Group 20"/>
          <p:cNvGrpSpPr>
            <a:grpSpLocks/>
          </p:cNvGrpSpPr>
          <p:nvPr/>
        </p:nvGrpSpPr>
        <p:grpSpPr bwMode="auto">
          <a:xfrm>
            <a:off x="179388" y="3362325"/>
            <a:ext cx="4953000" cy="604838"/>
            <a:chOff x="336" y="1680"/>
            <a:chExt cx="3120" cy="381"/>
          </a:xfrm>
        </p:grpSpPr>
        <p:sp>
          <p:nvSpPr>
            <p:cNvPr id="17464" name="Text Box 12"/>
            <p:cNvSpPr txBox="1">
              <a:spLocks noChangeArrowheads="1"/>
            </p:cNvSpPr>
            <p:nvPr/>
          </p:nvSpPr>
          <p:spPr bwMode="auto">
            <a:xfrm>
              <a:off x="336" y="1728"/>
              <a:ext cx="1274"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400" b="1">
                  <a:latin typeface="宋体" pitchFamily="2" charset="-122"/>
                </a:rPr>
                <a:t>应用绝热方程</a:t>
              </a:r>
              <a:endParaRPr lang="zh-CN" altLang="en-US" sz="2400"/>
            </a:p>
          </p:txBody>
        </p:sp>
        <p:graphicFrame>
          <p:nvGraphicFramePr>
            <p:cNvPr id="17465" name="Object 13"/>
            <p:cNvGraphicFramePr>
              <a:graphicFrameLocks noChangeAspect="1"/>
            </p:cNvGraphicFramePr>
            <p:nvPr/>
          </p:nvGraphicFramePr>
          <p:xfrm>
            <a:off x="1728" y="1680"/>
            <a:ext cx="1728" cy="381"/>
          </p:xfrm>
          <a:graphic>
            <a:graphicData uri="http://schemas.openxmlformats.org/presentationml/2006/ole">
              <mc:AlternateContent xmlns:mc="http://schemas.openxmlformats.org/markup-compatibility/2006">
                <mc:Choice xmlns:v="urn:schemas-microsoft-com:vml" Requires="v">
                  <p:oleObj spid="_x0000_s167174" name="公式" r:id="rId7" imgW="914400" imgH="203200" progId="Equation.3">
                    <p:embed/>
                  </p:oleObj>
                </mc:Choice>
                <mc:Fallback>
                  <p:oleObj name="公式" r:id="rId7" imgW="914400" imgH="2032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28" y="1680"/>
                          <a:ext cx="1728" cy="38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8325" name="Group 21"/>
          <p:cNvGrpSpPr>
            <a:grpSpLocks/>
          </p:cNvGrpSpPr>
          <p:nvPr/>
        </p:nvGrpSpPr>
        <p:grpSpPr bwMode="auto">
          <a:xfrm>
            <a:off x="250825" y="4154488"/>
            <a:ext cx="5184775" cy="701675"/>
            <a:chOff x="336" y="2208"/>
            <a:chExt cx="3168" cy="442"/>
          </a:xfrm>
        </p:grpSpPr>
        <p:sp>
          <p:nvSpPr>
            <p:cNvPr id="17462" name="Text Box 14"/>
            <p:cNvSpPr txBox="1">
              <a:spLocks noChangeArrowheads="1"/>
            </p:cNvSpPr>
            <p:nvPr/>
          </p:nvSpPr>
          <p:spPr bwMode="auto">
            <a:xfrm>
              <a:off x="336" y="2317"/>
              <a:ext cx="696"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a:latin typeface="宋体" pitchFamily="2" charset="-122"/>
                </a:rPr>
                <a:t>BC</a:t>
              </a:r>
              <a:r>
                <a:rPr lang="zh-CN" altLang="en-US" sz="2400" b="1">
                  <a:latin typeface="宋体" pitchFamily="2" charset="-122"/>
                </a:rPr>
                <a:t>过程</a:t>
              </a:r>
              <a:endParaRPr lang="zh-CN" altLang="en-US" sz="2400"/>
            </a:p>
          </p:txBody>
        </p:sp>
        <p:graphicFrame>
          <p:nvGraphicFramePr>
            <p:cNvPr id="17463" name="Object 15"/>
            <p:cNvGraphicFramePr>
              <a:graphicFrameLocks noChangeAspect="1"/>
            </p:cNvGraphicFramePr>
            <p:nvPr/>
          </p:nvGraphicFramePr>
          <p:xfrm>
            <a:off x="1680" y="2208"/>
            <a:ext cx="1824" cy="442"/>
          </p:xfrm>
          <a:graphic>
            <a:graphicData uri="http://schemas.openxmlformats.org/presentationml/2006/ole">
              <mc:AlternateContent xmlns:mc="http://schemas.openxmlformats.org/markup-compatibility/2006">
                <mc:Choice xmlns:v="urn:schemas-microsoft-com:vml" Requires="v">
                  <p:oleObj spid="_x0000_s167175" name="公式" r:id="rId9" imgW="1040948" imgH="253890" progId="Equation.3">
                    <p:embed/>
                  </p:oleObj>
                </mc:Choice>
                <mc:Fallback>
                  <p:oleObj name="公式" r:id="rId9" imgW="1040948" imgH="25389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80" y="2208"/>
                          <a:ext cx="1824" cy="44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8326" name="Group 22"/>
          <p:cNvGrpSpPr>
            <a:grpSpLocks/>
          </p:cNvGrpSpPr>
          <p:nvPr/>
        </p:nvGrpSpPr>
        <p:grpSpPr bwMode="auto">
          <a:xfrm>
            <a:off x="250825" y="5019675"/>
            <a:ext cx="5041900" cy="674688"/>
            <a:chOff x="336" y="2736"/>
            <a:chExt cx="3120" cy="425"/>
          </a:xfrm>
        </p:grpSpPr>
        <p:sp>
          <p:nvSpPr>
            <p:cNvPr id="17460" name="Text Box 16"/>
            <p:cNvSpPr txBox="1">
              <a:spLocks noChangeArrowheads="1"/>
            </p:cNvSpPr>
            <p:nvPr/>
          </p:nvSpPr>
          <p:spPr bwMode="auto">
            <a:xfrm>
              <a:off x="336" y="2797"/>
              <a:ext cx="696"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a:latin typeface="宋体" pitchFamily="2" charset="-122"/>
                </a:rPr>
                <a:t>DA</a:t>
              </a:r>
              <a:r>
                <a:rPr lang="zh-CN" altLang="en-US" sz="2400" b="1">
                  <a:latin typeface="宋体" pitchFamily="2" charset="-122"/>
                </a:rPr>
                <a:t>过程</a:t>
              </a:r>
              <a:endParaRPr lang="zh-CN" altLang="en-US" sz="2400"/>
            </a:p>
          </p:txBody>
        </p:sp>
        <p:graphicFrame>
          <p:nvGraphicFramePr>
            <p:cNvPr id="17461" name="Object 17"/>
            <p:cNvGraphicFramePr>
              <a:graphicFrameLocks noChangeAspect="1"/>
            </p:cNvGraphicFramePr>
            <p:nvPr/>
          </p:nvGraphicFramePr>
          <p:xfrm>
            <a:off x="1632" y="2736"/>
            <a:ext cx="1824" cy="425"/>
          </p:xfrm>
          <a:graphic>
            <a:graphicData uri="http://schemas.openxmlformats.org/presentationml/2006/ole">
              <mc:AlternateContent xmlns:mc="http://schemas.openxmlformats.org/markup-compatibility/2006">
                <mc:Choice xmlns:v="urn:schemas-microsoft-com:vml" Requires="v">
                  <p:oleObj spid="_x0000_s167176" name="公式" r:id="rId11" imgW="1028254" imgH="241195" progId="Equation.3">
                    <p:embed/>
                  </p:oleObj>
                </mc:Choice>
                <mc:Fallback>
                  <p:oleObj name="公式" r:id="rId11" imgW="1028254" imgH="241195"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32" y="2736"/>
                          <a:ext cx="1824" cy="4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8327" name="Group 23"/>
          <p:cNvGrpSpPr>
            <a:grpSpLocks/>
          </p:cNvGrpSpPr>
          <p:nvPr/>
        </p:nvGrpSpPr>
        <p:grpSpPr bwMode="auto">
          <a:xfrm>
            <a:off x="323850" y="5759450"/>
            <a:ext cx="3638550" cy="1054100"/>
            <a:chOff x="384" y="3216"/>
            <a:chExt cx="2112" cy="664"/>
          </a:xfrm>
        </p:grpSpPr>
        <p:sp>
          <p:nvSpPr>
            <p:cNvPr id="17458" name="Text Box 18"/>
            <p:cNvSpPr txBox="1">
              <a:spLocks noChangeArrowheads="1"/>
            </p:cNvSpPr>
            <p:nvPr/>
          </p:nvSpPr>
          <p:spPr bwMode="auto">
            <a:xfrm>
              <a:off x="384" y="3408"/>
              <a:ext cx="892"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400" b="1">
                  <a:latin typeface="宋体" pitchFamily="2" charset="-122"/>
                </a:rPr>
                <a:t>两式比较</a:t>
              </a:r>
              <a:endParaRPr lang="zh-CN" altLang="en-US" sz="2400">
                <a:latin typeface="宋体" pitchFamily="2" charset="-122"/>
              </a:endParaRPr>
            </a:p>
          </p:txBody>
        </p:sp>
        <p:graphicFrame>
          <p:nvGraphicFramePr>
            <p:cNvPr id="17459" name="Object 19"/>
            <p:cNvGraphicFramePr>
              <a:graphicFrameLocks noChangeAspect="1"/>
            </p:cNvGraphicFramePr>
            <p:nvPr/>
          </p:nvGraphicFramePr>
          <p:xfrm>
            <a:off x="1680" y="3216"/>
            <a:ext cx="816" cy="664"/>
          </p:xfrm>
          <a:graphic>
            <a:graphicData uri="http://schemas.openxmlformats.org/presentationml/2006/ole">
              <mc:AlternateContent xmlns:mc="http://schemas.openxmlformats.org/markup-compatibility/2006">
                <mc:Choice xmlns:v="urn:schemas-microsoft-com:vml" Requires="v">
                  <p:oleObj spid="_x0000_s167177" name="公式" r:id="rId13" imgW="545863" imgH="444307" progId="Equation.3">
                    <p:embed/>
                  </p:oleObj>
                </mc:Choice>
                <mc:Fallback>
                  <p:oleObj name="公式" r:id="rId13" imgW="545863" imgH="444307"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80" y="3216"/>
                          <a:ext cx="816" cy="66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98367" name="Object 63"/>
          <p:cNvGraphicFramePr>
            <a:graphicFrameLocks noChangeAspect="1"/>
          </p:cNvGraphicFramePr>
          <p:nvPr/>
        </p:nvGraphicFramePr>
        <p:xfrm>
          <a:off x="539750" y="2492375"/>
          <a:ext cx="1743075" cy="769938"/>
        </p:xfrm>
        <a:graphic>
          <a:graphicData uri="http://schemas.openxmlformats.org/presentationml/2006/ole">
            <mc:AlternateContent xmlns:mc="http://schemas.openxmlformats.org/markup-compatibility/2006">
              <mc:Choice xmlns:v="urn:schemas-microsoft-com:vml" Requires="v">
                <p:oleObj spid="_x0000_s167178" name="Equation" r:id="rId15" imgW="1002865" imgH="444307" progId="Equation.DSMT4">
                  <p:embed/>
                </p:oleObj>
              </mc:Choice>
              <mc:Fallback>
                <p:oleObj name="Equation" r:id="rId15" imgW="1002865" imgH="444307" progId="Equation.DSMT4">
                  <p:embed/>
                  <p:pic>
                    <p:nvPicPr>
                      <p:cNvPr id="0" name="Object 6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9750" y="2492375"/>
                        <a:ext cx="1743075" cy="76993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368" name="Object 64"/>
          <p:cNvGraphicFramePr>
            <a:graphicFrameLocks noChangeAspect="1"/>
          </p:cNvGraphicFramePr>
          <p:nvPr/>
        </p:nvGraphicFramePr>
        <p:xfrm>
          <a:off x="2700338" y="2492375"/>
          <a:ext cx="1608137" cy="741363"/>
        </p:xfrm>
        <a:graphic>
          <a:graphicData uri="http://schemas.openxmlformats.org/presentationml/2006/ole">
            <mc:AlternateContent xmlns:mc="http://schemas.openxmlformats.org/markup-compatibility/2006">
              <mc:Choice xmlns:v="urn:schemas-microsoft-com:vml" Requires="v">
                <p:oleObj spid="_x0000_s167179" name="Equation" r:id="rId17" imgW="1028254" imgH="444307" progId="Equation.DSMT4">
                  <p:embed/>
                </p:oleObj>
              </mc:Choice>
              <mc:Fallback>
                <p:oleObj name="Equation" r:id="rId17" imgW="1028254" imgH="444307" progId="Equation.DSMT4">
                  <p:embed/>
                  <p:pic>
                    <p:nvPicPr>
                      <p:cNvPr id="0" name="Object 6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00338" y="2492375"/>
                        <a:ext cx="1608137" cy="74136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7779" name="Picture 37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20072" y="0"/>
            <a:ext cx="3762375" cy="292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311"/>
                                        </p:tgtEl>
                                        <p:attrNameLst>
                                          <p:attrName>style.visibility</p:attrName>
                                        </p:attrNameLst>
                                      </p:cBhvr>
                                      <p:to>
                                        <p:strVal val="visible"/>
                                      </p:to>
                                    </p:set>
                                    <p:animEffect transition="in" filter="wipe(left)">
                                      <p:cBhvr>
                                        <p:cTn id="7" dur="500"/>
                                        <p:tgtEl>
                                          <p:spTgt spid="983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8312"/>
                                        </p:tgtEl>
                                        <p:attrNameLst>
                                          <p:attrName>style.visibility</p:attrName>
                                        </p:attrNameLst>
                                      </p:cBhvr>
                                      <p:to>
                                        <p:strVal val="visible"/>
                                      </p:to>
                                    </p:set>
                                    <p:animEffect transition="in" filter="wipe(left)">
                                      <p:cBhvr>
                                        <p:cTn id="12" dur="500"/>
                                        <p:tgtEl>
                                          <p:spTgt spid="983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367"/>
                                        </p:tgtEl>
                                        <p:attrNameLst>
                                          <p:attrName>style.visibility</p:attrName>
                                        </p:attrNameLst>
                                      </p:cBhvr>
                                      <p:to>
                                        <p:strVal val="visible"/>
                                      </p:to>
                                    </p:set>
                                    <p:animEffect transition="in" filter="wipe(left)">
                                      <p:cBhvr>
                                        <p:cTn id="17" dur="500"/>
                                        <p:tgtEl>
                                          <p:spTgt spid="983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8368"/>
                                        </p:tgtEl>
                                        <p:attrNameLst>
                                          <p:attrName>style.visibility</p:attrName>
                                        </p:attrNameLst>
                                      </p:cBhvr>
                                      <p:to>
                                        <p:strVal val="visible"/>
                                      </p:to>
                                    </p:set>
                                    <p:animEffect transition="in" filter="wipe(left)">
                                      <p:cBhvr>
                                        <p:cTn id="22" dur="500"/>
                                        <p:tgtEl>
                                          <p:spTgt spid="983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8324"/>
                                        </p:tgtEl>
                                        <p:attrNameLst>
                                          <p:attrName>style.visibility</p:attrName>
                                        </p:attrNameLst>
                                      </p:cBhvr>
                                      <p:to>
                                        <p:strVal val="visible"/>
                                      </p:to>
                                    </p:set>
                                    <p:animEffect transition="in" filter="wipe(left)">
                                      <p:cBhvr>
                                        <p:cTn id="27" dur="500"/>
                                        <p:tgtEl>
                                          <p:spTgt spid="983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8325"/>
                                        </p:tgtEl>
                                        <p:attrNameLst>
                                          <p:attrName>style.visibility</p:attrName>
                                        </p:attrNameLst>
                                      </p:cBhvr>
                                      <p:to>
                                        <p:strVal val="visible"/>
                                      </p:to>
                                    </p:set>
                                    <p:animEffect transition="in" filter="wipe(left)">
                                      <p:cBhvr>
                                        <p:cTn id="32" dur="500"/>
                                        <p:tgtEl>
                                          <p:spTgt spid="983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8326"/>
                                        </p:tgtEl>
                                        <p:attrNameLst>
                                          <p:attrName>style.visibility</p:attrName>
                                        </p:attrNameLst>
                                      </p:cBhvr>
                                      <p:to>
                                        <p:strVal val="visible"/>
                                      </p:to>
                                    </p:set>
                                    <p:animEffect transition="in" filter="wipe(left)">
                                      <p:cBhvr>
                                        <p:cTn id="37" dur="500"/>
                                        <p:tgtEl>
                                          <p:spTgt spid="9832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8327"/>
                                        </p:tgtEl>
                                        <p:attrNameLst>
                                          <p:attrName>style.visibility</p:attrName>
                                        </p:attrNameLst>
                                      </p:cBhvr>
                                      <p:to>
                                        <p:strVal val="visible"/>
                                      </p:to>
                                    </p:set>
                                    <p:animEffect transition="in" filter="wipe(left)">
                                      <p:cBhvr>
                                        <p:cTn id="42" dur="500"/>
                                        <p:tgtEl>
                                          <p:spTgt spid="9832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8310"/>
                                        </p:tgtEl>
                                        <p:attrNameLst>
                                          <p:attrName>style.visibility</p:attrName>
                                        </p:attrNameLst>
                                      </p:cBhvr>
                                      <p:to>
                                        <p:strVal val="visible"/>
                                      </p:to>
                                    </p:set>
                                    <p:animEffect transition="in" filter="wipe(left)">
                                      <p:cBhvr>
                                        <p:cTn id="47" dur="500"/>
                                        <p:tgtEl>
                                          <p:spTgt spid="9831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8306"/>
                                        </p:tgtEl>
                                        <p:attrNameLst>
                                          <p:attrName>style.visibility</p:attrName>
                                        </p:attrNameLst>
                                      </p:cBhvr>
                                      <p:to>
                                        <p:strVal val="visible"/>
                                      </p:to>
                                    </p:set>
                                    <p:animEffect transition="in" filter="wipe(left)">
                                      <p:cBhvr>
                                        <p:cTn id="52" dur="500"/>
                                        <p:tgtEl>
                                          <p:spTgt spid="98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nimBg="1" autoUpdateAnimBg="0"/>
      <p:bldP spid="9831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5" name="Text Box 9"/>
          <p:cNvSpPr txBox="1">
            <a:spLocks noChangeArrowheads="1"/>
          </p:cNvSpPr>
          <p:nvPr/>
        </p:nvSpPr>
        <p:spPr bwMode="auto">
          <a:xfrm>
            <a:off x="228600" y="827088"/>
            <a:ext cx="8610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800">
                <a:solidFill>
                  <a:schemeClr val="accent2"/>
                </a:solidFill>
                <a:latin typeface="Century Schoolbook" pitchFamily="18" charset="0"/>
              </a:rPr>
              <a:t>1)</a:t>
            </a:r>
            <a:r>
              <a:rPr lang="en-US" altLang="zh-CN" sz="2800" b="1">
                <a:solidFill>
                  <a:schemeClr val="accent2"/>
                </a:solidFill>
                <a:latin typeface="Century Schoolbook" pitchFamily="18" charset="0"/>
              </a:rPr>
              <a:t>.</a:t>
            </a:r>
            <a:r>
              <a:rPr lang="zh-CN" altLang="en-US" sz="2800" b="1">
                <a:solidFill>
                  <a:schemeClr val="accent2"/>
                </a:solidFill>
                <a:latin typeface="Century Schoolbook" pitchFamily="18" charset="0"/>
              </a:rPr>
              <a:t>卡诺机必须有两个热源。热机效率与工作物质无关，只与两热源温度有关。</a:t>
            </a:r>
          </a:p>
        </p:txBody>
      </p:sp>
      <p:sp>
        <p:nvSpPr>
          <p:cNvPr id="126982" name="Text Box 6"/>
          <p:cNvSpPr txBox="1">
            <a:spLocks noChangeArrowheads="1"/>
          </p:cNvSpPr>
          <p:nvPr/>
        </p:nvSpPr>
        <p:spPr bwMode="auto">
          <a:xfrm>
            <a:off x="179388" y="2852738"/>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800" b="1" i="1">
                <a:latin typeface="Century Schoolbook" pitchFamily="18" charset="0"/>
              </a:rPr>
              <a:t> </a:t>
            </a:r>
            <a:r>
              <a:rPr lang="en-US" altLang="zh-CN" sz="2800" b="1">
                <a:solidFill>
                  <a:srgbClr val="FF0000"/>
                </a:solidFill>
              </a:rPr>
              <a:t>3)</a:t>
            </a:r>
            <a:r>
              <a:rPr lang="zh-CN" altLang="en-US" sz="2800" b="1">
                <a:solidFill>
                  <a:srgbClr val="FF0000"/>
                </a:solidFill>
              </a:rPr>
              <a:t>、提高热机效率的方法。</a:t>
            </a:r>
            <a:r>
              <a:rPr lang="zh-CN" altLang="en-US"/>
              <a:t> </a:t>
            </a:r>
            <a:r>
              <a:rPr lang="en-US" altLang="zh-CN" sz="2800" b="1" i="1">
                <a:latin typeface="Century Schoolbook" pitchFamily="18" charset="0"/>
              </a:rPr>
              <a:t>T</a:t>
            </a:r>
            <a:r>
              <a:rPr lang="en-US" altLang="zh-CN" sz="2800" b="1" baseline="-25000">
                <a:latin typeface="Century Schoolbook" pitchFamily="18" charset="0"/>
              </a:rPr>
              <a:t>2</a:t>
            </a:r>
            <a:r>
              <a:rPr lang="en-US" altLang="zh-CN" sz="2800" b="1">
                <a:latin typeface="Century Schoolbook" pitchFamily="18" charset="0"/>
              </a:rPr>
              <a:t>/</a:t>
            </a:r>
            <a:r>
              <a:rPr lang="en-US" altLang="zh-CN" sz="2800" b="1" i="1">
                <a:latin typeface="Century Schoolbook" pitchFamily="18" charset="0"/>
              </a:rPr>
              <a:t>T</a:t>
            </a:r>
            <a:r>
              <a:rPr lang="en-US" altLang="zh-CN" sz="2800" b="1" baseline="-25000">
                <a:latin typeface="Century Schoolbook" pitchFamily="18" charset="0"/>
              </a:rPr>
              <a:t>1</a:t>
            </a:r>
            <a:r>
              <a:rPr lang="zh-CN" altLang="en-US" sz="2800" b="1">
                <a:latin typeface="Century Schoolbook" pitchFamily="18" charset="0"/>
              </a:rPr>
              <a:t>越小越好，但低温热源的温度通常为外界大气的温度，难以人为地改变。因此通常以提高高温热源的温度来提高热机的效率。</a:t>
            </a:r>
          </a:p>
        </p:txBody>
      </p:sp>
      <p:sp>
        <p:nvSpPr>
          <p:cNvPr id="126987" name="Text Box 11"/>
          <p:cNvSpPr txBox="1">
            <a:spLocks noChangeArrowheads="1"/>
          </p:cNvSpPr>
          <p:nvPr/>
        </p:nvSpPr>
        <p:spPr bwMode="auto">
          <a:xfrm>
            <a:off x="179388" y="2117725"/>
            <a:ext cx="815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800">
                <a:solidFill>
                  <a:schemeClr val="accent2"/>
                </a:solidFill>
                <a:latin typeface="Century Schoolbook" pitchFamily="18" charset="0"/>
              </a:rPr>
              <a:t>2)</a:t>
            </a:r>
            <a:r>
              <a:rPr lang="en-US" altLang="zh-CN" sz="2800" b="1">
                <a:solidFill>
                  <a:schemeClr val="accent2"/>
                </a:solidFill>
                <a:latin typeface="Century Schoolbook" pitchFamily="18" charset="0"/>
              </a:rPr>
              <a:t>.</a:t>
            </a:r>
            <a:r>
              <a:rPr lang="zh-CN" altLang="en-US" sz="2800" b="1">
                <a:solidFill>
                  <a:schemeClr val="accent2"/>
                </a:solidFill>
                <a:latin typeface="Century Schoolbook" pitchFamily="18" charset="0"/>
              </a:rPr>
              <a:t>热机效率不能大于 </a:t>
            </a:r>
            <a:r>
              <a:rPr lang="en-US" altLang="zh-CN" sz="2800">
                <a:solidFill>
                  <a:schemeClr val="accent2"/>
                </a:solidFill>
                <a:latin typeface="Century Schoolbook" pitchFamily="18" charset="0"/>
              </a:rPr>
              <a:t>1 </a:t>
            </a:r>
            <a:r>
              <a:rPr lang="zh-CN" altLang="en-US" sz="2800" b="1">
                <a:solidFill>
                  <a:schemeClr val="accent2"/>
                </a:solidFill>
                <a:latin typeface="Century Schoolbook" pitchFamily="18" charset="0"/>
              </a:rPr>
              <a:t>或等于 </a:t>
            </a:r>
            <a:r>
              <a:rPr lang="en-US" altLang="zh-CN" sz="2800">
                <a:solidFill>
                  <a:schemeClr val="accent2"/>
                </a:solidFill>
                <a:latin typeface="Century Schoolbook" pitchFamily="18" charset="0"/>
              </a:rPr>
              <a:t>1</a:t>
            </a:r>
            <a:r>
              <a:rPr lang="zh-CN" altLang="en-US" sz="2800" b="1">
                <a:solidFill>
                  <a:schemeClr val="accent2"/>
                </a:solidFill>
                <a:latin typeface="Century Schoolbook" pitchFamily="18" charset="0"/>
              </a:rPr>
              <a:t>，只能小于 </a:t>
            </a:r>
            <a:r>
              <a:rPr lang="en-US" altLang="zh-CN" sz="2800">
                <a:solidFill>
                  <a:schemeClr val="accent2"/>
                </a:solidFill>
                <a:latin typeface="Century Schoolbook" pitchFamily="18" charset="0"/>
              </a:rPr>
              <a:t>1</a:t>
            </a:r>
            <a:r>
              <a:rPr lang="zh-CN" altLang="en-US" sz="2800" b="1">
                <a:solidFill>
                  <a:schemeClr val="accent2"/>
                </a:solidFill>
                <a:latin typeface="Century Schoolbook" pitchFamily="18" charset="0"/>
              </a:rPr>
              <a:t>。</a:t>
            </a:r>
          </a:p>
        </p:txBody>
      </p:sp>
      <p:sp>
        <p:nvSpPr>
          <p:cNvPr id="126988" name="Rectangle 12"/>
          <p:cNvSpPr>
            <a:spLocks noChangeArrowheads="1"/>
          </p:cNvSpPr>
          <p:nvPr/>
        </p:nvSpPr>
        <p:spPr bwMode="auto">
          <a:xfrm>
            <a:off x="228600" y="44450"/>
            <a:ext cx="2398713" cy="519113"/>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9050">
                <a:solidFill>
                  <a:schemeClr val="tx1"/>
                </a:solidFill>
                <a:miter lim="800000"/>
                <a:headEnd type="none" w="med" len="lg"/>
                <a:tailEnd type="none" w="med" len="lg"/>
              </a14:hiddenLine>
            </a:ext>
          </a:extLst>
        </p:spPr>
        <p:txBody>
          <a:bodyPr>
            <a:spAutoFit/>
          </a:bodyPr>
          <a:lstStyle/>
          <a:p>
            <a:pPr algn="l" eaLnBrk="0" hangingPunct="0">
              <a:defRPr/>
            </a:pPr>
            <a:r>
              <a:rPr kumimoji="0" lang="en-US" altLang="zh-CN" sz="2800" b="1">
                <a:solidFill>
                  <a:srgbClr val="FF3300"/>
                </a:solidFill>
                <a:latin typeface="楷体_GB2312" pitchFamily="49" charset="-122"/>
                <a:ea typeface="楷体_GB2312" pitchFamily="49" charset="-122"/>
              </a:rPr>
              <a:t>(3).</a:t>
            </a:r>
            <a:r>
              <a:rPr kumimoji="0" lang="zh-CN" altLang="en-US" sz="2800" b="1">
                <a:solidFill>
                  <a:srgbClr val="FF3300"/>
                </a:solidFill>
                <a:latin typeface="楷体_GB2312" pitchFamily="49" charset="-122"/>
                <a:ea typeface="楷体_GB2312" pitchFamily="49" charset="-122"/>
              </a:rPr>
              <a:t>讨论</a:t>
            </a:r>
            <a:endParaRPr kumimoji="0" lang="zh-CN" altLang="en-US" sz="3600" b="1">
              <a:solidFill>
                <a:srgbClr val="FF3300"/>
              </a:solidFill>
              <a:effectLst>
                <a:outerShdw blurRad="38100" dist="38100" dir="2700000" algn="tl">
                  <a:srgbClr val="000000"/>
                </a:outerShdw>
              </a:effectLst>
              <a:latin typeface="楷体_GB2312" pitchFamily="49" charset="-122"/>
              <a:ea typeface="楷体_GB2312" pitchFamily="49" charset="-122"/>
            </a:endParaRPr>
          </a:p>
        </p:txBody>
      </p:sp>
      <p:sp>
        <p:nvSpPr>
          <p:cNvPr id="126989" name="Text Box 13"/>
          <p:cNvSpPr txBox="1">
            <a:spLocks noChangeArrowheads="1"/>
          </p:cNvSpPr>
          <p:nvPr/>
        </p:nvSpPr>
        <p:spPr bwMode="auto">
          <a:xfrm>
            <a:off x="366713" y="4355069"/>
            <a:ext cx="8159750" cy="1675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lnSpc>
                <a:spcPct val="200000"/>
              </a:lnSpc>
              <a:spcBef>
                <a:spcPct val="50000"/>
              </a:spcBef>
            </a:pPr>
            <a:r>
              <a:rPr lang="en-US" altLang="zh-CN" sz="2800">
                <a:solidFill>
                  <a:schemeClr val="accent2"/>
                </a:solidFill>
                <a:latin typeface="Century Schoolbook" pitchFamily="18" charset="0"/>
              </a:rPr>
              <a:t>4)</a:t>
            </a:r>
            <a:r>
              <a:rPr lang="en-US" altLang="zh-CN" sz="2800" b="1">
                <a:solidFill>
                  <a:schemeClr val="accent2"/>
                </a:solidFill>
                <a:latin typeface="Century Schoolbook" pitchFamily="18" charset="0"/>
              </a:rPr>
              <a:t>.                    </a:t>
            </a:r>
            <a:r>
              <a:rPr lang="zh-CN" altLang="en-US" sz="2800" b="1">
                <a:solidFill>
                  <a:schemeClr val="accent2"/>
                </a:solidFill>
                <a:latin typeface="Century Schoolbook" pitchFamily="18" charset="0"/>
              </a:rPr>
              <a:t>该式只适用于卡诺热机，真实的热机的循环均不是可逆循环，其效率都较低。</a:t>
            </a:r>
          </a:p>
        </p:txBody>
      </p:sp>
      <p:graphicFrame>
        <p:nvGraphicFramePr>
          <p:cNvPr id="126990" name="Object 14"/>
          <p:cNvGraphicFramePr>
            <a:graphicFrameLocks noChangeAspect="1"/>
          </p:cNvGraphicFramePr>
          <p:nvPr>
            <p:extLst>
              <p:ext uri="{D42A27DB-BD31-4B8C-83A1-F6EECF244321}">
                <p14:modId xmlns:p14="http://schemas.microsoft.com/office/powerpoint/2010/main" val="1938272465"/>
              </p:ext>
            </p:extLst>
          </p:nvPr>
        </p:nvGraphicFramePr>
        <p:xfrm>
          <a:off x="1147610" y="4490244"/>
          <a:ext cx="1512887" cy="757237"/>
        </p:xfrm>
        <a:graphic>
          <a:graphicData uri="http://schemas.openxmlformats.org/presentationml/2006/ole">
            <mc:AlternateContent xmlns:mc="http://schemas.openxmlformats.org/markup-compatibility/2006">
              <mc:Choice xmlns:v="urn:schemas-microsoft-com:vml" Requires="v">
                <p:oleObj spid="_x0000_s18755" name="公式" r:id="rId4" imgW="660113" imgH="444307" progId="Equation.3">
                  <p:embed/>
                </p:oleObj>
              </mc:Choice>
              <mc:Fallback>
                <p:oleObj name="公式" r:id="rId4" imgW="660113" imgH="444307"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7610" y="4490244"/>
                        <a:ext cx="1512887" cy="757237"/>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6991" name="Object 15"/>
          <p:cNvGraphicFramePr>
            <a:graphicFrameLocks noChangeAspect="1"/>
          </p:cNvGraphicFramePr>
          <p:nvPr/>
        </p:nvGraphicFramePr>
        <p:xfrm>
          <a:off x="2916238" y="0"/>
          <a:ext cx="1730375" cy="895350"/>
        </p:xfrm>
        <a:graphic>
          <a:graphicData uri="http://schemas.openxmlformats.org/presentationml/2006/ole">
            <mc:AlternateContent xmlns:mc="http://schemas.openxmlformats.org/markup-compatibility/2006">
              <mc:Choice xmlns:v="urn:schemas-microsoft-com:vml" Requires="v">
                <p:oleObj spid="_x0000_s18756" name="公式" r:id="rId6" imgW="622030" imgH="431613" progId="Equation.3">
                  <p:embed/>
                </p:oleObj>
              </mc:Choice>
              <mc:Fallback>
                <p:oleObj name="公式" r:id="rId6" imgW="622030" imgH="431613"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6238" y="0"/>
                        <a:ext cx="1730375" cy="8953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88"/>
                                        </p:tgtEl>
                                        <p:attrNameLst>
                                          <p:attrName>style.visibility</p:attrName>
                                        </p:attrNameLst>
                                      </p:cBhvr>
                                      <p:to>
                                        <p:strVal val="visible"/>
                                      </p:to>
                                    </p:set>
                                    <p:animEffect transition="in" filter="wipe(left)">
                                      <p:cBhvr>
                                        <p:cTn id="7" dur="500"/>
                                        <p:tgtEl>
                                          <p:spTgt spid="1269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6991"/>
                                        </p:tgtEl>
                                        <p:attrNameLst>
                                          <p:attrName>style.visibility</p:attrName>
                                        </p:attrNameLst>
                                      </p:cBhvr>
                                      <p:to>
                                        <p:strVal val="visible"/>
                                      </p:to>
                                    </p:set>
                                    <p:animEffect transition="in" filter="wipe(left)">
                                      <p:cBhvr>
                                        <p:cTn id="12" dur="500"/>
                                        <p:tgtEl>
                                          <p:spTgt spid="1269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26985"/>
                                        </p:tgtEl>
                                        <p:attrNameLst>
                                          <p:attrName>style.visibility</p:attrName>
                                        </p:attrNameLst>
                                      </p:cBhvr>
                                      <p:to>
                                        <p:strVal val="visible"/>
                                      </p:to>
                                    </p:set>
                                    <p:animEffect transition="in" filter="strips(downRight)">
                                      <p:cBhvr>
                                        <p:cTn id="17" dur="500"/>
                                        <p:tgtEl>
                                          <p:spTgt spid="1269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6987"/>
                                        </p:tgtEl>
                                        <p:attrNameLst>
                                          <p:attrName>style.visibility</p:attrName>
                                        </p:attrNameLst>
                                      </p:cBhvr>
                                      <p:to>
                                        <p:strVal val="visible"/>
                                      </p:to>
                                    </p:set>
                                    <p:animEffect transition="in" filter="wipe(left)">
                                      <p:cBhvr>
                                        <p:cTn id="22" dur="500"/>
                                        <p:tgtEl>
                                          <p:spTgt spid="1269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126982"/>
                                        </p:tgtEl>
                                        <p:attrNameLst>
                                          <p:attrName>style.visibility</p:attrName>
                                        </p:attrNameLst>
                                      </p:cBhvr>
                                      <p:to>
                                        <p:strVal val="visible"/>
                                      </p:to>
                                    </p:set>
                                    <p:animEffect transition="in" filter="wipe(left)">
                                      <p:cBhvr>
                                        <p:cTn id="27" dur="75"/>
                                        <p:tgtEl>
                                          <p:spTgt spid="1269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26990"/>
                                        </p:tgtEl>
                                        <p:attrNameLst>
                                          <p:attrName>style.visibility</p:attrName>
                                        </p:attrNameLst>
                                      </p:cBhvr>
                                      <p:to>
                                        <p:strVal val="visible"/>
                                      </p:to>
                                    </p:set>
                                    <p:animEffect transition="in" filter="blinds(horizontal)">
                                      <p:cBhvr>
                                        <p:cTn id="32" dur="500"/>
                                        <p:tgtEl>
                                          <p:spTgt spid="126990"/>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26989"/>
                                        </p:tgtEl>
                                        <p:attrNameLst>
                                          <p:attrName>style.visibility</p:attrName>
                                        </p:attrNameLst>
                                      </p:cBhvr>
                                      <p:to>
                                        <p:strVal val="visible"/>
                                      </p:to>
                                    </p:set>
                                    <p:animEffect transition="in" filter="blinds(horizontal)">
                                      <p:cBhvr>
                                        <p:cTn id="35" dur="500"/>
                                        <p:tgtEl>
                                          <p:spTgt spid="126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5" grpId="0" autoUpdateAnimBg="0"/>
      <p:bldP spid="126982" grpId="0" autoUpdateAnimBg="0"/>
      <p:bldP spid="126987" grpId="0" autoUpdateAnimBg="0"/>
      <p:bldP spid="126988" grpId="0" animBg="1" autoUpdateAnimBg="0"/>
      <p:bldP spid="12698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5" name="Text Box 5"/>
          <p:cNvSpPr txBox="1">
            <a:spLocks noChangeArrowheads="1"/>
          </p:cNvSpPr>
          <p:nvPr/>
        </p:nvSpPr>
        <p:spPr bwMode="auto">
          <a:xfrm>
            <a:off x="6372225" y="115888"/>
            <a:ext cx="2808288" cy="332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a:solidFill>
                  <a:schemeClr val="folHlink"/>
                </a:solidFill>
                <a:latin typeface="Century Schoolbook" pitchFamily="18" charset="0"/>
              </a:rPr>
              <a:t>奥巴马的“陆军一号”汽车</a:t>
            </a:r>
            <a:r>
              <a:rPr lang="en-US" altLang="zh-CN" sz="2800" b="1">
                <a:solidFill>
                  <a:schemeClr val="folHlink"/>
                </a:solidFill>
                <a:latin typeface="Century Schoolbook" pitchFamily="18" charset="0"/>
              </a:rPr>
              <a:t>(</a:t>
            </a:r>
            <a:r>
              <a:rPr lang="zh-CN" altLang="en-US" sz="2800" b="1">
                <a:solidFill>
                  <a:schemeClr val="folHlink"/>
                </a:solidFill>
                <a:latin typeface="Century Schoolbook" pitchFamily="18" charset="0"/>
              </a:rPr>
              <a:t>通用制造</a:t>
            </a:r>
            <a:r>
              <a:rPr lang="en-US" altLang="zh-CN" sz="2800" b="1">
                <a:solidFill>
                  <a:schemeClr val="folHlink"/>
                </a:solidFill>
                <a:latin typeface="Century Schoolbook" pitchFamily="18" charset="0"/>
              </a:rPr>
              <a:t>)</a:t>
            </a:r>
          </a:p>
          <a:p>
            <a:pPr algn="l" eaLnBrk="1" hangingPunct="1">
              <a:spcBef>
                <a:spcPct val="50000"/>
              </a:spcBef>
            </a:pPr>
            <a:r>
              <a:rPr lang="zh-CN" altLang="en-US" sz="2800" b="1">
                <a:solidFill>
                  <a:schemeClr val="accent2"/>
                </a:solidFill>
                <a:latin typeface="Century Schoolbook" pitchFamily="18" charset="0"/>
              </a:rPr>
              <a:t>汽车发动机的效率约为</a:t>
            </a:r>
            <a:r>
              <a:rPr lang="en-US" altLang="zh-CN" sz="2800" b="1">
                <a:solidFill>
                  <a:schemeClr val="accent2"/>
                </a:solidFill>
                <a:latin typeface="Century Schoolbook" pitchFamily="18" charset="0"/>
              </a:rPr>
              <a:t>25</a:t>
            </a:r>
            <a:r>
              <a:rPr lang="zh-CN" altLang="en-US" sz="2800" b="1">
                <a:solidFill>
                  <a:schemeClr val="accent2"/>
                </a:solidFill>
                <a:latin typeface="Century Schoolbook" pitchFamily="18" charset="0"/>
              </a:rPr>
              <a:t>％，若采用卡诺热机其循环效率为</a:t>
            </a:r>
            <a:r>
              <a:rPr lang="en-US" altLang="zh-CN" sz="2800" b="1">
                <a:solidFill>
                  <a:schemeClr val="accent2"/>
                </a:solidFill>
                <a:latin typeface="Century Schoolbook" pitchFamily="18" charset="0"/>
              </a:rPr>
              <a:t>55</a:t>
            </a:r>
            <a:r>
              <a:rPr lang="zh-CN" altLang="en-US" sz="2800" b="1">
                <a:solidFill>
                  <a:schemeClr val="accent2"/>
                </a:solidFill>
                <a:latin typeface="Century Schoolbook" pitchFamily="18" charset="0"/>
              </a:rPr>
              <a:t>％</a:t>
            </a:r>
          </a:p>
        </p:txBody>
      </p:sp>
      <p:pic>
        <p:nvPicPr>
          <p:cNvPr id="19459" name="Picture 9" descr="奥巴马坐驾：陆军一号"/>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1125"/>
            <a:ext cx="6300788"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矩形 1"/>
          <p:cNvSpPr>
            <a:spLocks noChangeArrowheads="1"/>
          </p:cNvSpPr>
          <p:nvPr/>
        </p:nvSpPr>
        <p:spPr bwMode="auto">
          <a:xfrm>
            <a:off x="107950" y="3429000"/>
            <a:ext cx="8315325"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en-US" altLang="zh-CN" b="1"/>
              <a:t>1.</a:t>
            </a:r>
            <a:r>
              <a:rPr lang="zh-CN" altLang="en-US" b="1"/>
              <a:t>驾驶舱：标准方向盘，仪表板配有通讯设备和</a:t>
            </a:r>
            <a:r>
              <a:rPr lang="en-US" altLang="zh-CN" b="1"/>
              <a:t>GPS</a:t>
            </a:r>
            <a:r>
              <a:rPr lang="zh-CN" altLang="en-US" b="1"/>
              <a:t>定位系统</a:t>
            </a:r>
          </a:p>
          <a:p>
            <a:pPr algn="l"/>
            <a:r>
              <a:rPr lang="en-US" altLang="zh-CN" b="1"/>
              <a:t>2.</a:t>
            </a:r>
            <a:r>
              <a:rPr lang="zh-CN" altLang="en-US" b="1"/>
              <a:t>红外夜视摄像头</a:t>
            </a:r>
          </a:p>
          <a:p>
            <a:pPr algn="l"/>
            <a:r>
              <a:rPr lang="en-US" altLang="zh-CN" b="1"/>
              <a:t>3.</a:t>
            </a:r>
            <a:r>
              <a:rPr lang="zh-CN" altLang="en-US" b="1"/>
              <a:t>防爆轮胎：即使被射穿，依然可以保证车辆自如行驶</a:t>
            </a:r>
          </a:p>
          <a:p>
            <a:pPr algn="l"/>
            <a:r>
              <a:rPr lang="en-US" altLang="zh-CN" b="1"/>
              <a:t>4.</a:t>
            </a:r>
            <a:r>
              <a:rPr lang="zh-CN" altLang="en-US" b="1"/>
              <a:t>防御武器：霰弹枪、红外夜视摄像头和催泪瓦斯投放装置等</a:t>
            </a:r>
          </a:p>
          <a:p>
            <a:pPr algn="l"/>
            <a:r>
              <a:rPr lang="en-US" altLang="zh-CN" b="1"/>
              <a:t>5.</a:t>
            </a:r>
            <a:r>
              <a:rPr lang="zh-CN" altLang="en-US" b="1"/>
              <a:t>后座：奥巴马的座位配有可折叠办公桌、笔记本电脑、卫星电话，可遥控指挥各机要部门</a:t>
            </a:r>
          </a:p>
          <a:p>
            <a:pPr algn="l"/>
            <a:r>
              <a:rPr lang="en-US" altLang="zh-CN" b="1"/>
              <a:t>6.</a:t>
            </a:r>
            <a:r>
              <a:rPr lang="zh-CN" altLang="en-US" b="1"/>
              <a:t>后备箱：配备空气循环系统和先进的灭火系统</a:t>
            </a:r>
          </a:p>
          <a:p>
            <a:pPr algn="l"/>
            <a:r>
              <a:rPr lang="en-US" altLang="zh-CN" b="1"/>
              <a:t>7.</a:t>
            </a:r>
            <a:r>
              <a:rPr lang="zh-CN" altLang="en-US" b="1"/>
              <a:t>油箱：特殊泡沫材料填充，遇袭时不会发生爆炸</a:t>
            </a:r>
          </a:p>
          <a:p>
            <a:pPr algn="l"/>
            <a:r>
              <a:rPr lang="zh-CN" altLang="en-US" b="1"/>
              <a:t> </a:t>
            </a:r>
            <a:r>
              <a:rPr lang="en-US" altLang="zh-CN" b="1"/>
              <a:t>8.</a:t>
            </a:r>
            <a:r>
              <a:rPr lang="zh-CN" altLang="en-US" b="1"/>
              <a:t>车门：</a:t>
            </a:r>
            <a:r>
              <a:rPr lang="en-US" altLang="zh-CN" b="1"/>
              <a:t>8</a:t>
            </a:r>
            <a:r>
              <a:rPr lang="zh-CN" altLang="en-US" b="1"/>
              <a:t>英寸</a:t>
            </a:r>
            <a:r>
              <a:rPr lang="en-US" altLang="zh-CN" b="1"/>
              <a:t>(</a:t>
            </a:r>
            <a:r>
              <a:rPr lang="zh-CN" altLang="en-US" b="1"/>
              <a:t>约</a:t>
            </a:r>
            <a:r>
              <a:rPr lang="en-US" altLang="zh-CN" b="1"/>
              <a:t>20cm)</a:t>
            </a:r>
            <a:r>
              <a:rPr lang="zh-CN" altLang="en-US" b="1"/>
              <a:t>厚的装甲车门重量与波音</a:t>
            </a:r>
            <a:r>
              <a:rPr lang="en-US" altLang="zh-CN" b="1"/>
              <a:t>757</a:t>
            </a:r>
            <a:r>
              <a:rPr lang="zh-CN" altLang="en-US" b="1"/>
              <a:t>舱门一样，可抵御肩扛式火箭筒的攻击</a:t>
            </a:r>
          </a:p>
        </p:txBody>
      </p:sp>
      <p:pic>
        <p:nvPicPr>
          <p:cNvPr id="153602" name="Picture 2" descr="http://5b0988e595225.cdn.sohucs.com/images/20180927/c16783030d814fb8b7fe1a1e8cd3fce7.jpg">
            <a:extLst>
              <a:ext uri="{FF2B5EF4-FFF2-40B4-BE49-F238E27FC236}">
                <a16:creationId xmlns:a16="http://schemas.microsoft.com/office/drawing/2014/main" id="{02C4C8F6-A5A1-4EA4-BAD8-454EF247A3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50" y="-96839"/>
            <a:ext cx="9144000" cy="685006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FCC6AC29-4108-42BD-969B-9E61C49AAF05}"/>
              </a:ext>
            </a:extLst>
          </p:cNvPr>
          <p:cNvGrpSpPr/>
          <p:nvPr/>
        </p:nvGrpSpPr>
        <p:grpSpPr>
          <a:xfrm>
            <a:off x="17350" y="-93572"/>
            <a:ext cx="9332623" cy="6776211"/>
            <a:chOff x="17350" y="115888"/>
            <a:chExt cx="9332623" cy="6776211"/>
          </a:xfrm>
        </p:grpSpPr>
        <p:pic>
          <p:nvPicPr>
            <p:cNvPr id="155650" name="Picture 2" descr="https://p4.itc.cn/q_70/images03/20210610/74f30197e95049ccb4a16ab6c8c81102.png">
              <a:extLst>
                <a:ext uri="{FF2B5EF4-FFF2-40B4-BE49-F238E27FC236}">
                  <a16:creationId xmlns:a16="http://schemas.microsoft.com/office/drawing/2014/main" id="{1097506E-2002-4379-88D6-3820DE69B6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735719"/>
              <a:ext cx="9242023" cy="615638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194768C9-87B4-4D57-B199-EF20CC3A09ED}"/>
                </a:ext>
              </a:extLst>
            </p:cNvPr>
            <p:cNvSpPr txBox="1"/>
            <p:nvPr/>
          </p:nvSpPr>
          <p:spPr>
            <a:xfrm>
              <a:off x="17350" y="115888"/>
              <a:ext cx="9109300" cy="630942"/>
            </a:xfrm>
            <a:prstGeom prst="rect">
              <a:avLst/>
            </a:prstGeom>
            <a:solidFill>
              <a:schemeClr val="bg1"/>
            </a:solidFill>
          </p:spPr>
          <p:txBody>
            <a:bodyPr wrap="square" rtlCol="0">
              <a:spAutoFit/>
            </a:bodyPr>
            <a:lstStyle/>
            <a:p>
              <a:r>
                <a:rPr lang="zh-CN" altLang="en-US" sz="3500" b="1"/>
                <a:t>拜登的座驾卡迪拉克“野兽”加长轿车</a:t>
              </a:r>
            </a:p>
          </p:txBody>
        </p:sp>
      </p:grpSp>
      <p:pic>
        <p:nvPicPr>
          <p:cNvPr id="4" name="图片 3">
            <a:extLst>
              <a:ext uri="{FF2B5EF4-FFF2-40B4-BE49-F238E27FC236}">
                <a16:creationId xmlns:a16="http://schemas.microsoft.com/office/drawing/2014/main" id="{11075F60-A5FE-4BFC-915F-C91CA0D775C0}"/>
              </a:ext>
            </a:extLst>
          </p:cNvPr>
          <p:cNvPicPr>
            <a:picLocks noChangeAspect="1"/>
          </p:cNvPicPr>
          <p:nvPr/>
        </p:nvPicPr>
        <p:blipFill rotWithShape="1">
          <a:blip r:embed="rId5"/>
          <a:srcRect l="12520" r="11881"/>
          <a:stretch/>
        </p:blipFill>
        <p:spPr>
          <a:xfrm>
            <a:off x="-31662" y="-96839"/>
            <a:ext cx="9381635" cy="6980480"/>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245"/>
                                        </p:tgtEl>
                                        <p:attrNameLst>
                                          <p:attrName>style.visibility</p:attrName>
                                        </p:attrNameLst>
                                      </p:cBhvr>
                                      <p:to>
                                        <p:strVal val="visible"/>
                                      </p:to>
                                    </p:set>
                                    <p:animEffect transition="in" filter="wipe(left)">
                                      <p:cBhvr>
                                        <p:cTn id="7" dur="500"/>
                                        <p:tgtEl>
                                          <p:spTgt spid="1382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360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Text Box 4"/>
          <p:cNvSpPr txBox="1">
            <a:spLocks noChangeArrowheads="1"/>
          </p:cNvSpPr>
          <p:nvPr/>
        </p:nvSpPr>
        <p:spPr bwMode="auto">
          <a:xfrm>
            <a:off x="541338" y="188913"/>
            <a:ext cx="5975350" cy="588962"/>
          </a:xfrm>
          <a:prstGeom prst="rect">
            <a:avLst/>
          </a:prstGeom>
          <a:solidFill>
            <a:srgbClr val="FF0000"/>
          </a:solidFill>
          <a:ln w="9525">
            <a:solidFill>
              <a:srgbClr val="00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eaLnBrk="1" hangingPunct="1"/>
            <a:r>
              <a:rPr lang="zh-CN" altLang="en-US" sz="3200" b="1">
                <a:solidFill>
                  <a:schemeClr val="bg1"/>
                </a:solidFill>
                <a:latin typeface="宋体" pitchFamily="2" charset="-122"/>
                <a:sym typeface="Symbol" pitchFamily="18" charset="2"/>
              </a:rPr>
              <a:t>现代“标准火力发电厂”：</a:t>
            </a:r>
            <a:endParaRPr lang="zh-CN" altLang="en-US" sz="3200" b="1">
              <a:latin typeface="宋体" pitchFamily="2" charset="-122"/>
              <a:sym typeface="Symbol" pitchFamily="18" charset="2"/>
            </a:endParaRPr>
          </a:p>
        </p:txBody>
      </p:sp>
      <p:sp>
        <p:nvSpPr>
          <p:cNvPr id="135176" name="Text Box 8"/>
          <p:cNvSpPr txBox="1">
            <a:spLocks noChangeArrowheads="1"/>
          </p:cNvSpPr>
          <p:nvPr/>
        </p:nvSpPr>
        <p:spPr bwMode="auto">
          <a:xfrm>
            <a:off x="268288" y="1147763"/>
            <a:ext cx="8984232" cy="230832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dirty="0"/>
              <a:t>例</a:t>
            </a:r>
            <a:r>
              <a:rPr lang="en-US" altLang="zh-CN" sz="2400" b="1" dirty="0"/>
              <a:t>1</a:t>
            </a:r>
            <a:r>
              <a:rPr lang="zh-CN" altLang="en-US" sz="2400" b="1" dirty="0"/>
              <a:t>、假设一台卡诺热机工作在温度分别为</a:t>
            </a:r>
            <a:r>
              <a:rPr lang="en-US" altLang="zh-CN" sz="2400" b="1" i="1" dirty="0"/>
              <a:t>T</a:t>
            </a:r>
            <a:r>
              <a:rPr lang="en-US" altLang="zh-CN" sz="2400" b="1" baseline="-25000" dirty="0"/>
              <a:t>1</a:t>
            </a:r>
            <a:r>
              <a:rPr lang="zh-CN" altLang="en-US" sz="2400" b="1" dirty="0"/>
              <a:t>＝</a:t>
            </a:r>
            <a:r>
              <a:rPr lang="en-US" altLang="zh-CN" sz="2400" b="1" dirty="0"/>
              <a:t>850K</a:t>
            </a:r>
            <a:r>
              <a:rPr lang="zh-CN" altLang="en-US" sz="2400" b="1" dirty="0"/>
              <a:t>和</a:t>
            </a:r>
            <a:r>
              <a:rPr lang="en-US" altLang="zh-CN" sz="2400" b="1" i="1" dirty="0"/>
              <a:t>T</a:t>
            </a:r>
            <a:r>
              <a:rPr lang="en-US" altLang="zh-CN" sz="2400" b="1" baseline="-25000" dirty="0"/>
              <a:t>2</a:t>
            </a:r>
            <a:r>
              <a:rPr lang="zh-CN" altLang="en-US" sz="2400" b="1" dirty="0"/>
              <a:t>＝</a:t>
            </a:r>
            <a:r>
              <a:rPr lang="en-US" altLang="zh-CN" sz="2400" b="1" dirty="0"/>
              <a:t>300K</a:t>
            </a:r>
            <a:r>
              <a:rPr lang="zh-CN" altLang="en-US" sz="2400" b="1" dirty="0"/>
              <a:t>两个热源之间，完成一个循环需要</a:t>
            </a:r>
            <a:r>
              <a:rPr lang="en-US" altLang="zh-CN" sz="2400" b="1" dirty="0"/>
              <a:t>0.25s,</a:t>
            </a:r>
            <a:r>
              <a:rPr lang="zh-CN" altLang="en-US" sz="2400" b="1" dirty="0"/>
              <a:t>对外所作的功为</a:t>
            </a:r>
            <a:r>
              <a:rPr lang="en-US" altLang="zh-CN" sz="2400" b="1" dirty="0"/>
              <a:t>1200J</a:t>
            </a:r>
            <a:r>
              <a:rPr lang="zh-CN" altLang="en-US" sz="2400" b="1" dirty="0"/>
              <a:t>，</a:t>
            </a:r>
          </a:p>
          <a:p>
            <a:pPr algn="l" eaLnBrk="1" hangingPunct="1"/>
            <a:r>
              <a:rPr lang="zh-CN" altLang="en-US" sz="2400" b="1" dirty="0"/>
              <a:t>（</a:t>
            </a:r>
            <a:r>
              <a:rPr lang="en-US" altLang="zh-CN" sz="2400" b="1" dirty="0"/>
              <a:t>a</a:t>
            </a:r>
            <a:r>
              <a:rPr lang="zh-CN" altLang="en-US" sz="2400" b="1" dirty="0"/>
              <a:t>）计算该热机的效率。</a:t>
            </a:r>
            <a:r>
              <a:rPr lang="en-US" altLang="zh-CN" sz="2400" b="1" dirty="0"/>
              <a:t>(b)</a:t>
            </a:r>
            <a:r>
              <a:rPr lang="zh-CN" altLang="en-US" sz="2400" b="1" dirty="0"/>
              <a:t>该机的平均功率是多少？（</a:t>
            </a:r>
            <a:r>
              <a:rPr lang="en-US" altLang="zh-CN" sz="2400" b="1" dirty="0"/>
              <a:t>c)</a:t>
            </a:r>
            <a:r>
              <a:rPr lang="zh-CN" altLang="en-US" sz="2400" b="1" dirty="0"/>
              <a:t>每</a:t>
            </a:r>
          </a:p>
          <a:p>
            <a:pPr algn="l" eaLnBrk="1" hangingPunct="1"/>
            <a:r>
              <a:rPr lang="zh-CN" altLang="en-US" sz="2400" b="1" dirty="0"/>
              <a:t>完成一次循环从高温热源吸收的热量和向低温热源释放的热</a:t>
            </a:r>
          </a:p>
          <a:p>
            <a:pPr algn="l" eaLnBrk="1" hangingPunct="1"/>
            <a:r>
              <a:rPr lang="zh-CN" altLang="en-US" sz="2400" b="1" dirty="0"/>
              <a:t>量各为多少？</a:t>
            </a:r>
          </a:p>
          <a:p>
            <a:pPr algn="l" eaLnBrk="1" hangingPunct="1"/>
            <a:endParaRPr lang="en-US" altLang="zh-CN" sz="2400" b="1" dirty="0"/>
          </a:p>
        </p:txBody>
      </p:sp>
      <p:grpSp>
        <p:nvGrpSpPr>
          <p:cNvPr id="2" name="组合 1">
            <a:extLst>
              <a:ext uri="{FF2B5EF4-FFF2-40B4-BE49-F238E27FC236}">
                <a16:creationId xmlns:a16="http://schemas.microsoft.com/office/drawing/2014/main" id="{465281EB-DEBB-4B8B-8D00-B64FA4A32434}"/>
              </a:ext>
            </a:extLst>
          </p:cNvPr>
          <p:cNvGrpSpPr/>
          <p:nvPr/>
        </p:nvGrpSpPr>
        <p:grpSpPr>
          <a:xfrm>
            <a:off x="35496" y="3062288"/>
            <a:ext cx="7921717" cy="990600"/>
            <a:chOff x="472236" y="2960787"/>
            <a:chExt cx="7921717" cy="990600"/>
          </a:xfrm>
        </p:grpSpPr>
        <p:graphicFrame>
          <p:nvGraphicFramePr>
            <p:cNvPr id="135175" name="Object 7"/>
            <p:cNvGraphicFramePr>
              <a:graphicFrameLocks noChangeAspect="1"/>
            </p:cNvGraphicFramePr>
            <p:nvPr>
              <p:extLst>
                <p:ext uri="{D42A27DB-BD31-4B8C-83A1-F6EECF244321}">
                  <p14:modId xmlns:p14="http://schemas.microsoft.com/office/powerpoint/2010/main" val="2258556703"/>
                </p:ext>
              </p:extLst>
            </p:nvPr>
          </p:nvGraphicFramePr>
          <p:xfrm>
            <a:off x="1635965" y="2960787"/>
            <a:ext cx="6757988" cy="990600"/>
          </p:xfrm>
          <a:graphic>
            <a:graphicData uri="http://schemas.openxmlformats.org/presentationml/2006/ole">
              <mc:AlternateContent xmlns:mc="http://schemas.openxmlformats.org/markup-compatibility/2006">
                <mc:Choice xmlns:v="urn:schemas-microsoft-com:vml" Requires="v">
                  <p:oleObj spid="_x0000_s22143" name="公式" r:id="rId3" imgW="3149280" imgH="431640" progId="Equation.3">
                    <p:embed/>
                  </p:oleObj>
                </mc:Choice>
                <mc:Fallback>
                  <p:oleObj name="公式" r:id="rId3" imgW="3149280" imgH="431640" progId="Equation.3">
                    <p:embed/>
                    <p:pic>
                      <p:nvPicPr>
                        <p:cNvPr id="0" name="Object 7"/>
                        <p:cNvPicPr>
                          <a:picLocks noChangeAspect="1" noChangeArrowheads="1"/>
                        </p:cNvPicPr>
                        <p:nvPr/>
                      </p:nvPicPr>
                      <p:blipFill>
                        <a:blip r:embed="rId4"/>
                        <a:srcRect/>
                        <a:stretch>
                          <a:fillRect/>
                        </a:stretch>
                      </p:blipFill>
                      <p:spPr bwMode="auto">
                        <a:xfrm>
                          <a:off x="1635965" y="2960787"/>
                          <a:ext cx="6757988"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9" name="Text Box 9"/>
            <p:cNvSpPr txBox="1">
              <a:spLocks noChangeArrowheads="1"/>
            </p:cNvSpPr>
            <p:nvPr/>
          </p:nvSpPr>
          <p:spPr bwMode="auto">
            <a:xfrm>
              <a:off x="472236" y="3195875"/>
              <a:ext cx="1125629" cy="5539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eaLnBrk="1" hangingPunct="1"/>
              <a:r>
                <a:rPr lang="zh-CN" altLang="en-US" sz="3000"/>
                <a:t>（</a:t>
              </a:r>
              <a:r>
                <a:rPr lang="en-US" altLang="zh-CN" sz="3000"/>
                <a:t>a</a:t>
              </a:r>
              <a:r>
                <a:rPr lang="zh-CN" altLang="en-US" sz="3000"/>
                <a:t>）</a:t>
              </a:r>
            </a:p>
          </p:txBody>
        </p:sp>
      </p:grpSp>
      <p:grpSp>
        <p:nvGrpSpPr>
          <p:cNvPr id="3" name="组合 2">
            <a:extLst>
              <a:ext uri="{FF2B5EF4-FFF2-40B4-BE49-F238E27FC236}">
                <a16:creationId xmlns:a16="http://schemas.microsoft.com/office/drawing/2014/main" id="{0C2BE5CF-92B1-4B9F-A3EF-FF88344F12AB}"/>
              </a:ext>
            </a:extLst>
          </p:cNvPr>
          <p:cNvGrpSpPr/>
          <p:nvPr/>
        </p:nvGrpSpPr>
        <p:grpSpPr>
          <a:xfrm>
            <a:off x="82506" y="4128978"/>
            <a:ext cx="5778128" cy="903288"/>
            <a:chOff x="563863" y="4038600"/>
            <a:chExt cx="5778128" cy="903288"/>
          </a:xfrm>
        </p:grpSpPr>
        <p:sp>
          <p:nvSpPr>
            <p:cNvPr id="21510" name="Text Box 10"/>
            <p:cNvSpPr txBox="1">
              <a:spLocks noChangeArrowheads="1"/>
            </p:cNvSpPr>
            <p:nvPr/>
          </p:nvSpPr>
          <p:spPr bwMode="auto">
            <a:xfrm>
              <a:off x="563863" y="4221163"/>
              <a:ext cx="889988" cy="5539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eaLnBrk="1" hangingPunct="1"/>
              <a:r>
                <a:rPr lang="zh-CN" altLang="en-US" sz="3000"/>
                <a:t>（</a:t>
              </a:r>
              <a:r>
                <a:rPr lang="en-US" altLang="zh-CN" sz="3000"/>
                <a:t>b)</a:t>
              </a:r>
            </a:p>
          </p:txBody>
        </p:sp>
        <p:graphicFrame>
          <p:nvGraphicFramePr>
            <p:cNvPr id="135179" name="Object 11"/>
            <p:cNvGraphicFramePr>
              <a:graphicFrameLocks noChangeAspect="1"/>
            </p:cNvGraphicFramePr>
            <p:nvPr>
              <p:extLst>
                <p:ext uri="{D42A27DB-BD31-4B8C-83A1-F6EECF244321}">
                  <p14:modId xmlns:p14="http://schemas.microsoft.com/office/powerpoint/2010/main" val="1852585964"/>
                </p:ext>
              </p:extLst>
            </p:nvPr>
          </p:nvGraphicFramePr>
          <p:xfrm>
            <a:off x="1898579" y="4038600"/>
            <a:ext cx="4443412" cy="903288"/>
          </p:xfrm>
          <a:graphic>
            <a:graphicData uri="http://schemas.openxmlformats.org/presentationml/2006/ole">
              <mc:AlternateContent xmlns:mc="http://schemas.openxmlformats.org/markup-compatibility/2006">
                <mc:Choice xmlns:v="urn:schemas-microsoft-com:vml" Requires="v">
                  <p:oleObj spid="_x0000_s22144" name="公式" r:id="rId5" imgW="2070100" imgH="393700" progId="Equation.3">
                    <p:embed/>
                  </p:oleObj>
                </mc:Choice>
                <mc:Fallback>
                  <p:oleObj name="公式" r:id="rId5" imgW="2070100" imgH="3937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8579" y="4038600"/>
                          <a:ext cx="4443412"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组合 3">
            <a:extLst>
              <a:ext uri="{FF2B5EF4-FFF2-40B4-BE49-F238E27FC236}">
                <a16:creationId xmlns:a16="http://schemas.microsoft.com/office/drawing/2014/main" id="{D82CDDDE-EDD6-4A07-A094-020755326B02}"/>
              </a:ext>
            </a:extLst>
          </p:cNvPr>
          <p:cNvGrpSpPr/>
          <p:nvPr/>
        </p:nvGrpSpPr>
        <p:grpSpPr>
          <a:xfrm>
            <a:off x="35496" y="5138738"/>
            <a:ext cx="5026988" cy="990600"/>
            <a:chOff x="638576" y="4775161"/>
            <a:chExt cx="5026988" cy="990600"/>
          </a:xfrm>
        </p:grpSpPr>
        <p:sp>
          <p:nvSpPr>
            <p:cNvPr id="21512" name="Text Box 12"/>
            <p:cNvSpPr txBox="1">
              <a:spLocks noChangeArrowheads="1"/>
            </p:cNvSpPr>
            <p:nvPr/>
          </p:nvSpPr>
          <p:spPr bwMode="auto">
            <a:xfrm>
              <a:off x="638576" y="5013325"/>
              <a:ext cx="869149" cy="5539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eaLnBrk="1" hangingPunct="1"/>
              <a:r>
                <a:rPr lang="zh-CN" altLang="en-US" sz="3000"/>
                <a:t>（</a:t>
              </a:r>
              <a:r>
                <a:rPr lang="en-US" altLang="zh-CN" sz="3000"/>
                <a:t>c)</a:t>
              </a:r>
            </a:p>
          </p:txBody>
        </p:sp>
        <p:graphicFrame>
          <p:nvGraphicFramePr>
            <p:cNvPr id="135181" name="Object 13"/>
            <p:cNvGraphicFramePr>
              <a:graphicFrameLocks noChangeAspect="1"/>
            </p:cNvGraphicFramePr>
            <p:nvPr>
              <p:extLst>
                <p:ext uri="{D42A27DB-BD31-4B8C-83A1-F6EECF244321}">
                  <p14:modId xmlns:p14="http://schemas.microsoft.com/office/powerpoint/2010/main" val="1902433605"/>
                </p:ext>
              </p:extLst>
            </p:nvPr>
          </p:nvGraphicFramePr>
          <p:xfrm>
            <a:off x="2339752" y="4775161"/>
            <a:ext cx="3325812" cy="990600"/>
          </p:xfrm>
          <a:graphic>
            <a:graphicData uri="http://schemas.openxmlformats.org/presentationml/2006/ole">
              <mc:AlternateContent xmlns:mc="http://schemas.openxmlformats.org/markup-compatibility/2006">
                <mc:Choice xmlns:v="urn:schemas-microsoft-com:vml" Requires="v">
                  <p:oleObj spid="_x0000_s22145" name="Equation" r:id="rId7" imgW="1548728" imgH="431613" progId="Equation.DSMT4">
                    <p:embed/>
                  </p:oleObj>
                </mc:Choice>
                <mc:Fallback>
                  <p:oleObj name="Equation" r:id="rId7" imgW="1548728" imgH="431613"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9752" y="4775161"/>
                          <a:ext cx="332581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35182" name="Object 14"/>
          <p:cNvGraphicFramePr>
            <a:graphicFrameLocks noChangeAspect="1"/>
          </p:cNvGraphicFramePr>
          <p:nvPr>
            <p:extLst>
              <p:ext uri="{D42A27DB-BD31-4B8C-83A1-F6EECF244321}">
                <p14:modId xmlns:p14="http://schemas.microsoft.com/office/powerpoint/2010/main" val="160975060"/>
              </p:ext>
            </p:extLst>
          </p:nvPr>
        </p:nvGraphicFramePr>
        <p:xfrm>
          <a:off x="1392737" y="6111875"/>
          <a:ext cx="4713287" cy="523875"/>
        </p:xfrm>
        <a:graphic>
          <a:graphicData uri="http://schemas.openxmlformats.org/presentationml/2006/ole">
            <mc:AlternateContent xmlns:mc="http://schemas.openxmlformats.org/markup-compatibility/2006">
              <mc:Choice xmlns:v="urn:schemas-microsoft-com:vml" Requires="v">
                <p:oleObj spid="_x0000_s22146" name="Equation" r:id="rId9" imgW="2197100" imgH="228600" progId="Equation.DSMT4">
                  <p:embed/>
                </p:oleObj>
              </mc:Choice>
              <mc:Fallback>
                <p:oleObj name="Equation" r:id="rId9" imgW="2197100" imgH="228600"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2737" y="6111875"/>
                        <a:ext cx="471328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矩形: 圆角 4">
            <a:extLst>
              <a:ext uri="{FF2B5EF4-FFF2-40B4-BE49-F238E27FC236}">
                <a16:creationId xmlns:a16="http://schemas.microsoft.com/office/drawing/2014/main" id="{95EC4CB0-B50A-4B9F-B727-E32453A5878B}"/>
              </a:ext>
            </a:extLst>
          </p:cNvPr>
          <p:cNvSpPr/>
          <p:nvPr/>
        </p:nvSpPr>
        <p:spPr bwMode="auto">
          <a:xfrm>
            <a:off x="6088824" y="2855932"/>
            <a:ext cx="2515624" cy="1455609"/>
          </a:xfrm>
          <a:prstGeom prst="roundRect">
            <a:avLst/>
          </a:prstGeom>
          <a:solidFill>
            <a:schemeClr val="bg1"/>
          </a:solidFill>
          <a:ln w="9525" cap="flat" cmpd="sng" algn="ctr">
            <a:solidFill>
              <a:schemeClr val="bg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000" b="0"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D9E35926-1EB1-4EC4-9E39-2ABD8DEBE0C5}"/>
              </a:ext>
            </a:extLst>
          </p:cNvPr>
          <p:cNvSpPr/>
          <p:nvPr/>
        </p:nvSpPr>
        <p:spPr>
          <a:xfrm>
            <a:off x="6078285" y="3062288"/>
            <a:ext cx="2797427" cy="1938992"/>
          </a:xfrm>
          <a:prstGeom prst="rect">
            <a:avLst/>
          </a:prstGeom>
          <a:ln>
            <a:solidFill>
              <a:srgbClr val="FF0000"/>
            </a:solidFill>
          </a:ln>
        </p:spPr>
        <p:txBody>
          <a:bodyPr wrap="square">
            <a:spAutoFit/>
          </a:bodyPr>
          <a:lstStyle/>
          <a:p>
            <a:pPr algn="just"/>
            <a:r>
              <a:rPr lang="en-US" altLang="zh-CN" b="1"/>
              <a:t>The actual efficiency will be somewhat lower and usually runs between 40% and 50% for modern coal- or  oil-fired power plants.</a:t>
            </a:r>
            <a:endParaRPr lang="zh-CN" altLang="en-US" b="1"/>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172"/>
                                        </p:tgtEl>
                                        <p:attrNameLst>
                                          <p:attrName>style.visibility</p:attrName>
                                        </p:attrNameLst>
                                      </p:cBhvr>
                                      <p:to>
                                        <p:strVal val="visible"/>
                                      </p:to>
                                    </p:set>
                                    <p:animEffect transition="in" filter="wipe(left)">
                                      <p:cBhvr>
                                        <p:cTn id="7" dur="500"/>
                                        <p:tgtEl>
                                          <p:spTgt spid="1351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5176"/>
                                        </p:tgtEl>
                                        <p:attrNameLst>
                                          <p:attrName>style.visibility</p:attrName>
                                        </p:attrNameLst>
                                      </p:cBhvr>
                                      <p:to>
                                        <p:strVal val="visible"/>
                                      </p:to>
                                    </p:set>
                                    <p:animEffect transition="in" filter="blinds(horizontal)">
                                      <p:cBhvr>
                                        <p:cTn id="12" dur="500"/>
                                        <p:tgtEl>
                                          <p:spTgt spid="13517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5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2" grpId="0" animBg="1" autoUpdateAnimBg="0"/>
      <p:bldP spid="135176" grpId="0"/>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63BF9E0-3DFA-448B-B34C-936D12E198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432" y="-106366"/>
            <a:ext cx="6552728" cy="3362133"/>
          </a:xfrm>
          <a:prstGeom prst="rect">
            <a:avLst/>
          </a:prstGeom>
        </p:spPr>
      </p:pic>
      <p:pic>
        <p:nvPicPr>
          <p:cNvPr id="6" name="图片 5">
            <a:extLst>
              <a:ext uri="{FF2B5EF4-FFF2-40B4-BE49-F238E27FC236}">
                <a16:creationId xmlns:a16="http://schemas.microsoft.com/office/drawing/2014/main" id="{FB7AD6D2-2889-4C2F-A69E-19E2ACB2677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1560" y="3198702"/>
            <a:ext cx="2260793" cy="2486054"/>
          </a:xfrm>
          <a:prstGeom prst="rect">
            <a:avLst/>
          </a:prstGeom>
        </p:spPr>
      </p:pic>
      <p:pic>
        <p:nvPicPr>
          <p:cNvPr id="8" name="图片 7">
            <a:extLst>
              <a:ext uri="{FF2B5EF4-FFF2-40B4-BE49-F238E27FC236}">
                <a16:creationId xmlns:a16="http://schemas.microsoft.com/office/drawing/2014/main" id="{E06D98D5-2CB4-4781-9677-108E1387FF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92353" y="3154813"/>
            <a:ext cx="6319564" cy="2529943"/>
          </a:xfrm>
          <a:prstGeom prst="rect">
            <a:avLst/>
          </a:prstGeom>
        </p:spPr>
      </p:pic>
      <p:sp>
        <p:nvSpPr>
          <p:cNvPr id="10" name="矩形 9">
            <a:extLst>
              <a:ext uri="{FF2B5EF4-FFF2-40B4-BE49-F238E27FC236}">
                <a16:creationId xmlns:a16="http://schemas.microsoft.com/office/drawing/2014/main" id="{F7787192-EF95-4BC7-A85D-1BA3CD3DC276}"/>
              </a:ext>
            </a:extLst>
          </p:cNvPr>
          <p:cNvSpPr/>
          <p:nvPr/>
        </p:nvSpPr>
        <p:spPr>
          <a:xfrm>
            <a:off x="2604406" y="5684756"/>
            <a:ext cx="2667548" cy="1015663"/>
          </a:xfrm>
          <a:prstGeom prst="rect">
            <a:avLst/>
          </a:prstGeom>
          <a:ln>
            <a:solidFill>
              <a:srgbClr val="FF0000"/>
            </a:solidFill>
          </a:ln>
        </p:spPr>
        <p:txBody>
          <a:bodyPr wrap="square">
            <a:spAutoFit/>
          </a:bodyPr>
          <a:lstStyle/>
          <a:p>
            <a:pPr algn="l"/>
            <a:r>
              <a:rPr lang="zh-CN" altLang="en-US" b="1"/>
              <a:t>加利福尼亚的盖瑟斯发电厂利用地热能来驱动蒸汽涡轮机</a:t>
            </a:r>
          </a:p>
        </p:txBody>
      </p:sp>
      <p:sp>
        <p:nvSpPr>
          <p:cNvPr id="12" name="矩形 11">
            <a:extLst>
              <a:ext uri="{FF2B5EF4-FFF2-40B4-BE49-F238E27FC236}">
                <a16:creationId xmlns:a16="http://schemas.microsoft.com/office/drawing/2014/main" id="{2C80F9B4-8042-4F6A-AB05-FE7841A88A8E}"/>
              </a:ext>
            </a:extLst>
          </p:cNvPr>
          <p:cNvSpPr/>
          <p:nvPr/>
        </p:nvSpPr>
        <p:spPr>
          <a:xfrm>
            <a:off x="5302804" y="5684756"/>
            <a:ext cx="3806906" cy="1015663"/>
          </a:xfrm>
          <a:prstGeom prst="rect">
            <a:avLst/>
          </a:prstGeom>
          <a:ln>
            <a:solidFill>
              <a:srgbClr val="FF0000"/>
            </a:solidFill>
          </a:ln>
        </p:spPr>
        <p:txBody>
          <a:bodyPr wrap="square">
            <a:spAutoFit/>
          </a:bodyPr>
          <a:lstStyle/>
          <a:p>
            <a:pPr algn="l"/>
            <a:r>
              <a:rPr lang="zh-CN" altLang="en-US" b="1">
                <a:latin typeface="Söhne"/>
              </a:rPr>
              <a:t>西班牙塞维利亚附近的太阳能热发电厂，通过将大量镜子聚焦阳光到塔顶的锅炉上，实现高温。</a:t>
            </a:r>
            <a:endParaRPr lang="zh-CN" altLang="en-US" b="1"/>
          </a:p>
        </p:txBody>
      </p:sp>
      <p:sp>
        <p:nvSpPr>
          <p:cNvPr id="13" name="矩形 12">
            <a:extLst>
              <a:ext uri="{FF2B5EF4-FFF2-40B4-BE49-F238E27FC236}">
                <a16:creationId xmlns:a16="http://schemas.microsoft.com/office/drawing/2014/main" id="{A8AB3341-052D-40E2-B18C-B9B400A480C3}"/>
              </a:ext>
            </a:extLst>
          </p:cNvPr>
          <p:cNvSpPr/>
          <p:nvPr/>
        </p:nvSpPr>
        <p:spPr>
          <a:xfrm>
            <a:off x="1196" y="5749183"/>
            <a:ext cx="2374316" cy="1015663"/>
          </a:xfrm>
          <a:prstGeom prst="rect">
            <a:avLst/>
          </a:prstGeom>
          <a:ln>
            <a:solidFill>
              <a:srgbClr val="FF0000"/>
            </a:solidFill>
          </a:ln>
        </p:spPr>
        <p:txBody>
          <a:bodyPr wrap="square">
            <a:spAutoFit/>
          </a:bodyPr>
          <a:lstStyle/>
          <a:p>
            <a:r>
              <a:rPr lang="zh-CN" altLang="en-US" b="1">
                <a:latin typeface="Söhne"/>
              </a:rPr>
              <a:t>火力发电厂常见的冷却塔将热量从冷却水传递到大气中</a:t>
            </a:r>
            <a:endParaRPr lang="zh-CN" altLang="en-US" b="1"/>
          </a:p>
        </p:txBody>
      </p:sp>
      <p:sp>
        <p:nvSpPr>
          <p:cNvPr id="14" name="矩形 13">
            <a:extLst>
              <a:ext uri="{FF2B5EF4-FFF2-40B4-BE49-F238E27FC236}">
                <a16:creationId xmlns:a16="http://schemas.microsoft.com/office/drawing/2014/main" id="{65CDCD48-656A-4568-BA30-DB68BA37276B}"/>
              </a:ext>
            </a:extLst>
          </p:cNvPr>
          <p:cNvSpPr/>
          <p:nvPr/>
        </p:nvSpPr>
        <p:spPr>
          <a:xfrm>
            <a:off x="6977985" y="297429"/>
            <a:ext cx="1912128" cy="2554545"/>
          </a:xfrm>
          <a:prstGeom prst="rect">
            <a:avLst/>
          </a:prstGeom>
          <a:ln>
            <a:solidFill>
              <a:srgbClr val="FF0000"/>
            </a:solidFill>
          </a:ln>
        </p:spPr>
        <p:txBody>
          <a:bodyPr wrap="square">
            <a:spAutoFit/>
          </a:bodyPr>
          <a:lstStyle/>
          <a:p>
            <a:r>
              <a:rPr lang="zh-CN" altLang="en-US" b="1">
                <a:latin typeface="Söhne"/>
              </a:rPr>
              <a:t>热电站基本组成部分。锅炉中的热量产生蒸汽，蒸汽驱动汽轮机。汽轮机通过发电机进行功率转换，产生电能。</a:t>
            </a:r>
            <a:endParaRPr lang="zh-CN" altLang="en-US" b="1"/>
          </a:p>
        </p:txBody>
      </p:sp>
      <p:sp>
        <p:nvSpPr>
          <p:cNvPr id="15" name="矩形 14">
            <a:extLst>
              <a:ext uri="{FF2B5EF4-FFF2-40B4-BE49-F238E27FC236}">
                <a16:creationId xmlns:a16="http://schemas.microsoft.com/office/drawing/2014/main" id="{6D3AB78B-2CCE-48CE-BDC0-66FE95656CC1}"/>
              </a:ext>
            </a:extLst>
          </p:cNvPr>
          <p:cNvSpPr/>
          <p:nvPr/>
        </p:nvSpPr>
        <p:spPr>
          <a:xfrm>
            <a:off x="3203848" y="238447"/>
            <a:ext cx="954107" cy="400110"/>
          </a:xfrm>
          <a:prstGeom prst="rect">
            <a:avLst/>
          </a:prstGeom>
        </p:spPr>
        <p:txBody>
          <a:bodyPr wrap="none">
            <a:spAutoFit/>
          </a:bodyPr>
          <a:lstStyle/>
          <a:p>
            <a:r>
              <a:rPr lang="zh-CN" altLang="en-US"/>
              <a:t>涡轮机</a:t>
            </a:r>
          </a:p>
        </p:txBody>
      </p:sp>
      <p:sp>
        <p:nvSpPr>
          <p:cNvPr id="17" name="矩形 16">
            <a:extLst>
              <a:ext uri="{FF2B5EF4-FFF2-40B4-BE49-F238E27FC236}">
                <a16:creationId xmlns:a16="http://schemas.microsoft.com/office/drawing/2014/main" id="{0F59934F-645F-42E7-B217-400BE265DC5C}"/>
              </a:ext>
            </a:extLst>
          </p:cNvPr>
          <p:cNvSpPr/>
          <p:nvPr/>
        </p:nvSpPr>
        <p:spPr>
          <a:xfrm>
            <a:off x="3705246" y="2069802"/>
            <a:ext cx="954107" cy="400110"/>
          </a:xfrm>
          <a:prstGeom prst="rect">
            <a:avLst/>
          </a:prstGeom>
        </p:spPr>
        <p:txBody>
          <a:bodyPr wrap="none">
            <a:spAutoFit/>
          </a:bodyPr>
          <a:lstStyle/>
          <a:p>
            <a:r>
              <a:rPr lang="zh-CN" altLang="en-US">
                <a:latin typeface="Söhne"/>
              </a:rPr>
              <a:t>冷凝器</a:t>
            </a:r>
            <a:endParaRPr lang="zh-CN" altLang="en-US"/>
          </a:p>
        </p:txBody>
      </p:sp>
      <p:sp>
        <p:nvSpPr>
          <p:cNvPr id="2" name="矩形 1">
            <a:hlinkClick r:id="rId6"/>
            <a:extLst>
              <a:ext uri="{FF2B5EF4-FFF2-40B4-BE49-F238E27FC236}">
                <a16:creationId xmlns:a16="http://schemas.microsoft.com/office/drawing/2014/main" id="{0350E267-D489-4D80-B4F5-127F2105817D}"/>
              </a:ext>
            </a:extLst>
          </p:cNvPr>
          <p:cNvSpPr/>
          <p:nvPr/>
        </p:nvSpPr>
        <p:spPr>
          <a:xfrm>
            <a:off x="5678248" y="2954758"/>
            <a:ext cx="3262432" cy="400110"/>
          </a:xfrm>
          <a:prstGeom prst="rect">
            <a:avLst/>
          </a:prstGeom>
        </p:spPr>
        <p:txBody>
          <a:bodyPr wrap="none">
            <a:spAutoFit/>
          </a:bodyPr>
          <a:lstStyle/>
          <a:p>
            <a:r>
              <a:rPr lang="zh-CN" altLang="en-US" b="1">
                <a:solidFill>
                  <a:srgbClr val="000000"/>
                </a:solidFill>
                <a:latin typeface="Microsoft Yahei" panose="020B0503020204020204" pitchFamily="34" charset="-122"/>
                <a:ea typeface="Microsoft Yahei" panose="020B0503020204020204" pitchFamily="34" charset="-122"/>
              </a:rPr>
              <a:t>“双塔一机”光热储能电站</a:t>
            </a:r>
            <a:endParaRPr lang="zh-CN" altLang="en-US"/>
          </a:p>
        </p:txBody>
      </p:sp>
    </p:spTree>
    <p:extLst>
      <p:ext uri="{BB962C8B-B14F-4D97-AF65-F5344CB8AC3E}">
        <p14:creationId xmlns:p14="http://schemas.microsoft.com/office/powerpoint/2010/main" val="1546653622"/>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Text Box 3"/>
          <p:cNvSpPr txBox="1">
            <a:spLocks noChangeArrowheads="1"/>
          </p:cNvSpPr>
          <p:nvPr/>
        </p:nvSpPr>
        <p:spPr bwMode="auto">
          <a:xfrm>
            <a:off x="344489" y="685800"/>
            <a:ext cx="8570912"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b="1" dirty="0"/>
              <a:t>工作物质</a:t>
            </a:r>
            <a:r>
              <a:rPr lang="zh-CN" altLang="en-US" sz="2400" b="1" dirty="0">
                <a:latin typeface="宋体" pitchFamily="2" charset="-122"/>
              </a:rPr>
              <a:t>把从低温热源吸收的热量和外界对它所作的功以热量的形式传给高温热源，其结果可使低温热源的温度更低，达到制冷的目的。吸热越多，外界作功越少，表明制冷机效能越好。用制冷系数</a:t>
            </a:r>
            <a:r>
              <a:rPr lang="zh-CN" altLang="en-US" sz="3200" b="1" i="1" dirty="0">
                <a:latin typeface="宋体" pitchFamily="2" charset="-122"/>
                <a:sym typeface="Symbol" pitchFamily="18" charset="2"/>
              </a:rPr>
              <a:t></a:t>
            </a:r>
            <a:r>
              <a:rPr lang="zh-CN" altLang="en-US" sz="2400" b="1" dirty="0">
                <a:latin typeface="宋体" pitchFamily="2" charset="-122"/>
              </a:rPr>
              <a:t>表示之。</a:t>
            </a:r>
          </a:p>
        </p:txBody>
      </p:sp>
      <p:grpSp>
        <p:nvGrpSpPr>
          <p:cNvPr id="100357" name="Group 5"/>
          <p:cNvGrpSpPr>
            <a:grpSpLocks/>
          </p:cNvGrpSpPr>
          <p:nvPr/>
        </p:nvGrpSpPr>
        <p:grpSpPr bwMode="auto">
          <a:xfrm>
            <a:off x="6858000" y="4343400"/>
            <a:ext cx="2286000" cy="2514600"/>
            <a:chOff x="3360" y="432"/>
            <a:chExt cx="1440" cy="1584"/>
          </a:xfrm>
        </p:grpSpPr>
        <p:sp>
          <p:nvSpPr>
            <p:cNvPr id="22574" name="Rectangle 6"/>
            <p:cNvSpPr>
              <a:spLocks noChangeArrowheads="1"/>
            </p:cNvSpPr>
            <p:nvPr/>
          </p:nvSpPr>
          <p:spPr bwMode="auto">
            <a:xfrm>
              <a:off x="3456" y="432"/>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b="1">
                  <a:latin typeface="Arial" pitchFamily="34" charset="0"/>
                </a:rPr>
                <a:t>T</a:t>
              </a:r>
              <a:r>
                <a:rPr lang="en-US" altLang="zh-CN" sz="1800" b="1" baseline="-25000">
                  <a:latin typeface="Arial" pitchFamily="34" charset="0"/>
                </a:rPr>
                <a:t>1</a:t>
              </a:r>
              <a:endParaRPr lang="en-US" altLang="zh-CN" sz="1800">
                <a:latin typeface="Arial" pitchFamily="34" charset="0"/>
              </a:endParaRPr>
            </a:p>
          </p:txBody>
        </p:sp>
        <p:sp>
          <p:nvSpPr>
            <p:cNvPr id="22575" name="Oval 7" descr="深色下对角线"/>
            <p:cNvSpPr>
              <a:spLocks noChangeArrowheads="1"/>
            </p:cNvSpPr>
            <p:nvPr/>
          </p:nvSpPr>
          <p:spPr bwMode="auto">
            <a:xfrm>
              <a:off x="3984" y="1008"/>
              <a:ext cx="480" cy="480"/>
            </a:xfrm>
            <a:prstGeom prst="ellipse">
              <a:avLst/>
            </a:prstGeom>
            <a:pattFill prst="dkDnDiag">
              <a:fgClr>
                <a:schemeClr val="tx1"/>
              </a:fgClr>
              <a:bgClr>
                <a:schemeClr val="accent1"/>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6" name="Rectangle 8"/>
            <p:cNvSpPr>
              <a:spLocks noChangeArrowheads="1"/>
            </p:cNvSpPr>
            <p:nvPr/>
          </p:nvSpPr>
          <p:spPr bwMode="auto">
            <a:xfrm>
              <a:off x="4224" y="672"/>
              <a:ext cx="144" cy="110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7" name="Rectangle 9"/>
            <p:cNvSpPr>
              <a:spLocks noChangeArrowheads="1"/>
            </p:cNvSpPr>
            <p:nvPr/>
          </p:nvSpPr>
          <p:spPr bwMode="auto">
            <a:xfrm>
              <a:off x="4080" y="672"/>
              <a:ext cx="144" cy="432"/>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8" name="Rectangle 10"/>
            <p:cNvSpPr>
              <a:spLocks noChangeArrowheads="1"/>
            </p:cNvSpPr>
            <p:nvPr/>
          </p:nvSpPr>
          <p:spPr bwMode="auto">
            <a:xfrm>
              <a:off x="3648" y="1200"/>
              <a:ext cx="384" cy="14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9" name="AutoShape 11"/>
            <p:cNvSpPr>
              <a:spLocks noChangeArrowheads="1"/>
            </p:cNvSpPr>
            <p:nvPr/>
          </p:nvSpPr>
          <p:spPr bwMode="auto">
            <a:xfrm rot="1764019" flipH="1">
              <a:off x="3888" y="720"/>
              <a:ext cx="384" cy="720"/>
            </a:xfrm>
            <a:prstGeom prst="moon">
              <a:avLst>
                <a:gd name="adj" fmla="val 50000"/>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p>
          </p:txBody>
        </p:sp>
        <p:sp>
          <p:nvSpPr>
            <p:cNvPr id="22580" name="Rectangle 12"/>
            <p:cNvSpPr>
              <a:spLocks noChangeArrowheads="1"/>
            </p:cNvSpPr>
            <p:nvPr/>
          </p:nvSpPr>
          <p:spPr bwMode="auto">
            <a:xfrm>
              <a:off x="3456" y="1776"/>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b="1">
                  <a:latin typeface="Arial" pitchFamily="34" charset="0"/>
                </a:rPr>
                <a:t>T</a:t>
              </a:r>
              <a:r>
                <a:rPr lang="en-US" altLang="zh-CN" sz="1800" b="1" baseline="-25000">
                  <a:latin typeface="Arial" pitchFamily="34" charset="0"/>
                </a:rPr>
                <a:t>2</a:t>
              </a:r>
              <a:endParaRPr lang="en-US" altLang="zh-CN" sz="1800" b="1">
                <a:latin typeface="Arial" pitchFamily="34" charset="0"/>
              </a:endParaRPr>
            </a:p>
          </p:txBody>
        </p:sp>
        <p:sp>
          <p:nvSpPr>
            <p:cNvPr id="22581" name="Line 13"/>
            <p:cNvSpPr>
              <a:spLocks noChangeShapeType="1"/>
            </p:cNvSpPr>
            <p:nvPr/>
          </p:nvSpPr>
          <p:spPr bwMode="auto">
            <a:xfrm flipV="1">
              <a:off x="4224" y="672"/>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2" name="Line 14"/>
            <p:cNvSpPr>
              <a:spLocks noChangeShapeType="1"/>
            </p:cNvSpPr>
            <p:nvPr/>
          </p:nvSpPr>
          <p:spPr bwMode="auto">
            <a:xfrm flipV="1">
              <a:off x="4272" y="1536"/>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3" name="Text Box 15"/>
            <p:cNvSpPr txBox="1">
              <a:spLocks noChangeArrowheads="1"/>
            </p:cNvSpPr>
            <p:nvPr/>
          </p:nvSpPr>
          <p:spPr bwMode="auto">
            <a:xfrm>
              <a:off x="4070" y="870"/>
              <a:ext cx="2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a:latin typeface="Arial" pitchFamily="34" charset="0"/>
                </a:rPr>
                <a:t>Q</a:t>
              </a:r>
              <a:r>
                <a:rPr lang="en-US" altLang="zh-CN" sz="1800" baseline="-25000">
                  <a:latin typeface="Arial" pitchFamily="34" charset="0"/>
                </a:rPr>
                <a:t>1</a:t>
              </a:r>
              <a:endParaRPr lang="en-US" altLang="zh-CN" sz="1800">
                <a:latin typeface="Arial" pitchFamily="34" charset="0"/>
              </a:endParaRPr>
            </a:p>
          </p:txBody>
        </p:sp>
        <p:sp>
          <p:nvSpPr>
            <p:cNvPr id="22584" name="Text Box 16"/>
            <p:cNvSpPr txBox="1">
              <a:spLocks noChangeArrowheads="1"/>
            </p:cNvSpPr>
            <p:nvPr/>
          </p:nvSpPr>
          <p:spPr bwMode="auto">
            <a:xfrm>
              <a:off x="4128" y="1350"/>
              <a:ext cx="2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a:latin typeface="Arial" pitchFamily="34" charset="0"/>
                </a:rPr>
                <a:t>Q</a:t>
              </a:r>
              <a:r>
                <a:rPr lang="en-US" altLang="zh-CN" sz="1800" baseline="-25000">
                  <a:latin typeface="Arial" pitchFamily="34" charset="0"/>
                </a:rPr>
                <a:t>2</a:t>
              </a:r>
              <a:endParaRPr lang="en-US" altLang="zh-CN" sz="1800">
                <a:latin typeface="Arial" pitchFamily="34" charset="0"/>
              </a:endParaRPr>
            </a:p>
          </p:txBody>
        </p:sp>
        <p:sp>
          <p:nvSpPr>
            <p:cNvPr id="22585" name="Line 17"/>
            <p:cNvSpPr>
              <a:spLocks noChangeShapeType="1"/>
            </p:cNvSpPr>
            <p:nvPr/>
          </p:nvSpPr>
          <p:spPr bwMode="auto">
            <a:xfrm>
              <a:off x="3600" y="129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6" name="Text Box 18"/>
            <p:cNvSpPr txBox="1">
              <a:spLocks noChangeArrowheads="1"/>
            </p:cNvSpPr>
            <p:nvPr/>
          </p:nvSpPr>
          <p:spPr bwMode="auto">
            <a:xfrm>
              <a:off x="3360" y="1158"/>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i="1">
                  <a:latin typeface="Arial" pitchFamily="34" charset="0"/>
                </a:rPr>
                <a:t>A</a:t>
              </a:r>
            </a:p>
          </p:txBody>
        </p:sp>
      </p:grpSp>
      <p:sp>
        <p:nvSpPr>
          <p:cNvPr id="100373" name="Text Box 21"/>
          <p:cNvSpPr txBox="1">
            <a:spLocks noChangeArrowheads="1"/>
          </p:cNvSpPr>
          <p:nvPr/>
        </p:nvSpPr>
        <p:spPr bwMode="auto">
          <a:xfrm>
            <a:off x="136525" y="112713"/>
            <a:ext cx="44354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a:solidFill>
                  <a:srgbClr val="3333FF"/>
                </a:solidFill>
                <a:ea typeface="楷体_GB2312" pitchFamily="49" charset="-122"/>
              </a:rPr>
              <a:t>3</a:t>
            </a:r>
            <a:r>
              <a:rPr lang="zh-CN" altLang="en-US" sz="2800" b="1">
                <a:solidFill>
                  <a:srgbClr val="3333FF"/>
                </a:solidFill>
                <a:ea typeface="楷体_GB2312" pitchFamily="49" charset="-122"/>
              </a:rPr>
              <a:t>、卡诺制冷机：逆循环</a:t>
            </a:r>
            <a:endParaRPr lang="zh-CN" altLang="en-US" sz="2800" b="1">
              <a:solidFill>
                <a:srgbClr val="0033CC"/>
              </a:solidFill>
              <a:latin typeface="楷体_GB2312" pitchFamily="49" charset="-122"/>
              <a:ea typeface="楷体_GB2312" pitchFamily="49" charset="-122"/>
            </a:endParaRPr>
          </a:p>
        </p:txBody>
      </p:sp>
      <p:sp>
        <p:nvSpPr>
          <p:cNvPr id="100412" name="AutoShape 60"/>
          <p:cNvSpPr>
            <a:spLocks noChangeArrowheads="1"/>
          </p:cNvSpPr>
          <p:nvPr/>
        </p:nvSpPr>
        <p:spPr bwMode="auto">
          <a:xfrm>
            <a:off x="4572000" y="4191000"/>
            <a:ext cx="2808288" cy="1600200"/>
          </a:xfrm>
          <a:prstGeom prst="cloudCallout">
            <a:avLst>
              <a:gd name="adj1" fmla="val 57856"/>
              <a:gd name="adj2" fmla="val 31944"/>
            </a:avLst>
          </a:prstGeom>
          <a:solidFill>
            <a:srgbClr val="FFFF99"/>
          </a:solidFill>
          <a:ln w="9525">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b="1">
                <a:solidFill>
                  <a:srgbClr val="3333FF"/>
                </a:solidFill>
                <a:ea typeface="楷体_GB2312" pitchFamily="49" charset="-122"/>
              </a:rPr>
              <a:t>制冷机的</a:t>
            </a:r>
          </a:p>
          <a:p>
            <a:r>
              <a:rPr lang="zh-CN" altLang="en-US" sz="2400" b="1">
                <a:solidFill>
                  <a:srgbClr val="3333FF"/>
                </a:solidFill>
                <a:ea typeface="楷体_GB2312" pitchFamily="49" charset="-122"/>
              </a:rPr>
              <a:t>工作原理</a:t>
            </a:r>
            <a:endParaRPr lang="zh-CN" altLang="en-US" sz="2400" b="1">
              <a:ea typeface="楷体_GB2312" pitchFamily="49" charset="-122"/>
            </a:endParaRPr>
          </a:p>
        </p:txBody>
      </p:sp>
      <p:graphicFrame>
        <p:nvGraphicFramePr>
          <p:cNvPr id="100414" name="Object 62"/>
          <p:cNvGraphicFramePr>
            <a:graphicFrameLocks noChangeAspect="1"/>
          </p:cNvGraphicFramePr>
          <p:nvPr>
            <p:extLst>
              <p:ext uri="{D42A27DB-BD31-4B8C-83A1-F6EECF244321}">
                <p14:modId xmlns:p14="http://schemas.microsoft.com/office/powerpoint/2010/main" val="175412027"/>
              </p:ext>
            </p:extLst>
          </p:nvPr>
        </p:nvGraphicFramePr>
        <p:xfrm>
          <a:off x="2698750" y="2524125"/>
          <a:ext cx="3671888" cy="904875"/>
        </p:xfrm>
        <a:graphic>
          <a:graphicData uri="http://schemas.openxmlformats.org/presentationml/2006/ole">
            <mc:AlternateContent xmlns:mc="http://schemas.openxmlformats.org/markup-compatibility/2006">
              <mc:Choice xmlns:v="urn:schemas-microsoft-com:vml" Requires="v">
                <p:oleObj spid="_x0000_s23170" name="Equation" r:id="rId4" imgW="1688760" imgH="457200" progId="Equation.DSMT4">
                  <p:embed/>
                </p:oleObj>
              </mc:Choice>
              <mc:Fallback>
                <p:oleObj name="Equation" r:id="rId4" imgW="1688760" imgH="457200" progId="Equation.DSMT4">
                  <p:embed/>
                  <p:pic>
                    <p:nvPicPr>
                      <p:cNvPr id="0" name="Object 62"/>
                      <p:cNvPicPr>
                        <a:picLocks noChangeAspect="1" noChangeArrowheads="1"/>
                      </p:cNvPicPr>
                      <p:nvPr/>
                    </p:nvPicPr>
                    <p:blipFill>
                      <a:blip r:embed="rId5"/>
                      <a:srcRect/>
                      <a:stretch>
                        <a:fillRect/>
                      </a:stretch>
                    </p:blipFill>
                    <p:spPr bwMode="auto">
                      <a:xfrm>
                        <a:off x="2698750" y="2524125"/>
                        <a:ext cx="3671888" cy="904875"/>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
        <p:nvSpPr>
          <p:cNvPr id="100415" name="AutoShape 63"/>
          <p:cNvSpPr>
            <a:spLocks noChangeArrowheads="1"/>
          </p:cNvSpPr>
          <p:nvPr/>
        </p:nvSpPr>
        <p:spPr bwMode="auto">
          <a:xfrm>
            <a:off x="3891757" y="1719763"/>
            <a:ext cx="1476375" cy="609600"/>
          </a:xfrm>
          <a:prstGeom prst="wedgeRoundRectCallout">
            <a:avLst>
              <a:gd name="adj1" fmla="val -42579"/>
              <a:gd name="adj2" fmla="val 110676"/>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b="1">
                <a:solidFill>
                  <a:srgbClr val="FFFF66"/>
                </a:solidFill>
                <a:ea typeface="楷体_GB2312" pitchFamily="49" charset="-122"/>
              </a:rPr>
              <a:t>制冷系数</a:t>
            </a:r>
            <a:endParaRPr lang="zh-CN" altLang="en-US" sz="2800" b="1">
              <a:solidFill>
                <a:srgbClr val="FFFF66"/>
              </a:solidFill>
              <a:ea typeface="楷体_GB2312" pitchFamily="49" charset="-122"/>
            </a:endParaRPr>
          </a:p>
        </p:txBody>
      </p:sp>
      <p:grpSp>
        <p:nvGrpSpPr>
          <p:cNvPr id="100416" name="Group 64"/>
          <p:cNvGrpSpPr>
            <a:grpSpLocks/>
          </p:cNvGrpSpPr>
          <p:nvPr/>
        </p:nvGrpSpPr>
        <p:grpSpPr bwMode="auto">
          <a:xfrm>
            <a:off x="-83645" y="1963737"/>
            <a:ext cx="6183833" cy="4454525"/>
            <a:chOff x="480" y="-192"/>
            <a:chExt cx="4414" cy="3970"/>
          </a:xfrm>
        </p:grpSpPr>
        <p:sp>
          <p:nvSpPr>
            <p:cNvPr id="22537" name="Text Box 65"/>
            <p:cNvSpPr txBox="1">
              <a:spLocks noChangeArrowheads="1"/>
            </p:cNvSpPr>
            <p:nvPr/>
          </p:nvSpPr>
          <p:spPr bwMode="auto">
            <a:xfrm>
              <a:off x="649" y="828"/>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endParaRPr lang="zh-CN" altLang="zh-CN" sz="2400">
                <a:latin typeface="宋体" pitchFamily="2" charset="-122"/>
              </a:endParaRPr>
            </a:p>
          </p:txBody>
        </p:sp>
        <p:sp>
          <p:nvSpPr>
            <p:cNvPr id="22538" name="Arc 66"/>
            <p:cNvSpPr>
              <a:spLocks/>
            </p:cNvSpPr>
            <p:nvPr/>
          </p:nvSpPr>
          <p:spPr bwMode="auto">
            <a:xfrm flipH="1" flipV="1">
              <a:off x="1280" y="-192"/>
              <a:ext cx="3614" cy="2888"/>
            </a:xfrm>
            <a:custGeom>
              <a:avLst/>
              <a:gdLst>
                <a:gd name="T0" fmla="*/ 0 w 21107"/>
                <a:gd name="T1" fmla="*/ 0 h 18568"/>
                <a:gd name="T2" fmla="*/ 0 w 21107"/>
                <a:gd name="T3" fmla="*/ 0 h 18568"/>
                <a:gd name="T4" fmla="*/ 0 w 21107"/>
                <a:gd name="T5" fmla="*/ 0 h 18568"/>
                <a:gd name="T6" fmla="*/ 0 60000 65536"/>
                <a:gd name="T7" fmla="*/ 0 60000 65536"/>
                <a:gd name="T8" fmla="*/ 0 60000 65536"/>
              </a:gdLst>
              <a:ahLst/>
              <a:cxnLst>
                <a:cxn ang="T6">
                  <a:pos x="T0" y="T1"/>
                </a:cxn>
                <a:cxn ang="T7">
                  <a:pos x="T2" y="T3"/>
                </a:cxn>
                <a:cxn ang="T8">
                  <a:pos x="T4" y="T5"/>
                </a:cxn>
              </a:cxnLst>
              <a:rect l="0" t="0" r="r" b="b"/>
              <a:pathLst>
                <a:path w="21107" h="18568" fill="none" extrusionOk="0">
                  <a:moveTo>
                    <a:pt x="11035" y="0"/>
                  </a:moveTo>
                  <a:cubicBezTo>
                    <a:pt x="16186" y="3061"/>
                    <a:pt x="19834" y="8124"/>
                    <a:pt x="21107" y="13979"/>
                  </a:cubicBezTo>
                </a:path>
                <a:path w="21107" h="18568" stroke="0" extrusionOk="0">
                  <a:moveTo>
                    <a:pt x="11035" y="0"/>
                  </a:moveTo>
                  <a:cubicBezTo>
                    <a:pt x="16186" y="3061"/>
                    <a:pt x="19834" y="8124"/>
                    <a:pt x="21107" y="13979"/>
                  </a:cubicBezTo>
                  <a:lnTo>
                    <a:pt x="0" y="18568"/>
                  </a:lnTo>
                  <a:lnTo>
                    <a:pt x="11035" y="0"/>
                  </a:lnTo>
                  <a:close/>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9" name="Line 67"/>
            <p:cNvSpPr>
              <a:spLocks noChangeShapeType="1"/>
            </p:cNvSpPr>
            <p:nvPr/>
          </p:nvSpPr>
          <p:spPr bwMode="auto">
            <a:xfrm>
              <a:off x="864" y="3455"/>
              <a:ext cx="302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0" name="Line 68"/>
            <p:cNvSpPr>
              <a:spLocks noChangeShapeType="1"/>
            </p:cNvSpPr>
            <p:nvPr/>
          </p:nvSpPr>
          <p:spPr bwMode="auto">
            <a:xfrm flipV="1">
              <a:off x="864" y="527"/>
              <a:ext cx="0" cy="292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1" name="Arc 69"/>
            <p:cNvSpPr>
              <a:spLocks/>
            </p:cNvSpPr>
            <p:nvPr/>
          </p:nvSpPr>
          <p:spPr bwMode="auto">
            <a:xfrm flipH="1" flipV="1">
              <a:off x="1180" y="1007"/>
              <a:ext cx="2036" cy="2064"/>
            </a:xfrm>
            <a:custGeom>
              <a:avLst/>
              <a:gdLst>
                <a:gd name="T0" fmla="*/ 0 w 20819"/>
                <a:gd name="T1" fmla="*/ 0 h 21600"/>
                <a:gd name="T2" fmla="*/ 0 w 20819"/>
                <a:gd name="T3" fmla="*/ 0 h 21600"/>
                <a:gd name="T4" fmla="*/ 0 w 20819"/>
                <a:gd name="T5" fmla="*/ 0 h 21600"/>
                <a:gd name="T6" fmla="*/ 0 60000 65536"/>
                <a:gd name="T7" fmla="*/ 0 60000 65536"/>
                <a:gd name="T8" fmla="*/ 0 60000 65536"/>
              </a:gdLst>
              <a:ahLst/>
              <a:cxnLst>
                <a:cxn ang="T6">
                  <a:pos x="T0" y="T1"/>
                </a:cxn>
                <a:cxn ang="T7">
                  <a:pos x="T2" y="T3"/>
                </a:cxn>
                <a:cxn ang="T8">
                  <a:pos x="T4" y="T5"/>
                </a:cxn>
              </a:cxnLst>
              <a:rect l="0" t="0" r="r" b="b"/>
              <a:pathLst>
                <a:path w="20819" h="21600" fill="none" extrusionOk="0">
                  <a:moveTo>
                    <a:pt x="-1" y="0"/>
                  </a:moveTo>
                  <a:cubicBezTo>
                    <a:pt x="9712" y="0"/>
                    <a:pt x="18230" y="6482"/>
                    <a:pt x="20818" y="15844"/>
                  </a:cubicBezTo>
                </a:path>
                <a:path w="20819" h="21600" stroke="0" extrusionOk="0">
                  <a:moveTo>
                    <a:pt x="-1" y="0"/>
                  </a:moveTo>
                  <a:cubicBezTo>
                    <a:pt x="9712" y="0"/>
                    <a:pt x="18230" y="6482"/>
                    <a:pt x="20818" y="15844"/>
                  </a:cubicBezTo>
                  <a:lnTo>
                    <a:pt x="0" y="21600"/>
                  </a:lnTo>
                  <a:lnTo>
                    <a:pt x="-1" y="0"/>
                  </a:lnTo>
                  <a:close/>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p>
          </p:txBody>
        </p:sp>
        <p:sp>
          <p:nvSpPr>
            <p:cNvPr id="22542" name="Arc 70"/>
            <p:cNvSpPr>
              <a:spLocks/>
            </p:cNvSpPr>
            <p:nvPr/>
          </p:nvSpPr>
          <p:spPr bwMode="auto">
            <a:xfrm flipH="1" flipV="1">
              <a:off x="1396" y="287"/>
              <a:ext cx="2347" cy="2868"/>
            </a:xfrm>
            <a:custGeom>
              <a:avLst/>
              <a:gdLst>
                <a:gd name="T0" fmla="*/ 0 w 21555"/>
                <a:gd name="T1" fmla="*/ 0 h 17680"/>
                <a:gd name="T2" fmla="*/ 0 w 21555"/>
                <a:gd name="T3" fmla="*/ 0 h 17680"/>
                <a:gd name="T4" fmla="*/ 0 w 21555"/>
                <a:gd name="T5" fmla="*/ 0 h 17680"/>
                <a:gd name="T6" fmla="*/ 0 60000 65536"/>
                <a:gd name="T7" fmla="*/ 0 60000 65536"/>
                <a:gd name="T8" fmla="*/ 0 60000 65536"/>
              </a:gdLst>
              <a:ahLst/>
              <a:cxnLst>
                <a:cxn ang="T6">
                  <a:pos x="T0" y="T1"/>
                </a:cxn>
                <a:cxn ang="T7">
                  <a:pos x="T2" y="T3"/>
                </a:cxn>
                <a:cxn ang="T8">
                  <a:pos x="T4" y="T5"/>
                </a:cxn>
              </a:cxnLst>
              <a:rect l="0" t="0" r="r" b="b"/>
              <a:pathLst>
                <a:path w="21555" h="17680" fill="none" extrusionOk="0">
                  <a:moveTo>
                    <a:pt x="12408" y="0"/>
                  </a:moveTo>
                  <a:cubicBezTo>
                    <a:pt x="17767" y="3761"/>
                    <a:pt x="21131" y="9749"/>
                    <a:pt x="21554" y="16283"/>
                  </a:cubicBezTo>
                </a:path>
                <a:path w="21555" h="17680" stroke="0" extrusionOk="0">
                  <a:moveTo>
                    <a:pt x="12408" y="0"/>
                  </a:moveTo>
                  <a:cubicBezTo>
                    <a:pt x="17767" y="3761"/>
                    <a:pt x="21131" y="9749"/>
                    <a:pt x="21554" y="16283"/>
                  </a:cubicBezTo>
                  <a:lnTo>
                    <a:pt x="0" y="17680"/>
                  </a:lnTo>
                  <a:lnTo>
                    <a:pt x="12408" y="0"/>
                  </a:lnTo>
                  <a:close/>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3" name="Arc 71"/>
            <p:cNvSpPr>
              <a:spLocks/>
            </p:cNvSpPr>
            <p:nvPr/>
          </p:nvSpPr>
          <p:spPr bwMode="auto">
            <a:xfrm rot="773320" flipH="1" flipV="1">
              <a:off x="2171" y="1213"/>
              <a:ext cx="1918" cy="1975"/>
            </a:xfrm>
            <a:custGeom>
              <a:avLst/>
              <a:gdLst>
                <a:gd name="T0" fmla="*/ 0 w 19610"/>
                <a:gd name="T1" fmla="*/ 0 h 20669"/>
                <a:gd name="T2" fmla="*/ 0 w 19610"/>
                <a:gd name="T3" fmla="*/ 0 h 20669"/>
                <a:gd name="T4" fmla="*/ 0 w 19610"/>
                <a:gd name="T5" fmla="*/ 0 h 20669"/>
                <a:gd name="T6" fmla="*/ 0 60000 65536"/>
                <a:gd name="T7" fmla="*/ 0 60000 65536"/>
                <a:gd name="T8" fmla="*/ 0 60000 65536"/>
              </a:gdLst>
              <a:ahLst/>
              <a:cxnLst>
                <a:cxn ang="T6">
                  <a:pos x="T0" y="T1"/>
                </a:cxn>
                <a:cxn ang="T7">
                  <a:pos x="T2" y="T3"/>
                </a:cxn>
                <a:cxn ang="T8">
                  <a:pos x="T4" y="T5"/>
                </a:cxn>
              </a:cxnLst>
              <a:rect l="0" t="0" r="r" b="b"/>
              <a:pathLst>
                <a:path w="19610" h="20669" fill="none" extrusionOk="0">
                  <a:moveTo>
                    <a:pt x="6273" y="0"/>
                  </a:moveTo>
                  <a:cubicBezTo>
                    <a:pt x="12173" y="1790"/>
                    <a:pt x="17025" y="6016"/>
                    <a:pt x="19610" y="11613"/>
                  </a:cubicBezTo>
                </a:path>
                <a:path w="19610" h="20669" stroke="0" extrusionOk="0">
                  <a:moveTo>
                    <a:pt x="6273" y="0"/>
                  </a:moveTo>
                  <a:cubicBezTo>
                    <a:pt x="12173" y="1790"/>
                    <a:pt x="17025" y="6016"/>
                    <a:pt x="19610" y="11613"/>
                  </a:cubicBezTo>
                  <a:lnTo>
                    <a:pt x="0" y="20669"/>
                  </a:lnTo>
                  <a:lnTo>
                    <a:pt x="6273" y="0"/>
                  </a:lnTo>
                  <a:close/>
                </a:path>
              </a:pathLst>
            </a:cu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p>
          </p:txBody>
        </p:sp>
        <p:sp>
          <p:nvSpPr>
            <p:cNvPr id="22544" name="Text Box 72"/>
            <p:cNvSpPr txBox="1">
              <a:spLocks noChangeArrowheads="1"/>
            </p:cNvSpPr>
            <p:nvPr/>
          </p:nvSpPr>
          <p:spPr bwMode="auto">
            <a:xfrm>
              <a:off x="1440" y="85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A</a:t>
              </a:r>
              <a:endParaRPr lang="en-US" altLang="zh-CN" sz="2400" b="1">
                <a:latin typeface="宋体" pitchFamily="2" charset="-122"/>
              </a:endParaRPr>
            </a:p>
          </p:txBody>
        </p:sp>
        <p:sp>
          <p:nvSpPr>
            <p:cNvPr id="22545" name="Text Box 73"/>
            <p:cNvSpPr txBox="1">
              <a:spLocks noChangeArrowheads="1"/>
            </p:cNvSpPr>
            <p:nvPr/>
          </p:nvSpPr>
          <p:spPr bwMode="auto">
            <a:xfrm>
              <a:off x="2352" y="205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B</a:t>
              </a:r>
              <a:endParaRPr lang="en-US" altLang="zh-CN" sz="2400" b="1">
                <a:latin typeface="宋体" pitchFamily="2" charset="-122"/>
              </a:endParaRPr>
            </a:p>
          </p:txBody>
        </p:sp>
        <p:sp>
          <p:nvSpPr>
            <p:cNvPr id="22546" name="Text Box 74"/>
            <p:cNvSpPr txBox="1">
              <a:spLocks noChangeArrowheads="1"/>
            </p:cNvSpPr>
            <p:nvPr/>
          </p:nvSpPr>
          <p:spPr bwMode="auto">
            <a:xfrm>
              <a:off x="2908" y="277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C</a:t>
              </a:r>
              <a:endParaRPr lang="en-US" altLang="zh-CN" sz="2400" b="1">
                <a:latin typeface="宋体" pitchFamily="2" charset="-122"/>
              </a:endParaRPr>
            </a:p>
          </p:txBody>
        </p:sp>
        <p:sp>
          <p:nvSpPr>
            <p:cNvPr id="22547" name="Text Box 75"/>
            <p:cNvSpPr txBox="1">
              <a:spLocks noChangeArrowheads="1"/>
            </p:cNvSpPr>
            <p:nvPr/>
          </p:nvSpPr>
          <p:spPr bwMode="auto">
            <a:xfrm>
              <a:off x="1900" y="267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D</a:t>
              </a:r>
            </a:p>
          </p:txBody>
        </p:sp>
        <p:sp>
          <p:nvSpPr>
            <p:cNvPr id="22548" name="Text Box 76"/>
            <p:cNvSpPr txBox="1">
              <a:spLocks noChangeArrowheads="1"/>
            </p:cNvSpPr>
            <p:nvPr/>
          </p:nvSpPr>
          <p:spPr bwMode="auto">
            <a:xfrm>
              <a:off x="624" y="5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P</a:t>
              </a:r>
              <a:endParaRPr lang="en-US" altLang="zh-CN" sz="2800" b="1">
                <a:latin typeface="宋体" pitchFamily="2" charset="-122"/>
              </a:endParaRPr>
            </a:p>
          </p:txBody>
        </p:sp>
        <p:sp>
          <p:nvSpPr>
            <p:cNvPr id="22549" name="Text Box 77"/>
            <p:cNvSpPr txBox="1">
              <a:spLocks noChangeArrowheads="1"/>
            </p:cNvSpPr>
            <p:nvPr/>
          </p:nvSpPr>
          <p:spPr bwMode="auto">
            <a:xfrm>
              <a:off x="3648" y="345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i="1">
                  <a:latin typeface="宋体" pitchFamily="2" charset="-122"/>
                </a:rPr>
                <a:t>V</a:t>
              </a:r>
              <a:endParaRPr lang="en-US" altLang="zh-CN" sz="2800" b="1">
                <a:latin typeface="宋体" pitchFamily="2" charset="-122"/>
              </a:endParaRPr>
            </a:p>
          </p:txBody>
        </p:sp>
        <p:sp>
          <p:nvSpPr>
            <p:cNvPr id="22550" name="Text Box 78"/>
            <p:cNvSpPr txBox="1">
              <a:spLocks noChangeArrowheads="1"/>
            </p:cNvSpPr>
            <p:nvPr/>
          </p:nvSpPr>
          <p:spPr bwMode="auto">
            <a:xfrm>
              <a:off x="672" y="326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latin typeface="宋体" pitchFamily="2" charset="-122"/>
                </a:rPr>
                <a:t>0</a:t>
              </a:r>
              <a:endParaRPr lang="en-US" altLang="zh-CN" sz="2400">
                <a:latin typeface="宋体" pitchFamily="2" charset="-122"/>
              </a:endParaRPr>
            </a:p>
          </p:txBody>
        </p:sp>
        <p:sp>
          <p:nvSpPr>
            <p:cNvPr id="22551" name="Line 79"/>
            <p:cNvSpPr>
              <a:spLocks noChangeShapeType="1"/>
            </p:cNvSpPr>
            <p:nvPr/>
          </p:nvSpPr>
          <p:spPr bwMode="auto">
            <a:xfrm>
              <a:off x="2928" y="3071"/>
              <a:ext cx="0" cy="384"/>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2" name="Line 80"/>
            <p:cNvSpPr>
              <a:spLocks noChangeShapeType="1"/>
            </p:cNvSpPr>
            <p:nvPr/>
          </p:nvSpPr>
          <p:spPr bwMode="auto">
            <a:xfrm>
              <a:off x="1440" y="1055"/>
              <a:ext cx="0" cy="240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3" name="Line 81"/>
            <p:cNvSpPr>
              <a:spLocks noChangeShapeType="1"/>
            </p:cNvSpPr>
            <p:nvPr/>
          </p:nvSpPr>
          <p:spPr bwMode="auto">
            <a:xfrm>
              <a:off x="2064" y="2735"/>
              <a:ext cx="0" cy="72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4" name="Line 82"/>
            <p:cNvSpPr>
              <a:spLocks noChangeShapeType="1"/>
            </p:cNvSpPr>
            <p:nvPr/>
          </p:nvSpPr>
          <p:spPr bwMode="auto">
            <a:xfrm>
              <a:off x="2352" y="2255"/>
              <a:ext cx="0" cy="1200"/>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5" name="Text Box 83"/>
            <p:cNvSpPr txBox="1">
              <a:spLocks noChangeArrowheads="1"/>
            </p:cNvSpPr>
            <p:nvPr/>
          </p:nvSpPr>
          <p:spPr bwMode="auto">
            <a:xfrm>
              <a:off x="1286" y="3443"/>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V</a:t>
              </a:r>
              <a:r>
                <a:rPr lang="en-US" altLang="zh-CN" sz="2400" b="1" baseline="-25000">
                  <a:latin typeface="宋体" pitchFamily="2" charset="-122"/>
                </a:rPr>
                <a:t>1</a:t>
              </a:r>
              <a:endParaRPr lang="en-US" altLang="zh-CN" sz="2400">
                <a:latin typeface="宋体" pitchFamily="2" charset="-122"/>
              </a:endParaRPr>
            </a:p>
          </p:txBody>
        </p:sp>
        <p:sp>
          <p:nvSpPr>
            <p:cNvPr id="22556" name="Text Box 84"/>
            <p:cNvSpPr txBox="1">
              <a:spLocks noChangeArrowheads="1"/>
            </p:cNvSpPr>
            <p:nvPr/>
          </p:nvSpPr>
          <p:spPr bwMode="auto">
            <a:xfrm>
              <a:off x="1941" y="3443"/>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V</a:t>
              </a:r>
              <a:r>
                <a:rPr lang="en-US" altLang="zh-CN" sz="2400" b="1" baseline="-25000">
                  <a:latin typeface="宋体" pitchFamily="2" charset="-122"/>
                </a:rPr>
                <a:t>4</a:t>
              </a:r>
              <a:endParaRPr lang="en-US" altLang="zh-CN" sz="2400">
                <a:latin typeface="宋体" pitchFamily="2" charset="-122"/>
              </a:endParaRPr>
            </a:p>
          </p:txBody>
        </p:sp>
        <p:sp>
          <p:nvSpPr>
            <p:cNvPr id="22557" name="Text Box 85"/>
            <p:cNvSpPr txBox="1">
              <a:spLocks noChangeArrowheads="1"/>
            </p:cNvSpPr>
            <p:nvPr/>
          </p:nvSpPr>
          <p:spPr bwMode="auto">
            <a:xfrm>
              <a:off x="2277" y="3443"/>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V</a:t>
              </a:r>
              <a:r>
                <a:rPr lang="en-US" altLang="zh-CN" sz="2400" b="1" baseline="-25000">
                  <a:latin typeface="宋体" pitchFamily="2" charset="-122"/>
                </a:rPr>
                <a:t>2</a:t>
              </a:r>
              <a:endParaRPr lang="en-US" altLang="zh-CN" sz="2400">
                <a:latin typeface="宋体" pitchFamily="2" charset="-122"/>
              </a:endParaRPr>
            </a:p>
          </p:txBody>
        </p:sp>
        <p:sp>
          <p:nvSpPr>
            <p:cNvPr id="22558" name="Text Box 86"/>
            <p:cNvSpPr txBox="1">
              <a:spLocks noChangeArrowheads="1"/>
            </p:cNvSpPr>
            <p:nvPr/>
          </p:nvSpPr>
          <p:spPr bwMode="auto">
            <a:xfrm>
              <a:off x="2853" y="3443"/>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i="1">
                  <a:latin typeface="宋体" pitchFamily="2" charset="-122"/>
                </a:rPr>
                <a:t>V</a:t>
              </a:r>
              <a:r>
                <a:rPr lang="en-US" altLang="zh-CN" sz="2400" b="1" baseline="-25000">
                  <a:latin typeface="宋体" pitchFamily="2" charset="-122"/>
                </a:rPr>
                <a:t>3</a:t>
              </a:r>
              <a:endParaRPr lang="en-US" altLang="zh-CN" sz="2400">
                <a:latin typeface="宋体" pitchFamily="2" charset="-122"/>
              </a:endParaRPr>
            </a:p>
          </p:txBody>
        </p:sp>
        <p:sp>
          <p:nvSpPr>
            <p:cNvPr id="22559" name="Text Box 87"/>
            <p:cNvSpPr txBox="1">
              <a:spLocks noChangeArrowheads="1"/>
            </p:cNvSpPr>
            <p:nvPr/>
          </p:nvSpPr>
          <p:spPr bwMode="auto">
            <a:xfrm>
              <a:off x="2976" y="2543"/>
              <a:ext cx="3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400" b="1">
                  <a:solidFill>
                    <a:srgbClr val="CC3300"/>
                  </a:solidFill>
                  <a:latin typeface="宋体" pitchFamily="2" charset="-122"/>
                </a:rPr>
                <a:t>T</a:t>
              </a:r>
              <a:r>
                <a:rPr lang="en-US" altLang="zh-CN" sz="2400" b="1" baseline="-25000">
                  <a:solidFill>
                    <a:srgbClr val="CC3300"/>
                  </a:solidFill>
                  <a:latin typeface="宋体" pitchFamily="2" charset="-122"/>
                </a:rPr>
                <a:t>1</a:t>
              </a:r>
              <a:endParaRPr lang="en-US" altLang="zh-CN" sz="2400" b="1">
                <a:solidFill>
                  <a:srgbClr val="CC3300"/>
                </a:solidFill>
                <a:latin typeface="宋体" pitchFamily="2" charset="-122"/>
              </a:endParaRPr>
            </a:p>
          </p:txBody>
        </p:sp>
        <p:sp>
          <p:nvSpPr>
            <p:cNvPr id="22560" name="Text Box 88"/>
            <p:cNvSpPr txBox="1">
              <a:spLocks noChangeArrowheads="1"/>
            </p:cNvSpPr>
            <p:nvPr/>
          </p:nvSpPr>
          <p:spPr bwMode="auto">
            <a:xfrm>
              <a:off x="3216" y="2927"/>
              <a:ext cx="3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400" b="1">
                  <a:solidFill>
                    <a:srgbClr val="CC3300"/>
                  </a:solidFill>
                  <a:latin typeface="宋体" pitchFamily="2" charset="-122"/>
                </a:rPr>
                <a:t>T</a:t>
              </a:r>
              <a:r>
                <a:rPr lang="en-US" altLang="zh-CN" sz="2400" b="1" baseline="-25000">
                  <a:solidFill>
                    <a:srgbClr val="CC3300"/>
                  </a:solidFill>
                  <a:latin typeface="宋体" pitchFamily="2" charset="-122"/>
                </a:rPr>
                <a:t>2</a:t>
              </a:r>
              <a:endParaRPr lang="en-US" altLang="zh-CN" sz="2400" b="1">
                <a:solidFill>
                  <a:srgbClr val="CC3300"/>
                </a:solidFill>
                <a:latin typeface="宋体" pitchFamily="2" charset="-122"/>
              </a:endParaRPr>
            </a:p>
          </p:txBody>
        </p:sp>
        <p:sp>
          <p:nvSpPr>
            <p:cNvPr id="22561" name="Line 89"/>
            <p:cNvSpPr>
              <a:spLocks noChangeShapeType="1"/>
            </p:cNvSpPr>
            <p:nvPr/>
          </p:nvSpPr>
          <p:spPr bwMode="auto">
            <a:xfrm flipH="1">
              <a:off x="863" y="1006"/>
              <a:ext cx="57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2" name="Line 90"/>
            <p:cNvSpPr>
              <a:spLocks noChangeShapeType="1"/>
            </p:cNvSpPr>
            <p:nvPr/>
          </p:nvSpPr>
          <p:spPr bwMode="auto">
            <a:xfrm flipH="1">
              <a:off x="863" y="2255"/>
              <a:ext cx="14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3" name="Line 91"/>
            <p:cNvSpPr>
              <a:spLocks noChangeShapeType="1"/>
            </p:cNvSpPr>
            <p:nvPr/>
          </p:nvSpPr>
          <p:spPr bwMode="auto">
            <a:xfrm flipH="1">
              <a:off x="864" y="2735"/>
              <a:ext cx="12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4" name="Line 92"/>
            <p:cNvSpPr>
              <a:spLocks noChangeShapeType="1"/>
            </p:cNvSpPr>
            <p:nvPr/>
          </p:nvSpPr>
          <p:spPr bwMode="auto">
            <a:xfrm flipH="1">
              <a:off x="864" y="3071"/>
              <a:ext cx="211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5" name="Text Box 93"/>
            <p:cNvSpPr txBox="1">
              <a:spLocks noChangeArrowheads="1"/>
            </p:cNvSpPr>
            <p:nvPr/>
          </p:nvSpPr>
          <p:spPr bwMode="auto">
            <a:xfrm>
              <a:off x="566" y="876"/>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宋体" pitchFamily="2" charset="-122"/>
                </a:rPr>
                <a:t>p</a:t>
              </a:r>
              <a:r>
                <a:rPr lang="en-US" altLang="zh-CN" sz="2400" baseline="-25000">
                  <a:latin typeface="宋体" pitchFamily="2" charset="-122"/>
                </a:rPr>
                <a:t>1</a:t>
              </a:r>
            </a:p>
          </p:txBody>
        </p:sp>
        <p:sp>
          <p:nvSpPr>
            <p:cNvPr id="22566" name="Text Box 94"/>
            <p:cNvSpPr txBox="1">
              <a:spLocks noChangeArrowheads="1"/>
            </p:cNvSpPr>
            <p:nvPr/>
          </p:nvSpPr>
          <p:spPr bwMode="auto">
            <a:xfrm>
              <a:off x="480" y="2556"/>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宋体" pitchFamily="2" charset="-122"/>
                </a:rPr>
                <a:t>p</a:t>
              </a:r>
              <a:r>
                <a:rPr lang="en-US" altLang="zh-CN" sz="2400" b="1" baseline="-25000">
                  <a:latin typeface="宋体" pitchFamily="2" charset="-122"/>
                </a:rPr>
                <a:t>4</a:t>
              </a:r>
            </a:p>
          </p:txBody>
        </p:sp>
        <p:sp>
          <p:nvSpPr>
            <p:cNvPr id="22567" name="Text Box 95"/>
            <p:cNvSpPr txBox="1">
              <a:spLocks noChangeArrowheads="1"/>
            </p:cNvSpPr>
            <p:nvPr/>
          </p:nvSpPr>
          <p:spPr bwMode="auto">
            <a:xfrm>
              <a:off x="480" y="2076"/>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宋体" pitchFamily="2" charset="-122"/>
                </a:rPr>
                <a:t>p</a:t>
              </a:r>
              <a:r>
                <a:rPr lang="en-US" altLang="zh-CN" sz="2400" b="1" baseline="-25000">
                  <a:latin typeface="宋体" pitchFamily="2" charset="-122"/>
                </a:rPr>
                <a:t>2</a:t>
              </a:r>
            </a:p>
          </p:txBody>
        </p:sp>
        <p:sp>
          <p:nvSpPr>
            <p:cNvPr id="22568" name="Text Box 96"/>
            <p:cNvSpPr txBox="1">
              <a:spLocks noChangeArrowheads="1"/>
            </p:cNvSpPr>
            <p:nvPr/>
          </p:nvSpPr>
          <p:spPr bwMode="auto">
            <a:xfrm>
              <a:off x="480" y="2892"/>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宋体" pitchFamily="2" charset="-122"/>
                </a:rPr>
                <a:t>p</a:t>
              </a:r>
              <a:r>
                <a:rPr lang="en-US" altLang="zh-CN" sz="2400" b="1" baseline="-25000">
                  <a:latin typeface="宋体" pitchFamily="2" charset="-122"/>
                </a:rPr>
                <a:t>3</a:t>
              </a:r>
            </a:p>
          </p:txBody>
        </p:sp>
        <p:sp>
          <p:nvSpPr>
            <p:cNvPr id="22569" name="Text Box 97"/>
            <p:cNvSpPr txBox="1">
              <a:spLocks noChangeArrowheads="1"/>
            </p:cNvSpPr>
            <p:nvPr/>
          </p:nvSpPr>
          <p:spPr bwMode="auto">
            <a:xfrm>
              <a:off x="2006" y="1452"/>
              <a:ext cx="276"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a:latin typeface="宋体" pitchFamily="2" charset="-122"/>
                </a:rPr>
                <a:t>Q</a:t>
              </a:r>
              <a:r>
                <a:rPr lang="en-US" altLang="zh-CN" sz="2400" b="1" baseline="-25000">
                  <a:latin typeface="宋体" pitchFamily="2" charset="-122"/>
                </a:rPr>
                <a:t>1</a:t>
              </a:r>
            </a:p>
          </p:txBody>
        </p:sp>
        <p:sp>
          <p:nvSpPr>
            <p:cNvPr id="22570" name="Text Box 98"/>
            <p:cNvSpPr txBox="1">
              <a:spLocks noChangeArrowheads="1"/>
            </p:cNvSpPr>
            <p:nvPr/>
          </p:nvSpPr>
          <p:spPr bwMode="auto">
            <a:xfrm>
              <a:off x="2592" y="2985"/>
              <a:ext cx="276"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400" b="1" i="1" dirty="0">
                  <a:latin typeface="宋体" pitchFamily="2" charset="-122"/>
                </a:rPr>
                <a:t>Q</a:t>
              </a:r>
              <a:r>
                <a:rPr lang="en-US" altLang="zh-CN" sz="2400" b="1" baseline="-25000" dirty="0">
                  <a:latin typeface="宋体" pitchFamily="2" charset="-122"/>
                </a:rPr>
                <a:t>2</a:t>
              </a:r>
            </a:p>
          </p:txBody>
        </p:sp>
        <p:sp>
          <p:nvSpPr>
            <p:cNvPr id="22571" name="Line 99"/>
            <p:cNvSpPr>
              <a:spLocks noChangeShapeType="1"/>
            </p:cNvSpPr>
            <p:nvPr/>
          </p:nvSpPr>
          <p:spPr bwMode="auto">
            <a:xfrm flipH="1" flipV="1">
              <a:off x="1680" y="2015"/>
              <a:ext cx="192" cy="384"/>
            </a:xfrm>
            <a:prstGeom prst="line">
              <a:avLst/>
            </a:prstGeom>
            <a:noFill/>
            <a:ln w="381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2" name="AutoShape 100"/>
            <p:cNvSpPr>
              <a:spLocks noChangeArrowheads="1"/>
            </p:cNvSpPr>
            <p:nvPr/>
          </p:nvSpPr>
          <p:spPr bwMode="auto">
            <a:xfrm>
              <a:off x="2448" y="2736"/>
              <a:ext cx="145" cy="528"/>
            </a:xfrm>
            <a:prstGeom prst="upArrow">
              <a:avLst>
                <a:gd name="adj1" fmla="val 50000"/>
                <a:gd name="adj2" fmla="val 91034"/>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3" name="AutoShape 101"/>
            <p:cNvSpPr>
              <a:spLocks noChangeArrowheads="1"/>
            </p:cNvSpPr>
            <p:nvPr/>
          </p:nvSpPr>
          <p:spPr bwMode="auto">
            <a:xfrm>
              <a:off x="1920" y="1632"/>
              <a:ext cx="192" cy="624"/>
            </a:xfrm>
            <a:prstGeom prst="upArrow">
              <a:avLst>
                <a:gd name="adj1" fmla="val 50000"/>
                <a:gd name="adj2" fmla="val 81250"/>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2" name="对象 1"/>
          <p:cNvGraphicFramePr>
            <a:graphicFrameLocks noChangeAspect="1"/>
          </p:cNvGraphicFramePr>
          <p:nvPr>
            <p:extLst>
              <p:ext uri="{D42A27DB-BD31-4B8C-83A1-F6EECF244321}">
                <p14:modId xmlns:p14="http://schemas.microsoft.com/office/powerpoint/2010/main" val="2241225555"/>
              </p:ext>
            </p:extLst>
          </p:nvPr>
        </p:nvGraphicFramePr>
        <p:xfrm>
          <a:off x="7380312" y="3680371"/>
          <a:ext cx="721499" cy="540717"/>
        </p:xfrm>
        <a:graphic>
          <a:graphicData uri="http://schemas.openxmlformats.org/presentationml/2006/ole">
            <mc:AlternateContent xmlns:mc="http://schemas.openxmlformats.org/markup-compatibility/2006">
              <mc:Choice xmlns:v="urn:schemas-microsoft-com:vml" Requires="v">
                <p:oleObj spid="_x0000_s23171" name="公式" r:id="rId6" imgW="545863" imgH="444307" progId="Equation.3">
                  <p:embed/>
                </p:oleObj>
              </mc:Choice>
              <mc:Fallback>
                <p:oleObj name="公式" r:id="rId6" imgW="545863" imgH="444307" progId="Equation.3">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80312" y="3680371"/>
                        <a:ext cx="721499" cy="540717"/>
                      </a:xfrm>
                      <a:prstGeom prst="rect">
                        <a:avLst/>
                      </a:prstGeom>
                      <a:noFill/>
                      <a:ln>
                        <a:noFill/>
                      </a:ln>
                      <a:effec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632294112"/>
              </p:ext>
            </p:extLst>
          </p:nvPr>
        </p:nvGraphicFramePr>
        <p:xfrm>
          <a:off x="7032625" y="2062916"/>
          <a:ext cx="1658714" cy="732675"/>
        </p:xfrm>
        <a:graphic>
          <a:graphicData uri="http://schemas.openxmlformats.org/presentationml/2006/ole">
            <mc:AlternateContent xmlns:mc="http://schemas.openxmlformats.org/markup-compatibility/2006">
              <mc:Choice xmlns:v="urn:schemas-microsoft-com:vml" Requires="v">
                <p:oleObj spid="_x0000_s23172" name="Equation" r:id="rId8" imgW="1002960" imgH="444240" progId="Equation.DSMT4">
                  <p:embed/>
                </p:oleObj>
              </mc:Choice>
              <mc:Fallback>
                <p:oleObj name="Equation" r:id="rId8" imgW="1002960" imgH="444240" progId="Equation.DSMT4">
                  <p:embed/>
                  <p:pic>
                    <p:nvPicPr>
                      <p:cNvPr id="0" name="Object 63"/>
                      <p:cNvPicPr>
                        <a:picLocks noChangeAspect="1" noChangeArrowheads="1"/>
                      </p:cNvPicPr>
                      <p:nvPr/>
                    </p:nvPicPr>
                    <p:blipFill>
                      <a:blip r:embed="rId9"/>
                      <a:srcRect/>
                      <a:stretch>
                        <a:fillRect/>
                      </a:stretch>
                    </p:blipFill>
                    <p:spPr bwMode="auto">
                      <a:xfrm>
                        <a:off x="7032625" y="2062916"/>
                        <a:ext cx="1658714" cy="732675"/>
                      </a:xfrm>
                      <a:prstGeom prst="rect">
                        <a:avLst/>
                      </a:prstGeom>
                      <a:gradFill rotWithShape="0">
                        <a:gsLst>
                          <a:gs pos="0">
                            <a:schemeClr val="accent1"/>
                          </a:gs>
                          <a:gs pos="50000">
                            <a:srgbClr val="FFFFFF"/>
                          </a:gs>
                          <a:gs pos="100000">
                            <a:schemeClr val="accent1"/>
                          </a:gs>
                        </a:gsLst>
                        <a:lin ang="5400000" scaled="1"/>
                      </a:gradFill>
                      <a:ln>
                        <a:noFill/>
                      </a:ln>
                      <a:effec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411656099"/>
              </p:ext>
            </p:extLst>
          </p:nvPr>
        </p:nvGraphicFramePr>
        <p:xfrm>
          <a:off x="7020272" y="2861611"/>
          <a:ext cx="1608137" cy="741363"/>
        </p:xfrm>
        <a:graphic>
          <a:graphicData uri="http://schemas.openxmlformats.org/presentationml/2006/ole">
            <mc:AlternateContent xmlns:mc="http://schemas.openxmlformats.org/markup-compatibility/2006">
              <mc:Choice xmlns:v="urn:schemas-microsoft-com:vml" Requires="v">
                <p:oleObj spid="_x0000_s23173" name="Equation" r:id="rId10" imgW="1028520" imgH="444240" progId="Equation.DSMT4">
                  <p:embed/>
                </p:oleObj>
              </mc:Choice>
              <mc:Fallback>
                <p:oleObj name="Equation" r:id="rId10" imgW="1028520" imgH="444240" progId="Equation.DSMT4">
                  <p:embed/>
                  <p:pic>
                    <p:nvPicPr>
                      <p:cNvPr id="0" name="Object 64"/>
                      <p:cNvPicPr>
                        <a:picLocks noChangeAspect="1" noChangeArrowheads="1"/>
                      </p:cNvPicPr>
                      <p:nvPr/>
                    </p:nvPicPr>
                    <p:blipFill>
                      <a:blip r:embed="rId11"/>
                      <a:srcRect/>
                      <a:stretch>
                        <a:fillRect/>
                      </a:stretch>
                    </p:blipFill>
                    <p:spPr bwMode="auto">
                      <a:xfrm>
                        <a:off x="7020272" y="2861611"/>
                        <a:ext cx="1608137" cy="74136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箭头: 左 4">
            <a:extLst>
              <a:ext uri="{FF2B5EF4-FFF2-40B4-BE49-F238E27FC236}">
                <a16:creationId xmlns:a16="http://schemas.microsoft.com/office/drawing/2014/main" id="{EB5A2D00-DF24-4A94-9883-33D3D7692326}"/>
              </a:ext>
            </a:extLst>
          </p:cNvPr>
          <p:cNvSpPr/>
          <p:nvPr/>
        </p:nvSpPr>
        <p:spPr bwMode="auto">
          <a:xfrm>
            <a:off x="2508670" y="4814010"/>
            <a:ext cx="1000898" cy="336057"/>
          </a:xfrm>
          <a:prstGeom prst="leftArrow">
            <a:avLst/>
          </a:prstGeom>
          <a:solidFill>
            <a:srgbClr val="FF3300"/>
          </a:solidFill>
          <a:ln w="9525" cap="flat" cmpd="sng" algn="ctr">
            <a:solidFill>
              <a:srgbClr val="FF00FF"/>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A</a:t>
            </a:r>
            <a:endParaRPr kumimoji="1" lang="zh-CN" altLang="en-US" sz="20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373"/>
                                        </p:tgtEl>
                                        <p:attrNameLst>
                                          <p:attrName>style.visibility</p:attrName>
                                        </p:attrNameLst>
                                      </p:cBhvr>
                                      <p:to>
                                        <p:strVal val="visible"/>
                                      </p:to>
                                    </p:set>
                                    <p:animEffect transition="in" filter="wipe(left)">
                                      <p:cBhvr>
                                        <p:cTn id="7" dur="500"/>
                                        <p:tgtEl>
                                          <p:spTgt spid="1003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0357"/>
                                        </p:tgtEl>
                                        <p:attrNameLst>
                                          <p:attrName>style.visibility</p:attrName>
                                        </p:attrNameLst>
                                      </p:cBhvr>
                                      <p:to>
                                        <p:strVal val="visible"/>
                                      </p:to>
                                    </p:set>
                                    <p:animEffect transition="in" filter="wipe(left)">
                                      <p:cBhvr>
                                        <p:cTn id="12" dur="500"/>
                                        <p:tgtEl>
                                          <p:spTgt spid="1003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0416"/>
                                        </p:tgtEl>
                                        <p:attrNameLst>
                                          <p:attrName>style.visibility</p:attrName>
                                        </p:attrNameLst>
                                      </p:cBhvr>
                                      <p:to>
                                        <p:strVal val="visible"/>
                                      </p:to>
                                    </p:set>
                                    <p:animEffect transition="in" filter="wipe(left)">
                                      <p:cBhvr>
                                        <p:cTn id="17" dur="500"/>
                                        <p:tgtEl>
                                          <p:spTgt spid="100416"/>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0355"/>
                                        </p:tgtEl>
                                        <p:attrNameLst>
                                          <p:attrName>style.visibility</p:attrName>
                                        </p:attrNameLst>
                                      </p:cBhvr>
                                      <p:to>
                                        <p:strVal val="visible"/>
                                      </p:to>
                                    </p:set>
                                    <p:animEffect transition="in" filter="wipe(left)">
                                      <p:cBhvr>
                                        <p:cTn id="24" dur="500"/>
                                        <p:tgtEl>
                                          <p:spTgt spid="10035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0414"/>
                                        </p:tgtEl>
                                        <p:attrNameLst>
                                          <p:attrName>style.visibility</p:attrName>
                                        </p:attrNameLst>
                                      </p:cBhvr>
                                      <p:to>
                                        <p:strVal val="visible"/>
                                      </p:to>
                                    </p:set>
                                    <p:animEffect transition="in" filter="wipe(left)">
                                      <p:cBhvr>
                                        <p:cTn id="29" dur="500"/>
                                        <p:tgtEl>
                                          <p:spTgt spid="1004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left)">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00415"/>
                                        </p:tgtEl>
                                        <p:attrNameLst>
                                          <p:attrName>style.visibility</p:attrName>
                                        </p:attrNameLst>
                                      </p:cBhvr>
                                      <p:to>
                                        <p:strVal val="visible"/>
                                      </p:to>
                                    </p:set>
                                    <p:animEffect transition="in" filter="wipe(left)">
                                      <p:cBhvr>
                                        <p:cTn id="48" dur="500"/>
                                        <p:tgtEl>
                                          <p:spTgt spid="10041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0412"/>
                                        </p:tgtEl>
                                        <p:attrNameLst>
                                          <p:attrName>style.visibility</p:attrName>
                                        </p:attrNameLst>
                                      </p:cBhvr>
                                      <p:to>
                                        <p:strVal val="visible"/>
                                      </p:to>
                                    </p:set>
                                    <p:animEffect transition="in" filter="wipe(left)">
                                      <p:cBhvr>
                                        <p:cTn id="53" dur="500"/>
                                        <p:tgtEl>
                                          <p:spTgt spid="100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autoUpdateAnimBg="0"/>
      <p:bldP spid="100373" grpId="0" autoUpdateAnimBg="0"/>
      <p:bldP spid="100412" grpId="0" animBg="1" autoUpdateAnimBg="0"/>
      <p:bldP spid="100415" grpId="0" animBg="1" autoUpdateAnimBg="0"/>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B5007A3-72A5-45FE-B8F5-1AD0C608633B}"/>
              </a:ext>
            </a:extLst>
          </p:cNvPr>
          <p:cNvSpPr/>
          <p:nvPr/>
        </p:nvSpPr>
        <p:spPr>
          <a:xfrm>
            <a:off x="127490" y="3523344"/>
            <a:ext cx="5956677" cy="3108543"/>
          </a:xfrm>
          <a:prstGeom prst="rect">
            <a:avLst/>
          </a:prstGeom>
        </p:spPr>
        <p:txBody>
          <a:bodyPr wrap="square">
            <a:spAutoFit/>
          </a:bodyPr>
          <a:lstStyle/>
          <a:p>
            <a:pPr algn="l"/>
            <a:r>
              <a:rPr lang="zh-CN" altLang="en-US" sz="2800" b="1">
                <a:latin typeface="Century Schoolbook" pitchFamily="18" charset="0"/>
              </a:rPr>
              <a:t>罗斯</a:t>
            </a:r>
            <a:r>
              <a:rPr lang="en-US" altLang="zh-CN" sz="2800" b="1">
                <a:latin typeface="Century Schoolbook" pitchFamily="18" charset="0"/>
              </a:rPr>
              <a:t>·</a:t>
            </a:r>
            <a:r>
              <a:rPr lang="zh-CN" altLang="en-US" sz="2800" b="1">
                <a:latin typeface="Century Schoolbook" pitchFamily="18" charset="0"/>
              </a:rPr>
              <a:t>奥古斯特</a:t>
            </a:r>
            <a:r>
              <a:rPr lang="en-US" altLang="zh-CN" sz="2800" b="1">
                <a:latin typeface="Century Schoolbook" pitchFamily="18" charset="0"/>
              </a:rPr>
              <a:t>·</a:t>
            </a:r>
            <a:r>
              <a:rPr lang="zh-CN" altLang="en-US" sz="2800" b="1">
                <a:latin typeface="Century Schoolbook" pitchFamily="18" charset="0"/>
              </a:rPr>
              <a:t>奥托，德国发明家，在</a:t>
            </a:r>
            <a:r>
              <a:rPr lang="en-US" altLang="zh-CN" sz="2800" b="1">
                <a:latin typeface="Century Schoolbook" pitchFamily="18" charset="0"/>
              </a:rPr>
              <a:t>1876</a:t>
            </a:r>
            <a:r>
              <a:rPr lang="zh-CN" altLang="en-US" sz="2800" b="1">
                <a:latin typeface="Century Schoolbook" pitchFamily="18" charset="0"/>
              </a:rPr>
              <a:t>年制造出第一台四部冲程内燃机，那就是至今已生产出数以亿计的四部冲程内燃机的样机</a:t>
            </a:r>
            <a:r>
              <a:rPr lang="en-US" altLang="zh-CN" sz="2800" b="1">
                <a:latin typeface="Century Schoolbook" pitchFamily="18" charset="0"/>
              </a:rPr>
              <a:t>.</a:t>
            </a:r>
            <a:r>
              <a:rPr lang="zh-CN" altLang="en-US" sz="2800" b="1">
                <a:latin typeface="Century Schoolbook" pitchFamily="18" charset="0"/>
              </a:rPr>
              <a:t> </a:t>
            </a:r>
            <a:r>
              <a:rPr lang="en-US" altLang="zh-CN" sz="2800" b="1">
                <a:latin typeface="Century Schoolbook" pitchFamily="18" charset="0"/>
              </a:rPr>
              <a:t>1885</a:t>
            </a:r>
            <a:r>
              <a:rPr lang="zh-CN" altLang="en-US" sz="2800" b="1">
                <a:latin typeface="Century Schoolbook" pitchFamily="18" charset="0"/>
              </a:rPr>
              <a:t>年他把一台引擎附系在一辆自行车上，由此制造出世界上第一台摩托车。翌年戴姆勒制造出他的第一辆四轮汽车</a:t>
            </a:r>
            <a:r>
              <a:rPr lang="en-US" altLang="zh-CN" sz="2800" b="1">
                <a:latin typeface="Century Schoolbook" pitchFamily="18" charset="0"/>
              </a:rPr>
              <a:t>.</a:t>
            </a:r>
            <a:endParaRPr lang="zh-CN" altLang="en-US" sz="2800" b="1">
              <a:latin typeface="Century Schoolbook" pitchFamily="18" charset="0"/>
            </a:endParaRPr>
          </a:p>
        </p:txBody>
      </p:sp>
      <p:sp>
        <p:nvSpPr>
          <p:cNvPr id="3" name="Text Box 2">
            <a:extLst>
              <a:ext uri="{FF2B5EF4-FFF2-40B4-BE49-F238E27FC236}">
                <a16:creationId xmlns:a16="http://schemas.microsoft.com/office/drawing/2014/main" id="{2FD03850-A4BF-498A-9BA5-F1479FAFF45A}"/>
              </a:ext>
            </a:extLst>
          </p:cNvPr>
          <p:cNvSpPr txBox="1">
            <a:spLocks noChangeArrowheads="1"/>
          </p:cNvSpPr>
          <p:nvPr/>
        </p:nvSpPr>
        <p:spPr bwMode="auto">
          <a:xfrm>
            <a:off x="152400" y="150813"/>
            <a:ext cx="86868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dirty="0">
                <a:solidFill>
                  <a:srgbClr val="FF0000"/>
                </a:solidFill>
                <a:latin typeface="Century Schoolbook" pitchFamily="18" charset="0"/>
              </a:rPr>
              <a:t>例</a:t>
            </a:r>
            <a:r>
              <a:rPr lang="en-US" altLang="zh-CN" sz="2800" b="1" dirty="0">
                <a:solidFill>
                  <a:srgbClr val="FF0000"/>
                </a:solidFill>
                <a:latin typeface="Century Schoolbook" pitchFamily="18" charset="0"/>
              </a:rPr>
              <a:t>2</a:t>
            </a:r>
            <a:r>
              <a:rPr lang="zh-CN" altLang="en-US" sz="2800" b="1" dirty="0">
                <a:solidFill>
                  <a:srgbClr val="FF0000"/>
                </a:solidFill>
                <a:latin typeface="Century Schoolbook" pitchFamily="18" charset="0"/>
              </a:rPr>
              <a:t>：</a:t>
            </a:r>
            <a:r>
              <a:rPr lang="zh-CN" altLang="en-US" sz="2800" b="1" dirty="0">
                <a:solidFill>
                  <a:schemeClr val="accent2"/>
                </a:solidFill>
                <a:latin typeface="Century Schoolbook" pitchFamily="18" charset="0"/>
              </a:rPr>
              <a:t>奥托机是德国物理学家奥托发明的一种热机，以其原理制造的发动机现仍在使用。奥托机的循环曲线是由两条绝热线和两条等容线构成。</a:t>
            </a:r>
          </a:p>
        </p:txBody>
      </p:sp>
      <p:pic>
        <p:nvPicPr>
          <p:cNvPr id="5" name="图片 4">
            <a:extLst>
              <a:ext uri="{FF2B5EF4-FFF2-40B4-BE49-F238E27FC236}">
                <a16:creationId xmlns:a16="http://schemas.microsoft.com/office/drawing/2014/main" id="{90D589D8-064E-4739-9611-14356EEB9C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0175" y="3101906"/>
            <a:ext cx="3153825" cy="3636313"/>
          </a:xfrm>
          <a:prstGeom prst="rect">
            <a:avLst/>
          </a:prstGeom>
        </p:spPr>
      </p:pic>
      <p:sp>
        <p:nvSpPr>
          <p:cNvPr id="6" name="矩形 5">
            <a:extLst>
              <a:ext uri="{FF2B5EF4-FFF2-40B4-BE49-F238E27FC236}">
                <a16:creationId xmlns:a16="http://schemas.microsoft.com/office/drawing/2014/main" id="{E5E39D65-F6CE-40CF-8F5A-9266402204BA}"/>
              </a:ext>
            </a:extLst>
          </p:cNvPr>
          <p:cNvSpPr/>
          <p:nvPr/>
        </p:nvSpPr>
        <p:spPr>
          <a:xfrm>
            <a:off x="107504" y="1507408"/>
            <a:ext cx="9036496" cy="2015936"/>
          </a:xfrm>
          <a:prstGeom prst="rect">
            <a:avLst/>
          </a:prstGeom>
        </p:spPr>
        <p:txBody>
          <a:bodyPr wrap="square">
            <a:spAutoFit/>
          </a:bodyPr>
          <a:lstStyle/>
          <a:p>
            <a:pPr algn="l"/>
            <a:r>
              <a:rPr lang="zh-CN" altLang="en-US" sz="2500" b="1">
                <a:latin typeface="Century Schoolbook" pitchFamily="18" charset="0"/>
              </a:rPr>
              <a:t>尼古拉斯</a:t>
            </a:r>
            <a:r>
              <a:rPr lang="en-US" altLang="zh-CN" sz="2500" b="1">
                <a:latin typeface="Century Schoolbook" pitchFamily="18" charset="0"/>
              </a:rPr>
              <a:t>·</a:t>
            </a:r>
            <a:r>
              <a:rPr lang="zh-CN" altLang="en-US" sz="2500" b="1">
                <a:latin typeface="Century Schoolbook" pitchFamily="18" charset="0"/>
              </a:rPr>
              <a:t>奥古斯特</a:t>
            </a:r>
            <a:r>
              <a:rPr lang="en-US" altLang="zh-CN" sz="2500" b="1">
                <a:latin typeface="Century Schoolbook" pitchFamily="18" charset="0"/>
              </a:rPr>
              <a:t>·</a:t>
            </a:r>
            <a:r>
              <a:rPr lang="zh-CN" altLang="en-US" sz="2500" b="1">
                <a:latin typeface="Century Schoolbook" pitchFamily="18" charset="0"/>
              </a:rPr>
              <a:t>奥托于</a:t>
            </a:r>
            <a:r>
              <a:rPr lang="en-US" altLang="zh-CN" sz="2500" b="1">
                <a:latin typeface="Century Schoolbook" pitchFamily="18" charset="0"/>
              </a:rPr>
              <a:t>1832</a:t>
            </a:r>
            <a:r>
              <a:rPr lang="zh-CN" altLang="en-US" sz="2500" b="1">
                <a:latin typeface="Century Schoolbook" pitchFamily="18" charset="0"/>
              </a:rPr>
              <a:t>年出生在德国霍兹豪森镇。他在襁褓时父亲就去世了。奥托读书时是一个出色的学生，但却在十六岁从中学辍学，参加了工作，获得了经商的经验。一时他在一个小镇上的一家杂货店工作，随后在法兰克福市当一名店员，接着又成为一名推销员。</a:t>
            </a:r>
          </a:p>
        </p:txBody>
      </p:sp>
      <p:pic>
        <p:nvPicPr>
          <p:cNvPr id="163842" name="Picture 2" descr="https://img2.baidu.com/it/u=2774819641,3098777705&amp;fm=253&amp;fmt=auto&amp;app=138&amp;f=JPEG?w=500&amp;h=361">
            <a:extLst>
              <a:ext uri="{FF2B5EF4-FFF2-40B4-BE49-F238E27FC236}">
                <a16:creationId xmlns:a16="http://schemas.microsoft.com/office/drawing/2014/main" id="{D4995E46-0D99-4B1E-A732-33632AEF5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524" y="3068242"/>
            <a:ext cx="5688632" cy="4107193"/>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5C65787B-1ED8-4BD5-B2B7-5D385CC2CE6A}"/>
              </a:ext>
            </a:extLst>
          </p:cNvPr>
          <p:cNvSpPr/>
          <p:nvPr/>
        </p:nvSpPr>
        <p:spPr>
          <a:xfrm>
            <a:off x="174114" y="3595063"/>
            <a:ext cx="1467068" cy="400110"/>
          </a:xfrm>
          <a:prstGeom prst="rect">
            <a:avLst/>
          </a:prstGeom>
        </p:spPr>
        <p:txBody>
          <a:bodyPr wrap="none">
            <a:spAutoFit/>
          </a:bodyPr>
          <a:lstStyle/>
          <a:p>
            <a:r>
              <a:rPr lang="zh-CN" altLang="en-US" b="1">
                <a:solidFill>
                  <a:srgbClr val="FF0000"/>
                </a:solidFill>
                <a:latin typeface="PingFang SC"/>
              </a:rPr>
              <a:t>戴姆勒集团</a:t>
            </a:r>
            <a:endParaRPr lang="zh-CN" altLang="en-US" b="1">
              <a:solidFill>
                <a:srgbClr val="FF0000"/>
              </a:solidFill>
            </a:endParaRPr>
          </a:p>
        </p:txBody>
      </p:sp>
    </p:spTree>
    <p:extLst>
      <p:ext uri="{BB962C8B-B14F-4D97-AF65-F5344CB8AC3E}">
        <p14:creationId xmlns:p14="http://schemas.microsoft.com/office/powerpoint/2010/main" val="4405053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152400" y="150813"/>
            <a:ext cx="86868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dirty="0">
                <a:solidFill>
                  <a:srgbClr val="FF0000"/>
                </a:solidFill>
                <a:latin typeface="Century Schoolbook" pitchFamily="18" charset="0"/>
              </a:rPr>
              <a:t>例</a:t>
            </a:r>
            <a:r>
              <a:rPr lang="en-US" altLang="zh-CN" sz="2800" b="1" dirty="0">
                <a:solidFill>
                  <a:srgbClr val="FF0000"/>
                </a:solidFill>
                <a:latin typeface="Century Schoolbook" pitchFamily="18" charset="0"/>
              </a:rPr>
              <a:t>2</a:t>
            </a:r>
            <a:r>
              <a:rPr lang="zh-CN" altLang="en-US" sz="2800" b="1" dirty="0">
                <a:solidFill>
                  <a:srgbClr val="FF0000"/>
                </a:solidFill>
                <a:latin typeface="Century Schoolbook" pitchFamily="18" charset="0"/>
              </a:rPr>
              <a:t>：</a:t>
            </a:r>
            <a:r>
              <a:rPr lang="zh-CN" altLang="en-US" sz="2800" b="1" dirty="0">
                <a:solidFill>
                  <a:schemeClr val="accent2"/>
                </a:solidFill>
                <a:latin typeface="Century Schoolbook" pitchFamily="18" charset="0"/>
              </a:rPr>
              <a:t>奥托机是德国物理学家奥托发明的一种热机，以其原理制造的发动机现仍在使用。奥托机的循环曲线是由</a:t>
            </a:r>
            <a:r>
              <a:rPr lang="zh-CN" altLang="en-US" sz="2800" b="1" dirty="0">
                <a:solidFill>
                  <a:srgbClr val="FF3300"/>
                </a:solidFill>
                <a:latin typeface="Century Schoolbook" pitchFamily="18" charset="0"/>
              </a:rPr>
              <a:t>两条绝热线和两条等容线构成</a:t>
            </a:r>
            <a:r>
              <a:rPr lang="zh-CN" altLang="en-US" sz="2800" b="1" dirty="0">
                <a:solidFill>
                  <a:srgbClr val="FFFF00"/>
                </a:solidFill>
                <a:latin typeface="Century Schoolbook" pitchFamily="18" charset="0"/>
              </a:rPr>
              <a:t>。</a:t>
            </a:r>
          </a:p>
        </p:txBody>
      </p:sp>
      <p:graphicFrame>
        <p:nvGraphicFramePr>
          <p:cNvPr id="23555" name="Object 3"/>
          <p:cNvGraphicFramePr>
            <a:graphicFrameLocks noChangeAspect="1"/>
          </p:cNvGraphicFramePr>
          <p:nvPr>
            <p:extLst>
              <p:ext uri="{D42A27DB-BD31-4B8C-83A1-F6EECF244321}">
                <p14:modId xmlns:p14="http://schemas.microsoft.com/office/powerpoint/2010/main" val="1035304583"/>
              </p:ext>
            </p:extLst>
          </p:nvPr>
        </p:nvGraphicFramePr>
        <p:xfrm>
          <a:off x="647700" y="4268043"/>
          <a:ext cx="2743200" cy="1333500"/>
        </p:xfrm>
        <a:graphic>
          <a:graphicData uri="http://schemas.openxmlformats.org/presentationml/2006/ole">
            <mc:AlternateContent xmlns:mc="http://schemas.openxmlformats.org/markup-compatibility/2006">
              <mc:Choice xmlns:v="urn:schemas-microsoft-com:vml" Requires="v">
                <p:oleObj spid="_x0000_s180345" name="公式" r:id="rId4" imgW="2743200" imgH="1333500" progId="Equation.3">
                  <p:embed/>
                </p:oleObj>
              </mc:Choice>
              <mc:Fallback>
                <p:oleObj name="公式" r:id="rId4" imgW="2743200" imgH="13335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 y="4268043"/>
                        <a:ext cx="2743200" cy="1333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6" name="Text Box 4"/>
          <p:cNvSpPr txBox="1">
            <a:spLocks noChangeArrowheads="1"/>
          </p:cNvSpPr>
          <p:nvPr/>
        </p:nvSpPr>
        <p:spPr bwMode="auto">
          <a:xfrm>
            <a:off x="228600" y="1447800"/>
            <a:ext cx="3581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a:solidFill>
                  <a:schemeClr val="accent2"/>
                </a:solidFill>
                <a:latin typeface="Century Schoolbook" pitchFamily="18" charset="0"/>
              </a:rPr>
              <a:t>证明：热机效率为</a:t>
            </a:r>
          </a:p>
        </p:txBody>
      </p:sp>
      <p:grpSp>
        <p:nvGrpSpPr>
          <p:cNvPr id="118803" name="Group 19"/>
          <p:cNvGrpSpPr>
            <a:grpSpLocks/>
          </p:cNvGrpSpPr>
          <p:nvPr/>
        </p:nvGrpSpPr>
        <p:grpSpPr bwMode="auto">
          <a:xfrm>
            <a:off x="7812088" y="4542804"/>
            <a:ext cx="0" cy="1014413"/>
            <a:chOff x="5148" y="1167"/>
            <a:chExt cx="0" cy="639"/>
          </a:xfrm>
        </p:grpSpPr>
        <p:sp>
          <p:nvSpPr>
            <p:cNvPr id="23600" name="Line 20"/>
            <p:cNvSpPr>
              <a:spLocks noChangeShapeType="1"/>
            </p:cNvSpPr>
            <p:nvPr/>
          </p:nvSpPr>
          <p:spPr bwMode="auto">
            <a:xfrm>
              <a:off x="5148" y="1167"/>
              <a:ext cx="0" cy="639"/>
            </a:xfrm>
            <a:prstGeom prst="line">
              <a:avLst/>
            </a:prstGeom>
            <a:noFill/>
            <a:ln w="25400">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01" name="Line 21"/>
            <p:cNvSpPr>
              <a:spLocks noChangeShapeType="1"/>
            </p:cNvSpPr>
            <p:nvPr/>
          </p:nvSpPr>
          <p:spPr bwMode="auto">
            <a:xfrm>
              <a:off x="5148" y="1167"/>
              <a:ext cx="0" cy="383"/>
            </a:xfrm>
            <a:prstGeom prst="line">
              <a:avLst/>
            </a:prstGeom>
            <a:noFill/>
            <a:ln w="254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8806" name="Group 22"/>
          <p:cNvGrpSpPr>
            <a:grpSpLocks/>
          </p:cNvGrpSpPr>
          <p:nvPr/>
        </p:nvGrpSpPr>
        <p:grpSpPr bwMode="auto">
          <a:xfrm>
            <a:off x="4945063" y="5255596"/>
            <a:ext cx="636587" cy="701676"/>
            <a:chOff x="3342" y="1616"/>
            <a:chExt cx="401" cy="442"/>
          </a:xfrm>
        </p:grpSpPr>
        <p:sp>
          <p:nvSpPr>
            <p:cNvPr id="23598" name="Rectangle 23"/>
            <p:cNvSpPr>
              <a:spLocks noChangeArrowheads="1"/>
            </p:cNvSpPr>
            <p:nvPr/>
          </p:nvSpPr>
          <p:spPr bwMode="auto">
            <a:xfrm>
              <a:off x="3342" y="1616"/>
              <a:ext cx="30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r>
                <a:rPr lang="en-US" altLang="zh-CN" sz="4000" i="1">
                  <a:latin typeface="Century Schoolbook" pitchFamily="18" charset="0"/>
                </a:rPr>
                <a:t>a</a:t>
              </a:r>
              <a:endParaRPr lang="en-US" altLang="zh-CN" sz="4000" i="1">
                <a:latin typeface="Bookman Old Style" pitchFamily="18" charset="0"/>
              </a:endParaRPr>
            </a:p>
          </p:txBody>
        </p:sp>
        <p:sp>
          <p:nvSpPr>
            <p:cNvPr id="23599" name="Oval 24"/>
            <p:cNvSpPr>
              <a:spLocks noChangeArrowheads="1"/>
            </p:cNvSpPr>
            <p:nvPr/>
          </p:nvSpPr>
          <p:spPr bwMode="auto">
            <a:xfrm>
              <a:off x="3674" y="1764"/>
              <a:ext cx="69" cy="71"/>
            </a:xfrm>
            <a:prstGeom prst="ellipse">
              <a:avLst/>
            </a:prstGeom>
            <a:solidFill>
              <a:schemeClr val="tx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8809" name="Group 25"/>
          <p:cNvGrpSpPr>
            <a:grpSpLocks/>
          </p:cNvGrpSpPr>
          <p:nvPr/>
        </p:nvGrpSpPr>
        <p:grpSpPr bwMode="auto">
          <a:xfrm>
            <a:off x="5289550" y="4899992"/>
            <a:ext cx="357188" cy="2046287"/>
            <a:chOff x="3562" y="1396"/>
            <a:chExt cx="225" cy="1289"/>
          </a:xfrm>
        </p:grpSpPr>
        <p:sp>
          <p:nvSpPr>
            <p:cNvPr id="23596" name="Line 26"/>
            <p:cNvSpPr>
              <a:spLocks noChangeShapeType="1"/>
            </p:cNvSpPr>
            <p:nvPr/>
          </p:nvSpPr>
          <p:spPr bwMode="auto">
            <a:xfrm>
              <a:off x="3701" y="1396"/>
              <a:ext cx="0" cy="954"/>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97" name="Object 27"/>
            <p:cNvGraphicFramePr>
              <a:graphicFrameLocks noChangeAspect="1"/>
            </p:cNvGraphicFramePr>
            <p:nvPr/>
          </p:nvGraphicFramePr>
          <p:xfrm>
            <a:off x="3562" y="2390"/>
            <a:ext cx="225" cy="295"/>
          </p:xfrm>
          <a:graphic>
            <a:graphicData uri="http://schemas.openxmlformats.org/presentationml/2006/ole">
              <mc:AlternateContent xmlns:mc="http://schemas.openxmlformats.org/markup-compatibility/2006">
                <mc:Choice xmlns:v="urn:schemas-microsoft-com:vml" Requires="v">
                  <p:oleObj spid="_x0000_s180346" name="公式" r:id="rId6" imgW="418918" imgH="533169" progId="Equation.3">
                    <p:embed/>
                  </p:oleObj>
                </mc:Choice>
                <mc:Fallback>
                  <p:oleObj name="公式" r:id="rId6" imgW="418918" imgH="533169" progId="Equation.3">
                    <p:embed/>
                    <p:pic>
                      <p:nvPicPr>
                        <p:cNvPr id="0"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2" y="2390"/>
                          <a:ext cx="225"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8812" name="Group 28"/>
          <p:cNvGrpSpPr>
            <a:grpSpLocks/>
          </p:cNvGrpSpPr>
          <p:nvPr/>
        </p:nvGrpSpPr>
        <p:grpSpPr bwMode="auto">
          <a:xfrm>
            <a:off x="5510213" y="3017217"/>
            <a:ext cx="2914650" cy="1517650"/>
            <a:chOff x="3679" y="192"/>
            <a:chExt cx="1884" cy="956"/>
          </a:xfrm>
        </p:grpSpPr>
        <p:sp>
          <p:nvSpPr>
            <p:cNvPr id="23593" name="Arc 29"/>
            <p:cNvSpPr>
              <a:spLocks/>
            </p:cNvSpPr>
            <p:nvPr/>
          </p:nvSpPr>
          <p:spPr bwMode="auto">
            <a:xfrm>
              <a:off x="3679" y="192"/>
              <a:ext cx="1884" cy="956"/>
            </a:xfrm>
            <a:custGeom>
              <a:avLst/>
              <a:gdLst>
                <a:gd name="T0" fmla="*/ 0 w 20363"/>
                <a:gd name="T1" fmla="*/ 0 h 21183"/>
                <a:gd name="T2" fmla="*/ 0 w 20363"/>
                <a:gd name="T3" fmla="*/ 0 h 21183"/>
                <a:gd name="T4" fmla="*/ 0 w 20363"/>
                <a:gd name="T5" fmla="*/ 0 h 21183"/>
                <a:gd name="T6" fmla="*/ 0 60000 65536"/>
                <a:gd name="T7" fmla="*/ 0 60000 65536"/>
                <a:gd name="T8" fmla="*/ 0 60000 65536"/>
              </a:gdLst>
              <a:ahLst/>
              <a:cxnLst>
                <a:cxn ang="T6">
                  <a:pos x="T0" y="T1"/>
                </a:cxn>
                <a:cxn ang="T7">
                  <a:pos x="T2" y="T3"/>
                </a:cxn>
                <a:cxn ang="T8">
                  <a:pos x="T4" y="T5"/>
                </a:cxn>
              </a:cxnLst>
              <a:rect l="0" t="0" r="r" b="b"/>
              <a:pathLst>
                <a:path w="20363" h="21183" fill="none" extrusionOk="0">
                  <a:moveTo>
                    <a:pt x="16141" y="21183"/>
                  </a:moveTo>
                  <a:cubicBezTo>
                    <a:pt x="8673" y="19695"/>
                    <a:pt x="2540" y="14384"/>
                    <a:pt x="0" y="7204"/>
                  </a:cubicBezTo>
                </a:path>
                <a:path w="20363" h="21183" stroke="0" extrusionOk="0">
                  <a:moveTo>
                    <a:pt x="16141" y="21183"/>
                  </a:moveTo>
                  <a:cubicBezTo>
                    <a:pt x="8673" y="19695"/>
                    <a:pt x="2540" y="14384"/>
                    <a:pt x="0" y="7204"/>
                  </a:cubicBezTo>
                  <a:lnTo>
                    <a:pt x="20363" y="0"/>
                  </a:lnTo>
                  <a:lnTo>
                    <a:pt x="16141" y="21183"/>
                  </a:lnTo>
                  <a:close/>
                </a:path>
              </a:pathLst>
            </a:custGeom>
            <a:noFill/>
            <a:ln w="25400" cap="rnd">
              <a:solidFill>
                <a:srgbClr val="FF33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94" name="Arc 30"/>
            <p:cNvSpPr>
              <a:spLocks/>
            </p:cNvSpPr>
            <p:nvPr/>
          </p:nvSpPr>
          <p:spPr bwMode="auto">
            <a:xfrm>
              <a:off x="3679" y="192"/>
              <a:ext cx="1884" cy="819"/>
            </a:xfrm>
            <a:custGeom>
              <a:avLst/>
              <a:gdLst>
                <a:gd name="T0" fmla="*/ 0 w 20363"/>
                <a:gd name="T1" fmla="*/ 0 h 18150"/>
                <a:gd name="T2" fmla="*/ 0 w 20363"/>
                <a:gd name="T3" fmla="*/ 0 h 18150"/>
                <a:gd name="T4" fmla="*/ 0 w 20363"/>
                <a:gd name="T5" fmla="*/ 0 h 18150"/>
                <a:gd name="T6" fmla="*/ 0 60000 65536"/>
                <a:gd name="T7" fmla="*/ 0 60000 65536"/>
                <a:gd name="T8" fmla="*/ 0 60000 65536"/>
              </a:gdLst>
              <a:ahLst/>
              <a:cxnLst>
                <a:cxn ang="T6">
                  <a:pos x="T0" y="T1"/>
                </a:cxn>
                <a:cxn ang="T7">
                  <a:pos x="T2" y="T3"/>
                </a:cxn>
                <a:cxn ang="T8">
                  <a:pos x="T4" y="T5"/>
                </a:cxn>
              </a:cxnLst>
              <a:rect l="0" t="0" r="r" b="b"/>
              <a:pathLst>
                <a:path w="20363" h="18150" fill="none" extrusionOk="0">
                  <a:moveTo>
                    <a:pt x="8652" y="18149"/>
                  </a:moveTo>
                  <a:cubicBezTo>
                    <a:pt x="4636" y="15559"/>
                    <a:pt x="1594" y="11709"/>
                    <a:pt x="0" y="7204"/>
                  </a:cubicBezTo>
                </a:path>
                <a:path w="20363" h="18150" stroke="0" extrusionOk="0">
                  <a:moveTo>
                    <a:pt x="8652" y="18149"/>
                  </a:moveTo>
                  <a:cubicBezTo>
                    <a:pt x="4636" y="15559"/>
                    <a:pt x="1594" y="11709"/>
                    <a:pt x="0" y="7204"/>
                  </a:cubicBezTo>
                  <a:lnTo>
                    <a:pt x="20363" y="0"/>
                  </a:lnTo>
                  <a:lnTo>
                    <a:pt x="8652" y="18149"/>
                  </a:lnTo>
                  <a:close/>
                </a:path>
              </a:pathLst>
            </a:custGeom>
            <a:noFill/>
            <a:ln w="25400" cap="rnd">
              <a:solidFill>
                <a:srgbClr val="FF3300"/>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95" name="Object 31"/>
            <p:cNvGraphicFramePr>
              <a:graphicFrameLocks noChangeAspect="1"/>
            </p:cNvGraphicFramePr>
            <p:nvPr/>
          </p:nvGraphicFramePr>
          <p:xfrm>
            <a:off x="5154" y="870"/>
            <a:ext cx="150" cy="204"/>
          </p:xfrm>
          <a:graphic>
            <a:graphicData uri="http://schemas.openxmlformats.org/presentationml/2006/ole">
              <mc:AlternateContent xmlns:mc="http://schemas.openxmlformats.org/markup-compatibility/2006">
                <mc:Choice xmlns:v="urn:schemas-microsoft-com:vml" Requires="v">
                  <p:oleObj spid="_x0000_s180347" name="公式" r:id="rId8" imgW="279400" imgH="368300" progId="Equation.3">
                    <p:embed/>
                  </p:oleObj>
                </mc:Choice>
                <mc:Fallback>
                  <p:oleObj name="公式" r:id="rId8" imgW="279400" imgH="368300" progId="Equation.3">
                    <p:embed/>
                    <p:pic>
                      <p:nvPicPr>
                        <p:cNvPr id="0"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54" y="870"/>
                          <a:ext cx="150"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8816" name="Group 32"/>
          <p:cNvGrpSpPr>
            <a:grpSpLocks/>
          </p:cNvGrpSpPr>
          <p:nvPr/>
        </p:nvGrpSpPr>
        <p:grpSpPr bwMode="auto">
          <a:xfrm>
            <a:off x="5154613" y="3252167"/>
            <a:ext cx="350837" cy="1651000"/>
            <a:chOff x="3474" y="906"/>
            <a:chExt cx="221" cy="1040"/>
          </a:xfrm>
        </p:grpSpPr>
        <p:sp>
          <p:nvSpPr>
            <p:cNvPr id="23590" name="Line 33"/>
            <p:cNvSpPr>
              <a:spLocks noChangeShapeType="1"/>
            </p:cNvSpPr>
            <p:nvPr/>
          </p:nvSpPr>
          <p:spPr bwMode="auto">
            <a:xfrm>
              <a:off x="3694" y="1493"/>
              <a:ext cx="0" cy="447"/>
            </a:xfrm>
            <a:prstGeom prst="line">
              <a:avLst/>
            </a:prstGeom>
            <a:noFill/>
            <a:ln w="25400">
              <a:solidFill>
                <a:srgbClr val="FF3300"/>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91" name="Line 34"/>
            <p:cNvSpPr>
              <a:spLocks noChangeShapeType="1"/>
            </p:cNvSpPr>
            <p:nvPr/>
          </p:nvSpPr>
          <p:spPr bwMode="auto">
            <a:xfrm>
              <a:off x="3695" y="1079"/>
              <a:ext cx="0" cy="867"/>
            </a:xfrm>
            <a:prstGeom prst="line">
              <a:avLst/>
            </a:prstGeom>
            <a:noFill/>
            <a:ln w="25400">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92" name="Object 35"/>
            <p:cNvGraphicFramePr>
              <a:graphicFrameLocks noChangeAspect="1"/>
            </p:cNvGraphicFramePr>
            <p:nvPr/>
          </p:nvGraphicFramePr>
          <p:xfrm>
            <a:off x="3474" y="906"/>
            <a:ext cx="136" cy="212"/>
          </p:xfrm>
          <a:graphic>
            <a:graphicData uri="http://schemas.openxmlformats.org/presentationml/2006/ole">
              <mc:AlternateContent xmlns:mc="http://schemas.openxmlformats.org/markup-compatibility/2006">
                <mc:Choice xmlns:v="urn:schemas-microsoft-com:vml" Requires="v">
                  <p:oleObj spid="_x0000_s180348" name="公式" r:id="rId10" imgW="253890" imgH="380835" progId="Equation.3">
                    <p:embed/>
                  </p:oleObj>
                </mc:Choice>
                <mc:Fallback>
                  <p:oleObj name="公式" r:id="rId10" imgW="253890" imgH="380835" progId="Equation.3">
                    <p:embed/>
                    <p:pic>
                      <p:nvPicPr>
                        <p:cNvPr id="0" name="Object 3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74" y="906"/>
                          <a:ext cx="1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8820" name="Group 36"/>
          <p:cNvGrpSpPr>
            <a:grpSpLocks/>
          </p:cNvGrpSpPr>
          <p:nvPr/>
        </p:nvGrpSpPr>
        <p:grpSpPr bwMode="auto">
          <a:xfrm>
            <a:off x="5164138" y="4137992"/>
            <a:ext cx="3127375" cy="1600200"/>
            <a:chOff x="3480" y="912"/>
            <a:chExt cx="1970" cy="1008"/>
          </a:xfrm>
        </p:grpSpPr>
        <p:sp>
          <p:nvSpPr>
            <p:cNvPr id="23585" name="Arc 37"/>
            <p:cNvSpPr>
              <a:spLocks/>
            </p:cNvSpPr>
            <p:nvPr/>
          </p:nvSpPr>
          <p:spPr bwMode="auto">
            <a:xfrm>
              <a:off x="4312" y="912"/>
              <a:ext cx="907" cy="894"/>
            </a:xfrm>
            <a:custGeom>
              <a:avLst/>
              <a:gdLst>
                <a:gd name="T0" fmla="*/ 0 w 10935"/>
                <a:gd name="T1" fmla="*/ 0 h 21587"/>
                <a:gd name="T2" fmla="*/ 0 w 10935"/>
                <a:gd name="T3" fmla="*/ 0 h 21587"/>
                <a:gd name="T4" fmla="*/ 0 w 10935"/>
                <a:gd name="T5" fmla="*/ 0 h 21587"/>
                <a:gd name="T6" fmla="*/ 0 60000 65536"/>
                <a:gd name="T7" fmla="*/ 0 60000 65536"/>
                <a:gd name="T8" fmla="*/ 0 60000 65536"/>
              </a:gdLst>
              <a:ahLst/>
              <a:cxnLst>
                <a:cxn ang="T6">
                  <a:pos x="T0" y="T1"/>
                </a:cxn>
                <a:cxn ang="T7">
                  <a:pos x="T2" y="T3"/>
                </a:cxn>
                <a:cxn ang="T8">
                  <a:pos x="T4" y="T5"/>
                </a:cxn>
              </a:cxnLst>
              <a:rect l="0" t="0" r="r" b="b"/>
              <a:pathLst>
                <a:path w="10935" h="21587" fill="none" extrusionOk="0">
                  <a:moveTo>
                    <a:pt x="10174" y="21586"/>
                  </a:moveTo>
                  <a:cubicBezTo>
                    <a:pt x="6589" y="21460"/>
                    <a:pt x="3093" y="20443"/>
                    <a:pt x="0" y="18627"/>
                  </a:cubicBezTo>
                </a:path>
                <a:path w="10935" h="21587" stroke="0" extrusionOk="0">
                  <a:moveTo>
                    <a:pt x="10174" y="21586"/>
                  </a:moveTo>
                  <a:cubicBezTo>
                    <a:pt x="6589" y="21460"/>
                    <a:pt x="3093" y="20443"/>
                    <a:pt x="0" y="18627"/>
                  </a:cubicBezTo>
                  <a:lnTo>
                    <a:pt x="10935" y="0"/>
                  </a:lnTo>
                  <a:lnTo>
                    <a:pt x="10174" y="21586"/>
                  </a:lnTo>
                  <a:close/>
                </a:path>
              </a:pathLst>
            </a:custGeom>
            <a:noFill/>
            <a:ln w="25400" cap="rnd">
              <a:solidFill>
                <a:srgbClr val="FF3300"/>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3586" name="Group 38"/>
            <p:cNvGrpSpPr>
              <a:grpSpLocks/>
            </p:cNvGrpSpPr>
            <p:nvPr/>
          </p:nvGrpSpPr>
          <p:grpSpPr bwMode="auto">
            <a:xfrm>
              <a:off x="3480" y="912"/>
              <a:ext cx="1970" cy="1008"/>
              <a:chOff x="3480" y="912"/>
              <a:chExt cx="1970" cy="1008"/>
            </a:xfrm>
          </p:grpSpPr>
          <p:sp>
            <p:nvSpPr>
              <p:cNvPr id="23587" name="Arc 39"/>
              <p:cNvSpPr>
                <a:spLocks/>
              </p:cNvSpPr>
              <p:nvPr/>
            </p:nvSpPr>
            <p:spPr bwMode="auto">
              <a:xfrm>
                <a:off x="3699" y="912"/>
                <a:ext cx="1520" cy="894"/>
              </a:xfrm>
              <a:custGeom>
                <a:avLst/>
                <a:gdLst>
                  <a:gd name="T0" fmla="*/ 0 w 18325"/>
                  <a:gd name="T1" fmla="*/ 0 h 21587"/>
                  <a:gd name="T2" fmla="*/ 0 w 18325"/>
                  <a:gd name="T3" fmla="*/ 0 h 21587"/>
                  <a:gd name="T4" fmla="*/ 0 w 18325"/>
                  <a:gd name="T5" fmla="*/ 0 h 21587"/>
                  <a:gd name="T6" fmla="*/ 0 60000 65536"/>
                  <a:gd name="T7" fmla="*/ 0 60000 65536"/>
                  <a:gd name="T8" fmla="*/ 0 60000 65536"/>
                </a:gdLst>
                <a:ahLst/>
                <a:cxnLst>
                  <a:cxn ang="T6">
                    <a:pos x="T0" y="T1"/>
                  </a:cxn>
                  <a:cxn ang="T7">
                    <a:pos x="T2" y="T3"/>
                  </a:cxn>
                  <a:cxn ang="T8">
                    <a:pos x="T4" y="T5"/>
                  </a:cxn>
                </a:cxnLst>
                <a:rect l="0" t="0" r="r" b="b"/>
                <a:pathLst>
                  <a:path w="18325" h="21587" fill="none" extrusionOk="0">
                    <a:moveTo>
                      <a:pt x="17564" y="21586"/>
                    </a:moveTo>
                    <a:cubicBezTo>
                      <a:pt x="10385" y="21333"/>
                      <a:pt x="3802" y="17528"/>
                      <a:pt x="0" y="11434"/>
                    </a:cubicBezTo>
                  </a:path>
                  <a:path w="18325" h="21587" stroke="0" extrusionOk="0">
                    <a:moveTo>
                      <a:pt x="17564" y="21586"/>
                    </a:moveTo>
                    <a:cubicBezTo>
                      <a:pt x="10385" y="21333"/>
                      <a:pt x="3802" y="17528"/>
                      <a:pt x="0" y="11434"/>
                    </a:cubicBezTo>
                    <a:lnTo>
                      <a:pt x="18325" y="0"/>
                    </a:lnTo>
                    <a:lnTo>
                      <a:pt x="17564" y="21586"/>
                    </a:lnTo>
                    <a:close/>
                  </a:path>
                </a:pathLst>
              </a:custGeom>
              <a:noFill/>
              <a:ln w="25400" cap="rnd">
                <a:solidFill>
                  <a:srgbClr val="FF33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88" name="Object 40"/>
              <p:cNvGraphicFramePr>
                <a:graphicFrameLocks noChangeAspect="1"/>
              </p:cNvGraphicFramePr>
              <p:nvPr/>
            </p:nvGraphicFramePr>
            <p:xfrm>
              <a:off x="3480" y="1251"/>
              <a:ext cx="142" cy="204"/>
            </p:xfrm>
            <a:graphic>
              <a:graphicData uri="http://schemas.openxmlformats.org/presentationml/2006/ole">
                <mc:AlternateContent xmlns:mc="http://schemas.openxmlformats.org/markup-compatibility/2006">
                  <mc:Choice xmlns:v="urn:schemas-microsoft-com:vml" Requires="v">
                    <p:oleObj spid="_x0000_s180349" name="公式" r:id="rId12" imgW="266584" imgH="368140" progId="Equation.3">
                      <p:embed/>
                    </p:oleObj>
                  </mc:Choice>
                  <mc:Fallback>
                    <p:oleObj name="公式" r:id="rId12" imgW="266584" imgH="368140" progId="Equation.3">
                      <p:embed/>
                      <p:pic>
                        <p:nvPicPr>
                          <p:cNvPr id="0" name="Object 4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80" y="1251"/>
                            <a:ext cx="142"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89" name="Object 41"/>
              <p:cNvGraphicFramePr>
                <a:graphicFrameLocks noChangeAspect="1"/>
              </p:cNvGraphicFramePr>
              <p:nvPr/>
            </p:nvGraphicFramePr>
            <p:xfrm>
              <a:off x="5335" y="1716"/>
              <a:ext cx="115" cy="204"/>
            </p:xfrm>
            <a:graphic>
              <a:graphicData uri="http://schemas.openxmlformats.org/presentationml/2006/ole">
                <mc:AlternateContent xmlns:mc="http://schemas.openxmlformats.org/markup-compatibility/2006">
                  <mc:Choice xmlns:v="urn:schemas-microsoft-com:vml" Requires="v">
                    <p:oleObj spid="_x0000_s180350" name="公式" r:id="rId14" imgW="215806" imgH="368140" progId="Equation.3">
                      <p:embed/>
                    </p:oleObj>
                  </mc:Choice>
                  <mc:Fallback>
                    <p:oleObj name="公式" r:id="rId14" imgW="215806" imgH="368140" progId="Equation.3">
                      <p:embed/>
                      <p:pic>
                        <p:nvPicPr>
                          <p:cNvPr id="0" name="Object 4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35" y="1716"/>
                            <a:ext cx="115"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18826" name="Group 42"/>
          <p:cNvGrpSpPr>
            <a:grpSpLocks/>
          </p:cNvGrpSpPr>
          <p:nvPr/>
        </p:nvGrpSpPr>
        <p:grpSpPr bwMode="auto">
          <a:xfrm>
            <a:off x="7589838" y="5547692"/>
            <a:ext cx="390525" cy="1409700"/>
            <a:chOff x="5008" y="2352"/>
            <a:chExt cx="246" cy="888"/>
          </a:xfrm>
        </p:grpSpPr>
        <p:sp>
          <p:nvSpPr>
            <p:cNvPr id="23583" name="Line 43"/>
            <p:cNvSpPr>
              <a:spLocks noChangeShapeType="1"/>
            </p:cNvSpPr>
            <p:nvPr/>
          </p:nvSpPr>
          <p:spPr bwMode="auto">
            <a:xfrm>
              <a:off x="5151" y="2352"/>
              <a:ext cx="1" cy="55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84" name="Object 44"/>
            <p:cNvGraphicFramePr>
              <a:graphicFrameLocks noChangeAspect="1"/>
            </p:cNvGraphicFramePr>
            <p:nvPr/>
          </p:nvGraphicFramePr>
          <p:xfrm>
            <a:off x="5008" y="2945"/>
            <a:ext cx="246" cy="295"/>
          </p:xfrm>
          <a:graphic>
            <a:graphicData uri="http://schemas.openxmlformats.org/presentationml/2006/ole">
              <mc:AlternateContent xmlns:mc="http://schemas.openxmlformats.org/markup-compatibility/2006">
                <mc:Choice xmlns:v="urn:schemas-microsoft-com:vml" Requires="v">
                  <p:oleObj spid="_x0000_s180351" name="公式" r:id="rId16" imgW="457002" imgH="533169" progId="Equation.3">
                    <p:embed/>
                  </p:oleObj>
                </mc:Choice>
                <mc:Fallback>
                  <p:oleObj name="公式" r:id="rId16" imgW="457002" imgH="533169" progId="Equation.3">
                    <p:embed/>
                    <p:pic>
                      <p:nvPicPr>
                        <p:cNvPr id="0" name="Object 4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08" y="2945"/>
                          <a:ext cx="246"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8829" name="Group 45"/>
          <p:cNvGrpSpPr>
            <a:grpSpLocks/>
          </p:cNvGrpSpPr>
          <p:nvPr/>
        </p:nvGrpSpPr>
        <p:grpSpPr bwMode="auto">
          <a:xfrm>
            <a:off x="5527675" y="5547692"/>
            <a:ext cx="2273300" cy="401637"/>
            <a:chOff x="3709" y="1800"/>
            <a:chExt cx="1432" cy="253"/>
          </a:xfrm>
        </p:grpSpPr>
        <p:grpSp>
          <p:nvGrpSpPr>
            <p:cNvPr id="23579" name="Group 46"/>
            <p:cNvGrpSpPr>
              <a:grpSpLocks/>
            </p:cNvGrpSpPr>
            <p:nvPr/>
          </p:nvGrpSpPr>
          <p:grpSpPr bwMode="auto">
            <a:xfrm>
              <a:off x="3709" y="1800"/>
              <a:ext cx="1432" cy="0"/>
              <a:chOff x="3709" y="1800"/>
              <a:chExt cx="1432" cy="0"/>
            </a:xfrm>
          </p:grpSpPr>
          <p:sp>
            <p:nvSpPr>
              <p:cNvPr id="23581" name="Line 47"/>
              <p:cNvSpPr>
                <a:spLocks noChangeShapeType="1"/>
              </p:cNvSpPr>
              <p:nvPr/>
            </p:nvSpPr>
            <p:spPr bwMode="auto">
              <a:xfrm>
                <a:off x="3709" y="1800"/>
                <a:ext cx="1432" cy="0"/>
              </a:xfrm>
              <a:prstGeom prst="line">
                <a:avLst/>
              </a:prstGeom>
              <a:noFill/>
              <a:ln w="254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82" name="Line 48"/>
              <p:cNvSpPr>
                <a:spLocks noChangeShapeType="1"/>
              </p:cNvSpPr>
              <p:nvPr/>
            </p:nvSpPr>
            <p:spPr bwMode="auto">
              <a:xfrm>
                <a:off x="3709" y="1800"/>
                <a:ext cx="327" cy="0"/>
              </a:xfrm>
              <a:prstGeom prst="line">
                <a:avLst/>
              </a:prstGeom>
              <a:noFill/>
              <a:ln w="25400">
                <a:solidFill>
                  <a:srgbClr val="FF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23580" name="Object 49"/>
            <p:cNvGraphicFramePr>
              <a:graphicFrameLocks noChangeAspect="1"/>
            </p:cNvGraphicFramePr>
            <p:nvPr/>
          </p:nvGraphicFramePr>
          <p:xfrm>
            <a:off x="3780" y="1843"/>
            <a:ext cx="382" cy="210"/>
          </p:xfrm>
          <a:graphic>
            <a:graphicData uri="http://schemas.openxmlformats.org/presentationml/2006/ole">
              <mc:AlternateContent xmlns:mc="http://schemas.openxmlformats.org/markup-compatibility/2006">
                <mc:Choice xmlns:v="urn:schemas-microsoft-com:vml" Requires="v">
                  <p:oleObj spid="_x0000_s180352" name="公式" r:id="rId18" imgW="901309" imgH="482391" progId="Equation.3">
                    <p:embed/>
                  </p:oleObj>
                </mc:Choice>
                <mc:Fallback>
                  <p:oleObj name="公式" r:id="rId18" imgW="901309" imgH="482391" progId="Equation.3">
                    <p:embed/>
                    <p:pic>
                      <p:nvPicPr>
                        <p:cNvPr id="0" name="Object 4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80" y="1843"/>
                          <a:ext cx="382"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8834" name="Group 50"/>
          <p:cNvGrpSpPr>
            <a:grpSpLocks/>
          </p:cNvGrpSpPr>
          <p:nvPr/>
        </p:nvGrpSpPr>
        <p:grpSpPr bwMode="auto">
          <a:xfrm>
            <a:off x="6419850" y="5547692"/>
            <a:ext cx="614363" cy="390525"/>
            <a:chOff x="4271" y="1800"/>
            <a:chExt cx="387" cy="246"/>
          </a:xfrm>
        </p:grpSpPr>
        <p:sp>
          <p:nvSpPr>
            <p:cNvPr id="23577" name="Line 51"/>
            <p:cNvSpPr>
              <a:spLocks noChangeShapeType="1"/>
            </p:cNvSpPr>
            <p:nvPr/>
          </p:nvSpPr>
          <p:spPr bwMode="auto">
            <a:xfrm>
              <a:off x="4281" y="1800"/>
              <a:ext cx="328" cy="0"/>
            </a:xfrm>
            <a:prstGeom prst="line">
              <a:avLst/>
            </a:prstGeom>
            <a:noFill/>
            <a:ln w="25400">
              <a:solidFill>
                <a:srgbClr val="FF0000"/>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78" name="Object 52"/>
            <p:cNvGraphicFramePr>
              <a:graphicFrameLocks noChangeAspect="1"/>
            </p:cNvGraphicFramePr>
            <p:nvPr/>
          </p:nvGraphicFramePr>
          <p:xfrm>
            <a:off x="4271" y="1836"/>
            <a:ext cx="387" cy="210"/>
          </p:xfrm>
          <a:graphic>
            <a:graphicData uri="http://schemas.openxmlformats.org/presentationml/2006/ole">
              <mc:AlternateContent xmlns:mc="http://schemas.openxmlformats.org/markup-compatibility/2006">
                <mc:Choice xmlns:v="urn:schemas-microsoft-com:vml" Requires="v">
                  <p:oleObj spid="_x0000_s180353" name="公式" r:id="rId20" imgW="914400" imgH="482600" progId="Equation.3">
                    <p:embed/>
                  </p:oleObj>
                </mc:Choice>
                <mc:Fallback>
                  <p:oleObj name="公式" r:id="rId20" imgW="914400" imgH="482600" progId="Equation.3">
                    <p:embed/>
                    <p:pic>
                      <p:nvPicPr>
                        <p:cNvPr id="0" name="Object 5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71" y="1836"/>
                          <a:ext cx="387"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8837" name="Group 53"/>
          <p:cNvGrpSpPr>
            <a:grpSpLocks/>
          </p:cNvGrpSpPr>
          <p:nvPr/>
        </p:nvGrpSpPr>
        <p:grpSpPr bwMode="auto">
          <a:xfrm>
            <a:off x="6105525" y="3398217"/>
            <a:ext cx="1641475" cy="1879600"/>
            <a:chOff x="4118" y="446"/>
            <a:chExt cx="989" cy="1184"/>
          </a:xfrm>
        </p:grpSpPr>
        <p:sp>
          <p:nvSpPr>
            <p:cNvPr id="23574" name="Line 54"/>
            <p:cNvSpPr>
              <a:spLocks noChangeShapeType="1"/>
            </p:cNvSpPr>
            <p:nvPr/>
          </p:nvSpPr>
          <p:spPr bwMode="auto">
            <a:xfrm flipV="1">
              <a:off x="4118" y="700"/>
              <a:ext cx="654" cy="127"/>
            </a:xfrm>
            <a:prstGeom prst="line">
              <a:avLst/>
            </a:prstGeom>
            <a:noFill/>
            <a:ln w="1905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5" name="Line 55"/>
            <p:cNvSpPr>
              <a:spLocks noChangeShapeType="1"/>
            </p:cNvSpPr>
            <p:nvPr/>
          </p:nvSpPr>
          <p:spPr bwMode="auto">
            <a:xfrm flipV="1">
              <a:off x="4200" y="700"/>
              <a:ext cx="572" cy="930"/>
            </a:xfrm>
            <a:prstGeom prst="line">
              <a:avLst/>
            </a:prstGeom>
            <a:noFill/>
            <a:ln w="1905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76" name="Object 56"/>
            <p:cNvGraphicFramePr>
              <a:graphicFrameLocks noChangeAspect="1"/>
            </p:cNvGraphicFramePr>
            <p:nvPr/>
          </p:nvGraphicFramePr>
          <p:xfrm>
            <a:off x="4527" y="446"/>
            <a:ext cx="580" cy="210"/>
          </p:xfrm>
          <a:graphic>
            <a:graphicData uri="http://schemas.openxmlformats.org/presentationml/2006/ole">
              <mc:AlternateContent xmlns:mc="http://schemas.openxmlformats.org/markup-compatibility/2006">
                <mc:Choice xmlns:v="urn:schemas-microsoft-com:vml" Requires="v">
                  <p:oleObj spid="_x0000_s180354" name="公式" r:id="rId22" imgW="1371600" imgH="482600" progId="Equation.3">
                    <p:embed/>
                  </p:oleObj>
                </mc:Choice>
                <mc:Fallback>
                  <p:oleObj name="公式" r:id="rId22" imgW="1371600" imgH="482600" progId="Equation.3">
                    <p:embed/>
                    <p:pic>
                      <p:nvPicPr>
                        <p:cNvPr id="0" name="Object 5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527" y="446"/>
                          <a:ext cx="580"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8841" name="Group 57"/>
          <p:cNvGrpSpPr>
            <a:grpSpLocks/>
          </p:cNvGrpSpPr>
          <p:nvPr/>
        </p:nvGrpSpPr>
        <p:grpSpPr bwMode="auto">
          <a:xfrm>
            <a:off x="4211638" y="3382913"/>
            <a:ext cx="4511675" cy="3646487"/>
            <a:chOff x="2880" y="362"/>
            <a:chExt cx="2842" cy="2297"/>
          </a:xfrm>
        </p:grpSpPr>
        <p:grpSp>
          <p:nvGrpSpPr>
            <p:cNvPr id="23568" name="Group 58"/>
            <p:cNvGrpSpPr>
              <a:grpSpLocks/>
            </p:cNvGrpSpPr>
            <p:nvPr/>
          </p:nvGrpSpPr>
          <p:grpSpPr bwMode="auto">
            <a:xfrm>
              <a:off x="2880" y="362"/>
              <a:ext cx="2842" cy="2297"/>
              <a:chOff x="2880" y="362"/>
              <a:chExt cx="2842" cy="2297"/>
            </a:xfrm>
          </p:grpSpPr>
          <p:sp>
            <p:nvSpPr>
              <p:cNvPr id="23570" name="Line 59"/>
              <p:cNvSpPr>
                <a:spLocks noChangeShapeType="1"/>
              </p:cNvSpPr>
              <p:nvPr/>
            </p:nvSpPr>
            <p:spPr bwMode="auto">
              <a:xfrm>
                <a:off x="3218" y="2350"/>
                <a:ext cx="2414"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1" name="Line 60"/>
              <p:cNvSpPr>
                <a:spLocks noChangeShapeType="1"/>
              </p:cNvSpPr>
              <p:nvPr/>
            </p:nvSpPr>
            <p:spPr bwMode="auto">
              <a:xfrm flipV="1">
                <a:off x="3218" y="364"/>
                <a:ext cx="0" cy="1986"/>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72" name="Object 61"/>
              <p:cNvGraphicFramePr>
                <a:graphicFrameLocks noChangeAspect="1"/>
              </p:cNvGraphicFramePr>
              <p:nvPr/>
            </p:nvGraphicFramePr>
            <p:xfrm>
              <a:off x="5511" y="2434"/>
              <a:ext cx="211" cy="225"/>
            </p:xfrm>
            <a:graphic>
              <a:graphicData uri="http://schemas.openxmlformats.org/presentationml/2006/ole">
                <mc:AlternateContent xmlns:mc="http://schemas.openxmlformats.org/markup-compatibility/2006">
                  <mc:Choice xmlns:v="urn:schemas-microsoft-com:vml" Requires="v">
                    <p:oleObj spid="_x0000_s180355" name="公式" r:id="rId24" imgW="393359" imgH="406048" progId="Equation.3">
                      <p:embed/>
                    </p:oleObj>
                  </mc:Choice>
                  <mc:Fallback>
                    <p:oleObj name="公式" r:id="rId24" imgW="393359" imgH="406048" progId="Equation.3">
                      <p:embed/>
                      <p:pic>
                        <p:nvPicPr>
                          <p:cNvPr id="0" name="Object 6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511" y="2434"/>
                            <a:ext cx="211"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73" name="Object 62"/>
              <p:cNvGraphicFramePr>
                <a:graphicFrameLocks noChangeAspect="1"/>
              </p:cNvGraphicFramePr>
              <p:nvPr/>
            </p:nvGraphicFramePr>
            <p:xfrm>
              <a:off x="2880" y="362"/>
              <a:ext cx="211" cy="218"/>
            </p:xfrm>
            <a:graphic>
              <a:graphicData uri="http://schemas.openxmlformats.org/presentationml/2006/ole">
                <mc:AlternateContent xmlns:mc="http://schemas.openxmlformats.org/markup-compatibility/2006">
                  <mc:Choice xmlns:v="urn:schemas-microsoft-com:vml" Requires="v">
                    <p:oleObj spid="_x0000_s180356" name="公式" r:id="rId26" imgW="393529" imgH="393529" progId="Equation.3">
                      <p:embed/>
                    </p:oleObj>
                  </mc:Choice>
                  <mc:Fallback>
                    <p:oleObj name="公式" r:id="rId26" imgW="393529" imgH="393529" progId="Equation.3">
                      <p:embed/>
                      <p:pic>
                        <p:nvPicPr>
                          <p:cNvPr id="0" name="Object 6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880" y="362"/>
                            <a:ext cx="211"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3569" name="Object 63"/>
            <p:cNvGraphicFramePr>
              <a:graphicFrameLocks noChangeAspect="1"/>
            </p:cNvGraphicFramePr>
            <p:nvPr/>
          </p:nvGraphicFramePr>
          <p:xfrm>
            <a:off x="3024" y="2352"/>
            <a:ext cx="159" cy="176"/>
          </p:xfrm>
          <a:graphic>
            <a:graphicData uri="http://schemas.openxmlformats.org/presentationml/2006/ole">
              <mc:AlternateContent xmlns:mc="http://schemas.openxmlformats.org/markup-compatibility/2006">
                <mc:Choice xmlns:v="urn:schemas-microsoft-com:vml" Requires="v">
                  <p:oleObj spid="_x0000_s180357" name="公式" r:id="rId28" imgW="253890" imgH="279279" progId="Equation.3">
                    <p:embed/>
                  </p:oleObj>
                </mc:Choice>
                <mc:Fallback>
                  <p:oleObj name="公式" r:id="rId28" imgW="253890" imgH="279279" progId="Equation.3">
                    <p:embed/>
                    <p:pic>
                      <p:nvPicPr>
                        <p:cNvPr id="0" name="Object 63"/>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024" y="2352"/>
                          <a:ext cx="159"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50" name="Picture 10" descr="2211">
            <a:hlinkClick r:id="rId30" action="ppaction://hlinkfile"/>
          </p:cNvPr>
          <p:cNvPicPr>
            <a:picLocks noChangeAspect="1" noChangeArrowheads="1"/>
          </p:cNvPicPr>
          <p:nvPr/>
        </p:nvPicPr>
        <p:blipFill rotWithShape="1">
          <a:blip r:embed="rId31">
            <a:extLst>
              <a:ext uri="{28A0092B-C50C-407E-A947-70E740481C1C}">
                <a14:useLocalDpi xmlns:a14="http://schemas.microsoft.com/office/drawing/2010/main" val="0"/>
              </a:ext>
            </a:extLst>
          </a:blip>
          <a:srcRect r="1726" b="4130"/>
          <a:stretch/>
        </p:blipFill>
        <p:spPr>
          <a:xfrm>
            <a:off x="36233" y="126087"/>
            <a:ext cx="8676011" cy="2893010"/>
          </a:xfrm>
          <a:prstGeom prst="rect">
            <a:avLst/>
          </a:prstGeom>
        </p:spPr>
      </p:pic>
      <p:sp>
        <p:nvSpPr>
          <p:cNvPr id="2" name="TextBox 1"/>
          <p:cNvSpPr txBox="1"/>
          <p:nvPr/>
        </p:nvSpPr>
        <p:spPr>
          <a:xfrm>
            <a:off x="431756" y="3017217"/>
            <a:ext cx="7761700" cy="400110"/>
          </a:xfrm>
          <a:prstGeom prst="rect">
            <a:avLst/>
          </a:prstGeom>
          <a:noFill/>
        </p:spPr>
        <p:txBody>
          <a:bodyPr wrap="square" rtlCol="0">
            <a:spAutoFit/>
          </a:bodyPr>
          <a:lstStyle/>
          <a:p>
            <a:r>
              <a:rPr lang="zh-CN" altLang="en-US" b="1" dirty="0">
                <a:solidFill>
                  <a:srgbClr val="3333FF"/>
                </a:solidFill>
              </a:rPr>
              <a:t>吸气过程        压缩过程      爆炸过程        做功过程         排气过程</a:t>
            </a:r>
          </a:p>
        </p:txBody>
      </p:sp>
      <p:sp>
        <p:nvSpPr>
          <p:cNvPr id="3" name="矩形 2">
            <a:hlinkClick r:id="rId32"/>
          </p:cNvPr>
          <p:cNvSpPr/>
          <p:nvPr/>
        </p:nvSpPr>
        <p:spPr>
          <a:xfrm>
            <a:off x="131569" y="5555123"/>
            <a:ext cx="3762569" cy="707886"/>
          </a:xfrm>
          <a:prstGeom prst="rect">
            <a:avLst/>
          </a:prstGeom>
        </p:spPr>
        <p:txBody>
          <a:bodyPr wrap="none">
            <a:spAutoFit/>
          </a:bodyPr>
          <a:lstStyle/>
          <a:p>
            <a:r>
              <a:rPr lang="en-US" altLang="zh-CN" sz="4000" b="1" dirty="0">
                <a:solidFill>
                  <a:srgbClr val="FF0066"/>
                </a:solidFill>
              </a:rPr>
              <a:t>Gasoline Engine</a:t>
            </a:r>
            <a:endParaRPr lang="zh-CN" altLang="en-US" sz="4000" b="1" dirty="0">
              <a:solidFill>
                <a:srgbClr val="FF0066"/>
              </a:solidFill>
            </a:endParaRPr>
          </a:p>
        </p:txBody>
      </p:sp>
      <p:sp>
        <p:nvSpPr>
          <p:cNvPr id="4" name="矩形 3">
            <a:hlinkClick r:id="rId33"/>
          </p:cNvPr>
          <p:cNvSpPr/>
          <p:nvPr/>
        </p:nvSpPr>
        <p:spPr>
          <a:xfrm>
            <a:off x="-25098" y="6369293"/>
            <a:ext cx="4572000" cy="369332"/>
          </a:xfrm>
          <a:prstGeom prst="rect">
            <a:avLst/>
          </a:prstGeom>
        </p:spPr>
        <p:txBody>
          <a:bodyPr>
            <a:spAutoFit/>
          </a:bodyPr>
          <a:lstStyle/>
          <a:p>
            <a:r>
              <a:rPr lang="zh-CN" altLang="en-US" sz="1800" dirty="0"/>
              <a:t>http://www.animatedengines.com/otto.html</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nodeType="clickEffect">
                                  <p:stCondLst>
                                    <p:cond delay="0"/>
                                  </p:stCondLst>
                                  <p:childTnLst>
                                    <p:set>
                                      <p:cBhvr>
                                        <p:cTn id="14" dur="1" fill="hold">
                                          <p:stCondLst>
                                            <p:cond delay="0"/>
                                          </p:stCondLst>
                                        </p:cTn>
                                        <p:tgtEl>
                                          <p:spTgt spid="118841"/>
                                        </p:tgtEl>
                                        <p:attrNameLst>
                                          <p:attrName>style.visibility</p:attrName>
                                        </p:attrNameLst>
                                      </p:cBhvr>
                                      <p:to>
                                        <p:strVal val="visible"/>
                                      </p:to>
                                    </p:set>
                                    <p:animEffect transition="in" filter="strips(downRight)">
                                      <p:cBhvr>
                                        <p:cTn id="15" dur="500"/>
                                        <p:tgtEl>
                                          <p:spTgt spid="118841"/>
                                        </p:tgtEl>
                                      </p:cBhvr>
                                    </p:animEffect>
                                  </p:childTnLst>
                                </p:cTn>
                              </p:par>
                            </p:childTnLst>
                          </p:cTn>
                        </p:par>
                      </p:childTnLst>
                    </p:cTn>
                  </p:par>
                  <p:par>
                    <p:cTn id="16" fill="hold">
                      <p:stCondLst>
                        <p:cond delay="indefinite"/>
                      </p:stCondLst>
                      <p:childTnLst>
                        <p:par>
                          <p:cTn id="17" fill="hold">
                            <p:stCondLst>
                              <p:cond delay="0"/>
                            </p:stCondLst>
                            <p:childTnLst>
                              <p:par>
                                <p:cTn id="18" presetID="23" presetClass="entr" presetSubtype="288" fill="hold" nodeType="clickEffect">
                                  <p:stCondLst>
                                    <p:cond delay="0"/>
                                  </p:stCondLst>
                                  <p:childTnLst>
                                    <p:set>
                                      <p:cBhvr>
                                        <p:cTn id="19" dur="1" fill="hold">
                                          <p:stCondLst>
                                            <p:cond delay="0"/>
                                          </p:stCondLst>
                                        </p:cTn>
                                        <p:tgtEl>
                                          <p:spTgt spid="118806"/>
                                        </p:tgtEl>
                                        <p:attrNameLst>
                                          <p:attrName>style.visibility</p:attrName>
                                        </p:attrNameLst>
                                      </p:cBhvr>
                                      <p:to>
                                        <p:strVal val="visible"/>
                                      </p:to>
                                    </p:set>
                                    <p:anim calcmode="lin" valueType="num">
                                      <p:cBhvr>
                                        <p:cTn id="20" dur="500" fill="hold"/>
                                        <p:tgtEl>
                                          <p:spTgt spid="118806"/>
                                        </p:tgtEl>
                                        <p:attrNameLst>
                                          <p:attrName>ppt_w</p:attrName>
                                        </p:attrNameLst>
                                      </p:cBhvr>
                                      <p:tavLst>
                                        <p:tav tm="0">
                                          <p:val>
                                            <p:strVal val="4/3*#ppt_w"/>
                                          </p:val>
                                        </p:tav>
                                        <p:tav tm="100000">
                                          <p:val>
                                            <p:strVal val="#ppt_w"/>
                                          </p:val>
                                        </p:tav>
                                      </p:tavLst>
                                    </p:anim>
                                    <p:anim calcmode="lin" valueType="num">
                                      <p:cBhvr>
                                        <p:cTn id="21" dur="500" fill="hold"/>
                                        <p:tgtEl>
                                          <p:spTgt spid="118806"/>
                                        </p:tgtEl>
                                        <p:attrNameLst>
                                          <p:attrName>ppt_h</p:attrName>
                                        </p:attrNameLst>
                                      </p:cBhvr>
                                      <p:tavLst>
                                        <p:tav tm="0">
                                          <p:val>
                                            <p:strVal val="4/3*#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18829"/>
                                        </p:tgtEl>
                                        <p:attrNameLst>
                                          <p:attrName>style.visibility</p:attrName>
                                        </p:attrNameLst>
                                      </p:cBhvr>
                                      <p:to>
                                        <p:strVal val="visible"/>
                                      </p:to>
                                    </p:set>
                                    <p:animEffect transition="in" filter="wipe(left)">
                                      <p:cBhvr>
                                        <p:cTn id="26" dur="500"/>
                                        <p:tgtEl>
                                          <p:spTgt spid="11882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18826"/>
                                        </p:tgtEl>
                                        <p:attrNameLst>
                                          <p:attrName>style.visibility</p:attrName>
                                        </p:attrNameLst>
                                      </p:cBhvr>
                                      <p:to>
                                        <p:strVal val="visible"/>
                                      </p:to>
                                    </p:set>
                                    <p:animEffect transition="in" filter="wipe(up)">
                                      <p:cBhvr>
                                        <p:cTn id="31" dur="500"/>
                                        <p:tgtEl>
                                          <p:spTgt spid="11882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18820"/>
                                        </p:tgtEl>
                                        <p:attrNameLst>
                                          <p:attrName>style.visibility</p:attrName>
                                        </p:attrNameLst>
                                      </p:cBhvr>
                                      <p:to>
                                        <p:strVal val="visible"/>
                                      </p:to>
                                    </p:set>
                                    <p:animEffect transition="in" filter="wipe(right)">
                                      <p:cBhvr>
                                        <p:cTn id="36" dur="500"/>
                                        <p:tgtEl>
                                          <p:spTgt spid="11882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18809"/>
                                        </p:tgtEl>
                                        <p:attrNameLst>
                                          <p:attrName>style.visibility</p:attrName>
                                        </p:attrNameLst>
                                      </p:cBhvr>
                                      <p:to>
                                        <p:strVal val="visible"/>
                                      </p:to>
                                    </p:set>
                                    <p:animEffect transition="in" filter="wipe(up)">
                                      <p:cBhvr>
                                        <p:cTn id="41" dur="500"/>
                                        <p:tgtEl>
                                          <p:spTgt spid="11880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18816"/>
                                        </p:tgtEl>
                                        <p:attrNameLst>
                                          <p:attrName>style.visibility</p:attrName>
                                        </p:attrNameLst>
                                      </p:cBhvr>
                                      <p:to>
                                        <p:strVal val="visible"/>
                                      </p:to>
                                    </p:set>
                                    <p:animEffect transition="in" filter="wipe(down)">
                                      <p:cBhvr>
                                        <p:cTn id="46" dur="500"/>
                                        <p:tgtEl>
                                          <p:spTgt spid="11881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18812"/>
                                        </p:tgtEl>
                                        <p:attrNameLst>
                                          <p:attrName>style.visibility</p:attrName>
                                        </p:attrNameLst>
                                      </p:cBhvr>
                                      <p:to>
                                        <p:strVal val="visible"/>
                                      </p:to>
                                    </p:set>
                                    <p:animEffect transition="in" filter="wipe(left)">
                                      <p:cBhvr>
                                        <p:cTn id="51" dur="500"/>
                                        <p:tgtEl>
                                          <p:spTgt spid="11881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118803"/>
                                        </p:tgtEl>
                                        <p:attrNameLst>
                                          <p:attrName>style.visibility</p:attrName>
                                        </p:attrNameLst>
                                      </p:cBhvr>
                                      <p:to>
                                        <p:strVal val="visible"/>
                                      </p:to>
                                    </p:set>
                                    <p:animEffect transition="in" filter="wipe(up)">
                                      <p:cBhvr>
                                        <p:cTn id="56" dur="500"/>
                                        <p:tgtEl>
                                          <p:spTgt spid="11880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118834"/>
                                        </p:tgtEl>
                                        <p:attrNameLst>
                                          <p:attrName>style.visibility</p:attrName>
                                        </p:attrNameLst>
                                      </p:cBhvr>
                                      <p:to>
                                        <p:strVal val="visible"/>
                                      </p:to>
                                    </p:set>
                                    <p:animEffect transition="in" filter="wipe(right)">
                                      <p:cBhvr>
                                        <p:cTn id="61" dur="500"/>
                                        <p:tgtEl>
                                          <p:spTgt spid="11883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118837"/>
                                        </p:tgtEl>
                                        <p:attrNameLst>
                                          <p:attrName>style.visibility</p:attrName>
                                        </p:attrNameLst>
                                      </p:cBhvr>
                                      <p:to>
                                        <p:strVal val="visible"/>
                                      </p:to>
                                    </p:set>
                                    <p:animEffect transition="in" filter="wipe(up)">
                                      <p:cBhvr>
                                        <p:cTn id="66" dur="500"/>
                                        <p:tgtEl>
                                          <p:spTgt spid="118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4" name="Text Box 4"/>
          <p:cNvSpPr txBox="1">
            <a:spLocks noChangeArrowheads="1"/>
          </p:cNvSpPr>
          <p:nvPr/>
        </p:nvSpPr>
        <p:spPr bwMode="auto">
          <a:xfrm>
            <a:off x="152400" y="404813"/>
            <a:ext cx="114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a:solidFill>
                  <a:srgbClr val="FF0000"/>
                </a:solidFill>
                <a:latin typeface="Century Schoolbook" pitchFamily="18" charset="0"/>
              </a:rPr>
              <a:t>解：</a:t>
            </a:r>
          </a:p>
        </p:txBody>
      </p:sp>
      <p:sp>
        <p:nvSpPr>
          <p:cNvPr id="128005" name="Text Box 5"/>
          <p:cNvSpPr txBox="1">
            <a:spLocks noChangeArrowheads="1"/>
          </p:cNvSpPr>
          <p:nvPr/>
        </p:nvSpPr>
        <p:spPr bwMode="auto">
          <a:xfrm>
            <a:off x="838200" y="419100"/>
            <a:ext cx="3848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800">
                <a:latin typeface="Century Schoolbook" pitchFamily="18" charset="0"/>
              </a:rPr>
              <a:t>2</a:t>
            </a:r>
            <a:r>
              <a:rPr lang="en-US" altLang="zh-CN" sz="2800">
                <a:latin typeface="Symbol" pitchFamily="18" charset="2"/>
              </a:rPr>
              <a:t>-</a:t>
            </a:r>
            <a:r>
              <a:rPr lang="en-US" altLang="zh-CN" sz="2800">
                <a:latin typeface="Century Schoolbook" pitchFamily="18" charset="0"/>
              </a:rPr>
              <a:t>3</a:t>
            </a:r>
            <a:r>
              <a:rPr lang="zh-CN" altLang="en-US" sz="2800" b="1">
                <a:latin typeface="Century Schoolbook" pitchFamily="18" charset="0"/>
              </a:rPr>
              <a:t>为等容吸热过程</a:t>
            </a:r>
          </a:p>
        </p:txBody>
      </p:sp>
      <p:graphicFrame>
        <p:nvGraphicFramePr>
          <p:cNvPr id="128006" name="Object 6"/>
          <p:cNvGraphicFramePr>
            <a:graphicFrameLocks noChangeAspect="1"/>
          </p:cNvGraphicFramePr>
          <p:nvPr>
            <p:extLst>
              <p:ext uri="{D42A27DB-BD31-4B8C-83A1-F6EECF244321}">
                <p14:modId xmlns:p14="http://schemas.microsoft.com/office/powerpoint/2010/main" val="3463820965"/>
              </p:ext>
            </p:extLst>
          </p:nvPr>
        </p:nvGraphicFramePr>
        <p:xfrm>
          <a:off x="838516" y="1160002"/>
          <a:ext cx="2968535" cy="559514"/>
        </p:xfrm>
        <a:graphic>
          <a:graphicData uri="http://schemas.openxmlformats.org/presentationml/2006/ole">
            <mc:AlternateContent xmlns:mc="http://schemas.openxmlformats.org/markup-compatibility/2006">
              <mc:Choice xmlns:v="urn:schemas-microsoft-com:vml" Requires="v">
                <p:oleObj spid="_x0000_s181359" name="Equation" r:id="rId3" imgW="1282700" imgH="241300" progId="Equation.DSMT4">
                  <p:embed/>
                </p:oleObj>
              </mc:Choice>
              <mc:Fallback>
                <p:oleObj name="Equation" r:id="rId3" imgW="1282700" imgH="2413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516" y="1160002"/>
                        <a:ext cx="2968535" cy="559514"/>
                      </a:xfrm>
                      <a:prstGeom prst="rect">
                        <a:avLst/>
                      </a:prstGeom>
                      <a:noFill/>
                      <a:ln>
                        <a:noFill/>
                      </a:ln>
                      <a:effectLst/>
                      <a:extLst/>
                    </p:spPr>
                  </p:pic>
                </p:oleObj>
              </mc:Fallback>
            </mc:AlternateContent>
          </a:graphicData>
        </a:graphic>
      </p:graphicFrame>
      <p:sp>
        <p:nvSpPr>
          <p:cNvPr id="128007" name="Text Box 7"/>
          <p:cNvSpPr txBox="1">
            <a:spLocks noChangeArrowheads="1"/>
          </p:cNvSpPr>
          <p:nvPr/>
        </p:nvSpPr>
        <p:spPr bwMode="auto">
          <a:xfrm>
            <a:off x="762000" y="1831975"/>
            <a:ext cx="3695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800">
                <a:latin typeface="Century Schoolbook" pitchFamily="18" charset="0"/>
              </a:rPr>
              <a:t>4</a:t>
            </a:r>
            <a:r>
              <a:rPr lang="en-US" altLang="zh-CN" sz="2800">
                <a:latin typeface="Symbol" pitchFamily="18" charset="2"/>
              </a:rPr>
              <a:t>-</a:t>
            </a:r>
            <a:r>
              <a:rPr lang="en-US" altLang="zh-CN" sz="2800">
                <a:latin typeface="Century Schoolbook" pitchFamily="18" charset="0"/>
              </a:rPr>
              <a:t>1</a:t>
            </a:r>
            <a:r>
              <a:rPr lang="zh-CN" altLang="en-US" sz="2800" b="1">
                <a:latin typeface="Century Schoolbook" pitchFamily="18" charset="0"/>
              </a:rPr>
              <a:t>为等容放热过程</a:t>
            </a:r>
          </a:p>
        </p:txBody>
      </p:sp>
      <p:graphicFrame>
        <p:nvGraphicFramePr>
          <p:cNvPr id="128008" name="Object 8"/>
          <p:cNvGraphicFramePr>
            <a:graphicFrameLocks noChangeAspect="1"/>
          </p:cNvGraphicFramePr>
          <p:nvPr>
            <p:extLst>
              <p:ext uri="{D42A27DB-BD31-4B8C-83A1-F6EECF244321}">
                <p14:modId xmlns:p14="http://schemas.microsoft.com/office/powerpoint/2010/main" val="928445006"/>
              </p:ext>
            </p:extLst>
          </p:nvPr>
        </p:nvGraphicFramePr>
        <p:xfrm>
          <a:off x="815657" y="2346468"/>
          <a:ext cx="3078742" cy="579295"/>
        </p:xfrm>
        <a:graphic>
          <a:graphicData uri="http://schemas.openxmlformats.org/presentationml/2006/ole">
            <mc:AlternateContent xmlns:mc="http://schemas.openxmlformats.org/markup-compatibility/2006">
              <mc:Choice xmlns:v="urn:schemas-microsoft-com:vml" Requires="v">
                <p:oleObj spid="_x0000_s181360" name="Equation" r:id="rId5" imgW="1282700" imgH="241300" progId="Equation.DSMT4">
                  <p:embed/>
                </p:oleObj>
              </mc:Choice>
              <mc:Fallback>
                <p:oleObj name="Equation" r:id="rId5" imgW="1282700" imgH="2413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5657" y="2346468"/>
                        <a:ext cx="3078742" cy="579295"/>
                      </a:xfrm>
                      <a:prstGeom prst="rect">
                        <a:avLst/>
                      </a:prstGeom>
                      <a:noFill/>
                      <a:ln>
                        <a:noFill/>
                      </a:ln>
                      <a:effectLst/>
                      <a:extLst/>
                    </p:spPr>
                  </p:pic>
                </p:oleObj>
              </mc:Fallback>
            </mc:AlternateContent>
          </a:graphicData>
        </a:graphic>
      </p:graphicFrame>
      <p:sp>
        <p:nvSpPr>
          <p:cNvPr id="128009" name="Text Box 9"/>
          <p:cNvSpPr txBox="1">
            <a:spLocks noChangeArrowheads="1"/>
          </p:cNvSpPr>
          <p:nvPr/>
        </p:nvSpPr>
        <p:spPr bwMode="auto">
          <a:xfrm>
            <a:off x="152400" y="3141663"/>
            <a:ext cx="1219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a:latin typeface="Century Schoolbook" pitchFamily="18" charset="0"/>
              </a:rPr>
              <a:t>效率</a:t>
            </a:r>
          </a:p>
        </p:txBody>
      </p:sp>
      <p:graphicFrame>
        <p:nvGraphicFramePr>
          <p:cNvPr id="128010" name="Object 10"/>
          <p:cNvGraphicFramePr>
            <a:graphicFrameLocks noChangeAspect="1"/>
          </p:cNvGraphicFramePr>
          <p:nvPr>
            <p:extLst>
              <p:ext uri="{D42A27DB-BD31-4B8C-83A1-F6EECF244321}">
                <p14:modId xmlns:p14="http://schemas.microsoft.com/office/powerpoint/2010/main" val="619465539"/>
              </p:ext>
            </p:extLst>
          </p:nvPr>
        </p:nvGraphicFramePr>
        <p:xfrm>
          <a:off x="1143000" y="3129802"/>
          <a:ext cx="1779832" cy="914210"/>
        </p:xfrm>
        <a:graphic>
          <a:graphicData uri="http://schemas.openxmlformats.org/presentationml/2006/ole">
            <mc:AlternateContent xmlns:mc="http://schemas.openxmlformats.org/markup-compatibility/2006">
              <mc:Choice xmlns:v="urn:schemas-microsoft-com:vml" Requires="v">
                <p:oleObj spid="_x0000_s181361" name="公式" r:id="rId7" imgW="2374900" imgH="1219200" progId="Equation.3">
                  <p:embed/>
                </p:oleObj>
              </mc:Choice>
              <mc:Fallback>
                <p:oleObj name="公式" r:id="rId7" imgW="2374900" imgH="12192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3129802"/>
                        <a:ext cx="1779832" cy="914210"/>
                      </a:xfrm>
                      <a:prstGeom prst="rect">
                        <a:avLst/>
                      </a:prstGeom>
                      <a:noFill/>
                      <a:ln>
                        <a:noFill/>
                      </a:ln>
                      <a:effectLst/>
                      <a:extLst/>
                    </p:spPr>
                  </p:pic>
                </p:oleObj>
              </mc:Fallback>
            </mc:AlternateContent>
          </a:graphicData>
        </a:graphic>
      </p:graphicFrame>
      <p:graphicFrame>
        <p:nvGraphicFramePr>
          <p:cNvPr id="128011" name="Object 11"/>
          <p:cNvGraphicFramePr>
            <a:graphicFrameLocks noChangeAspect="1"/>
          </p:cNvGraphicFramePr>
          <p:nvPr>
            <p:extLst>
              <p:ext uri="{D42A27DB-BD31-4B8C-83A1-F6EECF244321}">
                <p14:modId xmlns:p14="http://schemas.microsoft.com/office/powerpoint/2010/main" val="1053837821"/>
              </p:ext>
            </p:extLst>
          </p:nvPr>
        </p:nvGraphicFramePr>
        <p:xfrm>
          <a:off x="3225800" y="3144089"/>
          <a:ext cx="2589195" cy="1004991"/>
        </p:xfrm>
        <a:graphic>
          <a:graphicData uri="http://schemas.openxmlformats.org/presentationml/2006/ole">
            <mc:AlternateContent xmlns:mc="http://schemas.openxmlformats.org/markup-compatibility/2006">
              <mc:Choice xmlns:v="urn:schemas-microsoft-com:vml" Requires="v">
                <p:oleObj spid="_x0000_s181362" name="Equation" r:id="rId9" imgW="1308100" imgH="508000" progId="Equation.DSMT4">
                  <p:embed/>
                </p:oleObj>
              </mc:Choice>
              <mc:Fallback>
                <p:oleObj name="Equation" r:id="rId9" imgW="1308100" imgH="5080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25800" y="3144089"/>
                        <a:ext cx="2589195" cy="1004991"/>
                      </a:xfrm>
                      <a:prstGeom prst="rect">
                        <a:avLst/>
                      </a:prstGeom>
                      <a:noFill/>
                      <a:ln>
                        <a:noFill/>
                      </a:ln>
                      <a:effectLst/>
                      <a:extLst/>
                    </p:spPr>
                  </p:pic>
                </p:oleObj>
              </mc:Fallback>
            </mc:AlternateContent>
          </a:graphicData>
        </a:graphic>
      </p:graphicFrame>
      <p:graphicFrame>
        <p:nvGraphicFramePr>
          <p:cNvPr id="128012" name="Object 12"/>
          <p:cNvGraphicFramePr>
            <a:graphicFrameLocks noChangeAspect="1"/>
          </p:cNvGraphicFramePr>
          <p:nvPr>
            <p:extLst>
              <p:ext uri="{D42A27DB-BD31-4B8C-83A1-F6EECF244321}">
                <p14:modId xmlns:p14="http://schemas.microsoft.com/office/powerpoint/2010/main" val="472988370"/>
              </p:ext>
            </p:extLst>
          </p:nvPr>
        </p:nvGraphicFramePr>
        <p:xfrm>
          <a:off x="6324600" y="3282201"/>
          <a:ext cx="1657085" cy="823428"/>
        </p:xfrm>
        <a:graphic>
          <a:graphicData uri="http://schemas.openxmlformats.org/presentationml/2006/ole">
            <mc:AlternateContent xmlns:mc="http://schemas.openxmlformats.org/markup-compatibility/2006">
              <mc:Choice xmlns:v="urn:schemas-microsoft-com:vml" Requires="v">
                <p:oleObj spid="_x0000_s181363" name="公式" r:id="rId11" imgW="2349500" imgH="1168400" progId="Equation.3">
                  <p:embed/>
                </p:oleObj>
              </mc:Choice>
              <mc:Fallback>
                <p:oleObj name="公式" r:id="rId11" imgW="2349500" imgH="11684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24600" y="3282201"/>
                        <a:ext cx="1657085" cy="823428"/>
                      </a:xfrm>
                      <a:prstGeom prst="rect">
                        <a:avLst/>
                      </a:prstGeom>
                      <a:noFill/>
                      <a:ln>
                        <a:noFill/>
                      </a:ln>
                      <a:effectLst/>
                      <a:extLst/>
                    </p:spPr>
                  </p:pic>
                </p:oleObj>
              </mc:Fallback>
            </mc:AlternateContent>
          </a:graphicData>
        </a:graphic>
      </p:graphicFrame>
      <p:sp>
        <p:nvSpPr>
          <p:cNvPr id="128015" name="Text Box 15"/>
          <p:cNvSpPr txBox="1">
            <a:spLocks noChangeArrowheads="1"/>
          </p:cNvSpPr>
          <p:nvPr/>
        </p:nvSpPr>
        <p:spPr bwMode="auto">
          <a:xfrm>
            <a:off x="179388" y="4437063"/>
            <a:ext cx="3727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800">
                <a:latin typeface="Century Schoolbook" pitchFamily="18" charset="0"/>
              </a:rPr>
              <a:t>1</a:t>
            </a:r>
            <a:r>
              <a:rPr lang="en-US" altLang="zh-CN" sz="2800">
                <a:latin typeface="Symbol" pitchFamily="18" charset="2"/>
              </a:rPr>
              <a:t>-</a:t>
            </a:r>
            <a:r>
              <a:rPr lang="en-US" altLang="zh-CN" sz="2800">
                <a:latin typeface="Century Schoolbook" pitchFamily="18" charset="0"/>
              </a:rPr>
              <a:t>2</a:t>
            </a:r>
            <a:r>
              <a:rPr lang="zh-CN" altLang="en-US" sz="2800" b="1">
                <a:latin typeface="Century Schoolbook" pitchFamily="18" charset="0"/>
              </a:rPr>
              <a:t>为绝热压缩过程</a:t>
            </a:r>
            <a:endParaRPr lang="zh-CN" altLang="en-US" sz="3200" b="1">
              <a:latin typeface="Century Schoolbook" pitchFamily="18" charset="0"/>
            </a:endParaRPr>
          </a:p>
        </p:txBody>
      </p:sp>
      <p:graphicFrame>
        <p:nvGraphicFramePr>
          <p:cNvPr id="128016" name="Object 16"/>
          <p:cNvGraphicFramePr>
            <a:graphicFrameLocks noChangeAspect="1"/>
          </p:cNvGraphicFramePr>
          <p:nvPr>
            <p:extLst>
              <p:ext uri="{D42A27DB-BD31-4B8C-83A1-F6EECF244321}">
                <p14:modId xmlns:p14="http://schemas.microsoft.com/office/powerpoint/2010/main" val="4222921317"/>
              </p:ext>
            </p:extLst>
          </p:nvPr>
        </p:nvGraphicFramePr>
        <p:xfrm>
          <a:off x="3923928" y="4365104"/>
          <a:ext cx="1794887" cy="453455"/>
        </p:xfrm>
        <a:graphic>
          <a:graphicData uri="http://schemas.openxmlformats.org/presentationml/2006/ole">
            <mc:AlternateContent xmlns:mc="http://schemas.openxmlformats.org/markup-compatibility/2006">
              <mc:Choice xmlns:v="urn:schemas-microsoft-com:vml" Requires="v">
                <p:oleObj spid="_x0000_s181364" name="Equation" r:id="rId13" imgW="812520" imgH="203040" progId="Equation.3">
                  <p:embed/>
                </p:oleObj>
              </mc:Choice>
              <mc:Fallback>
                <p:oleObj name="Equation" r:id="rId13" imgW="812520" imgH="203040" progId="Equation.3">
                  <p:embed/>
                  <p:pic>
                    <p:nvPicPr>
                      <p:cNvPr id="0" name="Object 16"/>
                      <p:cNvPicPr>
                        <a:picLocks noChangeAspect="1" noChangeArrowheads="1"/>
                      </p:cNvPicPr>
                      <p:nvPr/>
                    </p:nvPicPr>
                    <p:blipFill>
                      <a:blip r:embed="rId14"/>
                      <a:srcRect/>
                      <a:stretch>
                        <a:fillRect/>
                      </a:stretch>
                    </p:blipFill>
                    <p:spPr bwMode="auto">
                      <a:xfrm>
                        <a:off x="3923928" y="4365104"/>
                        <a:ext cx="1794887" cy="453455"/>
                      </a:xfrm>
                      <a:prstGeom prst="rect">
                        <a:avLst/>
                      </a:prstGeom>
                      <a:noFill/>
                      <a:ln>
                        <a:noFill/>
                      </a:ln>
                      <a:effectLst/>
                      <a:extLst/>
                    </p:spPr>
                  </p:pic>
                </p:oleObj>
              </mc:Fallback>
            </mc:AlternateContent>
          </a:graphicData>
        </a:graphic>
      </p:graphicFrame>
      <p:graphicFrame>
        <p:nvGraphicFramePr>
          <p:cNvPr id="128017" name="Object 17"/>
          <p:cNvGraphicFramePr>
            <a:graphicFrameLocks noChangeAspect="1"/>
          </p:cNvGraphicFramePr>
          <p:nvPr>
            <p:extLst>
              <p:ext uri="{D42A27DB-BD31-4B8C-83A1-F6EECF244321}">
                <p14:modId xmlns:p14="http://schemas.microsoft.com/office/powerpoint/2010/main" val="2074848210"/>
              </p:ext>
            </p:extLst>
          </p:nvPr>
        </p:nvGraphicFramePr>
        <p:xfrm>
          <a:off x="4081265" y="5024984"/>
          <a:ext cx="3688102" cy="653551"/>
        </p:xfrm>
        <a:graphic>
          <a:graphicData uri="http://schemas.openxmlformats.org/presentationml/2006/ole">
            <mc:AlternateContent xmlns:mc="http://schemas.openxmlformats.org/markup-compatibility/2006">
              <mc:Choice xmlns:v="urn:schemas-microsoft-com:vml" Requires="v">
                <p:oleObj spid="_x0000_s181365" name="Equation" r:id="rId15" imgW="1358310" imgH="241195" progId="Equation.DSMT4">
                  <p:embed/>
                </p:oleObj>
              </mc:Choice>
              <mc:Fallback>
                <p:oleObj name="Equation" r:id="rId15" imgW="1358310" imgH="241195" progId="Equation.DSMT4">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81265" y="5024984"/>
                        <a:ext cx="3688102" cy="653551"/>
                      </a:xfrm>
                      <a:prstGeom prst="rect">
                        <a:avLst/>
                      </a:prstGeom>
                      <a:noFill/>
                      <a:ln>
                        <a:noFill/>
                      </a:ln>
                      <a:effectLst/>
                      <a:extLst/>
                    </p:spPr>
                  </p:pic>
                </p:oleObj>
              </mc:Fallback>
            </mc:AlternateContent>
          </a:graphicData>
        </a:graphic>
      </p:graphicFrame>
      <p:grpSp>
        <p:nvGrpSpPr>
          <p:cNvPr id="25614" name="Group 19"/>
          <p:cNvGrpSpPr>
            <a:grpSpLocks/>
          </p:cNvGrpSpPr>
          <p:nvPr/>
        </p:nvGrpSpPr>
        <p:grpSpPr bwMode="auto">
          <a:xfrm>
            <a:off x="4312729" y="20105"/>
            <a:ext cx="3200400" cy="2819400"/>
            <a:chOff x="2880" y="206"/>
            <a:chExt cx="2842" cy="2482"/>
          </a:xfrm>
        </p:grpSpPr>
        <p:grpSp>
          <p:nvGrpSpPr>
            <p:cNvPr id="25617" name="Group 20"/>
            <p:cNvGrpSpPr>
              <a:grpSpLocks/>
            </p:cNvGrpSpPr>
            <p:nvPr/>
          </p:nvGrpSpPr>
          <p:grpSpPr bwMode="auto">
            <a:xfrm>
              <a:off x="5148" y="1167"/>
              <a:ext cx="0" cy="639"/>
              <a:chOff x="5148" y="1167"/>
              <a:chExt cx="0" cy="639"/>
            </a:xfrm>
          </p:grpSpPr>
          <p:sp>
            <p:nvSpPr>
              <p:cNvPr id="25661" name="Line 21"/>
              <p:cNvSpPr>
                <a:spLocks noChangeShapeType="1"/>
              </p:cNvSpPr>
              <p:nvPr/>
            </p:nvSpPr>
            <p:spPr bwMode="auto">
              <a:xfrm>
                <a:off x="5148" y="1167"/>
                <a:ext cx="0" cy="639"/>
              </a:xfrm>
              <a:prstGeom prst="line">
                <a:avLst/>
              </a:prstGeom>
              <a:noFill/>
              <a:ln w="25400">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62" name="Line 22"/>
              <p:cNvSpPr>
                <a:spLocks noChangeShapeType="1"/>
              </p:cNvSpPr>
              <p:nvPr/>
            </p:nvSpPr>
            <p:spPr bwMode="auto">
              <a:xfrm>
                <a:off x="5148" y="1167"/>
                <a:ext cx="0" cy="383"/>
              </a:xfrm>
              <a:prstGeom prst="line">
                <a:avLst/>
              </a:prstGeom>
              <a:noFill/>
              <a:ln w="254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8" name="Group 23"/>
            <p:cNvGrpSpPr>
              <a:grpSpLocks/>
            </p:cNvGrpSpPr>
            <p:nvPr/>
          </p:nvGrpSpPr>
          <p:grpSpPr bwMode="auto">
            <a:xfrm>
              <a:off x="3342" y="1616"/>
              <a:ext cx="443" cy="618"/>
              <a:chOff x="3342" y="1616"/>
              <a:chExt cx="443" cy="618"/>
            </a:xfrm>
          </p:grpSpPr>
          <p:sp>
            <p:nvSpPr>
              <p:cNvPr id="25659" name="Rectangle 24"/>
              <p:cNvSpPr>
                <a:spLocks noChangeArrowheads="1"/>
              </p:cNvSpPr>
              <p:nvPr/>
            </p:nvSpPr>
            <p:spPr bwMode="auto">
              <a:xfrm>
                <a:off x="3342" y="1616"/>
                <a:ext cx="443" cy="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r>
                  <a:rPr lang="en-US" altLang="zh-CN" sz="4000" i="1">
                    <a:latin typeface="Bookman Old Style" pitchFamily="18" charset="0"/>
                  </a:rPr>
                  <a:t>a</a:t>
                </a:r>
              </a:p>
            </p:txBody>
          </p:sp>
          <p:sp>
            <p:nvSpPr>
              <p:cNvPr id="25660" name="Oval 25"/>
              <p:cNvSpPr>
                <a:spLocks noChangeArrowheads="1"/>
              </p:cNvSpPr>
              <p:nvPr/>
            </p:nvSpPr>
            <p:spPr bwMode="auto">
              <a:xfrm>
                <a:off x="3674" y="1764"/>
                <a:ext cx="69" cy="71"/>
              </a:xfrm>
              <a:prstGeom prst="ellipse">
                <a:avLst/>
              </a:prstGeom>
              <a:solidFill>
                <a:schemeClr val="tx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9" name="Group 26"/>
            <p:cNvGrpSpPr>
              <a:grpSpLocks/>
            </p:cNvGrpSpPr>
            <p:nvPr/>
          </p:nvGrpSpPr>
          <p:grpSpPr bwMode="auto">
            <a:xfrm>
              <a:off x="3552" y="1392"/>
              <a:ext cx="225" cy="1289"/>
              <a:chOff x="3562" y="1396"/>
              <a:chExt cx="225" cy="1289"/>
            </a:xfrm>
          </p:grpSpPr>
          <p:sp>
            <p:nvSpPr>
              <p:cNvPr id="25657" name="Line 27"/>
              <p:cNvSpPr>
                <a:spLocks noChangeShapeType="1"/>
              </p:cNvSpPr>
              <p:nvPr/>
            </p:nvSpPr>
            <p:spPr bwMode="auto">
              <a:xfrm>
                <a:off x="3701" y="1396"/>
                <a:ext cx="0" cy="954"/>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58" name="Object 28"/>
              <p:cNvGraphicFramePr>
                <a:graphicFrameLocks noChangeAspect="1"/>
              </p:cNvGraphicFramePr>
              <p:nvPr/>
            </p:nvGraphicFramePr>
            <p:xfrm>
              <a:off x="3562" y="2390"/>
              <a:ext cx="225" cy="295"/>
            </p:xfrm>
            <a:graphic>
              <a:graphicData uri="http://schemas.openxmlformats.org/presentationml/2006/ole">
                <mc:AlternateContent xmlns:mc="http://schemas.openxmlformats.org/markup-compatibility/2006">
                  <mc:Choice xmlns:v="urn:schemas-microsoft-com:vml" Requires="v">
                    <p:oleObj spid="_x0000_s181366" name="公式" r:id="rId17" imgW="418918" imgH="533169" progId="Equation.3">
                      <p:embed/>
                    </p:oleObj>
                  </mc:Choice>
                  <mc:Fallback>
                    <p:oleObj name="公式" r:id="rId17" imgW="418918" imgH="533169" progId="Equation.3">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62" y="2390"/>
                            <a:ext cx="225"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5620" name="Group 29"/>
            <p:cNvGrpSpPr>
              <a:grpSpLocks/>
            </p:cNvGrpSpPr>
            <p:nvPr/>
          </p:nvGrpSpPr>
          <p:grpSpPr bwMode="auto">
            <a:xfrm>
              <a:off x="3698" y="206"/>
              <a:ext cx="1836" cy="956"/>
              <a:chOff x="3679" y="192"/>
              <a:chExt cx="1884" cy="956"/>
            </a:xfrm>
          </p:grpSpPr>
          <p:sp>
            <p:nvSpPr>
              <p:cNvPr id="25654" name="Arc 30"/>
              <p:cNvSpPr>
                <a:spLocks/>
              </p:cNvSpPr>
              <p:nvPr/>
            </p:nvSpPr>
            <p:spPr bwMode="auto">
              <a:xfrm>
                <a:off x="3679" y="192"/>
                <a:ext cx="1884" cy="956"/>
              </a:xfrm>
              <a:custGeom>
                <a:avLst/>
                <a:gdLst>
                  <a:gd name="T0" fmla="*/ 0 w 20363"/>
                  <a:gd name="T1" fmla="*/ 0 h 21183"/>
                  <a:gd name="T2" fmla="*/ 0 w 20363"/>
                  <a:gd name="T3" fmla="*/ 0 h 21183"/>
                  <a:gd name="T4" fmla="*/ 0 w 20363"/>
                  <a:gd name="T5" fmla="*/ 0 h 21183"/>
                  <a:gd name="T6" fmla="*/ 0 60000 65536"/>
                  <a:gd name="T7" fmla="*/ 0 60000 65536"/>
                  <a:gd name="T8" fmla="*/ 0 60000 65536"/>
                </a:gdLst>
                <a:ahLst/>
                <a:cxnLst>
                  <a:cxn ang="T6">
                    <a:pos x="T0" y="T1"/>
                  </a:cxn>
                  <a:cxn ang="T7">
                    <a:pos x="T2" y="T3"/>
                  </a:cxn>
                  <a:cxn ang="T8">
                    <a:pos x="T4" y="T5"/>
                  </a:cxn>
                </a:cxnLst>
                <a:rect l="0" t="0" r="r" b="b"/>
                <a:pathLst>
                  <a:path w="20363" h="21183" fill="none" extrusionOk="0">
                    <a:moveTo>
                      <a:pt x="16141" y="21183"/>
                    </a:moveTo>
                    <a:cubicBezTo>
                      <a:pt x="8673" y="19695"/>
                      <a:pt x="2540" y="14384"/>
                      <a:pt x="0" y="7204"/>
                    </a:cubicBezTo>
                  </a:path>
                  <a:path w="20363" h="21183" stroke="0" extrusionOk="0">
                    <a:moveTo>
                      <a:pt x="16141" y="21183"/>
                    </a:moveTo>
                    <a:cubicBezTo>
                      <a:pt x="8673" y="19695"/>
                      <a:pt x="2540" y="14384"/>
                      <a:pt x="0" y="7204"/>
                    </a:cubicBezTo>
                    <a:lnTo>
                      <a:pt x="20363" y="0"/>
                    </a:lnTo>
                    <a:lnTo>
                      <a:pt x="16141" y="21183"/>
                    </a:lnTo>
                    <a:close/>
                  </a:path>
                </a:pathLst>
              </a:custGeom>
              <a:noFill/>
              <a:ln w="25400" cap="rnd">
                <a:solidFill>
                  <a:srgbClr val="FF33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5" name="Arc 31"/>
              <p:cNvSpPr>
                <a:spLocks/>
              </p:cNvSpPr>
              <p:nvPr/>
            </p:nvSpPr>
            <p:spPr bwMode="auto">
              <a:xfrm>
                <a:off x="3679" y="192"/>
                <a:ext cx="1884" cy="819"/>
              </a:xfrm>
              <a:custGeom>
                <a:avLst/>
                <a:gdLst>
                  <a:gd name="T0" fmla="*/ 0 w 20363"/>
                  <a:gd name="T1" fmla="*/ 0 h 18150"/>
                  <a:gd name="T2" fmla="*/ 0 w 20363"/>
                  <a:gd name="T3" fmla="*/ 0 h 18150"/>
                  <a:gd name="T4" fmla="*/ 0 w 20363"/>
                  <a:gd name="T5" fmla="*/ 0 h 18150"/>
                  <a:gd name="T6" fmla="*/ 0 60000 65536"/>
                  <a:gd name="T7" fmla="*/ 0 60000 65536"/>
                  <a:gd name="T8" fmla="*/ 0 60000 65536"/>
                </a:gdLst>
                <a:ahLst/>
                <a:cxnLst>
                  <a:cxn ang="T6">
                    <a:pos x="T0" y="T1"/>
                  </a:cxn>
                  <a:cxn ang="T7">
                    <a:pos x="T2" y="T3"/>
                  </a:cxn>
                  <a:cxn ang="T8">
                    <a:pos x="T4" y="T5"/>
                  </a:cxn>
                </a:cxnLst>
                <a:rect l="0" t="0" r="r" b="b"/>
                <a:pathLst>
                  <a:path w="20363" h="18150" fill="none" extrusionOk="0">
                    <a:moveTo>
                      <a:pt x="8652" y="18149"/>
                    </a:moveTo>
                    <a:cubicBezTo>
                      <a:pt x="4636" y="15559"/>
                      <a:pt x="1594" y="11709"/>
                      <a:pt x="0" y="7204"/>
                    </a:cubicBezTo>
                  </a:path>
                  <a:path w="20363" h="18150" stroke="0" extrusionOk="0">
                    <a:moveTo>
                      <a:pt x="8652" y="18149"/>
                    </a:moveTo>
                    <a:cubicBezTo>
                      <a:pt x="4636" y="15559"/>
                      <a:pt x="1594" y="11709"/>
                      <a:pt x="0" y="7204"/>
                    </a:cubicBezTo>
                    <a:lnTo>
                      <a:pt x="20363" y="0"/>
                    </a:lnTo>
                    <a:lnTo>
                      <a:pt x="8652" y="18149"/>
                    </a:lnTo>
                    <a:close/>
                  </a:path>
                </a:pathLst>
              </a:custGeom>
              <a:noFill/>
              <a:ln w="25400" cap="rnd">
                <a:solidFill>
                  <a:srgbClr val="FF3300"/>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56" name="Object 32"/>
              <p:cNvGraphicFramePr>
                <a:graphicFrameLocks noChangeAspect="1"/>
              </p:cNvGraphicFramePr>
              <p:nvPr/>
            </p:nvGraphicFramePr>
            <p:xfrm>
              <a:off x="5154" y="870"/>
              <a:ext cx="150" cy="204"/>
            </p:xfrm>
            <a:graphic>
              <a:graphicData uri="http://schemas.openxmlformats.org/presentationml/2006/ole">
                <mc:AlternateContent xmlns:mc="http://schemas.openxmlformats.org/markup-compatibility/2006">
                  <mc:Choice xmlns:v="urn:schemas-microsoft-com:vml" Requires="v">
                    <p:oleObj spid="_x0000_s181367" name="公式" r:id="rId19" imgW="279400" imgH="368300" progId="Equation.3">
                      <p:embed/>
                    </p:oleObj>
                  </mc:Choice>
                  <mc:Fallback>
                    <p:oleObj name="公式" r:id="rId19" imgW="279400" imgH="368300" progId="Equation.3">
                      <p:embed/>
                      <p:pic>
                        <p:nvPicPr>
                          <p:cNvPr id="0" name="Object 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54" y="870"/>
                            <a:ext cx="150"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5621" name="Group 33"/>
            <p:cNvGrpSpPr>
              <a:grpSpLocks/>
            </p:cNvGrpSpPr>
            <p:nvPr/>
          </p:nvGrpSpPr>
          <p:grpSpPr bwMode="auto">
            <a:xfrm>
              <a:off x="3524" y="274"/>
              <a:ext cx="177" cy="1149"/>
              <a:chOff x="3524" y="274"/>
              <a:chExt cx="177" cy="1149"/>
            </a:xfrm>
          </p:grpSpPr>
          <p:sp>
            <p:nvSpPr>
              <p:cNvPr id="25650" name="Line 34"/>
              <p:cNvSpPr>
                <a:spLocks noChangeShapeType="1"/>
              </p:cNvSpPr>
              <p:nvPr/>
            </p:nvSpPr>
            <p:spPr bwMode="auto">
              <a:xfrm>
                <a:off x="3701" y="976"/>
                <a:ext cx="0" cy="447"/>
              </a:xfrm>
              <a:prstGeom prst="line">
                <a:avLst/>
              </a:prstGeom>
              <a:noFill/>
              <a:ln w="25400">
                <a:solidFill>
                  <a:srgbClr val="FF3300"/>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5651" name="Group 35"/>
              <p:cNvGrpSpPr>
                <a:grpSpLocks/>
              </p:cNvGrpSpPr>
              <p:nvPr/>
            </p:nvGrpSpPr>
            <p:grpSpPr bwMode="auto">
              <a:xfrm>
                <a:off x="3524" y="274"/>
                <a:ext cx="177" cy="1084"/>
                <a:chOff x="3524" y="274"/>
                <a:chExt cx="177" cy="1084"/>
              </a:xfrm>
            </p:grpSpPr>
            <p:sp>
              <p:nvSpPr>
                <p:cNvPr id="25652" name="Line 36"/>
                <p:cNvSpPr>
                  <a:spLocks noChangeShapeType="1"/>
                </p:cNvSpPr>
                <p:nvPr/>
              </p:nvSpPr>
              <p:spPr bwMode="auto">
                <a:xfrm>
                  <a:off x="3701" y="529"/>
                  <a:ext cx="0" cy="829"/>
                </a:xfrm>
                <a:prstGeom prst="line">
                  <a:avLst/>
                </a:prstGeom>
                <a:noFill/>
                <a:ln w="25400">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53" name="Object 37"/>
                <p:cNvGraphicFramePr>
                  <a:graphicFrameLocks noChangeAspect="1"/>
                </p:cNvGraphicFramePr>
                <p:nvPr/>
              </p:nvGraphicFramePr>
              <p:xfrm>
                <a:off x="3524" y="274"/>
                <a:ext cx="136" cy="212"/>
              </p:xfrm>
              <a:graphic>
                <a:graphicData uri="http://schemas.openxmlformats.org/presentationml/2006/ole">
                  <mc:AlternateContent xmlns:mc="http://schemas.openxmlformats.org/markup-compatibility/2006">
                    <mc:Choice xmlns:v="urn:schemas-microsoft-com:vml" Requires="v">
                      <p:oleObj spid="_x0000_s181368" name="公式" r:id="rId21" imgW="253890" imgH="380835" progId="Equation.3">
                        <p:embed/>
                      </p:oleObj>
                    </mc:Choice>
                    <mc:Fallback>
                      <p:oleObj name="公式" r:id="rId21" imgW="253890" imgH="380835" progId="Equation.3">
                        <p:embed/>
                        <p:pic>
                          <p:nvPicPr>
                            <p:cNvPr id="0" name="Object 3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524" y="274"/>
                              <a:ext cx="1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25622" name="Group 38"/>
            <p:cNvGrpSpPr>
              <a:grpSpLocks/>
            </p:cNvGrpSpPr>
            <p:nvPr/>
          </p:nvGrpSpPr>
          <p:grpSpPr bwMode="auto">
            <a:xfrm>
              <a:off x="3480" y="912"/>
              <a:ext cx="1970" cy="1008"/>
              <a:chOff x="3480" y="912"/>
              <a:chExt cx="1970" cy="1008"/>
            </a:xfrm>
          </p:grpSpPr>
          <p:sp>
            <p:nvSpPr>
              <p:cNvPr id="25645" name="Arc 39"/>
              <p:cNvSpPr>
                <a:spLocks/>
              </p:cNvSpPr>
              <p:nvPr/>
            </p:nvSpPr>
            <p:spPr bwMode="auto">
              <a:xfrm>
                <a:off x="4312" y="912"/>
                <a:ext cx="907" cy="894"/>
              </a:xfrm>
              <a:custGeom>
                <a:avLst/>
                <a:gdLst>
                  <a:gd name="T0" fmla="*/ 0 w 10935"/>
                  <a:gd name="T1" fmla="*/ 0 h 21587"/>
                  <a:gd name="T2" fmla="*/ 0 w 10935"/>
                  <a:gd name="T3" fmla="*/ 0 h 21587"/>
                  <a:gd name="T4" fmla="*/ 0 w 10935"/>
                  <a:gd name="T5" fmla="*/ 0 h 21587"/>
                  <a:gd name="T6" fmla="*/ 0 60000 65536"/>
                  <a:gd name="T7" fmla="*/ 0 60000 65536"/>
                  <a:gd name="T8" fmla="*/ 0 60000 65536"/>
                </a:gdLst>
                <a:ahLst/>
                <a:cxnLst>
                  <a:cxn ang="T6">
                    <a:pos x="T0" y="T1"/>
                  </a:cxn>
                  <a:cxn ang="T7">
                    <a:pos x="T2" y="T3"/>
                  </a:cxn>
                  <a:cxn ang="T8">
                    <a:pos x="T4" y="T5"/>
                  </a:cxn>
                </a:cxnLst>
                <a:rect l="0" t="0" r="r" b="b"/>
                <a:pathLst>
                  <a:path w="10935" h="21587" fill="none" extrusionOk="0">
                    <a:moveTo>
                      <a:pt x="10174" y="21586"/>
                    </a:moveTo>
                    <a:cubicBezTo>
                      <a:pt x="6589" y="21460"/>
                      <a:pt x="3093" y="20443"/>
                      <a:pt x="0" y="18627"/>
                    </a:cubicBezTo>
                  </a:path>
                  <a:path w="10935" h="21587" stroke="0" extrusionOk="0">
                    <a:moveTo>
                      <a:pt x="10174" y="21586"/>
                    </a:moveTo>
                    <a:cubicBezTo>
                      <a:pt x="6589" y="21460"/>
                      <a:pt x="3093" y="20443"/>
                      <a:pt x="0" y="18627"/>
                    </a:cubicBezTo>
                    <a:lnTo>
                      <a:pt x="10935" y="0"/>
                    </a:lnTo>
                    <a:lnTo>
                      <a:pt x="10174" y="21586"/>
                    </a:lnTo>
                    <a:close/>
                  </a:path>
                </a:pathLst>
              </a:custGeom>
              <a:noFill/>
              <a:ln w="25400" cap="rnd">
                <a:solidFill>
                  <a:srgbClr val="FF3300"/>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5646" name="Group 40"/>
              <p:cNvGrpSpPr>
                <a:grpSpLocks/>
              </p:cNvGrpSpPr>
              <p:nvPr/>
            </p:nvGrpSpPr>
            <p:grpSpPr bwMode="auto">
              <a:xfrm>
                <a:off x="3480" y="912"/>
                <a:ext cx="1970" cy="1008"/>
                <a:chOff x="3480" y="912"/>
                <a:chExt cx="1970" cy="1008"/>
              </a:xfrm>
            </p:grpSpPr>
            <p:sp>
              <p:nvSpPr>
                <p:cNvPr id="25647" name="Arc 41"/>
                <p:cNvSpPr>
                  <a:spLocks/>
                </p:cNvSpPr>
                <p:nvPr/>
              </p:nvSpPr>
              <p:spPr bwMode="auto">
                <a:xfrm>
                  <a:off x="3699" y="912"/>
                  <a:ext cx="1520" cy="894"/>
                </a:xfrm>
                <a:custGeom>
                  <a:avLst/>
                  <a:gdLst>
                    <a:gd name="T0" fmla="*/ 0 w 18325"/>
                    <a:gd name="T1" fmla="*/ 0 h 21587"/>
                    <a:gd name="T2" fmla="*/ 0 w 18325"/>
                    <a:gd name="T3" fmla="*/ 0 h 21587"/>
                    <a:gd name="T4" fmla="*/ 0 w 18325"/>
                    <a:gd name="T5" fmla="*/ 0 h 21587"/>
                    <a:gd name="T6" fmla="*/ 0 60000 65536"/>
                    <a:gd name="T7" fmla="*/ 0 60000 65536"/>
                    <a:gd name="T8" fmla="*/ 0 60000 65536"/>
                  </a:gdLst>
                  <a:ahLst/>
                  <a:cxnLst>
                    <a:cxn ang="T6">
                      <a:pos x="T0" y="T1"/>
                    </a:cxn>
                    <a:cxn ang="T7">
                      <a:pos x="T2" y="T3"/>
                    </a:cxn>
                    <a:cxn ang="T8">
                      <a:pos x="T4" y="T5"/>
                    </a:cxn>
                  </a:cxnLst>
                  <a:rect l="0" t="0" r="r" b="b"/>
                  <a:pathLst>
                    <a:path w="18325" h="21587" fill="none" extrusionOk="0">
                      <a:moveTo>
                        <a:pt x="17564" y="21586"/>
                      </a:moveTo>
                      <a:cubicBezTo>
                        <a:pt x="10385" y="21333"/>
                        <a:pt x="3802" y="17528"/>
                        <a:pt x="0" y="11434"/>
                      </a:cubicBezTo>
                    </a:path>
                    <a:path w="18325" h="21587" stroke="0" extrusionOk="0">
                      <a:moveTo>
                        <a:pt x="17564" y="21586"/>
                      </a:moveTo>
                      <a:cubicBezTo>
                        <a:pt x="10385" y="21333"/>
                        <a:pt x="3802" y="17528"/>
                        <a:pt x="0" y="11434"/>
                      </a:cubicBezTo>
                      <a:lnTo>
                        <a:pt x="18325" y="0"/>
                      </a:lnTo>
                      <a:lnTo>
                        <a:pt x="17564" y="21586"/>
                      </a:lnTo>
                      <a:close/>
                    </a:path>
                  </a:pathLst>
                </a:custGeom>
                <a:noFill/>
                <a:ln w="25400" cap="rnd">
                  <a:solidFill>
                    <a:srgbClr val="FF33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48" name="Object 42"/>
                <p:cNvGraphicFramePr>
                  <a:graphicFrameLocks noChangeAspect="1"/>
                </p:cNvGraphicFramePr>
                <p:nvPr/>
              </p:nvGraphicFramePr>
              <p:xfrm>
                <a:off x="3480" y="1251"/>
                <a:ext cx="142" cy="204"/>
              </p:xfrm>
              <a:graphic>
                <a:graphicData uri="http://schemas.openxmlformats.org/presentationml/2006/ole">
                  <mc:AlternateContent xmlns:mc="http://schemas.openxmlformats.org/markup-compatibility/2006">
                    <mc:Choice xmlns:v="urn:schemas-microsoft-com:vml" Requires="v">
                      <p:oleObj spid="_x0000_s181369" name="公式" r:id="rId23" imgW="266584" imgH="368140" progId="Equation.3">
                        <p:embed/>
                      </p:oleObj>
                    </mc:Choice>
                    <mc:Fallback>
                      <p:oleObj name="公式" r:id="rId23" imgW="266584" imgH="368140" progId="Equation.3">
                        <p:embed/>
                        <p:pic>
                          <p:nvPicPr>
                            <p:cNvPr id="0" name="Object 4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480" y="1251"/>
                              <a:ext cx="142"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49" name="Object 43"/>
                <p:cNvGraphicFramePr>
                  <a:graphicFrameLocks noChangeAspect="1"/>
                </p:cNvGraphicFramePr>
                <p:nvPr/>
              </p:nvGraphicFramePr>
              <p:xfrm>
                <a:off x="5335" y="1716"/>
                <a:ext cx="115" cy="204"/>
              </p:xfrm>
              <a:graphic>
                <a:graphicData uri="http://schemas.openxmlformats.org/presentationml/2006/ole">
                  <mc:AlternateContent xmlns:mc="http://schemas.openxmlformats.org/markup-compatibility/2006">
                    <mc:Choice xmlns:v="urn:schemas-microsoft-com:vml" Requires="v">
                      <p:oleObj spid="_x0000_s181370" name="公式" r:id="rId25" imgW="215806" imgH="368140" progId="Equation.3">
                        <p:embed/>
                      </p:oleObj>
                    </mc:Choice>
                    <mc:Fallback>
                      <p:oleObj name="公式" r:id="rId25" imgW="215806" imgH="368140" progId="Equation.3">
                        <p:embed/>
                        <p:pic>
                          <p:nvPicPr>
                            <p:cNvPr id="0" name="Object 4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35" y="1716"/>
                              <a:ext cx="115"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25623" name="Group 44"/>
            <p:cNvGrpSpPr>
              <a:grpSpLocks/>
            </p:cNvGrpSpPr>
            <p:nvPr/>
          </p:nvGrpSpPr>
          <p:grpSpPr bwMode="auto">
            <a:xfrm>
              <a:off x="4987" y="1800"/>
              <a:ext cx="246" cy="888"/>
              <a:chOff x="4997" y="1800"/>
              <a:chExt cx="246" cy="888"/>
            </a:xfrm>
          </p:grpSpPr>
          <p:sp>
            <p:nvSpPr>
              <p:cNvPr id="25643" name="Line 45"/>
              <p:cNvSpPr>
                <a:spLocks noChangeShapeType="1"/>
              </p:cNvSpPr>
              <p:nvPr/>
            </p:nvSpPr>
            <p:spPr bwMode="auto">
              <a:xfrm>
                <a:off x="5140" y="1800"/>
                <a:ext cx="8" cy="55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44" name="Object 46"/>
              <p:cNvGraphicFramePr>
                <a:graphicFrameLocks noChangeAspect="1"/>
              </p:cNvGraphicFramePr>
              <p:nvPr/>
            </p:nvGraphicFramePr>
            <p:xfrm>
              <a:off x="4997" y="2393"/>
              <a:ext cx="246" cy="295"/>
            </p:xfrm>
            <a:graphic>
              <a:graphicData uri="http://schemas.openxmlformats.org/presentationml/2006/ole">
                <mc:AlternateContent xmlns:mc="http://schemas.openxmlformats.org/markup-compatibility/2006">
                  <mc:Choice xmlns:v="urn:schemas-microsoft-com:vml" Requires="v">
                    <p:oleObj spid="_x0000_s181371" name="公式" r:id="rId27" imgW="457002" imgH="533169" progId="Equation.3">
                      <p:embed/>
                    </p:oleObj>
                  </mc:Choice>
                  <mc:Fallback>
                    <p:oleObj name="公式" r:id="rId27" imgW="457002" imgH="533169" progId="Equation.3">
                      <p:embed/>
                      <p:pic>
                        <p:nvPicPr>
                          <p:cNvPr id="0" name="Object 4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997" y="2393"/>
                            <a:ext cx="246"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5624" name="Group 47"/>
            <p:cNvGrpSpPr>
              <a:grpSpLocks/>
            </p:cNvGrpSpPr>
            <p:nvPr/>
          </p:nvGrpSpPr>
          <p:grpSpPr bwMode="auto">
            <a:xfrm>
              <a:off x="3709" y="1800"/>
              <a:ext cx="1432" cy="253"/>
              <a:chOff x="3709" y="1800"/>
              <a:chExt cx="1432" cy="253"/>
            </a:xfrm>
          </p:grpSpPr>
          <p:grpSp>
            <p:nvGrpSpPr>
              <p:cNvPr id="25639" name="Group 48"/>
              <p:cNvGrpSpPr>
                <a:grpSpLocks/>
              </p:cNvGrpSpPr>
              <p:nvPr/>
            </p:nvGrpSpPr>
            <p:grpSpPr bwMode="auto">
              <a:xfrm>
                <a:off x="3709" y="1800"/>
                <a:ext cx="1432" cy="0"/>
                <a:chOff x="3709" y="1800"/>
                <a:chExt cx="1432" cy="0"/>
              </a:xfrm>
            </p:grpSpPr>
            <p:sp>
              <p:nvSpPr>
                <p:cNvPr id="25641" name="Line 49"/>
                <p:cNvSpPr>
                  <a:spLocks noChangeShapeType="1"/>
                </p:cNvSpPr>
                <p:nvPr/>
              </p:nvSpPr>
              <p:spPr bwMode="auto">
                <a:xfrm>
                  <a:off x="3709" y="1800"/>
                  <a:ext cx="1432" cy="0"/>
                </a:xfrm>
                <a:prstGeom prst="line">
                  <a:avLst/>
                </a:prstGeom>
                <a:noFill/>
                <a:ln w="254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2" name="Line 50"/>
                <p:cNvSpPr>
                  <a:spLocks noChangeShapeType="1"/>
                </p:cNvSpPr>
                <p:nvPr/>
              </p:nvSpPr>
              <p:spPr bwMode="auto">
                <a:xfrm>
                  <a:off x="3709" y="1800"/>
                  <a:ext cx="327" cy="0"/>
                </a:xfrm>
                <a:prstGeom prst="line">
                  <a:avLst/>
                </a:prstGeom>
                <a:noFill/>
                <a:ln w="25400">
                  <a:solidFill>
                    <a:srgbClr val="FF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25640" name="Object 51"/>
              <p:cNvGraphicFramePr>
                <a:graphicFrameLocks noChangeAspect="1"/>
              </p:cNvGraphicFramePr>
              <p:nvPr/>
            </p:nvGraphicFramePr>
            <p:xfrm>
              <a:off x="3780" y="1843"/>
              <a:ext cx="382" cy="210"/>
            </p:xfrm>
            <a:graphic>
              <a:graphicData uri="http://schemas.openxmlformats.org/presentationml/2006/ole">
                <mc:AlternateContent xmlns:mc="http://schemas.openxmlformats.org/markup-compatibility/2006">
                  <mc:Choice xmlns:v="urn:schemas-microsoft-com:vml" Requires="v">
                    <p:oleObj spid="_x0000_s181372" name="公式" r:id="rId29" imgW="901309" imgH="482391" progId="Equation.3">
                      <p:embed/>
                    </p:oleObj>
                  </mc:Choice>
                  <mc:Fallback>
                    <p:oleObj name="公式" r:id="rId29" imgW="901309" imgH="482391" progId="Equation.3">
                      <p:embed/>
                      <p:pic>
                        <p:nvPicPr>
                          <p:cNvPr id="0" name="Object 5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780" y="1843"/>
                            <a:ext cx="382"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5625" name="Group 52"/>
            <p:cNvGrpSpPr>
              <a:grpSpLocks/>
            </p:cNvGrpSpPr>
            <p:nvPr/>
          </p:nvGrpSpPr>
          <p:grpSpPr bwMode="auto">
            <a:xfrm>
              <a:off x="4271" y="1800"/>
              <a:ext cx="387" cy="246"/>
              <a:chOff x="4271" y="1800"/>
              <a:chExt cx="387" cy="246"/>
            </a:xfrm>
          </p:grpSpPr>
          <p:sp>
            <p:nvSpPr>
              <p:cNvPr id="25637" name="Line 53"/>
              <p:cNvSpPr>
                <a:spLocks noChangeShapeType="1"/>
              </p:cNvSpPr>
              <p:nvPr/>
            </p:nvSpPr>
            <p:spPr bwMode="auto">
              <a:xfrm>
                <a:off x="4281" y="1800"/>
                <a:ext cx="328" cy="0"/>
              </a:xfrm>
              <a:prstGeom prst="line">
                <a:avLst/>
              </a:prstGeom>
              <a:noFill/>
              <a:ln w="25400">
                <a:solidFill>
                  <a:srgbClr val="FF0000"/>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38" name="Object 54"/>
              <p:cNvGraphicFramePr>
                <a:graphicFrameLocks noChangeAspect="1"/>
              </p:cNvGraphicFramePr>
              <p:nvPr/>
            </p:nvGraphicFramePr>
            <p:xfrm>
              <a:off x="4271" y="1836"/>
              <a:ext cx="387" cy="210"/>
            </p:xfrm>
            <a:graphic>
              <a:graphicData uri="http://schemas.openxmlformats.org/presentationml/2006/ole">
                <mc:AlternateContent xmlns:mc="http://schemas.openxmlformats.org/markup-compatibility/2006">
                  <mc:Choice xmlns:v="urn:schemas-microsoft-com:vml" Requires="v">
                    <p:oleObj spid="_x0000_s181373" name="公式" r:id="rId31" imgW="914400" imgH="482600" progId="Equation.3">
                      <p:embed/>
                    </p:oleObj>
                  </mc:Choice>
                  <mc:Fallback>
                    <p:oleObj name="公式" r:id="rId31" imgW="914400" imgH="482600" progId="Equation.3">
                      <p:embed/>
                      <p:pic>
                        <p:nvPicPr>
                          <p:cNvPr id="0" name="Object 5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271" y="1836"/>
                            <a:ext cx="387"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5626" name="Group 55"/>
            <p:cNvGrpSpPr>
              <a:grpSpLocks/>
            </p:cNvGrpSpPr>
            <p:nvPr/>
          </p:nvGrpSpPr>
          <p:grpSpPr bwMode="auto">
            <a:xfrm>
              <a:off x="4118" y="446"/>
              <a:ext cx="989" cy="1184"/>
              <a:chOff x="4118" y="446"/>
              <a:chExt cx="989" cy="1184"/>
            </a:xfrm>
          </p:grpSpPr>
          <p:sp>
            <p:nvSpPr>
              <p:cNvPr id="25634" name="Line 56"/>
              <p:cNvSpPr>
                <a:spLocks noChangeShapeType="1"/>
              </p:cNvSpPr>
              <p:nvPr/>
            </p:nvSpPr>
            <p:spPr bwMode="auto">
              <a:xfrm flipV="1">
                <a:off x="4118" y="700"/>
                <a:ext cx="654" cy="127"/>
              </a:xfrm>
              <a:prstGeom prst="line">
                <a:avLst/>
              </a:prstGeom>
              <a:noFill/>
              <a:ln w="1905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5" name="Line 57"/>
              <p:cNvSpPr>
                <a:spLocks noChangeShapeType="1"/>
              </p:cNvSpPr>
              <p:nvPr/>
            </p:nvSpPr>
            <p:spPr bwMode="auto">
              <a:xfrm flipV="1">
                <a:off x="4200" y="700"/>
                <a:ext cx="572" cy="930"/>
              </a:xfrm>
              <a:prstGeom prst="line">
                <a:avLst/>
              </a:prstGeom>
              <a:noFill/>
              <a:ln w="1905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36" name="Object 58"/>
              <p:cNvGraphicFramePr>
                <a:graphicFrameLocks noChangeAspect="1"/>
              </p:cNvGraphicFramePr>
              <p:nvPr/>
            </p:nvGraphicFramePr>
            <p:xfrm>
              <a:off x="4527" y="446"/>
              <a:ext cx="580" cy="210"/>
            </p:xfrm>
            <a:graphic>
              <a:graphicData uri="http://schemas.openxmlformats.org/presentationml/2006/ole">
                <mc:AlternateContent xmlns:mc="http://schemas.openxmlformats.org/markup-compatibility/2006">
                  <mc:Choice xmlns:v="urn:schemas-microsoft-com:vml" Requires="v">
                    <p:oleObj spid="_x0000_s181374" name="公式" r:id="rId33" imgW="1371600" imgH="482600" progId="Equation.3">
                      <p:embed/>
                    </p:oleObj>
                  </mc:Choice>
                  <mc:Fallback>
                    <p:oleObj name="公式" r:id="rId33" imgW="1371600" imgH="482600" progId="Equation.3">
                      <p:embed/>
                      <p:pic>
                        <p:nvPicPr>
                          <p:cNvPr id="0" name="Object 5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527" y="446"/>
                            <a:ext cx="580"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5627" name="Group 59"/>
            <p:cNvGrpSpPr>
              <a:grpSpLocks/>
            </p:cNvGrpSpPr>
            <p:nvPr/>
          </p:nvGrpSpPr>
          <p:grpSpPr bwMode="auto">
            <a:xfrm>
              <a:off x="2880" y="362"/>
              <a:ext cx="2842" cy="2297"/>
              <a:chOff x="2880" y="362"/>
              <a:chExt cx="2842" cy="2297"/>
            </a:xfrm>
          </p:grpSpPr>
          <p:grpSp>
            <p:nvGrpSpPr>
              <p:cNvPr id="25628" name="Group 60"/>
              <p:cNvGrpSpPr>
                <a:grpSpLocks/>
              </p:cNvGrpSpPr>
              <p:nvPr/>
            </p:nvGrpSpPr>
            <p:grpSpPr bwMode="auto">
              <a:xfrm>
                <a:off x="2880" y="362"/>
                <a:ext cx="2842" cy="2297"/>
                <a:chOff x="2880" y="362"/>
                <a:chExt cx="2842" cy="2297"/>
              </a:xfrm>
            </p:grpSpPr>
            <p:sp>
              <p:nvSpPr>
                <p:cNvPr id="25630" name="Line 61"/>
                <p:cNvSpPr>
                  <a:spLocks noChangeShapeType="1"/>
                </p:cNvSpPr>
                <p:nvPr/>
              </p:nvSpPr>
              <p:spPr bwMode="auto">
                <a:xfrm>
                  <a:off x="3218" y="2350"/>
                  <a:ext cx="2414"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1" name="Line 62"/>
                <p:cNvSpPr>
                  <a:spLocks noChangeShapeType="1"/>
                </p:cNvSpPr>
                <p:nvPr/>
              </p:nvSpPr>
              <p:spPr bwMode="auto">
                <a:xfrm flipV="1">
                  <a:off x="3218" y="364"/>
                  <a:ext cx="0" cy="1986"/>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32" name="Object 63"/>
                <p:cNvGraphicFramePr>
                  <a:graphicFrameLocks noChangeAspect="1"/>
                </p:cNvGraphicFramePr>
                <p:nvPr/>
              </p:nvGraphicFramePr>
              <p:xfrm>
                <a:off x="5511" y="2434"/>
                <a:ext cx="211" cy="225"/>
              </p:xfrm>
              <a:graphic>
                <a:graphicData uri="http://schemas.openxmlformats.org/presentationml/2006/ole">
                  <mc:AlternateContent xmlns:mc="http://schemas.openxmlformats.org/markup-compatibility/2006">
                    <mc:Choice xmlns:v="urn:schemas-microsoft-com:vml" Requires="v">
                      <p:oleObj spid="_x0000_s181375" name="公式" r:id="rId35" imgW="393359" imgH="406048" progId="Equation.3">
                        <p:embed/>
                      </p:oleObj>
                    </mc:Choice>
                    <mc:Fallback>
                      <p:oleObj name="公式" r:id="rId35" imgW="393359" imgH="406048" progId="Equation.3">
                        <p:embed/>
                        <p:pic>
                          <p:nvPicPr>
                            <p:cNvPr id="0" name="Object 63"/>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511" y="2434"/>
                              <a:ext cx="211"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33" name="Object 64"/>
                <p:cNvGraphicFramePr>
                  <a:graphicFrameLocks noChangeAspect="1"/>
                </p:cNvGraphicFramePr>
                <p:nvPr/>
              </p:nvGraphicFramePr>
              <p:xfrm>
                <a:off x="2880" y="362"/>
                <a:ext cx="211" cy="218"/>
              </p:xfrm>
              <a:graphic>
                <a:graphicData uri="http://schemas.openxmlformats.org/presentationml/2006/ole">
                  <mc:AlternateContent xmlns:mc="http://schemas.openxmlformats.org/markup-compatibility/2006">
                    <mc:Choice xmlns:v="urn:schemas-microsoft-com:vml" Requires="v">
                      <p:oleObj spid="_x0000_s181376" name="公式" r:id="rId37" imgW="393529" imgH="393529" progId="Equation.3">
                        <p:embed/>
                      </p:oleObj>
                    </mc:Choice>
                    <mc:Fallback>
                      <p:oleObj name="公式" r:id="rId37" imgW="393529" imgH="393529" progId="Equation.3">
                        <p:embed/>
                        <p:pic>
                          <p:nvPicPr>
                            <p:cNvPr id="0" name="Object 64"/>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880" y="362"/>
                              <a:ext cx="211"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629" name="Object 65"/>
              <p:cNvGraphicFramePr>
                <a:graphicFrameLocks noChangeAspect="1"/>
              </p:cNvGraphicFramePr>
              <p:nvPr/>
            </p:nvGraphicFramePr>
            <p:xfrm>
              <a:off x="3024" y="2352"/>
              <a:ext cx="159" cy="176"/>
            </p:xfrm>
            <a:graphic>
              <a:graphicData uri="http://schemas.openxmlformats.org/presentationml/2006/ole">
                <mc:AlternateContent xmlns:mc="http://schemas.openxmlformats.org/markup-compatibility/2006">
                  <mc:Choice xmlns:v="urn:schemas-microsoft-com:vml" Requires="v">
                    <p:oleObj spid="_x0000_s181377" name="公式" r:id="rId39" imgW="253890" imgH="279279" progId="Equation.3">
                      <p:embed/>
                    </p:oleObj>
                  </mc:Choice>
                  <mc:Fallback>
                    <p:oleObj name="公式" r:id="rId39" imgW="253890" imgH="279279" progId="Equation.3">
                      <p:embed/>
                      <p:pic>
                        <p:nvPicPr>
                          <p:cNvPr id="0" name="Object 65"/>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024" y="2352"/>
                            <a:ext cx="159"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28066" name="Text Box 66"/>
          <p:cNvSpPr txBox="1">
            <a:spLocks noChangeArrowheads="1"/>
          </p:cNvSpPr>
          <p:nvPr/>
        </p:nvSpPr>
        <p:spPr bwMode="auto">
          <a:xfrm>
            <a:off x="395288" y="6165850"/>
            <a:ext cx="373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800">
                <a:latin typeface="Century Schoolbook" pitchFamily="18" charset="0"/>
              </a:rPr>
              <a:t>3</a:t>
            </a:r>
            <a:r>
              <a:rPr lang="en-US" altLang="zh-CN" sz="2800">
                <a:latin typeface="Symbol" pitchFamily="18" charset="2"/>
              </a:rPr>
              <a:t>-</a:t>
            </a:r>
            <a:r>
              <a:rPr lang="en-US" altLang="zh-CN" sz="2800">
                <a:latin typeface="Century Schoolbook" pitchFamily="18" charset="0"/>
              </a:rPr>
              <a:t>4</a:t>
            </a:r>
            <a:r>
              <a:rPr lang="zh-CN" altLang="en-US" sz="2800" b="1">
                <a:latin typeface="Century Schoolbook" pitchFamily="18" charset="0"/>
              </a:rPr>
              <a:t>为绝热膨胀过程</a:t>
            </a:r>
            <a:endParaRPr lang="zh-CN" altLang="en-US" sz="3600" b="1">
              <a:latin typeface="Century Schoolbook" pitchFamily="18" charset="0"/>
            </a:endParaRPr>
          </a:p>
        </p:txBody>
      </p:sp>
      <p:graphicFrame>
        <p:nvGraphicFramePr>
          <p:cNvPr id="128067" name="Object 67"/>
          <p:cNvGraphicFramePr>
            <a:graphicFrameLocks noChangeAspect="1"/>
          </p:cNvGraphicFramePr>
          <p:nvPr>
            <p:extLst>
              <p:ext uri="{D42A27DB-BD31-4B8C-83A1-F6EECF244321}">
                <p14:modId xmlns:p14="http://schemas.microsoft.com/office/powerpoint/2010/main" val="2499524831"/>
              </p:ext>
            </p:extLst>
          </p:nvPr>
        </p:nvGraphicFramePr>
        <p:xfrm>
          <a:off x="4211639" y="6096000"/>
          <a:ext cx="3688102" cy="690979"/>
        </p:xfrm>
        <a:graphic>
          <a:graphicData uri="http://schemas.openxmlformats.org/presentationml/2006/ole">
            <mc:AlternateContent xmlns:mc="http://schemas.openxmlformats.org/markup-compatibility/2006">
              <mc:Choice xmlns:v="urn:schemas-microsoft-com:vml" Requires="v">
                <p:oleObj spid="_x0000_s181378" name="Equation" r:id="rId41" imgW="1282700" imgH="241300" progId="Equation.DSMT4">
                  <p:embed/>
                </p:oleObj>
              </mc:Choice>
              <mc:Fallback>
                <p:oleObj name="Equation" r:id="rId41" imgW="1282700" imgH="241300" progId="Equation.DSMT4">
                  <p:embed/>
                  <p:pic>
                    <p:nvPicPr>
                      <p:cNvPr id="0" name="Object 67"/>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211639" y="6096000"/>
                        <a:ext cx="3688102" cy="690979"/>
                      </a:xfrm>
                      <a:prstGeom prst="rect">
                        <a:avLst/>
                      </a:prstGeom>
                      <a:noFill/>
                      <a:ln>
                        <a:noFill/>
                      </a:ln>
                      <a:effectLst/>
                      <a:extLst/>
                    </p:spPr>
                  </p:pic>
                </p:oleObj>
              </mc:Fallback>
            </mc:AlternateContent>
          </a:graphicData>
        </a:graphic>
      </p:graphicFrame>
      <p:sp>
        <p:nvSpPr>
          <p:cNvPr id="63" name="Text Box 15">
            <a:extLst>
              <a:ext uri="{FF2B5EF4-FFF2-40B4-BE49-F238E27FC236}">
                <a16:creationId xmlns:a16="http://schemas.microsoft.com/office/drawing/2014/main" id="{ED5D432D-9DB6-4283-8F1B-0B54FC84F676}"/>
              </a:ext>
            </a:extLst>
          </p:cNvPr>
          <p:cNvSpPr txBox="1">
            <a:spLocks noChangeArrowheads="1"/>
          </p:cNvSpPr>
          <p:nvPr/>
        </p:nvSpPr>
        <p:spPr bwMode="auto">
          <a:xfrm>
            <a:off x="7899740" y="197401"/>
            <a:ext cx="1184224" cy="2554545"/>
          </a:xfrm>
          <a:prstGeom prst="rect">
            <a:avLst/>
          </a:prstGeom>
          <a:noFill/>
          <a:ln w="19050">
            <a:solidFill>
              <a:srgbClr val="FF0000"/>
            </a:solidFill>
            <a:miter lim="800000"/>
            <a:headEnd type="non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800" b="1">
                <a:latin typeface="+mj-lt"/>
              </a:rPr>
              <a:t>1</a:t>
            </a:r>
            <a:r>
              <a:rPr lang="zh-CN" altLang="en-US" sz="2800" b="1">
                <a:latin typeface="+mj-lt"/>
              </a:rPr>
              <a:t>：</a:t>
            </a:r>
            <a:r>
              <a:rPr lang="en-US" altLang="zh-CN" sz="2800" b="1" i="1">
                <a:latin typeface="+mj-lt"/>
              </a:rPr>
              <a:t>T</a:t>
            </a:r>
            <a:r>
              <a:rPr lang="en-US" altLang="zh-CN" sz="2800" b="1" baseline="-25000">
                <a:latin typeface="+mj-lt"/>
              </a:rPr>
              <a:t>1</a:t>
            </a:r>
          </a:p>
          <a:p>
            <a:pPr algn="l" eaLnBrk="1" hangingPunct="1">
              <a:spcBef>
                <a:spcPct val="50000"/>
              </a:spcBef>
            </a:pPr>
            <a:r>
              <a:rPr lang="en-US" altLang="zh-CN" sz="2800" b="1">
                <a:latin typeface="+mj-lt"/>
              </a:rPr>
              <a:t>2</a:t>
            </a:r>
            <a:r>
              <a:rPr lang="zh-CN" altLang="en-US" sz="2800" b="1">
                <a:latin typeface="+mj-lt"/>
              </a:rPr>
              <a:t>：</a:t>
            </a:r>
            <a:r>
              <a:rPr lang="en-US" altLang="zh-CN" sz="2800" b="1" i="1">
                <a:latin typeface="+mj-lt"/>
              </a:rPr>
              <a:t>T</a:t>
            </a:r>
            <a:r>
              <a:rPr lang="en-US" altLang="zh-CN" sz="2800" b="1" baseline="-25000"/>
              <a:t>2</a:t>
            </a:r>
            <a:endParaRPr lang="en-US" altLang="zh-CN" sz="2800" b="1">
              <a:latin typeface="+mj-lt"/>
            </a:endParaRPr>
          </a:p>
          <a:p>
            <a:pPr algn="l" eaLnBrk="1" hangingPunct="1">
              <a:spcBef>
                <a:spcPct val="50000"/>
              </a:spcBef>
            </a:pPr>
            <a:r>
              <a:rPr lang="en-US" altLang="zh-CN" sz="2800" b="1">
                <a:latin typeface="+mj-lt"/>
              </a:rPr>
              <a:t>3</a:t>
            </a:r>
            <a:r>
              <a:rPr lang="zh-CN" altLang="en-US" sz="2800" b="1">
                <a:latin typeface="+mj-lt"/>
              </a:rPr>
              <a:t>：</a:t>
            </a:r>
            <a:r>
              <a:rPr lang="en-US" altLang="zh-CN" sz="2800" b="1" i="1">
                <a:latin typeface="+mj-lt"/>
              </a:rPr>
              <a:t>T</a:t>
            </a:r>
            <a:r>
              <a:rPr lang="en-US" altLang="zh-CN" sz="2800" b="1" baseline="-25000"/>
              <a:t>3</a:t>
            </a:r>
            <a:endParaRPr lang="en-US" altLang="zh-CN" sz="2800" b="1">
              <a:latin typeface="+mj-lt"/>
            </a:endParaRPr>
          </a:p>
          <a:p>
            <a:pPr algn="l" eaLnBrk="1" hangingPunct="1">
              <a:spcBef>
                <a:spcPct val="50000"/>
              </a:spcBef>
            </a:pPr>
            <a:r>
              <a:rPr lang="en-US" altLang="zh-CN" sz="2800" b="1">
                <a:latin typeface="+mj-lt"/>
              </a:rPr>
              <a:t>4</a:t>
            </a:r>
            <a:r>
              <a:rPr lang="zh-CN" altLang="en-US" sz="2800" b="1">
                <a:latin typeface="+mj-lt"/>
              </a:rPr>
              <a:t>：</a:t>
            </a:r>
            <a:r>
              <a:rPr lang="en-US" altLang="zh-CN" sz="2800" b="1" i="1">
                <a:latin typeface="+mj-lt"/>
              </a:rPr>
              <a:t>T</a:t>
            </a:r>
            <a:r>
              <a:rPr lang="en-US" altLang="zh-CN" sz="3200" b="1" baseline="-25000"/>
              <a:t>4</a:t>
            </a:r>
            <a:endParaRPr lang="zh-CN" altLang="en-US" sz="3200" b="1">
              <a:latin typeface="+mj-lt"/>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8004"/>
                                        </p:tgtEl>
                                        <p:attrNameLst>
                                          <p:attrName>style.visibility</p:attrName>
                                        </p:attrNameLst>
                                      </p:cBhvr>
                                      <p:to>
                                        <p:strVal val="visible"/>
                                      </p:to>
                                    </p:set>
                                    <p:animEffect transition="in" filter="wipe(left)">
                                      <p:cBhvr>
                                        <p:cTn id="7" dur="500"/>
                                        <p:tgtEl>
                                          <p:spTgt spid="1280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wipe(left)">
                                      <p:cBhvr>
                                        <p:cTn id="12" dur="5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8005"/>
                                        </p:tgtEl>
                                        <p:attrNameLst>
                                          <p:attrName>style.visibility</p:attrName>
                                        </p:attrNameLst>
                                      </p:cBhvr>
                                      <p:to>
                                        <p:strVal val="visible"/>
                                      </p:to>
                                    </p:set>
                                    <p:animEffect transition="in" filter="wipe(left)">
                                      <p:cBhvr>
                                        <p:cTn id="17" dur="500"/>
                                        <p:tgtEl>
                                          <p:spTgt spid="12800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8006"/>
                                        </p:tgtEl>
                                        <p:attrNameLst>
                                          <p:attrName>style.visibility</p:attrName>
                                        </p:attrNameLst>
                                      </p:cBhvr>
                                      <p:to>
                                        <p:strVal val="visible"/>
                                      </p:to>
                                    </p:set>
                                    <p:animEffect transition="in" filter="wipe(left)">
                                      <p:cBhvr>
                                        <p:cTn id="22" dur="500"/>
                                        <p:tgtEl>
                                          <p:spTgt spid="12800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8007"/>
                                        </p:tgtEl>
                                        <p:attrNameLst>
                                          <p:attrName>style.visibility</p:attrName>
                                        </p:attrNameLst>
                                      </p:cBhvr>
                                      <p:to>
                                        <p:strVal val="visible"/>
                                      </p:to>
                                    </p:set>
                                    <p:animEffect transition="in" filter="wipe(left)">
                                      <p:cBhvr>
                                        <p:cTn id="27" dur="500"/>
                                        <p:tgtEl>
                                          <p:spTgt spid="12800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8008"/>
                                        </p:tgtEl>
                                        <p:attrNameLst>
                                          <p:attrName>style.visibility</p:attrName>
                                        </p:attrNameLst>
                                      </p:cBhvr>
                                      <p:to>
                                        <p:strVal val="visible"/>
                                      </p:to>
                                    </p:set>
                                    <p:animEffect transition="in" filter="wipe(left)">
                                      <p:cBhvr>
                                        <p:cTn id="32" dur="500"/>
                                        <p:tgtEl>
                                          <p:spTgt spid="12800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8009"/>
                                        </p:tgtEl>
                                        <p:attrNameLst>
                                          <p:attrName>style.visibility</p:attrName>
                                        </p:attrNameLst>
                                      </p:cBhvr>
                                      <p:to>
                                        <p:strVal val="visible"/>
                                      </p:to>
                                    </p:set>
                                    <p:animEffect transition="in" filter="wipe(left)">
                                      <p:cBhvr>
                                        <p:cTn id="37" dur="500"/>
                                        <p:tgtEl>
                                          <p:spTgt spid="12800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28010"/>
                                        </p:tgtEl>
                                        <p:attrNameLst>
                                          <p:attrName>style.visibility</p:attrName>
                                        </p:attrNameLst>
                                      </p:cBhvr>
                                      <p:to>
                                        <p:strVal val="visible"/>
                                      </p:to>
                                    </p:set>
                                    <p:animEffect transition="in" filter="wipe(left)">
                                      <p:cBhvr>
                                        <p:cTn id="42" dur="500"/>
                                        <p:tgtEl>
                                          <p:spTgt spid="1280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8011"/>
                                        </p:tgtEl>
                                        <p:attrNameLst>
                                          <p:attrName>style.visibility</p:attrName>
                                        </p:attrNameLst>
                                      </p:cBhvr>
                                      <p:to>
                                        <p:strVal val="visible"/>
                                      </p:to>
                                    </p:set>
                                    <p:animEffect transition="in" filter="wipe(left)">
                                      <p:cBhvr>
                                        <p:cTn id="47" dur="500"/>
                                        <p:tgtEl>
                                          <p:spTgt spid="1280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8012"/>
                                        </p:tgtEl>
                                        <p:attrNameLst>
                                          <p:attrName>style.visibility</p:attrName>
                                        </p:attrNameLst>
                                      </p:cBhvr>
                                      <p:to>
                                        <p:strVal val="visible"/>
                                      </p:to>
                                    </p:set>
                                    <p:animEffect transition="in" filter="wipe(left)">
                                      <p:cBhvr>
                                        <p:cTn id="52" dur="500"/>
                                        <p:tgtEl>
                                          <p:spTgt spid="1280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8015"/>
                                        </p:tgtEl>
                                        <p:attrNameLst>
                                          <p:attrName>style.visibility</p:attrName>
                                        </p:attrNameLst>
                                      </p:cBhvr>
                                      <p:to>
                                        <p:strVal val="visible"/>
                                      </p:to>
                                    </p:set>
                                    <p:animEffect transition="in" filter="wipe(left)">
                                      <p:cBhvr>
                                        <p:cTn id="57" dur="500"/>
                                        <p:tgtEl>
                                          <p:spTgt spid="12801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28016"/>
                                        </p:tgtEl>
                                        <p:attrNameLst>
                                          <p:attrName>style.visibility</p:attrName>
                                        </p:attrNameLst>
                                      </p:cBhvr>
                                      <p:to>
                                        <p:strVal val="visible"/>
                                      </p:to>
                                    </p:set>
                                    <p:animEffect transition="in" filter="wipe(left)">
                                      <p:cBhvr>
                                        <p:cTn id="62" dur="500"/>
                                        <p:tgtEl>
                                          <p:spTgt spid="12801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28017"/>
                                        </p:tgtEl>
                                        <p:attrNameLst>
                                          <p:attrName>style.visibility</p:attrName>
                                        </p:attrNameLst>
                                      </p:cBhvr>
                                      <p:to>
                                        <p:strVal val="visible"/>
                                      </p:to>
                                    </p:set>
                                    <p:animEffect transition="in" filter="wipe(left)">
                                      <p:cBhvr>
                                        <p:cTn id="67" dur="500"/>
                                        <p:tgtEl>
                                          <p:spTgt spid="12801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28066"/>
                                        </p:tgtEl>
                                        <p:attrNameLst>
                                          <p:attrName>style.visibility</p:attrName>
                                        </p:attrNameLst>
                                      </p:cBhvr>
                                      <p:to>
                                        <p:strVal val="visible"/>
                                      </p:to>
                                    </p:set>
                                    <p:animEffect transition="in" filter="wipe(left)">
                                      <p:cBhvr>
                                        <p:cTn id="72" dur="500"/>
                                        <p:tgtEl>
                                          <p:spTgt spid="12806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28067"/>
                                        </p:tgtEl>
                                        <p:attrNameLst>
                                          <p:attrName>style.visibility</p:attrName>
                                        </p:attrNameLst>
                                      </p:cBhvr>
                                      <p:to>
                                        <p:strVal val="visible"/>
                                      </p:to>
                                    </p:set>
                                    <p:animEffect transition="in" filter="wipe(left)">
                                      <p:cBhvr>
                                        <p:cTn id="77" dur="500"/>
                                        <p:tgtEl>
                                          <p:spTgt spid="128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4" grpId="0" autoUpdateAnimBg="0"/>
      <p:bldP spid="128005" grpId="0" autoUpdateAnimBg="0"/>
      <p:bldP spid="128007" grpId="0" autoUpdateAnimBg="0"/>
      <p:bldP spid="128009" grpId="0" autoUpdateAnimBg="0"/>
      <p:bldP spid="128015" grpId="0" autoUpdateAnimBg="0"/>
      <p:bldP spid="128066" grpId="0" autoUpdateAnimBg="0"/>
      <p:bldP spid="63"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2"/>
          <p:cNvGrpSpPr>
            <a:grpSpLocks/>
          </p:cNvGrpSpPr>
          <p:nvPr/>
        </p:nvGrpSpPr>
        <p:grpSpPr bwMode="auto">
          <a:xfrm>
            <a:off x="5867400" y="304800"/>
            <a:ext cx="3200400" cy="2819400"/>
            <a:chOff x="2880" y="206"/>
            <a:chExt cx="2842" cy="2482"/>
          </a:xfrm>
        </p:grpSpPr>
        <p:grpSp>
          <p:nvGrpSpPr>
            <p:cNvPr id="26639" name="Group 3"/>
            <p:cNvGrpSpPr>
              <a:grpSpLocks/>
            </p:cNvGrpSpPr>
            <p:nvPr/>
          </p:nvGrpSpPr>
          <p:grpSpPr bwMode="auto">
            <a:xfrm>
              <a:off x="5148" y="1167"/>
              <a:ext cx="0" cy="639"/>
              <a:chOff x="5148" y="1167"/>
              <a:chExt cx="0" cy="639"/>
            </a:xfrm>
          </p:grpSpPr>
          <p:sp>
            <p:nvSpPr>
              <p:cNvPr id="26683" name="Line 4"/>
              <p:cNvSpPr>
                <a:spLocks noChangeShapeType="1"/>
              </p:cNvSpPr>
              <p:nvPr/>
            </p:nvSpPr>
            <p:spPr bwMode="auto">
              <a:xfrm>
                <a:off x="5148" y="1167"/>
                <a:ext cx="0" cy="639"/>
              </a:xfrm>
              <a:prstGeom prst="line">
                <a:avLst/>
              </a:prstGeom>
              <a:noFill/>
              <a:ln w="25400">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84" name="Line 5"/>
              <p:cNvSpPr>
                <a:spLocks noChangeShapeType="1"/>
              </p:cNvSpPr>
              <p:nvPr/>
            </p:nvSpPr>
            <p:spPr bwMode="auto">
              <a:xfrm>
                <a:off x="5148" y="1167"/>
                <a:ext cx="0" cy="383"/>
              </a:xfrm>
              <a:prstGeom prst="line">
                <a:avLst/>
              </a:prstGeom>
              <a:noFill/>
              <a:ln w="254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40" name="Group 6"/>
            <p:cNvGrpSpPr>
              <a:grpSpLocks/>
            </p:cNvGrpSpPr>
            <p:nvPr/>
          </p:nvGrpSpPr>
          <p:grpSpPr bwMode="auto">
            <a:xfrm>
              <a:off x="3342" y="1616"/>
              <a:ext cx="443" cy="618"/>
              <a:chOff x="3342" y="1616"/>
              <a:chExt cx="443" cy="618"/>
            </a:xfrm>
          </p:grpSpPr>
          <p:sp>
            <p:nvSpPr>
              <p:cNvPr id="26681" name="Rectangle 7"/>
              <p:cNvSpPr>
                <a:spLocks noChangeArrowheads="1"/>
              </p:cNvSpPr>
              <p:nvPr/>
            </p:nvSpPr>
            <p:spPr bwMode="auto">
              <a:xfrm>
                <a:off x="3342" y="1616"/>
                <a:ext cx="443" cy="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r>
                  <a:rPr lang="en-US" altLang="zh-CN" sz="4000" i="1">
                    <a:latin typeface="Bookman Old Style" pitchFamily="18" charset="0"/>
                  </a:rPr>
                  <a:t>a</a:t>
                </a:r>
              </a:p>
            </p:txBody>
          </p:sp>
          <p:sp>
            <p:nvSpPr>
              <p:cNvPr id="26682" name="Oval 8"/>
              <p:cNvSpPr>
                <a:spLocks noChangeArrowheads="1"/>
              </p:cNvSpPr>
              <p:nvPr/>
            </p:nvSpPr>
            <p:spPr bwMode="auto">
              <a:xfrm>
                <a:off x="3674" y="1764"/>
                <a:ext cx="69" cy="71"/>
              </a:xfrm>
              <a:prstGeom prst="ellipse">
                <a:avLst/>
              </a:prstGeom>
              <a:solidFill>
                <a:schemeClr val="tx2"/>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41" name="Group 9"/>
            <p:cNvGrpSpPr>
              <a:grpSpLocks/>
            </p:cNvGrpSpPr>
            <p:nvPr/>
          </p:nvGrpSpPr>
          <p:grpSpPr bwMode="auto">
            <a:xfrm>
              <a:off x="3552" y="1392"/>
              <a:ext cx="225" cy="1289"/>
              <a:chOff x="3562" y="1396"/>
              <a:chExt cx="225" cy="1289"/>
            </a:xfrm>
          </p:grpSpPr>
          <p:sp>
            <p:nvSpPr>
              <p:cNvPr id="26679" name="Line 10"/>
              <p:cNvSpPr>
                <a:spLocks noChangeShapeType="1"/>
              </p:cNvSpPr>
              <p:nvPr/>
            </p:nvSpPr>
            <p:spPr bwMode="auto">
              <a:xfrm>
                <a:off x="3701" y="1396"/>
                <a:ext cx="0" cy="954"/>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80" name="Object 11"/>
              <p:cNvGraphicFramePr>
                <a:graphicFrameLocks noChangeAspect="1"/>
              </p:cNvGraphicFramePr>
              <p:nvPr/>
            </p:nvGraphicFramePr>
            <p:xfrm>
              <a:off x="3562" y="2390"/>
              <a:ext cx="225" cy="295"/>
            </p:xfrm>
            <a:graphic>
              <a:graphicData uri="http://schemas.openxmlformats.org/presentationml/2006/ole">
                <mc:AlternateContent xmlns:mc="http://schemas.openxmlformats.org/markup-compatibility/2006">
                  <mc:Choice xmlns:v="urn:schemas-microsoft-com:vml" Requires="v">
                    <p:oleObj spid="_x0000_s183385" name="公式" r:id="rId3" imgW="418918" imgH="533169" progId="Equation.3">
                      <p:embed/>
                    </p:oleObj>
                  </mc:Choice>
                  <mc:Fallback>
                    <p:oleObj name="公式" r:id="rId3" imgW="418918" imgH="533169"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2" y="2390"/>
                            <a:ext cx="225"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6642" name="Group 12"/>
            <p:cNvGrpSpPr>
              <a:grpSpLocks/>
            </p:cNvGrpSpPr>
            <p:nvPr/>
          </p:nvGrpSpPr>
          <p:grpSpPr bwMode="auto">
            <a:xfrm>
              <a:off x="3698" y="206"/>
              <a:ext cx="1836" cy="956"/>
              <a:chOff x="3679" y="192"/>
              <a:chExt cx="1884" cy="956"/>
            </a:xfrm>
          </p:grpSpPr>
          <p:sp>
            <p:nvSpPr>
              <p:cNvPr id="26676" name="Arc 13"/>
              <p:cNvSpPr>
                <a:spLocks/>
              </p:cNvSpPr>
              <p:nvPr/>
            </p:nvSpPr>
            <p:spPr bwMode="auto">
              <a:xfrm>
                <a:off x="3679" y="192"/>
                <a:ext cx="1884" cy="956"/>
              </a:xfrm>
              <a:custGeom>
                <a:avLst/>
                <a:gdLst>
                  <a:gd name="T0" fmla="*/ 0 w 20363"/>
                  <a:gd name="T1" fmla="*/ 0 h 21183"/>
                  <a:gd name="T2" fmla="*/ 0 w 20363"/>
                  <a:gd name="T3" fmla="*/ 0 h 21183"/>
                  <a:gd name="T4" fmla="*/ 0 w 20363"/>
                  <a:gd name="T5" fmla="*/ 0 h 21183"/>
                  <a:gd name="T6" fmla="*/ 0 60000 65536"/>
                  <a:gd name="T7" fmla="*/ 0 60000 65536"/>
                  <a:gd name="T8" fmla="*/ 0 60000 65536"/>
                </a:gdLst>
                <a:ahLst/>
                <a:cxnLst>
                  <a:cxn ang="T6">
                    <a:pos x="T0" y="T1"/>
                  </a:cxn>
                  <a:cxn ang="T7">
                    <a:pos x="T2" y="T3"/>
                  </a:cxn>
                  <a:cxn ang="T8">
                    <a:pos x="T4" y="T5"/>
                  </a:cxn>
                </a:cxnLst>
                <a:rect l="0" t="0" r="r" b="b"/>
                <a:pathLst>
                  <a:path w="20363" h="21183" fill="none" extrusionOk="0">
                    <a:moveTo>
                      <a:pt x="16141" y="21183"/>
                    </a:moveTo>
                    <a:cubicBezTo>
                      <a:pt x="8673" y="19695"/>
                      <a:pt x="2540" y="14384"/>
                      <a:pt x="0" y="7204"/>
                    </a:cubicBezTo>
                  </a:path>
                  <a:path w="20363" h="21183" stroke="0" extrusionOk="0">
                    <a:moveTo>
                      <a:pt x="16141" y="21183"/>
                    </a:moveTo>
                    <a:cubicBezTo>
                      <a:pt x="8673" y="19695"/>
                      <a:pt x="2540" y="14384"/>
                      <a:pt x="0" y="7204"/>
                    </a:cubicBezTo>
                    <a:lnTo>
                      <a:pt x="20363" y="0"/>
                    </a:lnTo>
                    <a:lnTo>
                      <a:pt x="16141" y="21183"/>
                    </a:lnTo>
                    <a:close/>
                  </a:path>
                </a:pathLst>
              </a:custGeom>
              <a:noFill/>
              <a:ln w="25400" cap="rnd">
                <a:solidFill>
                  <a:srgbClr val="FF33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7" name="Arc 14"/>
              <p:cNvSpPr>
                <a:spLocks/>
              </p:cNvSpPr>
              <p:nvPr/>
            </p:nvSpPr>
            <p:spPr bwMode="auto">
              <a:xfrm>
                <a:off x="3679" y="192"/>
                <a:ext cx="1884" cy="819"/>
              </a:xfrm>
              <a:custGeom>
                <a:avLst/>
                <a:gdLst>
                  <a:gd name="T0" fmla="*/ 0 w 20363"/>
                  <a:gd name="T1" fmla="*/ 0 h 18150"/>
                  <a:gd name="T2" fmla="*/ 0 w 20363"/>
                  <a:gd name="T3" fmla="*/ 0 h 18150"/>
                  <a:gd name="T4" fmla="*/ 0 w 20363"/>
                  <a:gd name="T5" fmla="*/ 0 h 18150"/>
                  <a:gd name="T6" fmla="*/ 0 60000 65536"/>
                  <a:gd name="T7" fmla="*/ 0 60000 65536"/>
                  <a:gd name="T8" fmla="*/ 0 60000 65536"/>
                </a:gdLst>
                <a:ahLst/>
                <a:cxnLst>
                  <a:cxn ang="T6">
                    <a:pos x="T0" y="T1"/>
                  </a:cxn>
                  <a:cxn ang="T7">
                    <a:pos x="T2" y="T3"/>
                  </a:cxn>
                  <a:cxn ang="T8">
                    <a:pos x="T4" y="T5"/>
                  </a:cxn>
                </a:cxnLst>
                <a:rect l="0" t="0" r="r" b="b"/>
                <a:pathLst>
                  <a:path w="20363" h="18150" fill="none" extrusionOk="0">
                    <a:moveTo>
                      <a:pt x="8652" y="18149"/>
                    </a:moveTo>
                    <a:cubicBezTo>
                      <a:pt x="4636" y="15559"/>
                      <a:pt x="1594" y="11709"/>
                      <a:pt x="0" y="7204"/>
                    </a:cubicBezTo>
                  </a:path>
                  <a:path w="20363" h="18150" stroke="0" extrusionOk="0">
                    <a:moveTo>
                      <a:pt x="8652" y="18149"/>
                    </a:moveTo>
                    <a:cubicBezTo>
                      <a:pt x="4636" y="15559"/>
                      <a:pt x="1594" y="11709"/>
                      <a:pt x="0" y="7204"/>
                    </a:cubicBezTo>
                    <a:lnTo>
                      <a:pt x="20363" y="0"/>
                    </a:lnTo>
                    <a:lnTo>
                      <a:pt x="8652" y="18149"/>
                    </a:lnTo>
                    <a:close/>
                  </a:path>
                </a:pathLst>
              </a:custGeom>
              <a:noFill/>
              <a:ln w="25400" cap="rnd">
                <a:solidFill>
                  <a:srgbClr val="FF3300"/>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78" name="Object 15"/>
              <p:cNvGraphicFramePr>
                <a:graphicFrameLocks noChangeAspect="1"/>
              </p:cNvGraphicFramePr>
              <p:nvPr/>
            </p:nvGraphicFramePr>
            <p:xfrm>
              <a:off x="5154" y="870"/>
              <a:ext cx="150" cy="204"/>
            </p:xfrm>
            <a:graphic>
              <a:graphicData uri="http://schemas.openxmlformats.org/presentationml/2006/ole">
                <mc:AlternateContent xmlns:mc="http://schemas.openxmlformats.org/markup-compatibility/2006">
                  <mc:Choice xmlns:v="urn:schemas-microsoft-com:vml" Requires="v">
                    <p:oleObj spid="_x0000_s183386" name="公式" r:id="rId5" imgW="279400" imgH="368300" progId="Equation.3">
                      <p:embed/>
                    </p:oleObj>
                  </mc:Choice>
                  <mc:Fallback>
                    <p:oleObj name="公式" r:id="rId5" imgW="279400" imgH="368300"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4" y="870"/>
                            <a:ext cx="150"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6643" name="Group 16"/>
            <p:cNvGrpSpPr>
              <a:grpSpLocks/>
            </p:cNvGrpSpPr>
            <p:nvPr/>
          </p:nvGrpSpPr>
          <p:grpSpPr bwMode="auto">
            <a:xfrm>
              <a:off x="3524" y="274"/>
              <a:ext cx="177" cy="1149"/>
              <a:chOff x="3524" y="274"/>
              <a:chExt cx="177" cy="1149"/>
            </a:xfrm>
          </p:grpSpPr>
          <p:sp>
            <p:nvSpPr>
              <p:cNvPr id="26672" name="Line 17"/>
              <p:cNvSpPr>
                <a:spLocks noChangeShapeType="1"/>
              </p:cNvSpPr>
              <p:nvPr/>
            </p:nvSpPr>
            <p:spPr bwMode="auto">
              <a:xfrm>
                <a:off x="3701" y="976"/>
                <a:ext cx="0" cy="447"/>
              </a:xfrm>
              <a:prstGeom prst="line">
                <a:avLst/>
              </a:prstGeom>
              <a:noFill/>
              <a:ln w="25400">
                <a:solidFill>
                  <a:srgbClr val="FF3300"/>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673" name="Group 18"/>
              <p:cNvGrpSpPr>
                <a:grpSpLocks/>
              </p:cNvGrpSpPr>
              <p:nvPr/>
            </p:nvGrpSpPr>
            <p:grpSpPr bwMode="auto">
              <a:xfrm>
                <a:off x="3524" y="274"/>
                <a:ext cx="177" cy="1084"/>
                <a:chOff x="3524" y="274"/>
                <a:chExt cx="177" cy="1084"/>
              </a:xfrm>
            </p:grpSpPr>
            <p:sp>
              <p:nvSpPr>
                <p:cNvPr id="26674" name="Line 19"/>
                <p:cNvSpPr>
                  <a:spLocks noChangeShapeType="1"/>
                </p:cNvSpPr>
                <p:nvPr/>
              </p:nvSpPr>
              <p:spPr bwMode="auto">
                <a:xfrm>
                  <a:off x="3701" y="529"/>
                  <a:ext cx="0" cy="829"/>
                </a:xfrm>
                <a:prstGeom prst="line">
                  <a:avLst/>
                </a:prstGeom>
                <a:noFill/>
                <a:ln w="25400">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75" name="Object 20"/>
                <p:cNvGraphicFramePr>
                  <a:graphicFrameLocks noChangeAspect="1"/>
                </p:cNvGraphicFramePr>
                <p:nvPr/>
              </p:nvGraphicFramePr>
              <p:xfrm>
                <a:off x="3524" y="274"/>
                <a:ext cx="136" cy="212"/>
              </p:xfrm>
              <a:graphic>
                <a:graphicData uri="http://schemas.openxmlformats.org/presentationml/2006/ole">
                  <mc:AlternateContent xmlns:mc="http://schemas.openxmlformats.org/markup-compatibility/2006">
                    <mc:Choice xmlns:v="urn:schemas-microsoft-com:vml" Requires="v">
                      <p:oleObj spid="_x0000_s183387" name="公式" r:id="rId7" imgW="253890" imgH="380835" progId="Equation.3">
                        <p:embed/>
                      </p:oleObj>
                    </mc:Choice>
                    <mc:Fallback>
                      <p:oleObj name="公式" r:id="rId7" imgW="253890" imgH="380835"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24" y="274"/>
                              <a:ext cx="1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26644" name="Group 21"/>
            <p:cNvGrpSpPr>
              <a:grpSpLocks/>
            </p:cNvGrpSpPr>
            <p:nvPr/>
          </p:nvGrpSpPr>
          <p:grpSpPr bwMode="auto">
            <a:xfrm>
              <a:off x="3480" y="912"/>
              <a:ext cx="1970" cy="1008"/>
              <a:chOff x="3480" y="912"/>
              <a:chExt cx="1970" cy="1008"/>
            </a:xfrm>
          </p:grpSpPr>
          <p:sp>
            <p:nvSpPr>
              <p:cNvPr id="26667" name="Arc 22"/>
              <p:cNvSpPr>
                <a:spLocks/>
              </p:cNvSpPr>
              <p:nvPr/>
            </p:nvSpPr>
            <p:spPr bwMode="auto">
              <a:xfrm>
                <a:off x="4312" y="912"/>
                <a:ext cx="907" cy="894"/>
              </a:xfrm>
              <a:custGeom>
                <a:avLst/>
                <a:gdLst>
                  <a:gd name="T0" fmla="*/ 0 w 10935"/>
                  <a:gd name="T1" fmla="*/ 0 h 21587"/>
                  <a:gd name="T2" fmla="*/ 0 w 10935"/>
                  <a:gd name="T3" fmla="*/ 0 h 21587"/>
                  <a:gd name="T4" fmla="*/ 0 w 10935"/>
                  <a:gd name="T5" fmla="*/ 0 h 21587"/>
                  <a:gd name="T6" fmla="*/ 0 60000 65536"/>
                  <a:gd name="T7" fmla="*/ 0 60000 65536"/>
                  <a:gd name="T8" fmla="*/ 0 60000 65536"/>
                </a:gdLst>
                <a:ahLst/>
                <a:cxnLst>
                  <a:cxn ang="T6">
                    <a:pos x="T0" y="T1"/>
                  </a:cxn>
                  <a:cxn ang="T7">
                    <a:pos x="T2" y="T3"/>
                  </a:cxn>
                  <a:cxn ang="T8">
                    <a:pos x="T4" y="T5"/>
                  </a:cxn>
                </a:cxnLst>
                <a:rect l="0" t="0" r="r" b="b"/>
                <a:pathLst>
                  <a:path w="10935" h="21587" fill="none" extrusionOk="0">
                    <a:moveTo>
                      <a:pt x="10174" y="21586"/>
                    </a:moveTo>
                    <a:cubicBezTo>
                      <a:pt x="6589" y="21460"/>
                      <a:pt x="3093" y="20443"/>
                      <a:pt x="0" y="18627"/>
                    </a:cubicBezTo>
                  </a:path>
                  <a:path w="10935" h="21587" stroke="0" extrusionOk="0">
                    <a:moveTo>
                      <a:pt x="10174" y="21586"/>
                    </a:moveTo>
                    <a:cubicBezTo>
                      <a:pt x="6589" y="21460"/>
                      <a:pt x="3093" y="20443"/>
                      <a:pt x="0" y="18627"/>
                    </a:cubicBezTo>
                    <a:lnTo>
                      <a:pt x="10935" y="0"/>
                    </a:lnTo>
                    <a:lnTo>
                      <a:pt x="10174" y="21586"/>
                    </a:lnTo>
                    <a:close/>
                  </a:path>
                </a:pathLst>
              </a:custGeom>
              <a:noFill/>
              <a:ln w="25400" cap="rnd">
                <a:solidFill>
                  <a:srgbClr val="FF3300"/>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668" name="Group 23"/>
              <p:cNvGrpSpPr>
                <a:grpSpLocks/>
              </p:cNvGrpSpPr>
              <p:nvPr/>
            </p:nvGrpSpPr>
            <p:grpSpPr bwMode="auto">
              <a:xfrm>
                <a:off x="3480" y="912"/>
                <a:ext cx="1970" cy="1008"/>
                <a:chOff x="3480" y="912"/>
                <a:chExt cx="1970" cy="1008"/>
              </a:xfrm>
            </p:grpSpPr>
            <p:sp>
              <p:nvSpPr>
                <p:cNvPr id="26669" name="Arc 24"/>
                <p:cNvSpPr>
                  <a:spLocks/>
                </p:cNvSpPr>
                <p:nvPr/>
              </p:nvSpPr>
              <p:spPr bwMode="auto">
                <a:xfrm>
                  <a:off x="3699" y="912"/>
                  <a:ext cx="1520" cy="894"/>
                </a:xfrm>
                <a:custGeom>
                  <a:avLst/>
                  <a:gdLst>
                    <a:gd name="T0" fmla="*/ 0 w 18325"/>
                    <a:gd name="T1" fmla="*/ 0 h 21587"/>
                    <a:gd name="T2" fmla="*/ 0 w 18325"/>
                    <a:gd name="T3" fmla="*/ 0 h 21587"/>
                    <a:gd name="T4" fmla="*/ 0 w 18325"/>
                    <a:gd name="T5" fmla="*/ 0 h 21587"/>
                    <a:gd name="T6" fmla="*/ 0 60000 65536"/>
                    <a:gd name="T7" fmla="*/ 0 60000 65536"/>
                    <a:gd name="T8" fmla="*/ 0 60000 65536"/>
                  </a:gdLst>
                  <a:ahLst/>
                  <a:cxnLst>
                    <a:cxn ang="T6">
                      <a:pos x="T0" y="T1"/>
                    </a:cxn>
                    <a:cxn ang="T7">
                      <a:pos x="T2" y="T3"/>
                    </a:cxn>
                    <a:cxn ang="T8">
                      <a:pos x="T4" y="T5"/>
                    </a:cxn>
                  </a:cxnLst>
                  <a:rect l="0" t="0" r="r" b="b"/>
                  <a:pathLst>
                    <a:path w="18325" h="21587" fill="none" extrusionOk="0">
                      <a:moveTo>
                        <a:pt x="17564" y="21586"/>
                      </a:moveTo>
                      <a:cubicBezTo>
                        <a:pt x="10385" y="21333"/>
                        <a:pt x="3802" y="17528"/>
                        <a:pt x="0" y="11434"/>
                      </a:cubicBezTo>
                    </a:path>
                    <a:path w="18325" h="21587" stroke="0" extrusionOk="0">
                      <a:moveTo>
                        <a:pt x="17564" y="21586"/>
                      </a:moveTo>
                      <a:cubicBezTo>
                        <a:pt x="10385" y="21333"/>
                        <a:pt x="3802" y="17528"/>
                        <a:pt x="0" y="11434"/>
                      </a:cubicBezTo>
                      <a:lnTo>
                        <a:pt x="18325" y="0"/>
                      </a:lnTo>
                      <a:lnTo>
                        <a:pt x="17564" y="21586"/>
                      </a:lnTo>
                      <a:close/>
                    </a:path>
                  </a:pathLst>
                </a:custGeom>
                <a:noFill/>
                <a:ln w="25400" cap="rnd">
                  <a:solidFill>
                    <a:srgbClr val="FF33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70" name="Object 25"/>
                <p:cNvGraphicFramePr>
                  <a:graphicFrameLocks noChangeAspect="1"/>
                </p:cNvGraphicFramePr>
                <p:nvPr/>
              </p:nvGraphicFramePr>
              <p:xfrm>
                <a:off x="3480" y="1251"/>
                <a:ext cx="142" cy="204"/>
              </p:xfrm>
              <a:graphic>
                <a:graphicData uri="http://schemas.openxmlformats.org/presentationml/2006/ole">
                  <mc:AlternateContent xmlns:mc="http://schemas.openxmlformats.org/markup-compatibility/2006">
                    <mc:Choice xmlns:v="urn:schemas-microsoft-com:vml" Requires="v">
                      <p:oleObj spid="_x0000_s183388" name="公式" r:id="rId9" imgW="266584" imgH="368140" progId="Equation.3">
                        <p:embed/>
                      </p:oleObj>
                    </mc:Choice>
                    <mc:Fallback>
                      <p:oleObj name="公式" r:id="rId9" imgW="266584" imgH="368140"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80" y="1251"/>
                              <a:ext cx="142"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71" name="Object 26"/>
                <p:cNvGraphicFramePr>
                  <a:graphicFrameLocks noChangeAspect="1"/>
                </p:cNvGraphicFramePr>
                <p:nvPr/>
              </p:nvGraphicFramePr>
              <p:xfrm>
                <a:off x="5335" y="1716"/>
                <a:ext cx="115" cy="204"/>
              </p:xfrm>
              <a:graphic>
                <a:graphicData uri="http://schemas.openxmlformats.org/presentationml/2006/ole">
                  <mc:AlternateContent xmlns:mc="http://schemas.openxmlformats.org/markup-compatibility/2006">
                    <mc:Choice xmlns:v="urn:schemas-microsoft-com:vml" Requires="v">
                      <p:oleObj spid="_x0000_s183389" name="公式" r:id="rId11" imgW="215806" imgH="368140" progId="Equation.3">
                        <p:embed/>
                      </p:oleObj>
                    </mc:Choice>
                    <mc:Fallback>
                      <p:oleObj name="公式" r:id="rId11" imgW="215806" imgH="368140" progId="Equation.3">
                        <p:embed/>
                        <p:pic>
                          <p:nvPicPr>
                            <p:cNvPr id="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35" y="1716"/>
                              <a:ext cx="115"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26645" name="Group 27"/>
            <p:cNvGrpSpPr>
              <a:grpSpLocks/>
            </p:cNvGrpSpPr>
            <p:nvPr/>
          </p:nvGrpSpPr>
          <p:grpSpPr bwMode="auto">
            <a:xfrm>
              <a:off x="4987" y="1800"/>
              <a:ext cx="246" cy="888"/>
              <a:chOff x="4997" y="1800"/>
              <a:chExt cx="246" cy="888"/>
            </a:xfrm>
          </p:grpSpPr>
          <p:sp>
            <p:nvSpPr>
              <p:cNvPr id="26665" name="Line 28"/>
              <p:cNvSpPr>
                <a:spLocks noChangeShapeType="1"/>
              </p:cNvSpPr>
              <p:nvPr/>
            </p:nvSpPr>
            <p:spPr bwMode="auto">
              <a:xfrm>
                <a:off x="5140" y="1800"/>
                <a:ext cx="8" cy="55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66" name="Object 29"/>
              <p:cNvGraphicFramePr>
                <a:graphicFrameLocks noChangeAspect="1"/>
              </p:cNvGraphicFramePr>
              <p:nvPr/>
            </p:nvGraphicFramePr>
            <p:xfrm>
              <a:off x="4997" y="2393"/>
              <a:ext cx="246" cy="295"/>
            </p:xfrm>
            <a:graphic>
              <a:graphicData uri="http://schemas.openxmlformats.org/presentationml/2006/ole">
                <mc:AlternateContent xmlns:mc="http://schemas.openxmlformats.org/markup-compatibility/2006">
                  <mc:Choice xmlns:v="urn:schemas-microsoft-com:vml" Requires="v">
                    <p:oleObj spid="_x0000_s183390" name="公式" r:id="rId13" imgW="457002" imgH="533169" progId="Equation.3">
                      <p:embed/>
                    </p:oleObj>
                  </mc:Choice>
                  <mc:Fallback>
                    <p:oleObj name="公式" r:id="rId13" imgW="457002" imgH="533169" progId="Equation.3">
                      <p:embed/>
                      <p:pic>
                        <p:nvPicPr>
                          <p:cNvPr id="0"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97" y="2393"/>
                            <a:ext cx="246"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6646" name="Group 30"/>
            <p:cNvGrpSpPr>
              <a:grpSpLocks/>
            </p:cNvGrpSpPr>
            <p:nvPr/>
          </p:nvGrpSpPr>
          <p:grpSpPr bwMode="auto">
            <a:xfrm>
              <a:off x="3709" y="1800"/>
              <a:ext cx="1432" cy="253"/>
              <a:chOff x="3709" y="1800"/>
              <a:chExt cx="1432" cy="253"/>
            </a:xfrm>
          </p:grpSpPr>
          <p:grpSp>
            <p:nvGrpSpPr>
              <p:cNvPr id="26661" name="Group 31"/>
              <p:cNvGrpSpPr>
                <a:grpSpLocks/>
              </p:cNvGrpSpPr>
              <p:nvPr/>
            </p:nvGrpSpPr>
            <p:grpSpPr bwMode="auto">
              <a:xfrm>
                <a:off x="3709" y="1800"/>
                <a:ext cx="1432" cy="0"/>
                <a:chOff x="3709" y="1800"/>
                <a:chExt cx="1432" cy="0"/>
              </a:xfrm>
            </p:grpSpPr>
            <p:sp>
              <p:nvSpPr>
                <p:cNvPr id="26663" name="Line 32"/>
                <p:cNvSpPr>
                  <a:spLocks noChangeShapeType="1"/>
                </p:cNvSpPr>
                <p:nvPr/>
              </p:nvSpPr>
              <p:spPr bwMode="auto">
                <a:xfrm>
                  <a:off x="3709" y="1800"/>
                  <a:ext cx="1432" cy="0"/>
                </a:xfrm>
                <a:prstGeom prst="line">
                  <a:avLst/>
                </a:prstGeom>
                <a:noFill/>
                <a:ln w="25400">
                  <a:solidFill>
                    <a:srgbClr val="FF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64" name="Line 33"/>
                <p:cNvSpPr>
                  <a:spLocks noChangeShapeType="1"/>
                </p:cNvSpPr>
                <p:nvPr/>
              </p:nvSpPr>
              <p:spPr bwMode="auto">
                <a:xfrm>
                  <a:off x="3709" y="1800"/>
                  <a:ext cx="327" cy="0"/>
                </a:xfrm>
                <a:prstGeom prst="line">
                  <a:avLst/>
                </a:prstGeom>
                <a:noFill/>
                <a:ln w="25400">
                  <a:solidFill>
                    <a:srgbClr val="FF0066"/>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26662" name="Object 34"/>
              <p:cNvGraphicFramePr>
                <a:graphicFrameLocks noChangeAspect="1"/>
              </p:cNvGraphicFramePr>
              <p:nvPr/>
            </p:nvGraphicFramePr>
            <p:xfrm>
              <a:off x="3780" y="1843"/>
              <a:ext cx="382" cy="210"/>
            </p:xfrm>
            <a:graphic>
              <a:graphicData uri="http://schemas.openxmlformats.org/presentationml/2006/ole">
                <mc:AlternateContent xmlns:mc="http://schemas.openxmlformats.org/markup-compatibility/2006">
                  <mc:Choice xmlns:v="urn:schemas-microsoft-com:vml" Requires="v">
                    <p:oleObj spid="_x0000_s183391" name="公式" r:id="rId15" imgW="901309" imgH="482391" progId="Equation.3">
                      <p:embed/>
                    </p:oleObj>
                  </mc:Choice>
                  <mc:Fallback>
                    <p:oleObj name="公式" r:id="rId15" imgW="901309" imgH="482391" progId="Equation.3">
                      <p:embed/>
                      <p:pic>
                        <p:nvPicPr>
                          <p:cNvPr id="0" name="Object 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80" y="1843"/>
                            <a:ext cx="382"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6647" name="Group 35"/>
            <p:cNvGrpSpPr>
              <a:grpSpLocks/>
            </p:cNvGrpSpPr>
            <p:nvPr/>
          </p:nvGrpSpPr>
          <p:grpSpPr bwMode="auto">
            <a:xfrm>
              <a:off x="4271" y="1800"/>
              <a:ext cx="387" cy="246"/>
              <a:chOff x="4271" y="1800"/>
              <a:chExt cx="387" cy="246"/>
            </a:xfrm>
          </p:grpSpPr>
          <p:sp>
            <p:nvSpPr>
              <p:cNvPr id="26659" name="Line 36"/>
              <p:cNvSpPr>
                <a:spLocks noChangeShapeType="1"/>
              </p:cNvSpPr>
              <p:nvPr/>
            </p:nvSpPr>
            <p:spPr bwMode="auto">
              <a:xfrm>
                <a:off x="4281" y="1800"/>
                <a:ext cx="328" cy="0"/>
              </a:xfrm>
              <a:prstGeom prst="line">
                <a:avLst/>
              </a:prstGeom>
              <a:noFill/>
              <a:ln w="25400">
                <a:solidFill>
                  <a:srgbClr val="FF0000"/>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60" name="Object 37"/>
              <p:cNvGraphicFramePr>
                <a:graphicFrameLocks noChangeAspect="1"/>
              </p:cNvGraphicFramePr>
              <p:nvPr/>
            </p:nvGraphicFramePr>
            <p:xfrm>
              <a:off x="4271" y="1836"/>
              <a:ext cx="387" cy="210"/>
            </p:xfrm>
            <a:graphic>
              <a:graphicData uri="http://schemas.openxmlformats.org/presentationml/2006/ole">
                <mc:AlternateContent xmlns:mc="http://schemas.openxmlformats.org/markup-compatibility/2006">
                  <mc:Choice xmlns:v="urn:schemas-microsoft-com:vml" Requires="v">
                    <p:oleObj spid="_x0000_s183392" name="公式" r:id="rId17" imgW="914400" imgH="482600" progId="Equation.3">
                      <p:embed/>
                    </p:oleObj>
                  </mc:Choice>
                  <mc:Fallback>
                    <p:oleObj name="公式" r:id="rId17" imgW="914400" imgH="482600" progId="Equation.3">
                      <p:embed/>
                      <p:pic>
                        <p:nvPicPr>
                          <p:cNvPr id="0" name="Object 3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71" y="1836"/>
                            <a:ext cx="387"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6648" name="Group 38"/>
            <p:cNvGrpSpPr>
              <a:grpSpLocks/>
            </p:cNvGrpSpPr>
            <p:nvPr/>
          </p:nvGrpSpPr>
          <p:grpSpPr bwMode="auto">
            <a:xfrm>
              <a:off x="4118" y="446"/>
              <a:ext cx="989" cy="1184"/>
              <a:chOff x="4118" y="446"/>
              <a:chExt cx="989" cy="1184"/>
            </a:xfrm>
          </p:grpSpPr>
          <p:sp>
            <p:nvSpPr>
              <p:cNvPr id="26656" name="Line 39"/>
              <p:cNvSpPr>
                <a:spLocks noChangeShapeType="1"/>
              </p:cNvSpPr>
              <p:nvPr/>
            </p:nvSpPr>
            <p:spPr bwMode="auto">
              <a:xfrm flipV="1">
                <a:off x="4118" y="700"/>
                <a:ext cx="654" cy="127"/>
              </a:xfrm>
              <a:prstGeom prst="line">
                <a:avLst/>
              </a:prstGeom>
              <a:noFill/>
              <a:ln w="1905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7" name="Line 40"/>
              <p:cNvSpPr>
                <a:spLocks noChangeShapeType="1"/>
              </p:cNvSpPr>
              <p:nvPr/>
            </p:nvSpPr>
            <p:spPr bwMode="auto">
              <a:xfrm flipV="1">
                <a:off x="4200" y="700"/>
                <a:ext cx="572" cy="930"/>
              </a:xfrm>
              <a:prstGeom prst="line">
                <a:avLst/>
              </a:prstGeom>
              <a:noFill/>
              <a:ln w="1905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58" name="Object 41"/>
              <p:cNvGraphicFramePr>
                <a:graphicFrameLocks noChangeAspect="1"/>
              </p:cNvGraphicFramePr>
              <p:nvPr/>
            </p:nvGraphicFramePr>
            <p:xfrm>
              <a:off x="4527" y="446"/>
              <a:ext cx="580" cy="210"/>
            </p:xfrm>
            <a:graphic>
              <a:graphicData uri="http://schemas.openxmlformats.org/presentationml/2006/ole">
                <mc:AlternateContent xmlns:mc="http://schemas.openxmlformats.org/markup-compatibility/2006">
                  <mc:Choice xmlns:v="urn:schemas-microsoft-com:vml" Requires="v">
                    <p:oleObj spid="_x0000_s183393" name="公式" r:id="rId19" imgW="1371600" imgH="482600" progId="Equation.3">
                      <p:embed/>
                    </p:oleObj>
                  </mc:Choice>
                  <mc:Fallback>
                    <p:oleObj name="公式" r:id="rId19" imgW="1371600" imgH="482600" progId="Equation.3">
                      <p:embed/>
                      <p:pic>
                        <p:nvPicPr>
                          <p:cNvPr id="0" name="Object 4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27" y="446"/>
                            <a:ext cx="580"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6649" name="Group 42"/>
            <p:cNvGrpSpPr>
              <a:grpSpLocks/>
            </p:cNvGrpSpPr>
            <p:nvPr/>
          </p:nvGrpSpPr>
          <p:grpSpPr bwMode="auto">
            <a:xfrm>
              <a:off x="2880" y="362"/>
              <a:ext cx="2842" cy="2297"/>
              <a:chOff x="2880" y="362"/>
              <a:chExt cx="2842" cy="2297"/>
            </a:xfrm>
          </p:grpSpPr>
          <p:grpSp>
            <p:nvGrpSpPr>
              <p:cNvPr id="26650" name="Group 43"/>
              <p:cNvGrpSpPr>
                <a:grpSpLocks/>
              </p:cNvGrpSpPr>
              <p:nvPr/>
            </p:nvGrpSpPr>
            <p:grpSpPr bwMode="auto">
              <a:xfrm>
                <a:off x="2880" y="362"/>
                <a:ext cx="2842" cy="2297"/>
                <a:chOff x="2880" y="362"/>
                <a:chExt cx="2842" cy="2297"/>
              </a:xfrm>
            </p:grpSpPr>
            <p:sp>
              <p:nvSpPr>
                <p:cNvPr id="26652" name="Line 44"/>
                <p:cNvSpPr>
                  <a:spLocks noChangeShapeType="1"/>
                </p:cNvSpPr>
                <p:nvPr/>
              </p:nvSpPr>
              <p:spPr bwMode="auto">
                <a:xfrm>
                  <a:off x="3218" y="2350"/>
                  <a:ext cx="2414"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3" name="Line 45"/>
                <p:cNvSpPr>
                  <a:spLocks noChangeShapeType="1"/>
                </p:cNvSpPr>
                <p:nvPr/>
              </p:nvSpPr>
              <p:spPr bwMode="auto">
                <a:xfrm flipV="1">
                  <a:off x="3218" y="364"/>
                  <a:ext cx="0" cy="1986"/>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54" name="Object 46"/>
                <p:cNvGraphicFramePr>
                  <a:graphicFrameLocks noChangeAspect="1"/>
                </p:cNvGraphicFramePr>
                <p:nvPr/>
              </p:nvGraphicFramePr>
              <p:xfrm>
                <a:off x="5511" y="2434"/>
                <a:ext cx="211" cy="225"/>
              </p:xfrm>
              <a:graphic>
                <a:graphicData uri="http://schemas.openxmlformats.org/presentationml/2006/ole">
                  <mc:AlternateContent xmlns:mc="http://schemas.openxmlformats.org/markup-compatibility/2006">
                    <mc:Choice xmlns:v="urn:schemas-microsoft-com:vml" Requires="v">
                      <p:oleObj spid="_x0000_s183394" name="公式" r:id="rId21" imgW="393359" imgH="406048" progId="Equation.3">
                        <p:embed/>
                      </p:oleObj>
                    </mc:Choice>
                    <mc:Fallback>
                      <p:oleObj name="公式" r:id="rId21" imgW="393359" imgH="406048" progId="Equation.3">
                        <p:embed/>
                        <p:pic>
                          <p:nvPicPr>
                            <p:cNvPr id="0" name="Object 4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11" y="2434"/>
                              <a:ext cx="211"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5" name="Object 47"/>
                <p:cNvGraphicFramePr>
                  <a:graphicFrameLocks noChangeAspect="1"/>
                </p:cNvGraphicFramePr>
                <p:nvPr/>
              </p:nvGraphicFramePr>
              <p:xfrm>
                <a:off x="2880" y="362"/>
                <a:ext cx="211" cy="218"/>
              </p:xfrm>
              <a:graphic>
                <a:graphicData uri="http://schemas.openxmlformats.org/presentationml/2006/ole">
                  <mc:AlternateContent xmlns:mc="http://schemas.openxmlformats.org/markup-compatibility/2006">
                    <mc:Choice xmlns:v="urn:schemas-microsoft-com:vml" Requires="v">
                      <p:oleObj spid="_x0000_s183395" name="公式" r:id="rId23" imgW="393529" imgH="393529" progId="Equation.3">
                        <p:embed/>
                      </p:oleObj>
                    </mc:Choice>
                    <mc:Fallback>
                      <p:oleObj name="公式" r:id="rId23" imgW="393529" imgH="393529" progId="Equation.3">
                        <p:embed/>
                        <p:pic>
                          <p:nvPicPr>
                            <p:cNvPr id="0" name="Object 4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880" y="362"/>
                              <a:ext cx="211"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6651" name="Object 48"/>
              <p:cNvGraphicFramePr>
                <a:graphicFrameLocks noChangeAspect="1"/>
              </p:cNvGraphicFramePr>
              <p:nvPr/>
            </p:nvGraphicFramePr>
            <p:xfrm>
              <a:off x="3024" y="2352"/>
              <a:ext cx="159" cy="176"/>
            </p:xfrm>
            <a:graphic>
              <a:graphicData uri="http://schemas.openxmlformats.org/presentationml/2006/ole">
                <mc:AlternateContent xmlns:mc="http://schemas.openxmlformats.org/markup-compatibility/2006">
                  <mc:Choice xmlns:v="urn:schemas-microsoft-com:vml" Requires="v">
                    <p:oleObj spid="_x0000_s183396" name="公式" r:id="rId25" imgW="253890" imgH="279279" progId="Equation.3">
                      <p:embed/>
                    </p:oleObj>
                  </mc:Choice>
                  <mc:Fallback>
                    <p:oleObj name="公式" r:id="rId25" imgW="253890" imgH="279279" progId="Equation.3">
                      <p:embed/>
                      <p:pic>
                        <p:nvPicPr>
                          <p:cNvPr id="0" name="Object 4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024" y="2352"/>
                            <a:ext cx="159"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119869" name="Object 61"/>
          <p:cNvGraphicFramePr>
            <a:graphicFrameLocks noChangeAspect="1"/>
          </p:cNvGraphicFramePr>
          <p:nvPr/>
        </p:nvGraphicFramePr>
        <p:xfrm>
          <a:off x="1547813" y="3789363"/>
          <a:ext cx="2438400" cy="1054100"/>
        </p:xfrm>
        <a:graphic>
          <a:graphicData uri="http://schemas.openxmlformats.org/presentationml/2006/ole">
            <mc:AlternateContent xmlns:mc="http://schemas.openxmlformats.org/markup-compatibility/2006">
              <mc:Choice xmlns:v="urn:schemas-microsoft-com:vml" Requires="v">
                <p:oleObj spid="_x0000_s183397" name="公式" r:id="rId27" imgW="2705100" imgH="1168400" progId="Equation.3">
                  <p:embed/>
                </p:oleObj>
              </mc:Choice>
              <mc:Fallback>
                <p:oleObj name="公式" r:id="rId27" imgW="2705100" imgH="1168400" progId="Equation.3">
                  <p:embed/>
                  <p:pic>
                    <p:nvPicPr>
                      <p:cNvPr id="0" name="Object 6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47813" y="3789363"/>
                        <a:ext cx="24384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70" name="Object 62"/>
          <p:cNvGraphicFramePr>
            <a:graphicFrameLocks noChangeAspect="1"/>
          </p:cNvGraphicFramePr>
          <p:nvPr/>
        </p:nvGraphicFramePr>
        <p:xfrm>
          <a:off x="4211638" y="3657600"/>
          <a:ext cx="2133600" cy="1211263"/>
        </p:xfrm>
        <a:graphic>
          <a:graphicData uri="http://schemas.openxmlformats.org/presentationml/2006/ole">
            <mc:AlternateContent xmlns:mc="http://schemas.openxmlformats.org/markup-compatibility/2006">
              <mc:Choice xmlns:v="urn:schemas-microsoft-com:vml" Requires="v">
                <p:oleObj spid="_x0000_s183398" name="公式" r:id="rId29" imgW="2349500" imgH="1333500" progId="Equation.3">
                  <p:embed/>
                </p:oleObj>
              </mc:Choice>
              <mc:Fallback>
                <p:oleObj name="公式" r:id="rId29" imgW="2349500" imgH="1333500" progId="Equation.3">
                  <p:embed/>
                  <p:pic>
                    <p:nvPicPr>
                      <p:cNvPr id="0" name="Object 6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211638" y="3657600"/>
                        <a:ext cx="2133600" cy="121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9871" name="Text Box 63"/>
          <p:cNvSpPr txBox="1">
            <a:spLocks noChangeArrowheads="1"/>
          </p:cNvSpPr>
          <p:nvPr/>
        </p:nvSpPr>
        <p:spPr bwMode="auto">
          <a:xfrm>
            <a:off x="2772508" y="5096505"/>
            <a:ext cx="347551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latin typeface="Century Schoolbook" pitchFamily="18" charset="0"/>
              </a:rPr>
              <a:t>一般为</a:t>
            </a:r>
            <a:r>
              <a:rPr lang="en-US" altLang="zh-CN" dirty="0">
                <a:latin typeface="Century Schoolbook" pitchFamily="18" charset="0"/>
              </a:rPr>
              <a:t>8</a:t>
            </a:r>
            <a:r>
              <a:rPr lang="zh-CN" altLang="en-US" b="1" dirty="0">
                <a:latin typeface="Century Schoolbook" pitchFamily="18" charset="0"/>
              </a:rPr>
              <a:t>，如采用双原子分子气体为工作物质，在理想情况下，其热机效率为：</a:t>
            </a:r>
          </a:p>
        </p:txBody>
      </p:sp>
      <p:graphicFrame>
        <p:nvGraphicFramePr>
          <p:cNvPr id="119872" name="Object 64"/>
          <p:cNvGraphicFramePr>
            <a:graphicFrameLocks noChangeAspect="1"/>
          </p:cNvGraphicFramePr>
          <p:nvPr>
            <p:extLst>
              <p:ext uri="{D42A27DB-BD31-4B8C-83A1-F6EECF244321}">
                <p14:modId xmlns:p14="http://schemas.microsoft.com/office/powerpoint/2010/main" val="1348442210"/>
              </p:ext>
            </p:extLst>
          </p:nvPr>
        </p:nvGraphicFramePr>
        <p:xfrm>
          <a:off x="6524859" y="4650901"/>
          <a:ext cx="2209800" cy="1011237"/>
        </p:xfrm>
        <a:graphic>
          <a:graphicData uri="http://schemas.openxmlformats.org/presentationml/2006/ole">
            <mc:AlternateContent xmlns:mc="http://schemas.openxmlformats.org/markup-compatibility/2006">
              <mc:Choice xmlns:v="urn:schemas-microsoft-com:vml" Requires="v">
                <p:oleObj spid="_x0000_s183399" name="公式" r:id="rId31" imgW="2692400" imgH="1231900" progId="Equation.3">
                  <p:embed/>
                </p:oleObj>
              </mc:Choice>
              <mc:Fallback>
                <p:oleObj name="公式" r:id="rId31" imgW="2692400" imgH="1231900" progId="Equation.3">
                  <p:embed/>
                  <p:pic>
                    <p:nvPicPr>
                      <p:cNvPr id="0" name="Object 6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524859" y="4650901"/>
                        <a:ext cx="2209800" cy="1011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73" name="Object 65"/>
          <p:cNvGraphicFramePr>
            <a:graphicFrameLocks noChangeAspect="1"/>
          </p:cNvGraphicFramePr>
          <p:nvPr>
            <p:extLst>
              <p:ext uri="{D42A27DB-BD31-4B8C-83A1-F6EECF244321}">
                <p14:modId xmlns:p14="http://schemas.microsoft.com/office/powerpoint/2010/main" val="18403357"/>
              </p:ext>
            </p:extLst>
          </p:nvPr>
        </p:nvGraphicFramePr>
        <p:xfrm>
          <a:off x="6706726" y="5604336"/>
          <a:ext cx="1042987" cy="420688"/>
        </p:xfrm>
        <a:graphic>
          <a:graphicData uri="http://schemas.openxmlformats.org/presentationml/2006/ole">
            <mc:AlternateContent xmlns:mc="http://schemas.openxmlformats.org/markup-compatibility/2006">
              <mc:Choice xmlns:v="urn:schemas-microsoft-com:vml" Requires="v">
                <p:oleObj spid="_x0000_s183400" name="Equation" r:id="rId33" imgW="444114" imgH="177646" progId="Equation.3">
                  <p:embed/>
                </p:oleObj>
              </mc:Choice>
              <mc:Fallback>
                <p:oleObj name="Equation" r:id="rId33" imgW="444114" imgH="177646" progId="Equation.3">
                  <p:embed/>
                  <p:pic>
                    <p:nvPicPr>
                      <p:cNvPr id="0" name="Object 65"/>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706726" y="5604336"/>
                        <a:ext cx="1042987"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19874" name="Group 66"/>
          <p:cNvGrpSpPr>
            <a:grpSpLocks/>
          </p:cNvGrpSpPr>
          <p:nvPr/>
        </p:nvGrpSpPr>
        <p:grpSpPr bwMode="auto">
          <a:xfrm>
            <a:off x="404813" y="4781183"/>
            <a:ext cx="2362200" cy="1092200"/>
            <a:chOff x="4080" y="1968"/>
            <a:chExt cx="1488" cy="688"/>
          </a:xfrm>
        </p:grpSpPr>
        <p:sp>
          <p:nvSpPr>
            <p:cNvPr id="26637" name="Rectangle 67"/>
            <p:cNvSpPr>
              <a:spLocks noChangeArrowheads="1"/>
            </p:cNvSpPr>
            <p:nvPr/>
          </p:nvSpPr>
          <p:spPr bwMode="auto">
            <a:xfrm>
              <a:off x="4327" y="2160"/>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dirty="0">
                  <a:latin typeface="Century Schoolbook" pitchFamily="18" charset="0"/>
                </a:rPr>
                <a:t>称为压缩比</a:t>
              </a:r>
            </a:p>
          </p:txBody>
        </p:sp>
        <p:graphicFrame>
          <p:nvGraphicFramePr>
            <p:cNvPr id="26638" name="Object 68"/>
            <p:cNvGraphicFramePr>
              <a:graphicFrameLocks noChangeAspect="1"/>
            </p:cNvGraphicFramePr>
            <p:nvPr/>
          </p:nvGraphicFramePr>
          <p:xfrm>
            <a:off x="4080" y="1968"/>
            <a:ext cx="306" cy="688"/>
          </p:xfrm>
          <a:graphic>
            <a:graphicData uri="http://schemas.openxmlformats.org/presentationml/2006/ole">
              <mc:AlternateContent xmlns:mc="http://schemas.openxmlformats.org/markup-compatibility/2006">
                <mc:Choice xmlns:v="urn:schemas-microsoft-com:vml" Requires="v">
                  <p:oleObj spid="_x0000_s183401" name="公式" r:id="rId35" imgW="520700" imgH="1168400" progId="Equation.3">
                    <p:embed/>
                  </p:oleObj>
                </mc:Choice>
                <mc:Fallback>
                  <p:oleObj name="公式" r:id="rId35" imgW="520700" imgH="1168400" progId="Equation.3">
                    <p:embed/>
                    <p:pic>
                      <p:nvPicPr>
                        <p:cNvPr id="0" name="Object 68"/>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080" y="1968"/>
                          <a:ext cx="306" cy="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9877" name="Text Box 69"/>
          <p:cNvSpPr txBox="1">
            <a:spLocks noChangeArrowheads="1"/>
          </p:cNvSpPr>
          <p:nvPr/>
        </p:nvSpPr>
        <p:spPr bwMode="auto">
          <a:xfrm>
            <a:off x="3779838" y="765175"/>
            <a:ext cx="2305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a:latin typeface="Century Schoolbook" pitchFamily="18" charset="0"/>
              </a:rPr>
              <a:t>（</a:t>
            </a:r>
            <a:r>
              <a:rPr lang="en-US" altLang="zh-CN" sz="2800">
                <a:latin typeface="Century Schoolbook" pitchFamily="18" charset="0"/>
              </a:rPr>
              <a:t>2</a:t>
            </a:r>
            <a:r>
              <a:rPr lang="zh-CN" altLang="en-US" sz="2800">
                <a:latin typeface="Century Schoolbook" pitchFamily="18" charset="0"/>
              </a:rPr>
              <a:t>）</a:t>
            </a:r>
            <a:r>
              <a:rPr lang="en-US" altLang="zh-CN" sz="2800">
                <a:latin typeface="Symbol" pitchFamily="18" charset="2"/>
              </a:rPr>
              <a:t>-</a:t>
            </a:r>
            <a:r>
              <a:rPr lang="zh-CN" altLang="en-US" sz="2800">
                <a:latin typeface="Symbol" pitchFamily="18" charset="2"/>
              </a:rPr>
              <a:t>（</a:t>
            </a:r>
            <a:r>
              <a:rPr lang="en-US" altLang="zh-CN" sz="2800">
                <a:latin typeface="Symbol" pitchFamily="18" charset="2"/>
              </a:rPr>
              <a:t>1</a:t>
            </a:r>
            <a:r>
              <a:rPr lang="zh-CN" altLang="en-US" sz="2800">
                <a:latin typeface="Symbol" pitchFamily="18" charset="2"/>
              </a:rPr>
              <a:t>）</a:t>
            </a:r>
            <a:endParaRPr lang="zh-CN" altLang="en-US" sz="3600" b="1">
              <a:latin typeface="Century Schoolbook" pitchFamily="18" charset="0"/>
            </a:endParaRPr>
          </a:p>
        </p:txBody>
      </p:sp>
      <p:graphicFrame>
        <p:nvGraphicFramePr>
          <p:cNvPr id="119878" name="Object 70"/>
          <p:cNvGraphicFramePr>
            <a:graphicFrameLocks noChangeAspect="1"/>
          </p:cNvGraphicFramePr>
          <p:nvPr/>
        </p:nvGraphicFramePr>
        <p:xfrm>
          <a:off x="1403350" y="1844675"/>
          <a:ext cx="4511675" cy="1814513"/>
        </p:xfrm>
        <a:graphic>
          <a:graphicData uri="http://schemas.openxmlformats.org/presentationml/2006/ole">
            <mc:AlternateContent xmlns:mc="http://schemas.openxmlformats.org/markup-compatibility/2006">
              <mc:Choice xmlns:v="urn:schemas-microsoft-com:vml" Requires="v">
                <p:oleObj spid="_x0000_s183402" name="Equation" r:id="rId37" imgW="1892300" imgH="762000" progId="Equation.DSMT4">
                  <p:embed/>
                </p:oleObj>
              </mc:Choice>
              <mc:Fallback>
                <p:oleObj name="Equation" r:id="rId37" imgW="1892300" imgH="762000" progId="Equation.DSMT4">
                  <p:embed/>
                  <p:pic>
                    <p:nvPicPr>
                      <p:cNvPr id="0" name="Object 7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403350" y="1844675"/>
                        <a:ext cx="4511675" cy="181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9879" name="Object 71"/>
          <p:cNvGraphicFramePr>
            <a:graphicFrameLocks noChangeAspect="1"/>
          </p:cNvGraphicFramePr>
          <p:nvPr/>
        </p:nvGraphicFramePr>
        <p:xfrm>
          <a:off x="468313" y="333375"/>
          <a:ext cx="3240087" cy="574675"/>
        </p:xfrm>
        <a:graphic>
          <a:graphicData uri="http://schemas.openxmlformats.org/presentationml/2006/ole">
            <mc:AlternateContent xmlns:mc="http://schemas.openxmlformats.org/markup-compatibility/2006">
              <mc:Choice xmlns:v="urn:schemas-microsoft-com:vml" Requires="v">
                <p:oleObj spid="_x0000_s183403" name="Equation" r:id="rId39" imgW="1358310" imgH="241195" progId="Equation.DSMT4">
                  <p:embed/>
                </p:oleObj>
              </mc:Choice>
              <mc:Fallback>
                <p:oleObj name="Equation" r:id="rId39" imgW="1358310" imgH="241195" progId="Equation.DSMT4">
                  <p:embed/>
                  <p:pic>
                    <p:nvPicPr>
                      <p:cNvPr id="0" name="Object 71"/>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68313" y="333375"/>
                        <a:ext cx="3240087"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9880" name="Object 72"/>
          <p:cNvGraphicFramePr>
            <a:graphicFrameLocks noChangeAspect="1"/>
          </p:cNvGraphicFramePr>
          <p:nvPr/>
        </p:nvGraphicFramePr>
        <p:xfrm>
          <a:off x="755650" y="1196975"/>
          <a:ext cx="2879725" cy="539750"/>
        </p:xfrm>
        <a:graphic>
          <a:graphicData uri="http://schemas.openxmlformats.org/presentationml/2006/ole">
            <mc:AlternateContent xmlns:mc="http://schemas.openxmlformats.org/markup-compatibility/2006">
              <mc:Choice xmlns:v="urn:schemas-microsoft-com:vml" Requires="v">
                <p:oleObj spid="_x0000_s183404" name="Equation" r:id="rId41" imgW="1282700" imgH="241300" progId="Equation.DSMT4">
                  <p:embed/>
                </p:oleObj>
              </mc:Choice>
              <mc:Fallback>
                <p:oleObj name="Equation" r:id="rId41" imgW="1282700" imgH="241300" progId="Equation.DSMT4">
                  <p:embed/>
                  <p:pic>
                    <p:nvPicPr>
                      <p:cNvPr id="0" name="Object 72"/>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755650" y="1196975"/>
                        <a:ext cx="2879725"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6800946" y="4581128"/>
            <a:ext cx="184731" cy="400110"/>
          </a:xfrm>
          <a:prstGeom prst="rect">
            <a:avLst/>
          </a:prstGeom>
          <a:noFill/>
        </p:spPr>
        <p:txBody>
          <a:bodyPr wrap="none" rtlCol="0">
            <a:spAutoFit/>
          </a:bodyPr>
          <a:lstStyle/>
          <a:p>
            <a:endParaRPr lang="zh-CN" altLang="en-US"/>
          </a:p>
        </p:txBody>
      </p:sp>
      <p:sp>
        <p:nvSpPr>
          <p:cNvPr id="3" name="矩形 2"/>
          <p:cNvSpPr/>
          <p:nvPr/>
        </p:nvSpPr>
        <p:spPr>
          <a:xfrm>
            <a:off x="59540" y="6149479"/>
            <a:ext cx="8640960" cy="707886"/>
          </a:xfrm>
          <a:prstGeom prst="rect">
            <a:avLst/>
          </a:prstGeom>
        </p:spPr>
        <p:txBody>
          <a:bodyPr wrap="square">
            <a:spAutoFit/>
          </a:bodyPr>
          <a:lstStyle/>
          <a:p>
            <a:pPr algn="l" eaLnBrk="1" hangingPunct="1"/>
            <a:r>
              <a:rPr lang="en-US" altLang="zh-CN" dirty="0"/>
              <a:t>Efficiencies of real engines are 15% to 20%</a:t>
            </a:r>
            <a:r>
              <a:rPr lang="zh-CN" altLang="en-US" dirty="0"/>
              <a:t>，</a:t>
            </a:r>
            <a:r>
              <a:rPr lang="en-US" altLang="zh-CN" dirty="0"/>
              <a:t>Mainly due to friction, energy transfer by conduction, incomplete combustion of the air-fuel mixture</a:t>
            </a:r>
            <a:r>
              <a:rPr lang="zh-CN" altLang="en-US" dirty="0"/>
              <a:t>。</a:t>
            </a:r>
            <a:endParaRPr lang="en-US" altLang="zh-CN" dirty="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9879"/>
                                        </p:tgtEl>
                                        <p:attrNameLst>
                                          <p:attrName>style.visibility</p:attrName>
                                        </p:attrNameLst>
                                      </p:cBhvr>
                                      <p:to>
                                        <p:strVal val="visible"/>
                                      </p:to>
                                    </p:set>
                                    <p:animEffect transition="in" filter="wipe(left)">
                                      <p:cBhvr>
                                        <p:cTn id="7" dur="500"/>
                                        <p:tgtEl>
                                          <p:spTgt spid="1198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9880"/>
                                        </p:tgtEl>
                                        <p:attrNameLst>
                                          <p:attrName>style.visibility</p:attrName>
                                        </p:attrNameLst>
                                      </p:cBhvr>
                                      <p:to>
                                        <p:strVal val="visible"/>
                                      </p:to>
                                    </p:set>
                                    <p:animEffect transition="in" filter="wipe(left)">
                                      <p:cBhvr>
                                        <p:cTn id="12" dur="500"/>
                                        <p:tgtEl>
                                          <p:spTgt spid="1198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9877"/>
                                        </p:tgtEl>
                                        <p:attrNameLst>
                                          <p:attrName>style.visibility</p:attrName>
                                        </p:attrNameLst>
                                      </p:cBhvr>
                                      <p:to>
                                        <p:strVal val="visible"/>
                                      </p:to>
                                    </p:set>
                                    <p:animEffect transition="in" filter="wipe(left)">
                                      <p:cBhvr>
                                        <p:cTn id="17" dur="500"/>
                                        <p:tgtEl>
                                          <p:spTgt spid="1198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9878"/>
                                        </p:tgtEl>
                                        <p:attrNameLst>
                                          <p:attrName>style.visibility</p:attrName>
                                        </p:attrNameLst>
                                      </p:cBhvr>
                                      <p:to>
                                        <p:strVal val="visible"/>
                                      </p:to>
                                    </p:set>
                                    <p:animEffect transition="in" filter="wipe(left)">
                                      <p:cBhvr>
                                        <p:cTn id="22" dur="500"/>
                                        <p:tgtEl>
                                          <p:spTgt spid="1198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9869"/>
                                        </p:tgtEl>
                                        <p:attrNameLst>
                                          <p:attrName>style.visibility</p:attrName>
                                        </p:attrNameLst>
                                      </p:cBhvr>
                                      <p:to>
                                        <p:strVal val="visible"/>
                                      </p:to>
                                    </p:set>
                                    <p:animEffect transition="in" filter="wipe(left)">
                                      <p:cBhvr>
                                        <p:cTn id="27" dur="500"/>
                                        <p:tgtEl>
                                          <p:spTgt spid="11986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19870"/>
                                        </p:tgtEl>
                                        <p:attrNameLst>
                                          <p:attrName>style.visibility</p:attrName>
                                        </p:attrNameLst>
                                      </p:cBhvr>
                                      <p:to>
                                        <p:strVal val="visible"/>
                                      </p:to>
                                    </p:set>
                                    <p:animEffect transition="in" filter="wipe(left)">
                                      <p:cBhvr>
                                        <p:cTn id="32" dur="500"/>
                                        <p:tgtEl>
                                          <p:spTgt spid="1198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19874"/>
                                        </p:tgtEl>
                                        <p:attrNameLst>
                                          <p:attrName>style.visibility</p:attrName>
                                        </p:attrNameLst>
                                      </p:cBhvr>
                                      <p:to>
                                        <p:strVal val="visible"/>
                                      </p:to>
                                    </p:set>
                                    <p:animEffect transition="in" filter="wipe(left)">
                                      <p:cBhvr>
                                        <p:cTn id="37" dur="500"/>
                                        <p:tgtEl>
                                          <p:spTgt spid="1198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119871"/>
                                        </p:tgtEl>
                                        <p:attrNameLst>
                                          <p:attrName>style.visibility</p:attrName>
                                        </p:attrNameLst>
                                      </p:cBhvr>
                                      <p:to>
                                        <p:strVal val="visible"/>
                                      </p:to>
                                    </p:set>
                                    <p:animEffect transition="in" filter="strips(downRight)">
                                      <p:cBhvr>
                                        <p:cTn id="42" dur="500"/>
                                        <p:tgtEl>
                                          <p:spTgt spid="11987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19872"/>
                                        </p:tgtEl>
                                        <p:attrNameLst>
                                          <p:attrName>style.visibility</p:attrName>
                                        </p:attrNameLst>
                                      </p:cBhvr>
                                      <p:to>
                                        <p:strVal val="visible"/>
                                      </p:to>
                                    </p:set>
                                    <p:animEffect transition="in" filter="wipe(left)">
                                      <p:cBhvr>
                                        <p:cTn id="47" dur="500"/>
                                        <p:tgtEl>
                                          <p:spTgt spid="11987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19873"/>
                                        </p:tgtEl>
                                        <p:attrNameLst>
                                          <p:attrName>style.visibility</p:attrName>
                                        </p:attrNameLst>
                                      </p:cBhvr>
                                      <p:to>
                                        <p:strVal val="visible"/>
                                      </p:to>
                                    </p:set>
                                    <p:animEffect transition="in" filter="wipe(left)">
                                      <p:cBhvr>
                                        <p:cTn id="52" dur="500"/>
                                        <p:tgtEl>
                                          <p:spTgt spid="119873"/>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71" grpId="0" autoUpdateAnimBg="0"/>
      <p:bldP spid="119877" grpId="0" autoUpdateAnimBg="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1026"/>
          <p:cNvSpPr txBox="1">
            <a:spLocks noChangeArrowheads="1"/>
          </p:cNvSpPr>
          <p:nvPr/>
        </p:nvSpPr>
        <p:spPr bwMode="auto">
          <a:xfrm>
            <a:off x="228600" y="4860925"/>
            <a:ext cx="48006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800">
                <a:solidFill>
                  <a:schemeClr val="accent2"/>
                </a:solidFill>
                <a:latin typeface="黑体" panose="02010609060101010101" pitchFamily="49" charset="-122"/>
                <a:ea typeface="黑体" panose="02010609060101010101" pitchFamily="49" charset="-122"/>
              </a:rPr>
              <a:t>   </a:t>
            </a:r>
            <a:r>
              <a:rPr lang="zh-CN" altLang="en-US" sz="2800" b="1">
                <a:solidFill>
                  <a:schemeClr val="accent2"/>
                </a:solidFill>
                <a:latin typeface="楷体_GB2312" pitchFamily="1" charset="-122"/>
                <a:ea typeface="楷体_GB2312" pitchFamily="1" charset="-122"/>
              </a:rPr>
              <a:t>狄塞尔循环</a:t>
            </a:r>
            <a:r>
              <a:rPr lang="en-US" altLang="zh-CN" sz="2800" b="1">
                <a:solidFill>
                  <a:schemeClr val="accent2"/>
                </a:solidFill>
                <a:latin typeface="楷体_GB2312" pitchFamily="1" charset="-122"/>
                <a:ea typeface="楷体_GB2312" pitchFamily="1" charset="-122"/>
              </a:rPr>
              <a:t>(</a:t>
            </a:r>
            <a:r>
              <a:rPr lang="zh-CN" altLang="en-US" sz="2800" b="1">
                <a:solidFill>
                  <a:schemeClr val="accent2"/>
                </a:solidFill>
                <a:latin typeface="楷体_GB2312" pitchFamily="1" charset="-122"/>
                <a:ea typeface="楷体_GB2312" pitchFamily="1" charset="-122"/>
              </a:rPr>
              <a:t>定压加热循环</a:t>
            </a:r>
            <a:r>
              <a:rPr lang="en-US" altLang="zh-CN" sz="2800" b="1">
                <a:solidFill>
                  <a:schemeClr val="accent2"/>
                </a:solidFill>
                <a:latin typeface="楷体_GB2312" pitchFamily="1" charset="-122"/>
                <a:ea typeface="楷体_GB2312" pitchFamily="1" charset="-122"/>
              </a:rPr>
              <a:t>)</a:t>
            </a:r>
            <a:r>
              <a:rPr lang="zh-CN" altLang="en-US" sz="2800" b="1">
                <a:solidFill>
                  <a:schemeClr val="accent2"/>
                </a:solidFill>
                <a:latin typeface="楷体_GB2312" pitchFamily="1" charset="-122"/>
                <a:ea typeface="楷体_GB2312" pitchFamily="1" charset="-122"/>
              </a:rPr>
              <a:t>曲线是</a:t>
            </a:r>
            <a:r>
              <a:rPr lang="zh-CN" altLang="en-US" sz="2800" b="1">
                <a:solidFill>
                  <a:srgbClr val="FF0000"/>
                </a:solidFill>
                <a:latin typeface="楷体_GB2312" pitchFamily="1" charset="-122"/>
                <a:ea typeface="楷体_GB2312" pitchFamily="1" charset="-122"/>
              </a:rPr>
              <a:t>由绝热压缩、等压吸热、绝热膨胀和等容放热线构成。   </a:t>
            </a:r>
          </a:p>
        </p:txBody>
      </p:sp>
      <p:sp>
        <p:nvSpPr>
          <p:cNvPr id="15363" name="Text Box 1074"/>
          <p:cNvSpPr txBox="1">
            <a:spLocks noChangeArrowheads="1"/>
          </p:cNvSpPr>
          <p:nvPr/>
        </p:nvSpPr>
        <p:spPr bwMode="auto">
          <a:xfrm>
            <a:off x="152400" y="758825"/>
            <a:ext cx="8839200" cy="362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2800">
                <a:solidFill>
                  <a:srgbClr val="FF00FF"/>
                </a:solidFill>
                <a:latin typeface="黑体" panose="02010609060101010101" pitchFamily="49" charset="-122"/>
                <a:ea typeface="黑体" panose="02010609060101010101" pitchFamily="49" charset="-122"/>
              </a:rPr>
              <a:t>    </a:t>
            </a:r>
            <a:r>
              <a:rPr lang="zh-CN" altLang="en-US" sz="2800" b="1">
                <a:solidFill>
                  <a:srgbClr val="FF00FF"/>
                </a:solidFill>
                <a:latin typeface="楷体_GB2312" pitchFamily="1" charset="-122"/>
                <a:ea typeface="楷体_GB2312" pitchFamily="1" charset="-122"/>
              </a:rPr>
              <a:t>狄塞尔循环</a:t>
            </a:r>
            <a:r>
              <a:rPr lang="en-US" altLang="zh-CN" sz="2800" b="1">
                <a:solidFill>
                  <a:srgbClr val="FF00FF"/>
                </a:solidFill>
                <a:latin typeface="楷体_GB2312" pitchFamily="1" charset="-122"/>
                <a:ea typeface="楷体_GB2312" pitchFamily="1" charset="-122"/>
              </a:rPr>
              <a:t>(</a:t>
            </a:r>
            <a:r>
              <a:rPr lang="zh-CN" altLang="en-US" sz="2800" b="1">
                <a:solidFill>
                  <a:srgbClr val="FF00FF"/>
                </a:solidFill>
                <a:latin typeface="楷体_GB2312" pitchFamily="1" charset="-122"/>
                <a:ea typeface="楷体_GB2312" pitchFamily="1" charset="-122"/>
              </a:rPr>
              <a:t>定压加热循环</a:t>
            </a:r>
            <a:r>
              <a:rPr lang="en-US" altLang="zh-CN" sz="2800" b="1">
                <a:solidFill>
                  <a:srgbClr val="FF00FF"/>
                </a:solidFill>
                <a:latin typeface="楷体_GB2312" pitchFamily="1" charset="-122"/>
                <a:ea typeface="楷体_GB2312" pitchFamily="1" charset="-122"/>
              </a:rPr>
              <a:t>)</a:t>
            </a:r>
            <a:r>
              <a:rPr lang="zh-CN" altLang="en-US" sz="2800" b="1">
                <a:solidFill>
                  <a:srgbClr val="FF00FF"/>
                </a:solidFill>
                <a:latin typeface="楷体_GB2312" pitchFamily="1" charset="-122"/>
                <a:ea typeface="楷体_GB2312" pitchFamily="1" charset="-122"/>
              </a:rPr>
              <a:t>  </a:t>
            </a:r>
            <a:r>
              <a:rPr lang="zh-CN" altLang="en-US" sz="2800" b="1">
                <a:solidFill>
                  <a:srgbClr val="FF0000"/>
                </a:solidFill>
                <a:latin typeface="楷体_GB2312" pitchFamily="1" charset="-122"/>
                <a:ea typeface="楷体_GB2312" pitchFamily="1" charset="-122"/>
              </a:rPr>
              <a:t>德国工程师狄塞尔</a:t>
            </a:r>
          </a:p>
          <a:p>
            <a:pPr algn="l" eaLnBrk="1" hangingPunct="1">
              <a:spcBef>
                <a:spcPct val="20000"/>
              </a:spcBef>
            </a:pPr>
            <a:r>
              <a:rPr lang="zh-CN" altLang="en-US" sz="2800" b="1">
                <a:solidFill>
                  <a:srgbClr val="FF0000"/>
                </a:solidFill>
                <a:latin typeface="楷体_GB2312" pitchFamily="1" charset="-122"/>
                <a:ea typeface="楷体_GB2312" pitchFamily="1" charset="-122"/>
              </a:rPr>
              <a:t>(1856-1913)于</a:t>
            </a:r>
            <a:r>
              <a:rPr lang="en-US" altLang="zh-CN" sz="2800" b="1">
                <a:solidFill>
                  <a:srgbClr val="FF0000"/>
                </a:solidFill>
                <a:latin typeface="楷体_GB2312" pitchFamily="1" charset="-122"/>
                <a:ea typeface="楷体_GB2312" pitchFamily="1" charset="-122"/>
              </a:rPr>
              <a:t>1892</a:t>
            </a:r>
            <a:r>
              <a:rPr lang="zh-CN" altLang="en-US" sz="2800" b="1">
                <a:solidFill>
                  <a:srgbClr val="FF0000"/>
                </a:solidFill>
                <a:latin typeface="楷体_GB2312" pitchFamily="1" charset="-122"/>
                <a:ea typeface="楷体_GB2312" pitchFamily="1" charset="-122"/>
              </a:rPr>
              <a:t>年提出了压缩点火式内燃机的原始设计</a:t>
            </a:r>
            <a:r>
              <a:rPr lang="zh-CN" altLang="en-US" sz="2800" b="1">
                <a:solidFill>
                  <a:schemeClr val="accent2"/>
                </a:solidFill>
                <a:latin typeface="楷体_GB2312" pitchFamily="1" charset="-122"/>
                <a:ea typeface="楷体_GB2312" pitchFamily="1" charset="-122"/>
              </a:rPr>
              <a:t>。所谓压缩点火式就是使燃料气体在气缸中被压缩到它的温度超过它自己的点火温度</a:t>
            </a:r>
            <a:r>
              <a:rPr lang="en-US" altLang="zh-CN" sz="2800" b="1">
                <a:solidFill>
                  <a:schemeClr val="accent2"/>
                </a:solidFill>
                <a:latin typeface="楷体_GB2312" pitchFamily="1" charset="-122"/>
                <a:ea typeface="楷体_GB2312" pitchFamily="1" charset="-122"/>
              </a:rPr>
              <a:t>(</a:t>
            </a:r>
            <a:r>
              <a:rPr lang="zh-CN" altLang="en-US" sz="2800" b="1">
                <a:solidFill>
                  <a:schemeClr val="accent2"/>
                </a:solidFill>
                <a:latin typeface="楷体_GB2312" pitchFamily="1" charset="-122"/>
                <a:ea typeface="楷体_GB2312" pitchFamily="1" charset="-122"/>
              </a:rPr>
              <a:t>例如，气缸中气体温度可升高到</a:t>
            </a:r>
            <a:r>
              <a:rPr lang="en-US" altLang="zh-CN" sz="2800" b="1">
                <a:solidFill>
                  <a:schemeClr val="accent2"/>
                </a:solidFill>
                <a:latin typeface="楷体_GB2312" pitchFamily="1" charset="-122"/>
                <a:ea typeface="楷体_GB2312" pitchFamily="1" charset="-122"/>
              </a:rPr>
              <a:t>600-700℃</a:t>
            </a:r>
            <a:r>
              <a:rPr lang="zh-CN" altLang="en-US" sz="2800" b="1">
                <a:solidFill>
                  <a:schemeClr val="accent2"/>
                </a:solidFill>
                <a:latin typeface="楷体_GB2312" pitchFamily="1" charset="-122"/>
                <a:ea typeface="楷体_GB2312" pitchFamily="1" charset="-122"/>
              </a:rPr>
              <a:t>，而 柴油燃点为</a:t>
            </a:r>
            <a:r>
              <a:rPr lang="en-US" altLang="zh-CN" sz="2800" b="1">
                <a:solidFill>
                  <a:schemeClr val="accent2"/>
                </a:solidFill>
                <a:latin typeface="楷体_GB2312" pitchFamily="1" charset="-122"/>
                <a:ea typeface="楷体_GB2312" pitchFamily="1" charset="-122"/>
              </a:rPr>
              <a:t>335℃)</a:t>
            </a:r>
            <a:r>
              <a:rPr lang="zh-CN" altLang="en-US" sz="2800" b="1">
                <a:solidFill>
                  <a:schemeClr val="accent2"/>
                </a:solidFill>
                <a:latin typeface="楷体_GB2312" pitchFamily="1" charset="-122"/>
                <a:ea typeface="楷体_GB2312" pitchFamily="1" charset="-122"/>
              </a:rPr>
              <a:t>。这时燃料气体在气缸中一面燃烧，一面推动活塞对外作功。</a:t>
            </a:r>
            <a:r>
              <a:rPr lang="en-US" altLang="zh-CN" sz="2800" b="1">
                <a:solidFill>
                  <a:srgbClr val="FF0000"/>
                </a:solidFill>
                <a:latin typeface="楷体_GB2312" pitchFamily="1" charset="-122"/>
                <a:ea typeface="楷体_GB2312" pitchFamily="1" charset="-122"/>
              </a:rPr>
              <a:t>1897</a:t>
            </a:r>
            <a:r>
              <a:rPr lang="zh-CN" altLang="en-US" sz="2800" b="1">
                <a:solidFill>
                  <a:srgbClr val="FF0000"/>
                </a:solidFill>
                <a:latin typeface="楷体_GB2312" pitchFamily="1" charset="-122"/>
                <a:ea typeface="楷体_GB2312" pitchFamily="1" charset="-122"/>
              </a:rPr>
              <a:t>年最早制成了以煤油为燃料的内燃机</a:t>
            </a:r>
            <a:r>
              <a:rPr lang="zh-CN" altLang="en-US" sz="2800" b="1">
                <a:solidFill>
                  <a:schemeClr val="accent2"/>
                </a:solidFill>
                <a:latin typeface="楷体_GB2312" pitchFamily="1" charset="-122"/>
                <a:ea typeface="楷体_GB2312" pitchFamily="1" charset="-122"/>
              </a:rPr>
              <a:t>，后改用柴油为燃料，这就</a:t>
            </a:r>
            <a:r>
              <a:rPr lang="zh-CN" altLang="en-US" sz="2800" b="1">
                <a:solidFill>
                  <a:srgbClr val="FF0000"/>
                </a:solidFill>
                <a:latin typeface="楷体_GB2312" pitchFamily="1" charset="-122"/>
                <a:ea typeface="楷体_GB2312" pitchFamily="1" charset="-122"/>
              </a:rPr>
              <a:t>是我们通常所称的柴油机</a:t>
            </a:r>
            <a:r>
              <a:rPr lang="zh-CN" altLang="en-US" sz="2800" b="1">
                <a:solidFill>
                  <a:schemeClr val="accent2"/>
                </a:solidFill>
                <a:latin typeface="楷体_GB2312" pitchFamily="1" charset="-122"/>
                <a:ea typeface="楷体_GB2312" pitchFamily="1" charset="-122"/>
              </a:rPr>
              <a:t>。</a:t>
            </a:r>
          </a:p>
        </p:txBody>
      </p:sp>
      <p:graphicFrame>
        <p:nvGraphicFramePr>
          <p:cNvPr id="15364" name="Object 1077"/>
          <p:cNvGraphicFramePr>
            <a:graphicFrameLocks noChangeAspect="1"/>
          </p:cNvGraphicFramePr>
          <p:nvPr>
            <p:extLst>
              <p:ext uri="{D42A27DB-BD31-4B8C-83A1-F6EECF244321}">
                <p14:modId xmlns:p14="http://schemas.microsoft.com/office/powerpoint/2010/main" val="426066722"/>
              </p:ext>
            </p:extLst>
          </p:nvPr>
        </p:nvGraphicFramePr>
        <p:xfrm>
          <a:off x="5476875" y="4276725"/>
          <a:ext cx="3667125" cy="2581275"/>
        </p:xfrm>
        <a:graphic>
          <a:graphicData uri="http://schemas.openxmlformats.org/presentationml/2006/ole">
            <mc:AlternateContent xmlns:mc="http://schemas.openxmlformats.org/markup-compatibility/2006">
              <mc:Choice xmlns:v="urn:schemas-microsoft-com:vml" Requires="v">
                <p:oleObj spid="_x0000_s141414" r:id="rId4" imgW="2762636" imgH="2266667" progId="Paint.Picture">
                  <p:embed/>
                </p:oleObj>
              </mc:Choice>
              <mc:Fallback>
                <p:oleObj r:id="rId4" imgW="2762636" imgH="2266667" progId="Paint.Picture">
                  <p:embed/>
                  <p:pic>
                    <p:nvPicPr>
                      <p:cNvPr id="15364" name="Object 107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6875" y="4276725"/>
                        <a:ext cx="3667125" cy="258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5" name="Rectangle 5" descr="羊皮纸"/>
          <p:cNvSpPr>
            <a:spLocks noChangeArrowheads="1"/>
          </p:cNvSpPr>
          <p:nvPr/>
        </p:nvSpPr>
        <p:spPr bwMode="auto">
          <a:xfrm>
            <a:off x="0" y="6350"/>
            <a:ext cx="9144000" cy="752475"/>
          </a:xfrm>
          <a:prstGeom prst="rect">
            <a:avLst/>
          </a:prstGeom>
          <a:blipFill dpi="0" rotWithShape="0">
            <a:blip r:embed="rId6"/>
            <a:srcRect/>
            <a:tile tx="0" ty="0" sx="100000" sy="100000" flip="none" algn="tl"/>
          </a:blipFill>
          <a:ln w="9525" cap="flat" cmpd="sng">
            <a:solidFill>
              <a:srgbClr val="FF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6" name="Rectangle 6"/>
          <p:cNvSpPr>
            <a:spLocks noChangeArrowheads="1"/>
          </p:cNvSpPr>
          <p:nvPr/>
        </p:nvSpPr>
        <p:spPr bwMode="auto">
          <a:xfrm>
            <a:off x="1260475" y="269875"/>
            <a:ext cx="64071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gn="ctr">
              <a:defRPr sz="4400">
                <a:solidFill>
                  <a:schemeClr val="tx2"/>
                </a:solidFill>
                <a:latin typeface="Times New Roman" panose="02020603050405020304" pitchFamily="18" charset="0"/>
                <a:ea typeface="宋体" panose="02010600030101010101" pitchFamily="2" charset="-122"/>
              </a:defRPr>
            </a:lvl1pPr>
            <a:lvl2pPr algn="ctr">
              <a:defRPr sz="4400">
                <a:solidFill>
                  <a:schemeClr val="tx2"/>
                </a:solidFill>
                <a:latin typeface="Times New Roman" panose="02020603050405020304" pitchFamily="18" charset="0"/>
                <a:ea typeface="宋体" panose="02010600030101010101" pitchFamily="2" charset="-122"/>
              </a:defRPr>
            </a:lvl2pPr>
            <a:lvl3pPr algn="ctr">
              <a:defRPr sz="4400">
                <a:solidFill>
                  <a:schemeClr val="tx2"/>
                </a:solidFill>
                <a:latin typeface="Times New Roman" panose="02020603050405020304" pitchFamily="18" charset="0"/>
                <a:ea typeface="宋体" panose="02010600030101010101" pitchFamily="2" charset="-122"/>
              </a:defRPr>
            </a:lvl3pPr>
            <a:lvl4pPr algn="ctr">
              <a:defRPr sz="4400">
                <a:solidFill>
                  <a:schemeClr val="tx2"/>
                </a:solidFill>
                <a:latin typeface="Times New Roman" panose="02020603050405020304" pitchFamily="18" charset="0"/>
                <a:ea typeface="宋体" panose="02010600030101010101" pitchFamily="2" charset="-122"/>
              </a:defRPr>
            </a:lvl4pPr>
            <a:lvl5pPr algn="ctr">
              <a:defRPr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a:lstStyle>
          <a:p>
            <a:pPr>
              <a:buFontTx/>
              <a:buNone/>
            </a:pPr>
            <a:r>
              <a:rPr lang="zh-CN" altLang="en-US" sz="4000" b="1">
                <a:solidFill>
                  <a:srgbClr val="FF0000"/>
                </a:solidFill>
                <a:latin typeface="楷体_GB2312" pitchFamily="1" charset="-122"/>
                <a:ea typeface="楷体_GB2312" pitchFamily="1" charset="-122"/>
              </a:rPr>
              <a:t>例</a:t>
            </a:r>
            <a:r>
              <a:rPr lang="en-US" altLang="zh-CN" sz="4000" b="1">
                <a:solidFill>
                  <a:srgbClr val="FF0000"/>
                </a:solidFill>
                <a:latin typeface="楷体_GB2312" pitchFamily="1" charset="-122"/>
                <a:ea typeface="楷体_GB2312" pitchFamily="1" charset="-122"/>
              </a:rPr>
              <a:t>3.</a:t>
            </a:r>
            <a:r>
              <a:rPr lang="zh-CN" altLang="en-US" sz="4000" b="1">
                <a:solidFill>
                  <a:srgbClr val="FF0000"/>
                </a:solidFill>
              </a:rPr>
              <a:t>狄塞尔循环的计算</a:t>
            </a:r>
          </a:p>
        </p:txBody>
      </p:sp>
    </p:spTree>
    <p:extLst>
      <p:ext uri="{BB962C8B-B14F-4D97-AF65-F5344CB8AC3E}">
        <p14:creationId xmlns:p14="http://schemas.microsoft.com/office/powerpoint/2010/main" val="196178771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slide(fromBottom)">
                                      <p:cBhvr>
                                        <p:cTn id="7" dur="500"/>
                                        <p:tgtEl>
                                          <p:spTgt spid="153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5362"/>
                                        </p:tgtEl>
                                        <p:attrNameLst>
                                          <p:attrName>style.visibility</p:attrName>
                                        </p:attrNameLst>
                                      </p:cBhvr>
                                      <p:to>
                                        <p:strVal val="visible"/>
                                      </p:to>
                                    </p:set>
                                    <p:animEffect transition="in" filter="slide(fromBottom)">
                                      <p:cBhvr>
                                        <p:cTn id="12" dur="500"/>
                                        <p:tgtEl>
                                          <p:spTgt spid="153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15364"/>
                                        </p:tgtEl>
                                        <p:attrNameLst>
                                          <p:attrName>style.visibility</p:attrName>
                                        </p:attrNameLst>
                                      </p:cBhvr>
                                      <p:to>
                                        <p:strVal val="visible"/>
                                      </p:to>
                                    </p:set>
                                    <p:anim calcmode="lin" valueType="num">
                                      <p:cBhvr additive="base">
                                        <p:cTn id="17" dur="500" fill="hold"/>
                                        <p:tgtEl>
                                          <p:spTgt spid="15364"/>
                                        </p:tgtEl>
                                        <p:attrNameLst>
                                          <p:attrName>ppt_x</p:attrName>
                                        </p:attrNameLst>
                                      </p:cBhvr>
                                      <p:tavLst>
                                        <p:tav tm="0">
                                          <p:val>
                                            <p:strVal val="0-#ppt_w/2"/>
                                          </p:val>
                                        </p:tav>
                                        <p:tav tm="100000">
                                          <p:val>
                                            <p:strVal val="#ppt_x"/>
                                          </p:val>
                                        </p:tav>
                                      </p:tavLst>
                                    </p:anim>
                                    <p:anim calcmode="lin" valueType="num">
                                      <p:cBhvr additive="base">
                                        <p:cTn id="18" dur="500" fill="hold"/>
                                        <p:tgtEl>
                                          <p:spTgt spid="153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3"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6"/>
          <p:cNvSpPr txBox="1">
            <a:spLocks noChangeArrowheads="1"/>
          </p:cNvSpPr>
          <p:nvPr/>
        </p:nvSpPr>
        <p:spPr bwMode="auto">
          <a:xfrm>
            <a:off x="36513" y="285750"/>
            <a:ext cx="8567737"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800" b="1">
                <a:solidFill>
                  <a:srgbClr val="FF0000"/>
                </a:solidFill>
                <a:latin typeface="楷体_GB2312" pitchFamily="1" charset="-122"/>
                <a:ea typeface="楷体_GB2312" pitchFamily="1" charset="-122"/>
              </a:rPr>
              <a:t>例</a:t>
            </a:r>
            <a:r>
              <a:rPr lang="en-US" altLang="zh-CN" sz="2800" b="1">
                <a:solidFill>
                  <a:srgbClr val="FF0000"/>
                </a:solidFill>
                <a:latin typeface="楷体_GB2312" pitchFamily="1" charset="-122"/>
                <a:ea typeface="楷体_GB2312" pitchFamily="1" charset="-122"/>
              </a:rPr>
              <a:t>3.</a:t>
            </a:r>
            <a:r>
              <a:rPr lang="zh-CN" altLang="en-US" sz="2800" b="1">
                <a:solidFill>
                  <a:schemeClr val="accent2"/>
                </a:solidFill>
                <a:latin typeface="楷体_GB2312" pitchFamily="1" charset="-122"/>
                <a:ea typeface="楷体_GB2312" pitchFamily="1" charset="-122"/>
              </a:rPr>
              <a:t>四冲程柴油机的理想工作过程称为</a:t>
            </a:r>
            <a:r>
              <a:rPr lang="zh-CN" altLang="en-US" sz="2800" b="1">
                <a:solidFill>
                  <a:srgbClr val="FF0000"/>
                </a:solidFill>
                <a:latin typeface="楷体_GB2312" pitchFamily="1" charset="-122"/>
                <a:ea typeface="楷体_GB2312" pitchFamily="1" charset="-122"/>
              </a:rPr>
              <a:t>狄塞尔循环</a:t>
            </a:r>
            <a:r>
              <a:rPr lang="zh-CN" altLang="en-US" sz="2800" b="1">
                <a:latin typeface="楷体_GB2312" pitchFamily="1" charset="-122"/>
                <a:ea typeface="楷体_GB2312" pitchFamily="1" charset="-122"/>
              </a:rPr>
              <a:t>。</a:t>
            </a:r>
            <a:r>
              <a:rPr lang="zh-CN" altLang="en-US" sz="2800" b="1">
                <a:solidFill>
                  <a:schemeClr val="accent2"/>
                </a:solidFill>
                <a:latin typeface="楷体_GB2312" pitchFamily="1" charset="-122"/>
                <a:ea typeface="楷体_GB2312" pitchFamily="1" charset="-122"/>
              </a:rPr>
              <a:t>如下图，</a:t>
            </a:r>
            <a:r>
              <a:rPr lang="en-US" altLang="zh-CN" sz="2800" b="1">
                <a:solidFill>
                  <a:schemeClr val="accent2"/>
                </a:solidFill>
                <a:latin typeface="楷体_GB2312" pitchFamily="1" charset="-122"/>
                <a:ea typeface="楷体_GB2312" pitchFamily="1" charset="-122"/>
              </a:rPr>
              <a:t>1-2</a:t>
            </a:r>
            <a:r>
              <a:rPr lang="zh-CN" altLang="en-US" sz="2800" b="1">
                <a:solidFill>
                  <a:schemeClr val="accent2"/>
                </a:solidFill>
                <a:latin typeface="楷体_GB2312" pitchFamily="1" charset="-122"/>
                <a:ea typeface="楷体_GB2312" pitchFamily="1" charset="-122"/>
              </a:rPr>
              <a:t>为绝热压缩，</a:t>
            </a:r>
            <a:r>
              <a:rPr lang="en-US" altLang="zh-CN" sz="2800" b="1">
                <a:solidFill>
                  <a:schemeClr val="accent2"/>
                </a:solidFill>
                <a:latin typeface="楷体_GB2312" pitchFamily="1" charset="-122"/>
                <a:ea typeface="楷体_GB2312" pitchFamily="1" charset="-122"/>
              </a:rPr>
              <a:t>2-3</a:t>
            </a:r>
            <a:r>
              <a:rPr lang="zh-CN" altLang="en-US" sz="2800" b="1">
                <a:solidFill>
                  <a:schemeClr val="accent2"/>
                </a:solidFill>
                <a:latin typeface="楷体_GB2312" pitchFamily="1" charset="-122"/>
                <a:ea typeface="楷体_GB2312" pitchFamily="1" charset="-122"/>
              </a:rPr>
              <a:t>为等压膨胀，</a:t>
            </a:r>
            <a:r>
              <a:rPr lang="en-US" altLang="zh-CN" sz="2800" b="1">
                <a:solidFill>
                  <a:schemeClr val="accent2"/>
                </a:solidFill>
                <a:latin typeface="楷体_GB2312" pitchFamily="1" charset="-122"/>
                <a:ea typeface="楷体_GB2312" pitchFamily="1" charset="-122"/>
              </a:rPr>
              <a:t>3-4</a:t>
            </a:r>
            <a:r>
              <a:rPr lang="zh-CN" altLang="en-US" sz="2800" b="1">
                <a:solidFill>
                  <a:schemeClr val="accent2"/>
                </a:solidFill>
                <a:latin typeface="楷体_GB2312" pitchFamily="1" charset="-122"/>
                <a:ea typeface="楷体_GB2312" pitchFamily="1" charset="-122"/>
              </a:rPr>
              <a:t>为绝热膨胀，</a:t>
            </a:r>
            <a:r>
              <a:rPr lang="en-US" altLang="zh-CN" sz="2800" b="1">
                <a:solidFill>
                  <a:schemeClr val="accent2"/>
                </a:solidFill>
                <a:latin typeface="楷体_GB2312" pitchFamily="1" charset="-122"/>
                <a:ea typeface="楷体_GB2312" pitchFamily="1" charset="-122"/>
              </a:rPr>
              <a:t>4-1</a:t>
            </a:r>
            <a:r>
              <a:rPr lang="zh-CN" altLang="en-US" sz="2800" b="1">
                <a:solidFill>
                  <a:schemeClr val="accent2"/>
                </a:solidFill>
                <a:latin typeface="楷体_GB2312" pitchFamily="1" charset="-122"/>
                <a:ea typeface="楷体_GB2312" pitchFamily="1" charset="-122"/>
              </a:rPr>
              <a:t>为等体降压。已知压缩比           ，定压膨胀比为                求</a:t>
            </a:r>
            <a:r>
              <a:rPr lang="zh-CN" altLang="en-US" sz="2800" b="1">
                <a:solidFill>
                  <a:schemeClr val="accent2"/>
                </a:solidFill>
                <a:latin typeface="楷体_GB2312" pitchFamily="1" charset="-122"/>
                <a:ea typeface="楷体_GB2312" pitchFamily="1" charset="-122"/>
                <a:sym typeface="Wingdings" panose="05000000000000000000" pitchFamily="2" charset="2"/>
              </a:rPr>
              <a:t>：狄塞尔循环的效率。</a:t>
            </a:r>
            <a:endParaRPr lang="zh-CN" altLang="en-US" sz="2800" b="1">
              <a:solidFill>
                <a:schemeClr val="accent2"/>
              </a:solidFill>
            </a:endParaRPr>
          </a:p>
        </p:txBody>
      </p:sp>
      <p:graphicFrame>
        <p:nvGraphicFramePr>
          <p:cNvPr id="16387" name="Object 3"/>
          <p:cNvGraphicFramePr>
            <a:graphicFrameLocks noChangeAspect="1"/>
          </p:cNvGraphicFramePr>
          <p:nvPr>
            <p:extLst>
              <p:ext uri="{D42A27DB-BD31-4B8C-83A1-F6EECF244321}">
                <p14:modId xmlns:p14="http://schemas.microsoft.com/office/powerpoint/2010/main" val="1223754036"/>
              </p:ext>
            </p:extLst>
          </p:nvPr>
        </p:nvGraphicFramePr>
        <p:xfrm>
          <a:off x="6155445" y="1129671"/>
          <a:ext cx="1224136" cy="455032"/>
        </p:xfrm>
        <a:graphic>
          <a:graphicData uri="http://schemas.openxmlformats.org/presentationml/2006/ole">
            <mc:AlternateContent xmlns:mc="http://schemas.openxmlformats.org/markup-compatibility/2006">
              <mc:Choice xmlns:v="urn:schemas-microsoft-com:vml" Requires="v">
                <p:oleObj spid="_x0000_s142532" r:id="rId3" imgW="614180" imgH="230516" progId="Equation.DSMT4">
                  <p:embed/>
                </p:oleObj>
              </mc:Choice>
              <mc:Fallback>
                <p:oleObj r:id="rId3" imgW="614180" imgH="230516" progId="Equation.DSMT4">
                  <p:embed/>
                  <p:pic>
                    <p:nvPicPr>
                      <p:cNvPr id="1638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5445" y="1129671"/>
                        <a:ext cx="1224136" cy="455032"/>
                      </a:xfrm>
                      <a:prstGeom prst="rect">
                        <a:avLst/>
                      </a:prstGeom>
                      <a:noFill/>
                      <a:ln>
                        <a:noFill/>
                      </a:ln>
                      <a:extLst/>
                    </p:spPr>
                  </p:pic>
                </p:oleObj>
              </mc:Fallback>
            </mc:AlternateContent>
          </a:graphicData>
        </a:graphic>
      </p:graphicFrame>
      <p:pic>
        <p:nvPicPr>
          <p:cNvPr id="16388" name="图片 5" descr="Diesel_Engine_(4_cycle_running).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2564904"/>
            <a:ext cx="2090737" cy="405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389" name="Object 5"/>
          <p:cNvGraphicFramePr>
            <a:graphicFrameLocks noChangeAspect="1"/>
          </p:cNvGraphicFramePr>
          <p:nvPr>
            <p:extLst>
              <p:ext uri="{D42A27DB-BD31-4B8C-83A1-F6EECF244321}">
                <p14:modId xmlns:p14="http://schemas.microsoft.com/office/powerpoint/2010/main" val="3673321169"/>
              </p:ext>
            </p:extLst>
          </p:nvPr>
        </p:nvGraphicFramePr>
        <p:xfrm>
          <a:off x="1702678" y="1605795"/>
          <a:ext cx="1368152" cy="478593"/>
        </p:xfrm>
        <a:graphic>
          <a:graphicData uri="http://schemas.openxmlformats.org/presentationml/2006/ole">
            <mc:AlternateContent xmlns:mc="http://schemas.openxmlformats.org/markup-compatibility/2006">
              <mc:Choice xmlns:v="urn:schemas-microsoft-com:vml" Requires="v">
                <p:oleObj spid="_x0000_s142533" r:id="rId6" imgW="652546" imgH="230516" progId="Equation.DSMT4">
                  <p:embed/>
                </p:oleObj>
              </mc:Choice>
              <mc:Fallback>
                <p:oleObj r:id="rId6" imgW="652546" imgH="230516" progId="Equation.DSMT4">
                  <p:embed/>
                  <p:pic>
                    <p:nvPicPr>
                      <p:cNvPr id="1638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02678" y="1605795"/>
                        <a:ext cx="1368152" cy="478593"/>
                      </a:xfrm>
                      <a:prstGeom prst="rect">
                        <a:avLst/>
                      </a:prstGeom>
                      <a:noFill/>
                      <a:ln>
                        <a:noFill/>
                      </a:ln>
                      <a:extLst/>
                    </p:spPr>
                  </p:pic>
                </p:oleObj>
              </mc:Fallback>
            </mc:AlternateContent>
          </a:graphicData>
        </a:graphic>
      </p:graphicFrame>
      <p:pic>
        <p:nvPicPr>
          <p:cNvPr id="16390" name="Picture 4"/>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57625" y="2266950"/>
            <a:ext cx="4162425"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1" name="Picture 7" descr="0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67513" y="2266950"/>
            <a:ext cx="1609725"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57805473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diamond(in)">
                                      <p:cBhvr>
                                        <p:cTn id="7" dur="500"/>
                                        <p:tgtEl>
                                          <p:spTgt spid="16386"/>
                                        </p:tgtEl>
                                      </p:cBhvr>
                                    </p:animEffect>
                                  </p:childTnLst>
                                </p:cTn>
                              </p:par>
                              <p:par>
                                <p:cTn id="8" presetID="8" presetClass="entr" presetSubtype="16" fill="hold" nodeType="withEffect">
                                  <p:stCondLst>
                                    <p:cond delay="0"/>
                                  </p:stCondLst>
                                  <p:childTnLst>
                                    <p:set>
                                      <p:cBhvr>
                                        <p:cTn id="9" dur="1" fill="hold">
                                          <p:stCondLst>
                                            <p:cond delay="0"/>
                                          </p:stCondLst>
                                        </p:cTn>
                                        <p:tgtEl>
                                          <p:spTgt spid="16387"/>
                                        </p:tgtEl>
                                        <p:attrNameLst>
                                          <p:attrName>style.visibility</p:attrName>
                                        </p:attrNameLst>
                                      </p:cBhvr>
                                      <p:to>
                                        <p:strVal val="visible"/>
                                      </p:to>
                                    </p:set>
                                    <p:animEffect transition="in" filter="diamond(in)">
                                      <p:cBhvr>
                                        <p:cTn id="10" dur="500"/>
                                        <p:tgtEl>
                                          <p:spTgt spid="16387"/>
                                        </p:tgtEl>
                                      </p:cBhvr>
                                    </p:animEffect>
                                  </p:childTnLst>
                                </p:cTn>
                              </p:par>
                              <p:par>
                                <p:cTn id="11" presetID="8" presetClass="entr" presetSubtype="16" fill="hold" nodeType="withEffect">
                                  <p:stCondLst>
                                    <p:cond delay="0"/>
                                  </p:stCondLst>
                                  <p:childTnLst>
                                    <p:set>
                                      <p:cBhvr>
                                        <p:cTn id="12" dur="1" fill="hold">
                                          <p:stCondLst>
                                            <p:cond delay="0"/>
                                          </p:stCondLst>
                                        </p:cTn>
                                        <p:tgtEl>
                                          <p:spTgt spid="16389"/>
                                        </p:tgtEl>
                                        <p:attrNameLst>
                                          <p:attrName>style.visibility</p:attrName>
                                        </p:attrNameLst>
                                      </p:cBhvr>
                                      <p:to>
                                        <p:strVal val="visible"/>
                                      </p:to>
                                    </p:set>
                                    <p:animEffect transition="in" filter="diamond(in)">
                                      <p:cBhvr>
                                        <p:cTn id="13" dur="500"/>
                                        <p:tgtEl>
                                          <p:spTgt spid="16389"/>
                                        </p:tgtEl>
                                      </p:cBhvr>
                                    </p:animEffect>
                                  </p:childTnLst>
                                </p:cTn>
                              </p:par>
                            </p:childTnLst>
                          </p:cTn>
                        </p:par>
                        <p:par>
                          <p:cTn id="14" fill="hold" nodeType="afterGroup">
                            <p:stCondLst>
                              <p:cond delay="500"/>
                            </p:stCondLst>
                            <p:childTnLst>
                              <p:par>
                                <p:cTn id="15" presetID="9" presetClass="entr" presetSubtype="0" fill="hold" nodeType="afterEffect">
                                  <p:stCondLst>
                                    <p:cond delay="0"/>
                                  </p:stCondLst>
                                  <p:childTnLst>
                                    <p:set>
                                      <p:cBhvr>
                                        <p:cTn id="16" dur="1" fill="hold">
                                          <p:stCondLst>
                                            <p:cond delay="0"/>
                                          </p:stCondLst>
                                        </p:cTn>
                                        <p:tgtEl>
                                          <p:spTgt spid="16388"/>
                                        </p:tgtEl>
                                        <p:attrNameLst>
                                          <p:attrName>style.visibility</p:attrName>
                                        </p:attrNameLst>
                                      </p:cBhvr>
                                      <p:to>
                                        <p:strVal val="visible"/>
                                      </p:to>
                                    </p:set>
                                    <p:animEffect transition="in" filter="dissolve">
                                      <p:cBhvr>
                                        <p:cTn id="17" dur="500"/>
                                        <p:tgtEl>
                                          <p:spTgt spid="16388"/>
                                        </p:tgtEl>
                                      </p:cBhvr>
                                    </p:animEffect>
                                  </p:childTnLst>
                                </p:cTn>
                              </p:par>
                            </p:childTnLst>
                          </p:cTn>
                        </p:par>
                        <p:par>
                          <p:cTn id="18" fill="hold" nodeType="afterGroup">
                            <p:stCondLst>
                              <p:cond delay="1000"/>
                            </p:stCondLst>
                            <p:childTnLst>
                              <p:par>
                                <p:cTn id="19" presetID="9" presetClass="entr" presetSubtype="0" fill="hold" nodeType="afterEffect">
                                  <p:stCondLst>
                                    <p:cond delay="0"/>
                                  </p:stCondLst>
                                  <p:childTnLst>
                                    <p:set>
                                      <p:cBhvr>
                                        <p:cTn id="20" dur="1" fill="hold">
                                          <p:stCondLst>
                                            <p:cond delay="0"/>
                                          </p:stCondLst>
                                        </p:cTn>
                                        <p:tgtEl>
                                          <p:spTgt spid="16390"/>
                                        </p:tgtEl>
                                        <p:attrNameLst>
                                          <p:attrName>style.visibility</p:attrName>
                                        </p:attrNameLst>
                                      </p:cBhvr>
                                      <p:to>
                                        <p:strVal val="visible"/>
                                      </p:to>
                                    </p:set>
                                    <p:animEffect transition="in" filter="dissolve">
                                      <p:cBhvr>
                                        <p:cTn id="21" dur="500"/>
                                        <p:tgtEl>
                                          <p:spTgt spid="16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4"/>
          <p:cNvSpPr txBox="1">
            <a:spLocks noChangeArrowheads="1"/>
          </p:cNvSpPr>
          <p:nvPr/>
        </p:nvSpPr>
        <p:spPr bwMode="auto">
          <a:xfrm>
            <a:off x="4143375" y="928688"/>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楷体_GB2312" pitchFamily="1" charset="-122"/>
                <a:ea typeface="楷体_GB2312" pitchFamily="1" charset="-122"/>
              </a:rPr>
              <a:t>解</a:t>
            </a:r>
            <a:r>
              <a:rPr lang="en-US" altLang="zh-CN" sz="2800" b="1">
                <a:solidFill>
                  <a:srgbClr val="FF0000"/>
                </a:solidFill>
                <a:latin typeface="楷体_GB2312" pitchFamily="1" charset="-122"/>
                <a:ea typeface="楷体_GB2312" pitchFamily="1" charset="-122"/>
              </a:rPr>
              <a:t>: </a:t>
            </a:r>
            <a:r>
              <a:rPr lang="zh-CN" altLang="en-US" sz="2800" b="1">
                <a:solidFill>
                  <a:srgbClr val="FF0000"/>
                </a:solidFill>
                <a:latin typeface="楷体_GB2312" pitchFamily="1" charset="-122"/>
                <a:ea typeface="楷体_GB2312" pitchFamily="1" charset="-122"/>
              </a:rPr>
              <a:t>由等体过程和等压过程</a:t>
            </a:r>
            <a:r>
              <a:rPr lang="en-US" altLang="zh-CN" sz="2800" b="1">
                <a:solidFill>
                  <a:srgbClr val="FF0000"/>
                </a:solidFill>
                <a:latin typeface="楷体_GB2312" pitchFamily="1" charset="-122"/>
                <a:ea typeface="楷体_GB2312" pitchFamily="1" charset="-122"/>
              </a:rPr>
              <a:t> </a:t>
            </a:r>
            <a:endParaRPr lang="zh-CN" altLang="en-US" sz="2800" b="1">
              <a:solidFill>
                <a:srgbClr val="FF0000"/>
              </a:solidFill>
              <a:latin typeface="楷体_GB2312" pitchFamily="1" charset="-122"/>
              <a:ea typeface="楷体_GB2312" pitchFamily="1" charset="-122"/>
            </a:endParaRPr>
          </a:p>
        </p:txBody>
      </p:sp>
      <p:graphicFrame>
        <p:nvGraphicFramePr>
          <p:cNvPr id="17411" name="Object 3"/>
          <p:cNvGraphicFramePr>
            <a:graphicFrameLocks noChangeAspect="1"/>
          </p:cNvGraphicFramePr>
          <p:nvPr/>
        </p:nvGraphicFramePr>
        <p:xfrm>
          <a:off x="4659313" y="3071813"/>
          <a:ext cx="1841500" cy="1158875"/>
        </p:xfrm>
        <a:graphic>
          <a:graphicData uri="http://schemas.openxmlformats.org/presentationml/2006/ole">
            <mc:AlternateContent xmlns:mc="http://schemas.openxmlformats.org/markup-compatibility/2006">
              <mc:Choice xmlns:v="urn:schemas-microsoft-com:vml" Requires="v">
                <p:oleObj spid="_x0000_s143945" r:id="rId3" imgW="805660" imgH="511646" progId="Equation.DSMT4">
                  <p:embed/>
                </p:oleObj>
              </mc:Choice>
              <mc:Fallback>
                <p:oleObj r:id="rId3" imgW="805660" imgH="511646" progId="Equation.DSMT4">
                  <p:embed/>
                  <p:pic>
                    <p:nvPicPr>
                      <p:cNvPr id="1741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9313" y="3071813"/>
                        <a:ext cx="18415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2" name="TextBox 6"/>
          <p:cNvSpPr txBox="1">
            <a:spLocks noChangeArrowheads="1"/>
          </p:cNvSpPr>
          <p:nvPr/>
        </p:nvSpPr>
        <p:spPr bwMode="auto">
          <a:xfrm>
            <a:off x="4429125" y="2571750"/>
            <a:ext cx="4071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楷体_GB2312" pitchFamily="1" charset="-122"/>
                <a:ea typeface="楷体_GB2312" pitchFamily="1" charset="-122"/>
              </a:rPr>
              <a:t>对等压过程和绝热过程</a:t>
            </a:r>
          </a:p>
        </p:txBody>
      </p:sp>
      <p:graphicFrame>
        <p:nvGraphicFramePr>
          <p:cNvPr id="17413" name="Object 5"/>
          <p:cNvGraphicFramePr>
            <a:graphicFrameLocks noChangeAspect="1"/>
          </p:cNvGraphicFramePr>
          <p:nvPr/>
        </p:nvGraphicFramePr>
        <p:xfrm>
          <a:off x="4929188" y="1428750"/>
          <a:ext cx="3044825" cy="1233488"/>
        </p:xfrm>
        <a:graphic>
          <a:graphicData uri="http://schemas.openxmlformats.org/presentationml/2006/ole">
            <mc:AlternateContent xmlns:mc="http://schemas.openxmlformats.org/markup-compatibility/2006">
              <mc:Choice xmlns:v="urn:schemas-microsoft-com:vml" Requires="v">
                <p:oleObj spid="_x0000_s143946" r:id="rId5" imgW="1189157" imgH="486080" progId="Equation.DSMT4">
                  <p:embed/>
                </p:oleObj>
              </mc:Choice>
              <mc:Fallback>
                <p:oleObj r:id="rId5" imgW="1189157" imgH="486080" progId="Equation.DSMT4">
                  <p:embed/>
                  <p:pic>
                    <p:nvPicPr>
                      <p:cNvPr id="1741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29188" y="1428750"/>
                        <a:ext cx="3044825" cy="123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4" name="TextBox 8"/>
          <p:cNvSpPr txBox="1">
            <a:spLocks noChangeArrowheads="1"/>
          </p:cNvSpPr>
          <p:nvPr/>
        </p:nvSpPr>
        <p:spPr bwMode="auto">
          <a:xfrm>
            <a:off x="376238" y="5218113"/>
            <a:ext cx="23574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楷体_GB2312" pitchFamily="1" charset="-122"/>
                <a:ea typeface="楷体_GB2312" pitchFamily="1" charset="-122"/>
              </a:rPr>
              <a:t>循环效率为</a:t>
            </a:r>
            <a:r>
              <a:rPr lang="en-US" altLang="zh-CN" sz="2800" b="1">
                <a:solidFill>
                  <a:srgbClr val="FF0000"/>
                </a:solidFill>
                <a:latin typeface="楷体_GB2312" pitchFamily="1" charset="-122"/>
                <a:ea typeface="楷体_GB2312" pitchFamily="1" charset="-122"/>
              </a:rPr>
              <a:t> </a:t>
            </a:r>
            <a:endParaRPr lang="zh-CN" altLang="en-US" sz="2800" b="1">
              <a:solidFill>
                <a:srgbClr val="FF0000"/>
              </a:solidFill>
              <a:latin typeface="楷体_GB2312" pitchFamily="1" charset="-122"/>
              <a:ea typeface="楷体_GB2312" pitchFamily="1" charset="-122"/>
            </a:endParaRPr>
          </a:p>
        </p:txBody>
      </p:sp>
      <p:graphicFrame>
        <p:nvGraphicFramePr>
          <p:cNvPr id="17415" name="Object 7"/>
          <p:cNvGraphicFramePr>
            <a:graphicFrameLocks noChangeAspect="1"/>
          </p:cNvGraphicFramePr>
          <p:nvPr/>
        </p:nvGraphicFramePr>
        <p:xfrm>
          <a:off x="2447925" y="4956175"/>
          <a:ext cx="4062413" cy="1044575"/>
        </p:xfrm>
        <a:graphic>
          <a:graphicData uri="http://schemas.openxmlformats.org/presentationml/2006/ole">
            <mc:AlternateContent xmlns:mc="http://schemas.openxmlformats.org/markup-compatibility/2006">
              <mc:Choice xmlns:v="urn:schemas-microsoft-com:vml" Requires="v">
                <p:oleObj spid="_x0000_s143947" r:id="rId7" imgW="1765617" imgH="457517" progId="Equation.DSMT4">
                  <p:embed/>
                </p:oleObj>
              </mc:Choice>
              <mc:Fallback>
                <p:oleObj r:id="rId7" imgW="1765617" imgH="457517" progId="Equation.DSMT4">
                  <p:embed/>
                  <p:pic>
                    <p:nvPicPr>
                      <p:cNvPr id="17415"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7925" y="4956175"/>
                        <a:ext cx="4062413"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7416" name="Picture 6"/>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8625" y="695325"/>
            <a:ext cx="4019550"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417" name="Object 9"/>
          <p:cNvGraphicFramePr>
            <a:graphicFrameLocks noChangeAspect="1"/>
          </p:cNvGraphicFramePr>
          <p:nvPr/>
        </p:nvGraphicFramePr>
        <p:xfrm>
          <a:off x="6858000" y="3071813"/>
          <a:ext cx="1841500" cy="1158875"/>
        </p:xfrm>
        <a:graphic>
          <a:graphicData uri="http://schemas.openxmlformats.org/presentationml/2006/ole">
            <mc:AlternateContent xmlns:mc="http://schemas.openxmlformats.org/markup-compatibility/2006">
              <mc:Choice xmlns:v="urn:schemas-microsoft-com:vml" Requires="v">
                <p:oleObj spid="_x0000_s143948" r:id="rId10" imgW="805660" imgH="511646" progId="Equation.DSMT4">
                  <p:embed/>
                </p:oleObj>
              </mc:Choice>
              <mc:Fallback>
                <p:oleObj r:id="rId10" imgW="805660" imgH="511646" progId="Equation.DSMT4">
                  <p:embed/>
                  <p:pic>
                    <p:nvPicPr>
                      <p:cNvPr id="17417"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58000" y="3071813"/>
                        <a:ext cx="18415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8" name="Object 10"/>
          <p:cNvGraphicFramePr>
            <a:graphicFrameLocks noChangeAspect="1"/>
          </p:cNvGraphicFramePr>
          <p:nvPr/>
        </p:nvGraphicFramePr>
        <p:xfrm>
          <a:off x="4781550" y="4286250"/>
          <a:ext cx="2076450" cy="522288"/>
        </p:xfrm>
        <a:graphic>
          <a:graphicData uri="http://schemas.openxmlformats.org/presentationml/2006/ole">
            <mc:AlternateContent xmlns:mc="http://schemas.openxmlformats.org/markup-compatibility/2006">
              <mc:Choice xmlns:v="urn:schemas-microsoft-com:vml" Requires="v">
                <p:oleObj spid="_x0000_s143949" r:id="rId12" imgW="907926" imgH="230415" progId="Equation.DSMT4">
                  <p:embed/>
                </p:oleObj>
              </mc:Choice>
              <mc:Fallback>
                <p:oleObj r:id="rId12" imgW="907926" imgH="230415" progId="Equation.DSMT4">
                  <p:embed/>
                  <p:pic>
                    <p:nvPicPr>
                      <p:cNvPr id="17418"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81550" y="4286250"/>
                        <a:ext cx="20764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9" name="Object 11"/>
          <p:cNvGraphicFramePr>
            <a:graphicFrameLocks noChangeAspect="1"/>
          </p:cNvGraphicFramePr>
          <p:nvPr/>
        </p:nvGraphicFramePr>
        <p:xfrm>
          <a:off x="6591300" y="4956175"/>
          <a:ext cx="1981200" cy="976313"/>
        </p:xfrm>
        <a:graphic>
          <a:graphicData uri="http://schemas.openxmlformats.org/presentationml/2006/ole">
            <mc:AlternateContent xmlns:mc="http://schemas.openxmlformats.org/markup-compatibility/2006">
              <mc:Choice xmlns:v="urn:schemas-microsoft-com:vml" Requires="v">
                <p:oleObj spid="_x0000_s143950" r:id="rId14" imgW="882359" imgH="434947" progId="Equation.DSMT4">
                  <p:embed/>
                </p:oleObj>
              </mc:Choice>
              <mc:Fallback>
                <p:oleObj r:id="rId14" imgW="882359" imgH="434947" progId="Equation.DSMT4">
                  <p:embed/>
                  <p:pic>
                    <p:nvPicPr>
                      <p:cNvPr id="17419"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91300" y="4956175"/>
                        <a:ext cx="1981200"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7387621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box(in)">
                                      <p:cBhvr>
                                        <p:cTn id="7" dur="500"/>
                                        <p:tgtEl>
                                          <p:spTgt spid="17410"/>
                                        </p:tgtEl>
                                      </p:cBhvr>
                                    </p:animEffect>
                                  </p:childTnLst>
                                </p:cTn>
                              </p:par>
                              <p:par>
                                <p:cTn id="8" presetID="4" presetClass="entr" presetSubtype="16" fill="hold" nodeType="withEffect">
                                  <p:stCondLst>
                                    <p:cond delay="0"/>
                                  </p:stCondLst>
                                  <p:childTnLst>
                                    <p:set>
                                      <p:cBhvr>
                                        <p:cTn id="9" dur="1" fill="hold">
                                          <p:stCondLst>
                                            <p:cond delay="0"/>
                                          </p:stCondLst>
                                        </p:cTn>
                                        <p:tgtEl>
                                          <p:spTgt spid="17413"/>
                                        </p:tgtEl>
                                        <p:attrNameLst>
                                          <p:attrName>style.visibility</p:attrName>
                                        </p:attrNameLst>
                                      </p:cBhvr>
                                      <p:to>
                                        <p:strVal val="visible"/>
                                      </p:to>
                                    </p:set>
                                    <p:animEffect transition="in" filter="box(in)">
                                      <p:cBhvr>
                                        <p:cTn id="10" dur="500"/>
                                        <p:tgtEl>
                                          <p:spTgt spid="1741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17412"/>
                                        </p:tgtEl>
                                        <p:attrNameLst>
                                          <p:attrName>style.visibility</p:attrName>
                                        </p:attrNameLst>
                                      </p:cBhvr>
                                      <p:to>
                                        <p:strVal val="visible"/>
                                      </p:to>
                                    </p:set>
                                    <p:animEffect transition="in" filter="box(in)">
                                      <p:cBhvr>
                                        <p:cTn id="15" dur="500"/>
                                        <p:tgtEl>
                                          <p:spTgt spid="17412"/>
                                        </p:tgtEl>
                                      </p:cBhvr>
                                    </p:animEffect>
                                  </p:childTnLst>
                                </p:cTn>
                              </p:par>
                              <p:par>
                                <p:cTn id="16" presetID="4" presetClass="entr" presetSubtype="16" fill="hold" nodeType="withEffect">
                                  <p:stCondLst>
                                    <p:cond delay="0"/>
                                  </p:stCondLst>
                                  <p:childTnLst>
                                    <p:set>
                                      <p:cBhvr>
                                        <p:cTn id="17" dur="1" fill="hold">
                                          <p:stCondLst>
                                            <p:cond delay="0"/>
                                          </p:stCondLst>
                                        </p:cTn>
                                        <p:tgtEl>
                                          <p:spTgt spid="17411"/>
                                        </p:tgtEl>
                                        <p:attrNameLst>
                                          <p:attrName>style.visibility</p:attrName>
                                        </p:attrNameLst>
                                      </p:cBhvr>
                                      <p:to>
                                        <p:strVal val="visible"/>
                                      </p:to>
                                    </p:set>
                                    <p:animEffect transition="in" filter="box(in)">
                                      <p:cBhvr>
                                        <p:cTn id="18" dur="500"/>
                                        <p:tgtEl>
                                          <p:spTgt spid="17411"/>
                                        </p:tgtEl>
                                      </p:cBhvr>
                                    </p:animEffect>
                                  </p:childTnLst>
                                </p:cTn>
                              </p:par>
                              <p:par>
                                <p:cTn id="19" presetID="4" presetClass="entr" presetSubtype="16" fill="hold" nodeType="withEffect">
                                  <p:stCondLst>
                                    <p:cond delay="0"/>
                                  </p:stCondLst>
                                  <p:childTnLst>
                                    <p:set>
                                      <p:cBhvr>
                                        <p:cTn id="20" dur="1" fill="hold">
                                          <p:stCondLst>
                                            <p:cond delay="0"/>
                                          </p:stCondLst>
                                        </p:cTn>
                                        <p:tgtEl>
                                          <p:spTgt spid="17417"/>
                                        </p:tgtEl>
                                        <p:attrNameLst>
                                          <p:attrName>style.visibility</p:attrName>
                                        </p:attrNameLst>
                                      </p:cBhvr>
                                      <p:to>
                                        <p:strVal val="visible"/>
                                      </p:to>
                                    </p:set>
                                    <p:animEffect transition="in" filter="box(in)">
                                      <p:cBhvr>
                                        <p:cTn id="21" dur="500"/>
                                        <p:tgtEl>
                                          <p:spTgt spid="17417"/>
                                        </p:tgtEl>
                                      </p:cBhvr>
                                    </p:animEffect>
                                  </p:childTnLst>
                                </p:cTn>
                              </p:par>
                              <p:par>
                                <p:cTn id="22" presetID="4" presetClass="entr" presetSubtype="16" fill="hold" nodeType="withEffect">
                                  <p:stCondLst>
                                    <p:cond delay="0"/>
                                  </p:stCondLst>
                                  <p:childTnLst>
                                    <p:set>
                                      <p:cBhvr>
                                        <p:cTn id="23" dur="1" fill="hold">
                                          <p:stCondLst>
                                            <p:cond delay="0"/>
                                          </p:stCondLst>
                                        </p:cTn>
                                        <p:tgtEl>
                                          <p:spTgt spid="17418"/>
                                        </p:tgtEl>
                                        <p:attrNameLst>
                                          <p:attrName>style.visibility</p:attrName>
                                        </p:attrNameLst>
                                      </p:cBhvr>
                                      <p:to>
                                        <p:strVal val="visible"/>
                                      </p:to>
                                    </p:set>
                                    <p:animEffect transition="in" filter="box(in)">
                                      <p:cBhvr>
                                        <p:cTn id="24" dur="500"/>
                                        <p:tgtEl>
                                          <p:spTgt spid="1741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7414"/>
                                        </p:tgtEl>
                                        <p:attrNameLst>
                                          <p:attrName>style.visibility</p:attrName>
                                        </p:attrNameLst>
                                      </p:cBhvr>
                                      <p:to>
                                        <p:strVal val="visible"/>
                                      </p:to>
                                    </p:set>
                                    <p:animEffect transition="in" filter="dissolve">
                                      <p:cBhvr>
                                        <p:cTn id="29" dur="500"/>
                                        <p:tgtEl>
                                          <p:spTgt spid="17414"/>
                                        </p:tgtEl>
                                      </p:cBhvr>
                                    </p:animEffect>
                                  </p:childTnLst>
                                </p:cTn>
                              </p:par>
                              <p:par>
                                <p:cTn id="30" presetID="9" presetClass="entr" presetSubtype="0" fill="hold" nodeType="withEffect">
                                  <p:stCondLst>
                                    <p:cond delay="0"/>
                                  </p:stCondLst>
                                  <p:childTnLst>
                                    <p:set>
                                      <p:cBhvr>
                                        <p:cTn id="31" dur="1" fill="hold">
                                          <p:stCondLst>
                                            <p:cond delay="0"/>
                                          </p:stCondLst>
                                        </p:cTn>
                                        <p:tgtEl>
                                          <p:spTgt spid="17415"/>
                                        </p:tgtEl>
                                        <p:attrNameLst>
                                          <p:attrName>style.visibility</p:attrName>
                                        </p:attrNameLst>
                                      </p:cBhvr>
                                      <p:to>
                                        <p:strVal val="visible"/>
                                      </p:to>
                                    </p:set>
                                    <p:animEffect transition="in" filter="dissolve">
                                      <p:cBhvr>
                                        <p:cTn id="32" dur="500"/>
                                        <p:tgtEl>
                                          <p:spTgt spid="174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7419"/>
                                        </p:tgtEl>
                                        <p:attrNameLst>
                                          <p:attrName>style.visibility</p:attrName>
                                        </p:attrNameLst>
                                      </p:cBhvr>
                                      <p:to>
                                        <p:strVal val="visible"/>
                                      </p:to>
                                    </p:set>
                                    <p:animEffect transition="in" filter="dissolve">
                                      <p:cBhvr>
                                        <p:cTn id="37" dur="500"/>
                                        <p:tgtEl>
                                          <p:spTgt spid="17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utoUpdateAnimBg="0"/>
      <p:bldP spid="17412" grpId="0" autoUpdateAnimBg="0"/>
      <p:bldP spid="1741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2"/>
          <p:cNvGraphicFramePr>
            <a:graphicFrameLocks noChangeAspect="1"/>
          </p:cNvGraphicFramePr>
          <p:nvPr>
            <p:extLst>
              <p:ext uri="{D42A27DB-BD31-4B8C-83A1-F6EECF244321}">
                <p14:modId xmlns:p14="http://schemas.microsoft.com/office/powerpoint/2010/main" val="4007118155"/>
              </p:ext>
            </p:extLst>
          </p:nvPr>
        </p:nvGraphicFramePr>
        <p:xfrm>
          <a:off x="107504" y="250825"/>
          <a:ext cx="5319713" cy="984250"/>
        </p:xfrm>
        <a:graphic>
          <a:graphicData uri="http://schemas.openxmlformats.org/presentationml/2006/ole">
            <mc:AlternateContent xmlns:mc="http://schemas.openxmlformats.org/markup-compatibility/2006">
              <mc:Choice xmlns:v="urn:schemas-microsoft-com:vml" Requires="v">
                <p:oleObj spid="_x0000_s145178" r:id="rId3" imgW="2310714" imgH="431930" progId="Equation.DSMT4">
                  <p:embed/>
                </p:oleObj>
              </mc:Choice>
              <mc:Fallback>
                <p:oleObj r:id="rId3" imgW="2310714" imgH="431930" progId="Equation.DSMT4">
                  <p:embed/>
                  <p:pic>
                    <p:nvPicPr>
                      <p:cNvPr id="1843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250825"/>
                        <a:ext cx="5319713"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5" name="Object 3"/>
          <p:cNvGraphicFramePr>
            <a:graphicFrameLocks noChangeAspect="1"/>
          </p:cNvGraphicFramePr>
          <p:nvPr>
            <p:extLst>
              <p:ext uri="{D42A27DB-BD31-4B8C-83A1-F6EECF244321}">
                <p14:modId xmlns:p14="http://schemas.microsoft.com/office/powerpoint/2010/main" val="4069525424"/>
              </p:ext>
            </p:extLst>
          </p:nvPr>
        </p:nvGraphicFramePr>
        <p:xfrm>
          <a:off x="393254" y="1571625"/>
          <a:ext cx="4325938" cy="984250"/>
        </p:xfrm>
        <a:graphic>
          <a:graphicData uri="http://schemas.openxmlformats.org/presentationml/2006/ole">
            <mc:AlternateContent xmlns:mc="http://schemas.openxmlformats.org/markup-compatibility/2006">
              <mc:Choice xmlns:v="urn:schemas-microsoft-com:vml" Requires="v">
                <p:oleObj spid="_x0000_s145179" r:id="rId5" imgW="1879102" imgH="431930" progId="Equation.DSMT4">
                  <p:embed/>
                </p:oleObj>
              </mc:Choice>
              <mc:Fallback>
                <p:oleObj r:id="rId5" imgW="1879102" imgH="431930" progId="Equation.DSMT4">
                  <p:embed/>
                  <p:pic>
                    <p:nvPicPr>
                      <p:cNvPr id="1843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254" y="1571625"/>
                        <a:ext cx="4325938"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6" name="Object 4"/>
          <p:cNvGraphicFramePr>
            <a:graphicFrameLocks noChangeAspect="1"/>
          </p:cNvGraphicFramePr>
          <p:nvPr>
            <p:extLst>
              <p:ext uri="{D42A27DB-BD31-4B8C-83A1-F6EECF244321}">
                <p14:modId xmlns:p14="http://schemas.microsoft.com/office/powerpoint/2010/main" val="1009828881"/>
              </p:ext>
            </p:extLst>
          </p:nvPr>
        </p:nvGraphicFramePr>
        <p:xfrm>
          <a:off x="456754" y="2714625"/>
          <a:ext cx="6246813" cy="1128713"/>
        </p:xfrm>
        <a:graphic>
          <a:graphicData uri="http://schemas.openxmlformats.org/presentationml/2006/ole">
            <mc:AlternateContent xmlns:mc="http://schemas.openxmlformats.org/markup-compatibility/2006">
              <mc:Choice xmlns:v="urn:schemas-microsoft-com:vml" Requires="v">
                <p:oleObj spid="_x0000_s145180" r:id="rId7" imgW="2361492" imgH="495402" progId="Equation.DSMT4">
                  <p:embed/>
                </p:oleObj>
              </mc:Choice>
              <mc:Fallback>
                <p:oleObj r:id="rId7" imgW="2361492" imgH="495402" progId="Equation.DSMT4">
                  <p:embed/>
                  <p:pic>
                    <p:nvPicPr>
                      <p:cNvPr id="1843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754" y="2714625"/>
                        <a:ext cx="6246813"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7" name="Object 5"/>
          <p:cNvGraphicFramePr>
            <a:graphicFrameLocks noChangeAspect="1"/>
          </p:cNvGraphicFramePr>
          <p:nvPr/>
        </p:nvGraphicFramePr>
        <p:xfrm>
          <a:off x="6084888" y="4057650"/>
          <a:ext cx="2228850" cy="1000125"/>
        </p:xfrm>
        <a:graphic>
          <a:graphicData uri="http://schemas.openxmlformats.org/presentationml/2006/ole">
            <mc:AlternateContent xmlns:mc="http://schemas.openxmlformats.org/markup-compatibility/2006">
              <mc:Choice xmlns:v="urn:schemas-microsoft-com:vml" Requires="v">
                <p:oleObj spid="_x0000_s145181" r:id="rId9" imgW="997408" imgH="447730" progId="Equation.DSMT4">
                  <p:embed/>
                </p:oleObj>
              </mc:Choice>
              <mc:Fallback>
                <p:oleObj r:id="rId9" imgW="997408" imgH="447730" progId="Equation.DSMT4">
                  <p:embed/>
                  <p:pic>
                    <p:nvPicPr>
                      <p:cNvPr id="18437"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84888" y="4057650"/>
                        <a:ext cx="222885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8" name="Object 6"/>
          <p:cNvGraphicFramePr>
            <a:graphicFrameLocks noChangeAspect="1"/>
          </p:cNvGraphicFramePr>
          <p:nvPr/>
        </p:nvGraphicFramePr>
        <p:xfrm>
          <a:off x="250825" y="3929063"/>
          <a:ext cx="5613400" cy="1128712"/>
        </p:xfrm>
        <a:graphic>
          <a:graphicData uri="http://schemas.openxmlformats.org/presentationml/2006/ole">
            <mc:AlternateContent xmlns:mc="http://schemas.openxmlformats.org/markup-compatibility/2006">
              <mc:Choice xmlns:v="urn:schemas-microsoft-com:vml" Requires="v">
                <p:oleObj spid="_x0000_s145182" r:id="rId11" imgW="2437659" imgH="495402" progId="Equation.DSMT4">
                  <p:embed/>
                </p:oleObj>
              </mc:Choice>
              <mc:Fallback>
                <p:oleObj r:id="rId11" imgW="2437659" imgH="495402" progId="Equation.DSMT4">
                  <p:embed/>
                  <p:pic>
                    <p:nvPicPr>
                      <p:cNvPr id="18438"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0825" y="3929063"/>
                        <a:ext cx="5613400"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9" name="Text Box 64"/>
          <p:cNvSpPr txBox="1">
            <a:spLocks noChangeArrowheads="1"/>
          </p:cNvSpPr>
          <p:nvPr/>
        </p:nvSpPr>
        <p:spPr bwMode="auto">
          <a:xfrm>
            <a:off x="0" y="5410200"/>
            <a:ext cx="9144000"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楷体_GB2312" pitchFamily="1" charset="-122"/>
                <a:ea typeface="楷体_GB2312" pitchFamily="1" charset="-122"/>
              </a:rPr>
              <a:t>由于狄塞尔循环没有</a:t>
            </a:r>
            <a:r>
              <a:rPr lang="en-US" altLang="zh-CN" sz="2800" b="1" i="1">
                <a:solidFill>
                  <a:srgbClr val="FF0000"/>
                </a:solidFill>
                <a:latin typeface="楷体_GB2312" pitchFamily="1" charset="-122"/>
                <a:ea typeface="楷体_GB2312" pitchFamily="1" charset="-122"/>
              </a:rPr>
              <a:t>r</a:t>
            </a:r>
            <a:r>
              <a:rPr lang="zh-CN" altLang="en-US" sz="2800" b="1">
                <a:solidFill>
                  <a:srgbClr val="FF0000"/>
                </a:solidFill>
                <a:latin typeface="楷体_GB2312" pitchFamily="1" charset="-122"/>
                <a:ea typeface="楷体_GB2312" pitchFamily="1" charset="-122"/>
              </a:rPr>
              <a:t>＜</a:t>
            </a:r>
            <a:r>
              <a:rPr lang="en-US" altLang="zh-CN" sz="2800" b="1">
                <a:solidFill>
                  <a:srgbClr val="FF0000"/>
                </a:solidFill>
                <a:latin typeface="楷体_GB2312" pitchFamily="1" charset="-122"/>
                <a:ea typeface="楷体_GB2312" pitchFamily="1" charset="-122"/>
              </a:rPr>
              <a:t>10</a:t>
            </a:r>
            <a:r>
              <a:rPr lang="zh-CN" altLang="en-US" sz="2800" b="1">
                <a:solidFill>
                  <a:srgbClr val="FF0000"/>
                </a:solidFill>
                <a:latin typeface="楷体_GB2312" pitchFamily="1" charset="-122"/>
                <a:ea typeface="楷体_GB2312" pitchFamily="1" charset="-122"/>
              </a:rPr>
              <a:t>的限制，故其效率可大于奥托循环。柴油机比汽油机笨重而能 发出较大功率，因而常用作大型卡车、工程机械、机车和和船舶的动力装置。 </a:t>
            </a:r>
            <a:endParaRPr lang="zh-CN" altLang="en-US" b="1">
              <a:solidFill>
                <a:srgbClr val="FF0000"/>
              </a:solidFill>
              <a:latin typeface="楷体_GB2312" pitchFamily="1" charset="-122"/>
              <a:ea typeface="楷体_GB2312" pitchFamily="1" charset="-122"/>
            </a:endParaRPr>
          </a:p>
        </p:txBody>
      </p:sp>
      <p:pic>
        <p:nvPicPr>
          <p:cNvPr id="18440" name="Picture 8" descr="xsdh5-0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34662" y="2173822"/>
            <a:ext cx="1771650" cy="168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9" name="Object 3"/>
          <p:cNvGraphicFramePr>
            <a:graphicFrameLocks noChangeAspect="1"/>
          </p:cNvGraphicFramePr>
          <p:nvPr>
            <p:extLst>
              <p:ext uri="{D42A27DB-BD31-4B8C-83A1-F6EECF244321}">
                <p14:modId xmlns:p14="http://schemas.microsoft.com/office/powerpoint/2010/main" val="2669606583"/>
              </p:ext>
            </p:extLst>
          </p:nvPr>
        </p:nvGraphicFramePr>
        <p:xfrm>
          <a:off x="5570092" y="17997"/>
          <a:ext cx="1841500" cy="1158875"/>
        </p:xfrm>
        <a:graphic>
          <a:graphicData uri="http://schemas.openxmlformats.org/presentationml/2006/ole">
            <mc:AlternateContent xmlns:mc="http://schemas.openxmlformats.org/markup-compatibility/2006">
              <mc:Choice xmlns:v="urn:schemas-microsoft-com:vml" Requires="v">
                <p:oleObj spid="_x0000_s145183" r:id="rId14" imgW="805660" imgH="511646" progId="Equation.DSMT4">
                  <p:embed/>
                </p:oleObj>
              </mc:Choice>
              <mc:Fallback>
                <p:oleObj r:id="rId14" imgW="805660" imgH="511646" progId="Equation.DSMT4">
                  <p:embed/>
                  <p:pic>
                    <p:nvPicPr>
                      <p:cNvPr id="17411" name="Object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70092" y="17997"/>
                        <a:ext cx="18415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409730204"/>
              </p:ext>
            </p:extLst>
          </p:nvPr>
        </p:nvGraphicFramePr>
        <p:xfrm>
          <a:off x="7337425" y="76200"/>
          <a:ext cx="1841500" cy="1158875"/>
        </p:xfrm>
        <a:graphic>
          <a:graphicData uri="http://schemas.openxmlformats.org/presentationml/2006/ole">
            <mc:AlternateContent xmlns:mc="http://schemas.openxmlformats.org/markup-compatibility/2006">
              <mc:Choice xmlns:v="urn:schemas-microsoft-com:vml" Requires="v">
                <p:oleObj spid="_x0000_s145184" r:id="rId16" imgW="805660" imgH="511646" progId="Equation.DSMT4">
                  <p:embed/>
                </p:oleObj>
              </mc:Choice>
              <mc:Fallback>
                <p:oleObj r:id="rId16" imgW="805660" imgH="511646" progId="Equation.DSMT4">
                  <p:embed/>
                  <p:pic>
                    <p:nvPicPr>
                      <p:cNvPr id="17417"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337425" y="76200"/>
                        <a:ext cx="18415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
          <p:cNvGraphicFramePr>
            <a:graphicFrameLocks noChangeAspect="1"/>
          </p:cNvGraphicFramePr>
          <p:nvPr>
            <p:extLst>
              <p:ext uri="{D42A27DB-BD31-4B8C-83A1-F6EECF244321}">
                <p14:modId xmlns:p14="http://schemas.microsoft.com/office/powerpoint/2010/main" val="1454088682"/>
              </p:ext>
            </p:extLst>
          </p:nvPr>
        </p:nvGraphicFramePr>
        <p:xfrm>
          <a:off x="5698677" y="1296907"/>
          <a:ext cx="1158875" cy="977900"/>
        </p:xfrm>
        <a:graphic>
          <a:graphicData uri="http://schemas.openxmlformats.org/presentationml/2006/ole">
            <mc:AlternateContent xmlns:mc="http://schemas.openxmlformats.org/markup-compatibility/2006">
              <mc:Choice xmlns:v="urn:schemas-microsoft-com:vml" Requires="v">
                <p:oleObj spid="_x0000_s145185" name="Equation" r:id="rId18" imgW="507960" imgH="431640" progId="Equation.DSMT4">
                  <p:embed/>
                </p:oleObj>
              </mc:Choice>
              <mc:Fallback>
                <p:oleObj name="Equation" r:id="rId18" imgW="507960" imgH="431640" progId="Equation.DSMT4">
                  <p:embed/>
                  <p:pic>
                    <p:nvPicPr>
                      <p:cNvPr id="12" name="Object 3"/>
                      <p:cNvPicPr>
                        <a:picLocks noChangeAspect="1" noChangeArrowheads="1"/>
                      </p:cNvPicPr>
                      <p:nvPr/>
                    </p:nvPicPr>
                    <p:blipFill>
                      <a:blip r:embed="rId19"/>
                      <a:srcRect/>
                      <a:stretch>
                        <a:fillRect/>
                      </a:stretch>
                    </p:blipFill>
                    <p:spPr bwMode="auto">
                      <a:xfrm>
                        <a:off x="5698677" y="1296907"/>
                        <a:ext cx="1158875"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 name="直接连接符 2"/>
          <p:cNvCxnSpPr/>
          <p:nvPr/>
        </p:nvCxnSpPr>
        <p:spPr bwMode="auto">
          <a:xfrm>
            <a:off x="5498653" y="35726"/>
            <a:ext cx="1" cy="2282291"/>
          </a:xfrm>
          <a:prstGeom prst="line">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 name="图片 1">
            <a:extLst>
              <a:ext uri="{FF2B5EF4-FFF2-40B4-BE49-F238E27FC236}">
                <a16:creationId xmlns:a16="http://schemas.microsoft.com/office/drawing/2014/main" id="{BD39E99F-2233-45B2-ABA8-38E045256936}"/>
              </a:ext>
            </a:extLst>
          </p:cNvPr>
          <p:cNvPicPr>
            <a:picLocks noChangeAspect="1"/>
          </p:cNvPicPr>
          <p:nvPr/>
        </p:nvPicPr>
        <p:blipFill>
          <a:blip r:embed="rId20"/>
          <a:stretch>
            <a:fillRect/>
          </a:stretch>
        </p:blipFill>
        <p:spPr>
          <a:xfrm>
            <a:off x="7094087" y="1345147"/>
            <a:ext cx="1771650" cy="828675"/>
          </a:xfrm>
          <a:prstGeom prst="rect">
            <a:avLst/>
          </a:prstGeom>
        </p:spPr>
      </p:pic>
      <p:pic>
        <p:nvPicPr>
          <p:cNvPr id="14" name="Picture 6">
            <a:extLst>
              <a:ext uri="{FF2B5EF4-FFF2-40B4-BE49-F238E27FC236}">
                <a16:creationId xmlns:a16="http://schemas.microsoft.com/office/drawing/2014/main" id="{538693DB-B675-44E1-AE50-773D99136F72}"/>
              </a:ext>
            </a:extLst>
          </p:cNvPr>
          <p:cNvPicPr>
            <a:picLocks noChangeAspect="1" noChangeArrowheads="1"/>
          </p:cNvPicPr>
          <p:nvPr/>
        </p:nvPicPr>
        <p:blipFill>
          <a:blip r:embed="rId2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16120" y="2460283"/>
            <a:ext cx="1604367" cy="1604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11222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dissolve">
                                      <p:cBhvr>
                                        <p:cTn id="7" dur="500"/>
                                        <p:tgtEl>
                                          <p:spTgt spid="184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8435"/>
                                        </p:tgtEl>
                                        <p:attrNameLst>
                                          <p:attrName>style.visibility</p:attrName>
                                        </p:attrNameLst>
                                      </p:cBhvr>
                                      <p:to>
                                        <p:strVal val="visible"/>
                                      </p:to>
                                    </p:set>
                                    <p:animEffect transition="in" filter="dissolve">
                                      <p:cBhvr>
                                        <p:cTn id="12" dur="500"/>
                                        <p:tgtEl>
                                          <p:spTgt spid="184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8436"/>
                                        </p:tgtEl>
                                        <p:attrNameLst>
                                          <p:attrName>style.visibility</p:attrName>
                                        </p:attrNameLst>
                                      </p:cBhvr>
                                      <p:to>
                                        <p:strVal val="visible"/>
                                      </p:to>
                                    </p:set>
                                    <p:animEffect transition="in" filter="dissolve">
                                      <p:cBhvr>
                                        <p:cTn id="17" dur="500"/>
                                        <p:tgtEl>
                                          <p:spTgt spid="184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8438"/>
                                        </p:tgtEl>
                                        <p:attrNameLst>
                                          <p:attrName>style.visibility</p:attrName>
                                        </p:attrNameLst>
                                      </p:cBhvr>
                                      <p:to>
                                        <p:strVal val="visible"/>
                                      </p:to>
                                    </p:set>
                                    <p:animEffect transition="in" filter="dissolve">
                                      <p:cBhvr>
                                        <p:cTn id="22" dur="500"/>
                                        <p:tgtEl>
                                          <p:spTgt spid="184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8437"/>
                                        </p:tgtEl>
                                        <p:attrNameLst>
                                          <p:attrName>style.visibility</p:attrName>
                                        </p:attrNameLst>
                                      </p:cBhvr>
                                      <p:to>
                                        <p:strVal val="visible"/>
                                      </p:to>
                                    </p:set>
                                    <p:animEffect transition="in" filter="dissolve">
                                      <p:cBhvr>
                                        <p:cTn id="27" dur="500"/>
                                        <p:tgtEl>
                                          <p:spTgt spid="1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685800" y="984250"/>
            <a:ext cx="3816350" cy="5181600"/>
          </a:xfrm>
          <a:solidFill>
            <a:srgbClr val="FFFFFF"/>
          </a:solidFill>
          <a:ln>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l"/>
            <a:r>
              <a:rPr lang="zh-CN" altLang="zh-CN" sz="4000" b="1">
                <a:solidFill>
                  <a:srgbClr val="FF0000"/>
                </a:solidFill>
              </a:rPr>
              <a:t>斯特林引擎</a:t>
            </a:r>
            <a:r>
              <a:rPr lang="zh-CN" altLang="zh-CN" sz="3200" b="1">
                <a:solidFill>
                  <a:srgbClr val="FF0000"/>
                </a:solidFill>
              </a:rPr>
              <a:t>（Stirling Engine），</a:t>
            </a:r>
            <a:br>
              <a:rPr lang="zh-CN" altLang="zh-CN" sz="3200" b="1">
                <a:solidFill>
                  <a:srgbClr val="FF0000"/>
                </a:solidFill>
              </a:rPr>
            </a:br>
            <a:r>
              <a:rPr lang="zh-CN" altLang="zh-CN" sz="3200" b="1">
                <a:solidFill>
                  <a:srgbClr val="3333CC"/>
                </a:solidFill>
              </a:rPr>
              <a:t>是一种由外部供热使气体在不同温度下作周期性压缩和膨胀的封闭往复式发动机。</a:t>
            </a:r>
            <a:br>
              <a:rPr lang="zh-CN" altLang="zh-CN" sz="3200" b="1">
                <a:solidFill>
                  <a:srgbClr val="3333CC"/>
                </a:solidFill>
              </a:rPr>
            </a:br>
            <a:r>
              <a:rPr lang="zh-CN" altLang="zh-CN" sz="3200" b="1">
                <a:solidFill>
                  <a:srgbClr val="3333CC"/>
                </a:solidFill>
              </a:rPr>
              <a:t>它</a:t>
            </a:r>
            <a:r>
              <a:rPr lang="zh-CN" altLang="zh-CN" sz="3200" b="1">
                <a:solidFill>
                  <a:srgbClr val="FF0000"/>
                </a:solidFill>
              </a:rPr>
              <a:t>由苏格兰牧师斯特林提出。</a:t>
            </a:r>
          </a:p>
        </p:txBody>
      </p:sp>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463" y="984250"/>
            <a:ext cx="3735387"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60"/>
          <p:cNvSpPr>
            <a:spLocks noChangeArrowheads="1"/>
          </p:cNvSpPr>
          <p:nvPr/>
        </p:nvSpPr>
        <p:spPr bwMode="auto">
          <a:xfrm>
            <a:off x="323528" y="19666"/>
            <a:ext cx="5272597" cy="52322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zh-CN" altLang="en-US" sz="2800" b="1">
                <a:solidFill>
                  <a:schemeClr val="folHlink"/>
                </a:solidFill>
              </a:rPr>
              <a:t>例</a:t>
            </a:r>
            <a:r>
              <a:rPr lang="en-US" altLang="zh-CN" sz="2800" b="1" dirty="0">
                <a:solidFill>
                  <a:schemeClr val="folHlink"/>
                </a:solidFill>
              </a:rPr>
              <a:t>4</a:t>
            </a:r>
            <a:r>
              <a:rPr lang="zh-CN" altLang="en-US" sz="2800" b="1">
                <a:solidFill>
                  <a:schemeClr val="folHlink"/>
                </a:solidFill>
              </a:rPr>
              <a:t>、</a:t>
            </a:r>
            <a:r>
              <a:rPr lang="en-US" altLang="zh-CN" sz="2800" b="1" dirty="0" err="1">
                <a:solidFill>
                  <a:schemeClr val="folHlink"/>
                </a:solidFill>
              </a:rPr>
              <a:t>Stirling</a:t>
            </a:r>
            <a:r>
              <a:rPr lang="en-US" altLang="zh-CN" sz="2800" b="1" dirty="0">
                <a:solidFill>
                  <a:schemeClr val="folHlink"/>
                </a:solidFill>
              </a:rPr>
              <a:t> Cycle Heat Engine </a:t>
            </a:r>
          </a:p>
        </p:txBody>
      </p:sp>
    </p:spTree>
    <p:extLst>
      <p:ext uri="{BB962C8B-B14F-4D97-AF65-F5344CB8AC3E}">
        <p14:creationId xmlns:p14="http://schemas.microsoft.com/office/powerpoint/2010/main" val="296404439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0" fill="hold">
                                          <p:stCondLst>
                                            <p:cond delay="0"/>
                                          </p:stCondLst>
                                        </p:cTn>
                                        <p:tgtEl>
                                          <p:spTgt spid="23554"/>
                                        </p:tgtEl>
                                        <p:attrNameLst>
                                          <p:attrName>style.visibility</p:attrName>
                                        </p:attrNameLst>
                                      </p:cBhvr>
                                      <p:to>
                                        <p:strVal val="visible"/>
                                      </p:to>
                                    </p:set>
                                    <p:anim calcmode="lin" valueType="num">
                                      <p:cBhvr>
                                        <p:cTn id="7" dur="1000" fill="hold"/>
                                        <p:tgtEl>
                                          <p:spTgt spid="23554"/>
                                        </p:tgtEl>
                                        <p:attrNameLst>
                                          <p:attrName>ppt_x</p:attrName>
                                        </p:attrNameLst>
                                      </p:cBhvr>
                                      <p:tavLst>
                                        <p:tav tm="0">
                                          <p:val>
                                            <p:strVal val="#ppt_x-.2"/>
                                          </p:val>
                                        </p:tav>
                                        <p:tav tm="100000">
                                          <p:val>
                                            <p:strVal val="#ppt_x"/>
                                          </p:val>
                                        </p:tav>
                                      </p:tavLst>
                                    </p:anim>
                                    <p:anim calcmode="lin" valueType="num">
                                      <p:cBhvr>
                                        <p:cTn id="8" dur="1000" fill="hold"/>
                                        <p:tgtEl>
                                          <p:spTgt spid="23554"/>
                                        </p:tgtEl>
                                        <p:attrNameLst>
                                          <p:attrName>ppt_y</p:attrName>
                                        </p:attrNameLst>
                                      </p:cBhvr>
                                      <p:tavLst>
                                        <p:tav tm="0">
                                          <p:val>
                                            <p:strVal val="#ppt_y"/>
                                          </p:val>
                                        </p:tav>
                                        <p:tav tm="100000">
                                          <p:val>
                                            <p:strVal val="#ppt_y"/>
                                          </p:val>
                                        </p:tav>
                                      </p:tavLst>
                                    </p:anim>
                                    <p:animEffect transition="in" filter="wipe(right)" prLst="gradientSize: 0.1">
                                      <p:cBhvr>
                                        <p:cTn id="9" dur="1000"/>
                                        <p:tgtEl>
                                          <p:spTgt spid="23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ldLvl="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11">
            <a:extLst>
              <a:ext uri="{FF2B5EF4-FFF2-40B4-BE49-F238E27FC236}">
                <a16:creationId xmlns:a16="http://schemas.microsoft.com/office/drawing/2014/main" id="{87335B34-3498-424F-A5AB-78DDFCF6F5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7036" y="848979"/>
            <a:ext cx="3612650" cy="3858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0" name="Picture 5" descr="95176">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88913"/>
            <a:ext cx="3451225" cy="364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88" name="Rectangle 60"/>
          <p:cNvSpPr>
            <a:spLocks noChangeArrowheads="1"/>
          </p:cNvSpPr>
          <p:nvPr/>
        </p:nvSpPr>
        <p:spPr bwMode="auto">
          <a:xfrm>
            <a:off x="4167726" y="-91858"/>
            <a:ext cx="5272597" cy="52322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zh-CN" altLang="en-US" sz="2800" b="1">
                <a:solidFill>
                  <a:schemeClr val="folHlink"/>
                </a:solidFill>
              </a:rPr>
              <a:t>例</a:t>
            </a:r>
            <a:r>
              <a:rPr lang="en-US" altLang="zh-CN" sz="2800" b="1" dirty="0">
                <a:solidFill>
                  <a:schemeClr val="folHlink"/>
                </a:solidFill>
              </a:rPr>
              <a:t>4</a:t>
            </a:r>
            <a:r>
              <a:rPr lang="zh-CN" altLang="en-US" sz="2800" b="1">
                <a:solidFill>
                  <a:schemeClr val="folHlink"/>
                </a:solidFill>
              </a:rPr>
              <a:t>、</a:t>
            </a:r>
            <a:r>
              <a:rPr lang="en-US" altLang="zh-CN" sz="2800" b="1" dirty="0" err="1">
                <a:solidFill>
                  <a:schemeClr val="folHlink"/>
                </a:solidFill>
              </a:rPr>
              <a:t>Stirling</a:t>
            </a:r>
            <a:r>
              <a:rPr lang="en-US" altLang="zh-CN" sz="2800" b="1" dirty="0">
                <a:solidFill>
                  <a:schemeClr val="folHlink"/>
                </a:solidFill>
              </a:rPr>
              <a:t> Cycle Heat Engine </a:t>
            </a:r>
          </a:p>
        </p:txBody>
      </p:sp>
      <p:sp>
        <p:nvSpPr>
          <p:cNvPr id="27689" name="Rectangle 61"/>
          <p:cNvSpPr>
            <a:spLocks noChangeArrowheads="1"/>
          </p:cNvSpPr>
          <p:nvPr/>
        </p:nvSpPr>
        <p:spPr bwMode="auto">
          <a:xfrm>
            <a:off x="1082675" y="6384925"/>
            <a:ext cx="8061325" cy="4730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500" b="1">
                <a:solidFill>
                  <a:schemeClr val="folHlink"/>
                </a:solidFill>
              </a:rPr>
              <a:t>1816</a:t>
            </a:r>
            <a:r>
              <a:rPr lang="zh-CN" altLang="en-US" sz="2500" b="1">
                <a:solidFill>
                  <a:schemeClr val="folHlink"/>
                </a:solidFill>
              </a:rPr>
              <a:t>年由</a:t>
            </a:r>
            <a:r>
              <a:rPr lang="en-US" altLang="zh-CN" sz="2500" b="1">
                <a:solidFill>
                  <a:schemeClr val="folHlink"/>
                </a:solidFill>
              </a:rPr>
              <a:t>Robert Stirling</a:t>
            </a:r>
            <a:r>
              <a:rPr lang="zh-CN" altLang="en-US" sz="2500" b="1">
                <a:solidFill>
                  <a:schemeClr val="folHlink"/>
                </a:solidFill>
              </a:rPr>
              <a:t>发明，现广泛应用于汽车和航天 </a:t>
            </a:r>
          </a:p>
        </p:txBody>
      </p:sp>
      <p:sp>
        <p:nvSpPr>
          <p:cNvPr id="27690" name="Text Box 62"/>
          <p:cNvSpPr txBox="1">
            <a:spLocks noChangeArrowheads="1"/>
          </p:cNvSpPr>
          <p:nvPr/>
        </p:nvSpPr>
        <p:spPr bwMode="auto">
          <a:xfrm>
            <a:off x="6012160" y="1340768"/>
            <a:ext cx="1992312" cy="396875"/>
          </a:xfrm>
          <a:prstGeom prst="rect">
            <a:avLst/>
          </a:prstGeom>
          <a:solidFill>
            <a:schemeClr val="bg1"/>
          </a:solidFill>
          <a:ln>
            <a:noFill/>
          </a:ln>
          <a:effectLs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eaLnBrk="1" hangingPunct="1"/>
            <a:r>
              <a:rPr lang="en-US" altLang="zh-CN" b="1"/>
              <a:t>AB,CD</a:t>
            </a:r>
            <a:r>
              <a:rPr lang="zh-CN" altLang="en-US" b="1"/>
              <a:t>为等温线</a:t>
            </a:r>
          </a:p>
        </p:txBody>
      </p:sp>
      <p:pic>
        <p:nvPicPr>
          <p:cNvPr id="43" name="图片 42" descr="https://upload.wikimedia.org/wikipedia/commons/c/cc/Alpha_Stirling.gif">
            <a:hlinkClick r:id="rId5"/>
          </p:cNvPr>
          <p:cNvPicPr/>
          <p:nvPr/>
        </p:nvPicPr>
        <p:blipFill>
          <a:blip r:embed="rId6">
            <a:extLst>
              <a:ext uri="{28A0092B-C50C-407E-A947-70E740481C1C}">
                <a14:useLocalDpi xmlns:a14="http://schemas.microsoft.com/office/drawing/2010/main" val="0"/>
              </a:ext>
            </a:extLst>
          </a:blip>
          <a:srcRect/>
          <a:stretch>
            <a:fillRect/>
          </a:stretch>
        </p:blipFill>
        <p:spPr bwMode="auto">
          <a:xfrm>
            <a:off x="198775" y="3835609"/>
            <a:ext cx="2394717" cy="2236787"/>
          </a:xfrm>
          <a:prstGeom prst="rect">
            <a:avLst/>
          </a:prstGeom>
          <a:noFill/>
          <a:ln>
            <a:noFill/>
          </a:ln>
        </p:spPr>
      </p:pic>
      <p:sp>
        <p:nvSpPr>
          <p:cNvPr id="44" name="Text Box 7">
            <a:extLst>
              <a:ext uri="{FF2B5EF4-FFF2-40B4-BE49-F238E27FC236}">
                <a16:creationId xmlns:a16="http://schemas.microsoft.com/office/drawing/2014/main" id="{07D0CCDA-4432-4FA0-8072-D66A9B7FD7D3}"/>
              </a:ext>
            </a:extLst>
          </p:cNvPr>
          <p:cNvSpPr txBox="1">
            <a:spLocks noChangeArrowheads="1"/>
          </p:cNvSpPr>
          <p:nvPr/>
        </p:nvSpPr>
        <p:spPr bwMode="auto">
          <a:xfrm>
            <a:off x="3472618" y="4985375"/>
            <a:ext cx="5472607" cy="78483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85750" indent="-285750"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just">
              <a:spcBef>
                <a:spcPct val="50000"/>
              </a:spcBef>
            </a:pPr>
            <a:r>
              <a:rPr kumimoji="0" lang="en-US" altLang="zh-CN" sz="1800" b="1">
                <a:latin typeface="Arial" pitchFamily="34" charset="0"/>
              </a:rPr>
              <a:t> Take:   V</a:t>
            </a:r>
            <a:r>
              <a:rPr kumimoji="0" lang="en-US" altLang="zh-CN" sz="1800" b="1" baseline="-25000">
                <a:latin typeface="Arial" pitchFamily="34" charset="0"/>
              </a:rPr>
              <a:t>2 </a:t>
            </a:r>
            <a:r>
              <a:rPr kumimoji="0" lang="en-US" altLang="zh-CN" sz="1800" b="1">
                <a:latin typeface="Arial" pitchFamily="34" charset="0"/>
              </a:rPr>
              <a:t> =  2V</a:t>
            </a:r>
            <a:r>
              <a:rPr kumimoji="0" lang="en-US" altLang="zh-CN" sz="1800" b="1" baseline="-25000">
                <a:latin typeface="Arial" pitchFamily="34" charset="0"/>
              </a:rPr>
              <a:t>1       </a:t>
            </a:r>
            <a:r>
              <a:rPr kumimoji="0" lang="en-US" altLang="zh-CN" sz="1800" b="1">
                <a:latin typeface="Arial" pitchFamily="34" charset="0"/>
              </a:rPr>
              <a:t>C</a:t>
            </a:r>
            <a:r>
              <a:rPr kumimoji="0" lang="en-US" altLang="zh-CN" sz="1800" b="1" baseline="-25000">
                <a:latin typeface="Arial" pitchFamily="34" charset="0"/>
              </a:rPr>
              <a:t>v</a:t>
            </a:r>
            <a:r>
              <a:rPr kumimoji="0" lang="en-US" altLang="zh-CN" sz="1800" b="1">
                <a:latin typeface="Symbol" pitchFamily="18" charset="2"/>
              </a:rPr>
              <a:t> </a:t>
            </a:r>
            <a:r>
              <a:rPr kumimoji="0" lang="en-US" altLang="zh-CN" sz="1800" b="1">
                <a:latin typeface="Arial" pitchFamily="34" charset="0"/>
              </a:rPr>
              <a:t> = 3/2   (monatomic gas</a:t>
            </a:r>
            <a:r>
              <a:rPr kumimoji="0" lang="zh-CN" altLang="en-US" sz="1800" b="1">
                <a:latin typeface="Arial" pitchFamily="34" charset="0"/>
              </a:rPr>
              <a:t>）</a:t>
            </a:r>
            <a:endParaRPr kumimoji="0" lang="en-US" altLang="zh-CN" sz="1800" b="1">
              <a:latin typeface="Arial" pitchFamily="34" charset="0"/>
            </a:endParaRPr>
          </a:p>
          <a:p>
            <a:pPr algn="just">
              <a:spcBef>
                <a:spcPct val="50000"/>
              </a:spcBef>
            </a:pPr>
            <a:r>
              <a:rPr kumimoji="0" lang="en-US" altLang="zh-CN" sz="1800" b="1">
                <a:latin typeface="Arial" pitchFamily="34" charset="0"/>
              </a:rPr>
              <a:t> T</a:t>
            </a:r>
            <a:r>
              <a:rPr kumimoji="0" lang="en-US" altLang="zh-CN" sz="1800" b="1" baseline="-25000">
                <a:latin typeface="Arial" pitchFamily="34" charset="0"/>
              </a:rPr>
              <a:t>1</a:t>
            </a:r>
            <a:r>
              <a:rPr kumimoji="0" lang="en-US" altLang="zh-CN" sz="1800" b="1">
                <a:latin typeface="Arial" pitchFamily="34" charset="0"/>
              </a:rPr>
              <a:t> = 373K     T</a:t>
            </a:r>
            <a:r>
              <a:rPr kumimoji="0" lang="en-US" altLang="zh-CN" sz="1800" b="1" baseline="-25000">
                <a:latin typeface="Arial" pitchFamily="34" charset="0"/>
              </a:rPr>
              <a:t>2</a:t>
            </a:r>
            <a:r>
              <a:rPr kumimoji="0" lang="en-US" altLang="zh-CN" sz="1800" b="1">
                <a:latin typeface="Arial" pitchFamily="34" charset="0"/>
              </a:rPr>
              <a:t> = 293K</a:t>
            </a:r>
            <a:r>
              <a:rPr kumimoji="0" lang="zh-CN" altLang="en-US" sz="1800" b="1">
                <a:latin typeface="Arial" pitchFamily="34" charset="0"/>
              </a:rPr>
              <a:t>，</a:t>
            </a:r>
            <a:r>
              <a:rPr kumimoji="0" lang="zh-CN" altLang="en-US" sz="1800" b="1">
                <a:latin typeface="Arial" pitchFamily="34" charset="0"/>
                <a:sym typeface="Symbol" panose="05050102010706020507" pitchFamily="18" charset="2"/>
              </a:rPr>
              <a:t></a:t>
            </a:r>
            <a:r>
              <a:rPr kumimoji="0" lang="en-US" altLang="zh-CN" sz="1800" b="1">
                <a:latin typeface="Arial" pitchFamily="34" charset="0"/>
                <a:sym typeface="Symbol" panose="05050102010706020507" pitchFamily="18" charset="2"/>
              </a:rPr>
              <a:t>=</a:t>
            </a:r>
            <a:r>
              <a:rPr kumimoji="0" lang="zh-CN" altLang="en-US" sz="1800" b="1">
                <a:latin typeface="Arial" pitchFamily="34" charset="0"/>
                <a:sym typeface="Symbol" panose="05050102010706020507" pitchFamily="18" charset="2"/>
              </a:rPr>
              <a:t>？</a:t>
            </a:r>
            <a:endParaRPr kumimoji="0" lang="en-US" altLang="zh-CN" sz="1800" b="1">
              <a:latin typeface="Arial" pitchFamily="34" charset="0"/>
            </a:endParaRPr>
          </a:p>
        </p:txBody>
      </p:sp>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163199530"/>
              </p:ext>
            </p:extLst>
          </p:nvPr>
        </p:nvGraphicFramePr>
        <p:xfrm>
          <a:off x="4236227" y="2016849"/>
          <a:ext cx="2797175" cy="931863"/>
        </p:xfrm>
        <a:graphic>
          <a:graphicData uri="http://schemas.openxmlformats.org/presentationml/2006/ole">
            <mc:AlternateContent xmlns:mc="http://schemas.openxmlformats.org/markup-compatibility/2006">
              <mc:Choice xmlns:v="urn:schemas-microsoft-com:vml" Requires="v">
                <p:oleObj spid="_x0000_s87844" name="公式" r:id="rId4" imgW="1371600" imgH="457200" progId="Equation.3">
                  <p:embed/>
                </p:oleObj>
              </mc:Choice>
              <mc:Fallback>
                <p:oleObj name="公式" r:id="rId4" imgW="1371600" imgH="457200" progId="Equation.3">
                  <p:embed/>
                  <p:pic>
                    <p:nvPicPr>
                      <p:cNvPr id="0" name="Object 24"/>
                      <p:cNvPicPr>
                        <a:picLocks noChangeAspect="1" noChangeArrowheads="1"/>
                      </p:cNvPicPr>
                      <p:nvPr/>
                    </p:nvPicPr>
                    <p:blipFill>
                      <a:blip r:embed="rId5"/>
                      <a:srcRect/>
                      <a:stretch>
                        <a:fillRect/>
                      </a:stretch>
                    </p:blipFill>
                    <p:spPr bwMode="auto">
                      <a:xfrm>
                        <a:off x="4236227" y="2016849"/>
                        <a:ext cx="2797175" cy="931863"/>
                      </a:xfrm>
                      <a:prstGeom prst="rect">
                        <a:avLst/>
                      </a:prstGeom>
                      <a:noFill/>
                      <a:ln>
                        <a:noFill/>
                      </a:ln>
                      <a:effec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218351580"/>
              </p:ext>
            </p:extLst>
          </p:nvPr>
        </p:nvGraphicFramePr>
        <p:xfrm>
          <a:off x="4078288" y="436563"/>
          <a:ext cx="4849812" cy="1336675"/>
        </p:xfrm>
        <a:graphic>
          <a:graphicData uri="http://schemas.openxmlformats.org/presentationml/2006/ole">
            <mc:AlternateContent xmlns:mc="http://schemas.openxmlformats.org/markup-compatibility/2006">
              <mc:Choice xmlns:v="urn:schemas-microsoft-com:vml" Requires="v">
                <p:oleObj spid="_x0000_s87845" name="公式" r:id="rId6" imgW="2666880" imgH="736560" progId="Equation.3">
                  <p:embed/>
                </p:oleObj>
              </mc:Choice>
              <mc:Fallback>
                <p:oleObj name="公式" r:id="rId6" imgW="2666880" imgH="736560" progId="Equation.3">
                  <p:embed/>
                  <p:pic>
                    <p:nvPicPr>
                      <p:cNvPr id="0" name="Object 26"/>
                      <p:cNvPicPr>
                        <a:picLocks noChangeAspect="1" noChangeArrowheads="1"/>
                      </p:cNvPicPr>
                      <p:nvPr/>
                    </p:nvPicPr>
                    <p:blipFill>
                      <a:blip r:embed="rId7"/>
                      <a:srcRect/>
                      <a:stretch>
                        <a:fillRect/>
                      </a:stretch>
                    </p:blipFill>
                    <p:spPr bwMode="auto">
                      <a:xfrm>
                        <a:off x="4078288" y="436563"/>
                        <a:ext cx="4849812" cy="1336675"/>
                      </a:xfrm>
                      <a:prstGeom prst="rect">
                        <a:avLst/>
                      </a:prstGeom>
                      <a:noFill/>
                      <a:ln>
                        <a:noFill/>
                      </a:ln>
                      <a:effec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26530934"/>
              </p:ext>
            </p:extLst>
          </p:nvPr>
        </p:nvGraphicFramePr>
        <p:xfrm>
          <a:off x="4306739" y="3081064"/>
          <a:ext cx="2797175" cy="933450"/>
        </p:xfrm>
        <a:graphic>
          <a:graphicData uri="http://schemas.openxmlformats.org/presentationml/2006/ole">
            <mc:AlternateContent xmlns:mc="http://schemas.openxmlformats.org/markup-compatibility/2006">
              <mc:Choice xmlns:v="urn:schemas-microsoft-com:vml" Requires="v">
                <p:oleObj spid="_x0000_s87846" name="公式" r:id="rId8" imgW="1371600" imgH="457200" progId="Equation.3">
                  <p:embed/>
                </p:oleObj>
              </mc:Choice>
              <mc:Fallback>
                <p:oleObj name="公式" r:id="rId8" imgW="1371600" imgH="457200" progId="Equation.3">
                  <p:embed/>
                  <p:pic>
                    <p:nvPicPr>
                      <p:cNvPr id="0" name="Object 28"/>
                      <p:cNvPicPr>
                        <a:picLocks noChangeAspect="1" noChangeArrowheads="1"/>
                      </p:cNvPicPr>
                      <p:nvPr/>
                    </p:nvPicPr>
                    <p:blipFill>
                      <a:blip r:embed="rId9"/>
                      <a:srcRect/>
                      <a:stretch>
                        <a:fillRect/>
                      </a:stretch>
                    </p:blipFill>
                    <p:spPr bwMode="auto">
                      <a:xfrm>
                        <a:off x="4306739" y="3081064"/>
                        <a:ext cx="2797175" cy="933450"/>
                      </a:xfrm>
                      <a:prstGeom prst="rect">
                        <a:avLst/>
                      </a:prstGeom>
                      <a:noFill/>
                      <a:ln>
                        <a:noFill/>
                      </a:ln>
                      <a:effec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564074703"/>
              </p:ext>
            </p:extLst>
          </p:nvPr>
        </p:nvGraphicFramePr>
        <p:xfrm>
          <a:off x="3652662" y="4103735"/>
          <a:ext cx="5518150" cy="1503363"/>
        </p:xfrm>
        <a:graphic>
          <a:graphicData uri="http://schemas.openxmlformats.org/presentationml/2006/ole">
            <mc:AlternateContent xmlns:mc="http://schemas.openxmlformats.org/markup-compatibility/2006">
              <mc:Choice xmlns:v="urn:schemas-microsoft-com:vml" Requires="v">
                <p:oleObj spid="_x0000_s87847" name="公式" r:id="rId10" imgW="2705040" imgH="736560" progId="Equation.3">
                  <p:embed/>
                </p:oleObj>
              </mc:Choice>
              <mc:Fallback>
                <p:oleObj name="公式" r:id="rId10" imgW="2705040" imgH="736560" progId="Equation.3">
                  <p:embed/>
                  <p:pic>
                    <p:nvPicPr>
                      <p:cNvPr id="0" name="Object 30"/>
                      <p:cNvPicPr>
                        <a:picLocks noChangeAspect="1" noChangeArrowheads="1"/>
                      </p:cNvPicPr>
                      <p:nvPr/>
                    </p:nvPicPr>
                    <p:blipFill>
                      <a:blip r:embed="rId11"/>
                      <a:srcRect/>
                      <a:stretch>
                        <a:fillRect/>
                      </a:stretch>
                    </p:blipFill>
                    <p:spPr bwMode="auto">
                      <a:xfrm>
                        <a:off x="3652662" y="4103735"/>
                        <a:ext cx="5518150" cy="1503363"/>
                      </a:xfrm>
                      <a:prstGeom prst="rect">
                        <a:avLst/>
                      </a:prstGeom>
                      <a:noFill/>
                      <a:ln>
                        <a:noFill/>
                      </a:ln>
                      <a:effectLst/>
                    </p:spPr>
                  </p:pic>
                </p:oleObj>
              </mc:Fallback>
            </mc:AlternateContent>
          </a:graphicData>
        </a:graphic>
      </p:graphicFrame>
      <p:pic>
        <p:nvPicPr>
          <p:cNvPr id="87051"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12" y="0"/>
            <a:ext cx="3612650" cy="3858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对象 7"/>
          <p:cNvGraphicFramePr>
            <a:graphicFrameLocks noChangeAspect="1"/>
          </p:cNvGraphicFramePr>
          <p:nvPr>
            <p:extLst>
              <p:ext uri="{D42A27DB-BD31-4B8C-83A1-F6EECF244321}">
                <p14:modId xmlns:p14="http://schemas.microsoft.com/office/powerpoint/2010/main" val="4282773651"/>
              </p:ext>
            </p:extLst>
          </p:nvPr>
        </p:nvGraphicFramePr>
        <p:xfrm>
          <a:off x="2066881" y="5798331"/>
          <a:ext cx="2044700" cy="984250"/>
        </p:xfrm>
        <a:graphic>
          <a:graphicData uri="http://schemas.openxmlformats.org/presentationml/2006/ole">
            <mc:AlternateContent xmlns:mc="http://schemas.openxmlformats.org/markup-compatibility/2006">
              <mc:Choice xmlns:v="urn:schemas-microsoft-com:vml" Requires="v">
                <p:oleObj spid="_x0000_s87848" name="Equation" r:id="rId13" imgW="1002960" imgH="482400" progId="Equation.DSMT4">
                  <p:embed/>
                </p:oleObj>
              </mc:Choice>
              <mc:Fallback>
                <p:oleObj name="Equation" r:id="rId13" imgW="1002960" imgH="482400" progId="Equation.DSMT4">
                  <p:embed/>
                  <p:pic>
                    <p:nvPicPr>
                      <p:cNvPr id="0" name=""/>
                      <p:cNvPicPr>
                        <a:picLocks noChangeAspect="1" noChangeArrowheads="1"/>
                      </p:cNvPicPr>
                      <p:nvPr/>
                    </p:nvPicPr>
                    <p:blipFill>
                      <a:blip r:embed="rId14"/>
                      <a:srcRect/>
                      <a:stretch>
                        <a:fillRect/>
                      </a:stretch>
                    </p:blipFill>
                    <p:spPr bwMode="auto">
                      <a:xfrm>
                        <a:off x="2066881" y="5798331"/>
                        <a:ext cx="2044700" cy="984250"/>
                      </a:xfrm>
                      <a:prstGeom prst="rect">
                        <a:avLst/>
                      </a:prstGeom>
                      <a:noFill/>
                      <a:ln>
                        <a:noFill/>
                      </a:ln>
                      <a:effectLst/>
                    </p:spPr>
                  </p:pic>
                </p:oleObj>
              </mc:Fallback>
            </mc:AlternateContent>
          </a:graphicData>
        </a:graphic>
      </p:graphicFrame>
      <p:graphicFrame>
        <p:nvGraphicFramePr>
          <p:cNvPr id="9" name="Object 5"/>
          <p:cNvGraphicFramePr>
            <a:graphicFrameLocks noChangeAspect="1"/>
          </p:cNvGraphicFramePr>
          <p:nvPr>
            <p:extLst>
              <p:ext uri="{D42A27DB-BD31-4B8C-83A1-F6EECF244321}">
                <p14:modId xmlns:p14="http://schemas.microsoft.com/office/powerpoint/2010/main" val="3921337666"/>
              </p:ext>
            </p:extLst>
          </p:nvPr>
        </p:nvGraphicFramePr>
        <p:xfrm>
          <a:off x="4799806" y="5696320"/>
          <a:ext cx="3406775" cy="1104900"/>
        </p:xfrm>
        <a:graphic>
          <a:graphicData uri="http://schemas.openxmlformats.org/presentationml/2006/ole">
            <mc:AlternateContent xmlns:mc="http://schemas.openxmlformats.org/markup-compatibility/2006">
              <mc:Choice xmlns:v="urn:schemas-microsoft-com:vml" Requires="v">
                <p:oleObj spid="_x0000_s87849" name="Equation" r:id="rId15" imgW="1726920" imgH="495000" progId="Equation.DSMT4">
                  <p:embed/>
                </p:oleObj>
              </mc:Choice>
              <mc:Fallback>
                <p:oleObj name="Equation" r:id="rId15" imgW="1726920" imgH="495000" progId="Equation.DSMT4">
                  <p:embed/>
                  <p:pic>
                    <p:nvPicPr>
                      <p:cNvPr id="0" name=""/>
                      <p:cNvPicPr>
                        <a:picLocks noChangeAspect="1" noChangeArrowheads="1"/>
                      </p:cNvPicPr>
                      <p:nvPr/>
                    </p:nvPicPr>
                    <p:blipFill>
                      <a:blip r:embed="rId16"/>
                      <a:srcRect/>
                      <a:stretch>
                        <a:fillRect/>
                      </a:stretch>
                    </p:blipFill>
                    <p:spPr bwMode="auto">
                      <a:xfrm>
                        <a:off x="4799806" y="5696320"/>
                        <a:ext cx="3406775" cy="1104900"/>
                      </a:xfrm>
                      <a:prstGeom prst="rect">
                        <a:avLst/>
                      </a:prstGeom>
                      <a:noFill/>
                      <a:ln w="9525">
                        <a:solidFill>
                          <a:schemeClr val="accent1"/>
                        </a:solidFill>
                        <a:miter lim="800000"/>
                        <a:headEnd/>
                        <a:tailEnd/>
                      </a:ln>
                      <a:effectLst/>
                      <a:extLst/>
                    </p:spPr>
                  </p:pic>
                </p:oleObj>
              </mc:Fallback>
            </mc:AlternateContent>
          </a:graphicData>
        </a:graphic>
      </p:graphicFrame>
      <p:sp>
        <p:nvSpPr>
          <p:cNvPr id="6" name="文本框 5">
            <a:extLst>
              <a:ext uri="{FF2B5EF4-FFF2-40B4-BE49-F238E27FC236}">
                <a16:creationId xmlns:a16="http://schemas.microsoft.com/office/drawing/2014/main" id="{68836252-9584-4555-B5FB-334B2099C389}"/>
              </a:ext>
            </a:extLst>
          </p:cNvPr>
          <p:cNvSpPr txBox="1"/>
          <p:nvPr/>
        </p:nvSpPr>
        <p:spPr>
          <a:xfrm>
            <a:off x="3372192" y="548680"/>
            <a:ext cx="706096" cy="2862322"/>
          </a:xfrm>
          <a:prstGeom prst="rect">
            <a:avLst/>
          </a:prstGeom>
          <a:noFill/>
        </p:spPr>
        <p:txBody>
          <a:bodyPr wrap="square" rtlCol="0">
            <a:spAutoFit/>
          </a:bodyPr>
          <a:lstStyle/>
          <a:p>
            <a:r>
              <a:rPr lang="en-US" altLang="zh-CN" b="1">
                <a:solidFill>
                  <a:srgbClr val="FF0000"/>
                </a:solidFill>
              </a:rPr>
              <a:t>AB</a:t>
            </a:r>
          </a:p>
          <a:p>
            <a:endParaRPr lang="en-US" altLang="zh-CN" b="1">
              <a:solidFill>
                <a:srgbClr val="FF0000"/>
              </a:solidFill>
            </a:endParaRPr>
          </a:p>
          <a:p>
            <a:endParaRPr lang="en-US" altLang="zh-CN" b="1">
              <a:solidFill>
                <a:srgbClr val="FF0000"/>
              </a:solidFill>
            </a:endParaRPr>
          </a:p>
          <a:p>
            <a:endParaRPr lang="en-US" altLang="zh-CN" b="1">
              <a:solidFill>
                <a:srgbClr val="FF0000"/>
              </a:solidFill>
            </a:endParaRPr>
          </a:p>
          <a:p>
            <a:endParaRPr lang="en-US" altLang="zh-CN" b="1">
              <a:solidFill>
                <a:srgbClr val="FF0000"/>
              </a:solidFill>
            </a:endParaRPr>
          </a:p>
          <a:p>
            <a:r>
              <a:rPr lang="en-US" altLang="zh-CN" b="1">
                <a:solidFill>
                  <a:srgbClr val="FF0000"/>
                </a:solidFill>
              </a:rPr>
              <a:t>DA</a:t>
            </a:r>
          </a:p>
          <a:p>
            <a:endParaRPr lang="en-US" altLang="zh-CN" b="1">
              <a:solidFill>
                <a:srgbClr val="FF0000"/>
              </a:solidFill>
            </a:endParaRPr>
          </a:p>
          <a:p>
            <a:endParaRPr lang="en-US" altLang="zh-CN" b="1">
              <a:solidFill>
                <a:srgbClr val="FF0000"/>
              </a:solidFill>
            </a:endParaRPr>
          </a:p>
          <a:p>
            <a:r>
              <a:rPr lang="en-US" altLang="zh-CN" b="1">
                <a:solidFill>
                  <a:srgbClr val="FF0000"/>
                </a:solidFill>
              </a:rPr>
              <a:t>BC</a:t>
            </a:r>
          </a:p>
        </p:txBody>
      </p:sp>
      <p:sp>
        <p:nvSpPr>
          <p:cNvPr id="7" name="矩形 6">
            <a:extLst>
              <a:ext uri="{FF2B5EF4-FFF2-40B4-BE49-F238E27FC236}">
                <a16:creationId xmlns:a16="http://schemas.microsoft.com/office/drawing/2014/main" id="{EFFFFF99-E809-4A35-8E1E-22B741F448E1}"/>
              </a:ext>
            </a:extLst>
          </p:cNvPr>
          <p:cNvSpPr/>
          <p:nvPr/>
        </p:nvSpPr>
        <p:spPr>
          <a:xfrm>
            <a:off x="2555776" y="4685074"/>
            <a:ext cx="556563" cy="400110"/>
          </a:xfrm>
          <a:prstGeom prst="rect">
            <a:avLst/>
          </a:prstGeom>
        </p:spPr>
        <p:txBody>
          <a:bodyPr wrap="none">
            <a:spAutoFit/>
          </a:bodyPr>
          <a:lstStyle/>
          <a:p>
            <a:r>
              <a:rPr lang="en-US" altLang="zh-CN" b="1">
                <a:solidFill>
                  <a:srgbClr val="FF0000"/>
                </a:solidFill>
              </a:rPr>
              <a:t>CD</a:t>
            </a:r>
            <a:endParaRPr lang="zh-CN" altLang="en-US" b="1">
              <a:solidFill>
                <a:srgbClr val="FF0000"/>
              </a:solidFill>
            </a:endParaRPr>
          </a:p>
        </p:txBody>
      </p:sp>
      <p:cxnSp>
        <p:nvCxnSpPr>
          <p:cNvPr id="11" name="直接连接符 10">
            <a:extLst>
              <a:ext uri="{FF2B5EF4-FFF2-40B4-BE49-F238E27FC236}">
                <a16:creationId xmlns:a16="http://schemas.microsoft.com/office/drawing/2014/main" id="{F6DE5E0E-38ED-49BF-AB0E-A80FCEB4F2D3}"/>
              </a:ext>
            </a:extLst>
          </p:cNvPr>
          <p:cNvCxnSpPr>
            <a:cxnSpLocks/>
          </p:cNvCxnSpPr>
          <p:nvPr/>
        </p:nvCxnSpPr>
        <p:spPr bwMode="auto">
          <a:xfrm>
            <a:off x="3388146" y="1856189"/>
            <a:ext cx="5376272" cy="37008"/>
          </a:xfrm>
          <a:prstGeom prst="line">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a:extLst>
              <a:ext uri="{FF2B5EF4-FFF2-40B4-BE49-F238E27FC236}">
                <a16:creationId xmlns:a16="http://schemas.microsoft.com/office/drawing/2014/main" id="{408702BB-BA94-431E-9CDC-CDE0E72063D0}"/>
              </a:ext>
            </a:extLst>
          </p:cNvPr>
          <p:cNvCxnSpPr>
            <a:cxnSpLocks/>
          </p:cNvCxnSpPr>
          <p:nvPr/>
        </p:nvCxnSpPr>
        <p:spPr bwMode="auto">
          <a:xfrm>
            <a:off x="3540662" y="2937810"/>
            <a:ext cx="5376272" cy="37008"/>
          </a:xfrm>
          <a:prstGeom prst="line">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2F805616-BFA9-4C71-A903-FF219DD43A39}"/>
              </a:ext>
            </a:extLst>
          </p:cNvPr>
          <p:cNvCxnSpPr>
            <a:cxnSpLocks/>
          </p:cNvCxnSpPr>
          <p:nvPr/>
        </p:nvCxnSpPr>
        <p:spPr bwMode="auto">
          <a:xfrm>
            <a:off x="3540662" y="4065401"/>
            <a:ext cx="5376272" cy="37008"/>
          </a:xfrm>
          <a:prstGeom prst="line">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a:extLst>
              <a:ext uri="{FF2B5EF4-FFF2-40B4-BE49-F238E27FC236}">
                <a16:creationId xmlns:a16="http://schemas.microsoft.com/office/drawing/2014/main" id="{6EF72D6E-3FA6-414F-9F2B-66980D0DC44C}"/>
              </a:ext>
            </a:extLst>
          </p:cNvPr>
          <p:cNvCxnSpPr>
            <a:cxnSpLocks/>
          </p:cNvCxnSpPr>
          <p:nvPr/>
        </p:nvCxnSpPr>
        <p:spPr bwMode="auto">
          <a:xfrm>
            <a:off x="3388146" y="5700723"/>
            <a:ext cx="5376272" cy="37008"/>
          </a:xfrm>
          <a:prstGeom prst="line">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534958232"/>
      </p:ext>
    </p:ext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4"/>
          <p:cNvGraphicFramePr>
            <a:graphicFrameLocks noChangeAspect="1"/>
          </p:cNvGraphicFramePr>
          <p:nvPr>
            <p:extLst>
              <p:ext uri="{D42A27DB-BD31-4B8C-83A1-F6EECF244321}">
                <p14:modId xmlns:p14="http://schemas.microsoft.com/office/powerpoint/2010/main" val="734640837"/>
              </p:ext>
            </p:extLst>
          </p:nvPr>
        </p:nvGraphicFramePr>
        <p:xfrm>
          <a:off x="434976" y="2085485"/>
          <a:ext cx="7651750" cy="1976928"/>
        </p:xfrm>
        <a:graphic>
          <a:graphicData uri="http://schemas.openxmlformats.org/presentationml/2006/ole">
            <mc:AlternateContent xmlns:mc="http://schemas.openxmlformats.org/markup-compatibility/2006">
              <mc:Choice xmlns:v="urn:schemas-microsoft-com:vml" Requires="v">
                <p:oleObj spid="_x0000_s29140" name="Equation" r:id="rId3" imgW="3466800" imgH="838080" progId="Equation.DSMT4">
                  <p:embed/>
                </p:oleObj>
              </mc:Choice>
              <mc:Fallback>
                <p:oleObj name="Equation" r:id="rId3" imgW="3466800" imgH="838080" progId="Equation.DSMT4">
                  <p:embed/>
                  <p:pic>
                    <p:nvPicPr>
                      <p:cNvPr id="0" name="Object 4"/>
                      <p:cNvPicPr>
                        <a:picLocks noChangeAspect="1" noChangeArrowheads="1"/>
                      </p:cNvPicPr>
                      <p:nvPr/>
                    </p:nvPicPr>
                    <p:blipFill>
                      <a:blip r:embed="rId4"/>
                      <a:srcRect/>
                      <a:stretch>
                        <a:fillRect/>
                      </a:stretch>
                    </p:blipFill>
                    <p:spPr bwMode="blackWhite">
                      <a:xfrm>
                        <a:off x="434976" y="2085485"/>
                        <a:ext cx="7651750" cy="1976928"/>
                      </a:xfrm>
                      <a:prstGeom prst="rect">
                        <a:avLst/>
                      </a:prstGeom>
                      <a:solidFill>
                        <a:srgbClr val="FFFF66"/>
                      </a:solidFill>
                      <a:ln>
                        <a:noFill/>
                      </a:ln>
                      <a:effectLst/>
                      <a:extLst/>
                    </p:spPr>
                  </p:pic>
                </p:oleObj>
              </mc:Fallback>
            </mc:AlternateContent>
          </a:graphicData>
        </a:graphic>
      </p:graphicFrame>
      <p:graphicFrame>
        <p:nvGraphicFramePr>
          <p:cNvPr id="28675" name="Object 5"/>
          <p:cNvGraphicFramePr>
            <a:graphicFrameLocks noChangeAspect="1"/>
          </p:cNvGraphicFramePr>
          <p:nvPr/>
        </p:nvGraphicFramePr>
        <p:xfrm>
          <a:off x="554038" y="354013"/>
          <a:ext cx="6454775" cy="1574800"/>
        </p:xfrm>
        <a:graphic>
          <a:graphicData uri="http://schemas.openxmlformats.org/presentationml/2006/ole">
            <mc:AlternateContent xmlns:mc="http://schemas.openxmlformats.org/markup-compatibility/2006">
              <mc:Choice xmlns:v="urn:schemas-microsoft-com:vml" Requires="v">
                <p:oleObj spid="_x0000_s29141" name="Equation" r:id="rId5" imgW="1809649" imgH="390457" progId="Equation.DSMT4">
                  <p:embed/>
                </p:oleObj>
              </mc:Choice>
              <mc:Fallback>
                <p:oleObj name="Equation" r:id="rId5" imgW="1809649" imgH="390457"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038" y="354013"/>
                        <a:ext cx="6454775" cy="157480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6" name="Object 6"/>
          <p:cNvGraphicFramePr>
            <a:graphicFrameLocks noChangeAspect="1"/>
          </p:cNvGraphicFramePr>
          <p:nvPr/>
        </p:nvGraphicFramePr>
        <p:xfrm>
          <a:off x="1116013" y="4545013"/>
          <a:ext cx="6970712" cy="2312987"/>
        </p:xfrm>
        <a:graphic>
          <a:graphicData uri="http://schemas.openxmlformats.org/presentationml/2006/ole">
            <mc:AlternateContent xmlns:mc="http://schemas.openxmlformats.org/markup-compatibility/2006">
              <mc:Choice xmlns:v="urn:schemas-microsoft-com:vml" Requires="v">
                <p:oleObj spid="_x0000_s29142" name="公式" r:id="rId7" imgW="3143216" imgH="1000057" progId="Equation.3">
                  <p:embed/>
                </p:oleObj>
              </mc:Choice>
              <mc:Fallback>
                <p:oleObj name="公式" r:id="rId7" imgW="3143216" imgH="1000057" progId="Equation.3">
                  <p:embed/>
                  <p:pic>
                    <p:nvPicPr>
                      <p:cNvPr id="0" name="Object 6"/>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blackWhite">
                      <a:xfrm>
                        <a:off x="1116013" y="4545013"/>
                        <a:ext cx="6970712" cy="2312987"/>
                      </a:xfrm>
                      <a:prstGeom prst="rect">
                        <a:avLst/>
                      </a:prstGeom>
                      <a:solidFill>
                        <a:schemeClr val="tx1"/>
                      </a:solidFill>
                      <a:ln>
                        <a:noFill/>
                      </a:ln>
                      <a:effectLst/>
                      <a:extLs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7" name="Text Box 7"/>
          <p:cNvSpPr txBox="1">
            <a:spLocks noChangeArrowheads="1"/>
          </p:cNvSpPr>
          <p:nvPr/>
        </p:nvSpPr>
        <p:spPr bwMode="auto">
          <a:xfrm>
            <a:off x="262876" y="4062413"/>
            <a:ext cx="8424863" cy="3794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spcBef>
                <a:spcPct val="50000"/>
              </a:spcBef>
            </a:pPr>
            <a:r>
              <a:rPr kumimoji="0" lang="en-US" altLang="zh-CN" sz="1800" b="1">
                <a:latin typeface="Arial" pitchFamily="34" charset="0"/>
              </a:rPr>
              <a:t>Take:   V</a:t>
            </a:r>
            <a:r>
              <a:rPr kumimoji="0" lang="en-US" altLang="zh-CN" sz="1800" b="1" baseline="-25000">
                <a:latin typeface="Arial" pitchFamily="34" charset="0"/>
              </a:rPr>
              <a:t>2 </a:t>
            </a:r>
            <a:r>
              <a:rPr kumimoji="0" lang="en-US" altLang="zh-CN" sz="1800" b="1">
                <a:latin typeface="Arial" pitchFamily="34" charset="0"/>
              </a:rPr>
              <a:t> =  2V</a:t>
            </a:r>
            <a:r>
              <a:rPr kumimoji="0" lang="en-US" altLang="zh-CN" sz="1800" b="1" baseline="-25000">
                <a:latin typeface="Arial" pitchFamily="34" charset="0"/>
              </a:rPr>
              <a:t>1 	           </a:t>
            </a:r>
            <a:r>
              <a:rPr kumimoji="0" lang="en-US" altLang="zh-CN" sz="1800" b="1">
                <a:latin typeface="Arial" pitchFamily="34" charset="0"/>
              </a:rPr>
              <a:t>C</a:t>
            </a:r>
            <a:r>
              <a:rPr kumimoji="0" lang="en-US" altLang="zh-CN" sz="1800" b="1" baseline="-25000">
                <a:latin typeface="Arial" pitchFamily="34" charset="0"/>
              </a:rPr>
              <a:t>v</a:t>
            </a:r>
            <a:r>
              <a:rPr kumimoji="0" lang="en-US" altLang="zh-CN" sz="1800" b="1">
                <a:latin typeface="Symbol" pitchFamily="18" charset="2"/>
              </a:rPr>
              <a:t> </a:t>
            </a:r>
            <a:r>
              <a:rPr kumimoji="0" lang="en-US" altLang="zh-CN" sz="1800" b="1">
                <a:latin typeface="Arial" pitchFamily="34" charset="0"/>
              </a:rPr>
              <a:t> = 3/2   (monatomic gas    T</a:t>
            </a:r>
            <a:r>
              <a:rPr kumimoji="0" lang="en-US" altLang="zh-CN" sz="1800" b="1" baseline="-25000">
                <a:latin typeface="Arial" pitchFamily="34" charset="0"/>
              </a:rPr>
              <a:t>1</a:t>
            </a:r>
            <a:r>
              <a:rPr kumimoji="0" lang="en-US" altLang="zh-CN" sz="1800" b="1">
                <a:latin typeface="Arial" pitchFamily="34" charset="0"/>
              </a:rPr>
              <a:t> = 373K     T</a:t>
            </a:r>
            <a:r>
              <a:rPr kumimoji="0" lang="en-US" altLang="zh-CN" sz="1800" b="1" baseline="-25000">
                <a:latin typeface="Arial" pitchFamily="34" charset="0"/>
              </a:rPr>
              <a:t>2</a:t>
            </a:r>
            <a:r>
              <a:rPr kumimoji="0" lang="en-US" altLang="zh-CN" sz="1800" b="1">
                <a:latin typeface="Arial" pitchFamily="34" charset="0"/>
              </a:rPr>
              <a:t> = 293K</a:t>
            </a: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descr="羊皮纸"/>
          <p:cNvSpPr>
            <a:spLocks noChangeArrowheads="1"/>
          </p:cNvSpPr>
          <p:nvPr/>
        </p:nvSpPr>
        <p:spPr bwMode="auto">
          <a:xfrm>
            <a:off x="0" y="4763"/>
            <a:ext cx="9144000" cy="1066800"/>
          </a:xfrm>
          <a:prstGeom prst="rect">
            <a:avLst/>
          </a:prstGeom>
          <a:blipFill dpi="0" rotWithShape="0">
            <a:blip r:embed="rId2"/>
            <a:srcRect/>
            <a:tile tx="0" ty="0" sx="100000" sy="100000" flip="none" algn="tl"/>
          </a:blipFill>
          <a:ln w="9525" cap="flat" cmpd="sng">
            <a:solidFill>
              <a:srgbClr val="FF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59" name="Rectangle 3"/>
          <p:cNvSpPr>
            <a:spLocks noGrp="1" noChangeArrowheads="1"/>
          </p:cNvSpPr>
          <p:nvPr>
            <p:ph type="title"/>
          </p:nvPr>
        </p:nvSpPr>
        <p:spPr bwMode="auto">
          <a:xfrm>
            <a:off x="1404938" y="276225"/>
            <a:ext cx="6119812" cy="633413"/>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ctr" anchorCtr="0" compatLnSpc="1">
            <a:prstTxWarp prst="textNoShape">
              <a:avLst/>
            </a:prstTxWarp>
          </a:bodyPr>
          <a:lstStyle/>
          <a:p>
            <a:r>
              <a:rPr lang="zh-CN" altLang="en-US" sz="4000" b="1">
                <a:solidFill>
                  <a:srgbClr val="FF0000"/>
                </a:solidFill>
              </a:rPr>
              <a:t>例</a:t>
            </a:r>
            <a:r>
              <a:rPr lang="en-US" altLang="zh-CN" sz="4000" b="1">
                <a:solidFill>
                  <a:srgbClr val="FF0000"/>
                </a:solidFill>
              </a:rPr>
              <a:t>6</a:t>
            </a:r>
            <a:r>
              <a:rPr lang="zh-CN" altLang="en-US" sz="4000" b="1">
                <a:solidFill>
                  <a:srgbClr val="FF0000"/>
                </a:solidFill>
              </a:rPr>
              <a:t>.布莱顿循环的计算</a:t>
            </a:r>
          </a:p>
        </p:txBody>
      </p:sp>
      <p:pic>
        <p:nvPicPr>
          <p:cNvPr id="19460" name="Picture 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9980000">
            <a:off x="330200" y="1989138"/>
            <a:ext cx="4308475" cy="304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61" name="Text Box 2"/>
          <p:cNvSpPr txBox="1">
            <a:spLocks noChangeArrowheads="1"/>
          </p:cNvSpPr>
          <p:nvPr/>
        </p:nvSpPr>
        <p:spPr bwMode="auto">
          <a:xfrm>
            <a:off x="5219700" y="1555750"/>
            <a:ext cx="3384550" cy="3724096"/>
          </a:xfrm>
          <a:prstGeom prst="rect">
            <a:avLst/>
          </a:prstGeom>
          <a:gradFill rotWithShape="0">
            <a:gsLst>
              <a:gs pos="0">
                <a:schemeClr val="accent1"/>
              </a:gs>
              <a:gs pos="50000">
                <a:srgbClr val="FFFFFF"/>
              </a:gs>
              <a:gs pos="100000">
                <a:schemeClr val="accent1"/>
              </a:gs>
            </a:gsLst>
            <a:lin ang="5400000" scaled="1"/>
          </a:gradFill>
          <a:ln w="9525" cap="flat" cmpd="sng">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b="1">
                <a:solidFill>
                  <a:srgbClr val="CC0000"/>
                </a:solidFill>
              </a:rPr>
              <a:t>     </a:t>
            </a:r>
            <a:r>
              <a:rPr lang="zh-CN" altLang="en-US" sz="6000" b="1">
                <a:solidFill>
                  <a:srgbClr val="FF0000"/>
                </a:solidFill>
              </a:rPr>
              <a:t> </a:t>
            </a:r>
            <a:r>
              <a:rPr lang="en-US" altLang="zh-CN" sz="6000" b="1">
                <a:solidFill>
                  <a:srgbClr val="FF0000"/>
                </a:solidFill>
              </a:rPr>
              <a:t>·</a:t>
            </a:r>
            <a:r>
              <a:rPr lang="zh-CN" altLang="en-US" sz="4400" b="1">
                <a:solidFill>
                  <a:srgbClr val="000000"/>
                </a:solidFill>
              </a:rPr>
              <a:t>是由两个准静态</a:t>
            </a:r>
            <a:r>
              <a:rPr lang="zh-CN" altLang="en-US" sz="4400" b="1">
                <a:solidFill>
                  <a:srgbClr val="CC0000"/>
                </a:solidFill>
              </a:rPr>
              <a:t>绝热</a:t>
            </a:r>
            <a:r>
              <a:rPr lang="zh-CN" altLang="en-US" sz="4400" b="1">
                <a:solidFill>
                  <a:srgbClr val="000000"/>
                </a:solidFill>
              </a:rPr>
              <a:t>过程和两个准静态</a:t>
            </a:r>
            <a:r>
              <a:rPr lang="zh-CN" altLang="en-US" sz="4400" b="1">
                <a:solidFill>
                  <a:srgbClr val="FF0000"/>
                </a:solidFill>
              </a:rPr>
              <a:t>等压</a:t>
            </a:r>
            <a:r>
              <a:rPr lang="zh-CN" altLang="en-US" sz="4400" b="1">
                <a:solidFill>
                  <a:srgbClr val="000000"/>
                </a:solidFill>
              </a:rPr>
              <a:t>过程组成 </a:t>
            </a:r>
            <a:r>
              <a:rPr lang="en-US" altLang="zh-CN" sz="4400" b="1">
                <a:solidFill>
                  <a:srgbClr val="333333"/>
                </a:solidFill>
              </a:rPr>
              <a:t>.</a:t>
            </a:r>
          </a:p>
        </p:txBody>
      </p:sp>
      <p:sp>
        <p:nvSpPr>
          <p:cNvPr id="19462" name="Rectangle 6" descr="水滴"/>
          <p:cNvSpPr>
            <a:spLocks noChangeArrowheads="1"/>
          </p:cNvSpPr>
          <p:nvPr/>
        </p:nvSpPr>
        <p:spPr bwMode="auto">
          <a:xfrm>
            <a:off x="0" y="6540500"/>
            <a:ext cx="9144000" cy="317500"/>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3" name="Rectangle 7"/>
          <p:cNvSpPr>
            <a:spLocks noChangeArrowheads="1"/>
          </p:cNvSpPr>
          <p:nvPr/>
        </p:nvSpPr>
        <p:spPr bwMode="auto">
          <a:xfrm>
            <a:off x="365919" y="1350368"/>
            <a:ext cx="4098925" cy="4368800"/>
          </a:xfrm>
          <a:prstGeom prst="rect">
            <a:avLst/>
          </a:prstGeom>
          <a:solidFill>
            <a:srgbClr val="FFFF00">
              <a:alpha val="32999"/>
            </a:srgbClr>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Tree>
    <p:extLst>
      <p:ext uri="{BB962C8B-B14F-4D97-AF65-F5344CB8AC3E}">
        <p14:creationId xmlns:p14="http://schemas.microsoft.com/office/powerpoint/2010/main" val="304416007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box(in)">
                                      <p:cBhvr>
                                        <p:cTn id="7" dur="500"/>
                                        <p:tgtEl>
                                          <p:spTgt spid="194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61"/>
                                        </p:tgtEl>
                                        <p:attrNameLst>
                                          <p:attrName>style.visibility</p:attrName>
                                        </p:attrNameLst>
                                      </p:cBhvr>
                                      <p:to>
                                        <p:strVal val="visible"/>
                                      </p:to>
                                    </p:set>
                                    <p:animEffect transition="in" filter="blinds(horizontal)">
                                      <p:cBhvr>
                                        <p:cTn id="12"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bldLvl="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6"/>
          <p:cNvSpPr txBox="1">
            <a:spLocks noChangeArrowheads="1"/>
          </p:cNvSpPr>
          <p:nvPr/>
        </p:nvSpPr>
        <p:spPr bwMode="auto">
          <a:xfrm>
            <a:off x="357188" y="838200"/>
            <a:ext cx="8143875" cy="252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b="1">
                <a:solidFill>
                  <a:srgbClr val="FF0000"/>
                </a:solidFill>
                <a:latin typeface="楷体_GB2312" pitchFamily="1" charset="-122"/>
                <a:ea typeface="楷体_GB2312" pitchFamily="1" charset="-122"/>
              </a:rPr>
              <a:t>【例6】</a:t>
            </a:r>
            <a:r>
              <a:rPr lang="zh-CN" altLang="en-US" sz="3200" b="1">
                <a:solidFill>
                  <a:srgbClr val="C00000"/>
                </a:solidFill>
                <a:latin typeface="楷体_GB2312" pitchFamily="1" charset="-122"/>
                <a:ea typeface="楷体_GB2312" pitchFamily="1" charset="-122"/>
              </a:rPr>
              <a:t> </a:t>
            </a:r>
            <a:r>
              <a:rPr lang="zh-CN" altLang="en-US" sz="3200" b="1">
                <a:solidFill>
                  <a:schemeClr val="accent2"/>
                </a:solidFill>
                <a:latin typeface="楷体_GB2312" pitchFamily="1" charset="-122"/>
                <a:ea typeface="楷体_GB2312" pitchFamily="1" charset="-122"/>
              </a:rPr>
              <a:t>燃气轮机的理想工作过程称为</a:t>
            </a:r>
            <a:r>
              <a:rPr lang="zh-CN" altLang="en-US" sz="3200" b="1">
                <a:solidFill>
                  <a:srgbClr val="FF0000"/>
                </a:solidFill>
                <a:latin typeface="楷体_GB2312" pitchFamily="1" charset="-122"/>
                <a:ea typeface="楷体_GB2312" pitchFamily="1" charset="-122"/>
              </a:rPr>
              <a:t>布莱顿循环</a:t>
            </a:r>
            <a:r>
              <a:rPr lang="zh-CN" altLang="en-US" sz="3200" b="1">
                <a:latin typeface="楷体_GB2312" pitchFamily="1" charset="-122"/>
                <a:ea typeface="楷体_GB2312" pitchFamily="1" charset="-122"/>
              </a:rPr>
              <a:t>。</a:t>
            </a:r>
            <a:r>
              <a:rPr lang="zh-CN" altLang="en-US" sz="3200" b="1">
                <a:solidFill>
                  <a:schemeClr val="accent2"/>
                </a:solidFill>
                <a:latin typeface="楷体_GB2312" pitchFamily="1" charset="-122"/>
                <a:ea typeface="楷体_GB2312" pitchFamily="1" charset="-122"/>
              </a:rPr>
              <a:t>如下图，</a:t>
            </a:r>
            <a:r>
              <a:rPr lang="en-US" altLang="zh-CN" sz="3200" b="1">
                <a:solidFill>
                  <a:schemeClr val="accent2"/>
                </a:solidFill>
                <a:latin typeface="楷体_GB2312" pitchFamily="1" charset="-122"/>
                <a:ea typeface="楷体_GB2312" pitchFamily="1" charset="-122"/>
              </a:rPr>
              <a:t>A-B</a:t>
            </a:r>
            <a:r>
              <a:rPr lang="zh-CN" altLang="en-US" sz="3200" b="1">
                <a:solidFill>
                  <a:schemeClr val="accent2"/>
                </a:solidFill>
                <a:latin typeface="楷体_GB2312" pitchFamily="1" charset="-122"/>
                <a:ea typeface="楷体_GB2312" pitchFamily="1" charset="-122"/>
              </a:rPr>
              <a:t>为等压膨胀，</a:t>
            </a:r>
            <a:r>
              <a:rPr lang="en-US" altLang="zh-CN" sz="3200" b="1">
                <a:solidFill>
                  <a:schemeClr val="accent2"/>
                </a:solidFill>
                <a:latin typeface="楷体_GB2312" pitchFamily="1" charset="-122"/>
                <a:ea typeface="楷体_GB2312" pitchFamily="1" charset="-122"/>
              </a:rPr>
              <a:t>B-C</a:t>
            </a:r>
            <a:r>
              <a:rPr lang="zh-CN" altLang="en-US" sz="3200" b="1">
                <a:solidFill>
                  <a:schemeClr val="accent2"/>
                </a:solidFill>
                <a:latin typeface="楷体_GB2312" pitchFamily="1" charset="-122"/>
                <a:ea typeface="楷体_GB2312" pitchFamily="1" charset="-122"/>
              </a:rPr>
              <a:t>为绝热膨胀，</a:t>
            </a:r>
            <a:r>
              <a:rPr lang="en-US" altLang="zh-CN" sz="3200" b="1">
                <a:solidFill>
                  <a:schemeClr val="accent2"/>
                </a:solidFill>
                <a:latin typeface="楷体_GB2312" pitchFamily="1" charset="-122"/>
                <a:ea typeface="楷体_GB2312" pitchFamily="1" charset="-122"/>
              </a:rPr>
              <a:t>C-D</a:t>
            </a:r>
            <a:r>
              <a:rPr lang="zh-CN" altLang="en-US" sz="3200" b="1">
                <a:solidFill>
                  <a:schemeClr val="accent2"/>
                </a:solidFill>
                <a:latin typeface="楷体_GB2312" pitchFamily="1" charset="-122"/>
                <a:ea typeface="楷体_GB2312" pitchFamily="1" charset="-122"/>
              </a:rPr>
              <a:t>为等压压缩，</a:t>
            </a:r>
            <a:r>
              <a:rPr lang="en-US" altLang="zh-CN" sz="3200" b="1">
                <a:solidFill>
                  <a:schemeClr val="accent2"/>
                </a:solidFill>
                <a:latin typeface="楷体_GB2312" pitchFamily="1" charset="-122"/>
                <a:ea typeface="楷体_GB2312" pitchFamily="1" charset="-122"/>
              </a:rPr>
              <a:t>D-A</a:t>
            </a:r>
            <a:r>
              <a:rPr lang="zh-CN" altLang="en-US" sz="3200" b="1">
                <a:solidFill>
                  <a:schemeClr val="accent2"/>
                </a:solidFill>
                <a:latin typeface="楷体_GB2312" pitchFamily="1" charset="-122"/>
                <a:ea typeface="楷体_GB2312" pitchFamily="1" charset="-122"/>
              </a:rPr>
              <a:t>为绝热压缩。已知：</a:t>
            </a:r>
            <a:r>
              <a:rPr lang="en-US" altLang="zh-CN" sz="3200" b="1" i="1">
                <a:solidFill>
                  <a:schemeClr val="accent2"/>
                </a:solidFill>
                <a:latin typeface="楷体_GB2312" pitchFamily="1" charset="-122"/>
                <a:ea typeface="楷体_GB2312" pitchFamily="1" charset="-122"/>
              </a:rPr>
              <a:t>T</a:t>
            </a:r>
            <a:r>
              <a:rPr lang="en-US" altLang="zh-CN" sz="3200" b="1" i="1" baseline="-25000">
                <a:solidFill>
                  <a:schemeClr val="accent2"/>
                </a:solidFill>
                <a:latin typeface="楷体_GB2312" pitchFamily="1" charset="-122"/>
                <a:ea typeface="楷体_GB2312" pitchFamily="1" charset="-122"/>
              </a:rPr>
              <a:t>C </a:t>
            </a:r>
            <a:r>
              <a:rPr lang="en-US" altLang="zh-CN" sz="3200" b="1">
                <a:solidFill>
                  <a:schemeClr val="accent2"/>
                </a:solidFill>
                <a:latin typeface="楷体_GB2312" pitchFamily="1" charset="-122"/>
                <a:ea typeface="楷体_GB2312" pitchFamily="1" charset="-122"/>
              </a:rPr>
              <a:t>=300K,</a:t>
            </a:r>
            <a:r>
              <a:rPr lang="en-US" altLang="zh-CN" sz="3200" b="1" i="1">
                <a:solidFill>
                  <a:schemeClr val="accent2"/>
                </a:solidFill>
                <a:latin typeface="楷体_GB2312" pitchFamily="1" charset="-122"/>
                <a:ea typeface="楷体_GB2312" pitchFamily="1" charset="-122"/>
              </a:rPr>
              <a:t>T</a:t>
            </a:r>
            <a:r>
              <a:rPr lang="en-US" altLang="zh-CN" sz="3200" b="1" i="1" baseline="-25000">
                <a:solidFill>
                  <a:schemeClr val="accent2"/>
                </a:solidFill>
                <a:latin typeface="楷体_GB2312" pitchFamily="1" charset="-122"/>
                <a:ea typeface="楷体_GB2312" pitchFamily="1" charset="-122"/>
              </a:rPr>
              <a:t>B</a:t>
            </a:r>
            <a:r>
              <a:rPr lang="en-US" altLang="zh-CN" sz="3200" b="1">
                <a:solidFill>
                  <a:schemeClr val="accent2"/>
                </a:solidFill>
                <a:latin typeface="楷体_GB2312" pitchFamily="1" charset="-122"/>
                <a:ea typeface="楷体_GB2312" pitchFamily="1" charset="-122"/>
              </a:rPr>
              <a:t> =400K</a:t>
            </a:r>
            <a:r>
              <a:rPr lang="zh-CN" altLang="en-US" sz="3200" b="1">
                <a:solidFill>
                  <a:schemeClr val="accent2"/>
                </a:solidFill>
                <a:latin typeface="楷体_GB2312" pitchFamily="1" charset="-122"/>
                <a:ea typeface="楷体_GB2312" pitchFamily="1" charset="-122"/>
              </a:rPr>
              <a:t>。</a:t>
            </a:r>
            <a:r>
              <a:rPr lang="en-US" altLang="zh-CN" sz="3200" b="1">
                <a:solidFill>
                  <a:schemeClr val="accent2"/>
                </a:solidFill>
                <a:latin typeface="楷体_GB2312" pitchFamily="1" charset="-122"/>
                <a:ea typeface="楷体_GB2312" pitchFamily="1" charset="-122"/>
              </a:rPr>
              <a:t> </a:t>
            </a:r>
            <a:r>
              <a:rPr lang="zh-CN" altLang="en-US" sz="3200" b="1">
                <a:solidFill>
                  <a:schemeClr val="accent2"/>
                </a:solidFill>
                <a:latin typeface="楷体_GB2312" pitchFamily="1" charset="-122"/>
                <a:ea typeface="楷体_GB2312" pitchFamily="1" charset="-122"/>
              </a:rPr>
              <a:t>试求：此循环的效率。</a:t>
            </a:r>
            <a:endParaRPr lang="zh-CN" altLang="en-US" sz="3200" b="1">
              <a:solidFill>
                <a:schemeClr val="accent2"/>
              </a:solidFill>
            </a:endParaRPr>
          </a:p>
        </p:txBody>
      </p:sp>
      <p:pic>
        <p:nvPicPr>
          <p:cNvPr id="20483"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9980000">
            <a:off x="542925" y="3573463"/>
            <a:ext cx="372427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84" name="Group 4"/>
          <p:cNvGrpSpPr>
            <a:grpSpLocks/>
          </p:cNvGrpSpPr>
          <p:nvPr/>
        </p:nvGrpSpPr>
        <p:grpSpPr bwMode="auto">
          <a:xfrm>
            <a:off x="4267200" y="2898775"/>
            <a:ext cx="4214813" cy="3643313"/>
            <a:chOff x="0" y="0"/>
            <a:chExt cx="3024" cy="2304"/>
          </a:xfrm>
        </p:grpSpPr>
        <p:sp>
          <p:nvSpPr>
            <p:cNvPr id="20485" name="Rectangle 23"/>
            <p:cNvSpPr>
              <a:spLocks noChangeArrowheads="1"/>
            </p:cNvSpPr>
            <p:nvPr/>
          </p:nvSpPr>
          <p:spPr bwMode="auto">
            <a:xfrm>
              <a:off x="0" y="0"/>
              <a:ext cx="3024" cy="2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486" name="Line 24"/>
            <p:cNvSpPr>
              <a:spLocks noChangeShapeType="1"/>
            </p:cNvSpPr>
            <p:nvPr/>
          </p:nvSpPr>
          <p:spPr bwMode="auto">
            <a:xfrm>
              <a:off x="432" y="1920"/>
              <a:ext cx="2256" cy="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87" name="Line 25"/>
            <p:cNvSpPr>
              <a:spLocks noChangeShapeType="1"/>
            </p:cNvSpPr>
            <p:nvPr/>
          </p:nvSpPr>
          <p:spPr bwMode="auto">
            <a:xfrm flipV="1">
              <a:off x="432" y="240"/>
              <a:ext cx="0" cy="168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88" name="Arc 26"/>
            <p:cNvSpPr>
              <a:spLocks/>
            </p:cNvSpPr>
            <p:nvPr/>
          </p:nvSpPr>
          <p:spPr bwMode="auto">
            <a:xfrm flipH="1" flipV="1">
              <a:off x="864" y="816"/>
              <a:ext cx="576" cy="649"/>
            </a:xfrm>
            <a:custGeom>
              <a:avLst/>
              <a:gdLst>
                <a:gd name="T0" fmla="*/ 5587 w 21600"/>
                <a:gd name="T1" fmla="*/ 0 h 20865"/>
                <a:gd name="T2" fmla="*/ 21600 w 21600"/>
                <a:gd name="T3" fmla="*/ 20865 h 20865"/>
                <a:gd name="T4" fmla="*/ 5587 w 21600"/>
                <a:gd name="T5" fmla="*/ 0 h 20865"/>
                <a:gd name="T6" fmla="*/ 21600 w 21600"/>
                <a:gd name="T7" fmla="*/ 20865 h 20865"/>
                <a:gd name="T8" fmla="*/ 0 w 21600"/>
                <a:gd name="T9" fmla="*/ 20865 h 20865"/>
                <a:gd name="T10" fmla="*/ 0 w 21600"/>
                <a:gd name="T11" fmla="*/ 0 h 20865"/>
                <a:gd name="T12" fmla="*/ 21600 w 21600"/>
                <a:gd name="T13" fmla="*/ 20865 h 20865"/>
              </a:gdLst>
              <a:ahLst/>
              <a:cxnLst>
                <a:cxn ang="0">
                  <a:pos x="T0" y="T1"/>
                </a:cxn>
                <a:cxn ang="0">
                  <a:pos x="T2" y="T3"/>
                </a:cxn>
                <a:cxn ang="0">
                  <a:pos x="T4" y="T5"/>
                </a:cxn>
                <a:cxn ang="0">
                  <a:pos x="T6" y="T7"/>
                </a:cxn>
                <a:cxn ang="0">
                  <a:pos x="T8" y="T9"/>
                </a:cxn>
              </a:cxnLst>
              <a:rect l="T10" t="T11" r="T12" b="T13"/>
              <a:pathLst>
                <a:path w="21600" h="20865" fill="none" extrusionOk="0">
                  <a:moveTo>
                    <a:pt x="5587" y="0"/>
                  </a:moveTo>
                  <a:cubicBezTo>
                    <a:pt x="15032" y="2529"/>
                    <a:pt x="21600" y="11087"/>
                    <a:pt x="21600" y="20865"/>
                  </a:cubicBezTo>
                </a:path>
                <a:path w="21600" h="20865" stroke="0" extrusionOk="0">
                  <a:moveTo>
                    <a:pt x="5587" y="0"/>
                  </a:moveTo>
                  <a:cubicBezTo>
                    <a:pt x="15032" y="2529"/>
                    <a:pt x="21600" y="11087"/>
                    <a:pt x="21600" y="20865"/>
                  </a:cubicBezTo>
                  <a:lnTo>
                    <a:pt x="0" y="20865"/>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489" name="Arc 27"/>
            <p:cNvSpPr>
              <a:spLocks/>
            </p:cNvSpPr>
            <p:nvPr/>
          </p:nvSpPr>
          <p:spPr bwMode="auto">
            <a:xfrm flipH="1" flipV="1">
              <a:off x="1619" y="816"/>
              <a:ext cx="576" cy="648"/>
            </a:xfrm>
            <a:custGeom>
              <a:avLst/>
              <a:gdLst>
                <a:gd name="T0" fmla="*/ 5752 w 21600"/>
                <a:gd name="T1" fmla="*/ 0 h 20820"/>
                <a:gd name="T2" fmla="*/ 21600 w 21600"/>
                <a:gd name="T3" fmla="*/ 20820 h 20820"/>
                <a:gd name="T4" fmla="*/ 5752 w 21600"/>
                <a:gd name="T5" fmla="*/ 0 h 20820"/>
                <a:gd name="T6" fmla="*/ 21600 w 21600"/>
                <a:gd name="T7" fmla="*/ 20820 h 20820"/>
                <a:gd name="T8" fmla="*/ 0 w 21600"/>
                <a:gd name="T9" fmla="*/ 20820 h 20820"/>
                <a:gd name="T10" fmla="*/ 0 w 21600"/>
                <a:gd name="T11" fmla="*/ 0 h 20820"/>
                <a:gd name="T12" fmla="*/ 21600 w 21600"/>
                <a:gd name="T13" fmla="*/ 20820 h 20820"/>
              </a:gdLst>
              <a:ahLst/>
              <a:cxnLst>
                <a:cxn ang="0">
                  <a:pos x="T0" y="T1"/>
                </a:cxn>
                <a:cxn ang="0">
                  <a:pos x="T2" y="T3"/>
                </a:cxn>
                <a:cxn ang="0">
                  <a:pos x="T4" y="T5"/>
                </a:cxn>
                <a:cxn ang="0">
                  <a:pos x="T6" y="T7"/>
                </a:cxn>
                <a:cxn ang="0">
                  <a:pos x="T8" y="T9"/>
                </a:cxn>
              </a:cxnLst>
              <a:rect l="T10" t="T11" r="T12" b="T13"/>
              <a:pathLst>
                <a:path w="21600" h="20820" fill="none" extrusionOk="0">
                  <a:moveTo>
                    <a:pt x="5752" y="0"/>
                  </a:moveTo>
                  <a:cubicBezTo>
                    <a:pt x="15115" y="2587"/>
                    <a:pt x="21600" y="11106"/>
                    <a:pt x="21600" y="20820"/>
                  </a:cubicBezTo>
                </a:path>
                <a:path w="21600" h="20820" stroke="0" extrusionOk="0">
                  <a:moveTo>
                    <a:pt x="5752" y="0"/>
                  </a:moveTo>
                  <a:cubicBezTo>
                    <a:pt x="15115" y="2587"/>
                    <a:pt x="21600" y="11106"/>
                    <a:pt x="21600" y="20820"/>
                  </a:cubicBezTo>
                  <a:lnTo>
                    <a:pt x="0" y="20820"/>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490" name="Line 28"/>
            <p:cNvSpPr>
              <a:spLocks noChangeShapeType="1"/>
            </p:cNvSpPr>
            <p:nvPr/>
          </p:nvSpPr>
          <p:spPr bwMode="auto">
            <a:xfrm>
              <a:off x="864" y="816"/>
              <a:ext cx="76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1" name="Line 29"/>
            <p:cNvSpPr>
              <a:spLocks noChangeShapeType="1"/>
            </p:cNvSpPr>
            <p:nvPr/>
          </p:nvSpPr>
          <p:spPr bwMode="auto">
            <a:xfrm>
              <a:off x="1283" y="1462"/>
              <a:ext cx="76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2" name="Line 30"/>
            <p:cNvSpPr>
              <a:spLocks noChangeShapeType="1"/>
            </p:cNvSpPr>
            <p:nvPr/>
          </p:nvSpPr>
          <p:spPr bwMode="auto">
            <a:xfrm>
              <a:off x="1179" y="816"/>
              <a:ext cx="192" cy="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3" name="Line 31"/>
            <p:cNvSpPr>
              <a:spLocks noChangeShapeType="1"/>
            </p:cNvSpPr>
            <p:nvPr/>
          </p:nvSpPr>
          <p:spPr bwMode="auto">
            <a:xfrm flipH="1">
              <a:off x="1488" y="1462"/>
              <a:ext cx="192" cy="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4" name="Line 32"/>
            <p:cNvSpPr>
              <a:spLocks noChangeShapeType="1"/>
            </p:cNvSpPr>
            <p:nvPr/>
          </p:nvSpPr>
          <p:spPr bwMode="auto">
            <a:xfrm>
              <a:off x="1680" y="1104"/>
              <a:ext cx="48" cy="96"/>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5" name="Line 33"/>
            <p:cNvSpPr>
              <a:spLocks noChangeShapeType="1"/>
            </p:cNvSpPr>
            <p:nvPr/>
          </p:nvSpPr>
          <p:spPr bwMode="auto">
            <a:xfrm flipH="1" flipV="1">
              <a:off x="925" y="1104"/>
              <a:ext cx="48" cy="96"/>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6" name="Text Box 34"/>
            <p:cNvSpPr txBox="1">
              <a:spLocks noChangeArrowheads="1"/>
            </p:cNvSpPr>
            <p:nvPr/>
          </p:nvSpPr>
          <p:spPr bwMode="auto">
            <a:xfrm>
              <a:off x="144" y="48"/>
              <a:ext cx="43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b="1" i="1"/>
                <a:t>p</a:t>
              </a:r>
            </a:p>
          </p:txBody>
        </p:sp>
        <p:sp>
          <p:nvSpPr>
            <p:cNvPr id="20497" name="Text Box 35"/>
            <p:cNvSpPr txBox="1">
              <a:spLocks noChangeArrowheads="1"/>
            </p:cNvSpPr>
            <p:nvPr/>
          </p:nvSpPr>
          <p:spPr bwMode="auto">
            <a:xfrm>
              <a:off x="2592" y="1920"/>
              <a:ext cx="43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b="1" i="1"/>
                <a:t>V</a:t>
              </a:r>
            </a:p>
          </p:txBody>
        </p:sp>
        <p:sp>
          <p:nvSpPr>
            <p:cNvPr id="20498" name="Text Box 36"/>
            <p:cNvSpPr txBox="1">
              <a:spLocks noChangeArrowheads="1"/>
            </p:cNvSpPr>
            <p:nvPr/>
          </p:nvSpPr>
          <p:spPr bwMode="auto">
            <a:xfrm>
              <a:off x="576" y="576"/>
              <a:ext cx="43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t>A</a:t>
              </a:r>
            </a:p>
          </p:txBody>
        </p:sp>
        <p:sp>
          <p:nvSpPr>
            <p:cNvPr id="20499" name="Text Box 37"/>
            <p:cNvSpPr txBox="1">
              <a:spLocks noChangeArrowheads="1"/>
            </p:cNvSpPr>
            <p:nvPr/>
          </p:nvSpPr>
          <p:spPr bwMode="auto">
            <a:xfrm>
              <a:off x="1536" y="611"/>
              <a:ext cx="43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t>B</a:t>
              </a:r>
            </a:p>
          </p:txBody>
        </p:sp>
        <p:sp>
          <p:nvSpPr>
            <p:cNvPr id="20500" name="Text Box 38"/>
            <p:cNvSpPr txBox="1">
              <a:spLocks noChangeArrowheads="1"/>
            </p:cNvSpPr>
            <p:nvPr/>
          </p:nvSpPr>
          <p:spPr bwMode="auto">
            <a:xfrm>
              <a:off x="1872" y="1430"/>
              <a:ext cx="433"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t>C</a:t>
              </a:r>
            </a:p>
          </p:txBody>
        </p:sp>
        <p:sp>
          <p:nvSpPr>
            <p:cNvPr id="20501" name="Text Box 39"/>
            <p:cNvSpPr txBox="1">
              <a:spLocks noChangeArrowheads="1"/>
            </p:cNvSpPr>
            <p:nvPr/>
          </p:nvSpPr>
          <p:spPr bwMode="auto">
            <a:xfrm>
              <a:off x="913" y="1430"/>
              <a:ext cx="431"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t>D</a:t>
              </a:r>
            </a:p>
          </p:txBody>
        </p:sp>
        <p:sp>
          <p:nvSpPr>
            <p:cNvPr id="20502" name="Text Box 40"/>
            <p:cNvSpPr txBox="1">
              <a:spLocks noChangeArrowheads="1"/>
            </p:cNvSpPr>
            <p:nvPr/>
          </p:nvSpPr>
          <p:spPr bwMode="auto">
            <a:xfrm>
              <a:off x="144" y="1910"/>
              <a:ext cx="43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t>o</a:t>
              </a:r>
            </a:p>
          </p:txBody>
        </p:sp>
      </p:grpSp>
      <p:sp>
        <p:nvSpPr>
          <p:cNvPr id="20503" name="Rectangle 23" descr="水滴"/>
          <p:cNvSpPr>
            <a:spLocks noChangeArrowheads="1"/>
          </p:cNvSpPr>
          <p:nvPr/>
        </p:nvSpPr>
        <p:spPr bwMode="auto">
          <a:xfrm>
            <a:off x="0" y="0"/>
            <a:ext cx="9144000" cy="617538"/>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99547458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diamond(in)">
                                      <p:cBhvr>
                                        <p:cTn id="7" dur="500"/>
                                        <p:tgtEl>
                                          <p:spTgt spid="20482"/>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20483"/>
                                        </p:tgtEl>
                                        <p:attrNameLst>
                                          <p:attrName>style.visibility</p:attrName>
                                        </p:attrNameLst>
                                      </p:cBhvr>
                                      <p:to>
                                        <p:strVal val="visible"/>
                                      </p:to>
                                    </p:set>
                                    <p:animEffect transition="in" filter="box(in)">
                                      <p:cBhvr>
                                        <p:cTn id="11" dur="500"/>
                                        <p:tgtEl>
                                          <p:spTgt spid="20483"/>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20484"/>
                                        </p:tgtEl>
                                        <p:attrNameLst>
                                          <p:attrName>style.visibility</p:attrName>
                                        </p:attrNameLst>
                                      </p:cBhvr>
                                      <p:to>
                                        <p:strVal val="visible"/>
                                      </p:to>
                                    </p:set>
                                    <p:animEffect transition="in" filter="dissolve">
                                      <p:cBhvr>
                                        <p:cTn id="15" dur="500"/>
                                        <p:tgtEl>
                                          <p:spTgt spid="20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2"/>
          <p:cNvGrpSpPr>
            <a:grpSpLocks/>
          </p:cNvGrpSpPr>
          <p:nvPr/>
        </p:nvGrpSpPr>
        <p:grpSpPr bwMode="auto">
          <a:xfrm>
            <a:off x="-36513" y="2286000"/>
            <a:ext cx="3679826" cy="3048000"/>
            <a:chOff x="0" y="0"/>
            <a:chExt cx="3024" cy="2304"/>
          </a:xfrm>
        </p:grpSpPr>
        <p:sp>
          <p:nvSpPr>
            <p:cNvPr id="21507" name="Rectangle 23"/>
            <p:cNvSpPr>
              <a:spLocks noChangeArrowheads="1"/>
            </p:cNvSpPr>
            <p:nvPr/>
          </p:nvSpPr>
          <p:spPr bwMode="auto">
            <a:xfrm>
              <a:off x="0" y="0"/>
              <a:ext cx="3024" cy="2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1508" name="Line 24"/>
            <p:cNvSpPr>
              <a:spLocks noChangeShapeType="1"/>
            </p:cNvSpPr>
            <p:nvPr/>
          </p:nvSpPr>
          <p:spPr bwMode="auto">
            <a:xfrm>
              <a:off x="432" y="1920"/>
              <a:ext cx="2256" cy="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09" name="Line 25"/>
            <p:cNvSpPr>
              <a:spLocks noChangeShapeType="1"/>
            </p:cNvSpPr>
            <p:nvPr/>
          </p:nvSpPr>
          <p:spPr bwMode="auto">
            <a:xfrm flipV="1">
              <a:off x="432" y="240"/>
              <a:ext cx="0" cy="168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0" name="Arc 26"/>
            <p:cNvSpPr>
              <a:spLocks/>
            </p:cNvSpPr>
            <p:nvPr/>
          </p:nvSpPr>
          <p:spPr bwMode="auto">
            <a:xfrm flipH="1" flipV="1">
              <a:off x="864" y="816"/>
              <a:ext cx="576" cy="649"/>
            </a:xfrm>
            <a:custGeom>
              <a:avLst/>
              <a:gdLst>
                <a:gd name="T0" fmla="*/ 5587 w 21600"/>
                <a:gd name="T1" fmla="*/ 0 h 20865"/>
                <a:gd name="T2" fmla="*/ 21600 w 21600"/>
                <a:gd name="T3" fmla="*/ 20865 h 20865"/>
                <a:gd name="T4" fmla="*/ 5587 w 21600"/>
                <a:gd name="T5" fmla="*/ 0 h 20865"/>
                <a:gd name="T6" fmla="*/ 21600 w 21600"/>
                <a:gd name="T7" fmla="*/ 20865 h 20865"/>
                <a:gd name="T8" fmla="*/ 0 w 21600"/>
                <a:gd name="T9" fmla="*/ 20865 h 20865"/>
                <a:gd name="T10" fmla="*/ 0 w 21600"/>
                <a:gd name="T11" fmla="*/ 0 h 20865"/>
                <a:gd name="T12" fmla="*/ 21600 w 21600"/>
                <a:gd name="T13" fmla="*/ 20865 h 20865"/>
              </a:gdLst>
              <a:ahLst/>
              <a:cxnLst>
                <a:cxn ang="0">
                  <a:pos x="T0" y="T1"/>
                </a:cxn>
                <a:cxn ang="0">
                  <a:pos x="T2" y="T3"/>
                </a:cxn>
                <a:cxn ang="0">
                  <a:pos x="T4" y="T5"/>
                </a:cxn>
                <a:cxn ang="0">
                  <a:pos x="T6" y="T7"/>
                </a:cxn>
                <a:cxn ang="0">
                  <a:pos x="T8" y="T9"/>
                </a:cxn>
              </a:cxnLst>
              <a:rect l="T10" t="T11" r="T12" b="T13"/>
              <a:pathLst>
                <a:path w="21600" h="20865" fill="none" extrusionOk="0">
                  <a:moveTo>
                    <a:pt x="5587" y="0"/>
                  </a:moveTo>
                  <a:cubicBezTo>
                    <a:pt x="15032" y="2529"/>
                    <a:pt x="21600" y="11087"/>
                    <a:pt x="21600" y="20865"/>
                  </a:cubicBezTo>
                </a:path>
                <a:path w="21600" h="20865" stroke="0" extrusionOk="0">
                  <a:moveTo>
                    <a:pt x="5587" y="0"/>
                  </a:moveTo>
                  <a:cubicBezTo>
                    <a:pt x="15032" y="2529"/>
                    <a:pt x="21600" y="11087"/>
                    <a:pt x="21600" y="20865"/>
                  </a:cubicBezTo>
                  <a:lnTo>
                    <a:pt x="0" y="20865"/>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11" name="Arc 27"/>
            <p:cNvSpPr>
              <a:spLocks/>
            </p:cNvSpPr>
            <p:nvPr/>
          </p:nvSpPr>
          <p:spPr bwMode="auto">
            <a:xfrm flipH="1" flipV="1">
              <a:off x="1619" y="816"/>
              <a:ext cx="576" cy="648"/>
            </a:xfrm>
            <a:custGeom>
              <a:avLst/>
              <a:gdLst>
                <a:gd name="T0" fmla="*/ 5752 w 21600"/>
                <a:gd name="T1" fmla="*/ 0 h 20820"/>
                <a:gd name="T2" fmla="*/ 21600 w 21600"/>
                <a:gd name="T3" fmla="*/ 20820 h 20820"/>
                <a:gd name="T4" fmla="*/ 5752 w 21600"/>
                <a:gd name="T5" fmla="*/ 0 h 20820"/>
                <a:gd name="T6" fmla="*/ 21600 w 21600"/>
                <a:gd name="T7" fmla="*/ 20820 h 20820"/>
                <a:gd name="T8" fmla="*/ 0 w 21600"/>
                <a:gd name="T9" fmla="*/ 20820 h 20820"/>
                <a:gd name="T10" fmla="*/ 0 w 21600"/>
                <a:gd name="T11" fmla="*/ 0 h 20820"/>
                <a:gd name="T12" fmla="*/ 21600 w 21600"/>
                <a:gd name="T13" fmla="*/ 20820 h 20820"/>
              </a:gdLst>
              <a:ahLst/>
              <a:cxnLst>
                <a:cxn ang="0">
                  <a:pos x="T0" y="T1"/>
                </a:cxn>
                <a:cxn ang="0">
                  <a:pos x="T2" y="T3"/>
                </a:cxn>
                <a:cxn ang="0">
                  <a:pos x="T4" y="T5"/>
                </a:cxn>
                <a:cxn ang="0">
                  <a:pos x="T6" y="T7"/>
                </a:cxn>
                <a:cxn ang="0">
                  <a:pos x="T8" y="T9"/>
                </a:cxn>
              </a:cxnLst>
              <a:rect l="T10" t="T11" r="T12" b="T13"/>
              <a:pathLst>
                <a:path w="21600" h="20820" fill="none" extrusionOk="0">
                  <a:moveTo>
                    <a:pt x="5752" y="0"/>
                  </a:moveTo>
                  <a:cubicBezTo>
                    <a:pt x="15115" y="2587"/>
                    <a:pt x="21600" y="11106"/>
                    <a:pt x="21600" y="20820"/>
                  </a:cubicBezTo>
                </a:path>
                <a:path w="21600" h="20820" stroke="0" extrusionOk="0">
                  <a:moveTo>
                    <a:pt x="5752" y="0"/>
                  </a:moveTo>
                  <a:cubicBezTo>
                    <a:pt x="15115" y="2587"/>
                    <a:pt x="21600" y="11106"/>
                    <a:pt x="21600" y="20820"/>
                  </a:cubicBezTo>
                  <a:lnTo>
                    <a:pt x="0" y="20820"/>
                  </a:lnTo>
                  <a:close/>
                </a:path>
              </a:pathLst>
            </a:custGeom>
            <a:noFill/>
            <a:ln w="952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12" name="Line 28"/>
            <p:cNvSpPr>
              <a:spLocks noChangeShapeType="1"/>
            </p:cNvSpPr>
            <p:nvPr/>
          </p:nvSpPr>
          <p:spPr bwMode="auto">
            <a:xfrm>
              <a:off x="864" y="816"/>
              <a:ext cx="76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3" name="Line 29"/>
            <p:cNvSpPr>
              <a:spLocks noChangeShapeType="1"/>
            </p:cNvSpPr>
            <p:nvPr/>
          </p:nvSpPr>
          <p:spPr bwMode="auto">
            <a:xfrm>
              <a:off x="1283" y="1462"/>
              <a:ext cx="768" cy="0"/>
            </a:xfrm>
            <a:prstGeom prst="line">
              <a:avLst/>
            </a:prstGeom>
            <a:noFill/>
            <a:ln w="9525" cmpd="sng">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4" name="Line 30"/>
            <p:cNvSpPr>
              <a:spLocks noChangeShapeType="1"/>
            </p:cNvSpPr>
            <p:nvPr/>
          </p:nvSpPr>
          <p:spPr bwMode="auto">
            <a:xfrm>
              <a:off x="1179" y="816"/>
              <a:ext cx="192" cy="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5" name="Line 31"/>
            <p:cNvSpPr>
              <a:spLocks noChangeShapeType="1"/>
            </p:cNvSpPr>
            <p:nvPr/>
          </p:nvSpPr>
          <p:spPr bwMode="auto">
            <a:xfrm flipH="1">
              <a:off x="1488" y="1462"/>
              <a:ext cx="192" cy="0"/>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6" name="Line 32"/>
            <p:cNvSpPr>
              <a:spLocks noChangeShapeType="1"/>
            </p:cNvSpPr>
            <p:nvPr/>
          </p:nvSpPr>
          <p:spPr bwMode="auto">
            <a:xfrm>
              <a:off x="1680" y="1104"/>
              <a:ext cx="48" cy="96"/>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7" name="Line 33"/>
            <p:cNvSpPr>
              <a:spLocks noChangeShapeType="1"/>
            </p:cNvSpPr>
            <p:nvPr/>
          </p:nvSpPr>
          <p:spPr bwMode="auto">
            <a:xfrm flipH="1" flipV="1">
              <a:off x="925" y="1104"/>
              <a:ext cx="48" cy="96"/>
            </a:xfrm>
            <a:prstGeom prst="line">
              <a:avLst/>
            </a:prstGeom>
            <a:noFill/>
            <a:ln w="9525" cmpd="sng">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8" name="Text Box 34"/>
            <p:cNvSpPr txBox="1">
              <a:spLocks noChangeArrowheads="1"/>
            </p:cNvSpPr>
            <p:nvPr/>
          </p:nvSpPr>
          <p:spPr bwMode="auto">
            <a:xfrm>
              <a:off x="144" y="48"/>
              <a:ext cx="43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b="1" i="1"/>
                <a:t>p</a:t>
              </a:r>
            </a:p>
          </p:txBody>
        </p:sp>
        <p:sp>
          <p:nvSpPr>
            <p:cNvPr id="21519" name="Text Box 35"/>
            <p:cNvSpPr txBox="1">
              <a:spLocks noChangeArrowheads="1"/>
            </p:cNvSpPr>
            <p:nvPr/>
          </p:nvSpPr>
          <p:spPr bwMode="auto">
            <a:xfrm>
              <a:off x="2441" y="1620"/>
              <a:ext cx="43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b="1" i="1"/>
                <a:t>V</a:t>
              </a:r>
            </a:p>
          </p:txBody>
        </p:sp>
        <p:sp>
          <p:nvSpPr>
            <p:cNvPr id="21520" name="Text Box 36"/>
            <p:cNvSpPr txBox="1">
              <a:spLocks noChangeArrowheads="1"/>
            </p:cNvSpPr>
            <p:nvPr/>
          </p:nvSpPr>
          <p:spPr bwMode="auto">
            <a:xfrm>
              <a:off x="576" y="576"/>
              <a:ext cx="43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t>A</a:t>
              </a:r>
            </a:p>
          </p:txBody>
        </p:sp>
        <p:sp>
          <p:nvSpPr>
            <p:cNvPr id="21521" name="Text Box 37"/>
            <p:cNvSpPr txBox="1">
              <a:spLocks noChangeArrowheads="1"/>
            </p:cNvSpPr>
            <p:nvPr/>
          </p:nvSpPr>
          <p:spPr bwMode="auto">
            <a:xfrm>
              <a:off x="1536" y="611"/>
              <a:ext cx="43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t>B</a:t>
              </a:r>
            </a:p>
          </p:txBody>
        </p:sp>
        <p:sp>
          <p:nvSpPr>
            <p:cNvPr id="21522" name="Text Box 38"/>
            <p:cNvSpPr txBox="1">
              <a:spLocks noChangeArrowheads="1"/>
            </p:cNvSpPr>
            <p:nvPr/>
          </p:nvSpPr>
          <p:spPr bwMode="auto">
            <a:xfrm>
              <a:off x="1872" y="1430"/>
              <a:ext cx="433"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t>C</a:t>
              </a:r>
            </a:p>
          </p:txBody>
        </p:sp>
        <p:sp>
          <p:nvSpPr>
            <p:cNvPr id="21523" name="Text Box 39"/>
            <p:cNvSpPr txBox="1">
              <a:spLocks noChangeArrowheads="1"/>
            </p:cNvSpPr>
            <p:nvPr/>
          </p:nvSpPr>
          <p:spPr bwMode="auto">
            <a:xfrm>
              <a:off x="913" y="1430"/>
              <a:ext cx="431"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t>D</a:t>
              </a:r>
            </a:p>
          </p:txBody>
        </p:sp>
        <p:sp>
          <p:nvSpPr>
            <p:cNvPr id="21524" name="Text Box 40"/>
            <p:cNvSpPr txBox="1">
              <a:spLocks noChangeArrowheads="1"/>
            </p:cNvSpPr>
            <p:nvPr/>
          </p:nvSpPr>
          <p:spPr bwMode="auto">
            <a:xfrm>
              <a:off x="144" y="1910"/>
              <a:ext cx="432"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000" b="1" i="1"/>
                <a:t>o</a:t>
              </a:r>
            </a:p>
          </p:txBody>
        </p:sp>
      </p:grpSp>
      <p:sp>
        <p:nvSpPr>
          <p:cNvPr id="21525" name="Text Box 41"/>
          <p:cNvSpPr txBox="1">
            <a:spLocks noChangeArrowheads="1"/>
          </p:cNvSpPr>
          <p:nvPr/>
        </p:nvSpPr>
        <p:spPr bwMode="auto">
          <a:xfrm>
            <a:off x="357188" y="500063"/>
            <a:ext cx="838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C00000"/>
                </a:solidFill>
                <a:ea typeface="楷体_GB2312" pitchFamily="1" charset="-122"/>
              </a:rPr>
              <a:t>解：</a:t>
            </a:r>
          </a:p>
        </p:txBody>
      </p:sp>
      <p:graphicFrame>
        <p:nvGraphicFramePr>
          <p:cNvPr id="21526" name="Object 22"/>
          <p:cNvGraphicFramePr>
            <a:graphicFrameLocks noChangeAspect="1"/>
          </p:cNvGraphicFramePr>
          <p:nvPr>
            <p:extLst>
              <p:ext uri="{D42A27DB-BD31-4B8C-83A1-F6EECF244321}">
                <p14:modId xmlns:p14="http://schemas.microsoft.com/office/powerpoint/2010/main" val="2130869206"/>
              </p:ext>
            </p:extLst>
          </p:nvPr>
        </p:nvGraphicFramePr>
        <p:xfrm>
          <a:off x="1389063" y="214313"/>
          <a:ext cx="3897312" cy="1143000"/>
        </p:xfrm>
        <a:graphic>
          <a:graphicData uri="http://schemas.openxmlformats.org/presentationml/2006/ole">
            <mc:AlternateContent xmlns:mc="http://schemas.openxmlformats.org/markup-compatibility/2006">
              <mc:Choice xmlns:v="urn:schemas-microsoft-com:vml" Requires="v">
                <p:oleObj spid="_x0000_s145992" name="Equation" r:id="rId3" imgW="1368720" imgH="460714" progId="Equation.DSMT4">
                  <p:embed/>
                </p:oleObj>
              </mc:Choice>
              <mc:Fallback>
                <p:oleObj name="Equation" r:id="rId3" imgW="1368720" imgH="460714" progId="Equation.DSMT4">
                  <p:embed/>
                  <p:pic>
                    <p:nvPicPr>
                      <p:cNvPr id="21526"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9063" y="214313"/>
                        <a:ext cx="3897312" cy="11430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27" name="Object 23"/>
          <p:cNvGraphicFramePr>
            <a:graphicFrameLocks noChangeAspect="1"/>
          </p:cNvGraphicFramePr>
          <p:nvPr/>
        </p:nvGraphicFramePr>
        <p:xfrm>
          <a:off x="531813" y="1143000"/>
          <a:ext cx="8113712" cy="1714500"/>
        </p:xfrm>
        <a:graphic>
          <a:graphicData uri="http://schemas.openxmlformats.org/presentationml/2006/ole">
            <mc:AlternateContent xmlns:mc="http://schemas.openxmlformats.org/markup-compatibility/2006">
              <mc:Choice xmlns:v="urn:schemas-microsoft-com:vml" Requires="v">
                <p:oleObj spid="_x0000_s145993" r:id="rId5" imgW="3264217" imgH="736917" progId="Equation.DSMT4">
                  <p:embed/>
                </p:oleObj>
              </mc:Choice>
              <mc:Fallback>
                <p:oleObj r:id="rId5" imgW="3264217" imgH="736917" progId="Equation.DSMT4">
                  <p:embed/>
                  <p:pic>
                    <p:nvPicPr>
                      <p:cNvPr id="21527"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1813" y="1143000"/>
                        <a:ext cx="8113712" cy="17145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28" name="Object 24"/>
          <p:cNvGraphicFramePr>
            <a:graphicFrameLocks noChangeAspect="1"/>
          </p:cNvGraphicFramePr>
          <p:nvPr/>
        </p:nvGraphicFramePr>
        <p:xfrm>
          <a:off x="3357563" y="2781300"/>
          <a:ext cx="3157537" cy="1301750"/>
        </p:xfrm>
        <a:graphic>
          <a:graphicData uri="http://schemas.openxmlformats.org/presentationml/2006/ole">
            <mc:AlternateContent xmlns:mc="http://schemas.openxmlformats.org/markup-compatibility/2006">
              <mc:Choice xmlns:v="urn:schemas-microsoft-com:vml" Requires="v">
                <p:oleObj spid="_x0000_s145994" r:id="rId7" imgW="1407086" imgH="511869" progId="Equation.3">
                  <p:embed/>
                </p:oleObj>
              </mc:Choice>
              <mc:Fallback>
                <p:oleObj r:id="rId7" imgW="1407086" imgH="511869" progId="Equation.3">
                  <p:embed/>
                  <p:pic>
                    <p:nvPicPr>
                      <p:cNvPr id="21528"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7563" y="2781300"/>
                        <a:ext cx="3157537" cy="13017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29" name="Object 25"/>
          <p:cNvGraphicFramePr>
            <a:graphicFrameLocks noChangeAspect="1"/>
          </p:cNvGraphicFramePr>
          <p:nvPr/>
        </p:nvGraphicFramePr>
        <p:xfrm>
          <a:off x="3786188" y="4210050"/>
          <a:ext cx="2428875" cy="647700"/>
        </p:xfrm>
        <a:graphic>
          <a:graphicData uri="http://schemas.openxmlformats.org/presentationml/2006/ole">
            <mc:AlternateContent xmlns:mc="http://schemas.openxmlformats.org/markup-compatibility/2006">
              <mc:Choice xmlns:v="urn:schemas-microsoft-com:vml" Requires="v">
                <p:oleObj spid="_x0000_s145995" r:id="rId9" imgW="1189157" imgH="230415" progId="Equation.DSMT4">
                  <p:embed/>
                </p:oleObj>
              </mc:Choice>
              <mc:Fallback>
                <p:oleObj r:id="rId9" imgW="1189157" imgH="230415" progId="Equation.DSMT4">
                  <p:embed/>
                  <p:pic>
                    <p:nvPicPr>
                      <p:cNvPr id="21529"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86188" y="4210050"/>
                        <a:ext cx="2428875" cy="6477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30" name="Object 26"/>
          <p:cNvGraphicFramePr>
            <a:graphicFrameLocks noChangeAspect="1"/>
          </p:cNvGraphicFramePr>
          <p:nvPr/>
        </p:nvGraphicFramePr>
        <p:xfrm>
          <a:off x="7088188" y="3405188"/>
          <a:ext cx="1412875" cy="1090612"/>
        </p:xfrm>
        <a:graphic>
          <a:graphicData uri="http://schemas.openxmlformats.org/presentationml/2006/ole">
            <mc:AlternateContent xmlns:mc="http://schemas.openxmlformats.org/markup-compatibility/2006">
              <mc:Choice xmlns:v="urn:schemas-microsoft-com:vml" Requires="v">
                <p:oleObj spid="_x0000_s145996" r:id="rId11" imgW="588345" imgH="447730" progId="Equation.3">
                  <p:embed/>
                </p:oleObj>
              </mc:Choice>
              <mc:Fallback>
                <p:oleObj r:id="rId11" imgW="588345" imgH="447730" progId="Equation.3">
                  <p:embed/>
                  <p:pic>
                    <p:nvPicPr>
                      <p:cNvPr id="2153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88188" y="3405188"/>
                        <a:ext cx="1412875" cy="10906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31" name="Object 27"/>
          <p:cNvGraphicFramePr>
            <a:graphicFrameLocks noChangeAspect="1"/>
          </p:cNvGraphicFramePr>
          <p:nvPr/>
        </p:nvGraphicFramePr>
        <p:xfrm>
          <a:off x="1500188" y="4965700"/>
          <a:ext cx="6000750" cy="1677988"/>
        </p:xfrm>
        <a:graphic>
          <a:graphicData uri="http://schemas.openxmlformats.org/presentationml/2006/ole">
            <mc:AlternateContent xmlns:mc="http://schemas.openxmlformats.org/markup-compatibility/2006">
              <mc:Choice xmlns:v="urn:schemas-microsoft-com:vml" Requires="v">
                <p:oleObj spid="_x0000_s145997" r:id="rId13" imgW="2172017" imgH="736917" progId="Equation.DSMT4">
                  <p:embed/>
                </p:oleObj>
              </mc:Choice>
              <mc:Fallback>
                <p:oleObj r:id="rId13" imgW="2172017" imgH="736917" progId="Equation.DSMT4">
                  <p:embed/>
                  <p:pic>
                    <p:nvPicPr>
                      <p:cNvPr id="21531"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00188" y="4965700"/>
                        <a:ext cx="6000750" cy="16779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32" name="左大括号 28"/>
          <p:cNvSpPr>
            <a:spLocks/>
          </p:cNvSpPr>
          <p:nvPr/>
        </p:nvSpPr>
        <p:spPr bwMode="auto">
          <a:xfrm flipH="1">
            <a:off x="6572250" y="3209925"/>
            <a:ext cx="357188" cy="1428750"/>
          </a:xfrm>
          <a:prstGeom prst="leftBrace">
            <a:avLst>
              <a:gd name="adj1" fmla="val 8333"/>
              <a:gd name="adj2" fmla="val 50000"/>
            </a:avLst>
          </a:prstGeom>
          <a:noFill/>
          <a:ln w="127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latin typeface="Franklin Gothic Book" panose="020B0503020102020204" pitchFamily="34" charset="0"/>
              <a:ea typeface="黑体" panose="02010609060101010101" pitchFamily="49" charset="-122"/>
            </a:endParaRPr>
          </a:p>
        </p:txBody>
      </p:sp>
    </p:spTree>
    <p:extLst>
      <p:ext uri="{BB962C8B-B14F-4D97-AF65-F5344CB8AC3E}">
        <p14:creationId xmlns:p14="http://schemas.microsoft.com/office/powerpoint/2010/main" val="273428322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1526"/>
                                        </p:tgtEl>
                                        <p:attrNameLst>
                                          <p:attrName>style.visibility</p:attrName>
                                        </p:attrNameLst>
                                      </p:cBhvr>
                                      <p:to>
                                        <p:strVal val="visible"/>
                                      </p:to>
                                    </p:set>
                                    <p:anim calcmode="lin" valueType="num">
                                      <p:cBhvr additive="base">
                                        <p:cTn id="7" dur="500" fill="hold"/>
                                        <p:tgtEl>
                                          <p:spTgt spid="21526"/>
                                        </p:tgtEl>
                                        <p:attrNameLst>
                                          <p:attrName>ppt_x</p:attrName>
                                        </p:attrNameLst>
                                      </p:cBhvr>
                                      <p:tavLst>
                                        <p:tav tm="0">
                                          <p:val>
                                            <p:strVal val="0-#ppt_w/2"/>
                                          </p:val>
                                        </p:tav>
                                        <p:tav tm="100000">
                                          <p:val>
                                            <p:strVal val="#ppt_x"/>
                                          </p:val>
                                        </p:tav>
                                      </p:tavLst>
                                    </p:anim>
                                    <p:anim calcmode="lin" valueType="num">
                                      <p:cBhvr additive="base">
                                        <p:cTn id="8" dur="500" fill="hold"/>
                                        <p:tgtEl>
                                          <p:spTgt spid="215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1527"/>
                                        </p:tgtEl>
                                        <p:attrNameLst>
                                          <p:attrName>style.visibility</p:attrName>
                                        </p:attrNameLst>
                                      </p:cBhvr>
                                      <p:to>
                                        <p:strVal val="visible"/>
                                      </p:to>
                                    </p:set>
                                    <p:anim calcmode="lin" valueType="num">
                                      <p:cBhvr additive="base">
                                        <p:cTn id="13" dur="500" fill="hold"/>
                                        <p:tgtEl>
                                          <p:spTgt spid="21527"/>
                                        </p:tgtEl>
                                        <p:attrNameLst>
                                          <p:attrName>ppt_x</p:attrName>
                                        </p:attrNameLst>
                                      </p:cBhvr>
                                      <p:tavLst>
                                        <p:tav tm="0">
                                          <p:val>
                                            <p:strVal val="0-#ppt_w/2"/>
                                          </p:val>
                                        </p:tav>
                                        <p:tav tm="100000">
                                          <p:val>
                                            <p:strVal val="#ppt_x"/>
                                          </p:val>
                                        </p:tav>
                                      </p:tavLst>
                                    </p:anim>
                                    <p:anim calcmode="lin" valueType="num">
                                      <p:cBhvr additive="base">
                                        <p:cTn id="14" dur="500" fill="hold"/>
                                        <p:tgtEl>
                                          <p:spTgt spid="2152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1528"/>
                                        </p:tgtEl>
                                        <p:attrNameLst>
                                          <p:attrName>style.visibility</p:attrName>
                                        </p:attrNameLst>
                                      </p:cBhvr>
                                      <p:to>
                                        <p:strVal val="visible"/>
                                      </p:to>
                                    </p:set>
                                    <p:anim calcmode="lin" valueType="num">
                                      <p:cBhvr additive="base">
                                        <p:cTn id="19" dur="500" fill="hold"/>
                                        <p:tgtEl>
                                          <p:spTgt spid="21528"/>
                                        </p:tgtEl>
                                        <p:attrNameLst>
                                          <p:attrName>ppt_x</p:attrName>
                                        </p:attrNameLst>
                                      </p:cBhvr>
                                      <p:tavLst>
                                        <p:tav tm="0">
                                          <p:val>
                                            <p:strVal val="0-#ppt_w/2"/>
                                          </p:val>
                                        </p:tav>
                                        <p:tav tm="100000">
                                          <p:val>
                                            <p:strVal val="#ppt_x"/>
                                          </p:val>
                                        </p:tav>
                                      </p:tavLst>
                                    </p:anim>
                                    <p:anim calcmode="lin" valueType="num">
                                      <p:cBhvr additive="base">
                                        <p:cTn id="20" dur="500" fill="hold"/>
                                        <p:tgtEl>
                                          <p:spTgt spid="2152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1529"/>
                                        </p:tgtEl>
                                        <p:attrNameLst>
                                          <p:attrName>style.visibility</p:attrName>
                                        </p:attrNameLst>
                                      </p:cBhvr>
                                      <p:to>
                                        <p:strVal val="visible"/>
                                      </p:to>
                                    </p:set>
                                    <p:anim calcmode="lin" valueType="num">
                                      <p:cBhvr additive="base">
                                        <p:cTn id="25" dur="500" fill="hold"/>
                                        <p:tgtEl>
                                          <p:spTgt spid="21529"/>
                                        </p:tgtEl>
                                        <p:attrNameLst>
                                          <p:attrName>ppt_x</p:attrName>
                                        </p:attrNameLst>
                                      </p:cBhvr>
                                      <p:tavLst>
                                        <p:tav tm="0">
                                          <p:val>
                                            <p:strVal val="0-#ppt_w/2"/>
                                          </p:val>
                                        </p:tav>
                                        <p:tav tm="100000">
                                          <p:val>
                                            <p:strVal val="#ppt_x"/>
                                          </p:val>
                                        </p:tav>
                                      </p:tavLst>
                                    </p:anim>
                                    <p:anim calcmode="lin" valueType="num">
                                      <p:cBhvr additive="base">
                                        <p:cTn id="26" dur="500" fill="hold"/>
                                        <p:tgtEl>
                                          <p:spTgt spid="2152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1532"/>
                                        </p:tgtEl>
                                        <p:attrNameLst>
                                          <p:attrName>style.visibility</p:attrName>
                                        </p:attrNameLst>
                                      </p:cBhvr>
                                      <p:to>
                                        <p:strVal val="visible"/>
                                      </p:to>
                                    </p:set>
                                    <p:animEffect transition="in" filter="dissolve">
                                      <p:cBhvr>
                                        <p:cTn id="31" dur="500"/>
                                        <p:tgtEl>
                                          <p:spTgt spid="21532"/>
                                        </p:tgtEl>
                                      </p:cBhvr>
                                    </p:animEffect>
                                  </p:childTnLst>
                                </p:cTn>
                              </p:par>
                            </p:childTnLst>
                          </p:cTn>
                        </p:par>
                        <p:par>
                          <p:cTn id="32" fill="hold" nodeType="afterGroup">
                            <p:stCondLst>
                              <p:cond delay="500"/>
                            </p:stCondLst>
                            <p:childTnLst>
                              <p:par>
                                <p:cTn id="33" presetID="9" presetClass="entr" presetSubtype="0" fill="hold" nodeType="afterEffect">
                                  <p:stCondLst>
                                    <p:cond delay="0"/>
                                  </p:stCondLst>
                                  <p:childTnLst>
                                    <p:set>
                                      <p:cBhvr>
                                        <p:cTn id="34" dur="1" fill="hold">
                                          <p:stCondLst>
                                            <p:cond delay="0"/>
                                          </p:stCondLst>
                                        </p:cTn>
                                        <p:tgtEl>
                                          <p:spTgt spid="21530"/>
                                        </p:tgtEl>
                                        <p:attrNameLst>
                                          <p:attrName>style.visibility</p:attrName>
                                        </p:attrNameLst>
                                      </p:cBhvr>
                                      <p:to>
                                        <p:strVal val="visible"/>
                                      </p:to>
                                    </p:set>
                                    <p:animEffect transition="in" filter="dissolve">
                                      <p:cBhvr>
                                        <p:cTn id="35" dur="500"/>
                                        <p:tgtEl>
                                          <p:spTgt spid="2153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21531"/>
                                        </p:tgtEl>
                                        <p:attrNameLst>
                                          <p:attrName>style.visibility</p:attrName>
                                        </p:attrNameLst>
                                      </p:cBhvr>
                                      <p:to>
                                        <p:strVal val="visible"/>
                                      </p:to>
                                    </p:set>
                                    <p:anim calcmode="lin" valueType="num">
                                      <p:cBhvr additive="base">
                                        <p:cTn id="40" dur="500" fill="hold"/>
                                        <p:tgtEl>
                                          <p:spTgt spid="21531"/>
                                        </p:tgtEl>
                                        <p:attrNameLst>
                                          <p:attrName>ppt_x</p:attrName>
                                        </p:attrNameLst>
                                      </p:cBhvr>
                                      <p:tavLst>
                                        <p:tav tm="0">
                                          <p:val>
                                            <p:strVal val="0-#ppt_w/2"/>
                                          </p:val>
                                        </p:tav>
                                        <p:tav tm="100000">
                                          <p:val>
                                            <p:strVal val="#ppt_x"/>
                                          </p:val>
                                        </p:tav>
                                      </p:tavLst>
                                    </p:anim>
                                    <p:anim calcmode="lin" valueType="num">
                                      <p:cBhvr additive="base">
                                        <p:cTn id="41" dur="500" fill="hold"/>
                                        <p:tgtEl>
                                          <p:spTgt spid="215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32"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http://upload.wikimedia.org/wikipedia/commons/thumb/c/cb/Atkinson_Opposed_Piston_Engine.gif/300px-Atkinson_Opposed_Piston_Engine.gif">
            <a:hlinkClick r:id="rId2"/>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659899" y="3124789"/>
            <a:ext cx="2376048" cy="3041341"/>
          </a:xfrm>
          <a:prstGeom prst="rect">
            <a:avLst/>
          </a:prstGeom>
          <a:noFill/>
          <a:extLst>
            <a:ext uri="{909E8E84-426E-40DD-AFC4-6F175D3DCCD1}">
              <a14:hiddenFill xmlns:a14="http://schemas.microsoft.com/office/drawing/2010/main">
                <a:solidFill>
                  <a:srgbClr val="FFFFFF"/>
                </a:solidFill>
              </a14:hiddenFill>
            </a:ext>
          </a:extLst>
        </p:spPr>
      </p:pic>
      <p:pic>
        <p:nvPicPr>
          <p:cNvPr id="102402" name="图片 9" descr="http://upload.wikimedia.org/wikipedia/commons/thumb/a/af/Atkinson-Gas-Engine.png/300px-Atkinson-Gas-Engine.pn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16632"/>
            <a:ext cx="4416952" cy="2399877"/>
          </a:xfrm>
          <a:prstGeom prst="rect">
            <a:avLst/>
          </a:prstGeom>
          <a:noFill/>
          <a:extLst>
            <a:ext uri="{909E8E84-426E-40DD-AFC4-6F175D3DCCD1}">
              <a14:hiddenFill xmlns:a14="http://schemas.microsoft.com/office/drawing/2010/main">
                <a:solidFill>
                  <a:srgbClr val="FFFFFF"/>
                </a:solidFill>
              </a14:hiddenFill>
            </a:ext>
          </a:extLst>
        </p:spPr>
      </p:pic>
      <p:pic>
        <p:nvPicPr>
          <p:cNvPr id="102401" name="图片 8" descr="http://upload.wikimedia.org/wikipedia/commons/thumb/3/37/Atkinson_Engine_with_Intake.gif/300px-Atkinson_Engine_with_Intake.gif">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3396787"/>
            <a:ext cx="4416951" cy="250293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a:spLocks noChangeArrowheads="1"/>
          </p:cNvSpPr>
          <p:nvPr/>
        </p:nvSpPr>
        <p:spPr bwMode="auto">
          <a:xfrm>
            <a:off x="112576" y="-59460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2406" name="图片 7" descr="http://upload.wikimedia.org/wikipedia/commons/thumb/c/c4/US336505-Atkinson_Opposed_Piston_Engine.png/300px-US336505-Atkinson_Opposed_Piston_Engine.png">
            <a:hlinkClick r:id="rId8"/>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19027" y="131598"/>
            <a:ext cx="2016920" cy="2507704"/>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4120223" y="138500"/>
            <a:ext cx="2720617" cy="523220"/>
          </a:xfrm>
          <a:prstGeom prst="rect">
            <a:avLst/>
          </a:prstGeom>
        </p:spPr>
        <p:txBody>
          <a:bodyPr wrap="none">
            <a:spAutoFit/>
          </a:bodyPr>
          <a:lstStyle/>
          <a:p>
            <a:r>
              <a:rPr lang="en-US" altLang="zh-CN" sz="2800" b="1" dirty="0">
                <a:solidFill>
                  <a:srgbClr val="373737"/>
                </a:solidFill>
                <a:latin typeface="Oswald"/>
              </a:rPr>
              <a:t>Atkinson Cycle</a:t>
            </a:r>
            <a:endParaRPr lang="zh-CN" altLang="en-US" sz="2800" b="1" dirty="0"/>
          </a:p>
        </p:txBody>
      </p:sp>
      <p:sp>
        <p:nvSpPr>
          <p:cNvPr id="11" name="矩形 10"/>
          <p:cNvSpPr/>
          <p:nvPr/>
        </p:nvSpPr>
        <p:spPr>
          <a:xfrm>
            <a:off x="137364" y="2486198"/>
            <a:ext cx="3551049" cy="707886"/>
          </a:xfrm>
          <a:prstGeom prst="rect">
            <a:avLst/>
          </a:prstGeom>
        </p:spPr>
        <p:txBody>
          <a:bodyPr wrap="square">
            <a:spAutoFit/>
          </a:bodyPr>
          <a:lstStyle/>
          <a:p>
            <a:r>
              <a:rPr lang="en-US" altLang="zh-CN" b="1" dirty="0">
                <a:solidFill>
                  <a:srgbClr val="4D4D4D"/>
                </a:solidFill>
                <a:latin typeface="Roboto" pitchFamily="2" charset="0"/>
              </a:rPr>
              <a:t>Atkinson Gas Engine as shown in US Patent 367496</a:t>
            </a:r>
            <a:endParaRPr lang="zh-CN" altLang="en-US" b="1" dirty="0"/>
          </a:p>
        </p:txBody>
      </p:sp>
      <p:sp>
        <p:nvSpPr>
          <p:cNvPr id="12" name="矩形 11"/>
          <p:cNvSpPr/>
          <p:nvPr/>
        </p:nvSpPr>
        <p:spPr>
          <a:xfrm>
            <a:off x="112576" y="6040686"/>
            <a:ext cx="4523482" cy="400110"/>
          </a:xfrm>
          <a:prstGeom prst="rect">
            <a:avLst/>
          </a:prstGeom>
        </p:spPr>
        <p:txBody>
          <a:bodyPr wrap="none">
            <a:spAutoFit/>
          </a:bodyPr>
          <a:lstStyle/>
          <a:p>
            <a:r>
              <a:rPr lang="en-US" altLang="zh-CN" dirty="0">
                <a:solidFill>
                  <a:srgbClr val="4D4D4D"/>
                </a:solidFill>
                <a:latin typeface="Roboto" pitchFamily="2" charset="0"/>
              </a:rPr>
              <a:t>Animation of the Atkinson Gas Engine</a:t>
            </a:r>
            <a:endParaRPr lang="zh-CN" altLang="en-US" dirty="0"/>
          </a:p>
        </p:txBody>
      </p:sp>
      <p:sp>
        <p:nvSpPr>
          <p:cNvPr id="13" name="矩形 12"/>
          <p:cNvSpPr/>
          <p:nvPr/>
        </p:nvSpPr>
        <p:spPr>
          <a:xfrm>
            <a:off x="6390056" y="6249709"/>
            <a:ext cx="3131840" cy="646331"/>
          </a:xfrm>
          <a:prstGeom prst="rect">
            <a:avLst/>
          </a:prstGeom>
        </p:spPr>
        <p:txBody>
          <a:bodyPr wrap="square">
            <a:spAutoFit/>
          </a:bodyPr>
          <a:lstStyle/>
          <a:p>
            <a:pPr lvl="0" algn="l" eaLnBrk="0" hangingPunct="0"/>
            <a:r>
              <a:rPr kumimoji="0" lang="zh-CN" altLang="zh-CN" sz="1800" dirty="0">
                <a:solidFill>
                  <a:srgbClr val="4D4D4D"/>
                </a:solidFill>
                <a:latin typeface="Roboto" pitchFamily="2" charset="0"/>
              </a:rPr>
              <a:t>Animation of the Atkinson differential engine</a:t>
            </a:r>
            <a:endParaRPr kumimoji="0" lang="zh-CN" altLang="zh-CN" sz="1800" dirty="0">
              <a:solidFill>
                <a:srgbClr val="2FA1C3"/>
              </a:solidFill>
              <a:latin typeface="Roboto" pitchFamily="2" charset="0"/>
            </a:endParaRPr>
          </a:p>
        </p:txBody>
      </p:sp>
      <p:sp>
        <p:nvSpPr>
          <p:cNvPr id="15" name="矩形 14"/>
          <p:cNvSpPr/>
          <p:nvPr/>
        </p:nvSpPr>
        <p:spPr>
          <a:xfrm>
            <a:off x="6156176" y="2546312"/>
            <a:ext cx="3114954" cy="646331"/>
          </a:xfrm>
          <a:prstGeom prst="rect">
            <a:avLst/>
          </a:prstGeom>
        </p:spPr>
        <p:txBody>
          <a:bodyPr wrap="square">
            <a:spAutoFit/>
          </a:bodyPr>
          <a:lstStyle/>
          <a:p>
            <a:r>
              <a:rPr lang="en-US" altLang="zh-CN" sz="1800" dirty="0">
                <a:solidFill>
                  <a:srgbClr val="4D4D4D"/>
                </a:solidFill>
                <a:latin typeface="Roboto" pitchFamily="2" charset="0"/>
              </a:rPr>
              <a:t>Patent drawing of the Atkinson differential engine</a:t>
            </a:r>
            <a:endParaRPr lang="zh-CN" altLang="en-US" sz="1800" dirty="0"/>
          </a:p>
        </p:txBody>
      </p:sp>
      <p:pic>
        <p:nvPicPr>
          <p:cNvPr id="17" name="图片 16"/>
          <p:cNvPicPr>
            <a:picLocks noChangeAspect="1"/>
          </p:cNvPicPr>
          <p:nvPr/>
        </p:nvPicPr>
        <p:blipFill>
          <a:blip r:embed="rId10"/>
          <a:stretch>
            <a:fillRect/>
          </a:stretch>
        </p:blipFill>
        <p:spPr>
          <a:xfrm>
            <a:off x="3972333" y="1975374"/>
            <a:ext cx="2163500" cy="1932963"/>
          </a:xfrm>
          <a:prstGeom prst="rect">
            <a:avLst/>
          </a:prstGeom>
        </p:spPr>
      </p:pic>
      <p:sp>
        <p:nvSpPr>
          <p:cNvPr id="18" name="矩形 17"/>
          <p:cNvSpPr/>
          <p:nvPr/>
        </p:nvSpPr>
        <p:spPr>
          <a:xfrm>
            <a:off x="147457" y="6440796"/>
            <a:ext cx="4453720" cy="400110"/>
          </a:xfrm>
          <a:prstGeom prst="rect">
            <a:avLst/>
          </a:prstGeom>
        </p:spPr>
        <p:txBody>
          <a:bodyPr wrap="none">
            <a:spAutoFit/>
          </a:bodyPr>
          <a:lstStyle/>
          <a:p>
            <a:r>
              <a:rPr lang="zh-CN" altLang="en-US" b="1"/>
              <a:t>http://us.wow.com/wiki/Atkinson_cycle</a:t>
            </a:r>
            <a:endParaRPr lang="zh-CN" altLang="en-US" b="1" dirty="0"/>
          </a:p>
        </p:txBody>
      </p:sp>
      <p:sp>
        <p:nvSpPr>
          <p:cNvPr id="3" name="矩形 2">
            <a:extLst>
              <a:ext uri="{FF2B5EF4-FFF2-40B4-BE49-F238E27FC236}">
                <a16:creationId xmlns:a16="http://schemas.microsoft.com/office/drawing/2014/main" id="{1FDE5F24-8CA9-43EA-B379-76328D4BAA92}"/>
              </a:ext>
            </a:extLst>
          </p:cNvPr>
          <p:cNvSpPr/>
          <p:nvPr/>
        </p:nvSpPr>
        <p:spPr>
          <a:xfrm>
            <a:off x="4398781" y="4165662"/>
            <a:ext cx="2163500" cy="1708160"/>
          </a:xfrm>
          <a:prstGeom prst="rect">
            <a:avLst/>
          </a:prstGeom>
        </p:spPr>
        <p:txBody>
          <a:bodyPr wrap="square">
            <a:spAutoFit/>
          </a:bodyPr>
          <a:lstStyle/>
          <a:p>
            <a:pPr algn="l">
              <a:buFont typeface="Arial" panose="020B0604020202020204" pitchFamily="34" charset="0"/>
              <a:buChar char="•"/>
            </a:pPr>
            <a:r>
              <a:rPr lang="en-US" altLang="zh-CN" sz="1500">
                <a:solidFill>
                  <a:srgbClr val="333333"/>
                </a:solidFill>
                <a:latin typeface="arial" panose="020B0604020202020204" pitchFamily="34" charset="0"/>
              </a:rPr>
              <a:t>1-2</a:t>
            </a:r>
            <a:r>
              <a:rPr lang="zh-CN" altLang="en-US" sz="1500">
                <a:solidFill>
                  <a:srgbClr val="136EC2"/>
                </a:solidFill>
                <a:latin typeface="arial" panose="020B0604020202020204" pitchFamily="34" charset="0"/>
                <a:hlinkClick r:id="rId11"/>
              </a:rPr>
              <a:t>等熵</a:t>
            </a:r>
            <a:r>
              <a:rPr lang="zh-CN" altLang="en-US" sz="1500">
                <a:solidFill>
                  <a:srgbClr val="333333"/>
                </a:solidFill>
                <a:latin typeface="arial" panose="020B0604020202020204" pitchFamily="34" charset="0"/>
              </a:rPr>
              <a:t>或是</a:t>
            </a:r>
            <a:r>
              <a:rPr lang="zh-CN" altLang="en-US" sz="1500">
                <a:solidFill>
                  <a:srgbClr val="136EC2"/>
                </a:solidFill>
                <a:latin typeface="arial" panose="020B0604020202020204" pitchFamily="34" charset="0"/>
                <a:hlinkClick r:id="rId12"/>
              </a:rPr>
              <a:t>可逆</a:t>
            </a:r>
            <a:r>
              <a:rPr lang="zh-CN" altLang="en-US" sz="1500">
                <a:solidFill>
                  <a:srgbClr val="136EC2"/>
                </a:solidFill>
                <a:latin typeface="arial" panose="020B0604020202020204" pitchFamily="34" charset="0"/>
                <a:hlinkClick r:id="rId13"/>
              </a:rPr>
              <a:t>绝热</a:t>
            </a:r>
            <a:r>
              <a:rPr lang="zh-CN" altLang="en-US" sz="1500">
                <a:solidFill>
                  <a:srgbClr val="333333"/>
                </a:solidFill>
                <a:latin typeface="arial" panose="020B0604020202020204" pitchFamily="34" charset="0"/>
              </a:rPr>
              <a:t>压缩</a:t>
            </a:r>
          </a:p>
          <a:p>
            <a:pPr algn="l">
              <a:buFont typeface="Arial" panose="020B0604020202020204" pitchFamily="34" charset="0"/>
              <a:buChar char="•"/>
            </a:pPr>
            <a:r>
              <a:rPr lang="en-US" altLang="zh-CN" sz="1500">
                <a:solidFill>
                  <a:srgbClr val="333333"/>
                </a:solidFill>
                <a:latin typeface="arial" panose="020B0604020202020204" pitchFamily="34" charset="0"/>
              </a:rPr>
              <a:t>2-3</a:t>
            </a:r>
            <a:r>
              <a:rPr lang="zh-CN" altLang="en-US" sz="1500">
                <a:solidFill>
                  <a:srgbClr val="333333"/>
                </a:solidFill>
                <a:latin typeface="arial" panose="020B0604020202020204" pitchFamily="34" charset="0"/>
              </a:rPr>
              <a:t>等容加热（</a:t>
            </a:r>
            <a:r>
              <a:rPr lang="en-US" altLang="zh-CN" sz="1500">
                <a:solidFill>
                  <a:srgbClr val="333333"/>
                </a:solidFill>
                <a:latin typeface="arial" panose="020B0604020202020204" pitchFamily="34" charset="0"/>
              </a:rPr>
              <a:t>Qp</a:t>
            </a:r>
            <a:r>
              <a:rPr lang="zh-CN" altLang="en-US" sz="1500">
                <a:solidFill>
                  <a:srgbClr val="333333"/>
                </a:solidFill>
                <a:latin typeface="arial" panose="020B0604020202020204" pitchFamily="34" charset="0"/>
              </a:rPr>
              <a:t>）</a:t>
            </a:r>
          </a:p>
          <a:p>
            <a:pPr algn="l">
              <a:buFont typeface="Arial" panose="020B0604020202020204" pitchFamily="34" charset="0"/>
              <a:buChar char="•"/>
            </a:pPr>
            <a:r>
              <a:rPr lang="en-US" altLang="zh-CN" sz="1500">
                <a:solidFill>
                  <a:srgbClr val="333333"/>
                </a:solidFill>
                <a:latin typeface="arial" panose="020B0604020202020204" pitchFamily="34" charset="0"/>
              </a:rPr>
              <a:t>3-4</a:t>
            </a:r>
            <a:r>
              <a:rPr lang="zh-CN" altLang="en-US" sz="1500">
                <a:solidFill>
                  <a:srgbClr val="136EC2"/>
                </a:solidFill>
                <a:latin typeface="arial" panose="020B0604020202020204" pitchFamily="34" charset="0"/>
                <a:hlinkClick r:id="rId14"/>
              </a:rPr>
              <a:t>等压</a:t>
            </a:r>
            <a:r>
              <a:rPr lang="zh-CN" altLang="en-US" sz="1500">
                <a:solidFill>
                  <a:srgbClr val="333333"/>
                </a:solidFill>
                <a:latin typeface="arial" panose="020B0604020202020204" pitchFamily="34" charset="0"/>
              </a:rPr>
              <a:t>加热（</a:t>
            </a:r>
            <a:r>
              <a:rPr lang="en-US" altLang="zh-CN" sz="1500">
                <a:solidFill>
                  <a:srgbClr val="333333"/>
                </a:solidFill>
                <a:latin typeface="arial" panose="020B0604020202020204" pitchFamily="34" charset="0"/>
              </a:rPr>
              <a:t>Qp'</a:t>
            </a:r>
            <a:r>
              <a:rPr lang="zh-CN" altLang="en-US" sz="1500">
                <a:solidFill>
                  <a:srgbClr val="333333"/>
                </a:solidFill>
                <a:latin typeface="arial" panose="020B0604020202020204" pitchFamily="34" charset="0"/>
              </a:rPr>
              <a:t>）</a:t>
            </a:r>
          </a:p>
          <a:p>
            <a:pPr algn="l">
              <a:buFont typeface="Arial" panose="020B0604020202020204" pitchFamily="34" charset="0"/>
              <a:buChar char="•"/>
            </a:pPr>
            <a:r>
              <a:rPr lang="en-US" altLang="zh-CN" sz="1500">
                <a:solidFill>
                  <a:srgbClr val="333333"/>
                </a:solidFill>
                <a:latin typeface="arial" panose="020B0604020202020204" pitchFamily="34" charset="0"/>
              </a:rPr>
              <a:t>4-5 </a:t>
            </a:r>
            <a:r>
              <a:rPr lang="zh-CN" altLang="en-US" sz="1500">
                <a:solidFill>
                  <a:srgbClr val="333333"/>
                </a:solidFill>
                <a:latin typeface="arial" panose="020B0604020202020204" pitchFamily="34" charset="0"/>
              </a:rPr>
              <a:t>等熵膨胀</a:t>
            </a:r>
          </a:p>
          <a:p>
            <a:pPr algn="l">
              <a:buFont typeface="Arial" panose="020B0604020202020204" pitchFamily="34" charset="0"/>
              <a:buChar char="•"/>
            </a:pPr>
            <a:r>
              <a:rPr lang="en-US" altLang="zh-CN" sz="1500">
                <a:solidFill>
                  <a:srgbClr val="333333"/>
                </a:solidFill>
                <a:latin typeface="arial" panose="020B0604020202020204" pitchFamily="34" charset="0"/>
              </a:rPr>
              <a:t>5-6 </a:t>
            </a:r>
            <a:r>
              <a:rPr lang="zh-CN" altLang="en-US" sz="1500">
                <a:solidFill>
                  <a:srgbClr val="333333"/>
                </a:solidFill>
                <a:latin typeface="arial" panose="020B0604020202020204" pitchFamily="34" charset="0"/>
              </a:rPr>
              <a:t>等容冷却（</a:t>
            </a:r>
            <a:r>
              <a:rPr lang="en-US" altLang="zh-CN" sz="1500">
                <a:solidFill>
                  <a:srgbClr val="333333"/>
                </a:solidFill>
                <a:latin typeface="arial" panose="020B0604020202020204" pitchFamily="34" charset="0"/>
              </a:rPr>
              <a:t>Qo</a:t>
            </a:r>
            <a:r>
              <a:rPr lang="zh-CN" altLang="en-US" sz="1500">
                <a:solidFill>
                  <a:srgbClr val="333333"/>
                </a:solidFill>
                <a:latin typeface="arial" panose="020B0604020202020204" pitchFamily="34" charset="0"/>
              </a:rPr>
              <a:t>）</a:t>
            </a:r>
          </a:p>
          <a:p>
            <a:pPr algn="l">
              <a:buFont typeface="Arial" panose="020B0604020202020204" pitchFamily="34" charset="0"/>
              <a:buChar char="•"/>
            </a:pPr>
            <a:r>
              <a:rPr lang="en-US" altLang="zh-CN" sz="1500">
                <a:solidFill>
                  <a:srgbClr val="333333"/>
                </a:solidFill>
                <a:latin typeface="arial" panose="020B0604020202020204" pitchFamily="34" charset="0"/>
              </a:rPr>
              <a:t>6-1 </a:t>
            </a:r>
            <a:r>
              <a:rPr lang="zh-CN" altLang="en-US" sz="1500">
                <a:solidFill>
                  <a:srgbClr val="333333"/>
                </a:solidFill>
                <a:latin typeface="arial" panose="020B0604020202020204" pitchFamily="34" charset="0"/>
              </a:rPr>
              <a:t>等压冷却（</a:t>
            </a:r>
            <a:r>
              <a:rPr lang="en-US" altLang="zh-CN" sz="1500">
                <a:solidFill>
                  <a:srgbClr val="333333"/>
                </a:solidFill>
                <a:latin typeface="arial" panose="020B0604020202020204" pitchFamily="34" charset="0"/>
              </a:rPr>
              <a:t>Qo'</a:t>
            </a:r>
            <a:r>
              <a:rPr lang="zh-CN" altLang="en-US" sz="1500">
                <a:solidFill>
                  <a:srgbClr val="333333"/>
                </a:solidFill>
                <a:latin typeface="arial" panose="020B0604020202020204" pitchFamily="34" charset="0"/>
              </a:rPr>
              <a:t>）</a:t>
            </a:r>
            <a:endParaRPr lang="zh-CN" altLang="en-US" sz="1500" b="0" i="0">
              <a:solidFill>
                <a:srgbClr val="333333"/>
              </a:solidFill>
              <a:effectLst/>
              <a:latin typeface="arial" panose="020B0604020202020204" pitchFamily="34" charset="0"/>
            </a:endParaRPr>
          </a:p>
        </p:txBody>
      </p:sp>
    </p:spTree>
    <p:extLst>
      <p:ext uri="{BB962C8B-B14F-4D97-AF65-F5344CB8AC3E}">
        <p14:creationId xmlns:p14="http://schemas.microsoft.com/office/powerpoint/2010/main" val="487475299"/>
      </p:ext>
    </p:ext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381000" y="228600"/>
            <a:ext cx="8305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a:solidFill>
                  <a:srgbClr val="FF0000"/>
                </a:solidFill>
                <a:latin typeface="Century Schoolbook" pitchFamily="18" charset="0"/>
              </a:rPr>
              <a:t>例</a:t>
            </a:r>
            <a:r>
              <a:rPr lang="en-US" altLang="zh-CN" sz="2800" b="1" dirty="0">
                <a:solidFill>
                  <a:srgbClr val="FF0000"/>
                </a:solidFill>
                <a:latin typeface="Century Schoolbook" pitchFamily="18" charset="0"/>
              </a:rPr>
              <a:t>7</a:t>
            </a:r>
            <a:r>
              <a:rPr lang="zh-CN" altLang="en-US" sz="2800" b="1">
                <a:solidFill>
                  <a:srgbClr val="FF0000"/>
                </a:solidFill>
                <a:latin typeface="Century Schoolbook" pitchFamily="18" charset="0"/>
              </a:rPr>
              <a:t>：</a:t>
            </a:r>
            <a:r>
              <a:rPr lang="zh-CN" altLang="en-US" sz="2800" b="1" dirty="0">
                <a:solidFill>
                  <a:schemeClr val="accent2"/>
                </a:solidFill>
                <a:latin typeface="Century Schoolbook" pitchFamily="18" charset="0"/>
              </a:rPr>
              <a:t>一热机以</a:t>
            </a:r>
            <a:r>
              <a:rPr lang="en-US" altLang="zh-CN" sz="2800" dirty="0">
                <a:solidFill>
                  <a:schemeClr val="accent2"/>
                </a:solidFill>
                <a:latin typeface="Century Schoolbook" pitchFamily="18" charset="0"/>
              </a:rPr>
              <a:t>1mol</a:t>
            </a:r>
            <a:r>
              <a:rPr lang="zh-CN" altLang="en-US" sz="2800" b="1" dirty="0">
                <a:solidFill>
                  <a:schemeClr val="accent2"/>
                </a:solidFill>
                <a:latin typeface="Century Schoolbook" pitchFamily="18" charset="0"/>
              </a:rPr>
              <a:t>双原子分子气体为工作物质，循环曲线如图所示，其中</a:t>
            </a:r>
            <a:r>
              <a:rPr lang="en-US" altLang="zh-CN" sz="2800" i="1" dirty="0">
                <a:solidFill>
                  <a:schemeClr val="accent2"/>
                </a:solidFill>
                <a:latin typeface="Century Schoolbook" pitchFamily="18" charset="0"/>
              </a:rPr>
              <a:t>AB</a:t>
            </a:r>
            <a:r>
              <a:rPr lang="zh-CN" altLang="en-US" sz="2800" b="1" dirty="0">
                <a:solidFill>
                  <a:schemeClr val="accent2"/>
                </a:solidFill>
                <a:latin typeface="Century Schoolbook" pitchFamily="18" charset="0"/>
              </a:rPr>
              <a:t>为等温过程</a:t>
            </a:r>
            <a:r>
              <a:rPr lang="zh-CN" altLang="en-US" sz="2800" b="1">
                <a:solidFill>
                  <a:schemeClr val="accent2"/>
                </a:solidFill>
                <a:latin typeface="Century Schoolbook" pitchFamily="18" charset="0"/>
              </a:rPr>
              <a:t>，</a:t>
            </a:r>
            <a:r>
              <a:rPr lang="en-US" altLang="zh-CN" sz="2800" i="1">
                <a:solidFill>
                  <a:schemeClr val="accent2"/>
                </a:solidFill>
                <a:latin typeface="Century Schoolbook" pitchFamily="18" charset="0"/>
              </a:rPr>
              <a:t>T</a:t>
            </a:r>
            <a:r>
              <a:rPr lang="en-US" altLang="zh-CN" sz="2800" baseline="-25000">
                <a:solidFill>
                  <a:schemeClr val="accent2"/>
                </a:solidFill>
                <a:latin typeface="Century Schoolbook" pitchFamily="18" charset="0"/>
              </a:rPr>
              <a:t>A</a:t>
            </a:r>
            <a:r>
              <a:rPr lang="en-US" altLang="zh-CN" sz="2800" b="1">
                <a:solidFill>
                  <a:schemeClr val="accent2"/>
                </a:solidFill>
                <a:latin typeface="Century Schoolbook" pitchFamily="18" charset="0"/>
              </a:rPr>
              <a:t>=</a:t>
            </a:r>
            <a:r>
              <a:rPr lang="en-US" altLang="zh-CN" sz="2800">
                <a:solidFill>
                  <a:schemeClr val="accent2"/>
                </a:solidFill>
                <a:latin typeface="Century Schoolbook" pitchFamily="18" charset="0"/>
              </a:rPr>
              <a:t>3000K</a:t>
            </a:r>
            <a:r>
              <a:rPr lang="zh-CN" altLang="en-US" sz="2800" b="1" dirty="0">
                <a:solidFill>
                  <a:schemeClr val="accent2"/>
                </a:solidFill>
                <a:latin typeface="Century Schoolbook" pitchFamily="18" charset="0"/>
              </a:rPr>
              <a:t>，</a:t>
            </a:r>
            <a:r>
              <a:rPr lang="en-US" altLang="zh-CN" sz="2800" i="1" dirty="0">
                <a:solidFill>
                  <a:schemeClr val="accent2"/>
                </a:solidFill>
                <a:latin typeface="Century Schoolbook" pitchFamily="18" charset="0"/>
              </a:rPr>
              <a:t>T</a:t>
            </a:r>
            <a:r>
              <a:rPr lang="en-US" altLang="zh-CN" sz="2800" baseline="-25000" dirty="0">
                <a:solidFill>
                  <a:schemeClr val="accent2"/>
                </a:solidFill>
                <a:latin typeface="Century Schoolbook" pitchFamily="18" charset="0"/>
              </a:rPr>
              <a:t>C</a:t>
            </a:r>
            <a:r>
              <a:rPr lang="en-US" altLang="zh-CN" sz="2800" b="1" dirty="0">
                <a:solidFill>
                  <a:schemeClr val="accent2"/>
                </a:solidFill>
                <a:latin typeface="Century Schoolbook" pitchFamily="18" charset="0"/>
              </a:rPr>
              <a:t>=</a:t>
            </a:r>
            <a:r>
              <a:rPr lang="en-US" altLang="zh-CN" sz="2800" dirty="0">
                <a:solidFill>
                  <a:schemeClr val="accent2"/>
                </a:solidFill>
                <a:latin typeface="Century Schoolbook" pitchFamily="18" charset="0"/>
              </a:rPr>
              <a:t>300K</a:t>
            </a:r>
            <a:r>
              <a:rPr lang="zh-CN" altLang="en-US" sz="2800" b="1" dirty="0">
                <a:solidFill>
                  <a:schemeClr val="accent2"/>
                </a:solidFill>
                <a:latin typeface="Century Schoolbook" pitchFamily="18" charset="0"/>
              </a:rPr>
              <a:t>。求①</a:t>
            </a:r>
            <a:r>
              <a:rPr lang="en-US" altLang="zh-CN" sz="2800" b="1" dirty="0">
                <a:solidFill>
                  <a:schemeClr val="accent2"/>
                </a:solidFill>
                <a:latin typeface="Century Schoolbook" pitchFamily="18" charset="0"/>
              </a:rPr>
              <a:t>.</a:t>
            </a:r>
            <a:r>
              <a:rPr lang="zh-CN" altLang="en-US" sz="2800" b="1" dirty="0">
                <a:solidFill>
                  <a:schemeClr val="accent2"/>
                </a:solidFill>
                <a:latin typeface="Century Schoolbook" pitchFamily="18" charset="0"/>
              </a:rPr>
              <a:t>各过程的内能增量、功、和热量； ②</a:t>
            </a:r>
            <a:r>
              <a:rPr lang="en-US" altLang="zh-CN" sz="2800" b="1" dirty="0">
                <a:solidFill>
                  <a:schemeClr val="accent2"/>
                </a:solidFill>
                <a:latin typeface="Century Schoolbook" pitchFamily="18" charset="0"/>
              </a:rPr>
              <a:t>.</a:t>
            </a:r>
            <a:r>
              <a:rPr lang="zh-CN" altLang="en-US" sz="2800" b="1" dirty="0">
                <a:solidFill>
                  <a:schemeClr val="accent2"/>
                </a:solidFill>
                <a:latin typeface="Century Schoolbook" pitchFamily="18" charset="0"/>
              </a:rPr>
              <a:t>热机效率。</a:t>
            </a:r>
          </a:p>
        </p:txBody>
      </p:sp>
      <p:sp>
        <p:nvSpPr>
          <p:cNvPr id="120835" name="Text Box 3"/>
          <p:cNvSpPr txBox="1">
            <a:spLocks noChangeArrowheads="1"/>
          </p:cNvSpPr>
          <p:nvPr/>
        </p:nvSpPr>
        <p:spPr bwMode="auto">
          <a:xfrm>
            <a:off x="228600" y="2057400"/>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a:solidFill>
                  <a:srgbClr val="FF0000"/>
                </a:solidFill>
                <a:latin typeface="Century Schoolbook" pitchFamily="18" charset="0"/>
              </a:rPr>
              <a:t>解：</a:t>
            </a:r>
            <a:r>
              <a:rPr lang="zh-CN" altLang="en-US" sz="2800" b="1">
                <a:latin typeface="Century Schoolbook" pitchFamily="18" charset="0"/>
              </a:rPr>
              <a:t>① </a:t>
            </a:r>
            <a:r>
              <a:rPr lang="en-US" altLang="zh-CN" sz="2800" i="1">
                <a:solidFill>
                  <a:schemeClr val="folHlink"/>
                </a:solidFill>
                <a:latin typeface="Century Schoolbook" pitchFamily="18" charset="0"/>
              </a:rPr>
              <a:t>A</a:t>
            </a:r>
            <a:r>
              <a:rPr lang="en-US" altLang="zh-CN" sz="2800">
                <a:solidFill>
                  <a:schemeClr val="folHlink"/>
                </a:solidFill>
                <a:latin typeface="Symbol" pitchFamily="18" charset="2"/>
              </a:rPr>
              <a:t>-</a:t>
            </a:r>
            <a:r>
              <a:rPr lang="en-US" altLang="zh-CN" sz="2800" i="1">
                <a:solidFill>
                  <a:schemeClr val="folHlink"/>
                </a:solidFill>
                <a:latin typeface="Century Schoolbook" pitchFamily="18" charset="0"/>
              </a:rPr>
              <a:t>B</a:t>
            </a:r>
            <a:r>
              <a:rPr lang="zh-CN" altLang="en-US" sz="2800" b="1">
                <a:solidFill>
                  <a:schemeClr val="folHlink"/>
                </a:solidFill>
                <a:latin typeface="Century Schoolbook" pitchFamily="18" charset="0"/>
              </a:rPr>
              <a:t>为等温膨胀过程</a:t>
            </a:r>
          </a:p>
        </p:txBody>
      </p:sp>
      <p:grpSp>
        <p:nvGrpSpPr>
          <p:cNvPr id="29700" name="Group 4"/>
          <p:cNvGrpSpPr>
            <a:grpSpLocks/>
          </p:cNvGrpSpPr>
          <p:nvPr/>
        </p:nvGrpSpPr>
        <p:grpSpPr bwMode="auto">
          <a:xfrm>
            <a:off x="5570611" y="1655763"/>
            <a:ext cx="3581400" cy="2971800"/>
            <a:chOff x="3408" y="1008"/>
            <a:chExt cx="2256" cy="1872"/>
          </a:xfrm>
        </p:grpSpPr>
        <p:grpSp>
          <p:nvGrpSpPr>
            <p:cNvPr id="29712" name="Group 5"/>
            <p:cNvGrpSpPr>
              <a:grpSpLocks/>
            </p:cNvGrpSpPr>
            <p:nvPr/>
          </p:nvGrpSpPr>
          <p:grpSpPr bwMode="auto">
            <a:xfrm>
              <a:off x="3685" y="2096"/>
              <a:ext cx="285" cy="710"/>
              <a:chOff x="3050" y="3120"/>
              <a:chExt cx="346" cy="1070"/>
            </a:xfrm>
          </p:grpSpPr>
          <p:sp>
            <p:nvSpPr>
              <p:cNvPr id="29738" name="Line 6"/>
              <p:cNvSpPr>
                <a:spLocks noChangeShapeType="1"/>
              </p:cNvSpPr>
              <p:nvPr/>
            </p:nvSpPr>
            <p:spPr bwMode="auto">
              <a:xfrm>
                <a:off x="3216" y="3120"/>
                <a:ext cx="12" cy="759"/>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39" name="Object 7"/>
              <p:cNvGraphicFramePr>
                <a:graphicFrameLocks noChangeAspect="1"/>
              </p:cNvGraphicFramePr>
              <p:nvPr/>
            </p:nvGraphicFramePr>
            <p:xfrm>
              <a:off x="3050" y="3974"/>
              <a:ext cx="346" cy="216"/>
            </p:xfrm>
            <a:graphic>
              <a:graphicData uri="http://schemas.openxmlformats.org/presentationml/2006/ole">
                <mc:AlternateContent xmlns:mc="http://schemas.openxmlformats.org/markup-compatibility/2006">
                  <mc:Choice xmlns:v="urn:schemas-microsoft-com:vml" Requires="v">
                    <p:oleObj spid="_x0000_s158337" name="公式" r:id="rId4" imgW="634725" imgH="380835" progId="Equation.3">
                      <p:embed/>
                    </p:oleObj>
                  </mc:Choice>
                  <mc:Fallback>
                    <p:oleObj name="公式" r:id="rId4" imgW="634725" imgH="380835"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0" y="3974"/>
                            <a:ext cx="346"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9713" name="Group 8"/>
            <p:cNvGrpSpPr>
              <a:grpSpLocks/>
            </p:cNvGrpSpPr>
            <p:nvPr/>
          </p:nvGrpSpPr>
          <p:grpSpPr bwMode="auto">
            <a:xfrm>
              <a:off x="4754" y="2053"/>
              <a:ext cx="114" cy="793"/>
              <a:chOff x="4629" y="3319"/>
              <a:chExt cx="139" cy="874"/>
            </a:xfrm>
          </p:grpSpPr>
          <p:sp>
            <p:nvSpPr>
              <p:cNvPr id="29736" name="Line 9"/>
              <p:cNvSpPr>
                <a:spLocks noChangeShapeType="1"/>
              </p:cNvSpPr>
              <p:nvPr/>
            </p:nvSpPr>
            <p:spPr bwMode="auto">
              <a:xfrm>
                <a:off x="4697" y="3319"/>
                <a:ext cx="9" cy="56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37" name="Object 10"/>
              <p:cNvGraphicFramePr>
                <a:graphicFrameLocks noChangeAspect="1"/>
              </p:cNvGraphicFramePr>
              <p:nvPr/>
            </p:nvGraphicFramePr>
            <p:xfrm>
              <a:off x="4629" y="3977"/>
              <a:ext cx="139" cy="216"/>
            </p:xfrm>
            <a:graphic>
              <a:graphicData uri="http://schemas.openxmlformats.org/presentationml/2006/ole">
                <mc:AlternateContent xmlns:mc="http://schemas.openxmlformats.org/markup-compatibility/2006">
                  <mc:Choice xmlns:v="urn:schemas-microsoft-com:vml" Requires="v">
                    <p:oleObj spid="_x0000_s158338" name="公式" r:id="rId6" imgW="253890" imgH="380835" progId="Equation.3">
                      <p:embed/>
                    </p:oleObj>
                  </mc:Choice>
                  <mc:Fallback>
                    <p:oleObj name="公式" r:id="rId6" imgW="253890" imgH="380835"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29" y="3977"/>
                            <a:ext cx="139"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9714" name="Group 11"/>
            <p:cNvGrpSpPr>
              <a:grpSpLocks/>
            </p:cNvGrpSpPr>
            <p:nvPr/>
          </p:nvGrpSpPr>
          <p:grpSpPr bwMode="auto">
            <a:xfrm>
              <a:off x="3408" y="1008"/>
              <a:ext cx="2256" cy="1872"/>
              <a:chOff x="2352" y="1855"/>
              <a:chExt cx="3408" cy="2389"/>
            </a:xfrm>
          </p:grpSpPr>
          <p:sp>
            <p:nvSpPr>
              <p:cNvPr id="29731" name="Line 12"/>
              <p:cNvSpPr>
                <a:spLocks noChangeShapeType="1"/>
              </p:cNvSpPr>
              <p:nvPr/>
            </p:nvSpPr>
            <p:spPr bwMode="auto">
              <a:xfrm>
                <a:off x="2736" y="3879"/>
                <a:ext cx="2464"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2" name="Line 13"/>
              <p:cNvSpPr>
                <a:spLocks noChangeShapeType="1"/>
              </p:cNvSpPr>
              <p:nvPr/>
            </p:nvSpPr>
            <p:spPr bwMode="auto">
              <a:xfrm flipV="1">
                <a:off x="2736" y="1855"/>
                <a:ext cx="0" cy="2024"/>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33" name="Object 14"/>
              <p:cNvGraphicFramePr>
                <a:graphicFrameLocks noChangeAspect="1"/>
              </p:cNvGraphicFramePr>
              <p:nvPr/>
            </p:nvGraphicFramePr>
            <p:xfrm>
              <a:off x="2496" y="3936"/>
              <a:ext cx="139" cy="165"/>
            </p:xfrm>
            <a:graphic>
              <a:graphicData uri="http://schemas.openxmlformats.org/presentationml/2006/ole">
                <mc:AlternateContent xmlns:mc="http://schemas.openxmlformats.org/markup-compatibility/2006">
                  <mc:Choice xmlns:v="urn:schemas-microsoft-com:vml" Requires="v">
                    <p:oleObj spid="_x0000_s158339" name="公式" r:id="rId8" imgW="253890" imgH="291973" progId="Equation.3">
                      <p:embed/>
                    </p:oleObj>
                  </mc:Choice>
                  <mc:Fallback>
                    <p:oleObj name="公式" r:id="rId8" imgW="253890" imgH="291973"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6" y="3936"/>
                            <a:ext cx="139"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4" name="Object 15"/>
              <p:cNvGraphicFramePr>
                <a:graphicFrameLocks noChangeAspect="1"/>
              </p:cNvGraphicFramePr>
              <p:nvPr/>
            </p:nvGraphicFramePr>
            <p:xfrm>
              <a:off x="5049" y="3936"/>
              <a:ext cx="711" cy="308"/>
            </p:xfrm>
            <a:graphic>
              <a:graphicData uri="http://schemas.openxmlformats.org/presentationml/2006/ole">
                <mc:AlternateContent xmlns:mc="http://schemas.openxmlformats.org/markup-compatibility/2006">
                  <mc:Choice xmlns:v="urn:schemas-microsoft-com:vml" Requires="v">
                    <p:oleObj spid="_x0000_s158340" name="公式" r:id="rId10" imgW="1294838" imgH="545863" progId="Equation.3">
                      <p:embed/>
                    </p:oleObj>
                  </mc:Choice>
                  <mc:Fallback>
                    <p:oleObj name="公式" r:id="rId10" imgW="1294838" imgH="545863"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49" y="3936"/>
                            <a:ext cx="711"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5" name="Object 16"/>
              <p:cNvGraphicFramePr>
                <a:graphicFrameLocks noChangeAspect="1"/>
              </p:cNvGraphicFramePr>
              <p:nvPr/>
            </p:nvGraphicFramePr>
            <p:xfrm>
              <a:off x="2352" y="1920"/>
              <a:ext cx="215" cy="222"/>
            </p:xfrm>
            <a:graphic>
              <a:graphicData uri="http://schemas.openxmlformats.org/presentationml/2006/ole">
                <mc:AlternateContent xmlns:mc="http://schemas.openxmlformats.org/markup-compatibility/2006">
                  <mc:Choice xmlns:v="urn:schemas-microsoft-com:vml" Requires="v">
                    <p:oleObj spid="_x0000_s158341" name="公式" r:id="rId12" imgW="393529" imgH="393529" progId="Equation.3">
                      <p:embed/>
                    </p:oleObj>
                  </mc:Choice>
                  <mc:Fallback>
                    <p:oleObj name="公式" r:id="rId12" imgW="393529" imgH="393529" progId="Equation.3">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52" y="1920"/>
                            <a:ext cx="215"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9715" name="Line 17"/>
            <p:cNvSpPr>
              <a:spLocks noChangeShapeType="1"/>
            </p:cNvSpPr>
            <p:nvPr/>
          </p:nvSpPr>
          <p:spPr bwMode="auto">
            <a:xfrm flipV="1">
              <a:off x="4002" y="1329"/>
              <a:ext cx="384" cy="358"/>
            </a:xfrm>
            <a:prstGeom prst="line">
              <a:avLst/>
            </a:prstGeom>
            <a:noFill/>
            <a:ln w="19050">
              <a:solidFill>
                <a:schemeClr val="tx1"/>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16" name="Object 18"/>
            <p:cNvGraphicFramePr>
              <a:graphicFrameLocks noChangeAspect="1"/>
            </p:cNvGraphicFramePr>
            <p:nvPr/>
          </p:nvGraphicFramePr>
          <p:xfrm>
            <a:off x="4179" y="1103"/>
            <a:ext cx="813" cy="238"/>
          </p:xfrm>
          <a:graphic>
            <a:graphicData uri="http://schemas.openxmlformats.org/presentationml/2006/ole">
              <mc:AlternateContent xmlns:mc="http://schemas.openxmlformats.org/markup-compatibility/2006">
                <mc:Choice xmlns:v="urn:schemas-microsoft-com:vml" Requires="v">
                  <p:oleObj spid="_x0000_s158342" name="公式" r:id="rId14" imgW="1371600" imgH="482600" progId="Equation.3">
                    <p:embed/>
                  </p:oleObj>
                </mc:Choice>
                <mc:Fallback>
                  <p:oleObj name="公式" r:id="rId14" imgW="1371600" imgH="482600" progId="Equation.3">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79" y="1103"/>
                          <a:ext cx="813" cy="238"/>
                        </a:xfrm>
                        <a:prstGeom prst="rect">
                          <a:avLst/>
                        </a:prstGeom>
                        <a:solidFill>
                          <a:srgbClr val="FFFF00"/>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717" name="Group 19"/>
            <p:cNvGrpSpPr>
              <a:grpSpLocks/>
            </p:cNvGrpSpPr>
            <p:nvPr/>
          </p:nvGrpSpPr>
          <p:grpSpPr bwMode="auto">
            <a:xfrm>
              <a:off x="3804" y="1400"/>
              <a:ext cx="39" cy="662"/>
              <a:chOff x="3216" y="2263"/>
              <a:chExt cx="0" cy="1049"/>
            </a:xfrm>
          </p:grpSpPr>
          <p:sp>
            <p:nvSpPr>
              <p:cNvPr id="29729" name="Line 20"/>
              <p:cNvSpPr>
                <a:spLocks noChangeShapeType="1"/>
              </p:cNvSpPr>
              <p:nvPr/>
            </p:nvSpPr>
            <p:spPr bwMode="auto">
              <a:xfrm>
                <a:off x="3216" y="2263"/>
                <a:ext cx="0" cy="1049"/>
              </a:xfrm>
              <a:prstGeom prst="line">
                <a:avLst/>
              </a:prstGeom>
              <a:noFill/>
              <a:ln w="254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0" name="Line 21"/>
              <p:cNvSpPr>
                <a:spLocks noChangeShapeType="1"/>
              </p:cNvSpPr>
              <p:nvPr/>
            </p:nvSpPr>
            <p:spPr bwMode="auto">
              <a:xfrm flipV="1">
                <a:off x="3216" y="2784"/>
                <a:ext cx="0" cy="240"/>
              </a:xfrm>
              <a:prstGeom prst="line">
                <a:avLst/>
              </a:prstGeom>
              <a:noFill/>
              <a:ln w="38100">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718" name="Group 22"/>
            <p:cNvGrpSpPr>
              <a:grpSpLocks/>
            </p:cNvGrpSpPr>
            <p:nvPr/>
          </p:nvGrpSpPr>
          <p:grpSpPr bwMode="auto">
            <a:xfrm>
              <a:off x="3645" y="1966"/>
              <a:ext cx="1134" cy="156"/>
              <a:chOff x="2952" y="3206"/>
              <a:chExt cx="1731" cy="230"/>
            </a:xfrm>
          </p:grpSpPr>
          <p:graphicFrame>
            <p:nvGraphicFramePr>
              <p:cNvPr id="29725" name="Object 23"/>
              <p:cNvGraphicFramePr>
                <a:graphicFrameLocks noChangeAspect="1"/>
              </p:cNvGraphicFramePr>
              <p:nvPr/>
            </p:nvGraphicFramePr>
            <p:xfrm>
              <a:off x="2952" y="3206"/>
              <a:ext cx="194" cy="230"/>
            </p:xfrm>
            <a:graphic>
              <a:graphicData uri="http://schemas.openxmlformats.org/presentationml/2006/ole">
                <mc:AlternateContent xmlns:mc="http://schemas.openxmlformats.org/markup-compatibility/2006">
                  <mc:Choice xmlns:v="urn:schemas-microsoft-com:vml" Requires="v">
                    <p:oleObj spid="_x0000_s158343" name="公式" r:id="rId16" imgW="355292" imgH="406048" progId="Equation.3">
                      <p:embed/>
                    </p:oleObj>
                  </mc:Choice>
                  <mc:Fallback>
                    <p:oleObj name="公式" r:id="rId16" imgW="355292" imgH="406048" progId="Equation.3">
                      <p:embed/>
                      <p:pic>
                        <p:nvPicPr>
                          <p:cNvPr id="0" name="Object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52" y="3206"/>
                            <a:ext cx="194"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726" name="Group 24"/>
              <p:cNvGrpSpPr>
                <a:grpSpLocks/>
              </p:cNvGrpSpPr>
              <p:nvPr/>
            </p:nvGrpSpPr>
            <p:grpSpPr bwMode="auto">
              <a:xfrm>
                <a:off x="3195" y="3312"/>
                <a:ext cx="1488" cy="0"/>
                <a:chOff x="3195" y="3312"/>
                <a:chExt cx="1488" cy="0"/>
              </a:xfrm>
            </p:grpSpPr>
            <p:sp>
              <p:nvSpPr>
                <p:cNvPr id="29727" name="Line 25"/>
                <p:cNvSpPr>
                  <a:spLocks noChangeShapeType="1"/>
                </p:cNvSpPr>
                <p:nvPr/>
              </p:nvSpPr>
              <p:spPr bwMode="auto">
                <a:xfrm>
                  <a:off x="3195" y="3312"/>
                  <a:ext cx="1488" cy="0"/>
                </a:xfrm>
                <a:prstGeom prst="line">
                  <a:avLst/>
                </a:prstGeom>
                <a:noFill/>
                <a:ln w="3810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8" name="Line 26"/>
                <p:cNvSpPr>
                  <a:spLocks noChangeShapeType="1"/>
                </p:cNvSpPr>
                <p:nvPr/>
              </p:nvSpPr>
              <p:spPr bwMode="auto">
                <a:xfrm flipH="1">
                  <a:off x="3744" y="3312"/>
                  <a:ext cx="288" cy="0"/>
                </a:xfrm>
                <a:prstGeom prst="line">
                  <a:avLst/>
                </a:prstGeom>
                <a:noFill/>
                <a:ln w="38100">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29719" name="Group 27"/>
            <p:cNvGrpSpPr>
              <a:grpSpLocks/>
            </p:cNvGrpSpPr>
            <p:nvPr/>
          </p:nvGrpSpPr>
          <p:grpSpPr bwMode="auto">
            <a:xfrm>
              <a:off x="3685" y="1052"/>
              <a:ext cx="1413" cy="1092"/>
              <a:chOff x="3082" y="1680"/>
              <a:chExt cx="2002" cy="1781"/>
            </a:xfrm>
          </p:grpSpPr>
          <p:graphicFrame>
            <p:nvGraphicFramePr>
              <p:cNvPr id="29720" name="Object 28"/>
              <p:cNvGraphicFramePr>
                <a:graphicFrameLocks noChangeAspect="1"/>
              </p:cNvGraphicFramePr>
              <p:nvPr/>
            </p:nvGraphicFramePr>
            <p:xfrm>
              <a:off x="3082" y="1917"/>
              <a:ext cx="216" cy="222"/>
            </p:xfrm>
            <a:graphic>
              <a:graphicData uri="http://schemas.openxmlformats.org/presentationml/2006/ole">
                <mc:AlternateContent xmlns:mc="http://schemas.openxmlformats.org/markup-compatibility/2006">
                  <mc:Choice xmlns:v="urn:schemas-microsoft-com:vml" Requires="v">
                    <p:oleObj spid="_x0000_s158344" name="公式" r:id="rId18" imgW="393529" imgH="393529" progId="Equation.3">
                      <p:embed/>
                    </p:oleObj>
                  </mc:Choice>
                  <mc:Fallback>
                    <p:oleObj name="公式" r:id="rId18" imgW="393529" imgH="393529" progId="Equation.3">
                      <p:embed/>
                      <p:pic>
                        <p:nvPicPr>
                          <p:cNvPr id="0" name="Object 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82" y="1917"/>
                            <a:ext cx="216"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21" name="Object 29"/>
              <p:cNvGraphicFramePr>
                <a:graphicFrameLocks noChangeAspect="1"/>
              </p:cNvGraphicFramePr>
              <p:nvPr/>
            </p:nvGraphicFramePr>
            <p:xfrm>
              <a:off x="4870" y="3239"/>
              <a:ext cx="214" cy="222"/>
            </p:xfrm>
            <a:graphic>
              <a:graphicData uri="http://schemas.openxmlformats.org/presentationml/2006/ole">
                <mc:AlternateContent xmlns:mc="http://schemas.openxmlformats.org/markup-compatibility/2006">
                  <mc:Choice xmlns:v="urn:schemas-microsoft-com:vml" Requires="v">
                    <p:oleObj spid="_x0000_s158345" name="公式" r:id="rId20" imgW="393529" imgH="393529" progId="Equation.3">
                      <p:embed/>
                    </p:oleObj>
                  </mc:Choice>
                  <mc:Fallback>
                    <p:oleObj name="公式" r:id="rId20" imgW="393529" imgH="393529" progId="Equation.3">
                      <p:embed/>
                      <p:pic>
                        <p:nvPicPr>
                          <p:cNvPr id="0" name="Object 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70" y="3239"/>
                            <a:ext cx="214"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722" name="Group 30"/>
              <p:cNvGrpSpPr>
                <a:grpSpLocks/>
              </p:cNvGrpSpPr>
              <p:nvPr/>
            </p:nvGrpSpPr>
            <p:grpSpPr bwMode="auto">
              <a:xfrm>
                <a:off x="3217" y="1680"/>
                <a:ext cx="1776" cy="1639"/>
                <a:chOff x="3217" y="1680"/>
                <a:chExt cx="1776" cy="1639"/>
              </a:xfrm>
            </p:grpSpPr>
            <p:sp>
              <p:nvSpPr>
                <p:cNvPr id="29723" name="Arc 31"/>
                <p:cNvSpPr>
                  <a:spLocks/>
                </p:cNvSpPr>
                <p:nvPr/>
              </p:nvSpPr>
              <p:spPr bwMode="auto">
                <a:xfrm>
                  <a:off x="3217" y="1680"/>
                  <a:ext cx="1776" cy="1639"/>
                </a:xfrm>
                <a:custGeom>
                  <a:avLst/>
                  <a:gdLst>
                    <a:gd name="T0" fmla="*/ 0 w 20363"/>
                    <a:gd name="T1" fmla="*/ 0 h 21353"/>
                    <a:gd name="T2" fmla="*/ 0 w 20363"/>
                    <a:gd name="T3" fmla="*/ 0 h 21353"/>
                    <a:gd name="T4" fmla="*/ 0 w 20363"/>
                    <a:gd name="T5" fmla="*/ 0 h 21353"/>
                    <a:gd name="T6" fmla="*/ 0 60000 65536"/>
                    <a:gd name="T7" fmla="*/ 0 60000 65536"/>
                    <a:gd name="T8" fmla="*/ 0 60000 65536"/>
                  </a:gdLst>
                  <a:ahLst/>
                  <a:cxnLst>
                    <a:cxn ang="T6">
                      <a:pos x="T0" y="T1"/>
                    </a:cxn>
                    <a:cxn ang="T7">
                      <a:pos x="T2" y="T3"/>
                    </a:cxn>
                    <a:cxn ang="T8">
                      <a:pos x="T4" y="T5"/>
                    </a:cxn>
                  </a:cxnLst>
                  <a:rect l="0" t="0" r="r" b="b"/>
                  <a:pathLst>
                    <a:path w="20363" h="21353" fill="none" extrusionOk="0">
                      <a:moveTo>
                        <a:pt x="17105" y="21352"/>
                      </a:moveTo>
                      <a:cubicBezTo>
                        <a:pt x="9230" y="20151"/>
                        <a:pt x="2656" y="14714"/>
                        <a:pt x="0" y="7204"/>
                      </a:cubicBezTo>
                    </a:path>
                    <a:path w="20363" h="21353" stroke="0" extrusionOk="0">
                      <a:moveTo>
                        <a:pt x="17105" y="21352"/>
                      </a:moveTo>
                      <a:cubicBezTo>
                        <a:pt x="9230" y="20151"/>
                        <a:pt x="2656" y="14714"/>
                        <a:pt x="0" y="7204"/>
                      </a:cubicBezTo>
                      <a:lnTo>
                        <a:pt x="20363" y="0"/>
                      </a:lnTo>
                      <a:lnTo>
                        <a:pt x="17105" y="21352"/>
                      </a:lnTo>
                      <a:close/>
                    </a:path>
                  </a:pathLst>
                </a:custGeom>
                <a:noFill/>
                <a:ln w="254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4" name="Line 32"/>
                <p:cNvSpPr>
                  <a:spLocks noChangeShapeType="1"/>
                </p:cNvSpPr>
                <p:nvPr/>
              </p:nvSpPr>
              <p:spPr bwMode="auto">
                <a:xfrm>
                  <a:off x="3696" y="2888"/>
                  <a:ext cx="192" cy="144"/>
                </a:xfrm>
                <a:prstGeom prst="line">
                  <a:avLst/>
                </a:prstGeom>
                <a:noFill/>
                <a:ln w="38100">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aphicFrame>
        <p:nvGraphicFramePr>
          <p:cNvPr id="120865" name="Object 33"/>
          <p:cNvGraphicFramePr>
            <a:graphicFrameLocks noChangeAspect="1"/>
          </p:cNvGraphicFramePr>
          <p:nvPr/>
        </p:nvGraphicFramePr>
        <p:xfrm>
          <a:off x="352425" y="3141663"/>
          <a:ext cx="1381125" cy="508000"/>
        </p:xfrm>
        <a:graphic>
          <a:graphicData uri="http://schemas.openxmlformats.org/presentationml/2006/ole">
            <mc:AlternateContent xmlns:mc="http://schemas.openxmlformats.org/markup-compatibility/2006">
              <mc:Choice xmlns:v="urn:schemas-microsoft-com:vml" Requires="v">
                <p:oleObj spid="_x0000_s158346" name="公式" r:id="rId22" imgW="596641" imgH="215806" progId="Equation.3">
                  <p:embed/>
                </p:oleObj>
              </mc:Choice>
              <mc:Fallback>
                <p:oleObj name="公式" r:id="rId22" imgW="596641" imgH="215806" progId="Equation.3">
                  <p:embed/>
                  <p:pic>
                    <p:nvPicPr>
                      <p:cNvPr id="0" name="Object 3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2425" y="3141663"/>
                        <a:ext cx="13811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67" name="Object 35"/>
          <p:cNvGraphicFramePr>
            <a:graphicFrameLocks noChangeAspect="1"/>
          </p:cNvGraphicFramePr>
          <p:nvPr/>
        </p:nvGraphicFramePr>
        <p:xfrm>
          <a:off x="306388" y="3581400"/>
          <a:ext cx="1751012" cy="595313"/>
        </p:xfrm>
        <a:graphic>
          <a:graphicData uri="http://schemas.openxmlformats.org/presentationml/2006/ole">
            <mc:AlternateContent xmlns:mc="http://schemas.openxmlformats.org/markup-compatibility/2006">
              <mc:Choice xmlns:v="urn:schemas-microsoft-com:vml" Requires="v">
                <p:oleObj spid="_x0000_s158347" name="公式" r:id="rId24" imgW="647419" imgH="215806" progId="Equation.3">
                  <p:embed/>
                </p:oleObj>
              </mc:Choice>
              <mc:Fallback>
                <p:oleObj name="公式" r:id="rId24" imgW="647419" imgH="215806" progId="Equation.3">
                  <p:embed/>
                  <p:pic>
                    <p:nvPicPr>
                      <p:cNvPr id="0" name="Object 3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06388" y="3581400"/>
                        <a:ext cx="1751012"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69" name="Text Box 37"/>
          <p:cNvSpPr txBox="1">
            <a:spLocks noChangeArrowheads="1"/>
          </p:cNvSpPr>
          <p:nvPr/>
        </p:nvSpPr>
        <p:spPr bwMode="auto">
          <a:xfrm>
            <a:off x="6400800" y="4586288"/>
            <a:ext cx="114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a:latin typeface="Century Schoolbook" pitchFamily="18" charset="0"/>
              </a:rPr>
              <a:t>吸热</a:t>
            </a:r>
          </a:p>
        </p:txBody>
      </p:sp>
      <p:graphicFrame>
        <p:nvGraphicFramePr>
          <p:cNvPr id="120870" name="Object 38"/>
          <p:cNvGraphicFramePr>
            <a:graphicFrameLocks noChangeAspect="1"/>
          </p:cNvGraphicFramePr>
          <p:nvPr/>
        </p:nvGraphicFramePr>
        <p:xfrm>
          <a:off x="2057400" y="3429000"/>
          <a:ext cx="2057400" cy="1090613"/>
        </p:xfrm>
        <a:graphic>
          <a:graphicData uri="http://schemas.openxmlformats.org/presentationml/2006/ole">
            <mc:AlternateContent xmlns:mc="http://schemas.openxmlformats.org/markup-compatibility/2006">
              <mc:Choice xmlns:v="urn:schemas-microsoft-com:vml" Requires="v">
                <p:oleObj spid="_x0000_s158348" name="公式" r:id="rId26" imgW="812447" imgH="431613" progId="Equation.3">
                  <p:embed/>
                </p:oleObj>
              </mc:Choice>
              <mc:Fallback>
                <p:oleObj name="公式" r:id="rId26" imgW="812447" imgH="431613" progId="Equation.3">
                  <p:embed/>
                  <p:pic>
                    <p:nvPicPr>
                      <p:cNvPr id="0" name="Object 3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057400" y="3429000"/>
                        <a:ext cx="2057400" cy="1090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0872" name="Text Box 40"/>
          <p:cNvSpPr txBox="1">
            <a:spLocks noChangeArrowheads="1"/>
          </p:cNvSpPr>
          <p:nvPr/>
        </p:nvSpPr>
        <p:spPr bwMode="auto">
          <a:xfrm>
            <a:off x="228600" y="5257800"/>
            <a:ext cx="434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800" i="1">
                <a:solidFill>
                  <a:schemeClr val="folHlink"/>
                </a:solidFill>
                <a:latin typeface="Century Schoolbook" pitchFamily="18" charset="0"/>
              </a:rPr>
              <a:t>B</a:t>
            </a:r>
            <a:r>
              <a:rPr lang="en-US" altLang="zh-CN" sz="2800">
                <a:solidFill>
                  <a:schemeClr val="folHlink"/>
                </a:solidFill>
                <a:latin typeface="Symbol" pitchFamily="18" charset="2"/>
              </a:rPr>
              <a:t>-</a:t>
            </a:r>
            <a:r>
              <a:rPr lang="en-US" altLang="zh-CN" sz="2800" i="1">
                <a:solidFill>
                  <a:schemeClr val="folHlink"/>
                </a:solidFill>
                <a:latin typeface="Century Schoolbook" pitchFamily="18" charset="0"/>
              </a:rPr>
              <a:t>C</a:t>
            </a:r>
            <a:r>
              <a:rPr lang="zh-CN" altLang="en-US" sz="2800" b="1">
                <a:solidFill>
                  <a:schemeClr val="folHlink"/>
                </a:solidFill>
                <a:latin typeface="Century Schoolbook" pitchFamily="18" charset="0"/>
              </a:rPr>
              <a:t>为等压压缩过程</a:t>
            </a:r>
            <a:endParaRPr lang="zh-CN" altLang="en-US" sz="3200" b="1">
              <a:solidFill>
                <a:schemeClr val="folHlink"/>
              </a:solidFill>
              <a:latin typeface="Century Schoolbook" pitchFamily="18" charset="0"/>
            </a:endParaRPr>
          </a:p>
        </p:txBody>
      </p:sp>
      <p:graphicFrame>
        <p:nvGraphicFramePr>
          <p:cNvPr id="120873" name="Object 41"/>
          <p:cNvGraphicFramePr>
            <a:graphicFrameLocks noChangeAspect="1"/>
          </p:cNvGraphicFramePr>
          <p:nvPr/>
        </p:nvGraphicFramePr>
        <p:xfrm>
          <a:off x="153988" y="5943600"/>
          <a:ext cx="2817812" cy="577850"/>
        </p:xfrm>
        <a:graphic>
          <a:graphicData uri="http://schemas.openxmlformats.org/presentationml/2006/ole">
            <mc:AlternateContent xmlns:mc="http://schemas.openxmlformats.org/markup-compatibility/2006">
              <mc:Choice xmlns:v="urn:schemas-microsoft-com:vml" Requires="v">
                <p:oleObj spid="_x0000_s158349" name="公式" r:id="rId28" imgW="1295400" imgH="228600" progId="Equation.3">
                  <p:embed/>
                </p:oleObj>
              </mc:Choice>
              <mc:Fallback>
                <p:oleObj name="公式" r:id="rId28" imgW="1295400" imgH="228600" progId="Equation.3">
                  <p:embed/>
                  <p:pic>
                    <p:nvPicPr>
                      <p:cNvPr id="0" name="Object 4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3988" y="5943600"/>
                        <a:ext cx="2817812"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图片 1"/>
          <p:cNvPicPr>
            <a:picLocks noChangeAspect="1"/>
          </p:cNvPicPr>
          <p:nvPr/>
        </p:nvPicPr>
        <p:blipFill>
          <a:blip r:embed="rId30"/>
          <a:stretch>
            <a:fillRect/>
          </a:stretch>
        </p:blipFill>
        <p:spPr>
          <a:xfrm>
            <a:off x="693811" y="2528094"/>
            <a:ext cx="3158107" cy="628650"/>
          </a:xfrm>
          <a:prstGeom prst="rect">
            <a:avLst/>
          </a:prstGeom>
        </p:spPr>
      </p:pic>
      <p:graphicFrame>
        <p:nvGraphicFramePr>
          <p:cNvPr id="45" name="Object 25"/>
          <p:cNvGraphicFramePr>
            <a:graphicFrameLocks noChangeAspect="1"/>
          </p:cNvGraphicFramePr>
          <p:nvPr>
            <p:extLst>
              <p:ext uri="{D42A27DB-BD31-4B8C-83A1-F6EECF244321}">
                <p14:modId xmlns:p14="http://schemas.microsoft.com/office/powerpoint/2010/main" val="2124922030"/>
              </p:ext>
            </p:extLst>
          </p:nvPr>
        </p:nvGraphicFramePr>
        <p:xfrm>
          <a:off x="533400" y="4554538"/>
          <a:ext cx="5805488" cy="536575"/>
        </p:xfrm>
        <a:graphic>
          <a:graphicData uri="http://schemas.openxmlformats.org/presentationml/2006/ole">
            <mc:AlternateContent xmlns:mc="http://schemas.openxmlformats.org/markup-compatibility/2006">
              <mc:Choice xmlns:v="urn:schemas-microsoft-com:vml" Requires="v">
                <p:oleObj spid="_x0000_s158350" name="Equation" r:id="rId31" imgW="2438280" imgH="190440" progId="Equation.DSMT4">
                  <p:embed/>
                </p:oleObj>
              </mc:Choice>
              <mc:Fallback>
                <p:oleObj name="Equation" r:id="rId31" imgW="2438280" imgH="190440" progId="Equation.DSMT4">
                  <p:embed/>
                  <p:pic>
                    <p:nvPicPr>
                      <p:cNvPr id="21529" name="Object 25"/>
                      <p:cNvPicPr>
                        <a:picLocks noChangeAspect="1" noChangeArrowheads="1"/>
                      </p:cNvPicPr>
                      <p:nvPr/>
                    </p:nvPicPr>
                    <p:blipFill>
                      <a:blip r:embed="rId32"/>
                      <a:srcRect/>
                      <a:stretch>
                        <a:fillRect/>
                      </a:stretch>
                    </p:blipFill>
                    <p:spPr bwMode="auto">
                      <a:xfrm>
                        <a:off x="533400" y="4554538"/>
                        <a:ext cx="5805488" cy="536575"/>
                      </a:xfrm>
                      <a:prstGeom prst="rect">
                        <a:avLst/>
                      </a:prstGeom>
                      <a:noFill/>
                      <a:ln>
                        <a:noFill/>
                      </a:ln>
                      <a:effectLst/>
                      <a:extLst/>
                    </p:spPr>
                  </p:pic>
                </p:oleObj>
              </mc:Fallback>
            </mc:AlternateContent>
          </a:graphicData>
        </a:graphic>
      </p:graphicFrame>
      <p:graphicFrame>
        <p:nvGraphicFramePr>
          <p:cNvPr id="46" name="Object 25"/>
          <p:cNvGraphicFramePr>
            <a:graphicFrameLocks noChangeAspect="1"/>
          </p:cNvGraphicFramePr>
          <p:nvPr>
            <p:extLst>
              <p:ext uri="{D42A27DB-BD31-4B8C-83A1-F6EECF244321}">
                <p14:modId xmlns:p14="http://schemas.microsoft.com/office/powerpoint/2010/main" val="1002407895"/>
              </p:ext>
            </p:extLst>
          </p:nvPr>
        </p:nvGraphicFramePr>
        <p:xfrm>
          <a:off x="2965450" y="5954713"/>
          <a:ext cx="5427663" cy="642937"/>
        </p:xfrm>
        <a:graphic>
          <a:graphicData uri="http://schemas.openxmlformats.org/presentationml/2006/ole">
            <mc:AlternateContent xmlns:mc="http://schemas.openxmlformats.org/markup-compatibility/2006">
              <mc:Choice xmlns:v="urn:schemas-microsoft-com:vml" Requires="v">
                <p:oleObj spid="_x0000_s158351" name="Equation" r:id="rId33" imgW="2361960" imgH="228600" progId="Equation.DSMT4">
                  <p:embed/>
                </p:oleObj>
              </mc:Choice>
              <mc:Fallback>
                <p:oleObj name="Equation" r:id="rId33" imgW="2361960" imgH="228600" progId="Equation.DSMT4">
                  <p:embed/>
                  <p:pic>
                    <p:nvPicPr>
                      <p:cNvPr id="45" name="Object 25"/>
                      <p:cNvPicPr>
                        <a:picLocks noChangeAspect="1" noChangeArrowheads="1"/>
                      </p:cNvPicPr>
                      <p:nvPr/>
                    </p:nvPicPr>
                    <p:blipFill>
                      <a:blip r:embed="rId34"/>
                      <a:srcRect/>
                      <a:stretch>
                        <a:fillRect/>
                      </a:stretch>
                    </p:blipFill>
                    <p:spPr bwMode="auto">
                      <a:xfrm>
                        <a:off x="2965450" y="5954713"/>
                        <a:ext cx="5427663" cy="642937"/>
                      </a:xfrm>
                      <a:prstGeom prst="rect">
                        <a:avLst/>
                      </a:prstGeom>
                      <a:noFill/>
                      <a:ln>
                        <a:noFill/>
                      </a:ln>
                      <a:effectLst/>
                      <a:extLst/>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35"/>
                                        </p:tgtEl>
                                        <p:attrNameLst>
                                          <p:attrName>style.visibility</p:attrName>
                                        </p:attrNameLst>
                                      </p:cBhvr>
                                      <p:to>
                                        <p:strVal val="visible"/>
                                      </p:to>
                                    </p:set>
                                    <p:animEffect transition="in" filter="wipe(left)">
                                      <p:cBhvr>
                                        <p:cTn id="7" dur="500"/>
                                        <p:tgtEl>
                                          <p:spTgt spid="1208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20865"/>
                                        </p:tgtEl>
                                        <p:attrNameLst>
                                          <p:attrName>style.visibility</p:attrName>
                                        </p:attrNameLst>
                                      </p:cBhvr>
                                      <p:to>
                                        <p:strVal val="visible"/>
                                      </p:to>
                                    </p:set>
                                    <p:animEffect transition="in" filter="wipe(left)">
                                      <p:cBhvr>
                                        <p:cTn id="16" dur="500"/>
                                        <p:tgtEl>
                                          <p:spTgt spid="12086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20867"/>
                                        </p:tgtEl>
                                        <p:attrNameLst>
                                          <p:attrName>style.visibility</p:attrName>
                                        </p:attrNameLst>
                                      </p:cBhvr>
                                      <p:to>
                                        <p:strVal val="visible"/>
                                      </p:to>
                                    </p:set>
                                    <p:animEffect transition="in" filter="wipe(left)">
                                      <p:cBhvr>
                                        <p:cTn id="21" dur="500"/>
                                        <p:tgtEl>
                                          <p:spTgt spid="12086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20870"/>
                                        </p:tgtEl>
                                        <p:attrNameLst>
                                          <p:attrName>style.visibility</p:attrName>
                                        </p:attrNameLst>
                                      </p:cBhvr>
                                      <p:to>
                                        <p:strVal val="visible"/>
                                      </p:to>
                                    </p:set>
                                    <p:animEffect transition="in" filter="wipe(left)">
                                      <p:cBhvr>
                                        <p:cTn id="26" dur="500"/>
                                        <p:tgtEl>
                                          <p:spTgt spid="120870"/>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anim calcmode="lin" valueType="num">
                                      <p:cBhvr additive="base">
                                        <p:cTn id="31" dur="500" fill="hold"/>
                                        <p:tgtEl>
                                          <p:spTgt spid="45"/>
                                        </p:tgtEl>
                                        <p:attrNameLst>
                                          <p:attrName>ppt_x</p:attrName>
                                        </p:attrNameLst>
                                      </p:cBhvr>
                                      <p:tavLst>
                                        <p:tav tm="0">
                                          <p:val>
                                            <p:strVal val="0-#ppt_w/2"/>
                                          </p:val>
                                        </p:tav>
                                        <p:tav tm="100000">
                                          <p:val>
                                            <p:strVal val="#ppt_x"/>
                                          </p:val>
                                        </p:tav>
                                      </p:tavLst>
                                    </p:anim>
                                    <p:anim calcmode="lin" valueType="num">
                                      <p:cBhvr additive="base">
                                        <p:cTn id="32"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0869"/>
                                        </p:tgtEl>
                                        <p:attrNameLst>
                                          <p:attrName>style.visibility</p:attrName>
                                        </p:attrNameLst>
                                      </p:cBhvr>
                                      <p:to>
                                        <p:strVal val="visible"/>
                                      </p:to>
                                    </p:set>
                                    <p:animEffect transition="in" filter="wipe(left)">
                                      <p:cBhvr>
                                        <p:cTn id="37" dur="500"/>
                                        <p:tgtEl>
                                          <p:spTgt spid="12086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0872"/>
                                        </p:tgtEl>
                                        <p:attrNameLst>
                                          <p:attrName>style.visibility</p:attrName>
                                        </p:attrNameLst>
                                      </p:cBhvr>
                                      <p:to>
                                        <p:strVal val="visible"/>
                                      </p:to>
                                    </p:set>
                                    <p:animEffect transition="in" filter="wipe(left)">
                                      <p:cBhvr>
                                        <p:cTn id="42" dur="500"/>
                                        <p:tgtEl>
                                          <p:spTgt spid="12087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0873"/>
                                        </p:tgtEl>
                                        <p:attrNameLst>
                                          <p:attrName>style.visibility</p:attrName>
                                        </p:attrNameLst>
                                      </p:cBhvr>
                                      <p:to>
                                        <p:strVal val="visible"/>
                                      </p:to>
                                    </p:set>
                                    <p:animEffect transition="in" filter="wipe(left)">
                                      <p:cBhvr>
                                        <p:cTn id="47" dur="500"/>
                                        <p:tgtEl>
                                          <p:spTgt spid="120873"/>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46"/>
                                        </p:tgtEl>
                                        <p:attrNameLst>
                                          <p:attrName>style.visibility</p:attrName>
                                        </p:attrNameLst>
                                      </p:cBhvr>
                                      <p:to>
                                        <p:strVal val="visible"/>
                                      </p:to>
                                    </p:set>
                                    <p:anim calcmode="lin" valueType="num">
                                      <p:cBhvr additive="base">
                                        <p:cTn id="52" dur="500" fill="hold"/>
                                        <p:tgtEl>
                                          <p:spTgt spid="46"/>
                                        </p:tgtEl>
                                        <p:attrNameLst>
                                          <p:attrName>ppt_x</p:attrName>
                                        </p:attrNameLst>
                                      </p:cBhvr>
                                      <p:tavLst>
                                        <p:tav tm="0">
                                          <p:val>
                                            <p:strVal val="0-#ppt_w/2"/>
                                          </p:val>
                                        </p:tav>
                                        <p:tav tm="100000">
                                          <p:val>
                                            <p:strVal val="#ppt_x"/>
                                          </p:val>
                                        </p:tav>
                                      </p:tavLst>
                                    </p:anim>
                                    <p:anim calcmode="lin" valueType="num">
                                      <p:cBhvr additive="base">
                                        <p:cTn id="53" dur="500" fill="hold"/>
                                        <p:tgtEl>
                                          <p:spTgt spid="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autoUpdateAnimBg="0"/>
      <p:bldP spid="120869" grpId="0" autoUpdateAnimBg="0"/>
      <p:bldP spid="120872"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3" name="Group 3"/>
          <p:cNvGrpSpPr>
            <a:grpSpLocks/>
          </p:cNvGrpSpPr>
          <p:nvPr/>
        </p:nvGrpSpPr>
        <p:grpSpPr bwMode="auto">
          <a:xfrm>
            <a:off x="5257800" y="228600"/>
            <a:ext cx="3810000" cy="3276600"/>
            <a:chOff x="2822" y="192"/>
            <a:chExt cx="2938" cy="2304"/>
          </a:xfrm>
        </p:grpSpPr>
        <p:sp>
          <p:nvSpPr>
            <p:cNvPr id="30745" name="Arc 4"/>
            <p:cNvSpPr>
              <a:spLocks/>
            </p:cNvSpPr>
            <p:nvPr/>
          </p:nvSpPr>
          <p:spPr bwMode="auto">
            <a:xfrm>
              <a:off x="3569" y="192"/>
              <a:ext cx="1524" cy="1472"/>
            </a:xfrm>
            <a:custGeom>
              <a:avLst/>
              <a:gdLst>
                <a:gd name="T0" fmla="*/ 0 w 20260"/>
                <a:gd name="T1" fmla="*/ 0 h 21353"/>
                <a:gd name="T2" fmla="*/ 0 w 20260"/>
                <a:gd name="T3" fmla="*/ 0 h 21353"/>
                <a:gd name="T4" fmla="*/ 0 w 20260"/>
                <a:gd name="T5" fmla="*/ 0 h 21353"/>
                <a:gd name="T6" fmla="*/ 0 60000 65536"/>
                <a:gd name="T7" fmla="*/ 0 60000 65536"/>
                <a:gd name="T8" fmla="*/ 0 60000 65536"/>
              </a:gdLst>
              <a:ahLst/>
              <a:cxnLst>
                <a:cxn ang="T6">
                  <a:pos x="T0" y="T1"/>
                </a:cxn>
                <a:cxn ang="T7">
                  <a:pos x="T2" y="T3"/>
                </a:cxn>
                <a:cxn ang="T8">
                  <a:pos x="T4" y="T5"/>
                </a:cxn>
              </a:cxnLst>
              <a:rect l="0" t="0" r="r" b="b"/>
              <a:pathLst>
                <a:path w="20260" h="21353" fill="none" extrusionOk="0">
                  <a:moveTo>
                    <a:pt x="17002" y="21352"/>
                  </a:moveTo>
                  <a:cubicBezTo>
                    <a:pt x="9235" y="20167"/>
                    <a:pt x="2725" y="14859"/>
                    <a:pt x="0" y="7490"/>
                  </a:cubicBezTo>
                </a:path>
                <a:path w="20260" h="21353" stroke="0" extrusionOk="0">
                  <a:moveTo>
                    <a:pt x="17002" y="21352"/>
                  </a:moveTo>
                  <a:cubicBezTo>
                    <a:pt x="9235" y="20167"/>
                    <a:pt x="2725" y="14859"/>
                    <a:pt x="0" y="7490"/>
                  </a:cubicBezTo>
                  <a:lnTo>
                    <a:pt x="20260" y="0"/>
                  </a:lnTo>
                  <a:lnTo>
                    <a:pt x="17002" y="21352"/>
                  </a:lnTo>
                  <a:close/>
                </a:path>
              </a:pathLst>
            </a:custGeom>
            <a:noFill/>
            <a:ln w="254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0746" name="Group 5"/>
            <p:cNvGrpSpPr>
              <a:grpSpLocks/>
            </p:cNvGrpSpPr>
            <p:nvPr/>
          </p:nvGrpSpPr>
          <p:grpSpPr bwMode="auto">
            <a:xfrm>
              <a:off x="2822" y="349"/>
              <a:ext cx="2938" cy="2147"/>
              <a:chOff x="2822" y="253"/>
              <a:chExt cx="2938" cy="2147"/>
            </a:xfrm>
          </p:grpSpPr>
          <p:grpSp>
            <p:nvGrpSpPr>
              <p:cNvPr id="30747" name="Group 6"/>
              <p:cNvGrpSpPr>
                <a:grpSpLocks/>
              </p:cNvGrpSpPr>
              <p:nvPr/>
            </p:nvGrpSpPr>
            <p:grpSpPr bwMode="auto">
              <a:xfrm>
                <a:off x="3424" y="1390"/>
                <a:ext cx="298" cy="961"/>
                <a:chOff x="3050" y="3120"/>
                <a:chExt cx="346" cy="1070"/>
              </a:xfrm>
            </p:grpSpPr>
            <p:sp>
              <p:nvSpPr>
                <p:cNvPr id="30771" name="Line 7"/>
                <p:cNvSpPr>
                  <a:spLocks noChangeShapeType="1"/>
                </p:cNvSpPr>
                <p:nvPr/>
              </p:nvSpPr>
              <p:spPr bwMode="auto">
                <a:xfrm>
                  <a:off x="3216" y="3120"/>
                  <a:ext cx="12" cy="759"/>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0772" name="Object 8"/>
                <p:cNvGraphicFramePr>
                  <a:graphicFrameLocks noChangeAspect="1"/>
                </p:cNvGraphicFramePr>
                <p:nvPr/>
              </p:nvGraphicFramePr>
              <p:xfrm>
                <a:off x="3050" y="3974"/>
                <a:ext cx="346" cy="216"/>
              </p:xfrm>
              <a:graphic>
                <a:graphicData uri="http://schemas.openxmlformats.org/presentationml/2006/ole">
                  <mc:AlternateContent xmlns:mc="http://schemas.openxmlformats.org/markup-compatibility/2006">
                    <mc:Choice xmlns:v="urn:schemas-microsoft-com:vml" Requires="v">
                      <p:oleObj spid="_x0000_s164608" name="公式" r:id="rId3" imgW="634725" imgH="380835" progId="Equation.3">
                        <p:embed/>
                      </p:oleObj>
                    </mc:Choice>
                    <mc:Fallback>
                      <p:oleObj name="公式" r:id="rId3" imgW="634725" imgH="380835"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0" y="3974"/>
                              <a:ext cx="346"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0748" name="Group 9"/>
              <p:cNvGrpSpPr>
                <a:grpSpLocks/>
              </p:cNvGrpSpPr>
              <p:nvPr/>
            </p:nvGrpSpPr>
            <p:grpSpPr bwMode="auto">
              <a:xfrm>
                <a:off x="4785" y="1569"/>
                <a:ext cx="120" cy="785"/>
                <a:chOff x="4629" y="3319"/>
                <a:chExt cx="139" cy="874"/>
              </a:xfrm>
            </p:grpSpPr>
            <p:sp>
              <p:nvSpPr>
                <p:cNvPr id="30769" name="Line 10"/>
                <p:cNvSpPr>
                  <a:spLocks noChangeShapeType="1"/>
                </p:cNvSpPr>
                <p:nvPr/>
              </p:nvSpPr>
              <p:spPr bwMode="auto">
                <a:xfrm>
                  <a:off x="4697" y="3319"/>
                  <a:ext cx="9" cy="56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0770" name="Object 11"/>
                <p:cNvGraphicFramePr>
                  <a:graphicFrameLocks noChangeAspect="1"/>
                </p:cNvGraphicFramePr>
                <p:nvPr/>
              </p:nvGraphicFramePr>
              <p:xfrm>
                <a:off x="4629" y="3977"/>
                <a:ext cx="139" cy="216"/>
              </p:xfrm>
              <a:graphic>
                <a:graphicData uri="http://schemas.openxmlformats.org/presentationml/2006/ole">
                  <mc:AlternateContent xmlns:mc="http://schemas.openxmlformats.org/markup-compatibility/2006">
                    <mc:Choice xmlns:v="urn:schemas-microsoft-com:vml" Requires="v">
                      <p:oleObj spid="_x0000_s164609" name="公式" r:id="rId5" imgW="253890" imgH="380835" progId="Equation.3">
                        <p:embed/>
                      </p:oleObj>
                    </mc:Choice>
                    <mc:Fallback>
                      <p:oleObj name="公式" r:id="rId5" imgW="253890" imgH="380835"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9" y="3977"/>
                              <a:ext cx="139"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0749" name="Group 12"/>
              <p:cNvGrpSpPr>
                <a:grpSpLocks/>
              </p:cNvGrpSpPr>
              <p:nvPr/>
            </p:nvGrpSpPr>
            <p:grpSpPr bwMode="auto">
              <a:xfrm>
                <a:off x="2822" y="253"/>
                <a:ext cx="2938" cy="2147"/>
                <a:chOff x="2352" y="1855"/>
                <a:chExt cx="3408" cy="2389"/>
              </a:xfrm>
            </p:grpSpPr>
            <p:sp>
              <p:nvSpPr>
                <p:cNvPr id="30764" name="Line 13"/>
                <p:cNvSpPr>
                  <a:spLocks noChangeShapeType="1"/>
                </p:cNvSpPr>
                <p:nvPr/>
              </p:nvSpPr>
              <p:spPr bwMode="auto">
                <a:xfrm>
                  <a:off x="2736" y="3879"/>
                  <a:ext cx="2464"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5" name="Line 14"/>
                <p:cNvSpPr>
                  <a:spLocks noChangeShapeType="1"/>
                </p:cNvSpPr>
                <p:nvPr/>
              </p:nvSpPr>
              <p:spPr bwMode="auto">
                <a:xfrm flipV="1">
                  <a:off x="2736" y="1855"/>
                  <a:ext cx="0" cy="2024"/>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0766" name="Object 15"/>
                <p:cNvGraphicFramePr>
                  <a:graphicFrameLocks noChangeAspect="1"/>
                </p:cNvGraphicFramePr>
                <p:nvPr/>
              </p:nvGraphicFramePr>
              <p:xfrm>
                <a:off x="2496" y="3936"/>
                <a:ext cx="139" cy="165"/>
              </p:xfrm>
              <a:graphic>
                <a:graphicData uri="http://schemas.openxmlformats.org/presentationml/2006/ole">
                  <mc:AlternateContent xmlns:mc="http://schemas.openxmlformats.org/markup-compatibility/2006">
                    <mc:Choice xmlns:v="urn:schemas-microsoft-com:vml" Requires="v">
                      <p:oleObj spid="_x0000_s164610" name="公式" r:id="rId7" imgW="253890" imgH="291973" progId="Equation.3">
                        <p:embed/>
                      </p:oleObj>
                    </mc:Choice>
                    <mc:Fallback>
                      <p:oleObj name="公式" r:id="rId7" imgW="253890" imgH="291973"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96" y="3936"/>
                              <a:ext cx="139"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7" name="Object 16"/>
                <p:cNvGraphicFramePr>
                  <a:graphicFrameLocks noChangeAspect="1"/>
                </p:cNvGraphicFramePr>
                <p:nvPr/>
              </p:nvGraphicFramePr>
              <p:xfrm>
                <a:off x="5049" y="3936"/>
                <a:ext cx="711" cy="308"/>
              </p:xfrm>
              <a:graphic>
                <a:graphicData uri="http://schemas.openxmlformats.org/presentationml/2006/ole">
                  <mc:AlternateContent xmlns:mc="http://schemas.openxmlformats.org/markup-compatibility/2006">
                    <mc:Choice xmlns:v="urn:schemas-microsoft-com:vml" Requires="v">
                      <p:oleObj spid="_x0000_s164611" name="公式" r:id="rId9" imgW="1294838" imgH="545863" progId="Equation.3">
                        <p:embed/>
                      </p:oleObj>
                    </mc:Choice>
                    <mc:Fallback>
                      <p:oleObj name="公式" r:id="rId9" imgW="1294838" imgH="545863"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49" y="3936"/>
                              <a:ext cx="711"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8" name="Object 17"/>
                <p:cNvGraphicFramePr>
                  <a:graphicFrameLocks noChangeAspect="1"/>
                </p:cNvGraphicFramePr>
                <p:nvPr/>
              </p:nvGraphicFramePr>
              <p:xfrm>
                <a:off x="2352" y="1920"/>
                <a:ext cx="215" cy="222"/>
              </p:xfrm>
              <a:graphic>
                <a:graphicData uri="http://schemas.openxmlformats.org/presentationml/2006/ole">
                  <mc:AlternateContent xmlns:mc="http://schemas.openxmlformats.org/markup-compatibility/2006">
                    <mc:Choice xmlns:v="urn:schemas-microsoft-com:vml" Requires="v">
                      <p:oleObj spid="_x0000_s164612" name="公式" r:id="rId11" imgW="393529" imgH="393529" progId="Equation.3">
                        <p:embed/>
                      </p:oleObj>
                    </mc:Choice>
                    <mc:Fallback>
                      <p:oleObj name="公式" r:id="rId11" imgW="393529" imgH="393529"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2" y="1920"/>
                              <a:ext cx="215"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0750" name="Line 18"/>
              <p:cNvSpPr>
                <a:spLocks noChangeShapeType="1"/>
              </p:cNvSpPr>
              <p:nvPr/>
            </p:nvSpPr>
            <p:spPr bwMode="auto">
              <a:xfrm flipV="1">
                <a:off x="3648" y="480"/>
                <a:ext cx="528" cy="115"/>
              </a:xfrm>
              <a:prstGeom prst="line">
                <a:avLst/>
              </a:prstGeom>
              <a:noFill/>
              <a:ln w="19050">
                <a:solidFill>
                  <a:schemeClr val="tx1"/>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0752" name="Group 20"/>
              <p:cNvGrpSpPr>
                <a:grpSpLocks/>
              </p:cNvGrpSpPr>
              <p:nvPr/>
            </p:nvGrpSpPr>
            <p:grpSpPr bwMode="auto">
              <a:xfrm>
                <a:off x="3567" y="620"/>
                <a:ext cx="0" cy="943"/>
                <a:chOff x="3216" y="2263"/>
                <a:chExt cx="0" cy="1049"/>
              </a:xfrm>
            </p:grpSpPr>
            <p:sp>
              <p:nvSpPr>
                <p:cNvPr id="30762" name="Line 21"/>
                <p:cNvSpPr>
                  <a:spLocks noChangeShapeType="1"/>
                </p:cNvSpPr>
                <p:nvPr/>
              </p:nvSpPr>
              <p:spPr bwMode="auto">
                <a:xfrm>
                  <a:off x="3216" y="2263"/>
                  <a:ext cx="0" cy="1049"/>
                </a:xfrm>
                <a:prstGeom prst="line">
                  <a:avLst/>
                </a:prstGeom>
                <a:noFill/>
                <a:ln w="254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3" name="Line 22"/>
                <p:cNvSpPr>
                  <a:spLocks noChangeShapeType="1"/>
                </p:cNvSpPr>
                <p:nvPr/>
              </p:nvSpPr>
              <p:spPr bwMode="auto">
                <a:xfrm flipV="1">
                  <a:off x="3216" y="2784"/>
                  <a:ext cx="0" cy="240"/>
                </a:xfrm>
                <a:prstGeom prst="line">
                  <a:avLst/>
                </a:prstGeom>
                <a:noFill/>
                <a:ln w="19050">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0753" name="Group 23"/>
              <p:cNvGrpSpPr>
                <a:grpSpLocks/>
              </p:cNvGrpSpPr>
              <p:nvPr/>
            </p:nvGrpSpPr>
            <p:grpSpPr bwMode="auto">
              <a:xfrm>
                <a:off x="3339" y="1467"/>
                <a:ext cx="1511" cy="207"/>
                <a:chOff x="2952" y="3206"/>
                <a:chExt cx="1752" cy="230"/>
              </a:xfrm>
            </p:grpSpPr>
            <p:graphicFrame>
              <p:nvGraphicFramePr>
                <p:cNvPr id="30758" name="Object 24"/>
                <p:cNvGraphicFramePr>
                  <a:graphicFrameLocks noChangeAspect="1"/>
                </p:cNvGraphicFramePr>
                <p:nvPr/>
              </p:nvGraphicFramePr>
              <p:xfrm>
                <a:off x="2952" y="3206"/>
                <a:ext cx="194" cy="230"/>
              </p:xfrm>
              <a:graphic>
                <a:graphicData uri="http://schemas.openxmlformats.org/presentationml/2006/ole">
                  <mc:AlternateContent xmlns:mc="http://schemas.openxmlformats.org/markup-compatibility/2006">
                    <mc:Choice xmlns:v="urn:schemas-microsoft-com:vml" Requires="v">
                      <p:oleObj spid="_x0000_s164613" name="公式" r:id="rId13" imgW="355292" imgH="406048" progId="Equation.3">
                        <p:embed/>
                      </p:oleObj>
                    </mc:Choice>
                    <mc:Fallback>
                      <p:oleObj name="公式" r:id="rId13" imgW="355292" imgH="406048" progId="Equation.3">
                        <p:embed/>
                        <p:pic>
                          <p:nvPicPr>
                            <p:cNvPr id="0"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2" y="3206"/>
                              <a:ext cx="194"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759" name="Group 25"/>
                <p:cNvGrpSpPr>
                  <a:grpSpLocks/>
                </p:cNvGrpSpPr>
                <p:nvPr/>
              </p:nvGrpSpPr>
              <p:grpSpPr bwMode="auto">
                <a:xfrm>
                  <a:off x="3216" y="3312"/>
                  <a:ext cx="1488" cy="0"/>
                  <a:chOff x="3216" y="3312"/>
                  <a:chExt cx="1488" cy="0"/>
                </a:xfrm>
              </p:grpSpPr>
              <p:sp>
                <p:nvSpPr>
                  <p:cNvPr id="30760" name="Line 26"/>
                  <p:cNvSpPr>
                    <a:spLocks noChangeShapeType="1"/>
                  </p:cNvSpPr>
                  <p:nvPr/>
                </p:nvSpPr>
                <p:spPr bwMode="auto">
                  <a:xfrm>
                    <a:off x="3216" y="3312"/>
                    <a:ext cx="1488" cy="0"/>
                  </a:xfrm>
                  <a:prstGeom prst="line">
                    <a:avLst/>
                  </a:prstGeom>
                  <a:noFill/>
                  <a:ln w="1905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1" name="Line 27"/>
                  <p:cNvSpPr>
                    <a:spLocks noChangeShapeType="1"/>
                  </p:cNvSpPr>
                  <p:nvPr/>
                </p:nvSpPr>
                <p:spPr bwMode="auto">
                  <a:xfrm flipH="1">
                    <a:off x="3744" y="3312"/>
                    <a:ext cx="288" cy="0"/>
                  </a:xfrm>
                  <a:prstGeom prst="line">
                    <a:avLst/>
                  </a:prstGeom>
                  <a:noFill/>
                  <a:ln w="19050">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aphicFrame>
            <p:nvGraphicFramePr>
              <p:cNvPr id="30754" name="Object 28"/>
              <p:cNvGraphicFramePr>
                <a:graphicFrameLocks noChangeAspect="1"/>
              </p:cNvGraphicFramePr>
              <p:nvPr/>
            </p:nvGraphicFramePr>
            <p:xfrm>
              <a:off x="3451" y="309"/>
              <a:ext cx="186" cy="199"/>
            </p:xfrm>
            <a:graphic>
              <a:graphicData uri="http://schemas.openxmlformats.org/presentationml/2006/ole">
                <mc:AlternateContent xmlns:mc="http://schemas.openxmlformats.org/markup-compatibility/2006">
                  <mc:Choice xmlns:v="urn:schemas-microsoft-com:vml" Requires="v">
                    <p:oleObj spid="_x0000_s164614" name="公式" r:id="rId15" imgW="393529" imgH="393529" progId="Equation.3">
                      <p:embed/>
                    </p:oleObj>
                  </mc:Choice>
                  <mc:Fallback>
                    <p:oleObj name="公式" r:id="rId15" imgW="393529" imgH="393529" progId="Equation.3">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51" y="309"/>
                            <a:ext cx="186"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5" name="Object 29"/>
              <p:cNvGraphicFramePr>
                <a:graphicFrameLocks noChangeAspect="1"/>
              </p:cNvGraphicFramePr>
              <p:nvPr/>
            </p:nvGraphicFramePr>
            <p:xfrm>
              <a:off x="4993" y="1497"/>
              <a:ext cx="184" cy="199"/>
            </p:xfrm>
            <a:graphic>
              <a:graphicData uri="http://schemas.openxmlformats.org/presentationml/2006/ole">
                <mc:AlternateContent xmlns:mc="http://schemas.openxmlformats.org/markup-compatibility/2006">
                  <mc:Choice xmlns:v="urn:schemas-microsoft-com:vml" Requires="v">
                    <p:oleObj spid="_x0000_s164615" name="公式" r:id="rId17" imgW="393529" imgH="393529" progId="Equation.3">
                      <p:embed/>
                    </p:oleObj>
                  </mc:Choice>
                  <mc:Fallback>
                    <p:oleObj name="公式" r:id="rId17" imgW="393529" imgH="393529" progId="Equation.3">
                      <p:embed/>
                      <p:pic>
                        <p:nvPicPr>
                          <p:cNvPr id="0" name="Object 2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93" y="1497"/>
                            <a:ext cx="184"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56" name="Line 30"/>
              <p:cNvSpPr>
                <a:spLocks noChangeShapeType="1"/>
              </p:cNvSpPr>
              <p:nvPr/>
            </p:nvSpPr>
            <p:spPr bwMode="auto">
              <a:xfrm>
                <a:off x="3980" y="1181"/>
                <a:ext cx="166" cy="129"/>
              </a:xfrm>
              <a:prstGeom prst="line">
                <a:avLst/>
              </a:prstGeom>
              <a:noFill/>
              <a:ln w="19050">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0757" name="Object 31"/>
              <p:cNvGraphicFramePr>
                <a:graphicFrameLocks noChangeAspect="1"/>
              </p:cNvGraphicFramePr>
              <p:nvPr/>
            </p:nvGraphicFramePr>
            <p:xfrm>
              <a:off x="3648" y="1680"/>
              <a:ext cx="926" cy="218"/>
            </p:xfrm>
            <a:graphic>
              <a:graphicData uri="http://schemas.openxmlformats.org/presentationml/2006/ole">
                <mc:AlternateContent xmlns:mc="http://schemas.openxmlformats.org/markup-compatibility/2006">
                  <mc:Choice xmlns:v="urn:schemas-microsoft-com:vml" Requires="v">
                    <p:oleObj spid="_x0000_s164616" name="公式" r:id="rId19" imgW="2070100" imgH="546100" progId="Equation.3">
                      <p:embed/>
                    </p:oleObj>
                  </mc:Choice>
                  <mc:Fallback>
                    <p:oleObj name="公式" r:id="rId19" imgW="2070100" imgH="546100" progId="Equation.3">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648" y="1680"/>
                            <a:ext cx="926" cy="218"/>
                          </a:xfrm>
                          <a:prstGeom prst="rect">
                            <a:avLst/>
                          </a:prstGeom>
                          <a:solidFill>
                            <a:srgbClr val="FFFF00"/>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121888" name="Object 32"/>
          <p:cNvGraphicFramePr>
            <a:graphicFrameLocks noChangeAspect="1"/>
          </p:cNvGraphicFramePr>
          <p:nvPr>
            <p:extLst>
              <p:ext uri="{D42A27DB-BD31-4B8C-83A1-F6EECF244321}">
                <p14:modId xmlns:p14="http://schemas.microsoft.com/office/powerpoint/2010/main" val="3116260116"/>
              </p:ext>
            </p:extLst>
          </p:nvPr>
        </p:nvGraphicFramePr>
        <p:xfrm>
          <a:off x="23058" y="419771"/>
          <a:ext cx="2819400" cy="614362"/>
        </p:xfrm>
        <a:graphic>
          <a:graphicData uri="http://schemas.openxmlformats.org/presentationml/2006/ole">
            <mc:AlternateContent xmlns:mc="http://schemas.openxmlformats.org/markup-compatibility/2006">
              <mc:Choice xmlns:v="urn:schemas-microsoft-com:vml" Requires="v">
                <p:oleObj spid="_x0000_s164617" name="公式" r:id="rId21" imgW="1079500" imgH="228600" progId="Equation.3">
                  <p:embed/>
                </p:oleObj>
              </mc:Choice>
              <mc:Fallback>
                <p:oleObj name="公式" r:id="rId21" imgW="1079500" imgH="228600" progId="Equation.3">
                  <p:embed/>
                  <p:pic>
                    <p:nvPicPr>
                      <p:cNvPr id="0" name="Object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058" y="419771"/>
                        <a:ext cx="2819400" cy="614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890" name="Object 34"/>
          <p:cNvGraphicFramePr>
            <a:graphicFrameLocks noChangeAspect="1"/>
          </p:cNvGraphicFramePr>
          <p:nvPr>
            <p:extLst>
              <p:ext uri="{D42A27DB-BD31-4B8C-83A1-F6EECF244321}">
                <p14:modId xmlns:p14="http://schemas.microsoft.com/office/powerpoint/2010/main" val="540109476"/>
              </p:ext>
            </p:extLst>
          </p:nvPr>
        </p:nvGraphicFramePr>
        <p:xfrm>
          <a:off x="2842476" y="396876"/>
          <a:ext cx="2298700" cy="617537"/>
        </p:xfrm>
        <a:graphic>
          <a:graphicData uri="http://schemas.openxmlformats.org/presentationml/2006/ole">
            <mc:AlternateContent xmlns:mc="http://schemas.openxmlformats.org/markup-compatibility/2006">
              <mc:Choice xmlns:v="urn:schemas-microsoft-com:vml" Requires="v">
                <p:oleObj spid="_x0000_s164618" name="公式" r:id="rId23" imgW="850900" imgH="228600" progId="Equation.3">
                  <p:embed/>
                </p:oleObj>
              </mc:Choice>
              <mc:Fallback>
                <p:oleObj name="公式" r:id="rId23" imgW="850900" imgH="228600" progId="Equation.3">
                  <p:embed/>
                  <p:pic>
                    <p:nvPicPr>
                      <p:cNvPr id="0" name="Object 3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842476" y="396876"/>
                        <a:ext cx="2298700" cy="61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1892" name="Object 36"/>
          <p:cNvGraphicFramePr>
            <a:graphicFrameLocks noChangeAspect="1"/>
          </p:cNvGraphicFramePr>
          <p:nvPr>
            <p:extLst>
              <p:ext uri="{D42A27DB-BD31-4B8C-83A1-F6EECF244321}">
                <p14:modId xmlns:p14="http://schemas.microsoft.com/office/powerpoint/2010/main" val="2135432221"/>
              </p:ext>
            </p:extLst>
          </p:nvPr>
        </p:nvGraphicFramePr>
        <p:xfrm>
          <a:off x="325424" y="1821905"/>
          <a:ext cx="3373437" cy="603250"/>
        </p:xfrm>
        <a:graphic>
          <a:graphicData uri="http://schemas.openxmlformats.org/presentationml/2006/ole">
            <mc:AlternateContent xmlns:mc="http://schemas.openxmlformats.org/markup-compatibility/2006">
              <mc:Choice xmlns:v="urn:schemas-microsoft-com:vml" Requires="v">
                <p:oleObj spid="_x0000_s164619" name="Equation" r:id="rId25" imgW="1384300" imgH="241300" progId="Equation.DSMT4">
                  <p:embed/>
                </p:oleObj>
              </mc:Choice>
              <mc:Fallback>
                <p:oleObj name="Equation" r:id="rId25" imgW="1384300" imgH="241300" progId="Equation.DSMT4">
                  <p:embed/>
                  <p:pic>
                    <p:nvPicPr>
                      <p:cNvPr id="0" name="Object 3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25424" y="1821905"/>
                        <a:ext cx="3373437"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95" name="Text Box 39"/>
          <p:cNvSpPr txBox="1">
            <a:spLocks noChangeArrowheads="1"/>
          </p:cNvSpPr>
          <p:nvPr/>
        </p:nvSpPr>
        <p:spPr bwMode="auto">
          <a:xfrm>
            <a:off x="2514600" y="3429000"/>
            <a:ext cx="121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a:latin typeface="Century Schoolbook" pitchFamily="18" charset="0"/>
              </a:rPr>
              <a:t>放热</a:t>
            </a:r>
          </a:p>
        </p:txBody>
      </p:sp>
      <p:sp>
        <p:nvSpPr>
          <p:cNvPr id="121897" name="Text Box 41"/>
          <p:cNvSpPr txBox="1">
            <a:spLocks noChangeArrowheads="1"/>
          </p:cNvSpPr>
          <p:nvPr/>
        </p:nvSpPr>
        <p:spPr bwMode="auto">
          <a:xfrm>
            <a:off x="228600" y="3900488"/>
            <a:ext cx="3962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dirty="0">
                <a:latin typeface="Century Schoolbook" pitchFamily="18" charset="0"/>
              </a:rPr>
              <a:t>或由热力学第一定律</a:t>
            </a:r>
            <a:endParaRPr lang="zh-CN" altLang="en-US" sz="3200" b="1" dirty="0">
              <a:latin typeface="Century Schoolbook" pitchFamily="18" charset="0"/>
            </a:endParaRPr>
          </a:p>
        </p:txBody>
      </p:sp>
      <p:graphicFrame>
        <p:nvGraphicFramePr>
          <p:cNvPr id="121898" name="Object 42"/>
          <p:cNvGraphicFramePr>
            <a:graphicFrameLocks noChangeAspect="1"/>
          </p:cNvGraphicFramePr>
          <p:nvPr/>
        </p:nvGraphicFramePr>
        <p:xfrm>
          <a:off x="3581400" y="3908425"/>
          <a:ext cx="1828800" cy="512763"/>
        </p:xfrm>
        <a:graphic>
          <a:graphicData uri="http://schemas.openxmlformats.org/presentationml/2006/ole">
            <mc:AlternateContent xmlns:mc="http://schemas.openxmlformats.org/markup-compatibility/2006">
              <mc:Choice xmlns:v="urn:schemas-microsoft-com:vml" Requires="v">
                <p:oleObj spid="_x0000_s164620" name="公式" r:id="rId27" imgW="736600" imgH="203200" progId="Equation.3">
                  <p:embed/>
                </p:oleObj>
              </mc:Choice>
              <mc:Fallback>
                <p:oleObj name="公式" r:id="rId27" imgW="736600" imgH="203200" progId="Equation.3">
                  <p:embed/>
                  <p:pic>
                    <p:nvPicPr>
                      <p:cNvPr id="0" name="Object 4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581400" y="3908425"/>
                        <a:ext cx="1828800"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900" name="Text Box 44"/>
          <p:cNvSpPr txBox="1">
            <a:spLocks noChangeArrowheads="1"/>
          </p:cNvSpPr>
          <p:nvPr/>
        </p:nvSpPr>
        <p:spPr bwMode="auto">
          <a:xfrm>
            <a:off x="228600" y="4876800"/>
            <a:ext cx="3505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800" i="1">
                <a:solidFill>
                  <a:schemeClr val="folHlink"/>
                </a:solidFill>
                <a:latin typeface="Century Schoolbook" pitchFamily="18" charset="0"/>
              </a:rPr>
              <a:t>C</a:t>
            </a:r>
            <a:r>
              <a:rPr lang="en-US" altLang="zh-CN" sz="2800">
                <a:solidFill>
                  <a:schemeClr val="folHlink"/>
                </a:solidFill>
                <a:latin typeface="Symbol" pitchFamily="18" charset="2"/>
              </a:rPr>
              <a:t>-</a:t>
            </a:r>
            <a:r>
              <a:rPr lang="en-US" altLang="zh-CN" sz="2800" i="1">
                <a:solidFill>
                  <a:schemeClr val="folHlink"/>
                </a:solidFill>
                <a:latin typeface="Century Schoolbook" pitchFamily="18" charset="0"/>
              </a:rPr>
              <a:t>A</a:t>
            </a:r>
            <a:r>
              <a:rPr lang="zh-CN" altLang="en-US" sz="2800" b="1">
                <a:solidFill>
                  <a:schemeClr val="folHlink"/>
                </a:solidFill>
                <a:latin typeface="Century Schoolbook" pitchFamily="18" charset="0"/>
              </a:rPr>
              <a:t>为等容升压过程</a:t>
            </a:r>
            <a:endParaRPr lang="zh-CN" altLang="en-US" sz="3200" b="1">
              <a:solidFill>
                <a:schemeClr val="folHlink"/>
              </a:solidFill>
              <a:latin typeface="Century Schoolbook" pitchFamily="18" charset="0"/>
            </a:endParaRPr>
          </a:p>
        </p:txBody>
      </p:sp>
      <p:graphicFrame>
        <p:nvGraphicFramePr>
          <p:cNvPr id="121901" name="Object 45"/>
          <p:cNvGraphicFramePr>
            <a:graphicFrameLocks noChangeAspect="1"/>
          </p:cNvGraphicFramePr>
          <p:nvPr/>
        </p:nvGraphicFramePr>
        <p:xfrm>
          <a:off x="3810000" y="4800600"/>
          <a:ext cx="1371600" cy="649288"/>
        </p:xfrm>
        <a:graphic>
          <a:graphicData uri="http://schemas.openxmlformats.org/presentationml/2006/ole">
            <mc:AlternateContent xmlns:mc="http://schemas.openxmlformats.org/markup-compatibility/2006">
              <mc:Choice xmlns:v="urn:schemas-microsoft-com:vml" Requires="v">
                <p:oleObj spid="_x0000_s164621" name="公式" r:id="rId29" imgW="495085" imgH="228501" progId="Equation.3">
                  <p:embed/>
                </p:oleObj>
              </mc:Choice>
              <mc:Fallback>
                <p:oleObj name="公式" r:id="rId29" imgW="495085" imgH="228501" progId="Equation.3">
                  <p:embed/>
                  <p:pic>
                    <p:nvPicPr>
                      <p:cNvPr id="0" name="Object 4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810000" y="4800600"/>
                        <a:ext cx="1371600" cy="649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902" name="Object 46"/>
          <p:cNvGraphicFramePr>
            <a:graphicFrameLocks noChangeAspect="1"/>
          </p:cNvGraphicFramePr>
          <p:nvPr/>
        </p:nvGraphicFramePr>
        <p:xfrm>
          <a:off x="420688" y="5516563"/>
          <a:ext cx="1460500" cy="469900"/>
        </p:xfrm>
        <a:graphic>
          <a:graphicData uri="http://schemas.openxmlformats.org/presentationml/2006/ole">
            <mc:AlternateContent xmlns:mc="http://schemas.openxmlformats.org/markup-compatibility/2006">
              <mc:Choice xmlns:v="urn:schemas-microsoft-com:vml" Requires="v">
                <p:oleObj spid="_x0000_s164622" name="Equation" r:id="rId31" imgW="723586" imgH="228501" progId="Equation.DSMT4">
                  <p:embed/>
                </p:oleObj>
              </mc:Choice>
              <mc:Fallback>
                <p:oleObj name="Equation" r:id="rId31" imgW="723586" imgH="228501" progId="Equation.DSMT4">
                  <p:embed/>
                  <p:pic>
                    <p:nvPicPr>
                      <p:cNvPr id="0" name="Object 4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20688" y="5516563"/>
                        <a:ext cx="14605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904" name="Text Box 48"/>
          <p:cNvSpPr txBox="1">
            <a:spLocks noChangeArrowheads="1"/>
          </p:cNvSpPr>
          <p:nvPr/>
        </p:nvSpPr>
        <p:spPr bwMode="auto">
          <a:xfrm>
            <a:off x="5715000" y="4343400"/>
            <a:ext cx="121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a:latin typeface="Century Schoolbook" pitchFamily="18" charset="0"/>
              </a:rPr>
              <a:t>放热</a:t>
            </a:r>
          </a:p>
        </p:txBody>
      </p:sp>
      <p:graphicFrame>
        <p:nvGraphicFramePr>
          <p:cNvPr id="121905" name="Object 49"/>
          <p:cNvGraphicFramePr>
            <a:graphicFrameLocks noChangeAspect="1"/>
          </p:cNvGraphicFramePr>
          <p:nvPr/>
        </p:nvGraphicFramePr>
        <p:xfrm>
          <a:off x="1908175" y="5500688"/>
          <a:ext cx="2405063" cy="592137"/>
        </p:xfrm>
        <a:graphic>
          <a:graphicData uri="http://schemas.openxmlformats.org/presentationml/2006/ole">
            <mc:AlternateContent xmlns:mc="http://schemas.openxmlformats.org/markup-compatibility/2006">
              <mc:Choice xmlns:v="urn:schemas-microsoft-com:vml" Requires="v">
                <p:oleObj spid="_x0000_s164623" name="Equation" r:id="rId33" imgW="1104900" imgH="241300" progId="Equation.DSMT4">
                  <p:embed/>
                </p:oleObj>
              </mc:Choice>
              <mc:Fallback>
                <p:oleObj name="Equation" r:id="rId33" imgW="1104900" imgH="241300" progId="Equation.DSMT4">
                  <p:embed/>
                  <p:pic>
                    <p:nvPicPr>
                      <p:cNvPr id="0" name="Object 4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908175" y="5500688"/>
                        <a:ext cx="2405063"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906" name="Text Box 50"/>
          <p:cNvSpPr txBox="1">
            <a:spLocks noChangeArrowheads="1"/>
          </p:cNvSpPr>
          <p:nvPr/>
        </p:nvSpPr>
        <p:spPr bwMode="auto">
          <a:xfrm>
            <a:off x="6165304" y="6150248"/>
            <a:ext cx="114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a:latin typeface="Century Schoolbook" pitchFamily="18" charset="0"/>
              </a:rPr>
              <a:t>吸热</a:t>
            </a:r>
          </a:p>
        </p:txBody>
      </p:sp>
      <p:graphicFrame>
        <p:nvGraphicFramePr>
          <p:cNvPr id="121908" name="Object 52"/>
          <p:cNvGraphicFramePr>
            <a:graphicFrameLocks noChangeAspect="1"/>
          </p:cNvGraphicFramePr>
          <p:nvPr>
            <p:extLst>
              <p:ext uri="{D42A27DB-BD31-4B8C-83A1-F6EECF244321}">
                <p14:modId xmlns:p14="http://schemas.microsoft.com/office/powerpoint/2010/main" val="1712727207"/>
              </p:ext>
            </p:extLst>
          </p:nvPr>
        </p:nvGraphicFramePr>
        <p:xfrm>
          <a:off x="4427538" y="5301208"/>
          <a:ext cx="3735387" cy="1431925"/>
        </p:xfrm>
        <a:graphic>
          <a:graphicData uri="http://schemas.openxmlformats.org/presentationml/2006/ole">
            <mc:AlternateContent xmlns:mc="http://schemas.openxmlformats.org/markup-compatibility/2006">
              <mc:Choice xmlns:v="urn:schemas-microsoft-com:vml" Requires="v">
                <p:oleObj spid="_x0000_s164624" name="Equation" r:id="rId35" imgW="1726920" imgH="596880" progId="Equation.DSMT4">
                  <p:embed/>
                </p:oleObj>
              </mc:Choice>
              <mc:Fallback>
                <p:oleObj name="Equation" r:id="rId35" imgW="1726920" imgH="596880" progId="Equation.DSMT4">
                  <p:embed/>
                  <p:pic>
                    <p:nvPicPr>
                      <p:cNvPr id="0" name="Object 52"/>
                      <p:cNvPicPr>
                        <a:picLocks noChangeAspect="1" noChangeArrowheads="1"/>
                      </p:cNvPicPr>
                      <p:nvPr/>
                    </p:nvPicPr>
                    <p:blipFill>
                      <a:blip r:embed="rId36"/>
                      <a:srcRect/>
                      <a:stretch>
                        <a:fillRect/>
                      </a:stretch>
                    </p:blipFill>
                    <p:spPr bwMode="auto">
                      <a:xfrm>
                        <a:off x="4427538" y="5301208"/>
                        <a:ext cx="3735387"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 name="Object 52"/>
          <p:cNvGraphicFramePr>
            <a:graphicFrameLocks noChangeAspect="1"/>
          </p:cNvGraphicFramePr>
          <p:nvPr>
            <p:extLst>
              <p:ext uri="{D42A27DB-BD31-4B8C-83A1-F6EECF244321}">
                <p14:modId xmlns:p14="http://schemas.microsoft.com/office/powerpoint/2010/main" val="4021113580"/>
              </p:ext>
            </p:extLst>
          </p:nvPr>
        </p:nvGraphicFramePr>
        <p:xfrm>
          <a:off x="755576" y="2429123"/>
          <a:ext cx="3735387" cy="1431925"/>
        </p:xfrm>
        <a:graphic>
          <a:graphicData uri="http://schemas.openxmlformats.org/presentationml/2006/ole">
            <mc:AlternateContent xmlns:mc="http://schemas.openxmlformats.org/markup-compatibility/2006">
              <mc:Choice xmlns:v="urn:schemas-microsoft-com:vml" Requires="v">
                <p:oleObj spid="_x0000_s164625" name="Equation" r:id="rId37" imgW="1726920" imgH="596880" progId="Equation.DSMT4">
                  <p:embed/>
                </p:oleObj>
              </mc:Choice>
              <mc:Fallback>
                <p:oleObj name="Equation" r:id="rId37" imgW="1726920" imgH="596880" progId="Equation.DSMT4">
                  <p:embed/>
                  <p:pic>
                    <p:nvPicPr>
                      <p:cNvPr id="121908" name="Object 52"/>
                      <p:cNvPicPr>
                        <a:picLocks noChangeAspect="1" noChangeArrowheads="1"/>
                      </p:cNvPicPr>
                      <p:nvPr/>
                    </p:nvPicPr>
                    <p:blipFill>
                      <a:blip r:embed="rId38"/>
                      <a:srcRect/>
                      <a:stretch>
                        <a:fillRect/>
                      </a:stretch>
                    </p:blipFill>
                    <p:spPr bwMode="auto">
                      <a:xfrm>
                        <a:off x="755576" y="2429123"/>
                        <a:ext cx="3735387"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 name="Object 52"/>
          <p:cNvGraphicFramePr>
            <a:graphicFrameLocks noChangeAspect="1"/>
          </p:cNvGraphicFramePr>
          <p:nvPr>
            <p:extLst>
              <p:ext uri="{D42A27DB-BD31-4B8C-83A1-F6EECF244321}">
                <p14:modId xmlns:p14="http://schemas.microsoft.com/office/powerpoint/2010/main" val="3068985903"/>
              </p:ext>
            </p:extLst>
          </p:nvPr>
        </p:nvGraphicFramePr>
        <p:xfrm>
          <a:off x="387893" y="1108127"/>
          <a:ext cx="4586288" cy="487363"/>
        </p:xfrm>
        <a:graphic>
          <a:graphicData uri="http://schemas.openxmlformats.org/presentationml/2006/ole">
            <mc:AlternateContent xmlns:mc="http://schemas.openxmlformats.org/markup-compatibility/2006">
              <mc:Choice xmlns:v="urn:schemas-microsoft-com:vml" Requires="v">
                <p:oleObj spid="_x0000_s164626" name="Equation" r:id="rId39" imgW="2120760" imgH="203040" progId="Equation.DSMT4">
                  <p:embed/>
                </p:oleObj>
              </mc:Choice>
              <mc:Fallback>
                <p:oleObj name="Equation" r:id="rId39" imgW="2120760" imgH="203040" progId="Equation.DSMT4">
                  <p:embed/>
                  <p:pic>
                    <p:nvPicPr>
                      <p:cNvPr id="121908" name="Object 52"/>
                      <p:cNvPicPr>
                        <a:picLocks noChangeAspect="1" noChangeArrowheads="1"/>
                      </p:cNvPicPr>
                      <p:nvPr/>
                    </p:nvPicPr>
                    <p:blipFill>
                      <a:blip r:embed="rId40"/>
                      <a:srcRect/>
                      <a:stretch>
                        <a:fillRect/>
                      </a:stretch>
                    </p:blipFill>
                    <p:spPr bwMode="auto">
                      <a:xfrm>
                        <a:off x="387893" y="1108127"/>
                        <a:ext cx="4586288" cy="4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 name="Object 52"/>
          <p:cNvGraphicFramePr>
            <a:graphicFrameLocks noChangeAspect="1"/>
          </p:cNvGraphicFramePr>
          <p:nvPr>
            <p:extLst>
              <p:ext uri="{D42A27DB-BD31-4B8C-83A1-F6EECF244321}">
                <p14:modId xmlns:p14="http://schemas.microsoft.com/office/powerpoint/2010/main" val="11379699"/>
              </p:ext>
            </p:extLst>
          </p:nvPr>
        </p:nvGraphicFramePr>
        <p:xfrm>
          <a:off x="3860279" y="4365104"/>
          <a:ext cx="1647825" cy="427038"/>
        </p:xfrm>
        <a:graphic>
          <a:graphicData uri="http://schemas.openxmlformats.org/presentationml/2006/ole">
            <mc:AlternateContent xmlns:mc="http://schemas.openxmlformats.org/markup-compatibility/2006">
              <mc:Choice xmlns:v="urn:schemas-microsoft-com:vml" Requires="v">
                <p:oleObj spid="_x0000_s164627" name="Equation" r:id="rId41" imgW="761760" imgH="177480" progId="Equation.DSMT4">
                  <p:embed/>
                </p:oleObj>
              </mc:Choice>
              <mc:Fallback>
                <p:oleObj name="Equation" r:id="rId41" imgW="761760" imgH="177480" progId="Equation.DSMT4">
                  <p:embed/>
                  <p:pic>
                    <p:nvPicPr>
                      <p:cNvPr id="53" name="Object 52"/>
                      <p:cNvPicPr>
                        <a:picLocks noChangeAspect="1" noChangeArrowheads="1"/>
                      </p:cNvPicPr>
                      <p:nvPr/>
                    </p:nvPicPr>
                    <p:blipFill>
                      <a:blip r:embed="rId42"/>
                      <a:srcRect/>
                      <a:stretch>
                        <a:fillRect/>
                      </a:stretch>
                    </p:blipFill>
                    <p:spPr bwMode="auto">
                      <a:xfrm>
                        <a:off x="3860279" y="4365104"/>
                        <a:ext cx="164782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 name="Object 52"/>
          <p:cNvGraphicFramePr>
            <a:graphicFrameLocks noChangeAspect="1"/>
          </p:cNvGraphicFramePr>
          <p:nvPr>
            <p:extLst>
              <p:ext uri="{D42A27DB-BD31-4B8C-83A1-F6EECF244321}">
                <p14:modId xmlns:p14="http://schemas.microsoft.com/office/powerpoint/2010/main" val="1839106680"/>
              </p:ext>
            </p:extLst>
          </p:nvPr>
        </p:nvGraphicFramePr>
        <p:xfrm>
          <a:off x="7105238" y="352302"/>
          <a:ext cx="1427162" cy="1008062"/>
        </p:xfrm>
        <a:graphic>
          <a:graphicData uri="http://schemas.openxmlformats.org/presentationml/2006/ole">
            <mc:AlternateContent xmlns:mc="http://schemas.openxmlformats.org/markup-compatibility/2006">
              <mc:Choice xmlns:v="urn:schemas-microsoft-com:vml" Requires="v">
                <p:oleObj spid="_x0000_s164628" name="Equation" r:id="rId43" imgW="660240" imgH="419040" progId="Equation.DSMT4">
                  <p:embed/>
                </p:oleObj>
              </mc:Choice>
              <mc:Fallback>
                <p:oleObj name="Equation" r:id="rId43" imgW="660240" imgH="419040" progId="Equation.DSMT4">
                  <p:embed/>
                  <p:pic>
                    <p:nvPicPr>
                      <p:cNvPr id="56" name="Object 52"/>
                      <p:cNvPicPr>
                        <a:picLocks noChangeAspect="1" noChangeArrowheads="1"/>
                      </p:cNvPicPr>
                      <p:nvPr/>
                    </p:nvPicPr>
                    <p:blipFill>
                      <a:blip r:embed="rId44"/>
                      <a:srcRect/>
                      <a:stretch>
                        <a:fillRect/>
                      </a:stretch>
                    </p:blipFill>
                    <p:spPr bwMode="auto">
                      <a:xfrm>
                        <a:off x="7105238" y="352302"/>
                        <a:ext cx="1427162"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882" name="Object 2"/>
          <p:cNvGraphicFramePr>
            <a:graphicFrameLocks noChangeAspect="1"/>
          </p:cNvGraphicFramePr>
          <p:nvPr/>
        </p:nvGraphicFramePr>
        <p:xfrm>
          <a:off x="228600" y="4533900"/>
          <a:ext cx="1854200" cy="571500"/>
        </p:xfrm>
        <a:graphic>
          <a:graphicData uri="http://schemas.openxmlformats.org/presentationml/2006/ole">
            <mc:AlternateContent xmlns:mc="http://schemas.openxmlformats.org/markup-compatibility/2006">
              <mc:Choice xmlns:v="urn:schemas-microsoft-com:vml" Requires="v">
                <p:oleObj spid="_x0000_s177355" name="公式" r:id="rId3" imgW="1854200" imgH="571500" progId="Equation.3">
                  <p:embed/>
                </p:oleObj>
              </mc:Choice>
              <mc:Fallback>
                <p:oleObj name="公式" r:id="rId3" imgW="1854200" imgH="571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4533900"/>
                        <a:ext cx="18542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750" name="Group 6"/>
          <p:cNvGrpSpPr>
            <a:grpSpLocks/>
          </p:cNvGrpSpPr>
          <p:nvPr/>
        </p:nvGrpSpPr>
        <p:grpSpPr bwMode="auto">
          <a:xfrm>
            <a:off x="4479925" y="1828800"/>
            <a:ext cx="4664075" cy="3657600"/>
            <a:chOff x="2822" y="96"/>
            <a:chExt cx="2938" cy="2304"/>
          </a:xfrm>
        </p:grpSpPr>
        <p:grpSp>
          <p:nvGrpSpPr>
            <p:cNvPr id="31762" name="Group 7"/>
            <p:cNvGrpSpPr>
              <a:grpSpLocks/>
            </p:cNvGrpSpPr>
            <p:nvPr/>
          </p:nvGrpSpPr>
          <p:grpSpPr bwMode="auto">
            <a:xfrm>
              <a:off x="3424" y="1390"/>
              <a:ext cx="298" cy="961"/>
              <a:chOff x="3050" y="3120"/>
              <a:chExt cx="346" cy="1070"/>
            </a:xfrm>
          </p:grpSpPr>
          <p:sp>
            <p:nvSpPr>
              <p:cNvPr id="31789" name="Line 8"/>
              <p:cNvSpPr>
                <a:spLocks noChangeShapeType="1"/>
              </p:cNvSpPr>
              <p:nvPr/>
            </p:nvSpPr>
            <p:spPr bwMode="auto">
              <a:xfrm>
                <a:off x="3216" y="3120"/>
                <a:ext cx="12" cy="759"/>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1790" name="Object 9"/>
              <p:cNvGraphicFramePr>
                <a:graphicFrameLocks noChangeAspect="1"/>
              </p:cNvGraphicFramePr>
              <p:nvPr/>
            </p:nvGraphicFramePr>
            <p:xfrm>
              <a:off x="3050" y="3974"/>
              <a:ext cx="346" cy="216"/>
            </p:xfrm>
            <a:graphic>
              <a:graphicData uri="http://schemas.openxmlformats.org/presentationml/2006/ole">
                <mc:AlternateContent xmlns:mc="http://schemas.openxmlformats.org/markup-compatibility/2006">
                  <mc:Choice xmlns:v="urn:schemas-microsoft-com:vml" Requires="v">
                    <p:oleObj spid="_x0000_s177356" name="公式" r:id="rId5" imgW="634725" imgH="380835" progId="Equation.3">
                      <p:embed/>
                    </p:oleObj>
                  </mc:Choice>
                  <mc:Fallback>
                    <p:oleObj name="公式" r:id="rId5" imgW="634725" imgH="380835"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0" y="3974"/>
                            <a:ext cx="346"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1763" name="Group 10"/>
            <p:cNvGrpSpPr>
              <a:grpSpLocks/>
            </p:cNvGrpSpPr>
            <p:nvPr/>
          </p:nvGrpSpPr>
          <p:grpSpPr bwMode="auto">
            <a:xfrm>
              <a:off x="4785" y="1569"/>
              <a:ext cx="120" cy="785"/>
              <a:chOff x="4629" y="3319"/>
              <a:chExt cx="139" cy="874"/>
            </a:xfrm>
          </p:grpSpPr>
          <p:sp>
            <p:nvSpPr>
              <p:cNvPr id="31787" name="Line 11"/>
              <p:cNvSpPr>
                <a:spLocks noChangeShapeType="1"/>
              </p:cNvSpPr>
              <p:nvPr/>
            </p:nvSpPr>
            <p:spPr bwMode="auto">
              <a:xfrm>
                <a:off x="4697" y="3319"/>
                <a:ext cx="9" cy="56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1788" name="Object 12"/>
              <p:cNvGraphicFramePr>
                <a:graphicFrameLocks noChangeAspect="1"/>
              </p:cNvGraphicFramePr>
              <p:nvPr/>
            </p:nvGraphicFramePr>
            <p:xfrm>
              <a:off x="4629" y="3977"/>
              <a:ext cx="139" cy="216"/>
            </p:xfrm>
            <a:graphic>
              <a:graphicData uri="http://schemas.openxmlformats.org/presentationml/2006/ole">
                <mc:AlternateContent xmlns:mc="http://schemas.openxmlformats.org/markup-compatibility/2006">
                  <mc:Choice xmlns:v="urn:schemas-microsoft-com:vml" Requires="v">
                    <p:oleObj spid="_x0000_s177357" name="公式" r:id="rId7" imgW="253890" imgH="380835" progId="Equation.3">
                      <p:embed/>
                    </p:oleObj>
                  </mc:Choice>
                  <mc:Fallback>
                    <p:oleObj name="公式" r:id="rId7" imgW="253890" imgH="380835"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29" y="3977"/>
                            <a:ext cx="139"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1764" name="Group 13"/>
            <p:cNvGrpSpPr>
              <a:grpSpLocks/>
            </p:cNvGrpSpPr>
            <p:nvPr/>
          </p:nvGrpSpPr>
          <p:grpSpPr bwMode="auto">
            <a:xfrm>
              <a:off x="2822" y="253"/>
              <a:ext cx="2938" cy="2147"/>
              <a:chOff x="2352" y="1855"/>
              <a:chExt cx="3408" cy="2389"/>
            </a:xfrm>
          </p:grpSpPr>
          <p:sp>
            <p:nvSpPr>
              <p:cNvPr id="31782" name="Line 14"/>
              <p:cNvSpPr>
                <a:spLocks noChangeShapeType="1"/>
              </p:cNvSpPr>
              <p:nvPr/>
            </p:nvSpPr>
            <p:spPr bwMode="auto">
              <a:xfrm>
                <a:off x="2736" y="3879"/>
                <a:ext cx="2464"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3" name="Line 15"/>
              <p:cNvSpPr>
                <a:spLocks noChangeShapeType="1"/>
              </p:cNvSpPr>
              <p:nvPr/>
            </p:nvSpPr>
            <p:spPr bwMode="auto">
              <a:xfrm flipV="1">
                <a:off x="2736" y="1855"/>
                <a:ext cx="0" cy="2024"/>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1784" name="Object 16"/>
              <p:cNvGraphicFramePr>
                <a:graphicFrameLocks noChangeAspect="1"/>
              </p:cNvGraphicFramePr>
              <p:nvPr/>
            </p:nvGraphicFramePr>
            <p:xfrm>
              <a:off x="2496" y="3936"/>
              <a:ext cx="139" cy="165"/>
            </p:xfrm>
            <a:graphic>
              <a:graphicData uri="http://schemas.openxmlformats.org/presentationml/2006/ole">
                <mc:AlternateContent xmlns:mc="http://schemas.openxmlformats.org/markup-compatibility/2006">
                  <mc:Choice xmlns:v="urn:schemas-microsoft-com:vml" Requires="v">
                    <p:oleObj spid="_x0000_s177358" name="公式" r:id="rId9" imgW="253890" imgH="291973" progId="Equation.3">
                      <p:embed/>
                    </p:oleObj>
                  </mc:Choice>
                  <mc:Fallback>
                    <p:oleObj name="公式" r:id="rId9" imgW="253890" imgH="291973"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6" y="3936"/>
                            <a:ext cx="139" cy="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85" name="Object 17"/>
              <p:cNvGraphicFramePr>
                <a:graphicFrameLocks noChangeAspect="1"/>
              </p:cNvGraphicFramePr>
              <p:nvPr/>
            </p:nvGraphicFramePr>
            <p:xfrm>
              <a:off x="5049" y="3936"/>
              <a:ext cx="711" cy="308"/>
            </p:xfrm>
            <a:graphic>
              <a:graphicData uri="http://schemas.openxmlformats.org/presentationml/2006/ole">
                <mc:AlternateContent xmlns:mc="http://schemas.openxmlformats.org/markup-compatibility/2006">
                  <mc:Choice xmlns:v="urn:schemas-microsoft-com:vml" Requires="v">
                    <p:oleObj spid="_x0000_s177359" name="公式" r:id="rId11" imgW="1294838" imgH="545863" progId="Equation.3">
                      <p:embed/>
                    </p:oleObj>
                  </mc:Choice>
                  <mc:Fallback>
                    <p:oleObj name="公式" r:id="rId11" imgW="1294838" imgH="545863"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49" y="3936"/>
                            <a:ext cx="711"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86" name="Object 18"/>
              <p:cNvGraphicFramePr>
                <a:graphicFrameLocks noChangeAspect="1"/>
              </p:cNvGraphicFramePr>
              <p:nvPr/>
            </p:nvGraphicFramePr>
            <p:xfrm>
              <a:off x="2352" y="1920"/>
              <a:ext cx="215" cy="222"/>
            </p:xfrm>
            <a:graphic>
              <a:graphicData uri="http://schemas.openxmlformats.org/presentationml/2006/ole">
                <mc:AlternateContent xmlns:mc="http://schemas.openxmlformats.org/markup-compatibility/2006">
                  <mc:Choice xmlns:v="urn:schemas-microsoft-com:vml" Requires="v">
                    <p:oleObj spid="_x0000_s177360" name="公式" r:id="rId13" imgW="393529" imgH="393529" progId="Equation.3">
                      <p:embed/>
                    </p:oleObj>
                  </mc:Choice>
                  <mc:Fallback>
                    <p:oleObj name="公式" r:id="rId13" imgW="393529" imgH="393529"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2" y="1920"/>
                            <a:ext cx="215"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1765" name="Line 19"/>
            <p:cNvSpPr>
              <a:spLocks noChangeShapeType="1"/>
            </p:cNvSpPr>
            <p:nvPr/>
          </p:nvSpPr>
          <p:spPr bwMode="auto">
            <a:xfrm flipV="1">
              <a:off x="3648" y="480"/>
              <a:ext cx="528" cy="115"/>
            </a:xfrm>
            <a:prstGeom prst="line">
              <a:avLst/>
            </a:prstGeom>
            <a:noFill/>
            <a:ln w="19050">
              <a:solidFill>
                <a:schemeClr val="tx1"/>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767" name="Group 21"/>
            <p:cNvGrpSpPr>
              <a:grpSpLocks/>
            </p:cNvGrpSpPr>
            <p:nvPr/>
          </p:nvGrpSpPr>
          <p:grpSpPr bwMode="auto">
            <a:xfrm>
              <a:off x="3567" y="620"/>
              <a:ext cx="0" cy="943"/>
              <a:chOff x="3216" y="2263"/>
              <a:chExt cx="0" cy="1049"/>
            </a:xfrm>
          </p:grpSpPr>
          <p:sp>
            <p:nvSpPr>
              <p:cNvPr id="31780" name="Line 22"/>
              <p:cNvSpPr>
                <a:spLocks noChangeShapeType="1"/>
              </p:cNvSpPr>
              <p:nvPr/>
            </p:nvSpPr>
            <p:spPr bwMode="auto">
              <a:xfrm>
                <a:off x="3216" y="2263"/>
                <a:ext cx="0" cy="1049"/>
              </a:xfrm>
              <a:prstGeom prst="line">
                <a:avLst/>
              </a:prstGeom>
              <a:noFill/>
              <a:ln w="254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1" name="Line 23"/>
              <p:cNvSpPr>
                <a:spLocks noChangeShapeType="1"/>
              </p:cNvSpPr>
              <p:nvPr/>
            </p:nvSpPr>
            <p:spPr bwMode="auto">
              <a:xfrm flipV="1">
                <a:off x="3216" y="2784"/>
                <a:ext cx="0" cy="240"/>
              </a:xfrm>
              <a:prstGeom prst="line">
                <a:avLst/>
              </a:prstGeom>
              <a:noFill/>
              <a:ln w="19050">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1768" name="Group 24"/>
            <p:cNvGrpSpPr>
              <a:grpSpLocks/>
            </p:cNvGrpSpPr>
            <p:nvPr/>
          </p:nvGrpSpPr>
          <p:grpSpPr bwMode="auto">
            <a:xfrm>
              <a:off x="3339" y="1467"/>
              <a:ext cx="1511" cy="207"/>
              <a:chOff x="2952" y="3206"/>
              <a:chExt cx="1752" cy="230"/>
            </a:xfrm>
          </p:grpSpPr>
          <p:graphicFrame>
            <p:nvGraphicFramePr>
              <p:cNvPr id="31776" name="Object 25"/>
              <p:cNvGraphicFramePr>
                <a:graphicFrameLocks noChangeAspect="1"/>
              </p:cNvGraphicFramePr>
              <p:nvPr/>
            </p:nvGraphicFramePr>
            <p:xfrm>
              <a:off x="2952" y="3206"/>
              <a:ext cx="194" cy="230"/>
            </p:xfrm>
            <a:graphic>
              <a:graphicData uri="http://schemas.openxmlformats.org/presentationml/2006/ole">
                <mc:AlternateContent xmlns:mc="http://schemas.openxmlformats.org/markup-compatibility/2006">
                  <mc:Choice xmlns:v="urn:schemas-microsoft-com:vml" Requires="v">
                    <p:oleObj spid="_x0000_s177361" name="公式" r:id="rId15" imgW="355292" imgH="406048" progId="Equation.3">
                      <p:embed/>
                    </p:oleObj>
                  </mc:Choice>
                  <mc:Fallback>
                    <p:oleObj name="公式" r:id="rId15" imgW="355292" imgH="406048" progId="Equation.3">
                      <p:embed/>
                      <p:pic>
                        <p:nvPicPr>
                          <p:cNvPr id="0"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52" y="3206"/>
                            <a:ext cx="194"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777" name="Group 26"/>
              <p:cNvGrpSpPr>
                <a:grpSpLocks/>
              </p:cNvGrpSpPr>
              <p:nvPr/>
            </p:nvGrpSpPr>
            <p:grpSpPr bwMode="auto">
              <a:xfrm>
                <a:off x="3216" y="3312"/>
                <a:ext cx="1488" cy="0"/>
                <a:chOff x="3216" y="3312"/>
                <a:chExt cx="1488" cy="0"/>
              </a:xfrm>
            </p:grpSpPr>
            <p:sp>
              <p:nvSpPr>
                <p:cNvPr id="31778" name="Line 27"/>
                <p:cNvSpPr>
                  <a:spLocks noChangeShapeType="1"/>
                </p:cNvSpPr>
                <p:nvPr/>
              </p:nvSpPr>
              <p:spPr bwMode="auto">
                <a:xfrm>
                  <a:off x="3216" y="3312"/>
                  <a:ext cx="1488" cy="0"/>
                </a:xfrm>
                <a:prstGeom prst="line">
                  <a:avLst/>
                </a:prstGeom>
                <a:noFill/>
                <a:ln w="19050">
                  <a:solidFill>
                    <a:schemeClr val="accent2"/>
                  </a:solidFill>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9" name="Line 28"/>
                <p:cNvSpPr>
                  <a:spLocks noChangeShapeType="1"/>
                </p:cNvSpPr>
                <p:nvPr/>
              </p:nvSpPr>
              <p:spPr bwMode="auto">
                <a:xfrm flipH="1">
                  <a:off x="3744" y="3312"/>
                  <a:ext cx="288" cy="0"/>
                </a:xfrm>
                <a:prstGeom prst="line">
                  <a:avLst/>
                </a:prstGeom>
                <a:noFill/>
                <a:ln w="19050">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1769" name="Group 29"/>
            <p:cNvGrpSpPr>
              <a:grpSpLocks/>
            </p:cNvGrpSpPr>
            <p:nvPr/>
          </p:nvGrpSpPr>
          <p:grpSpPr bwMode="auto">
            <a:xfrm>
              <a:off x="3451" y="96"/>
              <a:ext cx="1726" cy="1600"/>
              <a:chOff x="3082" y="1680"/>
              <a:chExt cx="2002" cy="1781"/>
            </a:xfrm>
          </p:grpSpPr>
          <p:graphicFrame>
            <p:nvGraphicFramePr>
              <p:cNvPr id="31771" name="Object 30"/>
              <p:cNvGraphicFramePr>
                <a:graphicFrameLocks noChangeAspect="1"/>
              </p:cNvGraphicFramePr>
              <p:nvPr/>
            </p:nvGraphicFramePr>
            <p:xfrm>
              <a:off x="3082" y="1917"/>
              <a:ext cx="216" cy="222"/>
            </p:xfrm>
            <a:graphic>
              <a:graphicData uri="http://schemas.openxmlformats.org/presentationml/2006/ole">
                <mc:AlternateContent xmlns:mc="http://schemas.openxmlformats.org/markup-compatibility/2006">
                  <mc:Choice xmlns:v="urn:schemas-microsoft-com:vml" Requires="v">
                    <p:oleObj spid="_x0000_s177362" name="公式" r:id="rId17" imgW="393529" imgH="393529" progId="Equation.3">
                      <p:embed/>
                    </p:oleObj>
                  </mc:Choice>
                  <mc:Fallback>
                    <p:oleObj name="公式" r:id="rId17" imgW="393529" imgH="393529" progId="Equation.3">
                      <p:embed/>
                      <p:pic>
                        <p:nvPicPr>
                          <p:cNvPr id="0" name="Object 3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82" y="1917"/>
                            <a:ext cx="216"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72" name="Object 31"/>
              <p:cNvGraphicFramePr>
                <a:graphicFrameLocks noChangeAspect="1"/>
              </p:cNvGraphicFramePr>
              <p:nvPr/>
            </p:nvGraphicFramePr>
            <p:xfrm>
              <a:off x="4870" y="3239"/>
              <a:ext cx="214" cy="222"/>
            </p:xfrm>
            <a:graphic>
              <a:graphicData uri="http://schemas.openxmlformats.org/presentationml/2006/ole">
                <mc:AlternateContent xmlns:mc="http://schemas.openxmlformats.org/markup-compatibility/2006">
                  <mc:Choice xmlns:v="urn:schemas-microsoft-com:vml" Requires="v">
                    <p:oleObj spid="_x0000_s177363" name="公式" r:id="rId19" imgW="393529" imgH="393529" progId="Equation.3">
                      <p:embed/>
                    </p:oleObj>
                  </mc:Choice>
                  <mc:Fallback>
                    <p:oleObj name="公式" r:id="rId19" imgW="393529" imgH="393529" progId="Equation.3">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70" y="3239"/>
                            <a:ext cx="214"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773" name="Group 32"/>
              <p:cNvGrpSpPr>
                <a:grpSpLocks/>
              </p:cNvGrpSpPr>
              <p:nvPr/>
            </p:nvGrpSpPr>
            <p:grpSpPr bwMode="auto">
              <a:xfrm>
                <a:off x="3217" y="1680"/>
                <a:ext cx="1776" cy="1639"/>
                <a:chOff x="3217" y="1680"/>
                <a:chExt cx="1776" cy="1639"/>
              </a:xfrm>
            </p:grpSpPr>
            <p:sp>
              <p:nvSpPr>
                <p:cNvPr id="31774" name="Arc 33"/>
                <p:cNvSpPr>
                  <a:spLocks/>
                </p:cNvSpPr>
                <p:nvPr/>
              </p:nvSpPr>
              <p:spPr bwMode="auto">
                <a:xfrm>
                  <a:off x="3217" y="1680"/>
                  <a:ext cx="1776" cy="1639"/>
                </a:xfrm>
                <a:custGeom>
                  <a:avLst/>
                  <a:gdLst>
                    <a:gd name="T0" fmla="*/ 0 w 20363"/>
                    <a:gd name="T1" fmla="*/ 0 h 21353"/>
                    <a:gd name="T2" fmla="*/ 0 w 20363"/>
                    <a:gd name="T3" fmla="*/ 0 h 21353"/>
                    <a:gd name="T4" fmla="*/ 0 w 20363"/>
                    <a:gd name="T5" fmla="*/ 0 h 21353"/>
                    <a:gd name="T6" fmla="*/ 0 60000 65536"/>
                    <a:gd name="T7" fmla="*/ 0 60000 65536"/>
                    <a:gd name="T8" fmla="*/ 0 60000 65536"/>
                  </a:gdLst>
                  <a:ahLst/>
                  <a:cxnLst>
                    <a:cxn ang="T6">
                      <a:pos x="T0" y="T1"/>
                    </a:cxn>
                    <a:cxn ang="T7">
                      <a:pos x="T2" y="T3"/>
                    </a:cxn>
                    <a:cxn ang="T8">
                      <a:pos x="T4" y="T5"/>
                    </a:cxn>
                  </a:cxnLst>
                  <a:rect l="0" t="0" r="r" b="b"/>
                  <a:pathLst>
                    <a:path w="20363" h="21353" fill="none" extrusionOk="0">
                      <a:moveTo>
                        <a:pt x="17105" y="21352"/>
                      </a:moveTo>
                      <a:cubicBezTo>
                        <a:pt x="9230" y="20151"/>
                        <a:pt x="2656" y="14714"/>
                        <a:pt x="0" y="7204"/>
                      </a:cubicBezTo>
                    </a:path>
                    <a:path w="20363" h="21353" stroke="0" extrusionOk="0">
                      <a:moveTo>
                        <a:pt x="17105" y="21352"/>
                      </a:moveTo>
                      <a:cubicBezTo>
                        <a:pt x="9230" y="20151"/>
                        <a:pt x="2656" y="14714"/>
                        <a:pt x="0" y="7204"/>
                      </a:cubicBezTo>
                      <a:lnTo>
                        <a:pt x="20363" y="0"/>
                      </a:lnTo>
                      <a:lnTo>
                        <a:pt x="17105" y="21352"/>
                      </a:lnTo>
                      <a:close/>
                    </a:path>
                  </a:pathLst>
                </a:custGeom>
                <a:noFill/>
                <a:ln w="254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5" name="Line 34"/>
                <p:cNvSpPr>
                  <a:spLocks noChangeShapeType="1"/>
                </p:cNvSpPr>
                <p:nvPr/>
              </p:nvSpPr>
              <p:spPr bwMode="auto">
                <a:xfrm>
                  <a:off x="3696" y="2888"/>
                  <a:ext cx="192" cy="144"/>
                </a:xfrm>
                <a:prstGeom prst="line">
                  <a:avLst/>
                </a:prstGeom>
                <a:noFill/>
                <a:ln w="19050">
                  <a:solidFill>
                    <a:srgbClr val="FF0000"/>
                  </a:solidFill>
                  <a:round/>
                  <a:headEnd type="none"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aphicFrame>
          <p:nvGraphicFramePr>
            <p:cNvPr id="31770" name="Object 35"/>
            <p:cNvGraphicFramePr>
              <a:graphicFrameLocks noChangeAspect="1"/>
            </p:cNvGraphicFramePr>
            <p:nvPr/>
          </p:nvGraphicFramePr>
          <p:xfrm>
            <a:off x="3648" y="1680"/>
            <a:ext cx="926" cy="218"/>
          </p:xfrm>
          <a:graphic>
            <a:graphicData uri="http://schemas.openxmlformats.org/presentationml/2006/ole">
              <mc:AlternateContent xmlns:mc="http://schemas.openxmlformats.org/markup-compatibility/2006">
                <mc:Choice xmlns:v="urn:schemas-microsoft-com:vml" Requires="v">
                  <p:oleObj spid="_x0000_s177364" name="公式" r:id="rId21" imgW="2070100" imgH="546100" progId="Equation.3">
                    <p:embed/>
                  </p:oleObj>
                </mc:Choice>
                <mc:Fallback>
                  <p:oleObj name="公式" r:id="rId21" imgW="2070100" imgH="546100" progId="Equation.3">
                    <p:embed/>
                    <p:pic>
                      <p:nvPicPr>
                        <p:cNvPr id="0"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648" y="1680"/>
                          <a:ext cx="926" cy="218"/>
                        </a:xfrm>
                        <a:prstGeom prst="rect">
                          <a:avLst/>
                        </a:prstGeom>
                        <a:solidFill>
                          <a:srgbClr val="FFFF00"/>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22917" name="Object 37"/>
          <p:cNvGraphicFramePr>
            <a:graphicFrameLocks noChangeAspect="1"/>
          </p:cNvGraphicFramePr>
          <p:nvPr/>
        </p:nvGraphicFramePr>
        <p:xfrm>
          <a:off x="533400" y="5486400"/>
          <a:ext cx="2209800" cy="1135063"/>
        </p:xfrm>
        <a:graphic>
          <a:graphicData uri="http://schemas.openxmlformats.org/presentationml/2006/ole">
            <mc:AlternateContent xmlns:mc="http://schemas.openxmlformats.org/markup-compatibility/2006">
              <mc:Choice xmlns:v="urn:schemas-microsoft-com:vml" Requires="v">
                <p:oleObj spid="_x0000_s177365" name="公式" r:id="rId23" imgW="2374900" imgH="1219200" progId="Equation.3">
                  <p:embed/>
                </p:oleObj>
              </mc:Choice>
              <mc:Fallback>
                <p:oleObj name="公式" r:id="rId23" imgW="2374900" imgH="1219200" progId="Equation.3">
                  <p:embed/>
                  <p:pic>
                    <p:nvPicPr>
                      <p:cNvPr id="0" name="Object 3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3400" y="5486400"/>
                        <a:ext cx="2209800" cy="1135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18" name="Object 38"/>
          <p:cNvGraphicFramePr>
            <a:graphicFrameLocks noChangeAspect="1"/>
          </p:cNvGraphicFramePr>
          <p:nvPr/>
        </p:nvGraphicFramePr>
        <p:xfrm>
          <a:off x="228600" y="2514600"/>
          <a:ext cx="2971800" cy="549275"/>
        </p:xfrm>
        <a:graphic>
          <a:graphicData uri="http://schemas.openxmlformats.org/presentationml/2006/ole">
            <mc:AlternateContent xmlns:mc="http://schemas.openxmlformats.org/markup-compatibility/2006">
              <mc:Choice xmlns:v="urn:schemas-microsoft-com:vml" Requires="v">
                <p:oleObj spid="_x0000_s177366" name="公式" r:id="rId25" imgW="3022600" imgH="558800" progId="Equation.3">
                  <p:embed/>
                </p:oleObj>
              </mc:Choice>
              <mc:Fallback>
                <p:oleObj name="公式" r:id="rId25" imgW="3022600" imgH="558800" progId="Equation.3">
                  <p:embed/>
                  <p:pic>
                    <p:nvPicPr>
                      <p:cNvPr id="0" name="Object 3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8600" y="2514600"/>
                        <a:ext cx="29718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21" name="Rectangle 41"/>
          <p:cNvSpPr>
            <a:spLocks noChangeArrowheads="1"/>
          </p:cNvSpPr>
          <p:nvPr/>
        </p:nvSpPr>
        <p:spPr bwMode="auto">
          <a:xfrm>
            <a:off x="76200" y="1828800"/>
            <a:ext cx="2051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a:solidFill>
                  <a:srgbClr val="FF0000"/>
                </a:solidFill>
                <a:latin typeface="Century Schoolbook" pitchFamily="18" charset="0"/>
              </a:rPr>
              <a:t>②.</a:t>
            </a:r>
            <a:r>
              <a:rPr lang="zh-CN" altLang="en-US" sz="2800" b="1">
                <a:solidFill>
                  <a:srgbClr val="FF0000"/>
                </a:solidFill>
                <a:latin typeface="Century Schoolbook" pitchFamily="18" charset="0"/>
              </a:rPr>
              <a:t>热机效率</a:t>
            </a:r>
          </a:p>
        </p:txBody>
      </p:sp>
      <p:graphicFrame>
        <p:nvGraphicFramePr>
          <p:cNvPr id="122922" name="Object 42"/>
          <p:cNvGraphicFramePr>
            <a:graphicFrameLocks noChangeAspect="1"/>
          </p:cNvGraphicFramePr>
          <p:nvPr/>
        </p:nvGraphicFramePr>
        <p:xfrm>
          <a:off x="2209800" y="1600200"/>
          <a:ext cx="1981200" cy="1017588"/>
        </p:xfrm>
        <a:graphic>
          <a:graphicData uri="http://schemas.openxmlformats.org/presentationml/2006/ole">
            <mc:AlternateContent xmlns:mc="http://schemas.openxmlformats.org/markup-compatibility/2006">
              <mc:Choice xmlns:v="urn:schemas-microsoft-com:vml" Requires="v">
                <p:oleObj spid="_x0000_s177367" name="公式" r:id="rId27" imgW="2374900" imgH="1219200" progId="Equation.3">
                  <p:embed/>
                </p:oleObj>
              </mc:Choice>
              <mc:Fallback>
                <p:oleObj name="公式" r:id="rId27" imgW="2374900" imgH="1219200" progId="Equation.3">
                  <p:embed/>
                  <p:pic>
                    <p:nvPicPr>
                      <p:cNvPr id="0" name="Object 4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09800" y="1600200"/>
                        <a:ext cx="1981200" cy="1017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23" name="Object 43"/>
          <p:cNvGraphicFramePr>
            <a:graphicFrameLocks noChangeAspect="1"/>
          </p:cNvGraphicFramePr>
          <p:nvPr/>
        </p:nvGraphicFramePr>
        <p:xfrm>
          <a:off x="869950" y="981075"/>
          <a:ext cx="3659188" cy="530225"/>
        </p:xfrm>
        <a:graphic>
          <a:graphicData uri="http://schemas.openxmlformats.org/presentationml/2006/ole">
            <mc:AlternateContent xmlns:mc="http://schemas.openxmlformats.org/markup-compatibility/2006">
              <mc:Choice xmlns:v="urn:schemas-microsoft-com:vml" Requires="v">
                <p:oleObj spid="_x0000_s177368" name="公式" r:id="rId28" imgW="1612900" imgH="228600" progId="Equation.3">
                  <p:embed/>
                </p:oleObj>
              </mc:Choice>
              <mc:Fallback>
                <p:oleObj name="公式" r:id="rId28" imgW="1612900" imgH="228600" progId="Equation.3">
                  <p:embed/>
                  <p:pic>
                    <p:nvPicPr>
                      <p:cNvPr id="0" name="Object 43"/>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69950" y="981075"/>
                        <a:ext cx="3659188"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26" name="Text Box 46"/>
          <p:cNvSpPr txBox="1">
            <a:spLocks noChangeArrowheads="1"/>
          </p:cNvSpPr>
          <p:nvPr/>
        </p:nvSpPr>
        <p:spPr bwMode="auto">
          <a:xfrm>
            <a:off x="304800" y="228600"/>
            <a:ext cx="480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a:latin typeface="Century Schoolbook" pitchFamily="18" charset="0"/>
              </a:rPr>
              <a:t>一个循环中的内能增量为：</a:t>
            </a:r>
            <a:endParaRPr lang="zh-CN" altLang="en-US" sz="3600" b="1">
              <a:latin typeface="Century Schoolbook" pitchFamily="18" charset="0"/>
            </a:endParaRPr>
          </a:p>
        </p:txBody>
      </p:sp>
      <p:graphicFrame>
        <p:nvGraphicFramePr>
          <p:cNvPr id="46" name="Object 52"/>
          <p:cNvGraphicFramePr>
            <a:graphicFrameLocks noChangeAspect="1"/>
          </p:cNvGraphicFramePr>
          <p:nvPr>
            <p:extLst>
              <p:ext uri="{D42A27DB-BD31-4B8C-83A1-F6EECF244321}">
                <p14:modId xmlns:p14="http://schemas.microsoft.com/office/powerpoint/2010/main" val="2010464861"/>
              </p:ext>
            </p:extLst>
          </p:nvPr>
        </p:nvGraphicFramePr>
        <p:xfrm>
          <a:off x="4716016" y="1047750"/>
          <a:ext cx="712787" cy="427038"/>
        </p:xfrm>
        <a:graphic>
          <a:graphicData uri="http://schemas.openxmlformats.org/presentationml/2006/ole">
            <mc:AlternateContent xmlns:mc="http://schemas.openxmlformats.org/markup-compatibility/2006">
              <mc:Choice xmlns:v="urn:schemas-microsoft-com:vml" Requires="v">
                <p:oleObj spid="_x0000_s177369" name="Equation" r:id="rId30" imgW="330120" imgH="177480" progId="Equation.DSMT4">
                  <p:embed/>
                </p:oleObj>
              </mc:Choice>
              <mc:Fallback>
                <p:oleObj name="Equation" r:id="rId30" imgW="330120" imgH="177480" progId="Equation.DSMT4">
                  <p:embed/>
                  <p:pic>
                    <p:nvPicPr>
                      <p:cNvPr id="54" name="Object 52"/>
                      <p:cNvPicPr>
                        <a:picLocks noChangeAspect="1" noChangeArrowheads="1"/>
                      </p:cNvPicPr>
                      <p:nvPr/>
                    </p:nvPicPr>
                    <p:blipFill>
                      <a:blip r:embed="rId31"/>
                      <a:srcRect/>
                      <a:stretch>
                        <a:fillRect/>
                      </a:stretch>
                    </p:blipFill>
                    <p:spPr bwMode="auto">
                      <a:xfrm>
                        <a:off x="4716016" y="1047750"/>
                        <a:ext cx="712787"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 name="Object 52"/>
          <p:cNvGraphicFramePr>
            <a:graphicFrameLocks noChangeAspect="1"/>
          </p:cNvGraphicFramePr>
          <p:nvPr>
            <p:extLst>
              <p:ext uri="{D42A27DB-BD31-4B8C-83A1-F6EECF244321}">
                <p14:modId xmlns:p14="http://schemas.microsoft.com/office/powerpoint/2010/main" val="4288406576"/>
              </p:ext>
            </p:extLst>
          </p:nvPr>
        </p:nvGraphicFramePr>
        <p:xfrm>
          <a:off x="532640" y="3283744"/>
          <a:ext cx="4065588" cy="427037"/>
        </p:xfrm>
        <a:graphic>
          <a:graphicData uri="http://schemas.openxmlformats.org/presentationml/2006/ole">
            <mc:AlternateContent xmlns:mc="http://schemas.openxmlformats.org/markup-compatibility/2006">
              <mc:Choice xmlns:v="urn:schemas-microsoft-com:vml" Requires="v">
                <p:oleObj spid="_x0000_s177370" name="Equation" r:id="rId32" imgW="1879560" imgH="177480" progId="Equation.DSMT4">
                  <p:embed/>
                </p:oleObj>
              </mc:Choice>
              <mc:Fallback>
                <p:oleObj name="Equation" r:id="rId32" imgW="1879560" imgH="177480" progId="Equation.DSMT4">
                  <p:embed/>
                  <p:pic>
                    <p:nvPicPr>
                      <p:cNvPr id="54" name="Object 52"/>
                      <p:cNvPicPr>
                        <a:picLocks noChangeAspect="1" noChangeArrowheads="1"/>
                      </p:cNvPicPr>
                      <p:nvPr/>
                    </p:nvPicPr>
                    <p:blipFill>
                      <a:blip r:embed="rId33"/>
                      <a:srcRect/>
                      <a:stretch>
                        <a:fillRect/>
                      </a:stretch>
                    </p:blipFill>
                    <p:spPr bwMode="auto">
                      <a:xfrm>
                        <a:off x="532640" y="3283744"/>
                        <a:ext cx="406558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52"/>
          <p:cNvGraphicFramePr>
            <a:graphicFrameLocks noChangeAspect="1"/>
          </p:cNvGraphicFramePr>
          <p:nvPr>
            <p:extLst>
              <p:ext uri="{D42A27DB-BD31-4B8C-83A1-F6EECF244321}">
                <p14:modId xmlns:p14="http://schemas.microsoft.com/office/powerpoint/2010/main" val="3661398381"/>
              </p:ext>
            </p:extLst>
          </p:nvPr>
        </p:nvGraphicFramePr>
        <p:xfrm>
          <a:off x="2179093" y="4538157"/>
          <a:ext cx="1727200" cy="427037"/>
        </p:xfrm>
        <a:graphic>
          <a:graphicData uri="http://schemas.openxmlformats.org/presentationml/2006/ole">
            <mc:AlternateContent xmlns:mc="http://schemas.openxmlformats.org/markup-compatibility/2006">
              <mc:Choice xmlns:v="urn:schemas-microsoft-com:vml" Requires="v">
                <p:oleObj spid="_x0000_s177371" name="Equation" r:id="rId34" imgW="799920" imgH="177480" progId="Equation.DSMT4">
                  <p:embed/>
                </p:oleObj>
              </mc:Choice>
              <mc:Fallback>
                <p:oleObj name="Equation" r:id="rId34" imgW="799920" imgH="177480" progId="Equation.DSMT4">
                  <p:embed/>
                  <p:pic>
                    <p:nvPicPr>
                      <p:cNvPr id="46" name="Object 52"/>
                      <p:cNvPicPr>
                        <a:picLocks noChangeAspect="1" noChangeArrowheads="1"/>
                      </p:cNvPicPr>
                      <p:nvPr/>
                    </p:nvPicPr>
                    <p:blipFill>
                      <a:blip r:embed="rId35"/>
                      <a:srcRect/>
                      <a:stretch>
                        <a:fillRect/>
                      </a:stretch>
                    </p:blipFill>
                    <p:spPr bwMode="auto">
                      <a:xfrm>
                        <a:off x="2179093" y="4538157"/>
                        <a:ext cx="17272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 name="Object 52"/>
          <p:cNvGraphicFramePr>
            <a:graphicFrameLocks noChangeAspect="1"/>
          </p:cNvGraphicFramePr>
          <p:nvPr>
            <p:extLst>
              <p:ext uri="{D42A27DB-BD31-4B8C-83A1-F6EECF244321}">
                <p14:modId xmlns:p14="http://schemas.microsoft.com/office/powerpoint/2010/main" val="2716305996"/>
              </p:ext>
            </p:extLst>
          </p:nvPr>
        </p:nvGraphicFramePr>
        <p:xfrm>
          <a:off x="2892425" y="5524630"/>
          <a:ext cx="3016250" cy="976312"/>
        </p:xfrm>
        <a:graphic>
          <a:graphicData uri="http://schemas.openxmlformats.org/presentationml/2006/ole">
            <mc:AlternateContent xmlns:mc="http://schemas.openxmlformats.org/markup-compatibility/2006">
              <mc:Choice xmlns:v="urn:schemas-microsoft-com:vml" Requires="v">
                <p:oleObj spid="_x0000_s177372" name="Equation" r:id="rId36" imgW="1396800" imgH="406080" progId="Equation.DSMT4">
                  <p:embed/>
                </p:oleObj>
              </mc:Choice>
              <mc:Fallback>
                <p:oleObj name="Equation" r:id="rId36" imgW="1396800" imgH="406080" progId="Equation.DSMT4">
                  <p:embed/>
                  <p:pic>
                    <p:nvPicPr>
                      <p:cNvPr id="48" name="Object 52"/>
                      <p:cNvPicPr>
                        <a:picLocks noChangeAspect="1" noChangeArrowheads="1"/>
                      </p:cNvPicPr>
                      <p:nvPr/>
                    </p:nvPicPr>
                    <p:blipFill>
                      <a:blip r:embed="rId37"/>
                      <a:srcRect/>
                      <a:stretch>
                        <a:fillRect/>
                      </a:stretch>
                    </p:blipFill>
                    <p:spPr bwMode="auto">
                      <a:xfrm>
                        <a:off x="2892425" y="5524630"/>
                        <a:ext cx="3016250" cy="97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 name="Object 52"/>
          <p:cNvGraphicFramePr>
            <a:graphicFrameLocks noChangeAspect="1"/>
          </p:cNvGraphicFramePr>
          <p:nvPr>
            <p:extLst>
              <p:ext uri="{D42A27DB-BD31-4B8C-83A1-F6EECF244321}">
                <p14:modId xmlns:p14="http://schemas.microsoft.com/office/powerpoint/2010/main" val="2141847386"/>
              </p:ext>
            </p:extLst>
          </p:nvPr>
        </p:nvGraphicFramePr>
        <p:xfrm>
          <a:off x="6779322" y="1979379"/>
          <a:ext cx="1427162" cy="1008062"/>
        </p:xfrm>
        <a:graphic>
          <a:graphicData uri="http://schemas.openxmlformats.org/presentationml/2006/ole">
            <mc:AlternateContent xmlns:mc="http://schemas.openxmlformats.org/markup-compatibility/2006">
              <mc:Choice xmlns:v="urn:schemas-microsoft-com:vml" Requires="v">
                <p:oleObj spid="_x0000_s177373" name="Equation" r:id="rId38" imgW="660240" imgH="419040" progId="Equation.DSMT4">
                  <p:embed/>
                </p:oleObj>
              </mc:Choice>
              <mc:Fallback>
                <p:oleObj name="Equation" r:id="rId38" imgW="660240" imgH="419040" progId="Equation.DSMT4">
                  <p:embed/>
                  <p:pic>
                    <p:nvPicPr>
                      <p:cNvPr id="57" name="Object 52"/>
                      <p:cNvPicPr>
                        <a:picLocks noChangeAspect="1" noChangeArrowheads="1"/>
                      </p:cNvPicPr>
                      <p:nvPr/>
                    </p:nvPicPr>
                    <p:blipFill>
                      <a:blip r:embed="rId39"/>
                      <a:srcRect/>
                      <a:stretch>
                        <a:fillRect/>
                      </a:stretch>
                    </p:blipFill>
                    <p:spPr bwMode="auto">
                      <a:xfrm>
                        <a:off x="6779322" y="1979379"/>
                        <a:ext cx="1427162"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FE2451A-99D1-4C01-BF09-0AD7A5D871CF}"/>
              </a:ext>
            </a:extLst>
          </p:cNvPr>
          <p:cNvPicPr>
            <a:picLocks noChangeAspect="1"/>
          </p:cNvPicPr>
          <p:nvPr/>
        </p:nvPicPr>
        <p:blipFill>
          <a:blip r:embed="rId3"/>
          <a:stretch>
            <a:fillRect/>
          </a:stretch>
        </p:blipFill>
        <p:spPr>
          <a:xfrm>
            <a:off x="-612576" y="591935"/>
            <a:ext cx="6264696" cy="4792712"/>
          </a:xfrm>
          <a:prstGeom prst="rect">
            <a:avLst/>
          </a:prstGeom>
        </p:spPr>
      </p:pic>
      <p:sp>
        <p:nvSpPr>
          <p:cNvPr id="5" name="Rectangle 3">
            <a:extLst>
              <a:ext uri="{FF2B5EF4-FFF2-40B4-BE49-F238E27FC236}">
                <a16:creationId xmlns:a16="http://schemas.microsoft.com/office/drawing/2014/main" id="{B3489282-B6B5-468E-89AD-B194BDB25136}"/>
              </a:ext>
            </a:extLst>
          </p:cNvPr>
          <p:cNvSpPr>
            <a:spLocks noChangeArrowheads="1"/>
          </p:cNvSpPr>
          <p:nvPr/>
        </p:nvSpPr>
        <p:spPr bwMode="auto">
          <a:xfrm>
            <a:off x="2915816" y="404664"/>
            <a:ext cx="3048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zh-CN" altLang="en-US" sz="3200" b="1">
                <a:solidFill>
                  <a:srgbClr val="009900"/>
                </a:solidFill>
                <a:ea typeface="楷体_GB2312" pitchFamily="49" charset="-122"/>
              </a:rPr>
              <a:t>期中考试分析</a:t>
            </a:r>
            <a:endParaRPr lang="zh-CN" altLang="en-US" sz="3200" b="1" dirty="0">
              <a:solidFill>
                <a:srgbClr val="009900"/>
              </a:solidFill>
              <a:ea typeface="楷体_GB2312" pitchFamily="49" charset="-122"/>
            </a:endParaRPr>
          </a:p>
        </p:txBody>
      </p:sp>
      <p:sp>
        <p:nvSpPr>
          <p:cNvPr id="6" name="矩形 5">
            <a:extLst>
              <a:ext uri="{FF2B5EF4-FFF2-40B4-BE49-F238E27FC236}">
                <a16:creationId xmlns:a16="http://schemas.microsoft.com/office/drawing/2014/main" id="{AB392706-A737-4DBD-AED4-3A2C4C1A64F1}"/>
              </a:ext>
            </a:extLst>
          </p:cNvPr>
          <p:cNvSpPr/>
          <p:nvPr/>
        </p:nvSpPr>
        <p:spPr>
          <a:xfrm>
            <a:off x="5364088" y="938064"/>
            <a:ext cx="3168352" cy="1631216"/>
          </a:xfrm>
          <a:prstGeom prst="rect">
            <a:avLst/>
          </a:prstGeom>
        </p:spPr>
        <p:txBody>
          <a:bodyPr wrap="square">
            <a:spAutoFit/>
          </a:bodyPr>
          <a:lstStyle/>
          <a:p>
            <a:pPr algn="l"/>
            <a:r>
              <a:rPr lang="zh-CN" altLang="en-US" b="1"/>
              <a:t>一、</a:t>
            </a:r>
            <a:r>
              <a:rPr lang="en-US" altLang="zh-CN" b="1"/>
              <a:t> </a:t>
            </a:r>
            <a:r>
              <a:rPr lang="zh-CN" altLang="en-US" b="1"/>
              <a:t>期中成绩整体水平</a:t>
            </a:r>
          </a:p>
          <a:p>
            <a:pPr algn="l">
              <a:buFont typeface="Arial" panose="020B0604020202020204" pitchFamily="34" charset="0"/>
              <a:buChar char="•"/>
            </a:pPr>
            <a:r>
              <a:rPr lang="en-US" altLang="zh-CN" b="1"/>
              <a:t>90 -100</a:t>
            </a:r>
            <a:r>
              <a:rPr lang="zh-CN" altLang="en-US" b="1"/>
              <a:t>：</a:t>
            </a:r>
            <a:r>
              <a:rPr lang="en-US" altLang="zh-CN" b="1"/>
              <a:t>61 </a:t>
            </a:r>
            <a:r>
              <a:rPr lang="zh-CN" altLang="en-US" b="1"/>
              <a:t>人，占 </a:t>
            </a:r>
            <a:r>
              <a:rPr lang="en-US" altLang="zh-CN" b="1"/>
              <a:t>48%</a:t>
            </a:r>
            <a:endParaRPr lang="en-US" altLang="zh-CN"/>
          </a:p>
          <a:p>
            <a:pPr algn="l">
              <a:buFont typeface="Arial" panose="020B0604020202020204" pitchFamily="34" charset="0"/>
              <a:buChar char="•"/>
            </a:pPr>
            <a:r>
              <a:rPr lang="en-US" altLang="zh-CN" b="1"/>
              <a:t>80–90</a:t>
            </a:r>
            <a:r>
              <a:rPr lang="zh-CN" altLang="en-US" b="1"/>
              <a:t>：</a:t>
            </a:r>
            <a:r>
              <a:rPr lang="en-US" altLang="zh-CN" b="1"/>
              <a:t>39</a:t>
            </a:r>
            <a:r>
              <a:rPr lang="zh-CN" altLang="en-US" b="1"/>
              <a:t>人，</a:t>
            </a:r>
            <a:r>
              <a:rPr lang="en-US" altLang="zh-CN" b="1"/>
              <a:t>30%</a:t>
            </a:r>
            <a:endParaRPr lang="zh-CN" altLang="en-US"/>
          </a:p>
          <a:p>
            <a:pPr algn="l">
              <a:buFont typeface="Arial" panose="020B0604020202020204" pitchFamily="34" charset="0"/>
              <a:buChar char="•"/>
            </a:pPr>
            <a:r>
              <a:rPr lang="en-US" altLang="zh-CN" b="1"/>
              <a:t>60-80</a:t>
            </a:r>
            <a:r>
              <a:rPr lang="zh-CN" altLang="en-US" b="1"/>
              <a:t>：</a:t>
            </a:r>
            <a:r>
              <a:rPr lang="en-US" altLang="zh-CN" b="1"/>
              <a:t>17</a:t>
            </a:r>
            <a:r>
              <a:rPr lang="zh-CN" altLang="en-US" b="1"/>
              <a:t>（</a:t>
            </a:r>
            <a:r>
              <a:rPr lang="en-US" altLang="zh-CN" b="1"/>
              <a:t>17%</a:t>
            </a:r>
            <a:r>
              <a:rPr lang="zh-CN" altLang="en-US" b="1"/>
              <a:t>）</a:t>
            </a:r>
            <a:endParaRPr lang="zh-CN" altLang="en-US"/>
          </a:p>
          <a:p>
            <a:pPr algn="l">
              <a:buFont typeface="Arial" panose="020B0604020202020204" pitchFamily="34" charset="0"/>
              <a:buChar char="•"/>
            </a:pPr>
            <a:r>
              <a:rPr lang="en-US" altLang="zh-CN" b="1"/>
              <a:t>60</a:t>
            </a:r>
            <a:r>
              <a:rPr lang="zh-CN" altLang="en-US" b="1"/>
              <a:t>以下：</a:t>
            </a:r>
            <a:r>
              <a:rPr lang="en-US" altLang="zh-CN" b="1"/>
              <a:t>6</a:t>
            </a:r>
            <a:r>
              <a:rPr lang="zh-CN" altLang="en-US" b="1"/>
              <a:t>人，</a:t>
            </a:r>
            <a:r>
              <a:rPr lang="en-US" altLang="zh-CN" b="1"/>
              <a:t>5%</a:t>
            </a:r>
            <a:endParaRPr lang="zh-CN" altLang="en-US"/>
          </a:p>
        </p:txBody>
      </p:sp>
      <p:sp>
        <p:nvSpPr>
          <p:cNvPr id="7" name="矩形 6">
            <a:extLst>
              <a:ext uri="{FF2B5EF4-FFF2-40B4-BE49-F238E27FC236}">
                <a16:creationId xmlns:a16="http://schemas.microsoft.com/office/drawing/2014/main" id="{BA91A45E-54CD-4673-88D6-D0DAD43AAA7A}"/>
              </a:ext>
            </a:extLst>
          </p:cNvPr>
          <p:cNvSpPr/>
          <p:nvPr/>
        </p:nvSpPr>
        <p:spPr>
          <a:xfrm>
            <a:off x="5062618" y="2569280"/>
            <a:ext cx="4081382" cy="707886"/>
          </a:xfrm>
          <a:prstGeom prst="rect">
            <a:avLst/>
          </a:prstGeom>
        </p:spPr>
        <p:txBody>
          <a:bodyPr wrap="square">
            <a:spAutoFit/>
          </a:bodyPr>
          <a:lstStyle/>
          <a:p>
            <a:r>
              <a:rPr lang="zh-CN" altLang="en-US" b="1"/>
              <a:t>二、进步（期中</a:t>
            </a:r>
            <a:r>
              <a:rPr lang="en-US" altLang="zh-CN" b="1"/>
              <a:t>-</a:t>
            </a:r>
            <a:r>
              <a:rPr lang="zh-CN" altLang="en-US" b="1"/>
              <a:t>两次测验平均值）</a:t>
            </a:r>
            <a:endParaRPr lang="en-US" altLang="zh-CN" b="1"/>
          </a:p>
          <a:p>
            <a:endParaRPr lang="zh-CN" altLang="en-US"/>
          </a:p>
        </p:txBody>
      </p:sp>
      <p:graphicFrame>
        <p:nvGraphicFramePr>
          <p:cNvPr id="11" name="表格 10">
            <a:extLst>
              <a:ext uri="{FF2B5EF4-FFF2-40B4-BE49-F238E27FC236}">
                <a16:creationId xmlns:a16="http://schemas.microsoft.com/office/drawing/2014/main" id="{420B8954-4C8A-4D0F-81FA-6191FBF5D330}"/>
              </a:ext>
            </a:extLst>
          </p:cNvPr>
          <p:cNvGraphicFramePr>
            <a:graphicFrameLocks noGrp="1"/>
          </p:cNvGraphicFramePr>
          <p:nvPr>
            <p:extLst>
              <p:ext uri="{D42A27DB-BD31-4B8C-83A1-F6EECF244321}">
                <p14:modId xmlns:p14="http://schemas.microsoft.com/office/powerpoint/2010/main" val="4065979005"/>
              </p:ext>
            </p:extLst>
          </p:nvPr>
        </p:nvGraphicFramePr>
        <p:xfrm>
          <a:off x="5282767" y="2915409"/>
          <a:ext cx="2808312" cy="1555750"/>
        </p:xfrm>
        <a:graphic>
          <a:graphicData uri="http://schemas.openxmlformats.org/drawingml/2006/table">
            <a:tbl>
              <a:tblPr>
                <a:tableStyleId>{5C22544A-7EE6-4342-B048-85BDC9FD1C3A}</a:tableStyleId>
              </a:tblPr>
              <a:tblGrid>
                <a:gridCol w="1404156">
                  <a:extLst>
                    <a:ext uri="{9D8B030D-6E8A-4147-A177-3AD203B41FA5}">
                      <a16:colId xmlns:a16="http://schemas.microsoft.com/office/drawing/2014/main" val="42530492"/>
                    </a:ext>
                  </a:extLst>
                </a:gridCol>
                <a:gridCol w="1404156">
                  <a:extLst>
                    <a:ext uri="{9D8B030D-6E8A-4147-A177-3AD203B41FA5}">
                      <a16:colId xmlns:a16="http://schemas.microsoft.com/office/drawing/2014/main" val="3138590618"/>
                    </a:ext>
                  </a:extLst>
                </a:gridCol>
              </a:tblGrid>
              <a:tr h="201612">
                <a:tc>
                  <a:txBody>
                    <a:bodyPr/>
                    <a:lstStyle/>
                    <a:p>
                      <a:pPr algn="ctr" fontAlgn="ctr"/>
                      <a:r>
                        <a:rPr lang="zh-CN" altLang="en-US" sz="2000" u="none" strike="noStrike">
                          <a:effectLst/>
                        </a:rPr>
                        <a:t>颜心玥</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u="none" strike="noStrike">
                          <a:effectLst/>
                        </a:rPr>
                        <a:t>39.5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841501684"/>
                  </a:ext>
                </a:extLst>
              </a:tr>
              <a:tr h="236919">
                <a:tc>
                  <a:txBody>
                    <a:bodyPr/>
                    <a:lstStyle/>
                    <a:p>
                      <a:pPr algn="ctr" fontAlgn="ctr"/>
                      <a:r>
                        <a:rPr lang="zh-CN" altLang="en-US" sz="2000" u="none" strike="noStrike">
                          <a:effectLst/>
                        </a:rPr>
                        <a:t>杜筱莹</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u="none" strike="noStrike">
                          <a:effectLst/>
                        </a:rPr>
                        <a:t>39.5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2763966187"/>
                  </a:ext>
                </a:extLst>
              </a:tr>
              <a:tr h="197291">
                <a:tc>
                  <a:txBody>
                    <a:bodyPr/>
                    <a:lstStyle/>
                    <a:p>
                      <a:pPr algn="ctr" fontAlgn="ctr"/>
                      <a:r>
                        <a:rPr lang="zh-CN" altLang="en-US" sz="2000" u="none" strike="noStrike">
                          <a:effectLst/>
                        </a:rPr>
                        <a:t>陈文翰</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u="none" strike="noStrike">
                          <a:effectLst/>
                        </a:rPr>
                        <a:t>35.5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1259092632"/>
                  </a:ext>
                </a:extLst>
              </a:tr>
              <a:tr h="201612">
                <a:tc>
                  <a:txBody>
                    <a:bodyPr/>
                    <a:lstStyle/>
                    <a:p>
                      <a:pPr algn="ctr" fontAlgn="ctr"/>
                      <a:r>
                        <a:rPr lang="zh-CN" altLang="en-US" sz="2000" u="none" strike="noStrike">
                          <a:effectLst/>
                        </a:rPr>
                        <a:t>田晓</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u="none" strike="noStrike">
                          <a:effectLst/>
                        </a:rPr>
                        <a:t>31</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605038254"/>
                  </a:ext>
                </a:extLst>
              </a:tr>
              <a:tr h="201612">
                <a:tc>
                  <a:txBody>
                    <a:bodyPr/>
                    <a:lstStyle/>
                    <a:p>
                      <a:pPr algn="ctr" fontAlgn="ctr"/>
                      <a:r>
                        <a:rPr lang="zh-CN" altLang="en-US" sz="2000" u="none" strike="noStrike">
                          <a:effectLst/>
                        </a:rPr>
                        <a:t>张释尹</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u="none" strike="noStrike">
                          <a:effectLst/>
                        </a:rPr>
                        <a:t>30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2190814606"/>
                  </a:ext>
                </a:extLst>
              </a:tr>
            </a:tbl>
          </a:graphicData>
        </a:graphic>
      </p:graphicFrame>
      <p:sp>
        <p:nvSpPr>
          <p:cNvPr id="12" name="矩形 11">
            <a:extLst>
              <a:ext uri="{FF2B5EF4-FFF2-40B4-BE49-F238E27FC236}">
                <a16:creationId xmlns:a16="http://schemas.microsoft.com/office/drawing/2014/main" id="{BD8CF101-4F5A-4935-A647-724C62E4DEB9}"/>
              </a:ext>
            </a:extLst>
          </p:cNvPr>
          <p:cNvSpPr/>
          <p:nvPr/>
        </p:nvSpPr>
        <p:spPr>
          <a:xfrm>
            <a:off x="5290954" y="4456989"/>
            <a:ext cx="3624710" cy="400110"/>
          </a:xfrm>
          <a:prstGeom prst="rect">
            <a:avLst/>
          </a:prstGeom>
        </p:spPr>
        <p:txBody>
          <a:bodyPr wrap="none">
            <a:spAutoFit/>
          </a:bodyPr>
          <a:lstStyle/>
          <a:p>
            <a:r>
              <a:rPr lang="zh-CN" altLang="en-US" b="1"/>
              <a:t>退步（期中</a:t>
            </a:r>
            <a:r>
              <a:rPr lang="en-US" altLang="zh-CN" b="1"/>
              <a:t>-</a:t>
            </a:r>
            <a:r>
              <a:rPr lang="zh-CN" altLang="en-US" b="1"/>
              <a:t>两次测验平均值）</a:t>
            </a:r>
            <a:endParaRPr lang="en-US" altLang="zh-CN" b="1"/>
          </a:p>
        </p:txBody>
      </p:sp>
      <p:graphicFrame>
        <p:nvGraphicFramePr>
          <p:cNvPr id="14" name="表格 13">
            <a:extLst>
              <a:ext uri="{FF2B5EF4-FFF2-40B4-BE49-F238E27FC236}">
                <a16:creationId xmlns:a16="http://schemas.microsoft.com/office/drawing/2014/main" id="{D88542C0-00E1-43E0-B121-FF45D40E5290}"/>
              </a:ext>
            </a:extLst>
          </p:cNvPr>
          <p:cNvGraphicFramePr>
            <a:graphicFrameLocks noGrp="1"/>
          </p:cNvGraphicFramePr>
          <p:nvPr>
            <p:extLst>
              <p:ext uri="{D42A27DB-BD31-4B8C-83A1-F6EECF244321}">
                <p14:modId xmlns:p14="http://schemas.microsoft.com/office/powerpoint/2010/main" val="2771887924"/>
              </p:ext>
            </p:extLst>
          </p:nvPr>
        </p:nvGraphicFramePr>
        <p:xfrm>
          <a:off x="4441092" y="5046740"/>
          <a:ext cx="2680622" cy="1303596"/>
        </p:xfrm>
        <a:graphic>
          <a:graphicData uri="http://schemas.openxmlformats.org/drawingml/2006/table">
            <a:tbl>
              <a:tblPr>
                <a:tableStyleId>{5C22544A-7EE6-4342-B048-85BDC9FD1C3A}</a:tableStyleId>
              </a:tblPr>
              <a:tblGrid>
                <a:gridCol w="1340311">
                  <a:extLst>
                    <a:ext uri="{9D8B030D-6E8A-4147-A177-3AD203B41FA5}">
                      <a16:colId xmlns:a16="http://schemas.microsoft.com/office/drawing/2014/main" val="3029974698"/>
                    </a:ext>
                  </a:extLst>
                </a:gridCol>
                <a:gridCol w="1340311">
                  <a:extLst>
                    <a:ext uri="{9D8B030D-6E8A-4147-A177-3AD203B41FA5}">
                      <a16:colId xmlns:a16="http://schemas.microsoft.com/office/drawing/2014/main" val="2261687275"/>
                    </a:ext>
                  </a:extLst>
                </a:gridCol>
              </a:tblGrid>
              <a:tr h="269252">
                <a:tc>
                  <a:txBody>
                    <a:bodyPr/>
                    <a:lstStyle/>
                    <a:p>
                      <a:pPr algn="l" fontAlgn="ctr"/>
                      <a:r>
                        <a:rPr lang="zh-CN" altLang="en-US" sz="2000" u="none" strike="noStrike">
                          <a:effectLst/>
                        </a:rPr>
                        <a:t>陈**</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u="none" strike="noStrike">
                          <a:effectLst/>
                        </a:rPr>
                        <a:t>-9.5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3702105183"/>
                  </a:ext>
                </a:extLst>
              </a:tr>
              <a:tr h="269252">
                <a:tc>
                  <a:txBody>
                    <a:bodyPr/>
                    <a:lstStyle/>
                    <a:p>
                      <a:pPr algn="l" fontAlgn="ctr"/>
                      <a:r>
                        <a:rPr lang="zh-CN" altLang="en-US" sz="2000" u="none" strike="noStrike">
                          <a:effectLst/>
                        </a:rPr>
                        <a:t>王*</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u="none" strike="noStrike">
                          <a:effectLst/>
                        </a:rPr>
                        <a:t>-11</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2936179181"/>
                  </a:ext>
                </a:extLst>
              </a:tr>
              <a:tr h="370146">
                <a:tc>
                  <a:txBody>
                    <a:bodyPr/>
                    <a:lstStyle/>
                    <a:p>
                      <a:pPr algn="l" fontAlgn="ctr"/>
                      <a:r>
                        <a:rPr lang="zh-CN" altLang="en-US" sz="2000" u="none" strike="noStrike">
                          <a:effectLst/>
                        </a:rPr>
                        <a:t>刘**</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u="none" strike="noStrike">
                          <a:effectLst/>
                        </a:rPr>
                        <a:t>-13.5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3990456319"/>
                  </a:ext>
                </a:extLst>
              </a:tr>
              <a:tr h="269252">
                <a:tc>
                  <a:txBody>
                    <a:bodyPr/>
                    <a:lstStyle/>
                    <a:p>
                      <a:pPr algn="l" fontAlgn="ctr"/>
                      <a:r>
                        <a:rPr lang="zh-CN" altLang="en-US" sz="2000" u="none" strike="noStrike">
                          <a:effectLst/>
                        </a:rPr>
                        <a:t>王**</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u="none" strike="noStrike">
                          <a:effectLst/>
                        </a:rPr>
                        <a:t>-22</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1581500747"/>
                  </a:ext>
                </a:extLst>
              </a:tr>
            </a:tbl>
          </a:graphicData>
        </a:graphic>
      </p:graphicFrame>
      <p:pic>
        <p:nvPicPr>
          <p:cNvPr id="18" name="图片 17">
            <a:extLst>
              <a:ext uri="{FF2B5EF4-FFF2-40B4-BE49-F238E27FC236}">
                <a16:creationId xmlns:a16="http://schemas.microsoft.com/office/drawing/2014/main" id="{4D4D6503-CA13-43ED-87BD-23B81086B4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31825" y="3493284"/>
            <a:ext cx="771429" cy="400000"/>
          </a:xfrm>
          <a:prstGeom prst="rect">
            <a:avLst/>
          </a:prstGeom>
        </p:spPr>
      </p:pic>
      <p:pic>
        <p:nvPicPr>
          <p:cNvPr id="20" name="图片 19">
            <a:extLst>
              <a:ext uri="{FF2B5EF4-FFF2-40B4-BE49-F238E27FC236}">
                <a16:creationId xmlns:a16="http://schemas.microsoft.com/office/drawing/2014/main" id="{08D5DF74-25F6-4AA7-B388-5289580274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48381" y="5076514"/>
            <a:ext cx="1285395" cy="1231837"/>
          </a:xfrm>
          <a:prstGeom prst="rect">
            <a:avLst/>
          </a:prstGeom>
        </p:spPr>
      </p:pic>
    </p:spTree>
    <p:extLst>
      <p:ext uri="{BB962C8B-B14F-4D97-AF65-F5344CB8AC3E}">
        <p14:creationId xmlns:p14="http://schemas.microsoft.com/office/powerpoint/2010/main" val="2695691034"/>
      </p:ext>
    </p:ext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AED7665-6A3E-4815-AF19-C3CF5AE230EB}"/>
              </a:ext>
            </a:extLst>
          </p:cNvPr>
          <p:cNvPicPr>
            <a:picLocks noChangeAspect="1"/>
          </p:cNvPicPr>
          <p:nvPr/>
        </p:nvPicPr>
        <p:blipFill>
          <a:blip r:embed="rId4"/>
          <a:stretch>
            <a:fillRect/>
          </a:stretch>
        </p:blipFill>
        <p:spPr>
          <a:xfrm>
            <a:off x="1624538" y="-23066"/>
            <a:ext cx="6602583" cy="2527800"/>
          </a:xfrm>
          <a:prstGeom prst="rect">
            <a:avLst/>
          </a:prstGeom>
        </p:spPr>
      </p:pic>
      <p:sp>
        <p:nvSpPr>
          <p:cNvPr id="112643" name="Rectangle 3"/>
          <p:cNvSpPr>
            <a:spLocks noChangeArrowheads="1"/>
          </p:cNvSpPr>
          <p:nvPr/>
        </p:nvSpPr>
        <p:spPr bwMode="auto">
          <a:xfrm>
            <a:off x="2866415" y="-14605"/>
            <a:ext cx="3048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zh-CN" altLang="en-US" sz="3200" b="1" dirty="0">
                <a:solidFill>
                  <a:srgbClr val="009900"/>
                </a:solidFill>
                <a:ea typeface="楷体_GB2312" pitchFamily="49" charset="-122"/>
              </a:rPr>
              <a:t>上节内容回顾</a:t>
            </a:r>
          </a:p>
        </p:txBody>
      </p:sp>
      <p:sp>
        <p:nvSpPr>
          <p:cNvPr id="112692" name="Text Box 52"/>
          <p:cNvSpPr txBox="1">
            <a:spLocks noChangeArrowheads="1"/>
          </p:cNvSpPr>
          <p:nvPr/>
        </p:nvSpPr>
        <p:spPr bwMode="auto">
          <a:xfrm>
            <a:off x="-25284" y="2363396"/>
            <a:ext cx="802612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endParaRPr lang="en-US" altLang="zh-CN" sz="2400" b="1">
              <a:latin typeface="宋体" pitchFamily="2" charset="-122"/>
            </a:endParaRPr>
          </a:p>
          <a:p>
            <a:pPr algn="l" eaLnBrk="1" hangingPunct="1">
              <a:buFontTx/>
              <a:buChar char="•"/>
            </a:pPr>
            <a:r>
              <a:rPr lang="zh-CN" altLang="en-US" sz="2400" b="1">
                <a:latin typeface="宋体" pitchFamily="2" charset="-122"/>
              </a:rPr>
              <a:t>热机和制冷机</a:t>
            </a:r>
          </a:p>
          <a:p>
            <a:pPr algn="l" eaLnBrk="1" hangingPunct="1">
              <a:buFontTx/>
              <a:buChar char="•"/>
            </a:pPr>
            <a:endParaRPr lang="zh-CN" altLang="en-US" sz="2400" b="1">
              <a:latin typeface="宋体" pitchFamily="2" charset="-122"/>
            </a:endParaRPr>
          </a:p>
          <a:p>
            <a:pPr algn="l" eaLnBrk="1" hangingPunct="1">
              <a:buFontTx/>
              <a:buChar char="•"/>
            </a:pPr>
            <a:r>
              <a:rPr lang="zh-CN" altLang="en-US" sz="2400" b="1">
                <a:solidFill>
                  <a:srgbClr val="FF0000"/>
                </a:solidFill>
                <a:latin typeface="宋体" pitchFamily="2" charset="-122"/>
              </a:rPr>
              <a:t>卡诺循环：热机                  致冷机</a:t>
            </a:r>
          </a:p>
        </p:txBody>
      </p:sp>
      <p:graphicFrame>
        <p:nvGraphicFramePr>
          <p:cNvPr id="112693" name="Object 53"/>
          <p:cNvGraphicFramePr>
            <a:graphicFrameLocks noChangeAspect="1"/>
          </p:cNvGraphicFramePr>
          <p:nvPr>
            <p:extLst>
              <p:ext uri="{D42A27DB-BD31-4B8C-83A1-F6EECF244321}">
                <p14:modId xmlns:p14="http://schemas.microsoft.com/office/powerpoint/2010/main" val="1736756153"/>
              </p:ext>
            </p:extLst>
          </p:nvPr>
        </p:nvGraphicFramePr>
        <p:xfrm>
          <a:off x="2274399" y="6110987"/>
          <a:ext cx="1583348" cy="793238"/>
        </p:xfrm>
        <a:graphic>
          <a:graphicData uri="http://schemas.openxmlformats.org/presentationml/2006/ole">
            <mc:AlternateContent xmlns:mc="http://schemas.openxmlformats.org/markup-compatibility/2006">
              <mc:Choice xmlns:v="urn:schemas-microsoft-com:vml" Requires="v">
                <p:oleObj spid="_x0000_s176224" name="公式" r:id="rId5" imgW="660113" imgH="444307" progId="Equation.3">
                  <p:embed/>
                </p:oleObj>
              </mc:Choice>
              <mc:Fallback>
                <p:oleObj name="公式" r:id="rId5" imgW="660113" imgH="444307" progId="Equation.3">
                  <p:embed/>
                  <p:pic>
                    <p:nvPicPr>
                      <p:cNvPr id="112693" name="Object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4399" y="6110987"/>
                        <a:ext cx="1583348" cy="793238"/>
                      </a:xfrm>
                      <a:prstGeom prst="rect">
                        <a:avLst/>
                      </a:prstGeom>
                      <a:noFill/>
                      <a:ln>
                        <a:noFill/>
                      </a:ln>
                      <a:effectLst/>
                      <a:extLst/>
                    </p:spPr>
                  </p:pic>
                </p:oleObj>
              </mc:Fallback>
            </mc:AlternateContent>
          </a:graphicData>
        </a:graphic>
      </p:graphicFrame>
      <p:graphicFrame>
        <p:nvGraphicFramePr>
          <p:cNvPr id="112695" name="Object 55"/>
          <p:cNvGraphicFramePr>
            <a:graphicFrameLocks noChangeAspect="1"/>
          </p:cNvGraphicFramePr>
          <p:nvPr>
            <p:extLst>
              <p:ext uri="{D42A27DB-BD31-4B8C-83A1-F6EECF244321}">
                <p14:modId xmlns:p14="http://schemas.microsoft.com/office/powerpoint/2010/main" val="928941259"/>
              </p:ext>
            </p:extLst>
          </p:nvPr>
        </p:nvGraphicFramePr>
        <p:xfrm>
          <a:off x="2321175" y="2590059"/>
          <a:ext cx="3212827" cy="826402"/>
        </p:xfrm>
        <a:graphic>
          <a:graphicData uri="http://schemas.openxmlformats.org/presentationml/2006/ole">
            <mc:AlternateContent xmlns:mc="http://schemas.openxmlformats.org/markup-compatibility/2006">
              <mc:Choice xmlns:v="urn:schemas-microsoft-com:vml" Requires="v">
                <p:oleObj spid="_x0000_s176225" name="Equation" r:id="rId7" imgW="1968480" imgH="507960" progId="Equation.DSMT4">
                  <p:embed/>
                </p:oleObj>
              </mc:Choice>
              <mc:Fallback>
                <p:oleObj name="Equation" r:id="rId7" imgW="1968480" imgH="507960" progId="Equation.DSMT4">
                  <p:embed/>
                  <p:pic>
                    <p:nvPicPr>
                      <p:cNvPr id="112695" name="Object 55"/>
                      <p:cNvPicPr>
                        <a:picLocks noChangeAspect="1" noChangeArrowheads="1"/>
                      </p:cNvPicPr>
                      <p:nvPr/>
                    </p:nvPicPr>
                    <p:blipFill>
                      <a:blip r:embed="rId8"/>
                      <a:srcRect/>
                      <a:stretch>
                        <a:fillRect/>
                      </a:stretch>
                    </p:blipFill>
                    <p:spPr bwMode="auto">
                      <a:xfrm>
                        <a:off x="2321175" y="2590059"/>
                        <a:ext cx="3212827" cy="826402"/>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graphicFrame>
        <p:nvGraphicFramePr>
          <p:cNvPr id="112697" name="Object 57"/>
          <p:cNvGraphicFramePr>
            <a:graphicFrameLocks noChangeAspect="1"/>
          </p:cNvGraphicFramePr>
          <p:nvPr>
            <p:extLst>
              <p:ext uri="{D42A27DB-BD31-4B8C-83A1-F6EECF244321}">
                <p14:modId xmlns:p14="http://schemas.microsoft.com/office/powerpoint/2010/main" val="2632478660"/>
              </p:ext>
            </p:extLst>
          </p:nvPr>
        </p:nvGraphicFramePr>
        <p:xfrm>
          <a:off x="6800638" y="6084441"/>
          <a:ext cx="2310071" cy="617225"/>
        </p:xfrm>
        <a:graphic>
          <a:graphicData uri="http://schemas.openxmlformats.org/presentationml/2006/ole">
            <mc:AlternateContent xmlns:mc="http://schemas.openxmlformats.org/markup-compatibility/2006">
              <mc:Choice xmlns:v="urn:schemas-microsoft-com:vml" Requires="v">
                <p:oleObj spid="_x0000_s176226" name="Equation" r:id="rId9" imgW="1685841" imgH="400185" progId="Equation.DSMT4">
                  <p:embed/>
                </p:oleObj>
              </mc:Choice>
              <mc:Fallback>
                <p:oleObj name="Equation" r:id="rId9" imgW="1685841" imgH="400185" progId="Equation.DSMT4">
                  <p:embed/>
                  <p:pic>
                    <p:nvPicPr>
                      <p:cNvPr id="112697" name="Object 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00638" y="6084441"/>
                        <a:ext cx="2310071" cy="617225"/>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041342859"/>
              </p:ext>
            </p:extLst>
          </p:nvPr>
        </p:nvGraphicFramePr>
        <p:xfrm>
          <a:off x="5625803" y="2611821"/>
          <a:ext cx="3518197" cy="777517"/>
        </p:xfrm>
        <a:graphic>
          <a:graphicData uri="http://schemas.openxmlformats.org/presentationml/2006/ole">
            <mc:AlternateContent xmlns:mc="http://schemas.openxmlformats.org/markup-compatibility/2006">
              <mc:Choice xmlns:v="urn:schemas-microsoft-com:vml" Requires="v">
                <p:oleObj spid="_x0000_s176227" name="Equation" r:id="rId11" imgW="2286000" imgH="507960" progId="Equation.DSMT4">
                  <p:embed/>
                </p:oleObj>
              </mc:Choice>
              <mc:Fallback>
                <p:oleObj name="Equation" r:id="rId11" imgW="2286000" imgH="507960" progId="Equation.DSMT4">
                  <p:embed/>
                  <p:pic>
                    <p:nvPicPr>
                      <p:cNvPr id="9" name="对象 8"/>
                      <p:cNvPicPr>
                        <a:picLocks noChangeAspect="1" noChangeArrowheads="1"/>
                      </p:cNvPicPr>
                      <p:nvPr/>
                    </p:nvPicPr>
                    <p:blipFill>
                      <a:blip r:embed="rId12"/>
                      <a:srcRect/>
                      <a:stretch>
                        <a:fillRect/>
                      </a:stretch>
                    </p:blipFill>
                    <p:spPr bwMode="auto">
                      <a:xfrm>
                        <a:off x="5625803" y="2611821"/>
                        <a:ext cx="3518197" cy="777517"/>
                      </a:xfrm>
                      <a:prstGeom prst="rect">
                        <a:avLst/>
                      </a:prstGeom>
                      <a:gradFill rotWithShape="0">
                        <a:gsLst>
                          <a:gs pos="0">
                            <a:schemeClr val="accent1"/>
                          </a:gs>
                          <a:gs pos="50000">
                            <a:srgbClr val="FFFFFF"/>
                          </a:gs>
                          <a:gs pos="100000">
                            <a:schemeClr val="accent1"/>
                          </a:gs>
                        </a:gsLst>
                        <a:lin ang="5400000" scaled="1"/>
                      </a:gradFill>
                      <a:ln>
                        <a:noFill/>
                      </a:ln>
                      <a:extLst/>
                    </p:spPr>
                  </p:pic>
                </p:oleObj>
              </mc:Fallback>
            </mc:AlternateContent>
          </a:graphicData>
        </a:graphic>
      </p:graphicFrame>
      <p:pic>
        <p:nvPicPr>
          <p:cNvPr id="16" name="Picture 371">
            <a:extLst>
              <a:ext uri="{FF2B5EF4-FFF2-40B4-BE49-F238E27FC236}">
                <a16:creationId xmlns:a16="http://schemas.microsoft.com/office/drawing/2014/main" id="{00011EF3-2C27-4F76-A9AB-11727F30F80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84560" y="3918598"/>
            <a:ext cx="2502777" cy="19451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7" name="Group 5">
            <a:extLst>
              <a:ext uri="{FF2B5EF4-FFF2-40B4-BE49-F238E27FC236}">
                <a16:creationId xmlns:a16="http://schemas.microsoft.com/office/drawing/2014/main" id="{A2A99BBD-3E1A-4FA0-B7A5-3FEB78C19356}"/>
              </a:ext>
            </a:extLst>
          </p:cNvPr>
          <p:cNvGrpSpPr>
            <a:grpSpLocks/>
          </p:cNvGrpSpPr>
          <p:nvPr/>
        </p:nvGrpSpPr>
        <p:grpSpPr bwMode="auto">
          <a:xfrm>
            <a:off x="4837739" y="4164604"/>
            <a:ext cx="1723829" cy="2042236"/>
            <a:chOff x="3360" y="432"/>
            <a:chExt cx="1440" cy="1584"/>
          </a:xfrm>
        </p:grpSpPr>
        <p:sp>
          <p:nvSpPr>
            <p:cNvPr id="19" name="Rectangle 6">
              <a:extLst>
                <a:ext uri="{FF2B5EF4-FFF2-40B4-BE49-F238E27FC236}">
                  <a16:creationId xmlns:a16="http://schemas.microsoft.com/office/drawing/2014/main" id="{49429FCE-E7A8-4A83-9DE2-CD0CE3C05F88}"/>
                </a:ext>
              </a:extLst>
            </p:cNvPr>
            <p:cNvSpPr>
              <a:spLocks noChangeArrowheads="1"/>
            </p:cNvSpPr>
            <p:nvPr/>
          </p:nvSpPr>
          <p:spPr bwMode="auto">
            <a:xfrm>
              <a:off x="3456" y="432"/>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b="1">
                  <a:latin typeface="Arial" pitchFamily="34" charset="0"/>
                </a:rPr>
                <a:t>T</a:t>
              </a:r>
              <a:r>
                <a:rPr lang="en-US" altLang="zh-CN" sz="1800" b="1" baseline="-25000">
                  <a:latin typeface="Arial" pitchFamily="34" charset="0"/>
                </a:rPr>
                <a:t>1</a:t>
              </a:r>
              <a:endParaRPr lang="en-US" altLang="zh-CN" sz="1800">
                <a:latin typeface="Arial" pitchFamily="34" charset="0"/>
              </a:endParaRPr>
            </a:p>
          </p:txBody>
        </p:sp>
        <p:sp>
          <p:nvSpPr>
            <p:cNvPr id="22" name="Oval 7" descr="深色下对角线">
              <a:extLst>
                <a:ext uri="{FF2B5EF4-FFF2-40B4-BE49-F238E27FC236}">
                  <a16:creationId xmlns:a16="http://schemas.microsoft.com/office/drawing/2014/main" id="{F351E83A-C041-4624-A56D-D058A6AE4E5A}"/>
                </a:ext>
              </a:extLst>
            </p:cNvPr>
            <p:cNvSpPr>
              <a:spLocks noChangeArrowheads="1"/>
            </p:cNvSpPr>
            <p:nvPr/>
          </p:nvSpPr>
          <p:spPr bwMode="auto">
            <a:xfrm>
              <a:off x="3984" y="1008"/>
              <a:ext cx="480" cy="480"/>
            </a:xfrm>
            <a:prstGeom prst="ellipse">
              <a:avLst/>
            </a:prstGeom>
            <a:pattFill prst="dkDnDiag">
              <a:fgClr>
                <a:schemeClr val="tx1"/>
              </a:fgClr>
              <a:bgClr>
                <a:schemeClr val="accent1"/>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Rectangle 8">
              <a:extLst>
                <a:ext uri="{FF2B5EF4-FFF2-40B4-BE49-F238E27FC236}">
                  <a16:creationId xmlns:a16="http://schemas.microsoft.com/office/drawing/2014/main" id="{E20F5371-963F-4B8E-8879-BA8E1B588EF6}"/>
                </a:ext>
              </a:extLst>
            </p:cNvPr>
            <p:cNvSpPr>
              <a:spLocks noChangeArrowheads="1"/>
            </p:cNvSpPr>
            <p:nvPr/>
          </p:nvSpPr>
          <p:spPr bwMode="auto">
            <a:xfrm>
              <a:off x="4224" y="672"/>
              <a:ext cx="144" cy="110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Rectangle 9">
              <a:extLst>
                <a:ext uri="{FF2B5EF4-FFF2-40B4-BE49-F238E27FC236}">
                  <a16:creationId xmlns:a16="http://schemas.microsoft.com/office/drawing/2014/main" id="{EAF941D1-3C65-47F9-90D0-2F8A714B2377}"/>
                </a:ext>
              </a:extLst>
            </p:cNvPr>
            <p:cNvSpPr>
              <a:spLocks noChangeArrowheads="1"/>
            </p:cNvSpPr>
            <p:nvPr/>
          </p:nvSpPr>
          <p:spPr bwMode="auto">
            <a:xfrm>
              <a:off x="4080" y="672"/>
              <a:ext cx="144" cy="432"/>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Rectangle 10">
              <a:extLst>
                <a:ext uri="{FF2B5EF4-FFF2-40B4-BE49-F238E27FC236}">
                  <a16:creationId xmlns:a16="http://schemas.microsoft.com/office/drawing/2014/main" id="{A3F32267-76F1-42FA-9E94-3E0D291C55E2}"/>
                </a:ext>
              </a:extLst>
            </p:cNvPr>
            <p:cNvSpPr>
              <a:spLocks noChangeArrowheads="1"/>
            </p:cNvSpPr>
            <p:nvPr/>
          </p:nvSpPr>
          <p:spPr bwMode="auto">
            <a:xfrm>
              <a:off x="3648" y="1200"/>
              <a:ext cx="384" cy="14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11">
              <a:extLst>
                <a:ext uri="{FF2B5EF4-FFF2-40B4-BE49-F238E27FC236}">
                  <a16:creationId xmlns:a16="http://schemas.microsoft.com/office/drawing/2014/main" id="{0870C2FA-96F4-4479-8832-314714DB7888}"/>
                </a:ext>
              </a:extLst>
            </p:cNvPr>
            <p:cNvSpPr>
              <a:spLocks noChangeArrowheads="1"/>
            </p:cNvSpPr>
            <p:nvPr/>
          </p:nvSpPr>
          <p:spPr bwMode="auto">
            <a:xfrm rot="1764019" flipH="1">
              <a:off x="3888" y="720"/>
              <a:ext cx="384" cy="720"/>
            </a:xfrm>
            <a:prstGeom prst="moon">
              <a:avLst>
                <a:gd name="adj" fmla="val 50000"/>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p>
          </p:txBody>
        </p:sp>
        <p:sp>
          <p:nvSpPr>
            <p:cNvPr id="27" name="Rectangle 12">
              <a:extLst>
                <a:ext uri="{FF2B5EF4-FFF2-40B4-BE49-F238E27FC236}">
                  <a16:creationId xmlns:a16="http://schemas.microsoft.com/office/drawing/2014/main" id="{D24D45B5-17CE-4D63-A09C-70A2799142D1}"/>
                </a:ext>
              </a:extLst>
            </p:cNvPr>
            <p:cNvSpPr>
              <a:spLocks noChangeArrowheads="1"/>
            </p:cNvSpPr>
            <p:nvPr/>
          </p:nvSpPr>
          <p:spPr bwMode="auto">
            <a:xfrm>
              <a:off x="3456" y="1776"/>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b="1">
                  <a:latin typeface="Arial" pitchFamily="34" charset="0"/>
                </a:rPr>
                <a:t>T</a:t>
              </a:r>
              <a:r>
                <a:rPr lang="en-US" altLang="zh-CN" sz="1800" b="1" baseline="-25000">
                  <a:latin typeface="Arial" pitchFamily="34" charset="0"/>
                </a:rPr>
                <a:t>2</a:t>
              </a:r>
              <a:endParaRPr lang="en-US" altLang="zh-CN" sz="1800" b="1">
                <a:latin typeface="Arial" pitchFamily="34" charset="0"/>
              </a:endParaRPr>
            </a:p>
          </p:txBody>
        </p:sp>
        <p:sp>
          <p:nvSpPr>
            <p:cNvPr id="28" name="Line 13">
              <a:extLst>
                <a:ext uri="{FF2B5EF4-FFF2-40B4-BE49-F238E27FC236}">
                  <a16:creationId xmlns:a16="http://schemas.microsoft.com/office/drawing/2014/main" id="{BFF4A750-63A3-4E4E-A67D-99EB5262DEA3}"/>
                </a:ext>
              </a:extLst>
            </p:cNvPr>
            <p:cNvSpPr>
              <a:spLocks noChangeShapeType="1"/>
            </p:cNvSpPr>
            <p:nvPr/>
          </p:nvSpPr>
          <p:spPr bwMode="auto">
            <a:xfrm flipV="1">
              <a:off x="4224" y="672"/>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14">
              <a:extLst>
                <a:ext uri="{FF2B5EF4-FFF2-40B4-BE49-F238E27FC236}">
                  <a16:creationId xmlns:a16="http://schemas.microsoft.com/office/drawing/2014/main" id="{B32503F1-36A6-4B0A-9668-8609E1CAC552}"/>
                </a:ext>
              </a:extLst>
            </p:cNvPr>
            <p:cNvSpPr>
              <a:spLocks noChangeShapeType="1"/>
            </p:cNvSpPr>
            <p:nvPr/>
          </p:nvSpPr>
          <p:spPr bwMode="auto">
            <a:xfrm flipV="1">
              <a:off x="4272" y="1536"/>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Text Box 15">
              <a:extLst>
                <a:ext uri="{FF2B5EF4-FFF2-40B4-BE49-F238E27FC236}">
                  <a16:creationId xmlns:a16="http://schemas.microsoft.com/office/drawing/2014/main" id="{9C6ED732-0544-4FDE-A376-292BBC3AB0A6}"/>
                </a:ext>
              </a:extLst>
            </p:cNvPr>
            <p:cNvSpPr txBox="1">
              <a:spLocks noChangeArrowheads="1"/>
            </p:cNvSpPr>
            <p:nvPr/>
          </p:nvSpPr>
          <p:spPr bwMode="auto">
            <a:xfrm>
              <a:off x="4070" y="870"/>
              <a:ext cx="2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a:latin typeface="Arial" pitchFamily="34" charset="0"/>
                </a:rPr>
                <a:t>Q</a:t>
              </a:r>
              <a:r>
                <a:rPr lang="en-US" altLang="zh-CN" sz="1800" baseline="-25000">
                  <a:latin typeface="Arial" pitchFamily="34" charset="0"/>
                </a:rPr>
                <a:t>1</a:t>
              </a:r>
              <a:endParaRPr lang="en-US" altLang="zh-CN" sz="1800">
                <a:latin typeface="Arial" pitchFamily="34" charset="0"/>
              </a:endParaRPr>
            </a:p>
          </p:txBody>
        </p:sp>
        <p:sp>
          <p:nvSpPr>
            <p:cNvPr id="31" name="Text Box 16">
              <a:extLst>
                <a:ext uri="{FF2B5EF4-FFF2-40B4-BE49-F238E27FC236}">
                  <a16:creationId xmlns:a16="http://schemas.microsoft.com/office/drawing/2014/main" id="{F42FF039-C376-4A6D-94C4-42FC4A83DDA6}"/>
                </a:ext>
              </a:extLst>
            </p:cNvPr>
            <p:cNvSpPr txBox="1">
              <a:spLocks noChangeArrowheads="1"/>
            </p:cNvSpPr>
            <p:nvPr/>
          </p:nvSpPr>
          <p:spPr bwMode="auto">
            <a:xfrm>
              <a:off x="4128" y="1350"/>
              <a:ext cx="2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a:latin typeface="Arial" pitchFamily="34" charset="0"/>
                </a:rPr>
                <a:t>Q</a:t>
              </a:r>
              <a:r>
                <a:rPr lang="en-US" altLang="zh-CN" sz="1800" baseline="-25000">
                  <a:latin typeface="Arial" pitchFamily="34" charset="0"/>
                </a:rPr>
                <a:t>2</a:t>
              </a:r>
              <a:endParaRPr lang="en-US" altLang="zh-CN" sz="1800">
                <a:latin typeface="Arial" pitchFamily="34" charset="0"/>
              </a:endParaRPr>
            </a:p>
          </p:txBody>
        </p:sp>
        <p:sp>
          <p:nvSpPr>
            <p:cNvPr id="32" name="Line 17">
              <a:extLst>
                <a:ext uri="{FF2B5EF4-FFF2-40B4-BE49-F238E27FC236}">
                  <a16:creationId xmlns:a16="http://schemas.microsoft.com/office/drawing/2014/main" id="{5576EE89-BF13-41E7-AAD0-72D911B3BDEB}"/>
                </a:ext>
              </a:extLst>
            </p:cNvPr>
            <p:cNvSpPr>
              <a:spLocks noChangeShapeType="1"/>
            </p:cNvSpPr>
            <p:nvPr/>
          </p:nvSpPr>
          <p:spPr bwMode="auto">
            <a:xfrm>
              <a:off x="3600" y="129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18">
              <a:extLst>
                <a:ext uri="{FF2B5EF4-FFF2-40B4-BE49-F238E27FC236}">
                  <a16:creationId xmlns:a16="http://schemas.microsoft.com/office/drawing/2014/main" id="{F175786D-0E1B-4551-9FBC-47B07019106F}"/>
                </a:ext>
              </a:extLst>
            </p:cNvPr>
            <p:cNvSpPr txBox="1">
              <a:spLocks noChangeArrowheads="1"/>
            </p:cNvSpPr>
            <p:nvPr/>
          </p:nvSpPr>
          <p:spPr bwMode="auto">
            <a:xfrm>
              <a:off x="3360" y="1158"/>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i="1">
                  <a:latin typeface="Arial" pitchFamily="34" charset="0"/>
                </a:rPr>
                <a:t>A</a:t>
              </a:r>
            </a:p>
          </p:txBody>
        </p:sp>
      </p:grpSp>
      <p:grpSp>
        <p:nvGrpSpPr>
          <p:cNvPr id="73" name="Group 1032">
            <a:extLst>
              <a:ext uri="{FF2B5EF4-FFF2-40B4-BE49-F238E27FC236}">
                <a16:creationId xmlns:a16="http://schemas.microsoft.com/office/drawing/2014/main" id="{71C19482-9583-467E-87F9-89EE50BA9519}"/>
              </a:ext>
            </a:extLst>
          </p:cNvPr>
          <p:cNvGrpSpPr>
            <a:grpSpLocks/>
          </p:cNvGrpSpPr>
          <p:nvPr/>
        </p:nvGrpSpPr>
        <p:grpSpPr bwMode="auto">
          <a:xfrm>
            <a:off x="218895" y="4248384"/>
            <a:ext cx="1667032" cy="2045101"/>
            <a:chOff x="3648" y="2208"/>
            <a:chExt cx="1537" cy="1584"/>
          </a:xfrm>
        </p:grpSpPr>
        <p:sp>
          <p:nvSpPr>
            <p:cNvPr id="74" name="Rectangle 1033">
              <a:extLst>
                <a:ext uri="{FF2B5EF4-FFF2-40B4-BE49-F238E27FC236}">
                  <a16:creationId xmlns:a16="http://schemas.microsoft.com/office/drawing/2014/main" id="{7C3BF785-664C-4ABC-926B-D7DE15630A29}"/>
                </a:ext>
              </a:extLst>
            </p:cNvPr>
            <p:cNvSpPr>
              <a:spLocks noChangeArrowheads="1"/>
            </p:cNvSpPr>
            <p:nvPr/>
          </p:nvSpPr>
          <p:spPr bwMode="auto">
            <a:xfrm>
              <a:off x="3648" y="2208"/>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zh-CN" sz="2400" b="1">
                  <a:solidFill>
                    <a:srgbClr val="3333FF"/>
                  </a:solidFill>
                  <a:latin typeface="Arial" pitchFamily="34" charset="0"/>
                  <a:ea typeface="楷体_GB2312" pitchFamily="49" charset="-122"/>
                </a:rPr>
                <a:t>高温热源</a:t>
              </a:r>
              <a:r>
                <a:rPr lang="zh-CN" altLang="zh-CN" sz="1800" b="1">
                  <a:latin typeface="Arial" pitchFamily="34" charset="0"/>
                </a:rPr>
                <a:t> </a:t>
              </a:r>
              <a:r>
                <a:rPr lang="en-US" altLang="zh-CN" sz="1800" b="1">
                  <a:latin typeface="Arial" pitchFamily="34" charset="0"/>
                </a:rPr>
                <a:t>T</a:t>
              </a:r>
              <a:r>
                <a:rPr lang="en-US" altLang="zh-CN" sz="1800" b="1" baseline="-25000">
                  <a:latin typeface="Arial" pitchFamily="34" charset="0"/>
                </a:rPr>
                <a:t>1</a:t>
              </a:r>
              <a:endParaRPr lang="en-US" altLang="zh-CN" sz="1800" b="1">
                <a:latin typeface="Arial" pitchFamily="34" charset="0"/>
              </a:endParaRPr>
            </a:p>
          </p:txBody>
        </p:sp>
        <p:sp>
          <p:nvSpPr>
            <p:cNvPr id="75" name="Oval 1034" descr="深色下对角线">
              <a:extLst>
                <a:ext uri="{FF2B5EF4-FFF2-40B4-BE49-F238E27FC236}">
                  <a16:creationId xmlns:a16="http://schemas.microsoft.com/office/drawing/2014/main" id="{11B10FC0-53FC-45B5-AF7D-9949955B1B35}"/>
                </a:ext>
              </a:extLst>
            </p:cNvPr>
            <p:cNvSpPr>
              <a:spLocks noChangeArrowheads="1"/>
            </p:cNvSpPr>
            <p:nvPr/>
          </p:nvSpPr>
          <p:spPr bwMode="auto">
            <a:xfrm>
              <a:off x="4128" y="2784"/>
              <a:ext cx="480" cy="480"/>
            </a:xfrm>
            <a:prstGeom prst="ellipse">
              <a:avLst/>
            </a:prstGeom>
            <a:pattFill prst="dkDnDiag">
              <a:fgClr>
                <a:schemeClr val="tx1"/>
              </a:fgClr>
              <a:bgClr>
                <a:schemeClr val="accent1"/>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Rectangle 1035">
              <a:extLst>
                <a:ext uri="{FF2B5EF4-FFF2-40B4-BE49-F238E27FC236}">
                  <a16:creationId xmlns:a16="http://schemas.microsoft.com/office/drawing/2014/main" id="{B7CC9195-065F-462F-B960-471942E78119}"/>
                </a:ext>
              </a:extLst>
            </p:cNvPr>
            <p:cNvSpPr>
              <a:spLocks noChangeArrowheads="1"/>
            </p:cNvSpPr>
            <p:nvPr/>
          </p:nvSpPr>
          <p:spPr bwMode="auto">
            <a:xfrm>
              <a:off x="4224" y="2448"/>
              <a:ext cx="144" cy="110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Rectangle 1036">
              <a:extLst>
                <a:ext uri="{FF2B5EF4-FFF2-40B4-BE49-F238E27FC236}">
                  <a16:creationId xmlns:a16="http://schemas.microsoft.com/office/drawing/2014/main" id="{5A0CD9B3-08A5-4309-94B1-C9B515FC4AC9}"/>
                </a:ext>
              </a:extLst>
            </p:cNvPr>
            <p:cNvSpPr>
              <a:spLocks noChangeArrowheads="1"/>
            </p:cNvSpPr>
            <p:nvPr/>
          </p:nvSpPr>
          <p:spPr bwMode="auto">
            <a:xfrm>
              <a:off x="4368" y="2448"/>
              <a:ext cx="144" cy="432"/>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Rectangle 1037">
              <a:extLst>
                <a:ext uri="{FF2B5EF4-FFF2-40B4-BE49-F238E27FC236}">
                  <a16:creationId xmlns:a16="http://schemas.microsoft.com/office/drawing/2014/main" id="{5690BBC1-1ADD-4E1B-B73D-E1E8DCBCEED4}"/>
                </a:ext>
              </a:extLst>
            </p:cNvPr>
            <p:cNvSpPr>
              <a:spLocks noChangeArrowheads="1"/>
            </p:cNvSpPr>
            <p:nvPr/>
          </p:nvSpPr>
          <p:spPr bwMode="auto">
            <a:xfrm>
              <a:off x="4560" y="2976"/>
              <a:ext cx="384" cy="144"/>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AutoShape 1038">
              <a:extLst>
                <a:ext uri="{FF2B5EF4-FFF2-40B4-BE49-F238E27FC236}">
                  <a16:creationId xmlns:a16="http://schemas.microsoft.com/office/drawing/2014/main" id="{1A905C09-57DC-49D1-8A8A-F596EADF5515}"/>
                </a:ext>
              </a:extLst>
            </p:cNvPr>
            <p:cNvSpPr>
              <a:spLocks noChangeArrowheads="1"/>
            </p:cNvSpPr>
            <p:nvPr/>
          </p:nvSpPr>
          <p:spPr bwMode="auto">
            <a:xfrm rot="-1764019">
              <a:off x="4319" y="2496"/>
              <a:ext cx="384" cy="720"/>
            </a:xfrm>
            <a:prstGeom prst="moon">
              <a:avLst>
                <a:gd name="adj" fmla="val 50000"/>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p>
          </p:txBody>
        </p:sp>
        <p:sp>
          <p:nvSpPr>
            <p:cNvPr id="80" name="Rectangle 1039">
              <a:extLst>
                <a:ext uri="{FF2B5EF4-FFF2-40B4-BE49-F238E27FC236}">
                  <a16:creationId xmlns:a16="http://schemas.microsoft.com/office/drawing/2014/main" id="{067E2941-1184-4580-AE44-95596FFFCAFB}"/>
                </a:ext>
              </a:extLst>
            </p:cNvPr>
            <p:cNvSpPr>
              <a:spLocks noChangeArrowheads="1"/>
            </p:cNvSpPr>
            <p:nvPr/>
          </p:nvSpPr>
          <p:spPr bwMode="auto">
            <a:xfrm>
              <a:off x="3648" y="3552"/>
              <a:ext cx="1344" cy="24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400" b="1">
                  <a:solidFill>
                    <a:srgbClr val="3333FF"/>
                  </a:solidFill>
                  <a:latin typeface="Arial" pitchFamily="34" charset="0"/>
                  <a:ea typeface="楷体_GB2312" pitchFamily="49" charset="-122"/>
                </a:rPr>
                <a:t>低温热源</a:t>
              </a:r>
              <a:r>
                <a:rPr lang="zh-CN" altLang="en-US" sz="1800" b="1">
                  <a:latin typeface="Arial" pitchFamily="34" charset="0"/>
                </a:rPr>
                <a:t> </a:t>
              </a:r>
              <a:r>
                <a:rPr lang="en-US" altLang="zh-CN" sz="1800" b="1">
                  <a:latin typeface="Arial" pitchFamily="34" charset="0"/>
                </a:rPr>
                <a:t>T</a:t>
              </a:r>
              <a:r>
                <a:rPr lang="en-US" altLang="zh-CN" sz="1800" b="1" baseline="-25000">
                  <a:latin typeface="Arial" pitchFamily="34" charset="0"/>
                </a:rPr>
                <a:t>2</a:t>
              </a:r>
              <a:endParaRPr lang="en-US" altLang="zh-CN" sz="1800" b="1">
                <a:latin typeface="Arial" pitchFamily="34" charset="0"/>
              </a:endParaRPr>
            </a:p>
          </p:txBody>
        </p:sp>
        <p:sp>
          <p:nvSpPr>
            <p:cNvPr id="81" name="Line 1040">
              <a:extLst>
                <a:ext uri="{FF2B5EF4-FFF2-40B4-BE49-F238E27FC236}">
                  <a16:creationId xmlns:a16="http://schemas.microsoft.com/office/drawing/2014/main" id="{8F4CFF1E-33E4-488A-B778-C5E69536BC11}"/>
                </a:ext>
              </a:extLst>
            </p:cNvPr>
            <p:cNvSpPr>
              <a:spLocks noChangeShapeType="1"/>
            </p:cNvSpPr>
            <p:nvPr/>
          </p:nvSpPr>
          <p:spPr bwMode="auto">
            <a:xfrm>
              <a:off x="4368" y="2448"/>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1041">
              <a:extLst>
                <a:ext uri="{FF2B5EF4-FFF2-40B4-BE49-F238E27FC236}">
                  <a16:creationId xmlns:a16="http://schemas.microsoft.com/office/drawing/2014/main" id="{07D753E1-FD8A-4304-BEF7-6DA5F1B95B7E}"/>
                </a:ext>
              </a:extLst>
            </p:cNvPr>
            <p:cNvSpPr>
              <a:spLocks noChangeShapeType="1"/>
            </p:cNvSpPr>
            <p:nvPr/>
          </p:nvSpPr>
          <p:spPr bwMode="auto">
            <a:xfrm>
              <a:off x="4272" y="3312"/>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Text Box 1042">
              <a:extLst>
                <a:ext uri="{FF2B5EF4-FFF2-40B4-BE49-F238E27FC236}">
                  <a16:creationId xmlns:a16="http://schemas.microsoft.com/office/drawing/2014/main" id="{B3329624-1F9C-4682-9D1C-7E907361B534}"/>
                </a:ext>
              </a:extLst>
            </p:cNvPr>
            <p:cNvSpPr txBox="1">
              <a:spLocks noChangeArrowheads="1"/>
            </p:cNvSpPr>
            <p:nvPr/>
          </p:nvSpPr>
          <p:spPr bwMode="auto">
            <a:xfrm>
              <a:off x="4224" y="2646"/>
              <a:ext cx="2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a:latin typeface="Arial" pitchFamily="34" charset="0"/>
                </a:rPr>
                <a:t>Q</a:t>
              </a:r>
              <a:r>
                <a:rPr lang="en-US" altLang="zh-CN" sz="1800" b="1" baseline="-25000">
                  <a:latin typeface="Arial" pitchFamily="34" charset="0"/>
                </a:rPr>
                <a:t>1</a:t>
              </a:r>
              <a:endParaRPr lang="en-US" altLang="zh-CN" sz="1800" b="1">
                <a:latin typeface="Arial" pitchFamily="34" charset="0"/>
              </a:endParaRPr>
            </a:p>
          </p:txBody>
        </p:sp>
        <p:sp>
          <p:nvSpPr>
            <p:cNvPr id="84" name="Text Box 1043">
              <a:extLst>
                <a:ext uri="{FF2B5EF4-FFF2-40B4-BE49-F238E27FC236}">
                  <a16:creationId xmlns:a16="http://schemas.microsoft.com/office/drawing/2014/main" id="{36A3CE1C-350D-4AC0-8EBE-BF46C400259F}"/>
                </a:ext>
              </a:extLst>
            </p:cNvPr>
            <p:cNvSpPr txBox="1">
              <a:spLocks noChangeArrowheads="1"/>
            </p:cNvSpPr>
            <p:nvPr/>
          </p:nvSpPr>
          <p:spPr bwMode="auto">
            <a:xfrm>
              <a:off x="4128" y="3126"/>
              <a:ext cx="2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a:latin typeface="Arial" pitchFamily="34" charset="0"/>
                </a:rPr>
                <a:t>Q</a:t>
              </a:r>
              <a:r>
                <a:rPr lang="en-US" altLang="zh-CN" sz="1800" b="1" baseline="-25000">
                  <a:latin typeface="Arial" pitchFamily="34" charset="0"/>
                </a:rPr>
                <a:t>2</a:t>
              </a:r>
              <a:endParaRPr lang="en-US" altLang="zh-CN" sz="1800" b="1">
                <a:latin typeface="Arial" pitchFamily="34" charset="0"/>
              </a:endParaRPr>
            </a:p>
          </p:txBody>
        </p:sp>
        <p:sp>
          <p:nvSpPr>
            <p:cNvPr id="85" name="Line 1044">
              <a:extLst>
                <a:ext uri="{FF2B5EF4-FFF2-40B4-BE49-F238E27FC236}">
                  <a16:creationId xmlns:a16="http://schemas.microsoft.com/office/drawing/2014/main" id="{7DA6B605-B41B-48A9-B61A-52BFACD1657A}"/>
                </a:ext>
              </a:extLst>
            </p:cNvPr>
            <p:cNvSpPr>
              <a:spLocks noChangeShapeType="1"/>
            </p:cNvSpPr>
            <p:nvPr/>
          </p:nvSpPr>
          <p:spPr bwMode="auto">
            <a:xfrm>
              <a:off x="4752" y="3024"/>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Text Box 1045">
              <a:extLst>
                <a:ext uri="{FF2B5EF4-FFF2-40B4-BE49-F238E27FC236}">
                  <a16:creationId xmlns:a16="http://schemas.microsoft.com/office/drawing/2014/main" id="{19588573-1BF1-478D-A6CB-2341FE6AC4B3}"/>
                </a:ext>
              </a:extLst>
            </p:cNvPr>
            <p:cNvSpPr txBox="1">
              <a:spLocks noChangeArrowheads="1"/>
            </p:cNvSpPr>
            <p:nvPr/>
          </p:nvSpPr>
          <p:spPr bwMode="auto">
            <a:xfrm>
              <a:off x="4965" y="2934"/>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1800" b="1" i="1">
                  <a:latin typeface="Arial" pitchFamily="34" charset="0"/>
                </a:rPr>
                <a:t>A</a:t>
              </a:r>
            </a:p>
          </p:txBody>
        </p:sp>
      </p:grpSp>
      <p:pic>
        <p:nvPicPr>
          <p:cNvPr id="3" name="图片 2">
            <a:extLst>
              <a:ext uri="{FF2B5EF4-FFF2-40B4-BE49-F238E27FC236}">
                <a16:creationId xmlns:a16="http://schemas.microsoft.com/office/drawing/2014/main" id="{95399E10-6886-4ACA-A15C-80B460BE4167}"/>
              </a:ext>
            </a:extLst>
          </p:cNvPr>
          <p:cNvPicPr>
            <a:picLocks noChangeAspect="1"/>
          </p:cNvPicPr>
          <p:nvPr/>
        </p:nvPicPr>
        <p:blipFill>
          <a:blip r:embed="rId14"/>
          <a:stretch>
            <a:fillRect/>
          </a:stretch>
        </p:blipFill>
        <p:spPr>
          <a:xfrm>
            <a:off x="2032567" y="4185089"/>
            <a:ext cx="2210053" cy="1799854"/>
          </a:xfrm>
          <a:prstGeom prst="rect">
            <a:avLst/>
          </a:prstGeom>
        </p:spPr>
      </p:pic>
    </p:spTree>
    <p:extLst>
      <p:ext uri="{BB962C8B-B14F-4D97-AF65-F5344CB8AC3E}">
        <p14:creationId xmlns:p14="http://schemas.microsoft.com/office/powerpoint/2010/main" val="109543146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12695"/>
                                        </p:tgtEl>
                                        <p:attrNameLst>
                                          <p:attrName>style.visibility</p:attrName>
                                        </p:attrNameLst>
                                      </p:cBhvr>
                                      <p:to>
                                        <p:strVal val="visible"/>
                                      </p:to>
                                    </p:set>
                                    <p:animEffect transition="in" filter="wipe(left)">
                                      <p:cBhvr>
                                        <p:cTn id="15" dur="500"/>
                                        <p:tgtEl>
                                          <p:spTgt spid="11269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73"/>
                                        </p:tgtEl>
                                        <p:attrNameLst>
                                          <p:attrName>style.visibility</p:attrName>
                                        </p:attrNameLst>
                                      </p:cBhvr>
                                      <p:to>
                                        <p:strVal val="visible"/>
                                      </p:to>
                                    </p:set>
                                    <p:animEffect transition="in" filter="box(out)">
                                      <p:cBhvr>
                                        <p:cTn id="25" dur="500"/>
                                        <p:tgtEl>
                                          <p:spTgt spid="7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12693"/>
                                        </p:tgtEl>
                                        <p:attrNameLst>
                                          <p:attrName>style.visibility</p:attrName>
                                        </p:attrNameLst>
                                      </p:cBhvr>
                                      <p:to>
                                        <p:strVal val="visible"/>
                                      </p:to>
                                    </p:set>
                                    <p:animEffect transition="in" filter="wipe(left)">
                                      <p:cBhvr>
                                        <p:cTn id="39" dur="500"/>
                                        <p:tgtEl>
                                          <p:spTgt spid="11269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12697"/>
                                        </p:tgtEl>
                                        <p:attrNameLst>
                                          <p:attrName>style.visibility</p:attrName>
                                        </p:attrNameLst>
                                      </p:cBhvr>
                                      <p:to>
                                        <p:strVal val="visible"/>
                                      </p:to>
                                    </p:set>
                                    <p:animEffect transition="in" filter="wipe(left)">
                                      <p:cBhvr>
                                        <p:cTn id="48" dur="500"/>
                                        <p:tgtEl>
                                          <p:spTgt spid="112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E34256F-CFAA-4EB4-847F-F1C8DDF82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74" y="1340768"/>
            <a:ext cx="8958251" cy="3338984"/>
          </a:xfrm>
          <a:prstGeom prst="rect">
            <a:avLst/>
          </a:prstGeom>
        </p:spPr>
      </p:pic>
      <p:sp>
        <p:nvSpPr>
          <p:cNvPr id="4" name="文本框 3">
            <a:extLst>
              <a:ext uri="{FF2B5EF4-FFF2-40B4-BE49-F238E27FC236}">
                <a16:creationId xmlns:a16="http://schemas.microsoft.com/office/drawing/2014/main" id="{940694D1-6734-44C2-93C6-AD06785CD1AC}"/>
              </a:ext>
            </a:extLst>
          </p:cNvPr>
          <p:cNvSpPr txBox="1"/>
          <p:nvPr/>
        </p:nvSpPr>
        <p:spPr>
          <a:xfrm>
            <a:off x="2238842" y="332656"/>
            <a:ext cx="4781429" cy="707886"/>
          </a:xfrm>
          <a:prstGeom prst="rect">
            <a:avLst/>
          </a:prstGeom>
          <a:noFill/>
        </p:spPr>
        <p:txBody>
          <a:bodyPr wrap="square" rtlCol="0">
            <a:spAutoFit/>
          </a:bodyPr>
          <a:lstStyle/>
          <a:p>
            <a:r>
              <a:rPr lang="zh-CN" altLang="en-US" b="1"/>
              <a:t>随堂测试</a:t>
            </a:r>
            <a:endParaRPr lang="en-US" altLang="zh-CN" b="1"/>
          </a:p>
          <a:p>
            <a:r>
              <a:rPr lang="zh-CN" altLang="en-US" b="1"/>
              <a:t>学号                              姓名</a:t>
            </a:r>
          </a:p>
        </p:txBody>
      </p:sp>
    </p:spTree>
    <p:extLst>
      <p:ext uri="{BB962C8B-B14F-4D97-AF65-F5344CB8AC3E}">
        <p14:creationId xmlns:p14="http://schemas.microsoft.com/office/powerpoint/2010/main" val="284600992"/>
      </p:ext>
    </p:ext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539750" y="417513"/>
            <a:ext cx="8029575"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4000" b="1">
                <a:solidFill>
                  <a:srgbClr val="FF3300"/>
                </a:solidFill>
                <a:latin typeface="华文新魏" pitchFamily="2" charset="-122"/>
                <a:ea typeface="华文新魏" pitchFamily="2" charset="-122"/>
              </a:rPr>
              <a:t>6~4</a:t>
            </a:r>
            <a:r>
              <a:rPr lang="zh-CN" altLang="en-US" sz="4000" b="1">
                <a:solidFill>
                  <a:srgbClr val="FF3300"/>
                </a:solidFill>
                <a:latin typeface="华文新魏" pitchFamily="2" charset="-122"/>
                <a:ea typeface="华文新魏" pitchFamily="2" charset="-122"/>
              </a:rPr>
              <a:t>热力学第二定律</a:t>
            </a:r>
            <a:endParaRPr lang="en-US" altLang="zh-CN" sz="4000" b="1">
              <a:solidFill>
                <a:srgbClr val="FF3300"/>
              </a:solidFill>
              <a:latin typeface="华文新魏" pitchFamily="2" charset="-122"/>
              <a:ea typeface="华文新魏" pitchFamily="2" charset="-122"/>
            </a:endParaRPr>
          </a:p>
          <a:p>
            <a:pPr algn="l" eaLnBrk="1" hangingPunct="1"/>
            <a:r>
              <a:rPr lang="en-US" altLang="zh-CN" sz="4000" b="1">
                <a:solidFill>
                  <a:srgbClr val="FF3300"/>
                </a:solidFill>
                <a:latin typeface="华文新魏" pitchFamily="2" charset="-122"/>
                <a:ea typeface="华文新魏" pitchFamily="2" charset="-122"/>
              </a:rPr>
              <a:t>6</a:t>
            </a:r>
            <a:r>
              <a:rPr lang="zh-CN" altLang="en-US" sz="4000" b="1">
                <a:solidFill>
                  <a:srgbClr val="FF3300"/>
                </a:solidFill>
                <a:latin typeface="华文新魏" pitchFamily="2" charset="-122"/>
                <a:ea typeface="华文新魏" pitchFamily="2" charset="-122"/>
              </a:rPr>
              <a:t>－</a:t>
            </a:r>
            <a:r>
              <a:rPr lang="en-US" altLang="zh-CN" sz="4000" b="1">
                <a:solidFill>
                  <a:srgbClr val="FF3300"/>
                </a:solidFill>
                <a:latin typeface="华文新魏" pitchFamily="2" charset="-122"/>
                <a:ea typeface="华文新魏" pitchFamily="2" charset="-122"/>
              </a:rPr>
              <a:t>5</a:t>
            </a:r>
            <a:r>
              <a:rPr lang="zh-CN" altLang="en-US" sz="4000" b="1">
                <a:solidFill>
                  <a:srgbClr val="FF3300"/>
                </a:solidFill>
                <a:latin typeface="华文新魏" pitchFamily="2" charset="-122"/>
                <a:ea typeface="华文新魏" pitchFamily="2" charset="-122"/>
              </a:rPr>
              <a:t>可逆与不可逆过程</a:t>
            </a:r>
            <a:r>
              <a:rPr lang="en-US" altLang="zh-CN" sz="4000" b="1">
                <a:solidFill>
                  <a:srgbClr val="FF3300"/>
                </a:solidFill>
                <a:latin typeface="华文新魏" pitchFamily="2" charset="-122"/>
                <a:ea typeface="华文新魏" pitchFamily="2" charset="-122"/>
              </a:rPr>
              <a:t>;</a:t>
            </a:r>
            <a:r>
              <a:rPr lang="zh-CN" altLang="en-US" sz="4000" b="1">
                <a:solidFill>
                  <a:srgbClr val="FF3300"/>
                </a:solidFill>
                <a:latin typeface="华文新魏" pitchFamily="2" charset="-122"/>
                <a:ea typeface="华文新魏" pitchFamily="2" charset="-122"/>
              </a:rPr>
              <a:t>卡诺定理</a:t>
            </a:r>
          </a:p>
        </p:txBody>
      </p:sp>
      <p:sp>
        <p:nvSpPr>
          <p:cNvPr id="156675" name="Rectangle 3"/>
          <p:cNvSpPr>
            <a:spLocks noChangeArrowheads="1"/>
          </p:cNvSpPr>
          <p:nvPr/>
        </p:nvSpPr>
        <p:spPr bwMode="auto">
          <a:xfrm>
            <a:off x="0" y="2349500"/>
            <a:ext cx="8785225"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r>
              <a:rPr lang="en-US" altLang="zh-CN" sz="3200" b="1">
                <a:solidFill>
                  <a:schemeClr val="hlink"/>
                </a:solidFill>
                <a:ea typeface="楷体_GB2312" pitchFamily="49" charset="-122"/>
              </a:rPr>
              <a:t>    </a:t>
            </a:r>
            <a:r>
              <a:rPr lang="zh-CN" altLang="en-US" sz="3200" b="1">
                <a:solidFill>
                  <a:schemeClr val="hlink"/>
                </a:solidFill>
                <a:ea typeface="楷体_GB2312" pitchFamily="49" charset="-122"/>
              </a:rPr>
              <a:t>一、自然过程的方向性</a:t>
            </a:r>
          </a:p>
          <a:p>
            <a:pPr marL="342900" indent="-342900" algn="l" eaLnBrk="0" hangingPunct="0"/>
            <a:endParaRPr lang="zh-CN" altLang="en-US" sz="3200" b="1">
              <a:solidFill>
                <a:schemeClr val="hlink"/>
              </a:solidFill>
              <a:ea typeface="楷体_GB2312" pitchFamily="49" charset="-122"/>
            </a:endParaRPr>
          </a:p>
          <a:p>
            <a:pPr marL="342900" indent="-342900" algn="l" eaLnBrk="0" hangingPunct="0"/>
            <a:r>
              <a:rPr lang="zh-CN" altLang="en-US" sz="3200" b="1">
                <a:solidFill>
                  <a:schemeClr val="hlink"/>
                </a:solidFill>
                <a:ea typeface="楷体_GB2312" pitchFamily="49" charset="-122"/>
              </a:rPr>
              <a:t>     二、可逆与不可逆过程 </a:t>
            </a:r>
          </a:p>
          <a:p>
            <a:pPr marL="342900" indent="-342900" algn="l" eaLnBrk="0" hangingPunct="0"/>
            <a:r>
              <a:rPr lang="zh-CN" altLang="en-US" sz="3200" b="1">
                <a:solidFill>
                  <a:schemeClr val="hlink"/>
                </a:solidFill>
                <a:ea typeface="楷体_GB2312" pitchFamily="49" charset="-122"/>
              </a:rPr>
              <a:t>     </a:t>
            </a:r>
          </a:p>
          <a:p>
            <a:pPr marL="342900" indent="-342900" algn="l" eaLnBrk="0" hangingPunct="0"/>
            <a:r>
              <a:rPr lang="zh-CN" altLang="en-US" sz="3200" b="1">
                <a:solidFill>
                  <a:schemeClr val="hlink"/>
                </a:solidFill>
                <a:ea typeface="楷体_GB2312" pitchFamily="49" charset="-122"/>
              </a:rPr>
              <a:t>     三、 热力学第二定律的两种表述和卡诺定理</a:t>
            </a:r>
          </a:p>
          <a:p>
            <a:pPr marL="342900" indent="-342900" algn="l" eaLnBrk="0" hangingPunct="0"/>
            <a:endParaRPr lang="zh-CN" altLang="en-US" sz="3200" b="1">
              <a:solidFill>
                <a:schemeClr val="hlink"/>
              </a:solidFill>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Effect transition="in" filter="wipe(left)">
                                      <p:cBhvr>
                                        <p:cTn id="7" dur="500"/>
                                        <p:tgtEl>
                                          <p:spTgt spid="1566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6675">
                                            <p:txEl>
                                              <p:pRg st="2" end="2"/>
                                            </p:txEl>
                                          </p:spTgt>
                                        </p:tgtEl>
                                        <p:attrNameLst>
                                          <p:attrName>style.visibility</p:attrName>
                                        </p:attrNameLst>
                                      </p:cBhvr>
                                      <p:to>
                                        <p:strVal val="visible"/>
                                      </p:to>
                                    </p:set>
                                    <p:animEffect transition="in" filter="wipe(left)">
                                      <p:cBhvr>
                                        <p:cTn id="12" dur="500"/>
                                        <p:tgtEl>
                                          <p:spTgt spid="15667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6675">
                                            <p:txEl>
                                              <p:pRg st="3" end="3"/>
                                            </p:txEl>
                                          </p:spTgt>
                                        </p:tgtEl>
                                        <p:attrNameLst>
                                          <p:attrName>style.visibility</p:attrName>
                                        </p:attrNameLst>
                                      </p:cBhvr>
                                      <p:to>
                                        <p:strVal val="visible"/>
                                      </p:to>
                                    </p:set>
                                    <p:animEffect transition="in" filter="wipe(left)">
                                      <p:cBhvr>
                                        <p:cTn id="17" dur="500"/>
                                        <p:tgtEl>
                                          <p:spTgt spid="15667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6675">
                                            <p:txEl>
                                              <p:pRg st="4" end="4"/>
                                            </p:txEl>
                                          </p:spTgt>
                                        </p:tgtEl>
                                        <p:attrNameLst>
                                          <p:attrName>style.visibility</p:attrName>
                                        </p:attrNameLst>
                                      </p:cBhvr>
                                      <p:to>
                                        <p:strVal val="visible"/>
                                      </p:to>
                                    </p:set>
                                    <p:animEffect transition="in" filter="wipe(left)">
                                      <p:cBhvr>
                                        <p:cTn id="22" dur="500"/>
                                        <p:tgtEl>
                                          <p:spTgt spid="1566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bldLvl="2"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2" descr="深色木质"/>
          <p:cNvSpPr txBox="1">
            <a:spLocks noChangeArrowheads="1"/>
          </p:cNvSpPr>
          <p:nvPr/>
        </p:nvSpPr>
        <p:spPr bwMode="auto">
          <a:xfrm>
            <a:off x="990600" y="609600"/>
            <a:ext cx="6934200" cy="64135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996633"/>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flatTx/>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eaLnBrk="1" hangingPunct="1"/>
            <a:r>
              <a:rPr lang="zh-CN" altLang="en-US" sz="3600" b="1" dirty="0">
                <a:solidFill>
                  <a:schemeClr val="bg1"/>
                </a:solidFill>
                <a:ea typeface="楷体_GB2312" pitchFamily="49" charset="-122"/>
              </a:rPr>
              <a:t>一、自然过程的方向性</a:t>
            </a:r>
          </a:p>
        </p:txBody>
      </p:sp>
      <p:sp>
        <p:nvSpPr>
          <p:cNvPr id="157699" name="Text Box 3"/>
          <p:cNvSpPr txBox="1">
            <a:spLocks noChangeArrowheads="1"/>
          </p:cNvSpPr>
          <p:nvPr/>
        </p:nvSpPr>
        <p:spPr bwMode="auto">
          <a:xfrm>
            <a:off x="609600" y="1981200"/>
            <a:ext cx="7850188" cy="1433513"/>
          </a:xfrm>
          <a:prstGeom prst="rect">
            <a:avLst/>
          </a:prstGeom>
          <a:solidFill>
            <a:srgbClr val="99FF66"/>
          </a:solid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3200" b="1">
                <a:latin typeface="宋体" pitchFamily="2" charset="-122"/>
              </a:rPr>
              <a:t> </a:t>
            </a:r>
            <a:r>
              <a:rPr lang="zh-CN" altLang="en-US" sz="3200" b="1">
                <a:solidFill>
                  <a:srgbClr val="FF0000"/>
                </a:solidFill>
                <a:latin typeface="宋体" pitchFamily="2" charset="-122"/>
              </a:rPr>
              <a:t>热力学第一定律：</a:t>
            </a:r>
            <a:r>
              <a:rPr lang="zh-CN" altLang="en-US" sz="2800" b="1">
                <a:latin typeface="宋体" pitchFamily="2" charset="-122"/>
              </a:rPr>
              <a:t>一切热力学过程都应满足能量守恒。但满足能量守恒的过程是否一定都能进行</a:t>
            </a:r>
            <a:r>
              <a:rPr lang="en-US" altLang="zh-CN" sz="2800" b="1">
                <a:latin typeface="宋体" pitchFamily="2" charset="-122"/>
              </a:rPr>
              <a:t>?</a:t>
            </a:r>
          </a:p>
        </p:txBody>
      </p:sp>
      <p:sp>
        <p:nvSpPr>
          <p:cNvPr id="157700" name="Text Box 4"/>
          <p:cNvSpPr txBox="1">
            <a:spLocks noChangeArrowheads="1"/>
          </p:cNvSpPr>
          <p:nvPr/>
        </p:nvSpPr>
        <p:spPr bwMode="auto">
          <a:xfrm>
            <a:off x="762000" y="4021138"/>
            <a:ext cx="7697788" cy="1495425"/>
          </a:xfrm>
          <a:prstGeom prst="rect">
            <a:avLst/>
          </a:prstGeom>
          <a:solidFill>
            <a:srgbClr val="99FF66"/>
          </a:solid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3600" b="1">
                <a:solidFill>
                  <a:srgbClr val="FF0000"/>
                </a:solidFill>
                <a:ea typeface="楷体_GB2312" pitchFamily="49" charset="-122"/>
              </a:rPr>
              <a:t>热力学第二定律：</a:t>
            </a:r>
            <a:r>
              <a:rPr lang="zh-CN" altLang="en-US" sz="2800" b="1">
                <a:latin typeface="宋体" pitchFamily="2" charset="-122"/>
              </a:rPr>
              <a:t>满足能量守恒的过程不一定都能进行</a:t>
            </a:r>
            <a:r>
              <a:rPr lang="en-US" altLang="zh-CN" sz="2800" b="1">
                <a:latin typeface="宋体" pitchFamily="2" charset="-122"/>
              </a:rPr>
              <a:t>!</a:t>
            </a:r>
            <a:r>
              <a:rPr lang="zh-CN" altLang="en-US" sz="2800" b="1">
                <a:latin typeface="宋体" pitchFamily="2" charset="-122"/>
              </a:rPr>
              <a:t>过程的进行还有个方向性的问题。       </a:t>
            </a: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179388" y="115888"/>
            <a:ext cx="77993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3200" b="1">
                <a:solidFill>
                  <a:srgbClr val="0000FF"/>
                </a:solidFill>
                <a:latin typeface="宋体" pitchFamily="2" charset="-122"/>
              </a:rPr>
              <a:t>例</a:t>
            </a:r>
            <a:r>
              <a:rPr lang="en-US" altLang="zh-CN" sz="3200" b="1">
                <a:solidFill>
                  <a:srgbClr val="0000FF"/>
                </a:solidFill>
                <a:latin typeface="宋体" pitchFamily="2" charset="-122"/>
              </a:rPr>
              <a:t>1</a:t>
            </a:r>
            <a:r>
              <a:rPr lang="zh-CN" altLang="en-US" sz="3200" b="1">
                <a:solidFill>
                  <a:srgbClr val="0000FF"/>
                </a:solidFill>
                <a:latin typeface="宋体" pitchFamily="2" charset="-122"/>
              </a:rPr>
              <a:t>．功热转换的方向性</a:t>
            </a:r>
            <a:r>
              <a:rPr lang="zh-CN" altLang="en-US" sz="2800" b="1">
                <a:solidFill>
                  <a:srgbClr val="FF00FF"/>
                </a:solidFill>
                <a:latin typeface="宋体" pitchFamily="2" charset="-122"/>
              </a:rPr>
              <a:t>    </a:t>
            </a:r>
            <a:r>
              <a:rPr lang="zh-CN" altLang="en-US" sz="2800" b="1">
                <a:latin typeface="宋体" pitchFamily="2" charset="-122"/>
              </a:rPr>
              <a:t>                       </a:t>
            </a:r>
            <a:endParaRPr lang="zh-CN" altLang="en-US" sz="2800">
              <a:latin typeface="宋体" pitchFamily="2" charset="-122"/>
            </a:endParaRPr>
          </a:p>
        </p:txBody>
      </p:sp>
      <p:sp>
        <p:nvSpPr>
          <p:cNvPr id="158723" name="Text Box 3"/>
          <p:cNvSpPr txBox="1">
            <a:spLocks noChangeArrowheads="1"/>
          </p:cNvSpPr>
          <p:nvPr/>
        </p:nvSpPr>
        <p:spPr bwMode="auto">
          <a:xfrm>
            <a:off x="3762375" y="692150"/>
            <a:ext cx="5273675"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latin typeface="宋体" pitchFamily="2" charset="-122"/>
              </a:rPr>
              <a:t> </a:t>
            </a:r>
            <a:r>
              <a:rPr lang="zh-CN" altLang="en-US" sz="2800" b="1">
                <a:solidFill>
                  <a:srgbClr val="FF0000"/>
                </a:solidFill>
                <a:latin typeface="宋体" pitchFamily="2" charset="-122"/>
              </a:rPr>
              <a:t>功 </a:t>
            </a:r>
            <a:r>
              <a:rPr lang="zh-CN" altLang="en-US" sz="2800" b="1">
                <a:solidFill>
                  <a:srgbClr val="FF0000"/>
                </a:solidFill>
                <a:latin typeface="宋体" pitchFamily="2" charset="-122"/>
                <a:sym typeface="Symbol" pitchFamily="18" charset="2"/>
              </a:rPr>
              <a:t></a:t>
            </a:r>
            <a:r>
              <a:rPr lang="zh-CN" altLang="en-US" sz="2800" b="1">
                <a:solidFill>
                  <a:srgbClr val="FF0000"/>
                </a:solidFill>
                <a:latin typeface="宋体" pitchFamily="2" charset="-122"/>
              </a:rPr>
              <a:t> 热</a:t>
            </a:r>
            <a:r>
              <a:rPr lang="zh-CN" altLang="en-US" sz="2800" b="1">
                <a:latin typeface="宋体" pitchFamily="2" charset="-122"/>
              </a:rPr>
              <a:t>  可以自动地进行</a:t>
            </a:r>
          </a:p>
          <a:p>
            <a:pPr algn="l" eaLnBrk="1" hangingPunct="1"/>
            <a:r>
              <a:rPr lang="zh-CN" altLang="en-US" sz="2800" b="1">
                <a:latin typeface="宋体" pitchFamily="2" charset="-122"/>
              </a:rPr>
              <a:t>      </a:t>
            </a:r>
            <a:r>
              <a:rPr lang="en-US" altLang="zh-CN" sz="2800" b="1">
                <a:latin typeface="宋体" pitchFamily="2" charset="-122"/>
              </a:rPr>
              <a:t>(</a:t>
            </a:r>
            <a:r>
              <a:rPr lang="zh-CN" altLang="en-US" sz="2800" b="1">
                <a:latin typeface="宋体" pitchFamily="2" charset="-122"/>
              </a:rPr>
              <a:t>如摩擦生热、焦耳实验</a:t>
            </a:r>
            <a:r>
              <a:rPr lang="en-US" altLang="zh-CN" sz="2800" b="1">
                <a:latin typeface="宋体" pitchFamily="2" charset="-122"/>
              </a:rPr>
              <a:t>)</a:t>
            </a:r>
            <a:r>
              <a:rPr lang="en-US" altLang="zh-CN" sz="2800" b="1">
                <a:solidFill>
                  <a:srgbClr val="008000"/>
                </a:solidFill>
                <a:latin typeface="宋体" pitchFamily="2" charset="-122"/>
              </a:rPr>
              <a:t> </a:t>
            </a:r>
            <a:r>
              <a:rPr lang="en-US" altLang="zh-CN" sz="2800" b="1">
                <a:latin typeface="宋体" pitchFamily="2" charset="-122"/>
              </a:rPr>
              <a:t>             </a:t>
            </a:r>
          </a:p>
        </p:txBody>
      </p:sp>
      <p:sp>
        <p:nvSpPr>
          <p:cNvPr id="158724" name="Text Box 4"/>
          <p:cNvSpPr txBox="1">
            <a:spLocks noChangeArrowheads="1"/>
          </p:cNvSpPr>
          <p:nvPr/>
        </p:nvSpPr>
        <p:spPr bwMode="auto">
          <a:xfrm>
            <a:off x="3625850" y="3427413"/>
            <a:ext cx="5562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latin typeface="宋体" pitchFamily="2" charset="-122"/>
              </a:rPr>
              <a:t> </a:t>
            </a:r>
            <a:r>
              <a:rPr lang="zh-CN" altLang="en-US" sz="3200" b="1">
                <a:solidFill>
                  <a:srgbClr val="0000FF"/>
                </a:solidFill>
                <a:latin typeface="宋体" pitchFamily="2" charset="-122"/>
              </a:rPr>
              <a:t>例</a:t>
            </a:r>
            <a:r>
              <a:rPr lang="en-US" altLang="zh-CN" sz="3200" b="1">
                <a:solidFill>
                  <a:srgbClr val="0000FF"/>
                </a:solidFill>
                <a:latin typeface="宋体" pitchFamily="2" charset="-122"/>
              </a:rPr>
              <a:t>2</a:t>
            </a:r>
            <a:r>
              <a:rPr lang="zh-CN" altLang="en-US" sz="3200" b="1">
                <a:solidFill>
                  <a:srgbClr val="0000FF"/>
                </a:solidFill>
                <a:latin typeface="宋体" pitchFamily="2" charset="-122"/>
              </a:rPr>
              <a:t>．热传导的方向性</a:t>
            </a:r>
            <a:r>
              <a:rPr lang="zh-CN" altLang="en-US" sz="2800" b="1">
                <a:solidFill>
                  <a:srgbClr val="FF00FF"/>
                </a:solidFill>
                <a:latin typeface="宋体" pitchFamily="2" charset="-122"/>
              </a:rPr>
              <a:t>     </a:t>
            </a:r>
            <a:r>
              <a:rPr lang="zh-CN" altLang="en-US" sz="2800" b="1">
                <a:latin typeface="宋体" pitchFamily="2" charset="-122"/>
              </a:rPr>
              <a:t>                  </a:t>
            </a:r>
            <a:endParaRPr lang="zh-CN" altLang="en-US" sz="2800">
              <a:latin typeface="宋体" pitchFamily="2" charset="-122"/>
            </a:endParaRPr>
          </a:p>
        </p:txBody>
      </p:sp>
      <p:sp>
        <p:nvSpPr>
          <p:cNvPr id="158725" name="Text Box 5"/>
          <p:cNvSpPr txBox="1">
            <a:spLocks noChangeArrowheads="1"/>
          </p:cNvSpPr>
          <p:nvPr/>
        </p:nvSpPr>
        <p:spPr bwMode="auto">
          <a:xfrm>
            <a:off x="539750" y="5857875"/>
            <a:ext cx="7758113" cy="955675"/>
          </a:xfrm>
          <a:prstGeom prst="rect">
            <a:avLst/>
          </a:prstGeom>
          <a:solidFill>
            <a:schemeClr val="bg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latin typeface="宋体" pitchFamily="2" charset="-122"/>
              </a:rPr>
              <a:t>    </a:t>
            </a:r>
            <a:r>
              <a:rPr lang="zh-CN" altLang="en-US" sz="2800" b="1">
                <a:latin typeface="宋体" pitchFamily="2" charset="-122"/>
              </a:rPr>
              <a:t>热量可以</a:t>
            </a:r>
            <a:r>
              <a:rPr lang="zh-CN" altLang="en-US" sz="2800" b="1">
                <a:solidFill>
                  <a:srgbClr val="FF3300"/>
                </a:solidFill>
                <a:latin typeface="宋体" pitchFamily="2" charset="-122"/>
              </a:rPr>
              <a:t>自动地</a:t>
            </a:r>
            <a:r>
              <a:rPr lang="zh-CN" altLang="en-US" sz="2800" b="1">
                <a:latin typeface="宋体" pitchFamily="2" charset="-122"/>
              </a:rPr>
              <a:t>从高温物体传向低温物体</a:t>
            </a:r>
            <a:r>
              <a:rPr lang="en-US" altLang="zh-CN" sz="2800" b="1">
                <a:latin typeface="宋体" pitchFamily="2" charset="-122"/>
              </a:rPr>
              <a:t>,</a:t>
            </a:r>
            <a:r>
              <a:rPr lang="zh-CN" altLang="en-US" sz="2800" b="1">
                <a:latin typeface="宋体" pitchFamily="2" charset="-122"/>
              </a:rPr>
              <a:t>但相反的过程却不能发生</a:t>
            </a:r>
            <a:r>
              <a:rPr lang="en-US" altLang="zh-CN" sz="2800" b="1">
                <a:latin typeface="宋体" pitchFamily="2" charset="-122"/>
              </a:rPr>
              <a:t>. </a:t>
            </a:r>
            <a:endParaRPr lang="en-US" altLang="zh-CN" sz="2800">
              <a:latin typeface="宋体" pitchFamily="2" charset="-122"/>
            </a:endParaRPr>
          </a:p>
        </p:txBody>
      </p:sp>
      <p:sp>
        <p:nvSpPr>
          <p:cNvPr id="158726" name="Text Box 6"/>
          <p:cNvSpPr txBox="1">
            <a:spLocks noChangeArrowheads="1"/>
          </p:cNvSpPr>
          <p:nvPr/>
        </p:nvSpPr>
        <p:spPr bwMode="auto">
          <a:xfrm>
            <a:off x="3994150" y="2063750"/>
            <a:ext cx="4826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FF0000"/>
                </a:solidFill>
                <a:latin typeface="宋体" pitchFamily="2" charset="-122"/>
              </a:rPr>
              <a:t>热 </a:t>
            </a:r>
            <a:r>
              <a:rPr lang="zh-CN" altLang="en-US" sz="2800" b="1">
                <a:solidFill>
                  <a:srgbClr val="FF0000"/>
                </a:solidFill>
                <a:latin typeface="宋体" pitchFamily="2" charset="-122"/>
                <a:sym typeface="Symbol" pitchFamily="18" charset="2"/>
              </a:rPr>
              <a:t></a:t>
            </a:r>
            <a:r>
              <a:rPr lang="zh-CN" altLang="en-US" sz="2800" b="1">
                <a:solidFill>
                  <a:srgbClr val="FF0000"/>
                </a:solidFill>
                <a:latin typeface="宋体" pitchFamily="2" charset="-122"/>
              </a:rPr>
              <a:t> 功</a:t>
            </a:r>
            <a:r>
              <a:rPr lang="zh-CN" altLang="en-US" sz="2800" b="1">
                <a:latin typeface="宋体" pitchFamily="2" charset="-122"/>
              </a:rPr>
              <a:t>  不可以自动地进行</a:t>
            </a:r>
          </a:p>
          <a:p>
            <a:pPr algn="l" eaLnBrk="1" hangingPunct="1"/>
            <a:r>
              <a:rPr lang="zh-CN" altLang="en-US" sz="2800" b="1">
                <a:latin typeface="宋体" pitchFamily="2" charset="-122"/>
              </a:rPr>
              <a:t>     （焦耳实验的逆过程）</a:t>
            </a:r>
          </a:p>
        </p:txBody>
      </p:sp>
      <p:pic>
        <p:nvPicPr>
          <p:cNvPr id="34823" name="Picture 7" descr="MOVHOT"/>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23850" y="765175"/>
            <a:ext cx="3429000" cy="3082925"/>
          </a:xfrm>
          <a:prstGeom prst="rect">
            <a:avLst/>
          </a:prstGeom>
          <a:solidFill>
            <a:schemeClr val="bg2"/>
          </a:solidFill>
          <a:ln>
            <a:noFill/>
          </a:ln>
          <a:extLst/>
        </p:spPr>
      </p:pic>
      <p:pic>
        <p:nvPicPr>
          <p:cNvPr id="33802" name="Picture 10"/>
          <p:cNvPicPr>
            <a:picLocks noChangeAspect="1" noChangeArrowheads="1"/>
          </p:cNvPicPr>
          <p:nvPr/>
        </p:nvPicPr>
        <p:blipFill>
          <a:blip r:embed="rId3">
            <a:extLst>
              <a:ext uri="{28A0092B-C50C-407E-A947-70E740481C1C}">
                <a14:useLocalDpi xmlns:a14="http://schemas.microsoft.com/office/drawing/2010/main" val="0"/>
              </a:ext>
            </a:extLst>
          </a:blip>
          <a:srcRect l="13353" t="10159" r="-13353" b="10159"/>
          <a:stretch>
            <a:fillRect/>
          </a:stretch>
        </p:blipFill>
        <p:spPr bwMode="auto">
          <a:xfrm>
            <a:off x="850900" y="4005263"/>
            <a:ext cx="3614738" cy="18002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04" name="Picture 12"/>
          <p:cNvPicPr>
            <a:picLocks noChangeAspect="1" noChangeArrowheads="1"/>
          </p:cNvPicPr>
          <p:nvPr/>
        </p:nvPicPr>
        <p:blipFill>
          <a:blip r:embed="rId4">
            <a:extLst>
              <a:ext uri="{28A0092B-C50C-407E-A947-70E740481C1C}">
                <a14:useLocalDpi xmlns:a14="http://schemas.microsoft.com/office/drawing/2010/main" val="0"/>
              </a:ext>
            </a:extLst>
          </a:blip>
          <a:srcRect t="5136" b="13234"/>
          <a:stretch>
            <a:fillRect/>
          </a:stretch>
        </p:blipFill>
        <p:spPr bwMode="auto">
          <a:xfrm>
            <a:off x="4500563" y="3973513"/>
            <a:ext cx="3589337" cy="18319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8723"/>
                                        </p:tgtEl>
                                        <p:attrNameLst>
                                          <p:attrName>style.visibility</p:attrName>
                                        </p:attrNameLst>
                                      </p:cBhvr>
                                      <p:to>
                                        <p:strVal val="visible"/>
                                      </p:to>
                                    </p:set>
                                    <p:animEffect transition="in" filter="wipe(left)">
                                      <p:cBhvr>
                                        <p:cTn id="7" dur="500"/>
                                        <p:tgtEl>
                                          <p:spTgt spid="1587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8726"/>
                                        </p:tgtEl>
                                        <p:attrNameLst>
                                          <p:attrName>style.visibility</p:attrName>
                                        </p:attrNameLst>
                                      </p:cBhvr>
                                      <p:to>
                                        <p:strVal val="visible"/>
                                      </p:to>
                                    </p:set>
                                    <p:animEffect transition="in" filter="wipe(left)">
                                      <p:cBhvr>
                                        <p:cTn id="12" dur="500"/>
                                        <p:tgtEl>
                                          <p:spTgt spid="1587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872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380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80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58725"/>
                                        </p:tgtEl>
                                        <p:attrNameLst>
                                          <p:attrName>style.visibility</p:attrName>
                                        </p:attrNameLst>
                                      </p:cBhvr>
                                      <p:to>
                                        <p:strVal val="visible"/>
                                      </p:to>
                                    </p:set>
                                    <p:anim calcmode="lin" valueType="num">
                                      <p:cBhvr additive="base">
                                        <p:cTn id="27" dur="500" fill="hold"/>
                                        <p:tgtEl>
                                          <p:spTgt spid="158725"/>
                                        </p:tgtEl>
                                        <p:attrNameLst>
                                          <p:attrName>ppt_x</p:attrName>
                                        </p:attrNameLst>
                                      </p:cBhvr>
                                      <p:tavLst>
                                        <p:tav tm="0">
                                          <p:val>
                                            <p:strVal val="#ppt_x"/>
                                          </p:val>
                                        </p:tav>
                                        <p:tav tm="100000">
                                          <p:val>
                                            <p:strVal val="#ppt_x"/>
                                          </p:val>
                                        </p:tav>
                                      </p:tavLst>
                                    </p:anim>
                                    <p:anim calcmode="lin" valueType="num">
                                      <p:cBhvr additive="base">
                                        <p:cTn id="28" dur="500" fill="hold"/>
                                        <p:tgtEl>
                                          <p:spTgt spid="158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animBg="1" autoUpdateAnimBg="0"/>
      <p:bldP spid="158724" grpId="0"/>
      <p:bldP spid="158725" grpId="0" animBg="1"/>
      <p:bldP spid="158726"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043" name="Group 3"/>
          <p:cNvGrpSpPr>
            <a:grpSpLocks/>
          </p:cNvGrpSpPr>
          <p:nvPr/>
        </p:nvGrpSpPr>
        <p:grpSpPr bwMode="auto">
          <a:xfrm>
            <a:off x="3711459" y="786650"/>
            <a:ext cx="2932112" cy="1541463"/>
            <a:chOff x="3072" y="432"/>
            <a:chExt cx="2304" cy="1296"/>
          </a:xfrm>
        </p:grpSpPr>
        <p:sp>
          <p:nvSpPr>
            <p:cNvPr id="87044" name="Rectangle 4"/>
            <p:cNvSpPr>
              <a:spLocks noChangeArrowheads="1"/>
            </p:cNvSpPr>
            <p:nvPr/>
          </p:nvSpPr>
          <p:spPr bwMode="auto">
            <a:xfrm>
              <a:off x="3072" y="432"/>
              <a:ext cx="2304" cy="129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5" name="Rectangle 5" descr="大纸屑"/>
            <p:cNvSpPr>
              <a:spLocks noChangeArrowheads="1"/>
            </p:cNvSpPr>
            <p:nvPr/>
          </p:nvSpPr>
          <p:spPr bwMode="auto">
            <a:xfrm>
              <a:off x="3216" y="576"/>
              <a:ext cx="2016" cy="1008"/>
            </a:xfrm>
            <a:prstGeom prst="rect">
              <a:avLst/>
            </a:prstGeom>
            <a:pattFill prst="lgConfetti">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046" name="Group 6"/>
          <p:cNvGrpSpPr>
            <a:grpSpLocks/>
          </p:cNvGrpSpPr>
          <p:nvPr/>
        </p:nvGrpSpPr>
        <p:grpSpPr bwMode="auto">
          <a:xfrm>
            <a:off x="382859" y="714888"/>
            <a:ext cx="3168650" cy="1617662"/>
            <a:chOff x="480" y="384"/>
            <a:chExt cx="2304" cy="1344"/>
          </a:xfrm>
        </p:grpSpPr>
        <p:sp>
          <p:nvSpPr>
            <p:cNvPr id="87047" name="Rectangle 7"/>
            <p:cNvSpPr>
              <a:spLocks noChangeArrowheads="1"/>
            </p:cNvSpPr>
            <p:nvPr/>
          </p:nvSpPr>
          <p:spPr bwMode="auto">
            <a:xfrm>
              <a:off x="480" y="432"/>
              <a:ext cx="2304" cy="129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8" name="Rectangle 8" descr="大纸屑"/>
            <p:cNvSpPr>
              <a:spLocks noChangeArrowheads="1"/>
            </p:cNvSpPr>
            <p:nvPr/>
          </p:nvSpPr>
          <p:spPr bwMode="auto">
            <a:xfrm>
              <a:off x="624" y="576"/>
              <a:ext cx="1008" cy="1008"/>
            </a:xfrm>
            <a:prstGeom prst="rect">
              <a:avLst/>
            </a:prstGeom>
            <a:pattFill prst="lgConfetti">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9" name="Rectangle 9"/>
            <p:cNvSpPr>
              <a:spLocks noChangeArrowheads="1"/>
            </p:cNvSpPr>
            <p:nvPr/>
          </p:nvSpPr>
          <p:spPr bwMode="auto">
            <a:xfrm>
              <a:off x="1632" y="576"/>
              <a:ext cx="1008" cy="100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7050" name="Group 10"/>
            <p:cNvGrpSpPr>
              <a:grpSpLocks/>
            </p:cNvGrpSpPr>
            <p:nvPr/>
          </p:nvGrpSpPr>
          <p:grpSpPr bwMode="auto">
            <a:xfrm>
              <a:off x="1584" y="384"/>
              <a:ext cx="96" cy="1200"/>
              <a:chOff x="1584" y="912"/>
              <a:chExt cx="96" cy="1200"/>
            </a:xfrm>
          </p:grpSpPr>
          <p:sp>
            <p:nvSpPr>
              <p:cNvPr id="87051" name="Line 11"/>
              <p:cNvSpPr>
                <a:spLocks noChangeShapeType="1"/>
              </p:cNvSpPr>
              <p:nvPr/>
            </p:nvSpPr>
            <p:spPr bwMode="auto">
              <a:xfrm>
                <a:off x="1632" y="912"/>
                <a:ext cx="0" cy="1200"/>
              </a:xfrm>
              <a:prstGeom prst="line">
                <a:avLst/>
              </a:prstGeom>
              <a:noFill/>
              <a:ln w="571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2" name="Line 12"/>
              <p:cNvSpPr>
                <a:spLocks noChangeShapeType="1"/>
              </p:cNvSpPr>
              <p:nvPr/>
            </p:nvSpPr>
            <p:spPr bwMode="auto">
              <a:xfrm>
                <a:off x="1584" y="912"/>
                <a:ext cx="96" cy="0"/>
              </a:xfrm>
              <a:prstGeom prst="line">
                <a:avLst/>
              </a:prstGeom>
              <a:noFill/>
              <a:ln w="571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7071" name="Rectangle 31"/>
          <p:cNvSpPr>
            <a:spLocks noChangeArrowheads="1"/>
          </p:cNvSpPr>
          <p:nvPr/>
        </p:nvSpPr>
        <p:spPr bwMode="auto">
          <a:xfrm>
            <a:off x="6737867" y="693763"/>
            <a:ext cx="2406133" cy="138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buClr>
                <a:schemeClr val="accent1"/>
              </a:buClr>
              <a:buFont typeface="Wingdings" pitchFamily="2" charset="2"/>
              <a:buNone/>
            </a:pPr>
            <a:r>
              <a:rPr kumimoji="1" lang="zh-CN" altLang="en-US" sz="2800" b="1">
                <a:latin typeface="Times New Roman" pitchFamily="18" charset="0"/>
              </a:rPr>
              <a:t>非平衡态到平衡态的过程是不可逆的。</a:t>
            </a:r>
          </a:p>
        </p:txBody>
      </p:sp>
      <p:graphicFrame>
        <p:nvGraphicFramePr>
          <p:cNvPr id="14" name="Object 3">
            <a:extLst>
              <a:ext uri="{FF2B5EF4-FFF2-40B4-BE49-F238E27FC236}">
                <a16:creationId xmlns:a16="http://schemas.microsoft.com/office/drawing/2014/main" id="{ACB2C89B-D815-4B14-AD9A-9405AEE3F63D}"/>
              </a:ext>
            </a:extLst>
          </p:cNvPr>
          <p:cNvGraphicFramePr>
            <a:graphicFrameLocks noChangeAspect="1"/>
          </p:cNvGraphicFramePr>
          <p:nvPr>
            <p:extLst>
              <p:ext uri="{D42A27DB-BD31-4B8C-83A1-F6EECF244321}">
                <p14:modId xmlns:p14="http://schemas.microsoft.com/office/powerpoint/2010/main" val="733946598"/>
              </p:ext>
            </p:extLst>
          </p:nvPr>
        </p:nvGraphicFramePr>
        <p:xfrm>
          <a:off x="2924265" y="3602108"/>
          <a:ext cx="1736725" cy="574675"/>
        </p:xfrm>
        <a:graphic>
          <a:graphicData uri="http://schemas.openxmlformats.org/presentationml/2006/ole">
            <mc:AlternateContent xmlns:mc="http://schemas.openxmlformats.org/markup-compatibility/2006">
              <mc:Choice xmlns:v="urn:schemas-microsoft-com:vml" Requires="v">
                <p:oleObj spid="_x0000_s174290" name="公式" r:id="rId4" imgW="672840" imgH="215640" progId="Equation.3">
                  <p:embed/>
                </p:oleObj>
              </mc:Choice>
              <mc:Fallback>
                <p:oleObj name="公式" r:id="rId4" imgW="672840" imgH="215640" progId="Equation.3">
                  <p:embed/>
                  <p:pic>
                    <p:nvPicPr>
                      <p:cNvPr id="88067" name="Object 3"/>
                      <p:cNvPicPr>
                        <a:picLocks noChangeAspect="1" noChangeArrowheads="1"/>
                      </p:cNvPicPr>
                      <p:nvPr/>
                    </p:nvPicPr>
                    <p:blipFill>
                      <a:blip r:embed="rId5">
                        <a:lum bright="2000"/>
                      </a:blip>
                      <a:srcRect/>
                      <a:stretch>
                        <a:fillRect/>
                      </a:stretch>
                    </p:blipFill>
                    <p:spPr bwMode="auto">
                      <a:xfrm>
                        <a:off x="2924265" y="3602108"/>
                        <a:ext cx="1736725"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4">
            <a:extLst>
              <a:ext uri="{FF2B5EF4-FFF2-40B4-BE49-F238E27FC236}">
                <a16:creationId xmlns:a16="http://schemas.microsoft.com/office/drawing/2014/main" id="{DBBCC66D-D389-4EC7-B1CB-94E6D6312511}"/>
              </a:ext>
            </a:extLst>
          </p:cNvPr>
          <p:cNvGraphicFramePr>
            <a:graphicFrameLocks noChangeAspect="1"/>
          </p:cNvGraphicFramePr>
          <p:nvPr>
            <p:extLst>
              <p:ext uri="{D42A27DB-BD31-4B8C-83A1-F6EECF244321}">
                <p14:modId xmlns:p14="http://schemas.microsoft.com/office/powerpoint/2010/main" val="3654998209"/>
              </p:ext>
            </p:extLst>
          </p:nvPr>
        </p:nvGraphicFramePr>
        <p:xfrm>
          <a:off x="7499111" y="3748002"/>
          <a:ext cx="1752600" cy="549275"/>
        </p:xfrm>
        <a:graphic>
          <a:graphicData uri="http://schemas.openxmlformats.org/presentationml/2006/ole">
            <mc:AlternateContent xmlns:mc="http://schemas.openxmlformats.org/markup-compatibility/2006">
              <mc:Choice xmlns:v="urn:schemas-microsoft-com:vml" Requires="v">
                <p:oleObj spid="_x0000_s174291" name="公式" r:id="rId6" imgW="685800" imgH="215640" progId="Equation.3">
                  <p:embed/>
                </p:oleObj>
              </mc:Choice>
              <mc:Fallback>
                <p:oleObj name="公式" r:id="rId6" imgW="685800" imgH="215640" progId="Equation.3">
                  <p:embed/>
                  <p:pic>
                    <p:nvPicPr>
                      <p:cNvPr id="88068" name="Object 4"/>
                      <p:cNvPicPr>
                        <a:picLocks noChangeAspect="1" noChangeArrowheads="1"/>
                      </p:cNvPicPr>
                      <p:nvPr/>
                    </p:nvPicPr>
                    <p:blipFill>
                      <a:blip r:embed="rId7">
                        <a:lum bright="2000"/>
                      </a:blip>
                      <a:srcRect/>
                      <a:stretch>
                        <a:fillRect/>
                      </a:stretch>
                    </p:blipFill>
                    <p:spPr bwMode="auto">
                      <a:xfrm>
                        <a:off x="7499111" y="3748002"/>
                        <a:ext cx="17526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 name="Group 5">
            <a:extLst>
              <a:ext uri="{FF2B5EF4-FFF2-40B4-BE49-F238E27FC236}">
                <a16:creationId xmlns:a16="http://schemas.microsoft.com/office/drawing/2014/main" id="{84A14887-F339-483E-BB01-AFEAC9C44D98}"/>
              </a:ext>
            </a:extLst>
          </p:cNvPr>
          <p:cNvGrpSpPr>
            <a:grpSpLocks/>
          </p:cNvGrpSpPr>
          <p:nvPr/>
        </p:nvGrpSpPr>
        <p:grpSpPr bwMode="auto">
          <a:xfrm>
            <a:off x="301928" y="4681925"/>
            <a:ext cx="4965757" cy="603250"/>
            <a:chOff x="960" y="2688"/>
            <a:chExt cx="2974" cy="380"/>
          </a:xfrm>
        </p:grpSpPr>
        <p:sp>
          <p:nvSpPr>
            <p:cNvPr id="17" name="Rectangle 6">
              <a:extLst>
                <a:ext uri="{FF2B5EF4-FFF2-40B4-BE49-F238E27FC236}">
                  <a16:creationId xmlns:a16="http://schemas.microsoft.com/office/drawing/2014/main" id="{2DCD6854-2043-44E8-9ACA-4AEE6F46E43A}"/>
                </a:ext>
              </a:extLst>
            </p:cNvPr>
            <p:cNvSpPr>
              <a:spLocks noChangeArrowheads="1"/>
            </p:cNvSpPr>
            <p:nvPr/>
          </p:nvSpPr>
          <p:spPr bwMode="auto">
            <a:xfrm>
              <a:off x="960" y="2688"/>
              <a:ext cx="21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b="1"/>
                <a:t>外界对气体做了净功</a:t>
              </a:r>
            </a:p>
          </p:txBody>
        </p:sp>
        <p:graphicFrame>
          <p:nvGraphicFramePr>
            <p:cNvPr id="18" name="Object 7">
              <a:extLst>
                <a:ext uri="{FF2B5EF4-FFF2-40B4-BE49-F238E27FC236}">
                  <a16:creationId xmlns:a16="http://schemas.microsoft.com/office/drawing/2014/main" id="{87A8131D-DD7C-4032-8B8A-115188667E7E}"/>
                </a:ext>
              </a:extLst>
            </p:cNvPr>
            <p:cNvGraphicFramePr>
              <a:graphicFrameLocks noChangeAspect="1"/>
            </p:cNvGraphicFramePr>
            <p:nvPr>
              <p:extLst/>
            </p:nvPr>
          </p:nvGraphicFramePr>
          <p:xfrm>
            <a:off x="3148" y="2688"/>
            <a:ext cx="786" cy="380"/>
          </p:xfrm>
          <a:graphic>
            <a:graphicData uri="http://schemas.openxmlformats.org/presentationml/2006/ole">
              <mc:AlternateContent xmlns:mc="http://schemas.openxmlformats.org/markup-compatibility/2006">
                <mc:Choice xmlns:v="urn:schemas-microsoft-com:vml" Requires="v">
                  <p:oleObj spid="_x0000_s174292" name="公式" r:id="rId8" imgW="495000" imgH="215640" progId="Equation.3">
                    <p:embed/>
                  </p:oleObj>
                </mc:Choice>
                <mc:Fallback>
                  <p:oleObj name="公式" r:id="rId8" imgW="495000" imgH="215640" progId="Equation.3">
                    <p:embed/>
                    <p:pic>
                      <p:nvPicPr>
                        <p:cNvPr id="88071" name="Object 7"/>
                        <p:cNvPicPr>
                          <a:picLocks noChangeAspect="1" noChangeArrowheads="1"/>
                        </p:cNvPicPr>
                        <p:nvPr/>
                      </p:nvPicPr>
                      <p:blipFill>
                        <a:blip r:embed="rId9">
                          <a:lum bright="2000"/>
                        </a:blip>
                        <a:srcRect/>
                        <a:stretch>
                          <a:fillRect/>
                        </a:stretch>
                      </p:blipFill>
                      <p:spPr bwMode="auto">
                        <a:xfrm>
                          <a:off x="3148" y="2688"/>
                          <a:ext cx="786"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 name="Rectangle 8">
            <a:extLst>
              <a:ext uri="{FF2B5EF4-FFF2-40B4-BE49-F238E27FC236}">
                <a16:creationId xmlns:a16="http://schemas.microsoft.com/office/drawing/2014/main" id="{CD67B7E7-502B-4F37-89BC-5F958E468245}"/>
              </a:ext>
            </a:extLst>
          </p:cNvPr>
          <p:cNvSpPr>
            <a:spLocks noChangeArrowheads="1"/>
          </p:cNvSpPr>
          <p:nvPr/>
        </p:nvSpPr>
        <p:spPr bwMode="auto">
          <a:xfrm>
            <a:off x="378868" y="5398407"/>
            <a:ext cx="73199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b="1"/>
              <a:t>故快速做功过程</a:t>
            </a:r>
            <a:r>
              <a:rPr kumimoji="1" lang="en-US" altLang="zh-CN" sz="2800" b="1"/>
              <a:t>(</a:t>
            </a:r>
            <a:r>
              <a:rPr kumimoji="1" lang="zh-CN" altLang="en-US" sz="2800" b="1"/>
              <a:t>非平衡过程</a:t>
            </a:r>
            <a:r>
              <a:rPr kumimoji="1" lang="en-US" altLang="zh-CN" sz="2800" b="1"/>
              <a:t>)</a:t>
            </a:r>
            <a:r>
              <a:rPr kumimoji="1" lang="zh-CN" altLang="en-US" sz="2800" b="1"/>
              <a:t>为不可逆过程。</a:t>
            </a:r>
          </a:p>
        </p:txBody>
      </p:sp>
      <p:grpSp>
        <p:nvGrpSpPr>
          <p:cNvPr id="20" name="Group 9">
            <a:extLst>
              <a:ext uri="{FF2B5EF4-FFF2-40B4-BE49-F238E27FC236}">
                <a16:creationId xmlns:a16="http://schemas.microsoft.com/office/drawing/2014/main" id="{50F0731C-B231-43E5-96AD-A06B6E57D7A3}"/>
              </a:ext>
            </a:extLst>
          </p:cNvPr>
          <p:cNvGrpSpPr>
            <a:grpSpLocks/>
          </p:cNvGrpSpPr>
          <p:nvPr/>
        </p:nvGrpSpPr>
        <p:grpSpPr bwMode="auto">
          <a:xfrm>
            <a:off x="4985855" y="2724097"/>
            <a:ext cx="2660650" cy="1640950"/>
            <a:chOff x="3360" y="422"/>
            <a:chExt cx="2112" cy="1306"/>
          </a:xfrm>
        </p:grpSpPr>
        <p:sp>
          <p:nvSpPr>
            <p:cNvPr id="21" name="Rectangle 10">
              <a:extLst>
                <a:ext uri="{FF2B5EF4-FFF2-40B4-BE49-F238E27FC236}">
                  <a16:creationId xmlns:a16="http://schemas.microsoft.com/office/drawing/2014/main" id="{3D06CAAD-C947-4417-BC33-29D48A7B96DB}"/>
                </a:ext>
              </a:extLst>
            </p:cNvPr>
            <p:cNvSpPr>
              <a:spLocks noChangeArrowheads="1"/>
            </p:cNvSpPr>
            <p:nvPr/>
          </p:nvSpPr>
          <p:spPr bwMode="auto">
            <a:xfrm>
              <a:off x="3360" y="854"/>
              <a:ext cx="1995" cy="874"/>
            </a:xfrm>
            <a:prstGeom prst="rect">
              <a:avLst/>
            </a:prstGeom>
            <a:solidFill>
              <a:srgbClr val="F4E288"/>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Rectangle 11">
              <a:extLst>
                <a:ext uri="{FF2B5EF4-FFF2-40B4-BE49-F238E27FC236}">
                  <a16:creationId xmlns:a16="http://schemas.microsoft.com/office/drawing/2014/main" id="{AE4AB8DB-D233-47DC-86DF-D662BCE6EAE0}"/>
                </a:ext>
              </a:extLst>
            </p:cNvPr>
            <p:cNvSpPr>
              <a:spLocks noChangeArrowheads="1"/>
            </p:cNvSpPr>
            <p:nvPr/>
          </p:nvSpPr>
          <p:spPr bwMode="auto">
            <a:xfrm>
              <a:off x="3477" y="979"/>
              <a:ext cx="1643" cy="62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2">
              <a:extLst>
                <a:ext uri="{FF2B5EF4-FFF2-40B4-BE49-F238E27FC236}">
                  <a16:creationId xmlns:a16="http://schemas.microsoft.com/office/drawing/2014/main" id="{06034916-6B8E-4A10-BE8D-CE0EFE33BBC8}"/>
                </a:ext>
              </a:extLst>
            </p:cNvPr>
            <p:cNvSpPr>
              <a:spLocks noChangeShapeType="1"/>
            </p:cNvSpPr>
            <p:nvPr/>
          </p:nvSpPr>
          <p:spPr bwMode="auto">
            <a:xfrm>
              <a:off x="5120" y="979"/>
              <a:ext cx="235" cy="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3">
              <a:extLst>
                <a:ext uri="{FF2B5EF4-FFF2-40B4-BE49-F238E27FC236}">
                  <a16:creationId xmlns:a16="http://schemas.microsoft.com/office/drawing/2014/main" id="{47B6D971-9211-4CB0-BA1D-A84EC4F68EC9}"/>
                </a:ext>
              </a:extLst>
            </p:cNvPr>
            <p:cNvSpPr>
              <a:spLocks noChangeShapeType="1"/>
            </p:cNvSpPr>
            <p:nvPr/>
          </p:nvSpPr>
          <p:spPr bwMode="auto">
            <a:xfrm>
              <a:off x="5120" y="1603"/>
              <a:ext cx="235" cy="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 name="Object 16">
              <a:extLst>
                <a:ext uri="{FF2B5EF4-FFF2-40B4-BE49-F238E27FC236}">
                  <a16:creationId xmlns:a16="http://schemas.microsoft.com/office/drawing/2014/main" id="{FB8E5324-167A-4DC2-8DEF-30A294A42208}"/>
                </a:ext>
              </a:extLst>
            </p:cNvPr>
            <p:cNvGraphicFramePr>
              <a:graphicFrameLocks noChangeAspect="1"/>
            </p:cNvGraphicFramePr>
            <p:nvPr/>
          </p:nvGraphicFramePr>
          <p:xfrm>
            <a:off x="4186" y="422"/>
            <a:ext cx="388" cy="288"/>
          </p:xfrm>
          <a:graphic>
            <a:graphicData uri="http://schemas.openxmlformats.org/presentationml/2006/ole">
              <mc:AlternateContent xmlns:mc="http://schemas.openxmlformats.org/markup-compatibility/2006">
                <mc:Choice xmlns:v="urn:schemas-microsoft-com:vml" Requires="v">
                  <p:oleObj spid="_x0000_s174293" name="公式" r:id="rId10" imgW="253800" imgH="177480" progId="Equation.3">
                    <p:embed/>
                  </p:oleObj>
                </mc:Choice>
                <mc:Fallback>
                  <p:oleObj name="公式" r:id="rId10" imgW="253800" imgH="177480" progId="Equation.3">
                    <p:embed/>
                    <p:pic>
                      <p:nvPicPr>
                        <p:cNvPr id="88080" name="Object 16"/>
                        <p:cNvPicPr>
                          <a:picLocks noChangeAspect="1" noChangeArrowheads="1"/>
                        </p:cNvPicPr>
                        <p:nvPr/>
                      </p:nvPicPr>
                      <p:blipFill>
                        <a:blip r:embed="rId11">
                          <a:lum bright="2000"/>
                          <a:extLst>
                            <a:ext uri="{28A0092B-C50C-407E-A947-70E740481C1C}">
                              <a14:useLocalDpi xmlns:a14="http://schemas.microsoft.com/office/drawing/2010/main" val="0"/>
                            </a:ext>
                          </a:extLst>
                        </a:blip>
                        <a:srcRect/>
                        <a:stretch>
                          <a:fillRect/>
                        </a:stretch>
                      </p:blipFill>
                      <p:spPr bwMode="auto">
                        <a:xfrm>
                          <a:off x="4186" y="422"/>
                          <a:ext cx="3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 name="Line 17">
              <a:extLst>
                <a:ext uri="{FF2B5EF4-FFF2-40B4-BE49-F238E27FC236}">
                  <a16:creationId xmlns:a16="http://schemas.microsoft.com/office/drawing/2014/main" id="{B876CD5D-B36C-4063-A962-2691915742CD}"/>
                </a:ext>
              </a:extLst>
            </p:cNvPr>
            <p:cNvSpPr>
              <a:spLocks noChangeShapeType="1"/>
            </p:cNvSpPr>
            <p:nvPr/>
          </p:nvSpPr>
          <p:spPr bwMode="auto">
            <a:xfrm flipH="1" flipV="1">
              <a:off x="4464" y="720"/>
              <a:ext cx="539" cy="384"/>
            </a:xfrm>
            <a:prstGeom prst="line">
              <a:avLst/>
            </a:prstGeom>
            <a:noFill/>
            <a:ln w="28575">
              <a:solidFill>
                <a:schemeClr val="tx1"/>
              </a:solidFill>
              <a:round/>
              <a:headEnd type="stealth"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Rectangle 18">
              <a:extLst>
                <a:ext uri="{FF2B5EF4-FFF2-40B4-BE49-F238E27FC236}">
                  <a16:creationId xmlns:a16="http://schemas.microsoft.com/office/drawing/2014/main" id="{23CDC260-5DC0-4DCB-B9EA-E3DB3990C05C}"/>
                </a:ext>
              </a:extLst>
            </p:cNvPr>
            <p:cNvSpPr>
              <a:spLocks noChangeArrowheads="1"/>
            </p:cNvSpPr>
            <p:nvPr/>
          </p:nvSpPr>
          <p:spPr bwMode="auto">
            <a:xfrm>
              <a:off x="3475" y="978"/>
              <a:ext cx="1037" cy="624"/>
            </a:xfrm>
            <a:prstGeom prst="rect">
              <a:avLst/>
            </a:prstGeom>
            <a:gradFill rotWithShape="0">
              <a:gsLst>
                <a:gs pos="0">
                  <a:srgbClr val="CCECFF"/>
                </a:gs>
                <a:gs pos="100000">
                  <a:srgbClr val="CCECFF">
                    <a:gamma/>
                    <a:shade val="46275"/>
                    <a:invGamma/>
                  </a:srgbClr>
                </a:gs>
              </a:gsLst>
              <a:lin ang="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19">
              <a:extLst>
                <a:ext uri="{FF2B5EF4-FFF2-40B4-BE49-F238E27FC236}">
                  <a16:creationId xmlns:a16="http://schemas.microsoft.com/office/drawing/2014/main" id="{03BDDF9B-4C22-430E-9EB2-EAF820A87145}"/>
                </a:ext>
              </a:extLst>
            </p:cNvPr>
            <p:cNvSpPr>
              <a:spLocks noChangeShapeType="1"/>
            </p:cNvSpPr>
            <p:nvPr/>
          </p:nvSpPr>
          <p:spPr bwMode="auto">
            <a:xfrm>
              <a:off x="4752" y="720"/>
              <a:ext cx="432" cy="0"/>
            </a:xfrm>
            <a:prstGeom prst="line">
              <a:avLst/>
            </a:prstGeom>
            <a:noFill/>
            <a:ln w="28575">
              <a:solidFill>
                <a:schemeClr val="tx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Rectangle 20">
              <a:extLst>
                <a:ext uri="{FF2B5EF4-FFF2-40B4-BE49-F238E27FC236}">
                  <a16:creationId xmlns:a16="http://schemas.microsoft.com/office/drawing/2014/main" id="{096F8A6B-FD24-4CA8-920F-D04E311A2C0D}"/>
                </a:ext>
              </a:extLst>
            </p:cNvPr>
            <p:cNvSpPr>
              <a:spLocks noChangeArrowheads="1"/>
            </p:cNvSpPr>
            <p:nvPr/>
          </p:nvSpPr>
          <p:spPr bwMode="auto">
            <a:xfrm>
              <a:off x="4512" y="983"/>
              <a:ext cx="235" cy="619"/>
            </a:xfrm>
            <a:prstGeom prst="rect">
              <a:avLst/>
            </a:prstGeom>
            <a:solidFill>
              <a:schemeClr val="bg2"/>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Rectangle 21">
              <a:extLst>
                <a:ext uri="{FF2B5EF4-FFF2-40B4-BE49-F238E27FC236}">
                  <a16:creationId xmlns:a16="http://schemas.microsoft.com/office/drawing/2014/main" id="{B3AF7C87-F60B-4709-B0AC-529778AD60F2}"/>
                </a:ext>
              </a:extLst>
            </p:cNvPr>
            <p:cNvSpPr>
              <a:spLocks noChangeArrowheads="1"/>
            </p:cNvSpPr>
            <p:nvPr/>
          </p:nvSpPr>
          <p:spPr bwMode="auto">
            <a:xfrm>
              <a:off x="4752" y="1200"/>
              <a:ext cx="117" cy="124"/>
            </a:xfrm>
            <a:prstGeom prst="rect">
              <a:avLst/>
            </a:prstGeom>
            <a:solidFill>
              <a:schemeClr val="bg2"/>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1" name="Object 22">
              <a:extLst>
                <a:ext uri="{FF2B5EF4-FFF2-40B4-BE49-F238E27FC236}">
                  <a16:creationId xmlns:a16="http://schemas.microsoft.com/office/drawing/2014/main" id="{E1584A25-8D85-4569-B4EC-D4A561DF216A}"/>
                </a:ext>
              </a:extLst>
            </p:cNvPr>
            <p:cNvGraphicFramePr>
              <a:graphicFrameLocks noChangeAspect="1"/>
            </p:cNvGraphicFramePr>
            <p:nvPr/>
          </p:nvGraphicFramePr>
          <p:xfrm>
            <a:off x="3840" y="1152"/>
            <a:ext cx="246" cy="277"/>
          </p:xfrm>
          <a:graphic>
            <a:graphicData uri="http://schemas.openxmlformats.org/presentationml/2006/ole">
              <mc:AlternateContent xmlns:mc="http://schemas.openxmlformats.org/markup-compatibility/2006">
                <mc:Choice xmlns:v="urn:schemas-microsoft-com:vml" Requires="v">
                  <p:oleObj spid="_x0000_s174294" name="公式" r:id="rId12" imgW="152280" imgH="164880" progId="Equation.3">
                    <p:embed/>
                  </p:oleObj>
                </mc:Choice>
                <mc:Fallback>
                  <p:oleObj name="公式" r:id="rId12" imgW="152280" imgH="164880" progId="Equation.3">
                    <p:embed/>
                    <p:pic>
                      <p:nvPicPr>
                        <p:cNvPr id="88086" name="Object 22"/>
                        <p:cNvPicPr>
                          <a:picLocks noChangeAspect="1" noChangeArrowheads="1"/>
                        </p:cNvPicPr>
                        <p:nvPr/>
                      </p:nvPicPr>
                      <p:blipFill>
                        <a:blip r:embed="rId13">
                          <a:lum bright="2000"/>
                          <a:extLst>
                            <a:ext uri="{28A0092B-C50C-407E-A947-70E740481C1C}">
                              <a14:useLocalDpi xmlns:a14="http://schemas.microsoft.com/office/drawing/2010/main" val="0"/>
                            </a:ext>
                          </a:extLst>
                        </a:blip>
                        <a:srcRect/>
                        <a:stretch>
                          <a:fillRect/>
                        </a:stretch>
                      </p:blipFill>
                      <p:spPr bwMode="auto">
                        <a:xfrm>
                          <a:off x="3840" y="1152"/>
                          <a:ext cx="2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Rectangle 14">
              <a:extLst>
                <a:ext uri="{FF2B5EF4-FFF2-40B4-BE49-F238E27FC236}">
                  <a16:creationId xmlns:a16="http://schemas.microsoft.com/office/drawing/2014/main" id="{BC941797-CA03-4655-9856-174E426AD711}"/>
                </a:ext>
              </a:extLst>
            </p:cNvPr>
            <p:cNvSpPr>
              <a:spLocks noChangeArrowheads="1"/>
            </p:cNvSpPr>
            <p:nvPr/>
          </p:nvSpPr>
          <p:spPr bwMode="auto">
            <a:xfrm>
              <a:off x="5122" y="982"/>
              <a:ext cx="235" cy="620"/>
            </a:xfrm>
            <a:prstGeom prst="rect">
              <a:avLst/>
            </a:prstGeom>
            <a:solidFill>
              <a:srgbClr val="DDDDDD"/>
            </a:solidFill>
            <a:ln w="31750">
              <a:solidFill>
                <a:schemeClr val="tx1"/>
              </a:solidFill>
              <a:prstDash val="sys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Rectangle 15">
              <a:extLst>
                <a:ext uri="{FF2B5EF4-FFF2-40B4-BE49-F238E27FC236}">
                  <a16:creationId xmlns:a16="http://schemas.microsoft.com/office/drawing/2014/main" id="{476E26DF-39AA-4D73-AFEA-C9DBD8C934D6}"/>
                </a:ext>
              </a:extLst>
            </p:cNvPr>
            <p:cNvSpPr>
              <a:spLocks noChangeArrowheads="1"/>
            </p:cNvSpPr>
            <p:nvPr/>
          </p:nvSpPr>
          <p:spPr bwMode="auto">
            <a:xfrm>
              <a:off x="5355" y="1200"/>
              <a:ext cx="117" cy="125"/>
            </a:xfrm>
            <a:prstGeom prst="rect">
              <a:avLst/>
            </a:prstGeom>
            <a:solidFill>
              <a:srgbClr val="DDDDDD"/>
            </a:solidFill>
            <a:ln w="31750">
              <a:solidFill>
                <a:schemeClr val="tx1"/>
              </a:solidFill>
              <a:prstDash val="sys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4" name="Text Box 24">
            <a:extLst>
              <a:ext uri="{FF2B5EF4-FFF2-40B4-BE49-F238E27FC236}">
                <a16:creationId xmlns:a16="http://schemas.microsoft.com/office/drawing/2014/main" id="{47E25480-4414-4854-97A3-C214549545D0}"/>
              </a:ext>
            </a:extLst>
          </p:cNvPr>
          <p:cNvSpPr txBox="1">
            <a:spLocks noChangeArrowheads="1"/>
          </p:cNvSpPr>
          <p:nvPr/>
        </p:nvSpPr>
        <p:spPr bwMode="auto">
          <a:xfrm>
            <a:off x="416425" y="6163105"/>
            <a:ext cx="19700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t>过程无限慢</a:t>
            </a:r>
          </a:p>
        </p:txBody>
      </p:sp>
      <p:graphicFrame>
        <p:nvGraphicFramePr>
          <p:cNvPr id="35" name="Object 26">
            <a:extLst>
              <a:ext uri="{FF2B5EF4-FFF2-40B4-BE49-F238E27FC236}">
                <a16:creationId xmlns:a16="http://schemas.microsoft.com/office/drawing/2014/main" id="{D669447F-8797-4167-A322-969010B32633}"/>
              </a:ext>
            </a:extLst>
          </p:cNvPr>
          <p:cNvGraphicFramePr>
            <a:graphicFrameLocks noChangeAspect="1"/>
          </p:cNvGraphicFramePr>
          <p:nvPr>
            <p:extLst>
              <p:ext uri="{D42A27DB-BD31-4B8C-83A1-F6EECF244321}">
                <p14:modId xmlns:p14="http://schemas.microsoft.com/office/powerpoint/2010/main" val="2560679058"/>
              </p:ext>
            </p:extLst>
          </p:nvPr>
        </p:nvGraphicFramePr>
        <p:xfrm>
          <a:off x="3617913" y="6126633"/>
          <a:ext cx="2378075" cy="533400"/>
        </p:xfrm>
        <a:graphic>
          <a:graphicData uri="http://schemas.openxmlformats.org/presentationml/2006/ole">
            <mc:AlternateContent xmlns:mc="http://schemas.openxmlformats.org/markup-compatibility/2006">
              <mc:Choice xmlns:v="urn:schemas-microsoft-com:vml" Requires="v">
                <p:oleObj spid="_x0000_s174295" name="公式" r:id="rId14" imgW="990360" imgH="215640" progId="Equation.3">
                  <p:embed/>
                </p:oleObj>
              </mc:Choice>
              <mc:Fallback>
                <p:oleObj name="公式" r:id="rId14" imgW="990360" imgH="215640" progId="Equation.3">
                  <p:embed/>
                  <p:pic>
                    <p:nvPicPr>
                      <p:cNvPr id="88090" name="Object 26"/>
                      <p:cNvPicPr>
                        <a:picLocks noChangeAspect="1" noChangeArrowheads="1"/>
                      </p:cNvPicPr>
                      <p:nvPr/>
                    </p:nvPicPr>
                    <p:blipFill>
                      <a:blip r:embed="rId15">
                        <a:lum bright="2000"/>
                      </a:blip>
                      <a:srcRect/>
                      <a:stretch>
                        <a:fillRect/>
                      </a:stretch>
                    </p:blipFill>
                    <p:spPr bwMode="auto">
                      <a:xfrm>
                        <a:off x="3617913" y="6126633"/>
                        <a:ext cx="237807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 name="Rectangle 28">
            <a:extLst>
              <a:ext uri="{FF2B5EF4-FFF2-40B4-BE49-F238E27FC236}">
                <a16:creationId xmlns:a16="http://schemas.microsoft.com/office/drawing/2014/main" id="{AC8D37F4-668C-41C6-87E1-0884BA9534A3}"/>
              </a:ext>
            </a:extLst>
          </p:cNvPr>
          <p:cNvSpPr>
            <a:spLocks noChangeArrowheads="1"/>
          </p:cNvSpPr>
          <p:nvPr/>
        </p:nvSpPr>
        <p:spPr bwMode="auto">
          <a:xfrm>
            <a:off x="7127813" y="6093296"/>
            <a:ext cx="16955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b="1" dirty="0">
                <a:solidFill>
                  <a:srgbClr val="0000FF"/>
                </a:solidFill>
              </a:rPr>
              <a:t>可逆过程</a:t>
            </a:r>
          </a:p>
        </p:txBody>
      </p:sp>
      <p:sp>
        <p:nvSpPr>
          <p:cNvPr id="37" name="Text Box 30">
            <a:extLst>
              <a:ext uri="{FF2B5EF4-FFF2-40B4-BE49-F238E27FC236}">
                <a16:creationId xmlns:a16="http://schemas.microsoft.com/office/drawing/2014/main" id="{13040037-9BE9-461C-908E-C6B3B9685250}"/>
              </a:ext>
            </a:extLst>
          </p:cNvPr>
          <p:cNvSpPr txBox="1">
            <a:spLocks noChangeArrowheads="1"/>
          </p:cNvSpPr>
          <p:nvPr/>
        </p:nvSpPr>
        <p:spPr bwMode="auto">
          <a:xfrm>
            <a:off x="5402842" y="4788476"/>
            <a:ext cx="2660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b="1"/>
              <a:t>并转化为热。</a:t>
            </a:r>
          </a:p>
        </p:txBody>
      </p:sp>
      <p:grpSp>
        <p:nvGrpSpPr>
          <p:cNvPr id="38" name="Group 31">
            <a:extLst>
              <a:ext uri="{FF2B5EF4-FFF2-40B4-BE49-F238E27FC236}">
                <a16:creationId xmlns:a16="http://schemas.microsoft.com/office/drawing/2014/main" id="{FF1B7E42-257B-4DD7-A9B2-C4D71E9BE1DD}"/>
              </a:ext>
            </a:extLst>
          </p:cNvPr>
          <p:cNvGrpSpPr>
            <a:grpSpLocks/>
          </p:cNvGrpSpPr>
          <p:nvPr/>
        </p:nvGrpSpPr>
        <p:grpSpPr bwMode="auto">
          <a:xfrm>
            <a:off x="247697" y="2842857"/>
            <a:ext cx="2650572" cy="1640950"/>
            <a:chOff x="603" y="422"/>
            <a:chExt cx="2104" cy="1306"/>
          </a:xfrm>
        </p:grpSpPr>
        <p:sp>
          <p:nvSpPr>
            <p:cNvPr id="39" name="Rectangle 32">
              <a:extLst>
                <a:ext uri="{FF2B5EF4-FFF2-40B4-BE49-F238E27FC236}">
                  <a16:creationId xmlns:a16="http://schemas.microsoft.com/office/drawing/2014/main" id="{39D14C7E-FDE7-4622-A0DD-F318E6B5B235}"/>
                </a:ext>
              </a:extLst>
            </p:cNvPr>
            <p:cNvSpPr>
              <a:spLocks noChangeArrowheads="1"/>
            </p:cNvSpPr>
            <p:nvPr/>
          </p:nvSpPr>
          <p:spPr bwMode="auto">
            <a:xfrm>
              <a:off x="603" y="854"/>
              <a:ext cx="1995" cy="874"/>
            </a:xfrm>
            <a:prstGeom prst="rect">
              <a:avLst/>
            </a:prstGeom>
            <a:solidFill>
              <a:srgbClr val="F4E288"/>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Rectangle 33">
              <a:extLst>
                <a:ext uri="{FF2B5EF4-FFF2-40B4-BE49-F238E27FC236}">
                  <a16:creationId xmlns:a16="http://schemas.microsoft.com/office/drawing/2014/main" id="{FCEF3CC0-0FE7-4C55-A128-2575114DA283}"/>
                </a:ext>
              </a:extLst>
            </p:cNvPr>
            <p:cNvSpPr>
              <a:spLocks noChangeArrowheads="1"/>
            </p:cNvSpPr>
            <p:nvPr/>
          </p:nvSpPr>
          <p:spPr bwMode="auto">
            <a:xfrm>
              <a:off x="720" y="979"/>
              <a:ext cx="1643" cy="624"/>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4">
              <a:extLst>
                <a:ext uri="{FF2B5EF4-FFF2-40B4-BE49-F238E27FC236}">
                  <a16:creationId xmlns:a16="http://schemas.microsoft.com/office/drawing/2014/main" id="{BB6FB12F-DF29-4A25-8C2D-3E1E1B12F9FE}"/>
                </a:ext>
              </a:extLst>
            </p:cNvPr>
            <p:cNvSpPr>
              <a:spLocks noChangeShapeType="1"/>
            </p:cNvSpPr>
            <p:nvPr/>
          </p:nvSpPr>
          <p:spPr bwMode="auto">
            <a:xfrm>
              <a:off x="2363" y="979"/>
              <a:ext cx="235" cy="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35">
              <a:extLst>
                <a:ext uri="{FF2B5EF4-FFF2-40B4-BE49-F238E27FC236}">
                  <a16:creationId xmlns:a16="http://schemas.microsoft.com/office/drawing/2014/main" id="{91FC0406-8B53-43D4-A089-35688FDDE70A}"/>
                </a:ext>
              </a:extLst>
            </p:cNvPr>
            <p:cNvSpPr>
              <a:spLocks noChangeShapeType="1"/>
            </p:cNvSpPr>
            <p:nvPr/>
          </p:nvSpPr>
          <p:spPr bwMode="auto">
            <a:xfrm>
              <a:off x="2363" y="1603"/>
              <a:ext cx="235" cy="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Rectangle 37">
              <a:extLst>
                <a:ext uri="{FF2B5EF4-FFF2-40B4-BE49-F238E27FC236}">
                  <a16:creationId xmlns:a16="http://schemas.microsoft.com/office/drawing/2014/main" id="{8D700973-75B0-4986-AB8C-C3721AB4BC79}"/>
                </a:ext>
              </a:extLst>
            </p:cNvPr>
            <p:cNvSpPr>
              <a:spLocks noChangeArrowheads="1"/>
            </p:cNvSpPr>
            <p:nvPr/>
          </p:nvSpPr>
          <p:spPr bwMode="auto">
            <a:xfrm>
              <a:off x="1995" y="1229"/>
              <a:ext cx="117" cy="125"/>
            </a:xfrm>
            <a:prstGeom prst="rect">
              <a:avLst/>
            </a:prstGeom>
            <a:solidFill>
              <a:srgbClr val="DDDDDD"/>
            </a:solidFill>
            <a:ln w="25400">
              <a:solidFill>
                <a:schemeClr val="tx1"/>
              </a:solidFill>
              <a:prstDash val="sys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4" name="Object 38">
              <a:extLst>
                <a:ext uri="{FF2B5EF4-FFF2-40B4-BE49-F238E27FC236}">
                  <a16:creationId xmlns:a16="http://schemas.microsoft.com/office/drawing/2014/main" id="{EE45D213-E489-4D10-85CF-EE109B9D34C2}"/>
                </a:ext>
              </a:extLst>
            </p:cNvPr>
            <p:cNvGraphicFramePr>
              <a:graphicFrameLocks noChangeAspect="1"/>
            </p:cNvGraphicFramePr>
            <p:nvPr/>
          </p:nvGraphicFramePr>
          <p:xfrm>
            <a:off x="1428" y="422"/>
            <a:ext cx="389" cy="288"/>
          </p:xfrm>
          <a:graphic>
            <a:graphicData uri="http://schemas.openxmlformats.org/presentationml/2006/ole">
              <mc:AlternateContent xmlns:mc="http://schemas.openxmlformats.org/markup-compatibility/2006">
                <mc:Choice xmlns:v="urn:schemas-microsoft-com:vml" Requires="v">
                  <p:oleObj spid="_x0000_s174296" name="公式" r:id="rId16" imgW="253800" imgH="177480" progId="Equation.3">
                    <p:embed/>
                  </p:oleObj>
                </mc:Choice>
                <mc:Fallback>
                  <p:oleObj name="公式" r:id="rId16" imgW="253800" imgH="177480" progId="Equation.3">
                    <p:embed/>
                    <p:pic>
                      <p:nvPicPr>
                        <p:cNvPr id="88102" name="Object 38"/>
                        <p:cNvPicPr>
                          <a:picLocks noChangeAspect="1" noChangeArrowheads="1"/>
                        </p:cNvPicPr>
                        <p:nvPr/>
                      </p:nvPicPr>
                      <p:blipFill>
                        <a:blip r:embed="rId17">
                          <a:lum bright="2000"/>
                          <a:extLst>
                            <a:ext uri="{28A0092B-C50C-407E-A947-70E740481C1C}">
                              <a14:useLocalDpi xmlns:a14="http://schemas.microsoft.com/office/drawing/2010/main" val="0"/>
                            </a:ext>
                          </a:extLst>
                        </a:blip>
                        <a:srcRect/>
                        <a:stretch>
                          <a:fillRect/>
                        </a:stretch>
                      </p:blipFill>
                      <p:spPr bwMode="auto">
                        <a:xfrm>
                          <a:off x="1428" y="422"/>
                          <a:ext cx="3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 name="Line 39">
              <a:extLst>
                <a:ext uri="{FF2B5EF4-FFF2-40B4-BE49-F238E27FC236}">
                  <a16:creationId xmlns:a16="http://schemas.microsoft.com/office/drawing/2014/main" id="{EC197295-1567-4748-9DAE-C63998C4CFFE}"/>
                </a:ext>
              </a:extLst>
            </p:cNvPr>
            <p:cNvSpPr>
              <a:spLocks noChangeShapeType="1"/>
            </p:cNvSpPr>
            <p:nvPr/>
          </p:nvSpPr>
          <p:spPr bwMode="auto">
            <a:xfrm flipH="1" flipV="1">
              <a:off x="1707" y="720"/>
              <a:ext cx="539" cy="384"/>
            </a:xfrm>
            <a:prstGeom prst="line">
              <a:avLst/>
            </a:prstGeom>
            <a:noFill/>
            <a:ln w="28575">
              <a:solidFill>
                <a:schemeClr val="tx1"/>
              </a:solidFill>
              <a:round/>
              <a:headEnd type="stealth" w="lg"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Rectangle 40">
              <a:extLst>
                <a:ext uri="{FF2B5EF4-FFF2-40B4-BE49-F238E27FC236}">
                  <a16:creationId xmlns:a16="http://schemas.microsoft.com/office/drawing/2014/main" id="{AB75BF2D-FABA-47F1-B41A-70C9584A4F52}"/>
                </a:ext>
              </a:extLst>
            </p:cNvPr>
            <p:cNvSpPr>
              <a:spLocks noChangeArrowheads="1"/>
            </p:cNvSpPr>
            <p:nvPr/>
          </p:nvSpPr>
          <p:spPr bwMode="auto">
            <a:xfrm>
              <a:off x="718" y="978"/>
              <a:ext cx="1037" cy="624"/>
            </a:xfrm>
            <a:prstGeom prst="rect">
              <a:avLst/>
            </a:prstGeom>
            <a:gradFill rotWithShape="0">
              <a:gsLst>
                <a:gs pos="0">
                  <a:srgbClr val="CCECFF">
                    <a:gamma/>
                    <a:shade val="46275"/>
                    <a:invGamma/>
                  </a:srgbClr>
                </a:gs>
                <a:gs pos="100000">
                  <a:srgbClr val="CCECFF"/>
                </a:gs>
              </a:gsLst>
              <a:lin ang="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1">
              <a:extLst>
                <a:ext uri="{FF2B5EF4-FFF2-40B4-BE49-F238E27FC236}">
                  <a16:creationId xmlns:a16="http://schemas.microsoft.com/office/drawing/2014/main" id="{67F6602F-509C-4F9F-8C7D-8EA413735AA4}"/>
                </a:ext>
              </a:extLst>
            </p:cNvPr>
            <p:cNvSpPr>
              <a:spLocks noChangeShapeType="1"/>
            </p:cNvSpPr>
            <p:nvPr/>
          </p:nvSpPr>
          <p:spPr bwMode="auto">
            <a:xfrm>
              <a:off x="1995" y="720"/>
              <a:ext cx="432" cy="0"/>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Rectangle 43">
              <a:extLst>
                <a:ext uri="{FF2B5EF4-FFF2-40B4-BE49-F238E27FC236}">
                  <a16:creationId xmlns:a16="http://schemas.microsoft.com/office/drawing/2014/main" id="{C090A034-860E-44D4-A44B-9893F7132977}"/>
                </a:ext>
              </a:extLst>
            </p:cNvPr>
            <p:cNvSpPr>
              <a:spLocks noChangeArrowheads="1"/>
            </p:cNvSpPr>
            <p:nvPr/>
          </p:nvSpPr>
          <p:spPr bwMode="auto">
            <a:xfrm>
              <a:off x="2590" y="1239"/>
              <a:ext cx="117" cy="125"/>
            </a:xfrm>
            <a:prstGeom prst="rect">
              <a:avLst/>
            </a:prstGeom>
            <a:solidFill>
              <a:schemeClr val="bg2"/>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9" name="Object 44">
              <a:extLst>
                <a:ext uri="{FF2B5EF4-FFF2-40B4-BE49-F238E27FC236}">
                  <a16:creationId xmlns:a16="http://schemas.microsoft.com/office/drawing/2014/main" id="{B56F51DB-1BBB-49CE-9266-72C1AAD027FF}"/>
                </a:ext>
              </a:extLst>
            </p:cNvPr>
            <p:cNvGraphicFramePr>
              <a:graphicFrameLocks noChangeAspect="1"/>
            </p:cNvGraphicFramePr>
            <p:nvPr/>
          </p:nvGraphicFramePr>
          <p:xfrm>
            <a:off x="1008" y="1152"/>
            <a:ext cx="246" cy="277"/>
          </p:xfrm>
          <a:graphic>
            <a:graphicData uri="http://schemas.openxmlformats.org/presentationml/2006/ole">
              <mc:AlternateContent xmlns:mc="http://schemas.openxmlformats.org/markup-compatibility/2006">
                <mc:Choice xmlns:v="urn:schemas-microsoft-com:vml" Requires="v">
                  <p:oleObj spid="_x0000_s174297" name="公式" r:id="rId18" imgW="152280" imgH="164880" progId="Equation.3">
                    <p:embed/>
                  </p:oleObj>
                </mc:Choice>
                <mc:Fallback>
                  <p:oleObj name="公式" r:id="rId18" imgW="152280" imgH="164880" progId="Equation.3">
                    <p:embed/>
                    <p:pic>
                      <p:nvPicPr>
                        <p:cNvPr id="88108" name="Object 44"/>
                        <p:cNvPicPr>
                          <a:picLocks noChangeAspect="1" noChangeArrowheads="1"/>
                        </p:cNvPicPr>
                        <p:nvPr/>
                      </p:nvPicPr>
                      <p:blipFill>
                        <a:blip r:embed="rId19">
                          <a:lum bright="2000"/>
                          <a:extLst>
                            <a:ext uri="{28A0092B-C50C-407E-A947-70E740481C1C}">
                              <a14:useLocalDpi xmlns:a14="http://schemas.microsoft.com/office/drawing/2010/main" val="0"/>
                            </a:ext>
                          </a:extLst>
                        </a:blip>
                        <a:srcRect/>
                        <a:stretch>
                          <a:fillRect/>
                        </a:stretch>
                      </p:blipFill>
                      <p:spPr bwMode="auto">
                        <a:xfrm>
                          <a:off x="1008" y="1152"/>
                          <a:ext cx="246" cy="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 name="Rectangle 36">
              <a:extLst>
                <a:ext uri="{FF2B5EF4-FFF2-40B4-BE49-F238E27FC236}">
                  <a16:creationId xmlns:a16="http://schemas.microsoft.com/office/drawing/2014/main" id="{DDCBCF32-4CE5-4F5B-908A-1D651633CB3E}"/>
                </a:ext>
              </a:extLst>
            </p:cNvPr>
            <p:cNvSpPr>
              <a:spLocks noChangeArrowheads="1"/>
            </p:cNvSpPr>
            <p:nvPr/>
          </p:nvSpPr>
          <p:spPr bwMode="auto">
            <a:xfrm>
              <a:off x="1755" y="979"/>
              <a:ext cx="235" cy="624"/>
            </a:xfrm>
            <a:prstGeom prst="rect">
              <a:avLst/>
            </a:prstGeom>
            <a:solidFill>
              <a:srgbClr val="DDDDDD"/>
            </a:solidFill>
            <a:ln w="31750">
              <a:solidFill>
                <a:schemeClr val="tx1"/>
              </a:solidFill>
              <a:prstDash val="sys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Rectangle 42">
              <a:extLst>
                <a:ext uri="{FF2B5EF4-FFF2-40B4-BE49-F238E27FC236}">
                  <a16:creationId xmlns:a16="http://schemas.microsoft.com/office/drawing/2014/main" id="{59C7AE04-23BE-45D6-A2DA-8C4025A21F16}"/>
                </a:ext>
              </a:extLst>
            </p:cNvPr>
            <p:cNvSpPr>
              <a:spLocks noChangeArrowheads="1"/>
            </p:cNvSpPr>
            <p:nvPr/>
          </p:nvSpPr>
          <p:spPr bwMode="auto">
            <a:xfrm>
              <a:off x="2364" y="978"/>
              <a:ext cx="235" cy="624"/>
            </a:xfrm>
            <a:prstGeom prst="rect">
              <a:avLst/>
            </a:prstGeom>
            <a:solidFill>
              <a:schemeClr val="bg2"/>
            </a:solidFill>
            <a:ln w="317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2" name="Rectangle 45">
            <a:extLst>
              <a:ext uri="{FF2B5EF4-FFF2-40B4-BE49-F238E27FC236}">
                <a16:creationId xmlns:a16="http://schemas.microsoft.com/office/drawing/2014/main" id="{D8E5157F-E973-41EA-8576-EE2DFC51E7FB}"/>
              </a:ext>
            </a:extLst>
          </p:cNvPr>
          <p:cNvSpPr>
            <a:spLocks noChangeArrowheads="1"/>
          </p:cNvSpPr>
          <p:nvPr/>
        </p:nvSpPr>
        <p:spPr bwMode="auto">
          <a:xfrm>
            <a:off x="247697" y="2464541"/>
            <a:ext cx="717708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3200" b="1">
                <a:solidFill>
                  <a:srgbClr val="0000FF"/>
                </a:solidFill>
                <a:latin typeface="宋体" pitchFamily="2" charset="-122"/>
              </a:rPr>
              <a:t>快速做功过程也是不可逆过程</a:t>
            </a:r>
            <a:r>
              <a:rPr kumimoji="1" lang="zh-CN" altLang="en-US" sz="2800" b="1"/>
              <a:t>。</a:t>
            </a:r>
          </a:p>
        </p:txBody>
      </p:sp>
      <p:pic>
        <p:nvPicPr>
          <p:cNvPr id="53" name="图片 52">
            <a:extLst>
              <a:ext uri="{FF2B5EF4-FFF2-40B4-BE49-F238E27FC236}">
                <a16:creationId xmlns:a16="http://schemas.microsoft.com/office/drawing/2014/main" id="{51B846E5-358E-4DFC-A308-8D4F0F09E7C5}"/>
              </a:ext>
            </a:extLst>
          </p:cNvPr>
          <p:cNvPicPr>
            <a:picLocks noChangeAspect="1"/>
          </p:cNvPicPr>
          <p:nvPr/>
        </p:nvPicPr>
        <p:blipFill>
          <a:blip r:embed="rId20"/>
          <a:stretch>
            <a:fillRect/>
          </a:stretch>
        </p:blipFill>
        <p:spPr>
          <a:xfrm>
            <a:off x="2768194" y="6227784"/>
            <a:ext cx="591363" cy="359695"/>
          </a:xfrm>
          <a:prstGeom prst="rect">
            <a:avLst/>
          </a:prstGeom>
        </p:spPr>
      </p:pic>
      <p:sp>
        <p:nvSpPr>
          <p:cNvPr id="54" name="AutoShape 10">
            <a:extLst>
              <a:ext uri="{FF2B5EF4-FFF2-40B4-BE49-F238E27FC236}">
                <a16:creationId xmlns:a16="http://schemas.microsoft.com/office/drawing/2014/main" id="{D7763ABB-B1B5-43EF-90F4-132888E1B068}"/>
              </a:ext>
            </a:extLst>
          </p:cNvPr>
          <p:cNvSpPr>
            <a:spLocks noChangeArrowheads="1"/>
          </p:cNvSpPr>
          <p:nvPr/>
        </p:nvSpPr>
        <p:spPr bwMode="auto">
          <a:xfrm>
            <a:off x="6327776" y="6231333"/>
            <a:ext cx="576263" cy="324000"/>
          </a:xfrm>
          <a:prstGeom prst="rightArrow">
            <a:avLst>
              <a:gd name="adj1" fmla="val 50000"/>
              <a:gd name="adj2" fmla="val 46602"/>
            </a:avLst>
          </a:prstGeom>
          <a:noFill/>
          <a:ln w="9525">
            <a:solidFill>
              <a:schemeClr val="tx1"/>
            </a:solidFill>
            <a:miter lim="800000"/>
            <a:headEnd/>
            <a:tailEnd/>
          </a:ln>
          <a:effectLst/>
          <a:extLst/>
        </p:spPr>
        <p:txBody>
          <a:bodyPr wrap="none" anchor="ctr"/>
          <a:lstStyle/>
          <a:p>
            <a:endParaRPr lang="zh-CN" altLang="en-US"/>
          </a:p>
        </p:txBody>
      </p:sp>
      <p:sp>
        <p:nvSpPr>
          <p:cNvPr id="55" name="Text Box 2">
            <a:extLst>
              <a:ext uri="{FF2B5EF4-FFF2-40B4-BE49-F238E27FC236}">
                <a16:creationId xmlns:a16="http://schemas.microsoft.com/office/drawing/2014/main" id="{F6499D18-9A83-4F92-9EE1-2CBCF93DE49C}"/>
              </a:ext>
            </a:extLst>
          </p:cNvPr>
          <p:cNvSpPr txBox="1">
            <a:spLocks noChangeArrowheads="1"/>
          </p:cNvSpPr>
          <p:nvPr/>
        </p:nvSpPr>
        <p:spPr bwMode="auto">
          <a:xfrm>
            <a:off x="152406" y="73026"/>
            <a:ext cx="874630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latin typeface="宋体" pitchFamily="2" charset="-122"/>
              </a:rPr>
              <a:t> </a:t>
            </a:r>
            <a:r>
              <a:rPr lang="zh-CN" altLang="en-US" sz="3200" b="1">
                <a:solidFill>
                  <a:srgbClr val="0000FF"/>
                </a:solidFill>
                <a:latin typeface="宋体" pitchFamily="2" charset="-122"/>
              </a:rPr>
              <a:t>例</a:t>
            </a:r>
            <a:r>
              <a:rPr lang="en-US" altLang="zh-CN" sz="3200" b="1">
                <a:solidFill>
                  <a:srgbClr val="0000FF"/>
                </a:solidFill>
                <a:latin typeface="宋体" pitchFamily="2" charset="-122"/>
              </a:rPr>
              <a:t>3. </a:t>
            </a:r>
            <a:r>
              <a:rPr lang="zh-CN" altLang="en-US" sz="3200" b="1">
                <a:solidFill>
                  <a:srgbClr val="0000FF"/>
                </a:solidFill>
                <a:latin typeface="宋体" pitchFamily="2" charset="-122"/>
              </a:rPr>
              <a:t>气体的绝热自由膨胀的方向性</a:t>
            </a:r>
            <a:r>
              <a:rPr lang="zh-CN" altLang="en-US" sz="2800" b="1">
                <a:solidFill>
                  <a:srgbClr val="FF00FF"/>
                </a:solidFill>
                <a:latin typeface="宋体" pitchFamily="2" charset="-122"/>
              </a:rPr>
              <a:t>  </a:t>
            </a:r>
            <a:r>
              <a:rPr lang="zh-CN" altLang="en-US" sz="2800" b="1">
                <a:latin typeface="宋体" pitchFamily="2" charset="-122"/>
              </a:rPr>
              <a:t>         </a:t>
            </a:r>
            <a:endParaRPr lang="zh-CN" altLang="en-US" sz="2800">
              <a:latin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linds(vertical)">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7046"/>
                                        </p:tgtEl>
                                        <p:attrNameLst>
                                          <p:attrName>style.visibility</p:attrName>
                                        </p:attrNameLst>
                                      </p:cBhvr>
                                      <p:to>
                                        <p:strVal val="visible"/>
                                      </p:to>
                                    </p:set>
                                    <p:animEffect transition="in" filter="wipe(left)">
                                      <p:cBhvr>
                                        <p:cTn id="12" dur="500"/>
                                        <p:tgtEl>
                                          <p:spTgt spid="870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7043"/>
                                        </p:tgtEl>
                                        <p:attrNameLst>
                                          <p:attrName>style.visibility</p:attrName>
                                        </p:attrNameLst>
                                      </p:cBhvr>
                                      <p:to>
                                        <p:strVal val="visible"/>
                                      </p:to>
                                    </p:set>
                                    <p:animEffect transition="in" filter="wipe(left)">
                                      <p:cBhvr>
                                        <p:cTn id="17" dur="500"/>
                                        <p:tgtEl>
                                          <p:spTgt spid="870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7071">
                                            <p:txEl>
                                              <p:pRg st="0" end="0"/>
                                            </p:txEl>
                                          </p:spTgt>
                                        </p:tgtEl>
                                        <p:attrNameLst>
                                          <p:attrName>style.visibility</p:attrName>
                                        </p:attrNameLst>
                                      </p:cBhvr>
                                      <p:to>
                                        <p:strVal val="visible"/>
                                      </p:to>
                                    </p:set>
                                    <p:animEffect transition="in" filter="wipe(left)">
                                      <p:cBhvr>
                                        <p:cTn id="22" dur="500"/>
                                        <p:tgtEl>
                                          <p:spTgt spid="87071">
                                            <p:txEl>
                                              <p:pRg st="0" end="0"/>
                                            </p:txEl>
                                          </p:spTgt>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52">
                                            <p:txEl>
                                              <p:pRg st="0" end="0"/>
                                            </p:txEl>
                                          </p:spTgt>
                                        </p:tgtEl>
                                        <p:attrNameLst>
                                          <p:attrName>style.visibility</p:attrName>
                                        </p:attrNameLst>
                                      </p:cBhvr>
                                      <p:to>
                                        <p:strVal val="visible"/>
                                      </p:to>
                                    </p:set>
                                    <p:animEffect transition="in" filter="wipe(left)">
                                      <p:cBhvr>
                                        <p:cTn id="26" dur="500"/>
                                        <p:tgtEl>
                                          <p:spTgt spid="52">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left)">
                                      <p:cBhvr>
                                        <p:cTn id="31" dur="5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wipe(left)">
                                      <p:cBhvr>
                                        <p:cTn id="56" dur="500"/>
                                        <p:tgtEl>
                                          <p:spTgt spid="3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9">
                                            <p:txEl>
                                              <p:pRg st="0" end="0"/>
                                            </p:txEl>
                                          </p:spTgt>
                                        </p:tgtEl>
                                        <p:attrNameLst>
                                          <p:attrName>style.visibility</p:attrName>
                                        </p:attrNameLst>
                                      </p:cBhvr>
                                      <p:to>
                                        <p:strVal val="visible"/>
                                      </p:to>
                                    </p:set>
                                    <p:animEffect transition="in" filter="wipe(left)">
                                      <p:cBhvr>
                                        <p:cTn id="61" dur="500"/>
                                        <p:tgtEl>
                                          <p:spTgt spid="19">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wipe(left)">
                                      <p:cBhvr>
                                        <p:cTn id="66" dur="500"/>
                                        <p:tgtEl>
                                          <p:spTgt spid="3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53"/>
                                        </p:tgtEl>
                                        <p:attrNameLst>
                                          <p:attrName>style.visibility</p:attrName>
                                        </p:attrNameLst>
                                      </p:cBhvr>
                                      <p:to>
                                        <p:strVal val="visible"/>
                                      </p:to>
                                    </p:set>
                                    <p:animEffect transition="in" filter="wipe(left)">
                                      <p:cBhvr>
                                        <p:cTn id="71" dur="500"/>
                                        <p:tgtEl>
                                          <p:spTgt spid="5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wipe(left)">
                                      <p:cBhvr>
                                        <p:cTn id="76" dur="500"/>
                                        <p:tgtEl>
                                          <p:spTgt spid="35"/>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54"/>
                                        </p:tgtEl>
                                        <p:attrNameLst>
                                          <p:attrName>style.visibility</p:attrName>
                                        </p:attrNameLst>
                                      </p:cBhvr>
                                      <p:to>
                                        <p:strVal val="visible"/>
                                      </p:to>
                                    </p:set>
                                    <p:animEffect transition="in" filter="wipe(left)">
                                      <p:cBhvr>
                                        <p:cTn id="81" dur="500"/>
                                        <p:tgtEl>
                                          <p:spTgt spid="5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wipe(left)">
                                      <p:cBhvr>
                                        <p:cTn id="8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71" grpId="0" build="p" autoUpdateAnimBg="0"/>
      <p:bldP spid="19" grpId="0" build="p" autoUpdateAnimBg="0"/>
      <p:bldP spid="34" grpId="0"/>
      <p:bldP spid="36" grpId="0"/>
      <p:bldP spid="37" grpId="0" autoUpdateAnimBg="0"/>
      <p:bldP spid="52" grpId="0" build="p" autoUpdateAnimBg="0"/>
      <p:bldP spid="54" grpId="0" animBg="1"/>
      <p:bldP spid="55"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8" name="Text Box 4"/>
          <p:cNvSpPr txBox="1">
            <a:spLocks noChangeArrowheads="1"/>
          </p:cNvSpPr>
          <p:nvPr/>
        </p:nvSpPr>
        <p:spPr bwMode="auto">
          <a:xfrm>
            <a:off x="0" y="1757930"/>
            <a:ext cx="8712200"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500" b="1">
                <a:latin typeface="宋体" pitchFamily="2" charset="-122"/>
              </a:rPr>
              <a:t> </a:t>
            </a:r>
            <a:r>
              <a:rPr lang="zh-CN" altLang="en-US" sz="2500" b="1">
                <a:latin typeface="宋体" pitchFamily="2" charset="-122"/>
              </a:rPr>
              <a:t>实际上</a:t>
            </a:r>
            <a:r>
              <a:rPr lang="en-US" altLang="zh-CN" sz="2500" b="1">
                <a:latin typeface="宋体" pitchFamily="2" charset="-122"/>
              </a:rPr>
              <a:t>,</a:t>
            </a:r>
            <a:r>
              <a:rPr lang="en-US" altLang="zh-CN" sz="2500" b="1">
                <a:solidFill>
                  <a:srgbClr val="FF0000"/>
                </a:solidFill>
              </a:rPr>
              <a:t>“</a:t>
            </a:r>
            <a:r>
              <a:rPr lang="zh-CN" altLang="en-US" sz="2500" b="1" u="sng">
                <a:solidFill>
                  <a:srgbClr val="FF0000"/>
                </a:solidFill>
                <a:latin typeface="宋体" pitchFamily="2" charset="-122"/>
              </a:rPr>
              <a:t>一切与热现象有关的自然过程（不受外界干预的过程，例如孤立系统内部的过程）都是不可逆的，都存在一定的方向性</a:t>
            </a:r>
            <a:r>
              <a:rPr lang="en-US" altLang="zh-CN" sz="2500" b="1" u="sng">
                <a:solidFill>
                  <a:schemeClr val="hlink"/>
                </a:solidFill>
                <a:latin typeface="宋体" pitchFamily="2" charset="-122"/>
              </a:rPr>
              <a:t>----</a:t>
            </a:r>
            <a:r>
              <a:rPr lang="zh-CN" altLang="en-US" sz="2500" b="1" u="sng">
                <a:solidFill>
                  <a:schemeClr val="hlink"/>
                </a:solidFill>
                <a:latin typeface="宋体" pitchFamily="2" charset="-122"/>
              </a:rPr>
              <a:t>存在着时间箭头</a:t>
            </a:r>
            <a:r>
              <a:rPr lang="zh-CN" altLang="en-US" sz="2500" b="1">
                <a:solidFill>
                  <a:srgbClr val="FF0000"/>
                </a:solidFill>
              </a:rPr>
              <a:t>”</a:t>
            </a:r>
            <a:r>
              <a:rPr lang="en-US" altLang="zh-CN" sz="2500" b="1">
                <a:latin typeface="宋体" pitchFamily="2" charset="-122"/>
              </a:rPr>
              <a:t>.</a:t>
            </a:r>
          </a:p>
        </p:txBody>
      </p:sp>
      <p:sp>
        <p:nvSpPr>
          <p:cNvPr id="159749" name="Text Box 5"/>
          <p:cNvSpPr txBox="1">
            <a:spLocks noChangeArrowheads="1"/>
          </p:cNvSpPr>
          <p:nvPr/>
        </p:nvSpPr>
        <p:spPr bwMode="auto">
          <a:xfrm>
            <a:off x="539750" y="3505200"/>
            <a:ext cx="5503863"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3600" b="1" dirty="0">
                <a:solidFill>
                  <a:srgbClr val="0000FF"/>
                </a:solidFill>
                <a:ea typeface="楷体_GB2312" pitchFamily="49" charset="-122"/>
              </a:rPr>
              <a:t>例</a:t>
            </a:r>
            <a:r>
              <a:rPr lang="en-US" altLang="zh-CN" sz="3600" b="1" dirty="0">
                <a:solidFill>
                  <a:srgbClr val="0000FF"/>
                </a:solidFill>
                <a:ea typeface="楷体_GB2312" pitchFamily="49" charset="-122"/>
              </a:rPr>
              <a:t>5.</a:t>
            </a:r>
            <a:r>
              <a:rPr lang="zh-CN" altLang="en-US" sz="2800" b="1" dirty="0">
                <a:solidFill>
                  <a:srgbClr val="008000"/>
                </a:solidFill>
                <a:latin typeface="宋体" pitchFamily="2" charset="-122"/>
              </a:rPr>
              <a:t>又如，生命过程是不可逆的</a:t>
            </a:r>
            <a:r>
              <a:rPr lang="en-US" altLang="zh-CN" sz="2800" b="1" dirty="0">
                <a:solidFill>
                  <a:srgbClr val="008000"/>
                </a:solidFill>
                <a:latin typeface="宋体" pitchFamily="2" charset="-122"/>
              </a:rPr>
              <a:t>:</a:t>
            </a:r>
          </a:p>
        </p:txBody>
      </p:sp>
      <p:sp>
        <p:nvSpPr>
          <p:cNvPr id="159750" name="Text Box 6"/>
          <p:cNvSpPr txBox="1">
            <a:spLocks noChangeArrowheads="1"/>
          </p:cNvSpPr>
          <p:nvPr/>
        </p:nvSpPr>
        <p:spPr bwMode="auto">
          <a:xfrm>
            <a:off x="2590800" y="4191000"/>
            <a:ext cx="6553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latin typeface="宋体" pitchFamily="2" charset="-122"/>
              </a:rPr>
              <a:t> </a:t>
            </a:r>
            <a:r>
              <a:rPr lang="zh-CN" altLang="en-US" sz="2800" b="1">
                <a:solidFill>
                  <a:srgbClr val="0000FF"/>
                </a:solidFill>
                <a:latin typeface="宋体" pitchFamily="2" charset="-122"/>
              </a:rPr>
              <a:t>出生</a:t>
            </a:r>
            <a:r>
              <a:rPr lang="zh-CN" altLang="en-US" sz="2800" b="1">
                <a:latin typeface="宋体" pitchFamily="2" charset="-122"/>
                <a:sym typeface="Symbol" pitchFamily="18" charset="2"/>
              </a:rPr>
              <a:t></a:t>
            </a:r>
            <a:r>
              <a:rPr lang="zh-CN" altLang="en-US" sz="2800" b="1">
                <a:solidFill>
                  <a:srgbClr val="FF00FF"/>
                </a:solidFill>
                <a:latin typeface="宋体" pitchFamily="2" charset="-122"/>
              </a:rPr>
              <a:t>童年</a:t>
            </a:r>
            <a:r>
              <a:rPr lang="zh-CN" altLang="en-US" sz="2800" b="1">
                <a:latin typeface="宋体" pitchFamily="2" charset="-122"/>
                <a:sym typeface="Symbol" pitchFamily="18" charset="2"/>
              </a:rPr>
              <a:t></a:t>
            </a:r>
            <a:r>
              <a:rPr lang="zh-CN" altLang="en-US" sz="2800" b="1">
                <a:solidFill>
                  <a:srgbClr val="FF0000"/>
                </a:solidFill>
                <a:latin typeface="宋体" pitchFamily="2" charset="-122"/>
              </a:rPr>
              <a:t>少年</a:t>
            </a:r>
            <a:r>
              <a:rPr lang="zh-CN" altLang="en-US" sz="2800" b="1">
                <a:latin typeface="宋体" pitchFamily="2" charset="-122"/>
                <a:sym typeface="Symbol" pitchFamily="18" charset="2"/>
              </a:rPr>
              <a:t></a:t>
            </a:r>
            <a:r>
              <a:rPr lang="zh-CN" altLang="en-US" sz="2800" b="1">
                <a:solidFill>
                  <a:srgbClr val="00FF00"/>
                </a:solidFill>
                <a:latin typeface="宋体" pitchFamily="2" charset="-122"/>
              </a:rPr>
              <a:t>青年</a:t>
            </a:r>
            <a:r>
              <a:rPr lang="zh-CN" altLang="en-US" sz="2800" b="1">
                <a:latin typeface="宋体" pitchFamily="2" charset="-122"/>
                <a:sym typeface="Symbol" pitchFamily="18" charset="2"/>
              </a:rPr>
              <a:t></a:t>
            </a:r>
            <a:r>
              <a:rPr lang="zh-CN" altLang="en-US" sz="2800" b="1">
                <a:solidFill>
                  <a:srgbClr val="0000FF"/>
                </a:solidFill>
                <a:latin typeface="宋体" pitchFamily="2" charset="-122"/>
              </a:rPr>
              <a:t>中年</a:t>
            </a:r>
          </a:p>
          <a:p>
            <a:pPr algn="l" eaLnBrk="1" hangingPunct="1"/>
            <a:r>
              <a:rPr lang="zh-CN" altLang="en-US" sz="2800" b="1">
                <a:latin typeface="宋体" pitchFamily="2" charset="-122"/>
              </a:rPr>
              <a:t>     </a:t>
            </a:r>
            <a:r>
              <a:rPr lang="zh-CN" altLang="en-US" sz="2800" b="1">
                <a:latin typeface="宋体" pitchFamily="2" charset="-122"/>
                <a:sym typeface="Symbol" pitchFamily="18" charset="2"/>
              </a:rPr>
              <a:t></a:t>
            </a:r>
            <a:r>
              <a:rPr lang="zh-CN" altLang="en-US" sz="2800" b="1">
                <a:solidFill>
                  <a:srgbClr val="808080"/>
                </a:solidFill>
                <a:latin typeface="宋体" pitchFamily="2" charset="-122"/>
              </a:rPr>
              <a:t>老年</a:t>
            </a:r>
            <a:r>
              <a:rPr lang="zh-CN" altLang="en-US" sz="2800" b="1">
                <a:latin typeface="宋体" pitchFamily="2" charset="-122"/>
                <a:sym typeface="Symbol" pitchFamily="18" charset="2"/>
              </a:rPr>
              <a:t></a:t>
            </a:r>
            <a:r>
              <a:rPr lang="zh-CN" altLang="en-US" sz="2800" b="1"/>
              <a:t>“</a:t>
            </a:r>
            <a:r>
              <a:rPr lang="zh-CN" altLang="en-US" sz="2800" b="1">
                <a:latin typeface="宋体" pitchFamily="2" charset="-122"/>
              </a:rPr>
              <a:t>升入天堂</a:t>
            </a:r>
            <a:r>
              <a:rPr lang="zh-CN" altLang="en-US" sz="2800" b="1"/>
              <a:t>”</a:t>
            </a:r>
            <a:r>
              <a:rPr lang="zh-CN" altLang="en-US" sz="2800" b="1">
                <a:latin typeface="宋体" pitchFamily="2" charset="-122"/>
              </a:rPr>
              <a:t>    </a:t>
            </a:r>
            <a:r>
              <a:rPr lang="zh-CN" altLang="en-US" sz="2800" b="1" i="1">
                <a:solidFill>
                  <a:srgbClr val="FF0000"/>
                </a:solidFill>
                <a:latin typeface="宋体" pitchFamily="2" charset="-122"/>
              </a:rPr>
              <a:t>不可逆</a:t>
            </a:r>
            <a:r>
              <a:rPr lang="en-US" altLang="zh-CN" sz="2800" b="1" i="1">
                <a:solidFill>
                  <a:srgbClr val="FF0000"/>
                </a:solidFill>
                <a:latin typeface="宋体" pitchFamily="2" charset="-122"/>
              </a:rPr>
              <a:t>!</a:t>
            </a:r>
            <a:r>
              <a:rPr lang="en-US" altLang="zh-CN" sz="2800" b="1">
                <a:latin typeface="宋体" pitchFamily="2" charset="-122"/>
              </a:rPr>
              <a:t>           </a:t>
            </a:r>
            <a:endParaRPr lang="en-US" altLang="zh-CN" sz="2800">
              <a:latin typeface="宋体" pitchFamily="2" charset="-122"/>
            </a:endParaRPr>
          </a:p>
        </p:txBody>
      </p:sp>
      <p:graphicFrame>
        <p:nvGraphicFramePr>
          <p:cNvPr id="159751" name="Object 7"/>
          <p:cNvGraphicFramePr>
            <a:graphicFrameLocks noChangeAspect="1"/>
          </p:cNvGraphicFramePr>
          <p:nvPr>
            <p:extLst>
              <p:ext uri="{D42A27DB-BD31-4B8C-83A1-F6EECF244321}">
                <p14:modId xmlns:p14="http://schemas.microsoft.com/office/powerpoint/2010/main" val="483540989"/>
              </p:ext>
            </p:extLst>
          </p:nvPr>
        </p:nvGraphicFramePr>
        <p:xfrm>
          <a:off x="323850" y="4491556"/>
          <a:ext cx="1676400" cy="1438275"/>
        </p:xfrm>
        <a:graphic>
          <a:graphicData uri="http://schemas.openxmlformats.org/presentationml/2006/ole">
            <mc:AlternateContent xmlns:mc="http://schemas.openxmlformats.org/markup-compatibility/2006">
              <mc:Choice xmlns:v="urn:schemas-microsoft-com:vml" Requires="v">
                <p:oleObj spid="_x0000_s36008" name="文档" r:id="rId4" imgW="1287780" imgH="1102360" progId="Word.Document.8">
                  <p:embed/>
                </p:oleObj>
              </mc:Choice>
              <mc:Fallback>
                <p:oleObj name="文档" r:id="rId4" imgW="1287780" imgH="1102360" progId="Word.Document.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4491556"/>
                        <a:ext cx="1676400"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9752" name="Text Box 8">
            <a:hlinkClick r:id="rId6"/>
          </p:cNvPr>
          <p:cNvSpPr txBox="1">
            <a:spLocks noChangeArrowheads="1"/>
          </p:cNvSpPr>
          <p:nvPr/>
        </p:nvSpPr>
        <p:spPr bwMode="auto">
          <a:xfrm>
            <a:off x="1937544" y="5105400"/>
            <a:ext cx="572135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dirty="0">
                <a:solidFill>
                  <a:srgbClr val="FF0000"/>
                </a:solidFill>
              </a:rPr>
              <a:t>“</a:t>
            </a:r>
            <a:r>
              <a:rPr lang="zh-CN" altLang="en-US" sz="2800" b="1" i="1" dirty="0">
                <a:solidFill>
                  <a:srgbClr val="FF0000"/>
                </a:solidFill>
                <a:latin typeface="宋体" pitchFamily="2" charset="-122"/>
              </a:rPr>
              <a:t>今天的你我</a:t>
            </a:r>
          </a:p>
          <a:p>
            <a:pPr algn="l" eaLnBrk="1" hangingPunct="1"/>
            <a:r>
              <a:rPr lang="zh-CN" altLang="en-US" sz="2800" b="1" i="1" dirty="0">
                <a:solidFill>
                  <a:srgbClr val="FF0000"/>
                </a:solidFill>
                <a:latin typeface="宋体" pitchFamily="2" charset="-122"/>
              </a:rPr>
              <a:t>    怎能重复</a:t>
            </a:r>
          </a:p>
          <a:p>
            <a:pPr algn="l" eaLnBrk="1" hangingPunct="1"/>
            <a:r>
              <a:rPr lang="zh-CN" altLang="en-US" sz="2800" b="1" i="1" dirty="0">
                <a:solidFill>
                  <a:srgbClr val="FF0000"/>
                </a:solidFill>
                <a:latin typeface="宋体" pitchFamily="2" charset="-122"/>
              </a:rPr>
              <a:t>        昨天的故事</a:t>
            </a:r>
            <a:r>
              <a:rPr lang="en-US" altLang="zh-CN" sz="2800" b="1" i="1" dirty="0">
                <a:solidFill>
                  <a:srgbClr val="FF0000"/>
                </a:solidFill>
                <a:latin typeface="宋体" pitchFamily="2" charset="-122"/>
              </a:rPr>
              <a:t>!</a:t>
            </a:r>
            <a:r>
              <a:rPr lang="en-US" altLang="zh-CN" sz="2800" b="1" i="1" dirty="0">
                <a:solidFill>
                  <a:srgbClr val="FF0000"/>
                </a:solidFill>
              </a:rPr>
              <a:t>”</a:t>
            </a:r>
            <a:endParaRPr lang="en-US" altLang="zh-CN" sz="2800" b="1" i="1" dirty="0">
              <a:solidFill>
                <a:srgbClr val="FF0000"/>
              </a:solidFill>
              <a:latin typeface="宋体" pitchFamily="2" charset="-122"/>
            </a:endParaRPr>
          </a:p>
        </p:txBody>
      </p:sp>
      <p:sp>
        <p:nvSpPr>
          <p:cNvPr id="2" name="矩形 1"/>
          <p:cNvSpPr>
            <a:spLocks noChangeArrowheads="1"/>
          </p:cNvSpPr>
          <p:nvPr/>
        </p:nvSpPr>
        <p:spPr bwMode="auto">
          <a:xfrm>
            <a:off x="-16353" y="389560"/>
            <a:ext cx="907370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en-US" altLang="zh-CN" sz="3200" b="1">
                <a:latin typeface="宋体" pitchFamily="2" charset="-122"/>
              </a:rPr>
              <a:t> </a:t>
            </a:r>
            <a:r>
              <a:rPr lang="zh-CN" altLang="en-US" sz="3200" b="1">
                <a:solidFill>
                  <a:srgbClr val="0000FF"/>
                </a:solidFill>
                <a:latin typeface="宋体" pitchFamily="2" charset="-122"/>
              </a:rPr>
              <a:t>例</a:t>
            </a:r>
            <a:r>
              <a:rPr lang="en-US" altLang="zh-CN" sz="3200" b="1">
                <a:solidFill>
                  <a:srgbClr val="0000FF"/>
                </a:solidFill>
                <a:latin typeface="宋体" pitchFamily="2" charset="-122"/>
              </a:rPr>
              <a:t>4.</a:t>
            </a:r>
            <a:r>
              <a:rPr lang="zh-CN" altLang="en-US" sz="3200" b="1"/>
              <a:t>高处的水会自动地向低处流动，而不可能自   动地从低处流向高处。</a:t>
            </a:r>
          </a:p>
        </p:txBody>
      </p:sp>
      <p:sp>
        <p:nvSpPr>
          <p:cNvPr id="3" name="Rectangle 32"/>
          <p:cNvSpPr>
            <a:spLocks noChangeArrowheads="1"/>
          </p:cNvSpPr>
          <p:nvPr/>
        </p:nvSpPr>
        <p:spPr bwMode="auto">
          <a:xfrm>
            <a:off x="6043613" y="5290509"/>
            <a:ext cx="3019437" cy="1563862"/>
          </a:xfrm>
          <a:prstGeom prst="rect">
            <a:avLst/>
          </a:prstGeom>
          <a:solidFill>
            <a:srgbClr val="FFFCF6"/>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5698" numCol="1" anchor="ctr" anchorCtr="0" compatLnSpc="1">
            <a:prstTxWarp prst="textNoShape">
              <a:avLst/>
            </a:prstTxWarp>
            <a:spAutoFit/>
          </a:bodyPr>
          <a:lstStyle/>
          <a:p>
            <a:pPr algn="l"/>
            <a:r>
              <a:rPr kumimoji="0" lang="zh-CN" sz="3200" b="1" i="0" u="none" strike="noStrike" cap="none" normalizeH="0" baseline="0" dirty="0">
                <a:ln>
                  <a:noFill/>
                </a:ln>
                <a:solidFill>
                  <a:srgbClr val="000000"/>
                </a:solidFill>
                <a:effectLst/>
                <a:latin typeface="Arial" pitchFamily="34" charset="0"/>
                <a:ea typeface="宋体" pitchFamily="2" charset="-122"/>
                <a:cs typeface="Arial" pitchFamily="34" charset="0"/>
              </a:rPr>
              <a:t>忘记</a:t>
            </a:r>
            <a:r>
              <a:rPr kumimoji="0" lang="zh-CN" altLang="en-US" sz="3200" b="1" dirty="0">
                <a:solidFill>
                  <a:srgbClr val="000000"/>
                </a:solidFill>
                <a:latin typeface="Arial" pitchFamily="34" charset="0"/>
                <a:cs typeface="Arial" pitchFamily="34" charset="0"/>
              </a:rPr>
              <a:t>辉煌</a:t>
            </a:r>
            <a:r>
              <a:rPr kumimoji="0" lang="zh-CN" sz="3200" b="1" i="0" u="none" strike="noStrike" cap="none" normalizeH="0" baseline="0" dirty="0">
                <a:ln>
                  <a:noFill/>
                </a:ln>
                <a:solidFill>
                  <a:srgbClr val="000000"/>
                </a:solidFill>
                <a:effectLst/>
                <a:latin typeface="Arial" pitchFamily="34" charset="0"/>
                <a:ea typeface="宋体" pitchFamily="2" charset="-122"/>
                <a:cs typeface="Arial" pitchFamily="34" charset="0"/>
              </a:rPr>
              <a:t>昨天</a:t>
            </a:r>
            <a:r>
              <a:rPr kumimoji="0" lang="zh-CN" altLang="zh-CN" sz="3200" b="1" i="0" u="none" strike="noStrike" cap="none" normalizeH="0" baseline="0" dirty="0">
                <a:ln>
                  <a:noFill/>
                </a:ln>
                <a:solidFill>
                  <a:srgbClr val="000000"/>
                </a:solidFill>
                <a:effectLst/>
                <a:latin typeface="Arial" pitchFamily="34" charset="0"/>
                <a:ea typeface="宋体" pitchFamily="2" charset="-122"/>
                <a:cs typeface="Arial" pitchFamily="34" charset="0"/>
              </a:rPr>
              <a:t>,</a:t>
            </a:r>
            <a:br>
              <a:rPr kumimoji="0" lang="zh-CN" altLang="zh-CN" sz="3200" b="1" i="0" u="none" strike="noStrike" cap="none" normalizeH="0" baseline="0" dirty="0">
                <a:ln>
                  <a:noFill/>
                </a:ln>
                <a:solidFill>
                  <a:srgbClr val="000000"/>
                </a:solidFill>
                <a:effectLst/>
                <a:latin typeface="Arial" pitchFamily="34" charset="0"/>
                <a:ea typeface="宋体" pitchFamily="2" charset="-122"/>
                <a:cs typeface="Arial" pitchFamily="34" charset="0"/>
              </a:rPr>
            </a:br>
            <a:r>
              <a:rPr kumimoji="0" lang="zh-CN" altLang="zh-CN" sz="3200" b="1" dirty="0">
                <a:solidFill>
                  <a:srgbClr val="3333FF"/>
                </a:solidFill>
                <a:latin typeface="Arial" pitchFamily="34" charset="0"/>
                <a:cs typeface="Arial" pitchFamily="34" charset="0"/>
              </a:rPr>
              <a:t>好好把握今天</a:t>
            </a:r>
            <a:r>
              <a:rPr kumimoji="0" lang="zh-CN" altLang="en-US" sz="3200" b="1" dirty="0">
                <a:solidFill>
                  <a:srgbClr val="3333FF"/>
                </a:solidFill>
                <a:latin typeface="Arial" pitchFamily="34" charset="0"/>
                <a:cs typeface="Arial" pitchFamily="34" charset="0"/>
              </a:rPr>
              <a:t>，</a:t>
            </a:r>
            <a:endParaRPr kumimoji="0" lang="zh-CN" altLang="zh-CN" sz="3200" b="1" dirty="0">
              <a:solidFill>
                <a:srgbClr val="3333FF"/>
              </a:solidFill>
              <a:latin typeface="Arial" pitchFamily="34" charset="0"/>
              <a:cs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sz="3200" b="1" i="0" u="none" strike="noStrike" cap="none" normalizeH="0" baseline="0" dirty="0">
                <a:ln>
                  <a:noFill/>
                </a:ln>
                <a:solidFill>
                  <a:srgbClr val="FF0000"/>
                </a:solidFill>
                <a:effectLst/>
                <a:latin typeface="Arial" pitchFamily="34" charset="0"/>
                <a:ea typeface="宋体" pitchFamily="2" charset="-122"/>
                <a:cs typeface="Arial" pitchFamily="34" charset="0"/>
              </a:rPr>
              <a:t>认真计划明天</a:t>
            </a:r>
            <a:r>
              <a:rPr kumimoji="0" lang="zh-CN" altLang="en-US" sz="3200" b="1" dirty="0">
                <a:solidFill>
                  <a:srgbClr val="FF0000"/>
                </a:solidFill>
                <a:latin typeface="Arial" pitchFamily="34" charset="0"/>
                <a:cs typeface="Arial" pitchFamily="34" charset="0"/>
              </a:rPr>
              <a:t>。</a:t>
            </a:r>
            <a:endParaRPr kumimoji="0" lang="zh-CN" altLang="zh-CN" sz="3200" b="1"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5" fill="hold" grpId="0" nodeType="clickEffect">
                                  <p:stCondLst>
                                    <p:cond delay="0"/>
                                  </p:stCondLst>
                                  <p:childTnLst>
                                    <p:set>
                                      <p:cBhvr>
                                        <p:cTn id="10" dur="1" fill="hold">
                                          <p:stCondLst>
                                            <p:cond delay="0"/>
                                          </p:stCondLst>
                                        </p:cTn>
                                        <p:tgtEl>
                                          <p:spTgt spid="159748"/>
                                        </p:tgtEl>
                                        <p:attrNameLst>
                                          <p:attrName>style.visibility</p:attrName>
                                        </p:attrNameLst>
                                      </p:cBhvr>
                                      <p:to>
                                        <p:strVal val="visible"/>
                                      </p:to>
                                    </p:set>
                                    <p:animEffect transition="in" filter="blinds(vertical)">
                                      <p:cBhvr>
                                        <p:cTn id="11" dur="500"/>
                                        <p:tgtEl>
                                          <p:spTgt spid="15974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59749"/>
                                        </p:tgtEl>
                                        <p:attrNameLst>
                                          <p:attrName>style.visibility</p:attrName>
                                        </p:attrNameLst>
                                      </p:cBhvr>
                                      <p:to>
                                        <p:strVal val="visible"/>
                                      </p:to>
                                    </p:set>
                                    <p:animEffect transition="in" filter="wipe(left)">
                                      <p:cBhvr>
                                        <p:cTn id="16" dur="500"/>
                                        <p:tgtEl>
                                          <p:spTgt spid="15974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9750"/>
                                        </p:tgtEl>
                                        <p:attrNameLst>
                                          <p:attrName>style.visibility</p:attrName>
                                        </p:attrNameLst>
                                      </p:cBhvr>
                                      <p:to>
                                        <p:strVal val="visible"/>
                                      </p:to>
                                    </p:set>
                                    <p:animEffect transition="in" filter="wipe(left)">
                                      <p:cBhvr>
                                        <p:cTn id="21" dur="500"/>
                                        <p:tgtEl>
                                          <p:spTgt spid="15975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5" fill="hold" nodeType="clickEffect">
                                  <p:stCondLst>
                                    <p:cond delay="0"/>
                                  </p:stCondLst>
                                  <p:childTnLst>
                                    <p:set>
                                      <p:cBhvr>
                                        <p:cTn id="25" dur="1" fill="hold">
                                          <p:stCondLst>
                                            <p:cond delay="0"/>
                                          </p:stCondLst>
                                        </p:cTn>
                                        <p:tgtEl>
                                          <p:spTgt spid="159751"/>
                                        </p:tgtEl>
                                        <p:attrNameLst>
                                          <p:attrName>style.visibility</p:attrName>
                                        </p:attrNameLst>
                                      </p:cBhvr>
                                      <p:to>
                                        <p:strVal val="visible"/>
                                      </p:to>
                                    </p:set>
                                    <p:animEffect transition="in" filter="blinds(vertical)">
                                      <p:cBhvr>
                                        <p:cTn id="26" dur="500"/>
                                        <p:tgtEl>
                                          <p:spTgt spid="15975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159752"/>
                                        </p:tgtEl>
                                        <p:attrNameLst>
                                          <p:attrName>style.visibility</p:attrName>
                                        </p:attrNameLst>
                                      </p:cBhvr>
                                      <p:to>
                                        <p:strVal val="visible"/>
                                      </p:to>
                                    </p:set>
                                    <p:anim calcmode="lin" valueType="num">
                                      <p:cBhvr>
                                        <p:cTn id="31" dur="500" fill="hold"/>
                                        <p:tgtEl>
                                          <p:spTgt spid="159752"/>
                                        </p:tgtEl>
                                        <p:attrNameLst>
                                          <p:attrName>ppt_w</p:attrName>
                                        </p:attrNameLst>
                                      </p:cBhvr>
                                      <p:tavLst>
                                        <p:tav tm="0">
                                          <p:val>
                                            <p:fltVal val="0"/>
                                          </p:val>
                                        </p:tav>
                                        <p:tav tm="100000">
                                          <p:val>
                                            <p:strVal val="#ppt_w"/>
                                          </p:val>
                                        </p:tav>
                                      </p:tavLst>
                                    </p:anim>
                                    <p:anim calcmode="lin" valueType="num">
                                      <p:cBhvr>
                                        <p:cTn id="32" dur="500" fill="hold"/>
                                        <p:tgtEl>
                                          <p:spTgt spid="159752"/>
                                        </p:tgtEl>
                                        <p:attrNameLst>
                                          <p:attrName>ppt_h</p:attrName>
                                        </p:attrNameLst>
                                      </p:cBhvr>
                                      <p:tavLst>
                                        <p:tav tm="0">
                                          <p:val>
                                            <p:fltVal val="0"/>
                                          </p:val>
                                        </p:tav>
                                        <p:tav tm="100000">
                                          <p:val>
                                            <p:strVal val="#ppt_h"/>
                                          </p:val>
                                        </p:tav>
                                      </p:tavLst>
                                    </p:anim>
                                    <p:anim calcmode="lin" valueType="num">
                                      <p:cBhvr>
                                        <p:cTn id="33" dur="500" fill="hold"/>
                                        <p:tgtEl>
                                          <p:spTgt spid="159752"/>
                                        </p:tgtEl>
                                        <p:attrNameLst>
                                          <p:attrName>ppt_x</p:attrName>
                                        </p:attrNameLst>
                                      </p:cBhvr>
                                      <p:tavLst>
                                        <p:tav tm="0" fmla="#ppt_x+(cos(-2*pi*(1-$))*-#ppt_x-sin(-2*pi*(1-$))*(1-#ppt_y))*(1-$)">
                                          <p:val>
                                            <p:fltVal val="0"/>
                                          </p:val>
                                        </p:tav>
                                        <p:tav tm="100000">
                                          <p:val>
                                            <p:fltVal val="1"/>
                                          </p:val>
                                        </p:tav>
                                      </p:tavLst>
                                    </p:anim>
                                    <p:anim calcmode="lin" valueType="num">
                                      <p:cBhvr>
                                        <p:cTn id="34" dur="500" fill="hold"/>
                                        <p:tgtEl>
                                          <p:spTgt spid="15975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1"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down)">
                                      <p:cBhvr>
                                        <p:cTn id="43" dur="580">
                                          <p:stCondLst>
                                            <p:cond delay="0"/>
                                          </p:stCondLst>
                                        </p:cTn>
                                        <p:tgtEl>
                                          <p:spTgt spid="3"/>
                                        </p:tgtEl>
                                      </p:cBhvr>
                                    </p:animEffect>
                                    <p:anim calcmode="lin" valueType="num">
                                      <p:cBhvr>
                                        <p:cTn id="4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gtEl>
                                      </p:cBhvr>
                                      <p:to x="100000" y="60000"/>
                                    </p:animScale>
                                    <p:animScale>
                                      <p:cBhvr>
                                        <p:cTn id="50" dur="166" decel="50000">
                                          <p:stCondLst>
                                            <p:cond delay="676"/>
                                          </p:stCondLst>
                                        </p:cTn>
                                        <p:tgtEl>
                                          <p:spTgt spid="3"/>
                                        </p:tgtEl>
                                      </p:cBhvr>
                                      <p:to x="100000" y="100000"/>
                                    </p:animScale>
                                    <p:animScale>
                                      <p:cBhvr>
                                        <p:cTn id="51" dur="26">
                                          <p:stCondLst>
                                            <p:cond delay="1312"/>
                                          </p:stCondLst>
                                        </p:cTn>
                                        <p:tgtEl>
                                          <p:spTgt spid="3"/>
                                        </p:tgtEl>
                                      </p:cBhvr>
                                      <p:to x="100000" y="80000"/>
                                    </p:animScale>
                                    <p:animScale>
                                      <p:cBhvr>
                                        <p:cTn id="52" dur="166" decel="50000">
                                          <p:stCondLst>
                                            <p:cond delay="1338"/>
                                          </p:stCondLst>
                                        </p:cTn>
                                        <p:tgtEl>
                                          <p:spTgt spid="3"/>
                                        </p:tgtEl>
                                      </p:cBhvr>
                                      <p:to x="100000" y="100000"/>
                                    </p:animScale>
                                    <p:animScale>
                                      <p:cBhvr>
                                        <p:cTn id="53" dur="26">
                                          <p:stCondLst>
                                            <p:cond delay="1642"/>
                                          </p:stCondLst>
                                        </p:cTn>
                                        <p:tgtEl>
                                          <p:spTgt spid="3"/>
                                        </p:tgtEl>
                                      </p:cBhvr>
                                      <p:to x="100000" y="90000"/>
                                    </p:animScale>
                                    <p:animScale>
                                      <p:cBhvr>
                                        <p:cTn id="54" dur="166" decel="50000">
                                          <p:stCondLst>
                                            <p:cond delay="1668"/>
                                          </p:stCondLst>
                                        </p:cTn>
                                        <p:tgtEl>
                                          <p:spTgt spid="3"/>
                                        </p:tgtEl>
                                      </p:cBhvr>
                                      <p:to x="100000" y="100000"/>
                                    </p:animScale>
                                    <p:animScale>
                                      <p:cBhvr>
                                        <p:cTn id="55" dur="26">
                                          <p:stCondLst>
                                            <p:cond delay="1808"/>
                                          </p:stCondLst>
                                        </p:cTn>
                                        <p:tgtEl>
                                          <p:spTgt spid="3"/>
                                        </p:tgtEl>
                                      </p:cBhvr>
                                      <p:to x="100000" y="95000"/>
                                    </p:animScale>
                                    <p:animScale>
                                      <p:cBhvr>
                                        <p:cTn id="56"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8" grpId="0" autoUpdateAnimBg="0"/>
      <p:bldP spid="159749" grpId="0" autoUpdateAnimBg="0"/>
      <p:bldP spid="159750" grpId="0" autoUpdateAnimBg="0"/>
      <p:bldP spid="159752" grpId="0" autoUpdateAnimBg="0"/>
      <p:bldP spid="2" grpId="0"/>
      <p:bldP spid="3" grpId="0" animBg="1"/>
      <p:bldP spid="3"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76200" y="76200"/>
            <a:ext cx="5867400" cy="519113"/>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sz="3200" b="1">
                <a:solidFill>
                  <a:schemeClr val="folHlink"/>
                </a:solidFill>
                <a:latin typeface="Arial" pitchFamily="34" charset="0"/>
                <a:ea typeface="楷体_GB2312" pitchFamily="49" charset="-122"/>
              </a:rPr>
              <a:t>二、可逆过程和不可逆过程</a:t>
            </a:r>
          </a:p>
        </p:txBody>
      </p:sp>
      <p:sp>
        <p:nvSpPr>
          <p:cNvPr id="160771" name="Text Box 3"/>
          <p:cNvSpPr txBox="1">
            <a:spLocks noChangeArrowheads="1"/>
          </p:cNvSpPr>
          <p:nvPr/>
        </p:nvSpPr>
        <p:spPr bwMode="auto">
          <a:xfrm>
            <a:off x="-9198" y="1140306"/>
            <a:ext cx="8496533" cy="526297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lnSpc>
                <a:spcPct val="135000"/>
              </a:lnSpc>
              <a:buClr>
                <a:srgbClr val="339933"/>
              </a:buClr>
              <a:buSzPct val="120000"/>
              <a:buFont typeface="Wingdings" pitchFamily="2" charset="2"/>
              <a:buNone/>
            </a:pPr>
            <a:r>
              <a:rPr lang="en-US" altLang="zh-CN" sz="2800" b="1">
                <a:solidFill>
                  <a:srgbClr val="3333FF"/>
                </a:solidFill>
                <a:ea typeface="楷体_GB2312" pitchFamily="49" charset="-122"/>
              </a:rPr>
              <a:t>    </a:t>
            </a:r>
            <a:r>
              <a:rPr lang="zh-CN" altLang="en-US" sz="2800" b="1">
                <a:solidFill>
                  <a:srgbClr val="3333FF"/>
                </a:solidFill>
                <a:ea typeface="楷体_GB2312" pitchFamily="49" charset="-122"/>
              </a:rPr>
              <a:t>定义：</a:t>
            </a:r>
          </a:p>
          <a:p>
            <a:pPr lvl="1" algn="l" eaLnBrk="1" hangingPunct="1">
              <a:lnSpc>
                <a:spcPct val="135000"/>
              </a:lnSpc>
              <a:buClr>
                <a:srgbClr val="339933"/>
              </a:buClr>
              <a:buSzPct val="120000"/>
              <a:buFont typeface="Wingdings" pitchFamily="2" charset="2"/>
              <a:buNone/>
            </a:pPr>
            <a:r>
              <a:rPr lang="zh-CN" altLang="en-US" sz="2800" b="1">
                <a:latin typeface="宋体" pitchFamily="2" charset="-122"/>
              </a:rPr>
              <a:t>   在系统状态的变化过程中，系统由一个状态出发经过某一过程达到另一状态，如果存在另一个过程，</a:t>
            </a:r>
            <a:r>
              <a:rPr lang="zh-CN" altLang="en-US" sz="2800" b="1">
                <a:solidFill>
                  <a:srgbClr val="3333FF"/>
                </a:solidFill>
                <a:ea typeface="楷体_GB2312" pitchFamily="49" charset="-122"/>
              </a:rPr>
              <a:t>它能使系统和外界</a:t>
            </a:r>
            <a:r>
              <a:rPr lang="zh-CN" altLang="en-US" sz="2800" b="1">
                <a:solidFill>
                  <a:schemeClr val="folHlink"/>
                </a:solidFill>
                <a:ea typeface="楷体_GB2312" pitchFamily="49" charset="-122"/>
              </a:rPr>
              <a:t>完全恢复</a:t>
            </a:r>
            <a:r>
              <a:rPr lang="zh-CN" altLang="en-US" sz="2800" b="1">
                <a:solidFill>
                  <a:srgbClr val="3333FF"/>
                </a:solidFill>
                <a:ea typeface="楷体_GB2312" pitchFamily="49" charset="-122"/>
              </a:rPr>
              <a:t>原来的状态，</a:t>
            </a:r>
            <a:r>
              <a:rPr lang="zh-CN" altLang="en-US" sz="2800" b="1">
                <a:latin typeface="宋体" pitchFamily="2" charset="-122"/>
              </a:rPr>
              <a:t>则这样的过程称为</a:t>
            </a:r>
            <a:r>
              <a:rPr lang="zh-CN" altLang="en-US" sz="2800" b="1">
                <a:solidFill>
                  <a:srgbClr val="FF3300"/>
                </a:solidFill>
                <a:ea typeface="楷体_GB2312" pitchFamily="49" charset="-122"/>
              </a:rPr>
              <a:t>可逆过程</a:t>
            </a:r>
            <a:r>
              <a:rPr lang="en-US" altLang="zh-CN" sz="2800" b="1">
                <a:solidFill>
                  <a:srgbClr val="FF3300"/>
                </a:solidFill>
                <a:ea typeface="楷体_GB2312" pitchFamily="49" charset="-122"/>
              </a:rPr>
              <a:t>(</a:t>
            </a:r>
            <a:r>
              <a:rPr lang="en-US" altLang="zh-CN" sz="2800" b="1">
                <a:solidFill>
                  <a:srgbClr val="FF0000"/>
                </a:solidFill>
              </a:rPr>
              <a:t>reversible process) </a:t>
            </a:r>
            <a:r>
              <a:rPr lang="zh-CN" altLang="en-US" sz="2800" b="1">
                <a:latin typeface="宋体" pitchFamily="2" charset="-122"/>
              </a:rPr>
              <a:t>；</a:t>
            </a:r>
            <a:endParaRPr lang="en-US" altLang="zh-CN" sz="2800" b="1">
              <a:latin typeface="宋体" pitchFamily="2" charset="-122"/>
            </a:endParaRPr>
          </a:p>
          <a:p>
            <a:pPr lvl="1" algn="l" eaLnBrk="1" hangingPunct="1">
              <a:lnSpc>
                <a:spcPct val="135000"/>
              </a:lnSpc>
              <a:buClr>
                <a:srgbClr val="339933"/>
              </a:buClr>
              <a:buSzPct val="120000"/>
              <a:buFont typeface="Wingdings" pitchFamily="2" charset="2"/>
              <a:buNone/>
            </a:pPr>
            <a:r>
              <a:rPr lang="zh-CN" altLang="en-US" sz="2800" b="1">
                <a:latin typeface="宋体" pitchFamily="2" charset="-122"/>
              </a:rPr>
              <a:t>反之，如果用任何曲折复杂的方法都</a:t>
            </a:r>
            <a:r>
              <a:rPr lang="zh-CN" altLang="en-US" sz="2800" b="1">
                <a:solidFill>
                  <a:srgbClr val="3333FF"/>
                </a:solidFill>
                <a:ea typeface="楷体_GB2312" pitchFamily="49" charset="-122"/>
              </a:rPr>
              <a:t>不能使系统和外界完全恢复原来的状态</a:t>
            </a:r>
            <a:r>
              <a:rPr lang="zh-CN" altLang="en-US" sz="2800" b="1">
                <a:latin typeface="宋体" pitchFamily="2" charset="-122"/>
              </a:rPr>
              <a:t>，或者虽能恢复到初态</a:t>
            </a:r>
            <a:r>
              <a:rPr lang="en-US" altLang="zh-CN" sz="2800" b="1">
                <a:latin typeface="宋体" pitchFamily="2" charset="-122"/>
              </a:rPr>
              <a:t>A</a:t>
            </a:r>
            <a:r>
              <a:rPr lang="zh-CN" altLang="en-US" sz="2800" b="1">
                <a:latin typeface="宋体" pitchFamily="2" charset="-122"/>
              </a:rPr>
              <a:t>，但周围一切</a:t>
            </a:r>
            <a:r>
              <a:rPr lang="zh-CN" altLang="en-US" sz="2800" b="1">
                <a:solidFill>
                  <a:srgbClr val="3333FF"/>
                </a:solidFill>
                <a:ea typeface="楷体_GB2312" pitchFamily="49" charset="-122"/>
              </a:rPr>
              <a:t>不能恢复原状</a:t>
            </a:r>
            <a:r>
              <a:rPr lang="zh-CN" altLang="en-US" sz="2800" b="1">
                <a:latin typeface="宋体" pitchFamily="2" charset="-122"/>
              </a:rPr>
              <a:t>则这样的过程称为</a:t>
            </a:r>
            <a:r>
              <a:rPr lang="zh-CN" altLang="en-US" sz="2800" b="1">
                <a:solidFill>
                  <a:srgbClr val="FF3300"/>
                </a:solidFill>
                <a:ea typeface="楷体_GB2312" pitchFamily="49" charset="-122"/>
              </a:rPr>
              <a:t>不可逆过程</a:t>
            </a:r>
            <a:r>
              <a:rPr lang="zh-CN" altLang="en-US" sz="2800" b="1">
                <a:solidFill>
                  <a:srgbClr val="FF0000"/>
                </a:solidFill>
              </a:rPr>
              <a:t>（</a:t>
            </a:r>
            <a:r>
              <a:rPr lang="en-US" altLang="zh-CN" sz="2800" b="1">
                <a:solidFill>
                  <a:srgbClr val="FF0000"/>
                </a:solidFill>
              </a:rPr>
              <a:t>irreversible process) </a:t>
            </a:r>
            <a:r>
              <a:rPr lang="zh-CN" altLang="en-US" sz="2800" b="1">
                <a:latin typeface="宋体" pitchFamily="2" charset="-122"/>
              </a:rPr>
              <a:t>。</a:t>
            </a:r>
            <a:endParaRPr lang="zh-CN" altLang="en-US" sz="2800" b="1">
              <a:solidFill>
                <a:srgbClr val="FF3300"/>
              </a:solidFill>
              <a:ea typeface="楷体_GB2312" pitchFamily="49" charset="-122"/>
            </a:endParaRPr>
          </a:p>
        </p:txBody>
      </p:sp>
      <p:sp>
        <p:nvSpPr>
          <p:cNvPr id="160772" name="Line 4"/>
          <p:cNvSpPr>
            <a:spLocks noChangeShapeType="1"/>
          </p:cNvSpPr>
          <p:nvPr/>
        </p:nvSpPr>
        <p:spPr bwMode="auto">
          <a:xfrm>
            <a:off x="6705600" y="481013"/>
            <a:ext cx="0" cy="1219200"/>
          </a:xfrm>
          <a:prstGeom prst="line">
            <a:avLst/>
          </a:prstGeom>
          <a:noFill/>
          <a:ln w="9525">
            <a:solidFill>
              <a:srgbClr val="FF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773" name="Line 5"/>
          <p:cNvSpPr>
            <a:spLocks noChangeShapeType="1"/>
          </p:cNvSpPr>
          <p:nvPr/>
        </p:nvSpPr>
        <p:spPr bwMode="auto">
          <a:xfrm>
            <a:off x="6705600" y="1700213"/>
            <a:ext cx="1371600"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774" name="Freeform 6"/>
          <p:cNvSpPr>
            <a:spLocks/>
          </p:cNvSpPr>
          <p:nvPr/>
        </p:nvSpPr>
        <p:spPr bwMode="auto">
          <a:xfrm>
            <a:off x="6934200" y="709613"/>
            <a:ext cx="838200" cy="838200"/>
          </a:xfrm>
          <a:custGeom>
            <a:avLst/>
            <a:gdLst>
              <a:gd name="T0" fmla="*/ 0 w 528"/>
              <a:gd name="T1" fmla="*/ 0 h 528"/>
              <a:gd name="T2" fmla="*/ 2147483647 w 528"/>
              <a:gd name="T3" fmla="*/ 2147483647 h 528"/>
              <a:gd name="T4" fmla="*/ 2147483647 w 528"/>
              <a:gd name="T5" fmla="*/ 2147483647 h 528"/>
              <a:gd name="T6" fmla="*/ 0 60000 65536"/>
              <a:gd name="T7" fmla="*/ 0 60000 65536"/>
              <a:gd name="T8" fmla="*/ 0 60000 65536"/>
            </a:gdLst>
            <a:ahLst/>
            <a:cxnLst>
              <a:cxn ang="T6">
                <a:pos x="T0" y="T1"/>
              </a:cxn>
              <a:cxn ang="T7">
                <a:pos x="T2" y="T3"/>
              </a:cxn>
              <a:cxn ang="T8">
                <a:pos x="T4" y="T5"/>
              </a:cxn>
            </a:cxnLst>
            <a:rect l="0" t="0" r="r" b="b"/>
            <a:pathLst>
              <a:path w="528" h="528">
                <a:moveTo>
                  <a:pt x="0" y="0"/>
                </a:moveTo>
                <a:cubicBezTo>
                  <a:pt x="4" y="148"/>
                  <a:pt x="8" y="296"/>
                  <a:pt x="96" y="384"/>
                </a:cubicBezTo>
                <a:cubicBezTo>
                  <a:pt x="184" y="472"/>
                  <a:pt x="356" y="500"/>
                  <a:pt x="528" y="528"/>
                </a:cubicBezTo>
              </a:path>
            </a:pathLst>
          </a:custGeom>
          <a:noFill/>
          <a:ln w="25400" cap="flat" cmpd="sng">
            <a:solidFill>
              <a:srgbClr val="FF00FF"/>
            </a:solidFill>
            <a:prstDash val="solid"/>
            <a:round/>
            <a:headEn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0775" name="Freeform 7"/>
          <p:cNvSpPr>
            <a:spLocks/>
          </p:cNvSpPr>
          <p:nvPr/>
        </p:nvSpPr>
        <p:spPr bwMode="auto">
          <a:xfrm>
            <a:off x="6934200" y="709613"/>
            <a:ext cx="838200" cy="838200"/>
          </a:xfrm>
          <a:custGeom>
            <a:avLst/>
            <a:gdLst>
              <a:gd name="T0" fmla="*/ 0 w 528"/>
              <a:gd name="T1" fmla="*/ 0 h 528"/>
              <a:gd name="T2" fmla="*/ 2147483647 w 528"/>
              <a:gd name="T3" fmla="*/ 2147483647 h 528"/>
              <a:gd name="T4" fmla="*/ 2147483647 w 528"/>
              <a:gd name="T5" fmla="*/ 2147483647 h 528"/>
              <a:gd name="T6" fmla="*/ 0 60000 65536"/>
              <a:gd name="T7" fmla="*/ 0 60000 65536"/>
              <a:gd name="T8" fmla="*/ 0 60000 65536"/>
            </a:gdLst>
            <a:ahLst/>
            <a:cxnLst>
              <a:cxn ang="T6">
                <a:pos x="T0" y="T1"/>
              </a:cxn>
              <a:cxn ang="T7">
                <a:pos x="T2" y="T3"/>
              </a:cxn>
              <a:cxn ang="T8">
                <a:pos x="T4" y="T5"/>
              </a:cxn>
            </a:cxnLst>
            <a:rect l="0" t="0" r="r" b="b"/>
            <a:pathLst>
              <a:path w="528" h="528">
                <a:moveTo>
                  <a:pt x="0" y="0"/>
                </a:moveTo>
                <a:cubicBezTo>
                  <a:pt x="4" y="148"/>
                  <a:pt x="8" y="296"/>
                  <a:pt x="96" y="384"/>
                </a:cubicBezTo>
                <a:cubicBezTo>
                  <a:pt x="184" y="472"/>
                  <a:pt x="356" y="500"/>
                  <a:pt x="528" y="528"/>
                </a:cubicBezTo>
              </a:path>
            </a:pathLst>
          </a:custGeom>
          <a:noFill/>
          <a:ln w="25400" cap="flat" cmpd="sng">
            <a:solidFill>
              <a:srgbClr val="3333FF"/>
            </a:solidFill>
            <a:prstDash val="solid"/>
            <a:round/>
            <a:headEnd type="triangle" w="med" len="med"/>
            <a:tailEnd type="non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0770"/>
                                        </p:tgtEl>
                                        <p:attrNameLst>
                                          <p:attrName>style.visibility</p:attrName>
                                        </p:attrNameLst>
                                      </p:cBhvr>
                                      <p:to>
                                        <p:strVal val="visible"/>
                                      </p:to>
                                    </p:set>
                                    <p:animEffect transition="in" filter="wipe(left)">
                                      <p:cBhvr>
                                        <p:cTn id="7" dur="500"/>
                                        <p:tgtEl>
                                          <p:spTgt spid="1607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72"/>
                                        </p:tgtEl>
                                        <p:attrNameLst>
                                          <p:attrName>style.visibility</p:attrName>
                                        </p:attrNameLst>
                                      </p:cBhvr>
                                      <p:to>
                                        <p:strVal val="visible"/>
                                      </p:to>
                                    </p:set>
                                    <p:animEffect transition="in" filter="wipe(left)">
                                      <p:cBhvr>
                                        <p:cTn id="12" dur="500"/>
                                        <p:tgtEl>
                                          <p:spTgt spid="1607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0773"/>
                                        </p:tgtEl>
                                        <p:attrNameLst>
                                          <p:attrName>style.visibility</p:attrName>
                                        </p:attrNameLst>
                                      </p:cBhvr>
                                      <p:to>
                                        <p:strVal val="visible"/>
                                      </p:to>
                                    </p:set>
                                    <p:animEffect transition="in" filter="wipe(left)">
                                      <p:cBhvr>
                                        <p:cTn id="17" dur="500"/>
                                        <p:tgtEl>
                                          <p:spTgt spid="1607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0774"/>
                                        </p:tgtEl>
                                        <p:attrNameLst>
                                          <p:attrName>style.visibility</p:attrName>
                                        </p:attrNameLst>
                                      </p:cBhvr>
                                      <p:to>
                                        <p:strVal val="visible"/>
                                      </p:to>
                                    </p:set>
                                    <p:animEffect transition="in" filter="wipe(left)">
                                      <p:cBhvr>
                                        <p:cTn id="22" dur="500"/>
                                        <p:tgtEl>
                                          <p:spTgt spid="1607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160775"/>
                                        </p:tgtEl>
                                        <p:attrNameLst>
                                          <p:attrName>style.visibility</p:attrName>
                                        </p:attrNameLst>
                                      </p:cBhvr>
                                      <p:to>
                                        <p:strVal val="visible"/>
                                      </p:to>
                                    </p:set>
                                    <p:animEffect transition="in" filter="wipe(right)">
                                      <p:cBhvr>
                                        <p:cTn id="27" dur="500"/>
                                        <p:tgtEl>
                                          <p:spTgt spid="1607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0771">
                                            <p:txEl>
                                              <p:pRg st="0" end="0"/>
                                            </p:txEl>
                                          </p:spTgt>
                                        </p:tgtEl>
                                        <p:attrNameLst>
                                          <p:attrName>style.visibility</p:attrName>
                                        </p:attrNameLst>
                                      </p:cBhvr>
                                      <p:to>
                                        <p:strVal val="visible"/>
                                      </p:to>
                                    </p:set>
                                    <p:animEffect transition="in" filter="wipe(left)">
                                      <p:cBhvr>
                                        <p:cTn id="32" dur="500"/>
                                        <p:tgtEl>
                                          <p:spTgt spid="160771">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0771">
                                            <p:txEl>
                                              <p:pRg st="1" end="1"/>
                                            </p:txEl>
                                          </p:spTgt>
                                        </p:tgtEl>
                                        <p:attrNameLst>
                                          <p:attrName>style.visibility</p:attrName>
                                        </p:attrNameLst>
                                      </p:cBhvr>
                                      <p:to>
                                        <p:strVal val="visible"/>
                                      </p:to>
                                    </p:set>
                                    <p:animEffect transition="in" filter="wipe(left)">
                                      <p:cBhvr>
                                        <p:cTn id="37" dur="500"/>
                                        <p:tgtEl>
                                          <p:spTgt spid="160771">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0771">
                                            <p:txEl>
                                              <p:pRg st="2" end="2"/>
                                            </p:txEl>
                                          </p:spTgt>
                                        </p:tgtEl>
                                        <p:attrNameLst>
                                          <p:attrName>style.visibility</p:attrName>
                                        </p:attrNameLst>
                                      </p:cBhvr>
                                      <p:to>
                                        <p:strVal val="visible"/>
                                      </p:to>
                                    </p:set>
                                    <p:animEffect transition="in" filter="wipe(left)">
                                      <p:cBhvr>
                                        <p:cTn id="42" dur="500"/>
                                        <p:tgtEl>
                                          <p:spTgt spid="1607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nimBg="1" autoUpdateAnimBg="0"/>
      <p:bldP spid="160771" grpId="0" build="p" bldLvl="2" autoUpdateAnimBg="0"/>
      <p:bldP spid="160772" grpId="0" animBg="1"/>
      <p:bldP spid="160773" grpId="0" animBg="1"/>
      <p:bldP spid="160774" grpId="0" animBg="1"/>
      <p:bldP spid="16077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p:cNvSpPr txBox="1">
            <a:spLocks noChangeArrowheads="1"/>
          </p:cNvSpPr>
          <p:nvPr/>
        </p:nvSpPr>
        <p:spPr bwMode="auto">
          <a:xfrm>
            <a:off x="107504" y="80109"/>
            <a:ext cx="86645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FontTx/>
              <a:buChar char="•"/>
            </a:pPr>
            <a:r>
              <a:rPr lang="zh-CN" altLang="en-US" sz="2400" b="1">
                <a:solidFill>
                  <a:schemeClr val="accent2"/>
                </a:solidFill>
              </a:rPr>
              <a:t>单摆运动：一个单摆，如果不受空气阻力及其它摩擦力，当它离开某一位置后，经过一个周期又回到原来的位置而周围一切都无变化。</a:t>
            </a:r>
            <a:r>
              <a:rPr lang="zh-CN" altLang="en-US" sz="2400" b="1">
                <a:solidFill>
                  <a:srgbClr val="FF3300"/>
                </a:solidFill>
              </a:rPr>
              <a:t>因此</a:t>
            </a:r>
            <a:r>
              <a:rPr lang="zh-CN" altLang="en-US" sz="2400" b="1">
                <a:solidFill>
                  <a:srgbClr val="FF3300"/>
                </a:solidFill>
                <a:ea typeface="楷体_GB2312" pitchFamily="49" charset="-122"/>
              </a:rPr>
              <a:t>无摩擦和阻力的单摆运动是一个可逆过程</a:t>
            </a:r>
          </a:p>
        </p:txBody>
      </p:sp>
      <p:sp>
        <p:nvSpPr>
          <p:cNvPr id="161795" name="Text Box 3"/>
          <p:cNvSpPr txBox="1">
            <a:spLocks noChangeArrowheads="1"/>
          </p:cNvSpPr>
          <p:nvPr/>
        </p:nvSpPr>
        <p:spPr bwMode="auto">
          <a:xfrm>
            <a:off x="539552" y="1388209"/>
            <a:ext cx="6988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a:solidFill>
                  <a:schemeClr val="accent2"/>
                </a:solidFill>
              </a:rPr>
              <a:t>刚性小球在光滑的凹球面内的运动。</a:t>
            </a:r>
          </a:p>
        </p:txBody>
      </p:sp>
      <p:sp>
        <p:nvSpPr>
          <p:cNvPr id="161796" name="Rectangle 4"/>
          <p:cNvSpPr>
            <a:spLocks noChangeArrowheads="1"/>
          </p:cNvSpPr>
          <p:nvPr/>
        </p:nvSpPr>
        <p:spPr bwMode="auto">
          <a:xfrm>
            <a:off x="489744" y="1905167"/>
            <a:ext cx="741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solidFill>
                  <a:srgbClr val="FF0000"/>
                </a:solidFill>
              </a:rPr>
              <a:t>单纯的无机械能耗散的机械运动过程都是可逆过程。</a:t>
            </a:r>
          </a:p>
        </p:txBody>
      </p:sp>
      <p:sp>
        <p:nvSpPr>
          <p:cNvPr id="161797" name="Text Box 5"/>
          <p:cNvSpPr txBox="1">
            <a:spLocks noChangeArrowheads="1"/>
          </p:cNvSpPr>
          <p:nvPr/>
        </p:nvSpPr>
        <p:spPr bwMode="auto">
          <a:xfrm>
            <a:off x="107504" y="2429623"/>
            <a:ext cx="8991600" cy="3218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3333FF"/>
                </a:solidFill>
                <a:ea typeface="楷体_GB2312" pitchFamily="49" charset="-122"/>
              </a:rPr>
              <a:t>可逆过程的条件</a:t>
            </a:r>
            <a:endParaRPr lang="zh-CN" altLang="en-US" sz="2400" b="1"/>
          </a:p>
          <a:p>
            <a:pPr lvl="1" algn="l" eaLnBrk="1" hangingPunct="1">
              <a:lnSpc>
                <a:spcPct val="120000"/>
              </a:lnSpc>
              <a:buFontTx/>
              <a:buChar char="•"/>
            </a:pPr>
            <a:r>
              <a:rPr lang="en-US" altLang="zh-CN" sz="2400" b="1"/>
              <a:t>1</a:t>
            </a:r>
            <a:r>
              <a:rPr lang="zh-CN" altLang="en-US" sz="2400" b="1"/>
              <a:t>、过程要无限缓慢地进行，即属于</a:t>
            </a:r>
            <a:r>
              <a:rPr lang="zh-CN" altLang="en-US" sz="2800" b="1">
                <a:solidFill>
                  <a:srgbClr val="FF3300"/>
                </a:solidFill>
                <a:ea typeface="楷体_GB2312" pitchFamily="49" charset="-122"/>
              </a:rPr>
              <a:t>准静态过程</a:t>
            </a:r>
            <a:r>
              <a:rPr lang="zh-CN" altLang="en-US" sz="2400" b="1"/>
              <a:t>；</a:t>
            </a:r>
          </a:p>
          <a:p>
            <a:pPr lvl="1" algn="l" eaLnBrk="1" hangingPunct="1">
              <a:lnSpc>
                <a:spcPct val="120000"/>
              </a:lnSpc>
              <a:buFontTx/>
              <a:buChar char="•"/>
            </a:pPr>
            <a:r>
              <a:rPr lang="en-US" altLang="zh-CN" sz="2400" b="1"/>
              <a:t>2</a:t>
            </a:r>
            <a:r>
              <a:rPr lang="zh-CN" altLang="en-US" sz="2400" b="1"/>
              <a:t>、过程无耗散（没有摩擦力、粘滞力或其它耗散力作功）。</a:t>
            </a:r>
          </a:p>
          <a:p>
            <a:pPr lvl="1" algn="l" eaLnBrk="1" hangingPunct="1">
              <a:lnSpc>
                <a:spcPct val="120000"/>
              </a:lnSpc>
              <a:buFontTx/>
              <a:buChar char="•"/>
            </a:pPr>
            <a:endParaRPr lang="en-US" altLang="zh-CN" sz="2400" b="1">
              <a:solidFill>
                <a:srgbClr val="FF3300"/>
              </a:solidFill>
              <a:ea typeface="楷体_GB2312" pitchFamily="49" charset="-122"/>
            </a:endParaRPr>
          </a:p>
          <a:p>
            <a:pPr lvl="1" algn="l" eaLnBrk="1" hangingPunct="1">
              <a:lnSpc>
                <a:spcPct val="120000"/>
              </a:lnSpc>
              <a:buFontTx/>
              <a:buChar char="•"/>
            </a:pPr>
            <a:endParaRPr lang="en-US" altLang="zh-CN" sz="2400" b="1">
              <a:solidFill>
                <a:srgbClr val="FF3300"/>
              </a:solidFill>
              <a:ea typeface="楷体_GB2312" pitchFamily="49" charset="-122"/>
            </a:endParaRPr>
          </a:p>
          <a:p>
            <a:pPr lvl="1" algn="l" eaLnBrk="1" hangingPunct="1">
              <a:lnSpc>
                <a:spcPct val="120000"/>
              </a:lnSpc>
              <a:buFontTx/>
              <a:buChar char="•"/>
            </a:pPr>
            <a:endParaRPr lang="en-US" altLang="zh-CN" sz="2400" b="1">
              <a:solidFill>
                <a:srgbClr val="FF3300"/>
              </a:solidFill>
              <a:ea typeface="楷体_GB2312" pitchFamily="49" charset="-122"/>
            </a:endParaRPr>
          </a:p>
          <a:p>
            <a:pPr lvl="1" algn="l" eaLnBrk="1" hangingPunct="1">
              <a:lnSpc>
                <a:spcPct val="120000"/>
              </a:lnSpc>
              <a:buFontTx/>
              <a:buChar char="•"/>
            </a:pPr>
            <a:r>
              <a:rPr lang="zh-CN" altLang="en-US" sz="2400" b="1">
                <a:solidFill>
                  <a:srgbClr val="FF3300"/>
                </a:solidFill>
                <a:ea typeface="楷体_GB2312" pitchFamily="49" charset="-122"/>
              </a:rPr>
              <a:t>即只有在准静态和无摩擦的条件下才有可能是可逆的。</a:t>
            </a:r>
            <a:endParaRPr lang="zh-CN" altLang="en-US" sz="2400" b="1">
              <a:latin typeface="楷体_GB2312" pitchFamily="49" charset="-122"/>
              <a:ea typeface="楷体_GB2312" pitchFamily="49" charset="-122"/>
            </a:endParaRPr>
          </a:p>
        </p:txBody>
      </p:sp>
      <p:sp>
        <p:nvSpPr>
          <p:cNvPr id="161798" name="Rectangle 6"/>
          <p:cNvSpPr>
            <a:spLocks noChangeArrowheads="1"/>
          </p:cNvSpPr>
          <p:nvPr/>
        </p:nvSpPr>
        <p:spPr bwMode="auto">
          <a:xfrm>
            <a:off x="250825" y="5734050"/>
            <a:ext cx="12557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rgbClr val="FF3300"/>
                </a:solidFill>
                <a:latin typeface="宋体" pitchFamily="2" charset="-122"/>
              </a:rPr>
              <a:t>结论：</a:t>
            </a:r>
          </a:p>
        </p:txBody>
      </p:sp>
      <p:sp>
        <p:nvSpPr>
          <p:cNvPr id="161799" name="Text Box 7"/>
          <p:cNvSpPr txBox="1">
            <a:spLocks noChangeArrowheads="1"/>
          </p:cNvSpPr>
          <p:nvPr/>
        </p:nvSpPr>
        <p:spPr bwMode="auto">
          <a:xfrm>
            <a:off x="1447800" y="5554731"/>
            <a:ext cx="550068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200" b="1" dirty="0">
                <a:solidFill>
                  <a:schemeClr val="accent2"/>
                </a:solidFill>
                <a:latin typeface="宋体" pitchFamily="2" charset="-122"/>
              </a:rPr>
              <a:t>1</a:t>
            </a:r>
            <a:r>
              <a:rPr lang="zh-CN" altLang="en-US" sz="2200" b="1" dirty="0">
                <a:solidFill>
                  <a:schemeClr val="accent2"/>
                </a:solidFill>
                <a:latin typeface="宋体" pitchFamily="2" charset="-122"/>
              </a:rPr>
              <a:t>）一切自发过程都是不可逆过程。</a:t>
            </a:r>
          </a:p>
        </p:txBody>
      </p:sp>
      <p:sp>
        <p:nvSpPr>
          <p:cNvPr id="161800" name="Text Box 8"/>
          <p:cNvSpPr txBox="1">
            <a:spLocks noChangeArrowheads="1"/>
          </p:cNvSpPr>
          <p:nvPr/>
        </p:nvSpPr>
        <p:spPr bwMode="auto">
          <a:xfrm>
            <a:off x="1497013" y="5978247"/>
            <a:ext cx="797083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200" b="1">
                <a:solidFill>
                  <a:schemeClr val="accent2"/>
                </a:solidFill>
                <a:latin typeface="宋体" pitchFamily="2" charset="-122"/>
              </a:rPr>
              <a:t>2</a:t>
            </a:r>
            <a:r>
              <a:rPr lang="zh-CN" altLang="en-US" sz="2200" b="1">
                <a:solidFill>
                  <a:schemeClr val="accent2"/>
                </a:solidFill>
                <a:latin typeface="宋体" pitchFamily="2" charset="-122"/>
              </a:rPr>
              <a:t>）准静态过程（无限缓慢）</a:t>
            </a:r>
            <a:r>
              <a:rPr lang="en-US" altLang="zh-CN" sz="2200" b="1">
                <a:solidFill>
                  <a:schemeClr val="accent2"/>
                </a:solidFill>
                <a:latin typeface="宋体" pitchFamily="2" charset="-122"/>
              </a:rPr>
              <a:t>+</a:t>
            </a:r>
            <a:r>
              <a:rPr lang="zh-CN" altLang="en-US" sz="2200" b="1">
                <a:solidFill>
                  <a:schemeClr val="accent2"/>
                </a:solidFill>
                <a:latin typeface="宋体" pitchFamily="2" charset="-122"/>
              </a:rPr>
              <a:t>无摩擦的过程是可逆过程。</a:t>
            </a:r>
          </a:p>
        </p:txBody>
      </p:sp>
      <p:sp>
        <p:nvSpPr>
          <p:cNvPr id="161801" name="Text Box 9"/>
          <p:cNvSpPr txBox="1">
            <a:spLocks noChangeArrowheads="1"/>
          </p:cNvSpPr>
          <p:nvPr/>
        </p:nvSpPr>
        <p:spPr bwMode="auto">
          <a:xfrm>
            <a:off x="1474788" y="6454497"/>
            <a:ext cx="554513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200" b="1" dirty="0">
                <a:solidFill>
                  <a:schemeClr val="accent2"/>
                </a:solidFill>
              </a:rPr>
              <a:t>3</a:t>
            </a:r>
            <a:r>
              <a:rPr lang="zh-CN" altLang="en-US" sz="2200" b="1" dirty="0">
                <a:solidFill>
                  <a:schemeClr val="accent2"/>
                </a:solidFill>
              </a:rPr>
              <a:t>）一切实际过程都是不可逆过程。</a:t>
            </a:r>
          </a:p>
        </p:txBody>
      </p:sp>
      <p:sp>
        <p:nvSpPr>
          <p:cNvPr id="10" name="Picture 6" descr="r2qg"/>
          <p:cNvSpPr>
            <a:spLocks noChangeAspect="1" noChangeArrowheads="1"/>
          </p:cNvSpPr>
          <p:nvPr/>
        </p:nvSpPr>
        <p:spPr bwMode="auto">
          <a:xfrm>
            <a:off x="6197600" y="1614488"/>
            <a:ext cx="19558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3" name="图片 2">
            <a:extLst>
              <a:ext uri="{FF2B5EF4-FFF2-40B4-BE49-F238E27FC236}">
                <a16:creationId xmlns:a16="http://schemas.microsoft.com/office/drawing/2014/main" id="{50CC1C35-A576-4AB8-A6B4-6E9E978062E0}"/>
              </a:ext>
            </a:extLst>
          </p:cNvPr>
          <p:cNvPicPr>
            <a:picLocks noChangeAspect="1"/>
          </p:cNvPicPr>
          <p:nvPr/>
        </p:nvPicPr>
        <p:blipFill rotWithShape="1">
          <a:blip r:embed="rId3">
            <a:extLst>
              <a:ext uri="{28A0092B-C50C-407E-A947-70E740481C1C}">
                <a14:useLocalDpi xmlns:a14="http://schemas.microsoft.com/office/drawing/2010/main" val="0"/>
              </a:ext>
            </a:extLst>
          </a:blip>
          <a:srcRect l="15089" t="21377" r="11578" b="54069"/>
          <a:stretch/>
        </p:blipFill>
        <p:spPr>
          <a:xfrm>
            <a:off x="1523779" y="3846922"/>
            <a:ext cx="5110609" cy="1283349"/>
          </a:xfrm>
          <a:prstGeom prst="rect">
            <a:avLst/>
          </a:prstGeom>
        </p:spPr>
      </p:pic>
      <p:grpSp>
        <p:nvGrpSpPr>
          <p:cNvPr id="12" name="Group 15">
            <a:extLst>
              <a:ext uri="{FF2B5EF4-FFF2-40B4-BE49-F238E27FC236}">
                <a16:creationId xmlns:a16="http://schemas.microsoft.com/office/drawing/2014/main" id="{342035AF-B193-4DF6-905E-4FF7A60C8F9B}"/>
              </a:ext>
            </a:extLst>
          </p:cNvPr>
          <p:cNvGrpSpPr>
            <a:grpSpLocks/>
          </p:cNvGrpSpPr>
          <p:nvPr/>
        </p:nvGrpSpPr>
        <p:grpSpPr bwMode="auto">
          <a:xfrm>
            <a:off x="7235131" y="1322180"/>
            <a:ext cx="1968500" cy="1981200"/>
            <a:chOff x="2404" y="1252"/>
            <a:chExt cx="1240" cy="1384"/>
          </a:xfrm>
        </p:grpSpPr>
        <p:sp>
          <p:nvSpPr>
            <p:cNvPr id="13" name="Rectangle 16">
              <a:extLst>
                <a:ext uri="{FF2B5EF4-FFF2-40B4-BE49-F238E27FC236}">
                  <a16:creationId xmlns:a16="http://schemas.microsoft.com/office/drawing/2014/main" id="{554F3D94-A4BE-4877-9BDF-0DEFB261A202}"/>
                </a:ext>
              </a:extLst>
            </p:cNvPr>
            <p:cNvSpPr>
              <a:spLocks noChangeArrowheads="1"/>
            </p:cNvSpPr>
            <p:nvPr/>
          </p:nvSpPr>
          <p:spPr bwMode="auto">
            <a:xfrm>
              <a:off x="2404" y="1252"/>
              <a:ext cx="1240" cy="138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 name="Group 17">
              <a:extLst>
                <a:ext uri="{FF2B5EF4-FFF2-40B4-BE49-F238E27FC236}">
                  <a16:creationId xmlns:a16="http://schemas.microsoft.com/office/drawing/2014/main" id="{790B3EEE-12CF-44DC-A68E-0CAC2ECD9A3E}"/>
                </a:ext>
              </a:extLst>
            </p:cNvPr>
            <p:cNvGrpSpPr>
              <a:grpSpLocks/>
            </p:cNvGrpSpPr>
            <p:nvPr/>
          </p:nvGrpSpPr>
          <p:grpSpPr bwMode="auto">
            <a:xfrm>
              <a:off x="2592" y="1296"/>
              <a:ext cx="864" cy="1248"/>
              <a:chOff x="2592" y="1296"/>
              <a:chExt cx="864" cy="1248"/>
            </a:xfrm>
          </p:grpSpPr>
          <p:sp>
            <p:nvSpPr>
              <p:cNvPr id="15" name="Line 18">
                <a:extLst>
                  <a:ext uri="{FF2B5EF4-FFF2-40B4-BE49-F238E27FC236}">
                    <a16:creationId xmlns:a16="http://schemas.microsoft.com/office/drawing/2014/main" id="{00EF699F-E0D2-4AB3-9A56-E75D96AD878F}"/>
                  </a:ext>
                </a:extLst>
              </p:cNvPr>
              <p:cNvSpPr>
                <a:spLocks noChangeShapeType="1"/>
              </p:cNvSpPr>
              <p:nvPr/>
            </p:nvSpPr>
            <p:spPr bwMode="auto">
              <a:xfrm>
                <a:off x="2592" y="1296"/>
                <a:ext cx="720" cy="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9">
                <a:extLst>
                  <a:ext uri="{FF2B5EF4-FFF2-40B4-BE49-F238E27FC236}">
                    <a16:creationId xmlns:a16="http://schemas.microsoft.com/office/drawing/2014/main" id="{0AFCFFB7-7C51-4DC4-AECB-49885124CAB1}"/>
                  </a:ext>
                </a:extLst>
              </p:cNvPr>
              <p:cNvSpPr>
                <a:spLocks noChangeShapeType="1"/>
              </p:cNvSpPr>
              <p:nvPr/>
            </p:nvSpPr>
            <p:spPr bwMode="auto">
              <a:xfrm>
                <a:off x="2976" y="1296"/>
                <a:ext cx="336" cy="100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Oval 20">
                <a:extLst>
                  <a:ext uri="{FF2B5EF4-FFF2-40B4-BE49-F238E27FC236}">
                    <a16:creationId xmlns:a16="http://schemas.microsoft.com/office/drawing/2014/main" id="{E86601FF-1106-49A8-ABC9-758244DEA13B}"/>
                  </a:ext>
                </a:extLst>
              </p:cNvPr>
              <p:cNvSpPr>
                <a:spLocks noChangeArrowheads="1"/>
              </p:cNvSpPr>
              <p:nvPr/>
            </p:nvSpPr>
            <p:spPr bwMode="auto">
              <a:xfrm>
                <a:off x="3248" y="2252"/>
                <a:ext cx="140" cy="140"/>
              </a:xfrm>
              <a:prstGeom prst="ellipse">
                <a:avLst/>
              </a:prstGeom>
              <a:gradFill flip="none" rotWithShape="1">
                <a:gsLst>
                  <a:gs pos="17000">
                    <a:schemeClr val="accent2">
                      <a:lumMod val="20000"/>
                      <a:lumOff val="80000"/>
                    </a:schemeClr>
                  </a:gs>
                  <a:gs pos="50000">
                    <a:schemeClr val="accent2"/>
                  </a:gs>
                </a:gsLst>
                <a:path path="circle">
                  <a:fillToRect l="100000" b="100000"/>
                </a:path>
                <a:tileRect t="-100000" r="-100000"/>
              </a:gradFill>
              <a:ln w="2857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21">
                <a:extLst>
                  <a:ext uri="{FF2B5EF4-FFF2-40B4-BE49-F238E27FC236}">
                    <a16:creationId xmlns:a16="http://schemas.microsoft.com/office/drawing/2014/main" id="{1738ACC3-7687-4EB6-90BF-29704D585E83}"/>
                  </a:ext>
                </a:extLst>
              </p:cNvPr>
              <p:cNvSpPr>
                <a:spLocks noChangeShapeType="1"/>
              </p:cNvSpPr>
              <p:nvPr/>
            </p:nvSpPr>
            <p:spPr bwMode="auto">
              <a:xfrm>
                <a:off x="2976" y="1296"/>
                <a:ext cx="0" cy="1248"/>
              </a:xfrm>
              <a:prstGeom prst="line">
                <a:avLst/>
              </a:prstGeom>
              <a:noFill/>
              <a:ln w="28575">
                <a:solidFill>
                  <a:schemeClr val="tx1"/>
                </a:solidFill>
                <a:prstDash val="dash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Arc 22">
                <a:extLst>
                  <a:ext uri="{FF2B5EF4-FFF2-40B4-BE49-F238E27FC236}">
                    <a16:creationId xmlns:a16="http://schemas.microsoft.com/office/drawing/2014/main" id="{3E9E6118-64B3-48DA-8424-EC263D39B300}"/>
                  </a:ext>
                </a:extLst>
              </p:cNvPr>
              <p:cNvSpPr>
                <a:spLocks/>
              </p:cNvSpPr>
              <p:nvPr/>
            </p:nvSpPr>
            <p:spPr bwMode="auto">
              <a:xfrm>
                <a:off x="2976" y="2342"/>
                <a:ext cx="288" cy="58"/>
              </a:xfrm>
              <a:custGeom>
                <a:avLst/>
                <a:gdLst>
                  <a:gd name="G0" fmla="+- 0 0 0"/>
                  <a:gd name="G1" fmla="+- 4510 0 0"/>
                  <a:gd name="G2" fmla="+- 21600 0 0"/>
                  <a:gd name="T0" fmla="*/ 21124 w 21600"/>
                  <a:gd name="T1" fmla="*/ 0 h 26110"/>
                  <a:gd name="T2" fmla="*/ 0 w 21600"/>
                  <a:gd name="T3" fmla="*/ 26110 h 26110"/>
                  <a:gd name="T4" fmla="*/ 0 w 21600"/>
                  <a:gd name="T5" fmla="*/ 4510 h 26110"/>
                </a:gdLst>
                <a:ahLst/>
                <a:cxnLst>
                  <a:cxn ang="0">
                    <a:pos x="T0" y="T1"/>
                  </a:cxn>
                  <a:cxn ang="0">
                    <a:pos x="T2" y="T3"/>
                  </a:cxn>
                  <a:cxn ang="0">
                    <a:pos x="T4" y="T5"/>
                  </a:cxn>
                </a:cxnLst>
                <a:rect l="0" t="0" r="r" b="b"/>
                <a:pathLst>
                  <a:path w="21600" h="26110" fill="none" extrusionOk="0">
                    <a:moveTo>
                      <a:pt x="21123" y="0"/>
                    </a:moveTo>
                    <a:cubicBezTo>
                      <a:pt x="21440" y="1482"/>
                      <a:pt x="21600" y="2994"/>
                      <a:pt x="21600" y="4510"/>
                    </a:cubicBezTo>
                    <a:cubicBezTo>
                      <a:pt x="21600" y="16439"/>
                      <a:pt x="11929" y="26109"/>
                      <a:pt x="0" y="26110"/>
                    </a:cubicBezTo>
                  </a:path>
                  <a:path w="21600" h="26110" stroke="0" extrusionOk="0">
                    <a:moveTo>
                      <a:pt x="21123" y="0"/>
                    </a:moveTo>
                    <a:cubicBezTo>
                      <a:pt x="21440" y="1482"/>
                      <a:pt x="21600" y="2994"/>
                      <a:pt x="21600" y="4510"/>
                    </a:cubicBezTo>
                    <a:cubicBezTo>
                      <a:pt x="21600" y="16439"/>
                      <a:pt x="11929" y="26109"/>
                      <a:pt x="0" y="26110"/>
                    </a:cubicBezTo>
                    <a:lnTo>
                      <a:pt x="0" y="4510"/>
                    </a:lnTo>
                    <a:close/>
                  </a:path>
                </a:pathLst>
              </a:cu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rc 23">
                <a:extLst>
                  <a:ext uri="{FF2B5EF4-FFF2-40B4-BE49-F238E27FC236}">
                    <a16:creationId xmlns:a16="http://schemas.microsoft.com/office/drawing/2014/main" id="{C795974E-BAE6-43B4-951C-B145684CB95C}"/>
                  </a:ext>
                </a:extLst>
              </p:cNvPr>
              <p:cNvSpPr>
                <a:spLocks/>
              </p:cNvSpPr>
              <p:nvPr/>
            </p:nvSpPr>
            <p:spPr bwMode="auto">
              <a:xfrm>
                <a:off x="3168" y="2434"/>
                <a:ext cx="288" cy="110"/>
              </a:xfrm>
              <a:custGeom>
                <a:avLst/>
                <a:gdLst>
                  <a:gd name="G0" fmla="+- 0 0 0"/>
                  <a:gd name="G1" fmla="+- 3160 0 0"/>
                  <a:gd name="G2" fmla="+- 21600 0 0"/>
                  <a:gd name="T0" fmla="*/ 21368 w 21600"/>
                  <a:gd name="T1" fmla="*/ 0 h 24760"/>
                  <a:gd name="T2" fmla="*/ 0 w 21600"/>
                  <a:gd name="T3" fmla="*/ 24760 h 24760"/>
                  <a:gd name="T4" fmla="*/ 0 w 21600"/>
                  <a:gd name="T5" fmla="*/ 3160 h 24760"/>
                </a:gdLst>
                <a:ahLst/>
                <a:cxnLst>
                  <a:cxn ang="0">
                    <a:pos x="T0" y="T1"/>
                  </a:cxn>
                  <a:cxn ang="0">
                    <a:pos x="T2" y="T3"/>
                  </a:cxn>
                  <a:cxn ang="0">
                    <a:pos x="T4" y="T5"/>
                  </a:cxn>
                </a:cxnLst>
                <a:rect l="0" t="0" r="r" b="b"/>
                <a:pathLst>
                  <a:path w="21600" h="24760" fill="none" extrusionOk="0">
                    <a:moveTo>
                      <a:pt x="21367" y="0"/>
                    </a:moveTo>
                    <a:cubicBezTo>
                      <a:pt x="21522" y="1046"/>
                      <a:pt x="21600" y="2102"/>
                      <a:pt x="21600" y="3160"/>
                    </a:cubicBezTo>
                    <a:cubicBezTo>
                      <a:pt x="21600" y="15089"/>
                      <a:pt x="11929" y="24759"/>
                      <a:pt x="0" y="24760"/>
                    </a:cubicBezTo>
                  </a:path>
                  <a:path w="21600" h="24760" stroke="0" extrusionOk="0">
                    <a:moveTo>
                      <a:pt x="21367" y="0"/>
                    </a:moveTo>
                    <a:cubicBezTo>
                      <a:pt x="21522" y="1046"/>
                      <a:pt x="21600" y="2102"/>
                      <a:pt x="21600" y="3160"/>
                    </a:cubicBezTo>
                    <a:cubicBezTo>
                      <a:pt x="21600" y="15089"/>
                      <a:pt x="11929" y="24759"/>
                      <a:pt x="0" y="24760"/>
                    </a:cubicBezTo>
                    <a:lnTo>
                      <a:pt x="0" y="3160"/>
                    </a:lnTo>
                    <a:close/>
                  </a:path>
                </a:pathLst>
              </a:custGeom>
              <a:noFill/>
              <a:ln w="28575" cap="rnd">
                <a:solidFill>
                  <a:schemeClr val="tx1"/>
                </a:solidFill>
                <a:round/>
                <a:headEnd type="none" w="sm" len="sm"/>
                <a:tailEnd type="stealth" w="lg" len="lg"/>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21" name="Group 43">
            <a:extLst>
              <a:ext uri="{FF2B5EF4-FFF2-40B4-BE49-F238E27FC236}">
                <a16:creationId xmlns:a16="http://schemas.microsoft.com/office/drawing/2014/main" id="{B6403A54-E436-4E01-BC48-C135BE9201A8}"/>
              </a:ext>
            </a:extLst>
          </p:cNvPr>
          <p:cNvGrpSpPr>
            <a:grpSpLocks/>
          </p:cNvGrpSpPr>
          <p:nvPr/>
        </p:nvGrpSpPr>
        <p:grpSpPr bwMode="auto">
          <a:xfrm>
            <a:off x="7235955" y="3666009"/>
            <a:ext cx="2071687" cy="1645173"/>
            <a:chOff x="4059" y="2840"/>
            <a:chExt cx="1668" cy="1248"/>
          </a:xfrm>
        </p:grpSpPr>
        <p:grpSp>
          <p:nvGrpSpPr>
            <p:cNvPr id="22" name="Group 27">
              <a:extLst>
                <a:ext uri="{FF2B5EF4-FFF2-40B4-BE49-F238E27FC236}">
                  <a16:creationId xmlns:a16="http://schemas.microsoft.com/office/drawing/2014/main" id="{8E5F4F33-BDC4-4B0F-974D-3F2493FC8C3E}"/>
                </a:ext>
              </a:extLst>
            </p:cNvPr>
            <p:cNvGrpSpPr>
              <a:grpSpLocks/>
            </p:cNvGrpSpPr>
            <p:nvPr/>
          </p:nvGrpSpPr>
          <p:grpSpPr bwMode="auto">
            <a:xfrm>
              <a:off x="4293" y="2840"/>
              <a:ext cx="1434" cy="1248"/>
              <a:chOff x="4207" y="3072"/>
              <a:chExt cx="1434" cy="1248"/>
            </a:xfrm>
          </p:grpSpPr>
          <p:sp>
            <p:nvSpPr>
              <p:cNvPr id="24" name="Line 28">
                <a:extLst>
                  <a:ext uri="{FF2B5EF4-FFF2-40B4-BE49-F238E27FC236}">
                    <a16:creationId xmlns:a16="http://schemas.microsoft.com/office/drawing/2014/main" id="{95DCCC3F-88E5-4FA1-8566-6F16F08C2E4B}"/>
                  </a:ext>
                </a:extLst>
              </p:cNvPr>
              <p:cNvSpPr>
                <a:spLocks noChangeShapeType="1"/>
              </p:cNvSpPr>
              <p:nvPr/>
            </p:nvSpPr>
            <p:spPr bwMode="auto">
              <a:xfrm flipV="1">
                <a:off x="4207" y="3241"/>
                <a:ext cx="0" cy="920"/>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9">
                <a:extLst>
                  <a:ext uri="{FF2B5EF4-FFF2-40B4-BE49-F238E27FC236}">
                    <a16:creationId xmlns:a16="http://schemas.microsoft.com/office/drawing/2014/main" id="{EC78D0C9-2B3E-4F1F-BDBF-81D601236638}"/>
                  </a:ext>
                </a:extLst>
              </p:cNvPr>
              <p:cNvSpPr>
                <a:spLocks noChangeShapeType="1"/>
              </p:cNvSpPr>
              <p:nvPr/>
            </p:nvSpPr>
            <p:spPr bwMode="auto">
              <a:xfrm>
                <a:off x="4207" y="4161"/>
                <a:ext cx="1204" cy="0"/>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rc 30">
                <a:extLst>
                  <a:ext uri="{FF2B5EF4-FFF2-40B4-BE49-F238E27FC236}">
                    <a16:creationId xmlns:a16="http://schemas.microsoft.com/office/drawing/2014/main" id="{D9407A9B-1157-4109-8521-29793B0A8D59}"/>
                  </a:ext>
                </a:extLst>
              </p:cNvPr>
              <p:cNvSpPr>
                <a:spLocks/>
              </p:cNvSpPr>
              <p:nvPr/>
            </p:nvSpPr>
            <p:spPr bwMode="auto">
              <a:xfrm flipH="1" flipV="1">
                <a:off x="4486" y="3241"/>
                <a:ext cx="814" cy="789"/>
              </a:xfrm>
              <a:custGeom>
                <a:avLst/>
                <a:gdLst>
                  <a:gd name="G0" fmla="+- 0 0 0"/>
                  <a:gd name="G1" fmla="+- 20923 0 0"/>
                  <a:gd name="G2" fmla="+- 21600 0 0"/>
                  <a:gd name="T0" fmla="*/ 5364 w 19139"/>
                  <a:gd name="T1" fmla="*/ 0 h 20923"/>
                  <a:gd name="T2" fmla="*/ 19139 w 19139"/>
                  <a:gd name="T3" fmla="*/ 10910 h 20923"/>
                  <a:gd name="T4" fmla="*/ 0 w 19139"/>
                  <a:gd name="T5" fmla="*/ 20923 h 20923"/>
                </a:gdLst>
                <a:ahLst/>
                <a:cxnLst>
                  <a:cxn ang="0">
                    <a:pos x="T0" y="T1"/>
                  </a:cxn>
                  <a:cxn ang="0">
                    <a:pos x="T2" y="T3"/>
                  </a:cxn>
                  <a:cxn ang="0">
                    <a:pos x="T4" y="T5"/>
                  </a:cxn>
                </a:cxnLst>
                <a:rect l="0" t="0" r="r" b="b"/>
                <a:pathLst>
                  <a:path w="19139" h="20923" fill="none" extrusionOk="0">
                    <a:moveTo>
                      <a:pt x="5364" y="-1"/>
                    </a:moveTo>
                    <a:cubicBezTo>
                      <a:pt x="11294" y="1519"/>
                      <a:pt x="16300" y="5485"/>
                      <a:pt x="19138" y="10910"/>
                    </a:cubicBezTo>
                  </a:path>
                  <a:path w="19139" h="20923" stroke="0" extrusionOk="0">
                    <a:moveTo>
                      <a:pt x="5364" y="-1"/>
                    </a:moveTo>
                    <a:cubicBezTo>
                      <a:pt x="11294" y="1519"/>
                      <a:pt x="16300" y="5485"/>
                      <a:pt x="19138" y="10910"/>
                    </a:cubicBezTo>
                    <a:lnTo>
                      <a:pt x="0" y="20923"/>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31">
                <a:extLst>
                  <a:ext uri="{FF2B5EF4-FFF2-40B4-BE49-F238E27FC236}">
                    <a16:creationId xmlns:a16="http://schemas.microsoft.com/office/drawing/2014/main" id="{331DEC31-F4E5-490E-A215-54A5338CD33B}"/>
                  </a:ext>
                </a:extLst>
              </p:cNvPr>
              <p:cNvSpPr>
                <a:spLocks noChangeShapeType="1"/>
              </p:cNvSpPr>
              <p:nvPr/>
            </p:nvSpPr>
            <p:spPr bwMode="auto">
              <a:xfrm flipH="1">
                <a:off x="4207" y="4030"/>
                <a:ext cx="876"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32">
                <a:extLst>
                  <a:ext uri="{FF2B5EF4-FFF2-40B4-BE49-F238E27FC236}">
                    <a16:creationId xmlns:a16="http://schemas.microsoft.com/office/drawing/2014/main" id="{7D0A0F13-B35D-4D2D-A8AF-15739597196D}"/>
                  </a:ext>
                </a:extLst>
              </p:cNvPr>
              <p:cNvSpPr>
                <a:spLocks noChangeShapeType="1"/>
              </p:cNvSpPr>
              <p:nvPr/>
            </p:nvSpPr>
            <p:spPr bwMode="auto">
              <a:xfrm>
                <a:off x="4503" y="3650"/>
                <a:ext cx="0" cy="526"/>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33">
                <a:extLst>
                  <a:ext uri="{FF2B5EF4-FFF2-40B4-BE49-F238E27FC236}">
                    <a16:creationId xmlns:a16="http://schemas.microsoft.com/office/drawing/2014/main" id="{4E0634F2-BA0B-4CAB-A5F7-552A275BE563}"/>
                  </a:ext>
                </a:extLst>
              </p:cNvPr>
              <p:cNvSpPr>
                <a:spLocks noChangeShapeType="1"/>
              </p:cNvSpPr>
              <p:nvPr/>
            </p:nvSpPr>
            <p:spPr bwMode="auto">
              <a:xfrm>
                <a:off x="5083" y="4030"/>
                <a:ext cx="0" cy="131"/>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0" name="Object 34">
                <a:extLst>
                  <a:ext uri="{FF2B5EF4-FFF2-40B4-BE49-F238E27FC236}">
                    <a16:creationId xmlns:a16="http://schemas.microsoft.com/office/drawing/2014/main" id="{748DC839-4D2B-482B-9EC2-A4402BF84966}"/>
                  </a:ext>
                </a:extLst>
              </p:cNvPr>
              <p:cNvGraphicFramePr>
                <a:graphicFrameLocks noChangeAspect="1"/>
              </p:cNvGraphicFramePr>
              <p:nvPr>
                <p:extLst>
                  <p:ext uri="{D42A27DB-BD31-4B8C-83A1-F6EECF244321}">
                    <p14:modId xmlns:p14="http://schemas.microsoft.com/office/powerpoint/2010/main" val="3441173836"/>
                  </p:ext>
                </p:extLst>
              </p:nvPr>
            </p:nvGraphicFramePr>
            <p:xfrm>
              <a:off x="4755" y="3627"/>
              <a:ext cx="170" cy="222"/>
            </p:xfrm>
            <a:graphic>
              <a:graphicData uri="http://schemas.openxmlformats.org/presentationml/2006/ole">
                <mc:AlternateContent xmlns:mc="http://schemas.openxmlformats.org/markup-compatibility/2006">
                  <mc:Choice xmlns:v="urn:schemas-microsoft-com:vml" Requires="v">
                    <p:oleObj spid="_x0000_s170012" name="公式" r:id="rId4" imgW="152280" imgH="164880" progId="Equation.3">
                      <p:embed/>
                    </p:oleObj>
                  </mc:Choice>
                  <mc:Fallback>
                    <p:oleObj name="公式" r:id="rId4" imgW="152280" imgH="164880" progId="Equation.3">
                      <p:embed/>
                      <p:pic>
                        <p:nvPicPr>
                          <p:cNvPr id="24" name="Object 34"/>
                          <p:cNvPicPr>
                            <a:picLocks noChangeAspect="1" noChangeArrowheads="1"/>
                          </p:cNvPicPr>
                          <p:nvPr/>
                        </p:nvPicPr>
                        <p:blipFill>
                          <a:blip r:embed="rId5">
                            <a:lum bright="20000"/>
                          </a:blip>
                          <a:srcRect/>
                          <a:stretch>
                            <a:fillRect/>
                          </a:stretch>
                        </p:blipFill>
                        <p:spPr bwMode="auto">
                          <a:xfrm>
                            <a:off x="4755" y="3627"/>
                            <a:ext cx="170"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 name="Line 35">
                <a:extLst>
                  <a:ext uri="{FF2B5EF4-FFF2-40B4-BE49-F238E27FC236}">
                    <a16:creationId xmlns:a16="http://schemas.microsoft.com/office/drawing/2014/main" id="{583B937E-44A8-496A-98CE-6F774AF2A333}"/>
                  </a:ext>
                </a:extLst>
              </p:cNvPr>
              <p:cNvSpPr>
                <a:spLocks noChangeShapeType="1"/>
              </p:cNvSpPr>
              <p:nvPr/>
            </p:nvSpPr>
            <p:spPr bwMode="auto">
              <a:xfrm flipH="1">
                <a:off x="4215" y="3648"/>
                <a:ext cx="288"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6">
                <a:extLst>
                  <a:ext uri="{FF2B5EF4-FFF2-40B4-BE49-F238E27FC236}">
                    <a16:creationId xmlns:a16="http://schemas.microsoft.com/office/drawing/2014/main" id="{38256F40-E1DA-468F-9F8F-AA75BEE2C64B}"/>
                  </a:ext>
                </a:extLst>
              </p:cNvPr>
              <p:cNvSpPr>
                <a:spLocks noChangeShapeType="1"/>
              </p:cNvSpPr>
              <p:nvPr/>
            </p:nvSpPr>
            <p:spPr bwMode="auto">
              <a:xfrm>
                <a:off x="4647" y="3744"/>
                <a:ext cx="96" cy="144"/>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381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7">
                <a:extLst>
                  <a:ext uri="{FF2B5EF4-FFF2-40B4-BE49-F238E27FC236}">
                    <a16:creationId xmlns:a16="http://schemas.microsoft.com/office/drawing/2014/main" id="{44DA574E-987C-4BE9-8A03-3EC2B9BB4FD7}"/>
                  </a:ext>
                </a:extLst>
              </p:cNvPr>
              <p:cNvSpPr>
                <a:spLocks noChangeShapeType="1"/>
              </p:cNvSpPr>
              <p:nvPr/>
            </p:nvSpPr>
            <p:spPr bwMode="auto">
              <a:xfrm flipH="1" flipV="1">
                <a:off x="4551" y="3840"/>
                <a:ext cx="192" cy="4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38">
                <a:extLst>
                  <a:ext uri="{FF2B5EF4-FFF2-40B4-BE49-F238E27FC236}">
                    <a16:creationId xmlns:a16="http://schemas.microsoft.com/office/drawing/2014/main" id="{FFD1E06E-9DAD-4D55-B51B-C948225FBD82}"/>
                  </a:ext>
                </a:extLst>
              </p:cNvPr>
              <p:cNvSpPr txBox="1">
                <a:spLocks noChangeArrowheads="1"/>
              </p:cNvSpPr>
              <p:nvPr/>
            </p:nvSpPr>
            <p:spPr bwMode="auto">
              <a:xfrm>
                <a:off x="4407" y="3312"/>
                <a:ext cx="1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a:t>i</a:t>
                </a:r>
              </a:p>
            </p:txBody>
          </p:sp>
          <p:sp>
            <p:nvSpPr>
              <p:cNvPr id="35" name="Text Box 39">
                <a:extLst>
                  <a:ext uri="{FF2B5EF4-FFF2-40B4-BE49-F238E27FC236}">
                    <a16:creationId xmlns:a16="http://schemas.microsoft.com/office/drawing/2014/main" id="{BA077EE3-E17A-4146-89E5-2A1435425F8E}"/>
                  </a:ext>
                </a:extLst>
              </p:cNvPr>
              <p:cNvSpPr txBox="1">
                <a:spLocks noChangeArrowheads="1"/>
              </p:cNvSpPr>
              <p:nvPr/>
            </p:nvSpPr>
            <p:spPr bwMode="auto">
              <a:xfrm>
                <a:off x="5079" y="3744"/>
                <a:ext cx="25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i="1"/>
                  <a:t>f</a:t>
                </a:r>
                <a:endParaRPr kumimoji="1" lang="en-US" altLang="zh-CN"/>
              </a:p>
            </p:txBody>
          </p:sp>
          <p:sp>
            <p:nvSpPr>
              <p:cNvPr id="36" name="Text Box 40">
                <a:extLst>
                  <a:ext uri="{FF2B5EF4-FFF2-40B4-BE49-F238E27FC236}">
                    <a16:creationId xmlns:a16="http://schemas.microsoft.com/office/drawing/2014/main" id="{2B88B77E-6291-412D-BAE4-1449AC2A9084}"/>
                  </a:ext>
                </a:extLst>
              </p:cNvPr>
              <p:cNvSpPr txBox="1">
                <a:spLocks noChangeArrowheads="1"/>
              </p:cNvSpPr>
              <p:nvPr/>
            </p:nvSpPr>
            <p:spPr bwMode="auto">
              <a:xfrm>
                <a:off x="5376" y="3993"/>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a:t>V</a:t>
                </a:r>
              </a:p>
            </p:txBody>
          </p:sp>
          <p:sp>
            <p:nvSpPr>
              <p:cNvPr id="37" name="Text Box 41">
                <a:extLst>
                  <a:ext uri="{FF2B5EF4-FFF2-40B4-BE49-F238E27FC236}">
                    <a16:creationId xmlns:a16="http://schemas.microsoft.com/office/drawing/2014/main" id="{36B18E70-419A-4352-ADF1-085C945066D2}"/>
                  </a:ext>
                </a:extLst>
              </p:cNvPr>
              <p:cNvSpPr txBox="1">
                <a:spLocks noChangeArrowheads="1"/>
              </p:cNvSpPr>
              <p:nvPr/>
            </p:nvSpPr>
            <p:spPr bwMode="auto">
              <a:xfrm>
                <a:off x="4224" y="3072"/>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a:t>p</a:t>
                </a:r>
              </a:p>
            </p:txBody>
          </p:sp>
        </p:grpSp>
        <p:sp>
          <p:nvSpPr>
            <p:cNvPr id="23" name="Text Box 42">
              <a:extLst>
                <a:ext uri="{FF2B5EF4-FFF2-40B4-BE49-F238E27FC236}">
                  <a16:creationId xmlns:a16="http://schemas.microsoft.com/office/drawing/2014/main" id="{0DC1AE8A-C27A-4463-BE08-563E9DABAE6C}"/>
                </a:ext>
              </a:extLst>
            </p:cNvPr>
            <p:cNvSpPr txBox="1">
              <a:spLocks noChangeArrowheads="1"/>
            </p:cNvSpPr>
            <p:nvPr/>
          </p:nvSpPr>
          <p:spPr bwMode="auto">
            <a:xfrm>
              <a:off x="4059" y="3793"/>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zh-CN" sz="2400" i="1"/>
                <a:t>O</a:t>
              </a:r>
              <a:endParaRPr lang="en-US" altLang="zh-CN" sz="2400" i="1"/>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61794"/>
                                        </p:tgtEl>
                                        <p:attrNameLst>
                                          <p:attrName>style.visibility</p:attrName>
                                        </p:attrNameLst>
                                      </p:cBhvr>
                                      <p:to>
                                        <p:strVal val="visible"/>
                                      </p:to>
                                    </p:set>
                                    <p:animEffect transition="in" filter="strips(downRight)">
                                      <p:cBhvr>
                                        <p:cTn id="7" dur="500"/>
                                        <p:tgtEl>
                                          <p:spTgt spid="161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61795"/>
                                        </p:tgtEl>
                                        <p:attrNameLst>
                                          <p:attrName>style.visibility</p:attrName>
                                        </p:attrNameLst>
                                      </p:cBhvr>
                                      <p:to>
                                        <p:strVal val="visible"/>
                                      </p:to>
                                    </p:set>
                                    <p:animEffect transition="in" filter="strips(downRight)">
                                      <p:cBhvr>
                                        <p:cTn id="17" dur="500"/>
                                        <p:tgtEl>
                                          <p:spTgt spid="16179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nodePh="1">
                                  <p:stCondLst>
                                    <p:cond delay="0"/>
                                  </p:stCondLst>
                                  <p:endCondLst>
                                    <p:cond evt="begin" delay="0">
                                      <p:tn val="20"/>
                                    </p:cond>
                                  </p:endCondLst>
                                  <p:childTnLst>
                                    <p:set>
                                      <p:cBhvr>
                                        <p:cTn id="21" dur="1" fill="hold">
                                          <p:stCondLst>
                                            <p:cond delay="499"/>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1796"/>
                                        </p:tgtEl>
                                        <p:attrNameLst>
                                          <p:attrName>style.visibility</p:attrName>
                                        </p:attrNameLst>
                                      </p:cBhvr>
                                      <p:to>
                                        <p:strVal val="visible"/>
                                      </p:to>
                                    </p:set>
                                    <p:animEffect transition="in" filter="wipe(left)">
                                      <p:cBhvr>
                                        <p:cTn id="26" dur="500"/>
                                        <p:tgtEl>
                                          <p:spTgt spid="16179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179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61798"/>
                                        </p:tgtEl>
                                        <p:attrNameLst>
                                          <p:attrName>style.visibility</p:attrName>
                                        </p:attrNameLst>
                                      </p:cBhvr>
                                      <p:to>
                                        <p:strVal val="visible"/>
                                      </p:to>
                                    </p:set>
                                    <p:anim calcmode="lin" valueType="num">
                                      <p:cBhvr additive="base">
                                        <p:cTn id="39" dur="500" fill="hold"/>
                                        <p:tgtEl>
                                          <p:spTgt spid="161798"/>
                                        </p:tgtEl>
                                        <p:attrNameLst>
                                          <p:attrName>ppt_x</p:attrName>
                                        </p:attrNameLst>
                                      </p:cBhvr>
                                      <p:tavLst>
                                        <p:tav tm="0">
                                          <p:val>
                                            <p:strVal val="#ppt_x"/>
                                          </p:val>
                                        </p:tav>
                                        <p:tav tm="100000">
                                          <p:val>
                                            <p:strVal val="#ppt_x"/>
                                          </p:val>
                                        </p:tav>
                                      </p:tavLst>
                                    </p:anim>
                                    <p:anim calcmode="lin" valueType="num">
                                      <p:cBhvr additive="base">
                                        <p:cTn id="40" dur="500" fill="hold"/>
                                        <p:tgtEl>
                                          <p:spTgt spid="16179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1799"/>
                                        </p:tgtEl>
                                        <p:attrNameLst>
                                          <p:attrName>style.visibility</p:attrName>
                                        </p:attrNameLst>
                                      </p:cBhvr>
                                      <p:to>
                                        <p:strVal val="visible"/>
                                      </p:to>
                                    </p:set>
                                    <p:anim calcmode="lin" valueType="num">
                                      <p:cBhvr additive="base">
                                        <p:cTn id="43" dur="500" fill="hold"/>
                                        <p:tgtEl>
                                          <p:spTgt spid="161799"/>
                                        </p:tgtEl>
                                        <p:attrNameLst>
                                          <p:attrName>ppt_x</p:attrName>
                                        </p:attrNameLst>
                                      </p:cBhvr>
                                      <p:tavLst>
                                        <p:tav tm="0">
                                          <p:val>
                                            <p:strVal val="#ppt_x"/>
                                          </p:val>
                                        </p:tav>
                                        <p:tav tm="100000">
                                          <p:val>
                                            <p:strVal val="#ppt_x"/>
                                          </p:val>
                                        </p:tav>
                                      </p:tavLst>
                                    </p:anim>
                                    <p:anim calcmode="lin" valueType="num">
                                      <p:cBhvr additive="base">
                                        <p:cTn id="44" dur="500" fill="hold"/>
                                        <p:tgtEl>
                                          <p:spTgt spid="16179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61800"/>
                                        </p:tgtEl>
                                        <p:attrNameLst>
                                          <p:attrName>style.visibility</p:attrName>
                                        </p:attrNameLst>
                                      </p:cBhvr>
                                      <p:to>
                                        <p:strVal val="visible"/>
                                      </p:to>
                                    </p:set>
                                    <p:anim calcmode="lin" valueType="num">
                                      <p:cBhvr additive="base">
                                        <p:cTn id="47" dur="500" fill="hold"/>
                                        <p:tgtEl>
                                          <p:spTgt spid="161800"/>
                                        </p:tgtEl>
                                        <p:attrNameLst>
                                          <p:attrName>ppt_x</p:attrName>
                                        </p:attrNameLst>
                                      </p:cBhvr>
                                      <p:tavLst>
                                        <p:tav tm="0">
                                          <p:val>
                                            <p:strVal val="#ppt_x"/>
                                          </p:val>
                                        </p:tav>
                                        <p:tav tm="100000">
                                          <p:val>
                                            <p:strVal val="#ppt_x"/>
                                          </p:val>
                                        </p:tav>
                                      </p:tavLst>
                                    </p:anim>
                                    <p:anim calcmode="lin" valueType="num">
                                      <p:cBhvr additive="base">
                                        <p:cTn id="48" dur="500" fill="hold"/>
                                        <p:tgtEl>
                                          <p:spTgt spid="16180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61801"/>
                                        </p:tgtEl>
                                        <p:attrNameLst>
                                          <p:attrName>style.visibility</p:attrName>
                                        </p:attrNameLst>
                                      </p:cBhvr>
                                      <p:to>
                                        <p:strVal val="visible"/>
                                      </p:to>
                                    </p:set>
                                    <p:anim calcmode="lin" valueType="num">
                                      <p:cBhvr additive="base">
                                        <p:cTn id="51" dur="500" fill="hold"/>
                                        <p:tgtEl>
                                          <p:spTgt spid="161801"/>
                                        </p:tgtEl>
                                        <p:attrNameLst>
                                          <p:attrName>ppt_x</p:attrName>
                                        </p:attrNameLst>
                                      </p:cBhvr>
                                      <p:tavLst>
                                        <p:tav tm="0">
                                          <p:val>
                                            <p:strVal val="#ppt_x"/>
                                          </p:val>
                                        </p:tav>
                                        <p:tav tm="100000">
                                          <p:val>
                                            <p:strVal val="#ppt_x"/>
                                          </p:val>
                                        </p:tav>
                                      </p:tavLst>
                                    </p:anim>
                                    <p:anim calcmode="lin" valueType="num">
                                      <p:cBhvr additive="base">
                                        <p:cTn id="52" dur="500" fill="hold"/>
                                        <p:tgtEl>
                                          <p:spTgt spid="161801"/>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autoUpdateAnimBg="0"/>
      <p:bldP spid="161795" grpId="0" autoUpdateAnimBg="0"/>
      <p:bldP spid="161796" grpId="0" autoUpdateAnimBg="0"/>
      <p:bldP spid="161797" grpId="0"/>
      <p:bldP spid="161798" grpId="0"/>
      <p:bldP spid="161799" grpId="0"/>
      <p:bldP spid="161800" grpId="0"/>
      <p:bldP spid="161801" grpId="0"/>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136525" y="0"/>
            <a:ext cx="4283075" cy="519113"/>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sz="3200" b="1">
                <a:solidFill>
                  <a:schemeClr val="folHlink"/>
                </a:solidFill>
                <a:latin typeface="Arial" pitchFamily="34" charset="0"/>
                <a:ea typeface="楷体_GB2312" pitchFamily="49" charset="-122"/>
              </a:rPr>
              <a:t>三、热力学第二定律</a:t>
            </a:r>
          </a:p>
        </p:txBody>
      </p:sp>
      <p:sp>
        <p:nvSpPr>
          <p:cNvPr id="162819" name="Text Box 3"/>
          <p:cNvSpPr txBox="1">
            <a:spLocks noChangeArrowheads="1"/>
          </p:cNvSpPr>
          <p:nvPr/>
        </p:nvSpPr>
        <p:spPr bwMode="auto">
          <a:xfrm>
            <a:off x="155575" y="533400"/>
            <a:ext cx="52800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Clr>
                <a:srgbClr val="3366FF"/>
              </a:buClr>
              <a:buFont typeface="Wingdings" pitchFamily="2" charset="2"/>
              <a:buNone/>
            </a:pPr>
            <a:r>
              <a:rPr lang="en-US" altLang="zh-CN" sz="2800" b="1">
                <a:solidFill>
                  <a:srgbClr val="3333FF"/>
                </a:solidFill>
                <a:ea typeface="楷体_GB2312" pitchFamily="49" charset="-122"/>
              </a:rPr>
              <a:t>1</a:t>
            </a:r>
            <a:r>
              <a:rPr lang="zh-CN" altLang="en-US" sz="2800" b="1">
                <a:solidFill>
                  <a:srgbClr val="3333FF"/>
                </a:solidFill>
                <a:ea typeface="楷体_GB2312" pitchFamily="49" charset="-122"/>
              </a:rPr>
              <a:t>、热力学第二定律的两种表述</a:t>
            </a:r>
            <a:endParaRPr lang="zh-CN" altLang="en-US" sz="2800" b="1">
              <a:latin typeface="楷体_GB2312" pitchFamily="49" charset="-122"/>
              <a:ea typeface="楷体_GB2312" pitchFamily="49" charset="-122"/>
            </a:endParaRPr>
          </a:p>
        </p:txBody>
      </p:sp>
      <p:sp>
        <p:nvSpPr>
          <p:cNvPr id="162820" name="Text Box 4"/>
          <p:cNvSpPr txBox="1">
            <a:spLocks noChangeArrowheads="1"/>
          </p:cNvSpPr>
          <p:nvPr/>
        </p:nvSpPr>
        <p:spPr bwMode="auto">
          <a:xfrm>
            <a:off x="1979613" y="4868863"/>
            <a:ext cx="6797675"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b="1">
                <a:solidFill>
                  <a:srgbClr val="FF3300"/>
                </a:solidFill>
              </a:rPr>
              <a:t>开尔文</a:t>
            </a:r>
            <a:r>
              <a:rPr lang="zh-CN" altLang="en-US" b="1"/>
              <a:t>（</a:t>
            </a:r>
            <a:r>
              <a:rPr lang="en-US" altLang="zh-CN" b="1"/>
              <a:t>W. Thomson</a:t>
            </a:r>
            <a:r>
              <a:rPr lang="zh-CN" altLang="en-US" b="1"/>
              <a:t>，</a:t>
            </a:r>
            <a:r>
              <a:rPr lang="en-US" altLang="zh-CN" b="1"/>
              <a:t>1824-1907</a:t>
            </a:r>
            <a:r>
              <a:rPr lang="zh-CN" altLang="en-US" b="1"/>
              <a:t>），原名汤姆孙，英国物理学家，热力学的奠基人之一。</a:t>
            </a:r>
            <a:r>
              <a:rPr lang="en-US" altLang="zh-CN" b="1"/>
              <a:t>1851</a:t>
            </a:r>
            <a:r>
              <a:rPr lang="zh-CN" altLang="en-US" b="1"/>
              <a:t>年表述了热力学第二定律。他在热力学、电磁学、波动和涡流等方面卓有贡献，</a:t>
            </a:r>
            <a:r>
              <a:rPr lang="en-US" altLang="zh-CN" b="1"/>
              <a:t>1892</a:t>
            </a:r>
            <a:r>
              <a:rPr lang="zh-CN" altLang="en-US" b="1"/>
              <a:t>年被授予开尔文爵士称号。他在</a:t>
            </a:r>
            <a:r>
              <a:rPr lang="en-US" altLang="zh-CN" b="1"/>
              <a:t>1848</a:t>
            </a:r>
            <a:r>
              <a:rPr lang="zh-CN" altLang="en-US" b="1"/>
              <a:t>年引入并在</a:t>
            </a:r>
            <a:r>
              <a:rPr lang="en-US" altLang="zh-CN" b="1"/>
              <a:t>1854</a:t>
            </a:r>
            <a:r>
              <a:rPr lang="zh-CN" altLang="en-US" b="1"/>
              <a:t>年修改的温标称为开尔文温标。为了纪念他，国际单位制中的温度的单位用“开尔文”命名。</a:t>
            </a:r>
          </a:p>
        </p:txBody>
      </p:sp>
      <p:sp>
        <p:nvSpPr>
          <p:cNvPr id="162821" name="Line 5"/>
          <p:cNvSpPr>
            <a:spLocks noChangeShapeType="1"/>
          </p:cNvSpPr>
          <p:nvPr/>
        </p:nvSpPr>
        <p:spPr bwMode="auto">
          <a:xfrm>
            <a:off x="0" y="4581525"/>
            <a:ext cx="9144000"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2822" name="Text Box 6"/>
          <p:cNvSpPr txBox="1">
            <a:spLocks noChangeArrowheads="1"/>
          </p:cNvSpPr>
          <p:nvPr/>
        </p:nvSpPr>
        <p:spPr bwMode="auto">
          <a:xfrm>
            <a:off x="152400" y="1222375"/>
            <a:ext cx="8610600"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FontTx/>
              <a:buChar char="•"/>
            </a:pPr>
            <a:r>
              <a:rPr lang="zh-CN" altLang="en-US" sz="2400" b="1">
                <a:solidFill>
                  <a:srgbClr val="FF3300"/>
                </a:solidFill>
                <a:ea typeface="楷体_GB2312" pitchFamily="49" charset="-122"/>
              </a:rPr>
              <a:t>热力学第二定律的开尔文表述</a:t>
            </a:r>
            <a:r>
              <a:rPr lang="en-US" altLang="zh-CN" sz="2400" b="1">
                <a:solidFill>
                  <a:srgbClr val="FF3300"/>
                </a:solidFill>
                <a:ea typeface="楷体_GB2312" pitchFamily="49" charset="-122"/>
              </a:rPr>
              <a:t>: Kelvin statement </a:t>
            </a:r>
            <a:r>
              <a:rPr lang="zh-CN" altLang="en-US" sz="2400" b="1">
                <a:solidFill>
                  <a:srgbClr val="FF3300"/>
                </a:solidFill>
                <a:ea typeface="楷体_GB2312" pitchFamily="49" charset="-122"/>
              </a:rPr>
              <a:t>：</a:t>
            </a:r>
          </a:p>
          <a:p>
            <a:pPr algn="l" eaLnBrk="1" hangingPunct="1">
              <a:spcBef>
                <a:spcPct val="20000"/>
              </a:spcBef>
            </a:pPr>
            <a:r>
              <a:rPr lang="zh-CN" altLang="en-US" sz="3600" b="1">
                <a:solidFill>
                  <a:schemeClr val="hlink"/>
                </a:solidFill>
                <a:ea typeface="楷体_GB2312" pitchFamily="49" charset="-122"/>
              </a:rPr>
              <a:t>   </a:t>
            </a:r>
            <a:r>
              <a:rPr lang="zh-CN" altLang="en-US" sz="2400" b="1">
                <a:solidFill>
                  <a:schemeClr val="hlink"/>
                </a:solidFill>
                <a:ea typeface="楷体_GB2312" pitchFamily="49" charset="-122"/>
              </a:rPr>
              <a:t>“不可能制成一种循环动作的热机，只从单一热源吸取热量，使之全部变为有用的功，而不产生其它影响”</a:t>
            </a:r>
          </a:p>
          <a:p>
            <a:pPr algn="just"/>
            <a:endParaRPr lang="en-US" altLang="zh-CN" sz="2400" b="1">
              <a:solidFill>
                <a:schemeClr val="hlink"/>
              </a:solidFill>
              <a:ea typeface="楷体_GB2312" pitchFamily="49" charset="-122"/>
            </a:endParaRPr>
          </a:p>
        </p:txBody>
      </p:sp>
      <p:pic>
        <p:nvPicPr>
          <p:cNvPr id="16282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4697413"/>
            <a:ext cx="1439862" cy="2160587"/>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2824" name="Rectangle 8"/>
          <p:cNvSpPr>
            <a:spLocks noChangeArrowheads="1"/>
          </p:cNvSpPr>
          <p:nvPr/>
        </p:nvSpPr>
        <p:spPr bwMode="auto">
          <a:xfrm>
            <a:off x="360363" y="2708275"/>
            <a:ext cx="882015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dirty="0">
                <a:solidFill>
                  <a:srgbClr val="FF0000"/>
                </a:solidFill>
                <a:latin typeface="宋体" pitchFamily="2" charset="-122"/>
              </a:rPr>
              <a:t>  </a:t>
            </a:r>
            <a:r>
              <a:rPr lang="zh-CN" altLang="en-US" sz="2400" b="1" dirty="0">
                <a:solidFill>
                  <a:srgbClr val="FF0000"/>
                </a:solidFill>
                <a:latin typeface="宋体" pitchFamily="2" charset="-122"/>
              </a:rPr>
              <a:t>开氏表述指明</a:t>
            </a:r>
            <a:r>
              <a:rPr lang="zh-CN" altLang="en-US" sz="2400" b="1" dirty="0">
                <a:latin typeface="宋体" pitchFamily="2" charset="-122"/>
              </a:rPr>
              <a:t>功变热</a:t>
            </a:r>
            <a:r>
              <a:rPr lang="zh-CN" altLang="en-US" sz="2400" b="1" dirty="0">
                <a:solidFill>
                  <a:srgbClr val="FF0000"/>
                </a:solidFill>
                <a:latin typeface="宋体" pitchFamily="2" charset="-122"/>
              </a:rPr>
              <a:t>的过程是</a:t>
            </a:r>
            <a:r>
              <a:rPr lang="zh-CN" altLang="en-US" sz="2400" b="1" dirty="0">
                <a:latin typeface="宋体" pitchFamily="2" charset="-122"/>
              </a:rPr>
              <a:t>不可逆</a:t>
            </a:r>
            <a:r>
              <a:rPr lang="zh-CN" altLang="en-US" sz="2400" b="1" dirty="0">
                <a:solidFill>
                  <a:srgbClr val="FF0000"/>
                </a:solidFill>
                <a:latin typeface="宋体" pitchFamily="2" charset="-122"/>
              </a:rPr>
              <a:t>的</a:t>
            </a:r>
            <a:r>
              <a:rPr lang="en-US" altLang="zh-CN" sz="2400" b="1" dirty="0">
                <a:solidFill>
                  <a:srgbClr val="FF0000"/>
                </a:solidFill>
                <a:latin typeface="宋体" pitchFamily="2" charset="-122"/>
              </a:rPr>
              <a:t>,</a:t>
            </a:r>
            <a:r>
              <a:rPr lang="zh-CN" altLang="en-US" sz="2400" b="1" dirty="0">
                <a:solidFill>
                  <a:srgbClr val="FF0000"/>
                </a:solidFill>
                <a:latin typeface="宋体" pitchFamily="2" charset="-122"/>
              </a:rPr>
              <a:t>总结出热力学过程进行的限度</a:t>
            </a:r>
            <a:r>
              <a:rPr lang="en-US" altLang="zh-CN" sz="2400" b="1" dirty="0">
                <a:solidFill>
                  <a:srgbClr val="FF0000"/>
                </a:solidFill>
                <a:latin typeface="宋体" pitchFamily="2" charset="-122"/>
              </a:rPr>
              <a:t>.</a:t>
            </a:r>
          </a:p>
          <a:p>
            <a:pPr algn="l"/>
            <a:r>
              <a:rPr lang="en-US" altLang="zh-CN" sz="2400" b="1" dirty="0">
                <a:solidFill>
                  <a:srgbClr val="FF0000"/>
                </a:solidFill>
                <a:latin typeface="宋体" pitchFamily="2" charset="-122"/>
              </a:rPr>
              <a:t>   </a:t>
            </a:r>
            <a:r>
              <a:rPr lang="zh-CN" altLang="en-US" sz="2400" b="1" dirty="0">
                <a:solidFill>
                  <a:srgbClr val="FF0000"/>
                </a:solidFill>
                <a:latin typeface="宋体" pitchFamily="2" charset="-122"/>
              </a:rPr>
              <a:t>功可以完全变热，但要把热完全变为功而不产生其它影响是不可能的。</a:t>
            </a:r>
          </a:p>
        </p:txBody>
      </p:sp>
      <p:sp>
        <p:nvSpPr>
          <p:cNvPr id="162825" name="Rectangle 9"/>
          <p:cNvSpPr>
            <a:spLocks noChangeArrowheads="1"/>
          </p:cNvSpPr>
          <p:nvPr/>
        </p:nvSpPr>
        <p:spPr bwMode="auto">
          <a:xfrm>
            <a:off x="34925" y="4298950"/>
            <a:ext cx="89154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a:solidFill>
                  <a:schemeClr val="accent2"/>
                </a:solidFill>
                <a:latin typeface="宋体" pitchFamily="2" charset="-122"/>
              </a:rPr>
              <a:t>    </a:t>
            </a:r>
            <a:r>
              <a:rPr lang="zh-CN" altLang="en-US" sz="2400" b="1">
                <a:solidFill>
                  <a:schemeClr val="accent2"/>
                </a:solidFill>
                <a:latin typeface="宋体" pitchFamily="2" charset="-122"/>
              </a:rPr>
              <a:t>以热机为例，热机的循环除了热变功外，还必定有一定的热量从高温热源传给低温热源，</a:t>
            </a:r>
            <a:r>
              <a:rPr lang="zh-CN" altLang="en-US" sz="2400" b="1">
                <a:latin typeface="宋体" pitchFamily="2" charset="-122"/>
              </a:rPr>
              <a:t>即产生了其它效果。</a:t>
            </a:r>
          </a:p>
          <a:p>
            <a:pPr algn="l"/>
            <a:r>
              <a:rPr lang="zh-CN" altLang="en-US" sz="2400" b="1">
                <a:solidFill>
                  <a:schemeClr val="accent2"/>
                </a:solidFill>
                <a:latin typeface="宋体" pitchFamily="2" charset="-122"/>
              </a:rPr>
              <a:t>   </a:t>
            </a:r>
            <a:r>
              <a:rPr lang="zh-CN" altLang="en-US" sz="2400" b="1">
                <a:ea typeface="楷体_GB2312" pitchFamily="49" charset="-122"/>
              </a:rPr>
              <a:t>但相反的过程却完全可能发生，如摩擦生热现象。</a:t>
            </a:r>
            <a:r>
              <a:rPr lang="en-US" altLang="zh-CN" sz="2400" b="1">
                <a:ea typeface="楷体_GB2312" pitchFamily="49" charset="-122"/>
              </a:rPr>
              <a:t>——</a:t>
            </a:r>
            <a:r>
              <a:rPr lang="zh-CN" altLang="en-US" sz="2400" b="1">
                <a:solidFill>
                  <a:schemeClr val="hlink"/>
                </a:solidFill>
                <a:ea typeface="楷体_GB2312" pitchFamily="49" charset="-122"/>
              </a:rPr>
              <a:t>热与功的转换过程具有方向性，是不可逆的</a:t>
            </a:r>
            <a:r>
              <a:rPr lang="zh-CN" altLang="en-US" sz="2400" b="1">
                <a:ea typeface="楷体_GB2312" pitchFamily="49" charset="-122"/>
              </a:rPr>
              <a:t>。 </a:t>
            </a:r>
          </a:p>
          <a:p>
            <a:pPr algn="l"/>
            <a:endParaRPr lang="en-US" altLang="zh-CN" sz="2400" b="1">
              <a:solidFill>
                <a:schemeClr val="accent2"/>
              </a:solidFill>
              <a:latin typeface="宋体" pitchFamily="2" charset="-122"/>
            </a:endParaRPr>
          </a:p>
        </p:txBody>
      </p:sp>
      <p:sp>
        <p:nvSpPr>
          <p:cNvPr id="40970" name="Rectangle 10"/>
          <p:cNvSpPr>
            <a:spLocks noChangeArrowheads="1"/>
          </p:cNvSpPr>
          <p:nvPr/>
        </p:nvSpPr>
        <p:spPr bwMode="auto">
          <a:xfrm>
            <a:off x="6877050" y="260350"/>
            <a:ext cx="2012950" cy="1981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400"/>
              <a:t>  </a:t>
            </a:r>
            <a:r>
              <a:rPr lang="en-US" altLang="zh-CN" sz="7600"/>
              <a:t> </a:t>
            </a:r>
            <a:r>
              <a:rPr lang="en-US" altLang="zh-CN" sz="2400"/>
              <a:t>              </a:t>
            </a:r>
            <a:br>
              <a:rPr lang="en-US" altLang="zh-CN" sz="2400"/>
            </a:br>
            <a:r>
              <a:rPr lang="zh-CN" altLang="en-US" sz="2400"/>
              <a:t>第二类永动机</a:t>
            </a:r>
            <a:br>
              <a:rPr lang="zh-CN" altLang="en-US" sz="2400"/>
            </a:br>
            <a:endParaRPr lang="zh-CN" altLang="en-US" sz="2400"/>
          </a:p>
        </p:txBody>
      </p:sp>
      <p:pic>
        <p:nvPicPr>
          <p:cNvPr id="40971" name="Picture 11" descr="3_9_9_3"/>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451725" y="188913"/>
            <a:ext cx="11525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418553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18"/>
                                        </p:tgtEl>
                                        <p:attrNameLst>
                                          <p:attrName>style.visibility</p:attrName>
                                        </p:attrNameLst>
                                      </p:cBhvr>
                                      <p:to>
                                        <p:strVal val="visible"/>
                                      </p:to>
                                    </p:set>
                                    <p:animEffect transition="in" filter="wipe(left)">
                                      <p:cBhvr>
                                        <p:cTn id="7" dur="500"/>
                                        <p:tgtEl>
                                          <p:spTgt spid="1628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819"/>
                                        </p:tgtEl>
                                        <p:attrNameLst>
                                          <p:attrName>style.visibility</p:attrName>
                                        </p:attrNameLst>
                                      </p:cBhvr>
                                      <p:to>
                                        <p:strVal val="visible"/>
                                      </p:to>
                                    </p:set>
                                    <p:animEffect transition="in" filter="wipe(left)">
                                      <p:cBhvr>
                                        <p:cTn id="12" dur="500"/>
                                        <p:tgtEl>
                                          <p:spTgt spid="1628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2822">
                                            <p:txEl>
                                              <p:pRg st="0" end="0"/>
                                            </p:txEl>
                                          </p:spTgt>
                                        </p:tgtEl>
                                        <p:attrNameLst>
                                          <p:attrName>style.visibility</p:attrName>
                                        </p:attrNameLst>
                                      </p:cBhvr>
                                      <p:to>
                                        <p:strVal val="visible"/>
                                      </p:to>
                                    </p:set>
                                    <p:animEffect transition="in" filter="wipe(left)">
                                      <p:cBhvr>
                                        <p:cTn id="17" dur="500"/>
                                        <p:tgtEl>
                                          <p:spTgt spid="16282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2822">
                                            <p:txEl>
                                              <p:pRg st="1" end="1"/>
                                            </p:txEl>
                                          </p:spTgt>
                                        </p:tgtEl>
                                        <p:attrNameLst>
                                          <p:attrName>style.visibility</p:attrName>
                                        </p:attrNameLst>
                                      </p:cBhvr>
                                      <p:to>
                                        <p:strVal val="visible"/>
                                      </p:to>
                                    </p:set>
                                    <p:animEffect transition="in" filter="wipe(left)">
                                      <p:cBhvr>
                                        <p:cTn id="22" dur="500"/>
                                        <p:tgtEl>
                                          <p:spTgt spid="162822">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2821"/>
                                        </p:tgtEl>
                                        <p:attrNameLst>
                                          <p:attrName>style.visibility</p:attrName>
                                        </p:attrNameLst>
                                      </p:cBhvr>
                                      <p:to>
                                        <p:strVal val="visible"/>
                                      </p:to>
                                    </p:set>
                                    <p:animEffect transition="in" filter="wipe(left)">
                                      <p:cBhvr>
                                        <p:cTn id="27" dur="500"/>
                                        <p:tgtEl>
                                          <p:spTgt spid="1628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62823"/>
                                        </p:tgtEl>
                                        <p:attrNameLst>
                                          <p:attrName>style.visibility</p:attrName>
                                        </p:attrNameLst>
                                      </p:cBhvr>
                                      <p:to>
                                        <p:strVal val="visible"/>
                                      </p:to>
                                    </p:set>
                                    <p:animEffect transition="in" filter="wipe(left)">
                                      <p:cBhvr>
                                        <p:cTn id="32" dur="500"/>
                                        <p:tgtEl>
                                          <p:spTgt spid="1628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2820"/>
                                        </p:tgtEl>
                                        <p:attrNameLst>
                                          <p:attrName>style.visibility</p:attrName>
                                        </p:attrNameLst>
                                      </p:cBhvr>
                                      <p:to>
                                        <p:strVal val="visible"/>
                                      </p:to>
                                    </p:set>
                                    <p:animEffect transition="in" filter="wipe(left)">
                                      <p:cBhvr>
                                        <p:cTn id="37" dur="500"/>
                                        <p:tgtEl>
                                          <p:spTgt spid="1628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xit" presetSubtype="16" fill="hold" nodeType="clickEffect">
                                  <p:stCondLst>
                                    <p:cond delay="0"/>
                                  </p:stCondLst>
                                  <p:childTnLst>
                                    <p:animEffect transition="out" filter="box(in)">
                                      <p:cBhvr>
                                        <p:cTn id="41" dur="500"/>
                                        <p:tgtEl>
                                          <p:spTgt spid="162823"/>
                                        </p:tgtEl>
                                      </p:cBhvr>
                                    </p:animEffect>
                                    <p:set>
                                      <p:cBhvr>
                                        <p:cTn id="42" dur="1" fill="hold">
                                          <p:stCondLst>
                                            <p:cond delay="499"/>
                                          </p:stCondLst>
                                        </p:cTn>
                                        <p:tgtEl>
                                          <p:spTgt spid="162823"/>
                                        </p:tgtEl>
                                        <p:attrNameLst>
                                          <p:attrName>style.visibility</p:attrName>
                                        </p:attrNameLst>
                                      </p:cBhvr>
                                      <p:to>
                                        <p:strVal val="hidden"/>
                                      </p:to>
                                    </p:set>
                                  </p:childTnLst>
                                </p:cTn>
                              </p:par>
                              <p:par>
                                <p:cTn id="43" presetID="4" presetClass="exit" presetSubtype="16" fill="hold" grpId="1" nodeType="withEffect">
                                  <p:stCondLst>
                                    <p:cond delay="0"/>
                                  </p:stCondLst>
                                  <p:childTnLst>
                                    <p:animEffect transition="out" filter="box(in)">
                                      <p:cBhvr>
                                        <p:cTn id="44" dur="500"/>
                                        <p:tgtEl>
                                          <p:spTgt spid="162820"/>
                                        </p:tgtEl>
                                      </p:cBhvr>
                                    </p:animEffect>
                                    <p:set>
                                      <p:cBhvr>
                                        <p:cTn id="45" dur="1" fill="hold">
                                          <p:stCondLst>
                                            <p:cond delay="499"/>
                                          </p:stCondLst>
                                        </p:cTn>
                                        <p:tgtEl>
                                          <p:spTgt spid="162820"/>
                                        </p:tgtEl>
                                        <p:attrNameLst>
                                          <p:attrName>style.visibility</p:attrName>
                                        </p:attrNameLst>
                                      </p:cBhvr>
                                      <p:to>
                                        <p:strVal val="hidden"/>
                                      </p:to>
                                    </p:set>
                                  </p:childTnLst>
                                </p:cTn>
                              </p:par>
                              <p:par>
                                <p:cTn id="46" presetID="4" presetClass="exit" presetSubtype="16" fill="hold" grpId="1" nodeType="withEffect">
                                  <p:stCondLst>
                                    <p:cond delay="0"/>
                                  </p:stCondLst>
                                  <p:childTnLst>
                                    <p:animEffect transition="out" filter="box(in)">
                                      <p:cBhvr>
                                        <p:cTn id="47" dur="500"/>
                                        <p:tgtEl>
                                          <p:spTgt spid="162821"/>
                                        </p:tgtEl>
                                      </p:cBhvr>
                                    </p:animEffect>
                                    <p:set>
                                      <p:cBhvr>
                                        <p:cTn id="48" dur="1" fill="hold">
                                          <p:stCondLst>
                                            <p:cond delay="499"/>
                                          </p:stCondLst>
                                        </p:cTn>
                                        <p:tgtEl>
                                          <p:spTgt spid="162821"/>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8" presetClass="entr" presetSubtype="6" fill="hold" grpId="0" nodeType="clickEffect">
                                  <p:stCondLst>
                                    <p:cond delay="0"/>
                                  </p:stCondLst>
                                  <p:childTnLst>
                                    <p:set>
                                      <p:cBhvr>
                                        <p:cTn id="52" dur="1" fill="hold">
                                          <p:stCondLst>
                                            <p:cond delay="0"/>
                                          </p:stCondLst>
                                        </p:cTn>
                                        <p:tgtEl>
                                          <p:spTgt spid="162824"/>
                                        </p:tgtEl>
                                        <p:attrNameLst>
                                          <p:attrName>style.visibility</p:attrName>
                                        </p:attrNameLst>
                                      </p:cBhvr>
                                      <p:to>
                                        <p:strVal val="visible"/>
                                      </p:to>
                                    </p:set>
                                    <p:animEffect transition="in" filter="strips(downRight)">
                                      <p:cBhvr>
                                        <p:cTn id="53" dur="500"/>
                                        <p:tgtEl>
                                          <p:spTgt spid="16282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8" presetClass="entr" presetSubtype="6" fill="hold" grpId="0" nodeType="clickEffect">
                                  <p:stCondLst>
                                    <p:cond delay="0"/>
                                  </p:stCondLst>
                                  <p:childTnLst>
                                    <p:set>
                                      <p:cBhvr>
                                        <p:cTn id="57" dur="1" fill="hold">
                                          <p:stCondLst>
                                            <p:cond delay="0"/>
                                          </p:stCondLst>
                                        </p:cTn>
                                        <p:tgtEl>
                                          <p:spTgt spid="162825"/>
                                        </p:tgtEl>
                                        <p:attrNameLst>
                                          <p:attrName>style.visibility</p:attrName>
                                        </p:attrNameLst>
                                      </p:cBhvr>
                                      <p:to>
                                        <p:strVal val="visible"/>
                                      </p:to>
                                    </p:set>
                                    <p:animEffect transition="in" filter="strips(downRight)">
                                      <p:cBhvr>
                                        <p:cTn id="58" dur="500"/>
                                        <p:tgtEl>
                                          <p:spTgt spid="162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animBg="1" autoUpdateAnimBg="0"/>
      <p:bldP spid="162819" grpId="0" autoUpdateAnimBg="0"/>
      <p:bldP spid="162820" grpId="0" autoUpdateAnimBg="0"/>
      <p:bldP spid="162820" grpId="1"/>
      <p:bldP spid="162821" grpId="0" animBg="1"/>
      <p:bldP spid="162821" grpId="1" animBg="1"/>
      <p:bldP spid="162822" grpId="0" build="p" bldLvl="2" autoUpdateAnimBg="0"/>
      <p:bldP spid="162824" grpId="0" autoUpdateAnimBg="0"/>
      <p:bldP spid="162825"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2"/>
          <p:cNvSpPr txBox="1">
            <a:spLocks noChangeArrowheads="1"/>
          </p:cNvSpPr>
          <p:nvPr/>
        </p:nvSpPr>
        <p:spPr bwMode="auto">
          <a:xfrm>
            <a:off x="34925" y="188913"/>
            <a:ext cx="8991600"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FontTx/>
              <a:buChar char="•"/>
            </a:pPr>
            <a:r>
              <a:rPr lang="zh-CN" altLang="en-US" sz="2400" b="1">
                <a:solidFill>
                  <a:srgbClr val="FF3300"/>
                </a:solidFill>
                <a:ea typeface="楷体_GB2312" pitchFamily="49" charset="-122"/>
              </a:rPr>
              <a:t>热力学第二定律的克劳修斯表述（ </a:t>
            </a:r>
            <a:r>
              <a:rPr lang="en-US" altLang="zh-CN" sz="2400" b="1">
                <a:solidFill>
                  <a:srgbClr val="FF3300"/>
                </a:solidFill>
                <a:ea typeface="楷体_GB2312" pitchFamily="49" charset="-122"/>
              </a:rPr>
              <a:t>1850</a:t>
            </a:r>
            <a:r>
              <a:rPr lang="zh-CN" altLang="en-US" sz="2400" b="1">
                <a:solidFill>
                  <a:srgbClr val="FF3300"/>
                </a:solidFill>
                <a:ea typeface="楷体_GB2312" pitchFamily="49" charset="-122"/>
              </a:rPr>
              <a:t>）：</a:t>
            </a:r>
            <a:r>
              <a:rPr lang="en-US" altLang="zh-CN" sz="2400" b="1">
                <a:solidFill>
                  <a:srgbClr val="FF3300"/>
                </a:solidFill>
                <a:ea typeface="楷体_GB2312" pitchFamily="49" charset="-122"/>
              </a:rPr>
              <a:t>Clausius statement</a:t>
            </a:r>
            <a:r>
              <a:rPr lang="zh-CN" altLang="en-US" sz="2400" b="1">
                <a:solidFill>
                  <a:srgbClr val="00FFFF"/>
                </a:solidFill>
                <a:ea typeface="楷体_GB2312" pitchFamily="49" charset="-122"/>
              </a:rPr>
              <a:t>：</a:t>
            </a:r>
          </a:p>
          <a:p>
            <a:pPr algn="l" eaLnBrk="1" hangingPunct="1">
              <a:spcBef>
                <a:spcPct val="20000"/>
              </a:spcBef>
            </a:pPr>
            <a:r>
              <a:rPr lang="zh-CN" altLang="en-US" sz="2400" b="1">
                <a:ea typeface="楷体_GB2312" pitchFamily="49" charset="-122"/>
              </a:rPr>
              <a:t>       “热量不能自动地从低温物体传向高温物体。”</a:t>
            </a:r>
          </a:p>
          <a:p>
            <a:pPr algn="l" eaLnBrk="1" hangingPunct="1">
              <a:spcBef>
                <a:spcPct val="20000"/>
              </a:spcBef>
            </a:pPr>
            <a:r>
              <a:rPr lang="zh-CN" altLang="en-US" sz="2400" b="1">
                <a:ea typeface="楷体_GB2312" pitchFamily="49" charset="-122"/>
              </a:rPr>
              <a:t>       </a:t>
            </a:r>
            <a:r>
              <a:rPr lang="en-US" altLang="zh-CN" sz="2400" b="1">
                <a:ea typeface="楷体_GB2312" pitchFamily="49" charset="-122"/>
              </a:rPr>
              <a:t>——</a:t>
            </a:r>
            <a:r>
              <a:rPr lang="zh-CN" altLang="en-US" sz="2400" b="1">
                <a:solidFill>
                  <a:schemeClr val="hlink"/>
                </a:solidFill>
                <a:ea typeface="楷体_GB2312" pitchFamily="49" charset="-122"/>
              </a:rPr>
              <a:t>热传导过程具有方向性，也是不可逆的</a:t>
            </a:r>
            <a:endParaRPr lang="zh-CN" altLang="en-US" sz="2400" b="1">
              <a:solidFill>
                <a:srgbClr val="0000FF"/>
              </a:solidFill>
              <a:latin typeface="楷体_GB2312" pitchFamily="49" charset="-122"/>
              <a:ea typeface="楷体_GB2312" pitchFamily="49" charset="-122"/>
            </a:endParaRPr>
          </a:p>
        </p:txBody>
      </p:sp>
      <p:sp>
        <p:nvSpPr>
          <p:cNvPr id="163843" name="Line 3"/>
          <p:cNvSpPr>
            <a:spLocks noChangeShapeType="1"/>
          </p:cNvSpPr>
          <p:nvPr/>
        </p:nvSpPr>
        <p:spPr bwMode="auto">
          <a:xfrm>
            <a:off x="0" y="4365625"/>
            <a:ext cx="9144000"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63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4456113"/>
            <a:ext cx="1657350" cy="2286000"/>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845" name="Text Box 5"/>
          <p:cNvSpPr txBox="1">
            <a:spLocks noChangeArrowheads="1"/>
          </p:cNvSpPr>
          <p:nvPr/>
        </p:nvSpPr>
        <p:spPr bwMode="auto">
          <a:xfrm>
            <a:off x="2124075" y="4748213"/>
            <a:ext cx="6797675"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b="1">
                <a:solidFill>
                  <a:srgbClr val="FF3300"/>
                </a:solidFill>
              </a:rPr>
              <a:t>克劳修斯</a:t>
            </a:r>
            <a:r>
              <a:rPr lang="zh-CN" altLang="en-US" b="1"/>
              <a:t>（</a:t>
            </a:r>
            <a:r>
              <a:rPr lang="en-US" altLang="zh-CN" b="1"/>
              <a:t>Rudolf Clausius</a:t>
            </a:r>
            <a:r>
              <a:rPr lang="zh-CN" altLang="en-US" b="1"/>
              <a:t>，</a:t>
            </a:r>
            <a:r>
              <a:rPr lang="en-US" altLang="zh-CN" b="1"/>
              <a:t>1822-1888</a:t>
            </a:r>
            <a:r>
              <a:rPr lang="zh-CN" altLang="en-US" b="1"/>
              <a:t>），德国物理学家，对热力学理论有杰出的贡献，曾提出热力学第二定律的克劳修斯表述和 熵的概念，并得出孤立系统的熵增加原理。他还是气体动理论创始人之一，提出统计概念和自由程概念，导出平均自由程公式和气体压强公式，提出比范德瓦耳斯更普遍的气体物态方程。</a:t>
            </a:r>
          </a:p>
        </p:txBody>
      </p:sp>
      <p:sp>
        <p:nvSpPr>
          <p:cNvPr id="163846" name="Text Box 6"/>
          <p:cNvSpPr txBox="1">
            <a:spLocks noChangeArrowheads="1"/>
          </p:cNvSpPr>
          <p:nvPr/>
        </p:nvSpPr>
        <p:spPr bwMode="auto">
          <a:xfrm>
            <a:off x="381000" y="1484313"/>
            <a:ext cx="8512175" cy="129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lnSpc>
                <a:spcPct val="110000"/>
              </a:lnSpc>
              <a:spcBef>
                <a:spcPct val="50000"/>
              </a:spcBef>
            </a:pPr>
            <a:r>
              <a:rPr lang="en-US" altLang="zh-CN" sz="2400" b="1">
                <a:solidFill>
                  <a:schemeClr val="accent2"/>
                </a:solidFill>
                <a:latin typeface="宋体" pitchFamily="2" charset="-122"/>
              </a:rPr>
              <a:t>   </a:t>
            </a:r>
            <a:r>
              <a:rPr lang="zh-CN" altLang="en-US" sz="2400" b="1">
                <a:solidFill>
                  <a:schemeClr val="accent2"/>
                </a:solidFill>
                <a:latin typeface="宋体" pitchFamily="2" charset="-122"/>
              </a:rPr>
              <a:t>与之相应的经验事实是，当两个不同温度的物体相互接触时，热量将自动地由高温物体向低温物体传递，而不可能</a:t>
            </a:r>
            <a:r>
              <a:rPr lang="zh-CN" altLang="en-US" sz="2400" b="1">
                <a:solidFill>
                  <a:schemeClr val="folHlink"/>
                </a:solidFill>
                <a:latin typeface="宋体" pitchFamily="2" charset="-122"/>
              </a:rPr>
              <a:t>自发地</a:t>
            </a:r>
            <a:r>
              <a:rPr lang="zh-CN" altLang="en-US" sz="2400" b="1">
                <a:solidFill>
                  <a:schemeClr val="accent2"/>
                </a:solidFill>
                <a:latin typeface="宋体" pitchFamily="2" charset="-122"/>
              </a:rPr>
              <a:t>由低温物体传到高温物体。</a:t>
            </a:r>
            <a:endParaRPr lang="zh-CN" altLang="en-US" sz="2400" b="1">
              <a:solidFill>
                <a:schemeClr val="accent2"/>
              </a:solidFill>
              <a:latin typeface="宋体" pitchFamily="2" charset="-122"/>
              <a:sym typeface="Symbol" pitchFamily="18" charset="2"/>
            </a:endParaRPr>
          </a:p>
        </p:txBody>
      </p:sp>
      <p:sp>
        <p:nvSpPr>
          <p:cNvPr id="163847" name="Rectangle 7"/>
          <p:cNvSpPr>
            <a:spLocks noChangeArrowheads="1"/>
          </p:cNvSpPr>
          <p:nvPr/>
        </p:nvSpPr>
        <p:spPr bwMode="auto">
          <a:xfrm>
            <a:off x="304800" y="2873375"/>
            <a:ext cx="8758238" cy="147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spcBef>
                <a:spcPct val="50000"/>
              </a:spcBef>
            </a:pPr>
            <a:r>
              <a:rPr lang="en-US" altLang="zh-CN" sz="2400" b="1">
                <a:solidFill>
                  <a:schemeClr val="accent2"/>
                </a:solidFill>
                <a:latin typeface="宋体" pitchFamily="2" charset="-122"/>
              </a:rPr>
              <a:t>   </a:t>
            </a:r>
            <a:r>
              <a:rPr lang="zh-CN" altLang="en-US" sz="2400" b="1">
                <a:solidFill>
                  <a:schemeClr val="accent2"/>
                </a:solidFill>
                <a:latin typeface="宋体" pitchFamily="2" charset="-122"/>
              </a:rPr>
              <a:t>如果借助制冷机，当然可以把热量由低温传递到高温，但要以外界作功为代价，也就是引起了其它变化。</a:t>
            </a:r>
          </a:p>
          <a:p>
            <a:pPr algn="l">
              <a:lnSpc>
                <a:spcPct val="110000"/>
              </a:lnSpc>
              <a:spcBef>
                <a:spcPct val="50000"/>
              </a:spcBef>
            </a:pPr>
            <a:r>
              <a:rPr lang="zh-CN" altLang="en-US" sz="2400" b="1">
                <a:solidFill>
                  <a:srgbClr val="FF3300"/>
                </a:solidFill>
                <a:latin typeface="宋体" pitchFamily="2" charset="-122"/>
              </a:rPr>
              <a:t>克氏表述指明热传导过程是有方向的。</a:t>
            </a:r>
          </a:p>
        </p:txBody>
      </p:sp>
      <p:sp>
        <p:nvSpPr>
          <p:cNvPr id="163848" name="Rectangle 8"/>
          <p:cNvSpPr>
            <a:spLocks noChangeArrowheads="1"/>
          </p:cNvSpPr>
          <p:nvPr/>
        </p:nvSpPr>
        <p:spPr bwMode="auto">
          <a:xfrm>
            <a:off x="6877050" y="3111500"/>
            <a:ext cx="3232150"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400" b="1"/>
              <a:t>                                        </a:t>
            </a:r>
            <a:br>
              <a:rPr lang="en-US" altLang="zh-CN" sz="2400" b="1"/>
            </a:br>
            <a:r>
              <a:rPr lang="zh-CN" altLang="en-US" sz="2400" b="1"/>
              <a:t>无功致冷机 </a:t>
            </a:r>
          </a:p>
        </p:txBody>
      </p:sp>
      <p:pic>
        <p:nvPicPr>
          <p:cNvPr id="163849" name="Picture 9" descr="3_9_9_5"/>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732588" y="1628775"/>
            <a:ext cx="1963737"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565740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42">
                                            <p:txEl>
                                              <p:pRg st="0" end="0"/>
                                            </p:txEl>
                                          </p:spTgt>
                                        </p:tgtEl>
                                        <p:attrNameLst>
                                          <p:attrName>style.visibility</p:attrName>
                                        </p:attrNameLst>
                                      </p:cBhvr>
                                      <p:to>
                                        <p:strVal val="visible"/>
                                      </p:to>
                                    </p:set>
                                    <p:animEffect transition="in" filter="wipe(left)">
                                      <p:cBhvr>
                                        <p:cTn id="7" dur="500"/>
                                        <p:tgtEl>
                                          <p:spTgt spid="16384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2">
                                            <p:txEl>
                                              <p:pRg st="1" end="1"/>
                                            </p:txEl>
                                          </p:spTgt>
                                        </p:tgtEl>
                                        <p:attrNameLst>
                                          <p:attrName>style.visibility</p:attrName>
                                        </p:attrNameLst>
                                      </p:cBhvr>
                                      <p:to>
                                        <p:strVal val="visible"/>
                                      </p:to>
                                    </p:set>
                                    <p:animEffect transition="in" filter="wipe(left)">
                                      <p:cBhvr>
                                        <p:cTn id="12" dur="500"/>
                                        <p:tgtEl>
                                          <p:spTgt spid="16384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842">
                                            <p:txEl>
                                              <p:pRg st="2" end="2"/>
                                            </p:txEl>
                                          </p:spTgt>
                                        </p:tgtEl>
                                        <p:attrNameLst>
                                          <p:attrName>style.visibility</p:attrName>
                                        </p:attrNameLst>
                                      </p:cBhvr>
                                      <p:to>
                                        <p:strVal val="visible"/>
                                      </p:to>
                                    </p:set>
                                    <p:animEffect transition="in" filter="wipe(left)">
                                      <p:cBhvr>
                                        <p:cTn id="17" dur="500"/>
                                        <p:tgtEl>
                                          <p:spTgt spid="16384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63849"/>
                                        </p:tgtEl>
                                        <p:attrNameLst>
                                          <p:attrName>style.visibility</p:attrName>
                                        </p:attrNameLst>
                                      </p:cBhvr>
                                      <p:to>
                                        <p:strVal val="visible"/>
                                      </p:to>
                                    </p:set>
                                    <p:animEffect transition="in" filter="fade">
                                      <p:cBhvr>
                                        <p:cTn id="22" dur="2000"/>
                                        <p:tgtEl>
                                          <p:spTgt spid="163849"/>
                                        </p:tgtEl>
                                      </p:cBhvr>
                                    </p:animEffect>
                                  </p:childTnLst>
                                </p:cTn>
                              </p:par>
                              <p:par>
                                <p:cTn id="23" presetID="10" presetClass="entr" presetSubtype="0" fill="hold" grpId="1" nodeType="withEffect">
                                  <p:stCondLst>
                                    <p:cond delay="0"/>
                                  </p:stCondLst>
                                  <p:childTnLst>
                                    <p:set>
                                      <p:cBhvr>
                                        <p:cTn id="24" dur="1" fill="hold">
                                          <p:stCondLst>
                                            <p:cond delay="0"/>
                                          </p:stCondLst>
                                        </p:cTn>
                                        <p:tgtEl>
                                          <p:spTgt spid="163848"/>
                                        </p:tgtEl>
                                        <p:attrNameLst>
                                          <p:attrName>style.visibility</p:attrName>
                                        </p:attrNameLst>
                                      </p:cBhvr>
                                      <p:to>
                                        <p:strVal val="visible"/>
                                      </p:to>
                                    </p:set>
                                    <p:animEffect transition="in" filter="fade">
                                      <p:cBhvr>
                                        <p:cTn id="25" dur="2000"/>
                                        <p:tgtEl>
                                          <p:spTgt spid="16384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63843"/>
                                        </p:tgtEl>
                                        <p:attrNameLst>
                                          <p:attrName>style.visibility</p:attrName>
                                        </p:attrNameLst>
                                      </p:cBhvr>
                                      <p:to>
                                        <p:strVal val="visible"/>
                                      </p:to>
                                    </p:set>
                                    <p:animEffect transition="in" filter="wipe(left)">
                                      <p:cBhvr>
                                        <p:cTn id="30" dur="500"/>
                                        <p:tgtEl>
                                          <p:spTgt spid="16384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63844"/>
                                        </p:tgtEl>
                                        <p:attrNameLst>
                                          <p:attrName>style.visibility</p:attrName>
                                        </p:attrNameLst>
                                      </p:cBhvr>
                                      <p:to>
                                        <p:strVal val="visible"/>
                                      </p:to>
                                    </p:set>
                                    <p:animEffect transition="in" filter="wipe(left)">
                                      <p:cBhvr>
                                        <p:cTn id="35" dur="500"/>
                                        <p:tgtEl>
                                          <p:spTgt spid="16384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63845"/>
                                        </p:tgtEl>
                                        <p:attrNameLst>
                                          <p:attrName>style.visibility</p:attrName>
                                        </p:attrNameLst>
                                      </p:cBhvr>
                                      <p:to>
                                        <p:strVal val="visible"/>
                                      </p:to>
                                    </p:set>
                                    <p:animEffect transition="in" filter="wipe(left)">
                                      <p:cBhvr>
                                        <p:cTn id="40" dur="500"/>
                                        <p:tgtEl>
                                          <p:spTgt spid="16384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5" presetClass="exit" presetSubtype="0" fill="hold" nodeType="clickEffect">
                                  <p:stCondLst>
                                    <p:cond delay="0"/>
                                  </p:stCondLst>
                                  <p:childTnLst>
                                    <p:anim calcmode="lin" valueType="num">
                                      <p:cBhvr>
                                        <p:cTn id="44" dur="1000"/>
                                        <p:tgtEl>
                                          <p:spTgt spid="163849"/>
                                        </p:tgtEl>
                                        <p:attrNameLst>
                                          <p:attrName>ppt_w</p:attrName>
                                        </p:attrNameLst>
                                      </p:cBhvr>
                                      <p:tavLst>
                                        <p:tav tm="0">
                                          <p:val>
                                            <p:strVal val="ppt_w"/>
                                          </p:val>
                                        </p:tav>
                                        <p:tav tm="100000">
                                          <p:val>
                                            <p:fltVal val="0"/>
                                          </p:val>
                                        </p:tav>
                                      </p:tavLst>
                                    </p:anim>
                                    <p:anim calcmode="lin" valueType="num">
                                      <p:cBhvr>
                                        <p:cTn id="45" dur="1000"/>
                                        <p:tgtEl>
                                          <p:spTgt spid="163849"/>
                                        </p:tgtEl>
                                        <p:attrNameLst>
                                          <p:attrName>ppt_h</p:attrName>
                                        </p:attrNameLst>
                                      </p:cBhvr>
                                      <p:tavLst>
                                        <p:tav tm="0">
                                          <p:val>
                                            <p:strVal val="ppt_h"/>
                                          </p:val>
                                        </p:tav>
                                        <p:tav tm="100000">
                                          <p:val>
                                            <p:fltVal val="0"/>
                                          </p:val>
                                        </p:tav>
                                      </p:tavLst>
                                    </p:anim>
                                    <p:anim calcmode="lin" valueType="num">
                                      <p:cBhvr>
                                        <p:cTn id="46" dur="1000"/>
                                        <p:tgtEl>
                                          <p:spTgt spid="163849"/>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47" dur="1000"/>
                                        <p:tgtEl>
                                          <p:spTgt spid="163849"/>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48" dur="1" fill="hold">
                                          <p:stCondLst>
                                            <p:cond delay="999"/>
                                          </p:stCondLst>
                                        </p:cTn>
                                        <p:tgtEl>
                                          <p:spTgt spid="163849"/>
                                        </p:tgtEl>
                                        <p:attrNameLst>
                                          <p:attrName>style.visibility</p:attrName>
                                        </p:attrNameLst>
                                      </p:cBhvr>
                                      <p:to>
                                        <p:strVal val="hidden"/>
                                      </p:to>
                                    </p:set>
                                  </p:childTnLst>
                                </p:cTn>
                              </p:par>
                              <p:par>
                                <p:cTn id="49" presetID="15" presetClass="exit" presetSubtype="0" fill="hold" grpId="0" nodeType="withEffect">
                                  <p:stCondLst>
                                    <p:cond delay="0"/>
                                  </p:stCondLst>
                                  <p:childTnLst>
                                    <p:anim calcmode="lin" valueType="num">
                                      <p:cBhvr>
                                        <p:cTn id="50" dur="1000"/>
                                        <p:tgtEl>
                                          <p:spTgt spid="163848"/>
                                        </p:tgtEl>
                                        <p:attrNameLst>
                                          <p:attrName>ppt_w</p:attrName>
                                        </p:attrNameLst>
                                      </p:cBhvr>
                                      <p:tavLst>
                                        <p:tav tm="0">
                                          <p:val>
                                            <p:strVal val="ppt_w"/>
                                          </p:val>
                                        </p:tav>
                                        <p:tav tm="100000">
                                          <p:val>
                                            <p:fltVal val="0"/>
                                          </p:val>
                                        </p:tav>
                                      </p:tavLst>
                                    </p:anim>
                                    <p:anim calcmode="lin" valueType="num">
                                      <p:cBhvr>
                                        <p:cTn id="51" dur="1000"/>
                                        <p:tgtEl>
                                          <p:spTgt spid="163848"/>
                                        </p:tgtEl>
                                        <p:attrNameLst>
                                          <p:attrName>ppt_h</p:attrName>
                                        </p:attrNameLst>
                                      </p:cBhvr>
                                      <p:tavLst>
                                        <p:tav tm="0">
                                          <p:val>
                                            <p:strVal val="ppt_h"/>
                                          </p:val>
                                        </p:tav>
                                        <p:tav tm="100000">
                                          <p:val>
                                            <p:fltVal val="0"/>
                                          </p:val>
                                        </p:tav>
                                      </p:tavLst>
                                    </p:anim>
                                    <p:anim calcmode="lin" valueType="num">
                                      <p:cBhvr>
                                        <p:cTn id="52" dur="1000"/>
                                        <p:tgtEl>
                                          <p:spTgt spid="163848"/>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53" dur="1000"/>
                                        <p:tgtEl>
                                          <p:spTgt spid="163848"/>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54" dur="1" fill="hold">
                                          <p:stCondLst>
                                            <p:cond delay="999"/>
                                          </p:stCondLst>
                                        </p:cTn>
                                        <p:tgtEl>
                                          <p:spTgt spid="163848"/>
                                        </p:tgtEl>
                                        <p:attrNameLst>
                                          <p:attrName>style.visibility</p:attrName>
                                        </p:attrNameLst>
                                      </p:cBhvr>
                                      <p:to>
                                        <p:strVal val="hidden"/>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8" presetClass="entr" presetSubtype="6" fill="hold" grpId="0" nodeType="clickEffect">
                                  <p:stCondLst>
                                    <p:cond delay="0"/>
                                  </p:stCondLst>
                                  <p:childTnLst>
                                    <p:set>
                                      <p:cBhvr>
                                        <p:cTn id="58" dur="1" fill="hold">
                                          <p:stCondLst>
                                            <p:cond delay="0"/>
                                          </p:stCondLst>
                                        </p:cTn>
                                        <p:tgtEl>
                                          <p:spTgt spid="163846"/>
                                        </p:tgtEl>
                                        <p:attrNameLst>
                                          <p:attrName>style.visibility</p:attrName>
                                        </p:attrNameLst>
                                      </p:cBhvr>
                                      <p:to>
                                        <p:strVal val="visible"/>
                                      </p:to>
                                    </p:set>
                                    <p:animEffect transition="in" filter="strips(downRight)">
                                      <p:cBhvr>
                                        <p:cTn id="59" dur="500"/>
                                        <p:tgtEl>
                                          <p:spTgt spid="16384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8" presetClass="entr" presetSubtype="6" fill="hold" grpId="0" nodeType="clickEffect">
                                  <p:stCondLst>
                                    <p:cond delay="0"/>
                                  </p:stCondLst>
                                  <p:childTnLst>
                                    <p:set>
                                      <p:cBhvr>
                                        <p:cTn id="63" dur="1" fill="hold">
                                          <p:stCondLst>
                                            <p:cond delay="0"/>
                                          </p:stCondLst>
                                        </p:cTn>
                                        <p:tgtEl>
                                          <p:spTgt spid="163847"/>
                                        </p:tgtEl>
                                        <p:attrNameLst>
                                          <p:attrName>style.visibility</p:attrName>
                                        </p:attrNameLst>
                                      </p:cBhvr>
                                      <p:to>
                                        <p:strVal val="visible"/>
                                      </p:to>
                                    </p:set>
                                    <p:animEffect transition="in" filter="strips(downRight)">
                                      <p:cBhvr>
                                        <p:cTn id="64" dur="500"/>
                                        <p:tgtEl>
                                          <p:spTgt spid="163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build="p" bldLvl="2" autoUpdateAnimBg="0"/>
      <p:bldP spid="163843" grpId="0" animBg="1"/>
      <p:bldP spid="163845" grpId="0" autoUpdateAnimBg="0"/>
      <p:bldP spid="163846" grpId="0" autoUpdateAnimBg="0"/>
      <p:bldP spid="163847" grpId="0" autoUpdateAnimBg="0"/>
      <p:bldP spid="163848" grpId="0"/>
      <p:bldP spid="163848" grpId="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灯片编号占位符 3"/>
          <p:cNvSpPr>
            <a:spLocks noGrp="1"/>
          </p:cNvSpPr>
          <p:nvPr>
            <p:ph type="sldNum" sz="quarter" idx="12"/>
          </p:nvPr>
        </p:nvSpPr>
        <p:spPr>
          <a:xfrm>
            <a:off x="6553200" y="6500192"/>
            <a:ext cx="1905000" cy="457200"/>
          </a:xfrm>
        </p:spPr>
        <p:txBody>
          <a:bodyPr/>
          <a:lstStyle/>
          <a:p>
            <a:fld id="{0BB931B3-69FF-4B2A-A7D5-E84C333BAAA8}" type="slidenum">
              <a:rPr lang="en-US"/>
              <a:pPr/>
              <a:t>57</a:t>
            </a:fld>
            <a:endParaRPr lang="en-US"/>
          </a:p>
        </p:txBody>
      </p:sp>
      <p:sp>
        <p:nvSpPr>
          <p:cNvPr id="331780" name="Text Box 4"/>
          <p:cNvSpPr txBox="1">
            <a:spLocks noChangeArrowheads="1"/>
          </p:cNvSpPr>
          <p:nvPr/>
        </p:nvSpPr>
        <p:spPr bwMode="auto">
          <a:xfrm>
            <a:off x="250825" y="1809130"/>
            <a:ext cx="8893175" cy="932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5000"/>
              </a:lnSpc>
            </a:pPr>
            <a:r>
              <a:rPr lang="zh-CN" altLang="en-US" sz="2300" b="1" dirty="0">
                <a:latin typeface="Times New Roman" pitchFamily="18" charset="0"/>
              </a:rPr>
              <a:t>由热力学第一定律可知，热机效率不可能大于</a:t>
            </a:r>
            <a:r>
              <a:rPr lang="en-US" altLang="zh-CN" sz="2300" b="1" dirty="0">
                <a:latin typeface="Times New Roman" pitchFamily="18" charset="0"/>
              </a:rPr>
              <a:t>100% </a:t>
            </a:r>
            <a:r>
              <a:rPr lang="zh-CN" altLang="en-US" sz="2300" b="1" dirty="0">
                <a:latin typeface="Times New Roman" pitchFamily="18" charset="0"/>
              </a:rPr>
              <a:t>。</a:t>
            </a:r>
          </a:p>
          <a:p>
            <a:pPr algn="l">
              <a:lnSpc>
                <a:spcPct val="125000"/>
              </a:lnSpc>
            </a:pPr>
            <a:r>
              <a:rPr lang="zh-CN" altLang="en-US" sz="2300" b="1" dirty="0">
                <a:latin typeface="Times New Roman" pitchFamily="18" charset="0"/>
              </a:rPr>
              <a:t>一个伟大的梦想：热机效率能否等于</a:t>
            </a:r>
            <a:r>
              <a:rPr lang="en-US" altLang="zh-CN" sz="2300" b="1" dirty="0">
                <a:latin typeface="Times New Roman" pitchFamily="18" charset="0"/>
              </a:rPr>
              <a:t>100%</a:t>
            </a:r>
            <a:r>
              <a:rPr lang="zh-CN" altLang="en-US" sz="2300" b="1" dirty="0">
                <a:latin typeface="Times New Roman" pitchFamily="18" charset="0"/>
              </a:rPr>
              <a:t>？  </a:t>
            </a:r>
          </a:p>
        </p:txBody>
      </p:sp>
      <p:grpSp>
        <p:nvGrpSpPr>
          <p:cNvPr id="331781" name="Group 5"/>
          <p:cNvGrpSpPr>
            <a:grpSpLocks/>
          </p:cNvGrpSpPr>
          <p:nvPr/>
        </p:nvGrpSpPr>
        <p:grpSpPr bwMode="auto">
          <a:xfrm>
            <a:off x="5545138" y="3045792"/>
            <a:ext cx="2987675" cy="2967038"/>
            <a:chOff x="567" y="799"/>
            <a:chExt cx="1882" cy="1869"/>
          </a:xfrm>
        </p:grpSpPr>
        <p:grpSp>
          <p:nvGrpSpPr>
            <p:cNvPr id="331782" name="Group 6"/>
            <p:cNvGrpSpPr>
              <a:grpSpLocks noChangeAspect="1"/>
            </p:cNvGrpSpPr>
            <p:nvPr/>
          </p:nvGrpSpPr>
          <p:grpSpPr bwMode="auto">
            <a:xfrm>
              <a:off x="567" y="817"/>
              <a:ext cx="1882" cy="1851"/>
              <a:chOff x="2880" y="1503"/>
              <a:chExt cx="2688" cy="2644"/>
            </a:xfrm>
          </p:grpSpPr>
          <p:sp>
            <p:nvSpPr>
              <p:cNvPr id="331783" name="Rectangle 7"/>
              <p:cNvSpPr>
                <a:spLocks noChangeAspect="1" noChangeArrowheads="1"/>
              </p:cNvSpPr>
              <p:nvPr/>
            </p:nvSpPr>
            <p:spPr bwMode="auto">
              <a:xfrm>
                <a:off x="3168" y="2511"/>
                <a:ext cx="576" cy="1200"/>
              </a:xfrm>
              <a:prstGeom prst="rect">
                <a:avLst/>
              </a:prstGeom>
              <a:gradFill rotWithShape="0">
                <a:gsLst>
                  <a:gs pos="0">
                    <a:srgbClr val="DDDDDD"/>
                  </a:gs>
                  <a:gs pos="50000">
                    <a:srgbClr val="FFFFFF"/>
                  </a:gs>
                  <a:gs pos="100000">
                    <a:srgbClr val="DDDDDD"/>
                  </a:gs>
                </a:gsLst>
                <a:lin ang="5400000" scaled="1"/>
              </a:gradFill>
              <a:ln w="952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784" name="Rectangle 8" descr="蓝色砂纸"/>
              <p:cNvSpPr>
                <a:spLocks noChangeAspect="1" noChangeArrowheads="1"/>
              </p:cNvSpPr>
              <p:nvPr/>
            </p:nvSpPr>
            <p:spPr bwMode="auto">
              <a:xfrm>
                <a:off x="4464" y="2895"/>
                <a:ext cx="1104" cy="768"/>
              </a:xfrm>
              <a:prstGeom prst="rect">
                <a:avLst/>
              </a:prstGeom>
              <a:blipFill dpi="0" rotWithShape="0">
                <a:blip r:embed="rId2"/>
                <a:srcRect/>
                <a:tile tx="0" ty="0" sx="100000" sy="100000" flip="none" algn="tl"/>
              </a:blipFill>
              <a:ln w="38100">
                <a:solidFill>
                  <a:srgbClr val="00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1785" name="Group 9"/>
              <p:cNvGrpSpPr>
                <a:grpSpLocks noChangeAspect="1"/>
              </p:cNvGrpSpPr>
              <p:nvPr/>
            </p:nvGrpSpPr>
            <p:grpSpPr bwMode="auto">
              <a:xfrm>
                <a:off x="4704" y="2607"/>
                <a:ext cx="576" cy="624"/>
                <a:chOff x="3984" y="3696"/>
                <a:chExt cx="576" cy="624"/>
              </a:xfrm>
            </p:grpSpPr>
            <p:sp>
              <p:nvSpPr>
                <p:cNvPr id="331786" name="AutoShape 10"/>
                <p:cNvSpPr>
                  <a:spLocks noChangeAspect="1" noChangeArrowheads="1"/>
                </p:cNvSpPr>
                <p:nvPr/>
              </p:nvSpPr>
              <p:spPr bwMode="auto">
                <a:xfrm>
                  <a:off x="4128" y="3696"/>
                  <a:ext cx="288" cy="288"/>
                </a:xfrm>
                <a:prstGeom prst="triangle">
                  <a:avLst>
                    <a:gd name="adj" fmla="val 50000"/>
                  </a:avLst>
                </a:prstGeom>
                <a:noFill/>
                <a:ln w="57150">
                  <a:solidFill>
                    <a:srgbClr val="FF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787" name="Rectangle 11"/>
                <p:cNvSpPr>
                  <a:spLocks noChangeAspect="1" noChangeArrowheads="1"/>
                </p:cNvSpPr>
                <p:nvPr/>
              </p:nvSpPr>
              <p:spPr bwMode="auto">
                <a:xfrm>
                  <a:off x="3984" y="3984"/>
                  <a:ext cx="576" cy="336"/>
                </a:xfrm>
                <a:prstGeom prst="rect">
                  <a:avLst/>
                </a:prstGeom>
                <a:noFill/>
                <a:ln w="57150">
                  <a:solidFill>
                    <a:srgbClr val="FF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1788" name="Rectangle 12"/>
              <p:cNvSpPr>
                <a:spLocks noChangeAspect="1" noChangeArrowheads="1"/>
              </p:cNvSpPr>
              <p:nvPr/>
            </p:nvSpPr>
            <p:spPr bwMode="auto">
              <a:xfrm>
                <a:off x="3168" y="2799"/>
                <a:ext cx="576" cy="144"/>
              </a:xfrm>
              <a:prstGeom prst="rect">
                <a:avLst/>
              </a:prstGeom>
              <a:solidFill>
                <a:srgbClr val="0000FF"/>
              </a:solidFill>
              <a:ln w="952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789" name="Oval 13"/>
              <p:cNvSpPr>
                <a:spLocks noChangeAspect="1" noChangeArrowheads="1"/>
              </p:cNvSpPr>
              <p:nvPr/>
            </p:nvSpPr>
            <p:spPr bwMode="auto">
              <a:xfrm>
                <a:off x="4608" y="1503"/>
                <a:ext cx="384" cy="384"/>
              </a:xfrm>
              <a:prstGeom prst="ellipse">
                <a:avLst/>
              </a:prstGeom>
              <a:solidFill>
                <a:schemeClr val="accent1"/>
              </a:solidFill>
              <a:ln w="57150">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790" name="Oval 14"/>
              <p:cNvSpPr>
                <a:spLocks noChangeAspect="1" noChangeArrowheads="1"/>
              </p:cNvSpPr>
              <p:nvPr/>
            </p:nvSpPr>
            <p:spPr bwMode="auto">
              <a:xfrm>
                <a:off x="3456" y="1503"/>
                <a:ext cx="384" cy="384"/>
              </a:xfrm>
              <a:prstGeom prst="ellipse">
                <a:avLst/>
              </a:prstGeom>
              <a:solidFill>
                <a:schemeClr val="accent1"/>
              </a:solidFill>
              <a:ln w="57150">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791" name="Line 15"/>
              <p:cNvSpPr>
                <a:spLocks noChangeAspect="1" noChangeShapeType="1"/>
              </p:cNvSpPr>
              <p:nvPr/>
            </p:nvSpPr>
            <p:spPr bwMode="auto">
              <a:xfrm>
                <a:off x="4992" y="1695"/>
                <a:ext cx="0" cy="912"/>
              </a:xfrm>
              <a:prstGeom prst="line">
                <a:avLst/>
              </a:prstGeom>
              <a:noFill/>
              <a:ln w="5715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1792" name="Line 16"/>
              <p:cNvSpPr>
                <a:spLocks noChangeAspect="1" noChangeShapeType="1"/>
              </p:cNvSpPr>
              <p:nvPr/>
            </p:nvSpPr>
            <p:spPr bwMode="auto">
              <a:xfrm>
                <a:off x="3648" y="1503"/>
                <a:ext cx="1200" cy="0"/>
              </a:xfrm>
              <a:prstGeom prst="line">
                <a:avLst/>
              </a:prstGeom>
              <a:noFill/>
              <a:ln w="5715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1793" name="Rectangle 17"/>
              <p:cNvSpPr>
                <a:spLocks noChangeAspect="1" noChangeArrowheads="1"/>
              </p:cNvSpPr>
              <p:nvPr/>
            </p:nvSpPr>
            <p:spPr bwMode="auto">
              <a:xfrm>
                <a:off x="3168" y="2511"/>
                <a:ext cx="576" cy="288"/>
              </a:xfrm>
              <a:prstGeom prst="rect">
                <a:avLst/>
              </a:prstGeom>
              <a:solidFill>
                <a:srgbClr val="006699"/>
              </a:solidFill>
              <a:ln w="952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794" name="Line 18"/>
              <p:cNvSpPr>
                <a:spLocks noChangeAspect="1" noChangeShapeType="1"/>
              </p:cNvSpPr>
              <p:nvPr/>
            </p:nvSpPr>
            <p:spPr bwMode="auto">
              <a:xfrm>
                <a:off x="3456" y="1695"/>
                <a:ext cx="0" cy="1104"/>
              </a:xfrm>
              <a:prstGeom prst="line">
                <a:avLst/>
              </a:prstGeom>
              <a:noFill/>
              <a:ln w="5715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1795" name="AutoShape 19"/>
              <p:cNvSpPr>
                <a:spLocks noChangeAspect="1" noChangeArrowheads="1"/>
              </p:cNvSpPr>
              <p:nvPr/>
            </p:nvSpPr>
            <p:spPr bwMode="auto">
              <a:xfrm>
                <a:off x="2880" y="3702"/>
                <a:ext cx="1042" cy="445"/>
              </a:xfrm>
              <a:prstGeom prst="irregularSeal2">
                <a:avLst/>
              </a:prstGeom>
              <a:solidFill>
                <a:srgbClr val="006699"/>
              </a:solidFill>
              <a:ln w="9525">
                <a:solidFill>
                  <a:srgbClr val="0066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1796" name="Rectangle 20"/>
            <p:cNvSpPr>
              <a:spLocks noChangeAspect="1" noChangeArrowheads="1"/>
            </p:cNvSpPr>
            <p:nvPr/>
          </p:nvSpPr>
          <p:spPr bwMode="auto">
            <a:xfrm>
              <a:off x="1008" y="807"/>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latin typeface="Times New Roman" pitchFamily="18" charset="0"/>
                </a:rPr>
                <a:t>•</a:t>
              </a:r>
            </a:p>
          </p:txBody>
        </p:sp>
        <p:sp>
          <p:nvSpPr>
            <p:cNvPr id="331797" name="Rectangle 21"/>
            <p:cNvSpPr>
              <a:spLocks noChangeAspect="1" noChangeArrowheads="1"/>
            </p:cNvSpPr>
            <p:nvPr/>
          </p:nvSpPr>
          <p:spPr bwMode="auto">
            <a:xfrm>
              <a:off x="1813" y="799"/>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latin typeface="Times New Roman" pitchFamily="18" charset="0"/>
                </a:rPr>
                <a:t>•</a:t>
              </a:r>
            </a:p>
          </p:txBody>
        </p:sp>
      </p:grpSp>
      <p:grpSp>
        <p:nvGrpSpPr>
          <p:cNvPr id="331798" name="Group 22"/>
          <p:cNvGrpSpPr>
            <a:grpSpLocks/>
          </p:cNvGrpSpPr>
          <p:nvPr/>
        </p:nvGrpSpPr>
        <p:grpSpPr bwMode="auto">
          <a:xfrm>
            <a:off x="5865813" y="3034680"/>
            <a:ext cx="2667000" cy="2474912"/>
            <a:chOff x="3474" y="786"/>
            <a:chExt cx="1680" cy="1559"/>
          </a:xfrm>
        </p:grpSpPr>
        <p:grpSp>
          <p:nvGrpSpPr>
            <p:cNvPr id="331799" name="Group 23"/>
            <p:cNvGrpSpPr>
              <a:grpSpLocks noChangeAspect="1"/>
            </p:cNvGrpSpPr>
            <p:nvPr/>
          </p:nvGrpSpPr>
          <p:grpSpPr bwMode="auto">
            <a:xfrm>
              <a:off x="3474" y="799"/>
              <a:ext cx="1680" cy="1546"/>
              <a:chOff x="569" y="720"/>
              <a:chExt cx="2400" cy="2208"/>
            </a:xfrm>
          </p:grpSpPr>
          <p:sp>
            <p:nvSpPr>
              <p:cNvPr id="331800" name="Rectangle 24" descr="蓝色砂纸"/>
              <p:cNvSpPr>
                <a:spLocks noChangeAspect="1" noChangeArrowheads="1"/>
              </p:cNvSpPr>
              <p:nvPr/>
            </p:nvSpPr>
            <p:spPr bwMode="auto">
              <a:xfrm>
                <a:off x="1865" y="2112"/>
                <a:ext cx="1104" cy="768"/>
              </a:xfrm>
              <a:prstGeom prst="rect">
                <a:avLst/>
              </a:prstGeom>
              <a:blipFill dpi="0" rotWithShape="0">
                <a:blip r:embed="rId2"/>
                <a:srcRect/>
                <a:tile tx="0" ty="0" sx="100000" sy="100000" flip="none" algn="tl"/>
              </a:blipFill>
              <a:ln w="38100">
                <a:solidFill>
                  <a:srgbClr val="00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801" name="Rectangle 25"/>
              <p:cNvSpPr>
                <a:spLocks noChangeAspect="1" noChangeArrowheads="1"/>
              </p:cNvSpPr>
              <p:nvPr/>
            </p:nvSpPr>
            <p:spPr bwMode="auto">
              <a:xfrm>
                <a:off x="569" y="1728"/>
                <a:ext cx="576" cy="1200"/>
              </a:xfrm>
              <a:prstGeom prst="rect">
                <a:avLst/>
              </a:prstGeom>
              <a:gradFill rotWithShape="0">
                <a:gsLst>
                  <a:gs pos="0">
                    <a:schemeClr val="folHlink"/>
                  </a:gs>
                  <a:gs pos="50000">
                    <a:srgbClr val="FFFFFF"/>
                  </a:gs>
                  <a:gs pos="100000">
                    <a:schemeClr val="folHlink"/>
                  </a:gs>
                </a:gsLst>
                <a:lin ang="5400000" scaled="1"/>
              </a:gradFill>
              <a:ln w="952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802" name="Rectangle 26"/>
              <p:cNvSpPr>
                <a:spLocks noChangeAspect="1" noChangeArrowheads="1"/>
              </p:cNvSpPr>
              <p:nvPr/>
            </p:nvSpPr>
            <p:spPr bwMode="auto">
              <a:xfrm>
                <a:off x="569" y="2352"/>
                <a:ext cx="576" cy="144"/>
              </a:xfrm>
              <a:prstGeom prst="rect">
                <a:avLst/>
              </a:prstGeom>
              <a:solidFill>
                <a:srgbClr val="0000FF"/>
              </a:solidFill>
              <a:ln w="952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1803" name="Group 27"/>
              <p:cNvGrpSpPr>
                <a:grpSpLocks noChangeAspect="1"/>
              </p:cNvGrpSpPr>
              <p:nvPr/>
            </p:nvGrpSpPr>
            <p:grpSpPr bwMode="auto">
              <a:xfrm>
                <a:off x="2101" y="1488"/>
                <a:ext cx="576" cy="624"/>
                <a:chOff x="3984" y="3696"/>
                <a:chExt cx="576" cy="624"/>
              </a:xfrm>
            </p:grpSpPr>
            <p:sp>
              <p:nvSpPr>
                <p:cNvPr id="331804" name="AutoShape 28"/>
                <p:cNvSpPr>
                  <a:spLocks noChangeAspect="1" noChangeArrowheads="1"/>
                </p:cNvSpPr>
                <p:nvPr/>
              </p:nvSpPr>
              <p:spPr bwMode="auto">
                <a:xfrm>
                  <a:off x="4128" y="3696"/>
                  <a:ext cx="288" cy="288"/>
                </a:xfrm>
                <a:prstGeom prst="triangle">
                  <a:avLst>
                    <a:gd name="adj" fmla="val 50000"/>
                  </a:avLst>
                </a:prstGeom>
                <a:noFill/>
                <a:ln w="57150">
                  <a:solidFill>
                    <a:srgbClr val="FF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805" name="Rectangle 29"/>
                <p:cNvSpPr>
                  <a:spLocks noChangeAspect="1" noChangeArrowheads="1"/>
                </p:cNvSpPr>
                <p:nvPr/>
              </p:nvSpPr>
              <p:spPr bwMode="auto">
                <a:xfrm>
                  <a:off x="3984" y="3984"/>
                  <a:ext cx="576" cy="336"/>
                </a:xfrm>
                <a:prstGeom prst="rect">
                  <a:avLst/>
                </a:prstGeom>
                <a:solidFill>
                  <a:srgbClr val="006699"/>
                </a:solidFill>
                <a:ln w="57150">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1806" name="Rectangle 30"/>
              <p:cNvSpPr>
                <a:spLocks noChangeAspect="1" noChangeArrowheads="1"/>
              </p:cNvSpPr>
              <p:nvPr/>
            </p:nvSpPr>
            <p:spPr bwMode="auto">
              <a:xfrm>
                <a:off x="569" y="1728"/>
                <a:ext cx="576" cy="624"/>
              </a:xfrm>
              <a:prstGeom prst="rect">
                <a:avLst/>
              </a:prstGeom>
              <a:solidFill>
                <a:srgbClr val="006699"/>
              </a:solidFill>
              <a:ln w="9525">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1807" name="Group 31"/>
              <p:cNvGrpSpPr>
                <a:grpSpLocks noChangeAspect="1"/>
              </p:cNvGrpSpPr>
              <p:nvPr/>
            </p:nvGrpSpPr>
            <p:grpSpPr bwMode="auto">
              <a:xfrm>
                <a:off x="857" y="720"/>
                <a:ext cx="1536" cy="1632"/>
                <a:chOff x="3840" y="1152"/>
                <a:chExt cx="1536" cy="1632"/>
              </a:xfrm>
            </p:grpSpPr>
            <p:sp>
              <p:nvSpPr>
                <p:cNvPr id="331808" name="Oval 32"/>
                <p:cNvSpPr>
                  <a:spLocks noChangeAspect="1" noChangeArrowheads="1"/>
                </p:cNvSpPr>
                <p:nvPr/>
              </p:nvSpPr>
              <p:spPr bwMode="auto">
                <a:xfrm>
                  <a:off x="4992" y="1152"/>
                  <a:ext cx="384" cy="384"/>
                </a:xfrm>
                <a:prstGeom prst="ellipse">
                  <a:avLst/>
                </a:prstGeom>
                <a:solidFill>
                  <a:schemeClr val="accent1"/>
                </a:solidFill>
                <a:ln w="57150">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809" name="Oval 33"/>
                <p:cNvSpPr>
                  <a:spLocks noChangeAspect="1" noChangeArrowheads="1"/>
                </p:cNvSpPr>
                <p:nvPr/>
              </p:nvSpPr>
              <p:spPr bwMode="auto">
                <a:xfrm>
                  <a:off x="3840" y="1152"/>
                  <a:ext cx="384" cy="384"/>
                </a:xfrm>
                <a:prstGeom prst="ellipse">
                  <a:avLst/>
                </a:prstGeom>
                <a:solidFill>
                  <a:schemeClr val="accent1"/>
                </a:solidFill>
                <a:ln w="57150">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810" name="Line 34"/>
                <p:cNvSpPr>
                  <a:spLocks noChangeAspect="1" noChangeShapeType="1"/>
                </p:cNvSpPr>
                <p:nvPr/>
              </p:nvSpPr>
              <p:spPr bwMode="auto">
                <a:xfrm>
                  <a:off x="5376" y="1344"/>
                  <a:ext cx="0" cy="576"/>
                </a:xfrm>
                <a:prstGeom prst="line">
                  <a:avLst/>
                </a:prstGeom>
                <a:noFill/>
                <a:ln w="5715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1811" name="Line 35"/>
                <p:cNvSpPr>
                  <a:spLocks noChangeAspect="1" noChangeShapeType="1"/>
                </p:cNvSpPr>
                <p:nvPr/>
              </p:nvSpPr>
              <p:spPr bwMode="auto">
                <a:xfrm>
                  <a:off x="4032" y="1152"/>
                  <a:ext cx="1200" cy="0"/>
                </a:xfrm>
                <a:prstGeom prst="line">
                  <a:avLst/>
                </a:prstGeom>
                <a:noFill/>
                <a:ln w="5715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1812" name="Line 36"/>
                <p:cNvSpPr>
                  <a:spLocks noChangeAspect="1" noChangeShapeType="1"/>
                </p:cNvSpPr>
                <p:nvPr/>
              </p:nvSpPr>
              <p:spPr bwMode="auto">
                <a:xfrm>
                  <a:off x="3840" y="1344"/>
                  <a:ext cx="0" cy="1440"/>
                </a:xfrm>
                <a:prstGeom prst="line">
                  <a:avLst/>
                </a:prstGeom>
                <a:noFill/>
                <a:ln w="5715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31813" name="Rectangle 37"/>
            <p:cNvSpPr>
              <a:spLocks noChangeAspect="1" noChangeArrowheads="1"/>
            </p:cNvSpPr>
            <p:nvPr/>
          </p:nvSpPr>
          <p:spPr bwMode="auto">
            <a:xfrm>
              <a:off x="3720" y="797"/>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latin typeface="Times New Roman" pitchFamily="18" charset="0"/>
                </a:rPr>
                <a:t>•</a:t>
              </a:r>
            </a:p>
          </p:txBody>
        </p:sp>
        <p:sp>
          <p:nvSpPr>
            <p:cNvPr id="331814" name="Rectangle 38"/>
            <p:cNvSpPr>
              <a:spLocks noChangeAspect="1" noChangeArrowheads="1"/>
            </p:cNvSpPr>
            <p:nvPr/>
          </p:nvSpPr>
          <p:spPr bwMode="auto">
            <a:xfrm>
              <a:off x="4529" y="786"/>
              <a:ext cx="1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latin typeface="Times New Roman" pitchFamily="18" charset="0"/>
                </a:rPr>
                <a:t>•</a:t>
              </a:r>
            </a:p>
          </p:txBody>
        </p:sp>
      </p:grpSp>
      <p:sp>
        <p:nvSpPr>
          <p:cNvPr id="331815" name="Oval 39"/>
          <p:cNvSpPr>
            <a:spLocks noChangeArrowheads="1"/>
          </p:cNvSpPr>
          <p:nvPr/>
        </p:nvSpPr>
        <p:spPr bwMode="auto">
          <a:xfrm>
            <a:off x="971550" y="3101355"/>
            <a:ext cx="1565275" cy="1081087"/>
          </a:xfrm>
          <a:prstGeom prst="ellipse">
            <a:avLst/>
          </a:prstGeom>
          <a:solidFill>
            <a:srgbClr val="3399FF"/>
          </a:solidFill>
          <a:ln w="9525">
            <a:solidFill>
              <a:srgbClr val="00FF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b="1">
                <a:solidFill>
                  <a:schemeClr val="bg1"/>
                </a:solidFill>
                <a:latin typeface="Times New Roman" pitchFamily="18" charset="0"/>
              </a:rPr>
              <a:t>地球</a:t>
            </a:r>
          </a:p>
        </p:txBody>
      </p:sp>
      <p:sp>
        <p:nvSpPr>
          <p:cNvPr id="331816" name="Oval 40"/>
          <p:cNvSpPr>
            <a:spLocks noChangeArrowheads="1"/>
          </p:cNvSpPr>
          <p:nvPr/>
        </p:nvSpPr>
        <p:spPr bwMode="auto">
          <a:xfrm>
            <a:off x="3130550" y="3172792"/>
            <a:ext cx="931863" cy="881063"/>
          </a:xfrm>
          <a:prstGeom prst="ellipse">
            <a:avLst/>
          </a:prstGeom>
          <a:solidFill>
            <a:schemeClr val="accent1"/>
          </a:solidFill>
          <a:ln w="9525">
            <a:solidFill>
              <a:srgbClr val="00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400" b="1">
                <a:solidFill>
                  <a:schemeClr val="bg1"/>
                </a:solidFill>
                <a:latin typeface="Times New Roman" pitchFamily="18" charset="0"/>
              </a:rPr>
              <a:t>热机</a:t>
            </a:r>
          </a:p>
        </p:txBody>
      </p:sp>
      <p:sp>
        <p:nvSpPr>
          <p:cNvPr id="331817" name="AutoShape 41"/>
          <p:cNvSpPr>
            <a:spLocks noChangeArrowheads="1"/>
          </p:cNvSpPr>
          <p:nvPr/>
        </p:nvSpPr>
        <p:spPr bwMode="auto">
          <a:xfrm>
            <a:off x="2266950" y="3533155"/>
            <a:ext cx="1008063" cy="215900"/>
          </a:xfrm>
          <a:prstGeom prst="rightArrow">
            <a:avLst>
              <a:gd name="adj1" fmla="val 42500"/>
              <a:gd name="adj2" fmla="val 22107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818" name="AutoShape 42"/>
          <p:cNvSpPr>
            <a:spLocks noChangeArrowheads="1"/>
          </p:cNvSpPr>
          <p:nvPr/>
        </p:nvSpPr>
        <p:spPr bwMode="auto">
          <a:xfrm>
            <a:off x="3922713" y="3533155"/>
            <a:ext cx="877887" cy="207962"/>
          </a:xfrm>
          <a:prstGeom prst="rightArrow">
            <a:avLst>
              <a:gd name="adj1" fmla="val 42500"/>
              <a:gd name="adj2" fmla="val 199871"/>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1819" name="Rectangle 43"/>
          <p:cNvSpPr>
            <a:spLocks noChangeArrowheads="1"/>
          </p:cNvSpPr>
          <p:nvPr/>
        </p:nvSpPr>
        <p:spPr bwMode="auto">
          <a:xfrm>
            <a:off x="2555875" y="3033092"/>
            <a:ext cx="506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latin typeface="Times New Roman" pitchFamily="18" charset="0"/>
              </a:rPr>
              <a:t>Q</a:t>
            </a:r>
            <a:r>
              <a:rPr kumimoji="1" lang="en-US" altLang="zh-CN" sz="2400" b="1" baseline="-25000">
                <a:latin typeface="Times New Roman" pitchFamily="18" charset="0"/>
              </a:rPr>
              <a:t>1</a:t>
            </a:r>
          </a:p>
        </p:txBody>
      </p:sp>
      <p:sp>
        <p:nvSpPr>
          <p:cNvPr id="331820" name="Rectangle 44"/>
          <p:cNvSpPr>
            <a:spLocks noChangeArrowheads="1"/>
          </p:cNvSpPr>
          <p:nvPr/>
        </p:nvSpPr>
        <p:spPr bwMode="auto">
          <a:xfrm>
            <a:off x="4356100" y="3033092"/>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latin typeface="Times New Roman" pitchFamily="18" charset="0"/>
              </a:rPr>
              <a:t>A</a:t>
            </a:r>
          </a:p>
        </p:txBody>
      </p:sp>
      <p:sp>
        <p:nvSpPr>
          <p:cNvPr id="331821" name="Text Box 45"/>
          <p:cNvSpPr txBox="1">
            <a:spLocks noChangeArrowheads="1"/>
          </p:cNvSpPr>
          <p:nvPr/>
        </p:nvSpPr>
        <p:spPr bwMode="auto">
          <a:xfrm>
            <a:off x="26417" y="4401517"/>
            <a:ext cx="5058916" cy="1374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5000"/>
              </a:lnSpc>
            </a:pPr>
            <a:r>
              <a:rPr lang="zh-CN" altLang="en-US" sz="2300" b="1" dirty="0">
                <a:latin typeface="Times New Roman" pitchFamily="18" charset="0"/>
              </a:rPr>
              <a:t>若热机效率能达到</a:t>
            </a:r>
            <a:r>
              <a:rPr lang="en-US" altLang="zh-CN" sz="2300" b="1" dirty="0">
                <a:latin typeface="Times New Roman" pitchFamily="18" charset="0"/>
              </a:rPr>
              <a:t>100%, </a:t>
            </a:r>
            <a:r>
              <a:rPr lang="zh-CN" altLang="en-US" sz="2300" b="1" dirty="0">
                <a:latin typeface="Times New Roman" pitchFamily="18" charset="0"/>
              </a:rPr>
              <a:t>则仅地球上的海水冷却</a:t>
            </a:r>
            <a:r>
              <a:rPr lang="en-US" altLang="zh-CN" sz="2300" b="1" dirty="0">
                <a:latin typeface="Times New Roman" pitchFamily="18" charset="0"/>
              </a:rPr>
              <a:t>1</a:t>
            </a:r>
            <a:r>
              <a:rPr lang="en-US" altLang="zh-CN" sz="2300" b="1" dirty="0">
                <a:latin typeface="Times New Roman" pitchFamily="18" charset="0"/>
                <a:cs typeface="Times New Roman" pitchFamily="18" charset="0"/>
              </a:rPr>
              <a:t>℃</a:t>
            </a:r>
            <a:r>
              <a:rPr lang="en-US" altLang="zh-CN" sz="2300" b="1" dirty="0">
                <a:latin typeface="Times New Roman" pitchFamily="18" charset="0"/>
              </a:rPr>
              <a:t> , </a:t>
            </a:r>
            <a:r>
              <a:rPr lang="zh-CN" altLang="en-US" sz="2300" b="1" dirty="0">
                <a:latin typeface="Times New Roman" pitchFamily="18" charset="0"/>
              </a:rPr>
              <a:t>所获得的功就相当于</a:t>
            </a:r>
            <a:r>
              <a:rPr lang="en-US" altLang="zh-CN" sz="2300" b="1" dirty="0">
                <a:latin typeface="Times New Roman" pitchFamily="18" charset="0"/>
              </a:rPr>
              <a:t>10</a:t>
            </a:r>
            <a:r>
              <a:rPr lang="en-US" altLang="zh-CN" sz="2300" b="1" baseline="56000" dirty="0">
                <a:latin typeface="Times New Roman" pitchFamily="18" charset="0"/>
              </a:rPr>
              <a:t>14</a:t>
            </a:r>
            <a:r>
              <a:rPr lang="en-US" altLang="zh-CN" sz="2300" b="1" dirty="0">
                <a:latin typeface="Times New Roman" pitchFamily="18" charset="0"/>
              </a:rPr>
              <a:t>t </a:t>
            </a:r>
            <a:r>
              <a:rPr lang="zh-CN" altLang="en-US" sz="2300" b="1" dirty="0">
                <a:latin typeface="Times New Roman" pitchFamily="18" charset="0"/>
              </a:rPr>
              <a:t>煤燃烧后放出的热量</a:t>
            </a:r>
          </a:p>
        </p:txBody>
      </p:sp>
      <p:sp>
        <p:nvSpPr>
          <p:cNvPr id="331824" name="Rectangle 48"/>
          <p:cNvSpPr>
            <a:spLocks noChangeArrowheads="1"/>
          </p:cNvSpPr>
          <p:nvPr/>
        </p:nvSpPr>
        <p:spPr bwMode="auto">
          <a:xfrm>
            <a:off x="5595938" y="5536580"/>
            <a:ext cx="1152525" cy="504825"/>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chemeClr val="bg1"/>
                </a:solidFill>
                <a:latin typeface="Times New Roman" pitchFamily="18" charset="0"/>
                <a:ea typeface="楷体_GB2312" pitchFamily="49" charset="-122"/>
              </a:rPr>
              <a:t>热源</a:t>
            </a:r>
          </a:p>
        </p:txBody>
      </p:sp>
      <p:sp>
        <p:nvSpPr>
          <p:cNvPr id="331825" name="Rectangle 49"/>
          <p:cNvSpPr>
            <a:spLocks noChangeArrowheads="1"/>
          </p:cNvSpPr>
          <p:nvPr/>
        </p:nvSpPr>
        <p:spPr bwMode="auto">
          <a:xfrm>
            <a:off x="5613400" y="5552455"/>
            <a:ext cx="1152525" cy="504825"/>
          </a:xfrm>
          <a:prstGeom prst="rect">
            <a:avLst/>
          </a:prstGeom>
          <a:solidFill>
            <a:srgbClr val="663300">
              <a:alpha val="42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chemeClr val="bg1"/>
                </a:solidFill>
                <a:latin typeface="Times New Roman" pitchFamily="18" charset="0"/>
                <a:ea typeface="楷体_GB2312" pitchFamily="49" charset="-122"/>
              </a:rPr>
              <a:t>热源</a:t>
            </a:r>
          </a:p>
        </p:txBody>
      </p:sp>
      <p:sp>
        <p:nvSpPr>
          <p:cNvPr id="52" name="Text Box 3"/>
          <p:cNvSpPr txBox="1">
            <a:spLocks noChangeArrowheads="1"/>
          </p:cNvSpPr>
          <p:nvPr/>
        </p:nvSpPr>
        <p:spPr bwMode="auto">
          <a:xfrm>
            <a:off x="26417" y="188640"/>
            <a:ext cx="8802563" cy="150810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300" b="1" dirty="0">
                <a:solidFill>
                  <a:srgbClr val="3333FF"/>
                </a:solidFill>
                <a:ea typeface="楷体_GB2312" pitchFamily="49" charset="-122"/>
              </a:rPr>
              <a:t>第二类永动机</a:t>
            </a:r>
            <a:r>
              <a:rPr lang="zh-CN" altLang="en-US" sz="2300" b="1" dirty="0">
                <a:solidFill>
                  <a:srgbClr val="FF3300"/>
                </a:solidFill>
                <a:ea typeface="楷体_GB2312" pitchFamily="49" charset="-122"/>
              </a:rPr>
              <a:t>概念：</a:t>
            </a:r>
            <a:r>
              <a:rPr lang="zh-CN" altLang="en-US" sz="2300" b="1" dirty="0"/>
              <a:t>历史上曾经有人企图制造这样一种循环工作的热机，它只从单一热源吸收热量，并将热量全部用来作功而不放出热量给低温热源，因而它的效率可以达到</a:t>
            </a:r>
            <a:r>
              <a:rPr lang="en-US" altLang="zh-CN" sz="2300" b="1" dirty="0"/>
              <a:t>100%</a:t>
            </a:r>
            <a:r>
              <a:rPr lang="zh-CN" altLang="en-US" sz="2300" b="1" dirty="0"/>
              <a:t>。即利用从单一热源吸收热量，并把它全部用来作功，这就是</a:t>
            </a:r>
            <a:r>
              <a:rPr lang="zh-CN" altLang="en-US" sz="2300" b="1" dirty="0">
                <a:solidFill>
                  <a:srgbClr val="FF3300"/>
                </a:solidFill>
                <a:ea typeface="楷体_GB2312" pitchFamily="49" charset="-122"/>
              </a:rPr>
              <a:t>第二类永动机</a:t>
            </a:r>
            <a:r>
              <a:rPr lang="zh-CN" altLang="en-US" sz="2300" b="1" dirty="0"/>
              <a:t>。</a:t>
            </a:r>
          </a:p>
        </p:txBody>
      </p:sp>
      <p:sp>
        <p:nvSpPr>
          <p:cNvPr id="53" name="Text Box 4"/>
          <p:cNvSpPr txBox="1">
            <a:spLocks noChangeArrowheads="1"/>
          </p:cNvSpPr>
          <p:nvPr/>
        </p:nvSpPr>
        <p:spPr bwMode="auto">
          <a:xfrm>
            <a:off x="250825" y="6012830"/>
            <a:ext cx="8893175" cy="831850"/>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300" b="1" dirty="0"/>
              <a:t>第二类永动机不违反热力学第一定律，但它违反了热力学第二定律，因而也是不可能造成的。</a:t>
            </a:r>
          </a:p>
        </p:txBody>
      </p:sp>
    </p:spTree>
    <p:extLst>
      <p:ext uri="{BB962C8B-B14F-4D97-AF65-F5344CB8AC3E}">
        <p14:creationId xmlns:p14="http://schemas.microsoft.com/office/powerpoint/2010/main" val="4172846762"/>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1780"/>
                                        </p:tgtEl>
                                        <p:attrNameLst>
                                          <p:attrName>style.visibility</p:attrName>
                                        </p:attrNameLst>
                                      </p:cBhvr>
                                      <p:to>
                                        <p:strVal val="visible"/>
                                      </p:to>
                                    </p:set>
                                    <p:animEffect transition="in" filter="wipe(left)">
                                      <p:cBhvr>
                                        <p:cTn id="12" dur="500"/>
                                        <p:tgtEl>
                                          <p:spTgt spid="3317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31781"/>
                                        </p:tgtEl>
                                        <p:attrNameLst>
                                          <p:attrName>style.visibility</p:attrName>
                                        </p:attrNameLst>
                                      </p:cBhvr>
                                      <p:to>
                                        <p:strVal val="visible"/>
                                      </p:to>
                                    </p:set>
                                    <p:animEffect transition="in" filter="dissolve">
                                      <p:cBhvr>
                                        <p:cTn id="17" dur="500"/>
                                        <p:tgtEl>
                                          <p:spTgt spid="331781"/>
                                        </p:tgtEl>
                                      </p:cBhvr>
                                    </p:animEffect>
                                  </p:childTnLst>
                                </p:cTn>
                              </p:par>
                            </p:childTnLst>
                          </p:cTn>
                        </p:par>
                        <p:par>
                          <p:cTn id="18" fill="hold" nodeType="afterGroup">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33182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31825"/>
                                        </p:tgtEl>
                                        <p:attrNameLst>
                                          <p:attrName>style.visibility</p:attrName>
                                        </p:attrNameLst>
                                      </p:cBhvr>
                                      <p:to>
                                        <p:strVal val="visible"/>
                                      </p:to>
                                    </p:set>
                                  </p:childTnLst>
                                </p:cTn>
                              </p:par>
                            </p:childTnLst>
                          </p:cTn>
                        </p:par>
                        <p:par>
                          <p:cTn id="25" fill="hold" nodeType="afterGroup">
                            <p:stCondLst>
                              <p:cond delay="500"/>
                            </p:stCondLst>
                            <p:childTnLst>
                              <p:par>
                                <p:cTn id="26" presetID="1" presetClass="entr" presetSubtype="0" fill="hold" nodeType="afterEffect">
                                  <p:stCondLst>
                                    <p:cond delay="500"/>
                                  </p:stCondLst>
                                  <p:childTnLst>
                                    <p:set>
                                      <p:cBhvr>
                                        <p:cTn id="27" dur="1" fill="hold">
                                          <p:stCondLst>
                                            <p:cond delay="499"/>
                                          </p:stCondLst>
                                        </p:cTn>
                                        <p:tgtEl>
                                          <p:spTgt spid="331798"/>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1815"/>
                                        </p:tgtEl>
                                        <p:attrNameLst>
                                          <p:attrName>style.visibility</p:attrName>
                                        </p:attrNameLst>
                                      </p:cBhvr>
                                      <p:to>
                                        <p:strVal val="visible"/>
                                      </p:to>
                                    </p:set>
                                    <p:animEffect transition="in" filter="wipe(left)">
                                      <p:cBhvr>
                                        <p:cTn id="32" dur="500"/>
                                        <p:tgtEl>
                                          <p:spTgt spid="3318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31816"/>
                                        </p:tgtEl>
                                        <p:attrNameLst>
                                          <p:attrName>style.visibility</p:attrName>
                                        </p:attrNameLst>
                                      </p:cBhvr>
                                      <p:to>
                                        <p:strVal val="visible"/>
                                      </p:to>
                                    </p:set>
                                    <p:animEffect transition="in" filter="wipe(left)">
                                      <p:cBhvr>
                                        <p:cTn id="37" dur="500"/>
                                        <p:tgtEl>
                                          <p:spTgt spid="3318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31817"/>
                                        </p:tgtEl>
                                        <p:attrNameLst>
                                          <p:attrName>style.visibility</p:attrName>
                                        </p:attrNameLst>
                                      </p:cBhvr>
                                      <p:to>
                                        <p:strVal val="visible"/>
                                      </p:to>
                                    </p:set>
                                    <p:animEffect transition="in" filter="wipe(left)">
                                      <p:cBhvr>
                                        <p:cTn id="42" dur="500"/>
                                        <p:tgtEl>
                                          <p:spTgt spid="33181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31819"/>
                                        </p:tgtEl>
                                        <p:attrNameLst>
                                          <p:attrName>style.visibility</p:attrName>
                                        </p:attrNameLst>
                                      </p:cBhvr>
                                      <p:to>
                                        <p:strVal val="visible"/>
                                      </p:to>
                                    </p:set>
                                    <p:animEffect transition="in" filter="wipe(left)">
                                      <p:cBhvr>
                                        <p:cTn id="47" dur="500"/>
                                        <p:tgtEl>
                                          <p:spTgt spid="3318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31818"/>
                                        </p:tgtEl>
                                        <p:attrNameLst>
                                          <p:attrName>style.visibility</p:attrName>
                                        </p:attrNameLst>
                                      </p:cBhvr>
                                      <p:to>
                                        <p:strVal val="visible"/>
                                      </p:to>
                                    </p:set>
                                    <p:animEffect transition="in" filter="wipe(left)">
                                      <p:cBhvr>
                                        <p:cTn id="52" dur="500"/>
                                        <p:tgtEl>
                                          <p:spTgt spid="3318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31820"/>
                                        </p:tgtEl>
                                        <p:attrNameLst>
                                          <p:attrName>style.visibility</p:attrName>
                                        </p:attrNameLst>
                                      </p:cBhvr>
                                      <p:to>
                                        <p:strVal val="visible"/>
                                      </p:to>
                                    </p:set>
                                    <p:animEffect transition="in" filter="wipe(left)">
                                      <p:cBhvr>
                                        <p:cTn id="57" dur="500"/>
                                        <p:tgtEl>
                                          <p:spTgt spid="33182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31821"/>
                                        </p:tgtEl>
                                        <p:attrNameLst>
                                          <p:attrName>style.visibility</p:attrName>
                                        </p:attrNameLst>
                                      </p:cBhvr>
                                      <p:to>
                                        <p:strVal val="visible"/>
                                      </p:to>
                                    </p:set>
                                    <p:animEffect transition="in" filter="wipe(left)">
                                      <p:cBhvr>
                                        <p:cTn id="62" dur="500"/>
                                        <p:tgtEl>
                                          <p:spTgt spid="3318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3"/>
                                        </p:tgtEl>
                                        <p:attrNameLst>
                                          <p:attrName>style.visibility</p:attrName>
                                        </p:attrNameLst>
                                      </p:cBhvr>
                                      <p:to>
                                        <p:strVal val="visible"/>
                                      </p:to>
                                    </p:set>
                                    <p:animEffect transition="in" filter="wipe(left)">
                                      <p:cBhvr>
                                        <p:cTn id="6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80" grpId="0" autoUpdateAnimBg="0"/>
      <p:bldP spid="331815" grpId="0" animBg="1" autoUpdateAnimBg="0"/>
      <p:bldP spid="331816" grpId="0" animBg="1" autoUpdateAnimBg="0"/>
      <p:bldP spid="331817" grpId="0" animBg="1"/>
      <p:bldP spid="331818" grpId="0" animBg="1"/>
      <p:bldP spid="331819" grpId="0" autoUpdateAnimBg="0"/>
      <p:bldP spid="331820" grpId="0" autoUpdateAnimBg="0"/>
      <p:bldP spid="331821" grpId="0" autoUpdateAnimBg="0"/>
      <p:bldP spid="331824" grpId="0" animBg="1" autoUpdateAnimBg="0"/>
      <p:bldP spid="331825" grpId="0" animBg="1" autoUpdateAnimBg="0"/>
      <p:bldP spid="52" grpId="0" autoUpdateAnimBg="0"/>
      <p:bldP spid="53"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9" name="Text Box 5"/>
          <p:cNvSpPr txBox="1">
            <a:spLocks noChangeArrowheads="1"/>
          </p:cNvSpPr>
          <p:nvPr/>
        </p:nvSpPr>
        <p:spPr bwMode="auto">
          <a:xfrm>
            <a:off x="76200" y="188640"/>
            <a:ext cx="65833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dirty="0">
                <a:solidFill>
                  <a:srgbClr val="3333FF"/>
                </a:solidFill>
                <a:ea typeface="楷体_GB2312" pitchFamily="49" charset="-122"/>
              </a:rPr>
              <a:t>2</a:t>
            </a:r>
            <a:r>
              <a:rPr lang="zh-CN" altLang="en-US" sz="2800" b="1" dirty="0">
                <a:solidFill>
                  <a:srgbClr val="3333FF"/>
                </a:solidFill>
                <a:ea typeface="楷体_GB2312" pitchFamily="49" charset="-122"/>
              </a:rPr>
              <a:t>、热力学第二定律两种描述的等价性</a:t>
            </a:r>
            <a:endParaRPr lang="zh-CN" altLang="en-US" sz="3600" b="1" dirty="0">
              <a:solidFill>
                <a:srgbClr val="FF3300"/>
              </a:solidFill>
              <a:ea typeface="楷体_GB2312" pitchFamily="49" charset="-122"/>
            </a:endParaRPr>
          </a:p>
        </p:txBody>
      </p:sp>
      <p:sp>
        <p:nvSpPr>
          <p:cNvPr id="164870" name="Text Box 6"/>
          <p:cNvSpPr txBox="1">
            <a:spLocks noChangeArrowheads="1"/>
          </p:cNvSpPr>
          <p:nvPr/>
        </p:nvSpPr>
        <p:spPr bwMode="auto">
          <a:xfrm>
            <a:off x="251520" y="741522"/>
            <a:ext cx="8496944"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300" b="1" dirty="0"/>
              <a:t>开尔文表述实质说明</a:t>
            </a:r>
            <a:r>
              <a:rPr lang="zh-CN" altLang="en-US" sz="2300" b="1" dirty="0">
                <a:solidFill>
                  <a:schemeClr val="folHlink"/>
                </a:solidFill>
              </a:rPr>
              <a:t>功变热过程的不可逆性</a:t>
            </a:r>
            <a:r>
              <a:rPr lang="zh-CN" altLang="en-US" sz="2300" b="1" dirty="0"/>
              <a:t>，克劳修斯表述则说明</a:t>
            </a:r>
            <a:r>
              <a:rPr lang="zh-CN" altLang="en-US" sz="2300" b="1" dirty="0">
                <a:solidFill>
                  <a:schemeClr val="folHlink"/>
                </a:solidFill>
              </a:rPr>
              <a:t>热传导过程的不可逆性</a:t>
            </a:r>
            <a:r>
              <a:rPr lang="zh-CN" altLang="en-US" sz="2300" b="1" dirty="0"/>
              <a:t>，二者在表述实际宏观过程的不可逆性这一点上是等价的。</a:t>
            </a:r>
            <a:r>
              <a:rPr lang="zh-CN" altLang="en-US" sz="2300" b="1" dirty="0">
                <a:solidFill>
                  <a:srgbClr val="3333FF"/>
                </a:solidFill>
                <a:ea typeface="楷体_GB2312" pitchFamily="49" charset="-122"/>
              </a:rPr>
              <a:t>即一种说法是正确的，另一种说法也必然正确；如果一种说法是不成立的，则另一种说法也必然不成立。</a:t>
            </a:r>
            <a:r>
              <a:rPr lang="zh-CN" altLang="en-US" sz="2300" b="1" dirty="0"/>
              <a:t>可用反证法证明。</a:t>
            </a:r>
            <a:endParaRPr lang="zh-CN" altLang="en-US" sz="2300" b="1" dirty="0">
              <a:solidFill>
                <a:srgbClr val="FF3300"/>
              </a:solidFill>
              <a:ea typeface="楷体_GB2312" pitchFamily="49" charset="-122"/>
            </a:endParaRPr>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2975" y="3573016"/>
            <a:ext cx="6407150" cy="325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3"/>
          <p:cNvSpPr txBox="1">
            <a:spLocks noChangeArrowheads="1"/>
          </p:cNvSpPr>
          <p:nvPr/>
        </p:nvSpPr>
        <p:spPr bwMode="auto">
          <a:xfrm>
            <a:off x="35496" y="2420888"/>
            <a:ext cx="7705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FontTx/>
              <a:buChar char="•"/>
            </a:pPr>
            <a:r>
              <a:rPr lang="zh-CN" altLang="en-US" sz="2800" b="1" dirty="0">
                <a:solidFill>
                  <a:srgbClr val="FF3300"/>
                </a:solidFill>
                <a:ea typeface="楷体_GB2312" pitchFamily="49" charset="-122"/>
              </a:rPr>
              <a:t>开尔文说法不成立，则克劳修斯说法也不成立</a:t>
            </a:r>
            <a:endParaRPr lang="zh-CN" altLang="en-US" sz="3600" b="1" dirty="0">
              <a:solidFill>
                <a:srgbClr val="FF3300"/>
              </a:solidFill>
              <a:ea typeface="楷体_GB2312" pitchFamily="49" charset="-122"/>
            </a:endParaRPr>
          </a:p>
        </p:txBody>
      </p:sp>
      <p:sp>
        <p:nvSpPr>
          <p:cNvPr id="9" name="AutoShape 4"/>
          <p:cNvSpPr>
            <a:spLocks noChangeArrowheads="1"/>
          </p:cNvSpPr>
          <p:nvPr/>
        </p:nvSpPr>
        <p:spPr bwMode="auto">
          <a:xfrm>
            <a:off x="3403599" y="3970103"/>
            <a:ext cx="304800" cy="685800"/>
          </a:xfrm>
          <a:prstGeom prst="downArrow">
            <a:avLst>
              <a:gd name="adj1" fmla="val 50000"/>
              <a:gd name="adj2" fmla="val 56250"/>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AutoShape 5"/>
          <p:cNvSpPr>
            <a:spLocks noChangeArrowheads="1"/>
          </p:cNvSpPr>
          <p:nvPr/>
        </p:nvSpPr>
        <p:spPr bwMode="auto">
          <a:xfrm>
            <a:off x="3852292" y="4734892"/>
            <a:ext cx="1295400" cy="228600"/>
          </a:xfrm>
          <a:prstGeom prst="rightArrow">
            <a:avLst>
              <a:gd name="adj1" fmla="val 50000"/>
              <a:gd name="adj2" fmla="val 141667"/>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AutoShape 6"/>
          <p:cNvSpPr>
            <a:spLocks noChangeArrowheads="1"/>
          </p:cNvSpPr>
          <p:nvPr/>
        </p:nvSpPr>
        <p:spPr bwMode="auto">
          <a:xfrm>
            <a:off x="5508625" y="3997424"/>
            <a:ext cx="228600" cy="1447800"/>
          </a:xfrm>
          <a:prstGeom prst="upArrow">
            <a:avLst>
              <a:gd name="adj1" fmla="val 50000"/>
              <a:gd name="adj2" fmla="val 158333"/>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AutoShape 7"/>
          <p:cNvSpPr>
            <a:spLocks noChangeArrowheads="1"/>
          </p:cNvSpPr>
          <p:nvPr/>
        </p:nvSpPr>
        <p:spPr bwMode="auto">
          <a:xfrm>
            <a:off x="7740352" y="4221088"/>
            <a:ext cx="228600" cy="1905000"/>
          </a:xfrm>
          <a:prstGeom prst="upArrow">
            <a:avLst>
              <a:gd name="adj1" fmla="val 50000"/>
              <a:gd name="adj2" fmla="val 208333"/>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9"/>
          <p:cNvSpPr>
            <a:spLocks/>
          </p:cNvSpPr>
          <p:nvPr/>
        </p:nvSpPr>
        <p:spPr bwMode="auto">
          <a:xfrm>
            <a:off x="984250" y="4049092"/>
            <a:ext cx="1295400" cy="2286000"/>
          </a:xfrm>
          <a:custGeom>
            <a:avLst/>
            <a:gdLst>
              <a:gd name="T0" fmla="*/ 0 w 816"/>
              <a:gd name="T1" fmla="*/ 0 h 1200"/>
              <a:gd name="T2" fmla="*/ 0 w 816"/>
              <a:gd name="T3" fmla="*/ 2147483647 h 1200"/>
              <a:gd name="T4" fmla="*/ 2147483647 w 816"/>
              <a:gd name="T5" fmla="*/ 2147483647 h 1200"/>
              <a:gd name="T6" fmla="*/ 2147483647 w 816"/>
              <a:gd name="T7" fmla="*/ 2147483647 h 1200"/>
              <a:gd name="T8" fmla="*/ 2147483647 w 816"/>
              <a:gd name="T9" fmla="*/ 2147483647 h 1200"/>
              <a:gd name="T10" fmla="*/ 2147483647 w 816"/>
              <a:gd name="T11" fmla="*/ 2147483647 h 1200"/>
              <a:gd name="T12" fmla="*/ 2147483647 w 816"/>
              <a:gd name="T13" fmla="*/ 2147483647 h 1200"/>
              <a:gd name="T14" fmla="*/ 2147483647 w 816"/>
              <a:gd name="T15" fmla="*/ 2147483647 h 1200"/>
              <a:gd name="T16" fmla="*/ 2147483647 w 816"/>
              <a:gd name="T17" fmla="*/ 2147483647 h 1200"/>
              <a:gd name="T18" fmla="*/ 2147483647 w 816"/>
              <a:gd name="T19" fmla="*/ 2147483647 h 1200"/>
              <a:gd name="T20" fmla="*/ 2147483647 w 816"/>
              <a:gd name="T21" fmla="*/ 2147483647 h 1200"/>
              <a:gd name="T22" fmla="*/ 2147483647 w 816"/>
              <a:gd name="T23" fmla="*/ 2147483647 h 1200"/>
              <a:gd name="T24" fmla="*/ 2147483647 w 816"/>
              <a:gd name="T25" fmla="*/ 2147483647 h 1200"/>
              <a:gd name="T26" fmla="*/ 2147483647 w 816"/>
              <a:gd name="T27" fmla="*/ 2147483647 h 1200"/>
              <a:gd name="T28" fmla="*/ 2147483647 w 816"/>
              <a:gd name="T29" fmla="*/ 2147483647 h 1200"/>
              <a:gd name="T30" fmla="*/ 2147483647 w 816"/>
              <a:gd name="T31" fmla="*/ 0 h 1200"/>
              <a:gd name="T32" fmla="*/ 0 w 816"/>
              <a:gd name="T33" fmla="*/ 0 h 12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16" h="1200">
                <a:moveTo>
                  <a:pt x="0" y="0"/>
                </a:moveTo>
                <a:lnTo>
                  <a:pt x="0" y="768"/>
                </a:lnTo>
                <a:lnTo>
                  <a:pt x="48" y="912"/>
                </a:lnTo>
                <a:lnTo>
                  <a:pt x="192" y="1008"/>
                </a:lnTo>
                <a:lnTo>
                  <a:pt x="336" y="1056"/>
                </a:lnTo>
                <a:lnTo>
                  <a:pt x="480" y="1056"/>
                </a:lnTo>
                <a:lnTo>
                  <a:pt x="624" y="1056"/>
                </a:lnTo>
                <a:lnTo>
                  <a:pt x="624" y="1200"/>
                </a:lnTo>
                <a:lnTo>
                  <a:pt x="816" y="912"/>
                </a:lnTo>
                <a:lnTo>
                  <a:pt x="624" y="624"/>
                </a:lnTo>
                <a:lnTo>
                  <a:pt x="624" y="768"/>
                </a:lnTo>
                <a:lnTo>
                  <a:pt x="480" y="768"/>
                </a:lnTo>
                <a:lnTo>
                  <a:pt x="432" y="720"/>
                </a:lnTo>
                <a:lnTo>
                  <a:pt x="384" y="624"/>
                </a:lnTo>
                <a:lnTo>
                  <a:pt x="384" y="528"/>
                </a:lnTo>
                <a:lnTo>
                  <a:pt x="384" y="0"/>
                </a:lnTo>
                <a:lnTo>
                  <a:pt x="0" y="0"/>
                </a:lnTo>
                <a:close/>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10"/>
          <p:cNvSpPr>
            <a:spLocks noChangeArrowheads="1"/>
          </p:cNvSpPr>
          <p:nvPr/>
        </p:nvSpPr>
        <p:spPr bwMode="auto">
          <a:xfrm>
            <a:off x="184150" y="3258517"/>
            <a:ext cx="2371725" cy="838200"/>
          </a:xfrm>
          <a:prstGeom prst="rect">
            <a:avLst/>
          </a:prstGeom>
          <a:solidFill>
            <a:srgbClr val="FFFF00"/>
          </a:solidFill>
          <a:ln w="19050">
            <a:solidFill>
              <a:schemeClr val="accent2"/>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11"/>
          <p:cNvSpPr txBox="1">
            <a:spLocks noChangeArrowheads="1"/>
          </p:cNvSpPr>
          <p:nvPr/>
        </p:nvSpPr>
        <p:spPr bwMode="auto">
          <a:xfrm>
            <a:off x="412750" y="3410917"/>
            <a:ext cx="2667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800" b="1" dirty="0">
                <a:solidFill>
                  <a:srgbClr val="FF0000"/>
                </a:solidFill>
                <a:latin typeface="Century Schoolbook" pitchFamily="18" charset="0"/>
              </a:rPr>
              <a:t>高温热源</a:t>
            </a:r>
            <a:r>
              <a:rPr lang="en-US" altLang="zh-CN" sz="2800" i="1" dirty="0">
                <a:solidFill>
                  <a:srgbClr val="FF0000"/>
                </a:solidFill>
                <a:latin typeface="Century Schoolbook" pitchFamily="18" charset="0"/>
              </a:rPr>
              <a:t>T</a:t>
            </a:r>
            <a:r>
              <a:rPr lang="en-US" altLang="zh-CN" sz="2800" baseline="-25000" dirty="0">
                <a:solidFill>
                  <a:srgbClr val="FF0000"/>
                </a:solidFill>
                <a:latin typeface="Century Schoolbook" pitchFamily="18" charset="0"/>
              </a:rPr>
              <a:t>1</a:t>
            </a:r>
            <a:endParaRPr lang="en-US" altLang="zh-CN" sz="2800" b="1" dirty="0">
              <a:solidFill>
                <a:srgbClr val="FF0000"/>
              </a:solidFill>
              <a:latin typeface="Century Schoolbook" pitchFamily="18" charset="0"/>
            </a:endParaRPr>
          </a:p>
        </p:txBody>
      </p:sp>
      <p:graphicFrame>
        <p:nvGraphicFramePr>
          <p:cNvPr id="16" name="Object 12"/>
          <p:cNvGraphicFramePr>
            <a:graphicFrameLocks noChangeAspect="1"/>
          </p:cNvGraphicFramePr>
          <p:nvPr>
            <p:extLst/>
          </p:nvPr>
        </p:nvGraphicFramePr>
        <p:xfrm>
          <a:off x="0" y="5058742"/>
          <a:ext cx="746125" cy="387350"/>
        </p:xfrm>
        <a:graphic>
          <a:graphicData uri="http://schemas.openxmlformats.org/presentationml/2006/ole">
            <mc:AlternateContent xmlns:mc="http://schemas.openxmlformats.org/markup-compatibility/2006">
              <mc:Choice xmlns:v="urn:schemas-microsoft-com:vml" Requires="v">
                <p:oleObj spid="_x0000_s184368" name="公式" r:id="rId5" imgW="927100" imgH="482600" progId="Equation.3">
                  <p:embed/>
                </p:oleObj>
              </mc:Choice>
              <mc:Fallback>
                <p:oleObj name="公式" r:id="rId5" imgW="927100" imgH="482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058742"/>
                        <a:ext cx="746125"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3"/>
          <p:cNvGraphicFramePr>
            <a:graphicFrameLocks noChangeAspect="1"/>
          </p:cNvGraphicFramePr>
          <p:nvPr>
            <p:extLst/>
          </p:nvPr>
        </p:nvGraphicFramePr>
        <p:xfrm>
          <a:off x="2341563" y="5490542"/>
          <a:ext cx="471487" cy="512763"/>
        </p:xfrm>
        <a:graphic>
          <a:graphicData uri="http://schemas.openxmlformats.org/presentationml/2006/ole">
            <mc:AlternateContent xmlns:mc="http://schemas.openxmlformats.org/markup-compatibility/2006">
              <mc:Choice xmlns:v="urn:schemas-microsoft-com:vml" Requires="v">
                <p:oleObj spid="_x0000_s184369" name="公式" r:id="rId7" imgW="152268" imgH="164957" progId="Equation.3">
                  <p:embed/>
                </p:oleObj>
              </mc:Choice>
              <mc:Fallback>
                <p:oleObj name="公式" r:id="rId7" imgW="152268" imgH="16495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1563" y="5490542"/>
                        <a:ext cx="471487"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4"/>
          <p:cNvGraphicFramePr>
            <a:graphicFrameLocks noChangeAspect="1"/>
          </p:cNvGraphicFramePr>
          <p:nvPr>
            <p:extLst/>
          </p:nvPr>
        </p:nvGraphicFramePr>
        <p:xfrm>
          <a:off x="1062038" y="4139580"/>
          <a:ext cx="658812" cy="658812"/>
        </p:xfrm>
        <a:graphic>
          <a:graphicData uri="http://schemas.openxmlformats.org/presentationml/2006/ole">
            <mc:AlternateContent xmlns:mc="http://schemas.openxmlformats.org/markup-compatibility/2006">
              <mc:Choice xmlns:v="urn:schemas-microsoft-com:vml" Requires="v">
                <p:oleObj spid="_x0000_s184370" name="Equation" r:id="rId9" imgW="228600" imgH="228600" progId="Equation.DSMT4">
                  <p:embed/>
                </p:oleObj>
              </mc:Choice>
              <mc:Fallback>
                <p:oleObj name="Equation" r:id="rId9" imgW="228600" imgH="2286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2038" y="4139580"/>
                        <a:ext cx="658812" cy="658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Rectangle 15"/>
          <p:cNvSpPr>
            <a:spLocks noChangeArrowheads="1"/>
          </p:cNvSpPr>
          <p:nvPr/>
        </p:nvSpPr>
        <p:spPr bwMode="auto">
          <a:xfrm>
            <a:off x="755650" y="4734892"/>
            <a:ext cx="1219200" cy="1143000"/>
          </a:xfrm>
          <a:prstGeom prst="rect">
            <a:avLst/>
          </a:prstGeom>
          <a:noFill/>
          <a:ln w="19050">
            <a:solidFill>
              <a:schemeClr val="accent2"/>
            </a:solidFill>
            <a:prstDash val="dash"/>
            <a:miter lim="800000"/>
            <a:headEnd type="non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0" name="Object 16"/>
          <p:cNvGraphicFramePr>
            <a:graphicFrameLocks noChangeAspect="1"/>
          </p:cNvGraphicFramePr>
          <p:nvPr>
            <p:extLst/>
          </p:nvPr>
        </p:nvGraphicFramePr>
        <p:xfrm>
          <a:off x="5860058" y="5665167"/>
          <a:ext cx="374650" cy="425450"/>
        </p:xfrm>
        <a:graphic>
          <a:graphicData uri="http://schemas.openxmlformats.org/presentationml/2006/ole">
            <mc:AlternateContent xmlns:mc="http://schemas.openxmlformats.org/markup-compatibility/2006">
              <mc:Choice xmlns:v="urn:schemas-microsoft-com:vml" Requires="v">
                <p:oleObj spid="_x0000_s184371" name="公式" r:id="rId11" imgW="190335" imgH="215713" progId="Equation.3">
                  <p:embed/>
                </p:oleObj>
              </mc:Choice>
              <mc:Fallback>
                <p:oleObj name="公式" r:id="rId11" imgW="190335" imgH="215713"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0058" y="5665167"/>
                        <a:ext cx="374650"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7"/>
          <p:cNvGraphicFramePr>
            <a:graphicFrameLocks noChangeAspect="1"/>
          </p:cNvGraphicFramePr>
          <p:nvPr>
            <p:extLst/>
          </p:nvPr>
        </p:nvGraphicFramePr>
        <p:xfrm>
          <a:off x="4407495" y="2897353"/>
          <a:ext cx="2286000" cy="739775"/>
        </p:xfrm>
        <a:graphic>
          <a:graphicData uri="http://schemas.openxmlformats.org/presentationml/2006/ole">
            <mc:AlternateContent xmlns:mc="http://schemas.openxmlformats.org/markup-compatibility/2006">
              <mc:Choice xmlns:v="urn:schemas-microsoft-com:vml" Requires="v">
                <p:oleObj spid="_x0000_s184372" name="Equation" r:id="rId13" imgW="1409400" imgH="457200" progId="Equation.DSMT4">
                  <p:embed/>
                </p:oleObj>
              </mc:Choice>
              <mc:Fallback>
                <p:oleObj name="Equation" r:id="rId13" imgW="1409400" imgH="457200" progId="Equation.DSMT4">
                  <p:embed/>
                  <p:pic>
                    <p:nvPicPr>
                      <p:cNvPr id="0" name=""/>
                      <p:cNvPicPr>
                        <a:picLocks noChangeAspect="1" noChangeArrowheads="1"/>
                      </p:cNvPicPr>
                      <p:nvPr/>
                    </p:nvPicPr>
                    <p:blipFill>
                      <a:blip r:embed="rId14"/>
                      <a:srcRect/>
                      <a:stretch>
                        <a:fillRect/>
                      </a:stretch>
                    </p:blipFill>
                    <p:spPr bwMode="auto">
                      <a:xfrm>
                        <a:off x="4407495" y="2897353"/>
                        <a:ext cx="2286000" cy="739775"/>
                      </a:xfrm>
                      <a:prstGeom prst="rect">
                        <a:avLst/>
                      </a:prstGeom>
                      <a:noFill/>
                      <a:ln w="19050">
                        <a:solidFill>
                          <a:schemeClr val="accent2"/>
                        </a:solidFill>
                      </a:ln>
                      <a:effectLst/>
                      <a:extLst/>
                    </p:spPr>
                  </p:pic>
                </p:oleObj>
              </mc:Fallback>
            </mc:AlternateContent>
          </a:graphicData>
        </a:graphic>
      </p:graphicFrame>
      <p:graphicFrame>
        <p:nvGraphicFramePr>
          <p:cNvPr id="22" name="Object 18"/>
          <p:cNvGraphicFramePr>
            <a:graphicFrameLocks noChangeAspect="1"/>
          </p:cNvGraphicFramePr>
          <p:nvPr>
            <p:extLst>
              <p:ext uri="{D42A27DB-BD31-4B8C-83A1-F6EECF244321}">
                <p14:modId xmlns:p14="http://schemas.microsoft.com/office/powerpoint/2010/main" val="1922273037"/>
              </p:ext>
            </p:extLst>
          </p:nvPr>
        </p:nvGraphicFramePr>
        <p:xfrm>
          <a:off x="800357" y="6118101"/>
          <a:ext cx="1066800" cy="531812"/>
        </p:xfrm>
        <a:graphic>
          <a:graphicData uri="http://schemas.openxmlformats.org/presentationml/2006/ole">
            <mc:AlternateContent xmlns:mc="http://schemas.openxmlformats.org/markup-compatibility/2006">
              <mc:Choice xmlns:v="urn:schemas-microsoft-com:vml" Requires="v">
                <p:oleObj spid="_x0000_s184373" name="公式" r:id="rId15" imgW="406048" imgH="203024" progId="Equation.3">
                  <p:embed/>
                </p:oleObj>
              </mc:Choice>
              <mc:Fallback>
                <p:oleObj name="公式" r:id="rId15" imgW="406048" imgH="203024"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00357" y="6118101"/>
                        <a:ext cx="1066800"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9"/>
          <p:cNvGraphicFramePr>
            <a:graphicFrameLocks noChangeAspect="1"/>
          </p:cNvGraphicFramePr>
          <p:nvPr>
            <p:extLst/>
          </p:nvPr>
        </p:nvGraphicFramePr>
        <p:xfrm>
          <a:off x="3410855" y="3429000"/>
          <a:ext cx="352425" cy="385763"/>
        </p:xfrm>
        <a:graphic>
          <a:graphicData uri="http://schemas.openxmlformats.org/presentationml/2006/ole">
            <mc:AlternateContent xmlns:mc="http://schemas.openxmlformats.org/markup-compatibility/2006">
              <mc:Choice xmlns:v="urn:schemas-microsoft-com:vml" Requires="v">
                <p:oleObj spid="_x0000_s184374" name="Equation" r:id="rId17" imgW="177646" imgH="228402" progId="Equation.DSMT4">
                  <p:embed/>
                </p:oleObj>
              </mc:Choice>
              <mc:Fallback>
                <p:oleObj name="Equation" r:id="rId17" imgW="177646" imgH="228402"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10855" y="3429000"/>
                        <a:ext cx="352425" cy="385763"/>
                      </a:xfrm>
                      <a:prstGeom prst="rect">
                        <a:avLst/>
                      </a:prstGeom>
                      <a:noFill/>
                      <a:ln>
                        <a:noFill/>
                      </a:ln>
                      <a:effectLst/>
                      <a:extLst/>
                    </p:spPr>
                  </p:pic>
                </p:oleObj>
              </mc:Fallback>
            </mc:AlternateContent>
          </a:graphicData>
        </a:graphic>
      </p:graphicFrame>
      <p:graphicFrame>
        <p:nvGraphicFramePr>
          <p:cNvPr id="24" name="Object 20"/>
          <p:cNvGraphicFramePr>
            <a:graphicFrameLocks noChangeAspect="1"/>
          </p:cNvGraphicFramePr>
          <p:nvPr>
            <p:extLst/>
          </p:nvPr>
        </p:nvGraphicFramePr>
        <p:xfrm>
          <a:off x="8244408" y="5257402"/>
          <a:ext cx="374650" cy="425450"/>
        </p:xfrm>
        <a:graphic>
          <a:graphicData uri="http://schemas.openxmlformats.org/presentationml/2006/ole">
            <mc:AlternateContent xmlns:mc="http://schemas.openxmlformats.org/markup-compatibility/2006">
              <mc:Choice xmlns:v="urn:schemas-microsoft-com:vml" Requires="v">
                <p:oleObj spid="_x0000_s184375" name="公式" r:id="rId19" imgW="190335" imgH="215713" progId="Equation.3">
                  <p:embed/>
                </p:oleObj>
              </mc:Choice>
              <mc:Fallback>
                <p:oleObj name="公式" r:id="rId19" imgW="190335" imgH="215713"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44408" y="5257402"/>
                        <a:ext cx="374650" cy="425450"/>
                      </a:xfrm>
                      <a:prstGeom prst="rect">
                        <a:avLst/>
                      </a:prstGeom>
                      <a:solidFill>
                        <a:srgbClr val="FF33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1"/>
          <p:cNvGraphicFramePr>
            <a:graphicFrameLocks noChangeAspect="1"/>
          </p:cNvGraphicFramePr>
          <p:nvPr>
            <p:extLst/>
          </p:nvPr>
        </p:nvGraphicFramePr>
        <p:xfrm>
          <a:off x="8172400" y="3203971"/>
          <a:ext cx="374650" cy="425450"/>
        </p:xfrm>
        <a:graphic>
          <a:graphicData uri="http://schemas.openxmlformats.org/presentationml/2006/ole">
            <mc:AlternateContent xmlns:mc="http://schemas.openxmlformats.org/markup-compatibility/2006">
              <mc:Choice xmlns:v="urn:schemas-microsoft-com:vml" Requires="v">
                <p:oleObj spid="_x0000_s184376" name="公式" r:id="rId20" imgW="190335" imgH="215713" progId="Equation.3">
                  <p:embed/>
                </p:oleObj>
              </mc:Choice>
              <mc:Fallback>
                <p:oleObj name="公式" r:id="rId20" imgW="190335" imgH="215713"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72400" y="3203971"/>
                        <a:ext cx="374650" cy="425450"/>
                      </a:xfrm>
                      <a:prstGeom prst="rect">
                        <a:avLst/>
                      </a:prstGeom>
                      <a:solidFill>
                        <a:srgbClr val="FF3300"/>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2"/>
          <p:cNvGraphicFramePr>
            <a:graphicFrameLocks noChangeAspect="1"/>
          </p:cNvGraphicFramePr>
          <p:nvPr>
            <p:extLst/>
          </p:nvPr>
        </p:nvGraphicFramePr>
        <p:xfrm>
          <a:off x="4139952" y="4068365"/>
          <a:ext cx="471487" cy="512763"/>
        </p:xfrm>
        <a:graphic>
          <a:graphicData uri="http://schemas.openxmlformats.org/presentationml/2006/ole">
            <mc:AlternateContent xmlns:mc="http://schemas.openxmlformats.org/markup-compatibility/2006">
              <mc:Choice xmlns:v="urn:schemas-microsoft-com:vml" Requires="v">
                <p:oleObj spid="_x0000_s184377" name="公式" r:id="rId21" imgW="152268" imgH="164957" progId="Equation.3">
                  <p:embed/>
                </p:oleObj>
              </mc:Choice>
              <mc:Fallback>
                <p:oleObj name="公式" r:id="rId21" imgW="152268" imgH="16495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39952" y="4068365"/>
                        <a:ext cx="471487"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19795898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69"/>
                                        </p:tgtEl>
                                        <p:attrNameLst>
                                          <p:attrName>style.visibility</p:attrName>
                                        </p:attrNameLst>
                                      </p:cBhvr>
                                      <p:to>
                                        <p:strVal val="visible"/>
                                      </p:to>
                                    </p:set>
                                    <p:animEffect transition="in" filter="wipe(left)">
                                      <p:cBhvr>
                                        <p:cTn id="7" dur="500"/>
                                        <p:tgtEl>
                                          <p:spTgt spid="1648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870"/>
                                        </p:tgtEl>
                                        <p:attrNameLst>
                                          <p:attrName>style.visibility</p:attrName>
                                        </p:attrNameLst>
                                      </p:cBhvr>
                                      <p:to>
                                        <p:strVal val="visible"/>
                                      </p:to>
                                    </p:set>
                                    <p:animEffect transition="in" filter="wipe(left)">
                                      <p:cBhvr>
                                        <p:cTn id="12" dur="500"/>
                                        <p:tgtEl>
                                          <p:spTgt spid="1648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272"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500" fill="hold"/>
                                        <p:tgtEl>
                                          <p:spTgt spid="14"/>
                                        </p:tgtEl>
                                        <p:attrNameLst>
                                          <p:attrName>ppt_w</p:attrName>
                                        </p:attrNameLst>
                                      </p:cBhvr>
                                      <p:tavLst>
                                        <p:tav tm="0">
                                          <p:val>
                                            <p:strVal val="2/3*#ppt_w"/>
                                          </p:val>
                                        </p:tav>
                                        <p:tav tm="100000">
                                          <p:val>
                                            <p:strVal val="#ppt_w"/>
                                          </p:val>
                                        </p:tav>
                                      </p:tavLst>
                                    </p:anim>
                                    <p:anim calcmode="lin" valueType="num">
                                      <p:cBhvr>
                                        <p:cTn id="23" dur="500" fill="hold"/>
                                        <p:tgtEl>
                                          <p:spTgt spid="14"/>
                                        </p:tgtEl>
                                        <p:attrNameLst>
                                          <p:attrName>ppt_h</p:attrName>
                                        </p:attrNameLst>
                                      </p:cBhvr>
                                      <p:tavLst>
                                        <p:tav tm="0">
                                          <p:val>
                                            <p:strVal val="2/3*#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3" presetClass="entr" presetSubtype="272"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p:cTn id="28" dur="500" fill="hold"/>
                                        <p:tgtEl>
                                          <p:spTgt spid="15"/>
                                        </p:tgtEl>
                                        <p:attrNameLst>
                                          <p:attrName>ppt_w</p:attrName>
                                        </p:attrNameLst>
                                      </p:cBhvr>
                                      <p:tavLst>
                                        <p:tav tm="0">
                                          <p:val>
                                            <p:strVal val="2/3*#ppt_w"/>
                                          </p:val>
                                        </p:tav>
                                        <p:tav tm="100000">
                                          <p:val>
                                            <p:strVal val="#ppt_w"/>
                                          </p:val>
                                        </p:tav>
                                      </p:tavLst>
                                    </p:anim>
                                    <p:anim calcmode="lin" valueType="num">
                                      <p:cBhvr>
                                        <p:cTn id="29" dur="500" fill="hold"/>
                                        <p:tgtEl>
                                          <p:spTgt spid="15"/>
                                        </p:tgtEl>
                                        <p:attrNameLst>
                                          <p:attrName>ppt_h</p:attrName>
                                        </p:attrNameLst>
                                      </p:cBhvr>
                                      <p:tavLst>
                                        <p:tav tm="0">
                                          <p:val>
                                            <p:strVal val="2/3*#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23" presetClass="entr" presetSubtype="272"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p:cTn id="34" dur="500" fill="hold"/>
                                        <p:tgtEl>
                                          <p:spTgt spid="19"/>
                                        </p:tgtEl>
                                        <p:attrNameLst>
                                          <p:attrName>ppt_w</p:attrName>
                                        </p:attrNameLst>
                                      </p:cBhvr>
                                      <p:tavLst>
                                        <p:tav tm="0">
                                          <p:val>
                                            <p:strVal val="2/3*#ppt_w"/>
                                          </p:val>
                                        </p:tav>
                                        <p:tav tm="100000">
                                          <p:val>
                                            <p:strVal val="#ppt_w"/>
                                          </p:val>
                                        </p:tav>
                                      </p:tavLst>
                                    </p:anim>
                                    <p:anim calcmode="lin" valueType="num">
                                      <p:cBhvr>
                                        <p:cTn id="35" dur="500" fill="hold"/>
                                        <p:tgtEl>
                                          <p:spTgt spid="19"/>
                                        </p:tgtEl>
                                        <p:attrNameLst>
                                          <p:attrName>ppt_h</p:attrName>
                                        </p:attrNameLst>
                                      </p:cBhvr>
                                      <p:tavLst>
                                        <p:tav tm="0">
                                          <p:val>
                                            <p:strVal val="2/3*#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3" presetClass="entr" presetSubtype="32"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 calcmode="lin" valueType="num">
                                      <p:cBhvr>
                                        <p:cTn id="40" dur="500" fill="hold"/>
                                        <p:tgtEl>
                                          <p:spTgt spid="16"/>
                                        </p:tgtEl>
                                        <p:attrNameLst>
                                          <p:attrName>ppt_w</p:attrName>
                                        </p:attrNameLst>
                                      </p:cBhvr>
                                      <p:tavLst>
                                        <p:tav tm="0">
                                          <p:val>
                                            <p:strVal val="4*#ppt_w"/>
                                          </p:val>
                                        </p:tav>
                                        <p:tav tm="100000">
                                          <p:val>
                                            <p:strVal val="#ppt_w"/>
                                          </p:val>
                                        </p:tav>
                                      </p:tavLst>
                                    </p:anim>
                                    <p:anim calcmode="lin" valueType="num">
                                      <p:cBhvr>
                                        <p:cTn id="41" dur="500" fill="hold"/>
                                        <p:tgtEl>
                                          <p:spTgt spid="16"/>
                                        </p:tgtEl>
                                        <p:attrNameLst>
                                          <p:attrName>ppt_h</p:attrName>
                                        </p:attrNameLst>
                                      </p:cBhvr>
                                      <p:tavLst>
                                        <p:tav tm="0">
                                          <p:val>
                                            <p:strVal val="4*#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up)">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23" presetClass="entr" presetSubtype="288"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p:cTn id="51" dur="500" fill="hold"/>
                                        <p:tgtEl>
                                          <p:spTgt spid="18"/>
                                        </p:tgtEl>
                                        <p:attrNameLst>
                                          <p:attrName>ppt_w</p:attrName>
                                        </p:attrNameLst>
                                      </p:cBhvr>
                                      <p:tavLst>
                                        <p:tav tm="0">
                                          <p:val>
                                            <p:strVal val="4/3*#ppt_w"/>
                                          </p:val>
                                        </p:tav>
                                        <p:tav tm="100000">
                                          <p:val>
                                            <p:strVal val="#ppt_w"/>
                                          </p:val>
                                        </p:tav>
                                      </p:tavLst>
                                    </p:anim>
                                    <p:anim calcmode="lin" valueType="num">
                                      <p:cBhvr>
                                        <p:cTn id="52" dur="500" fill="hold"/>
                                        <p:tgtEl>
                                          <p:spTgt spid="18"/>
                                        </p:tgtEl>
                                        <p:attrNameLst>
                                          <p:attrName>ppt_h</p:attrName>
                                        </p:attrNameLst>
                                      </p:cBhvr>
                                      <p:tavLst>
                                        <p:tav tm="0">
                                          <p:val>
                                            <p:strVal val="4/3*#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23" presetClass="entr" presetSubtype="288" fill="hold" nodeType="clickEffect">
                                  <p:stCondLst>
                                    <p:cond delay="0"/>
                                  </p:stCondLst>
                                  <p:childTnLst>
                                    <p:set>
                                      <p:cBhvr>
                                        <p:cTn id="61" dur="1" fill="hold">
                                          <p:stCondLst>
                                            <p:cond delay="0"/>
                                          </p:stCondLst>
                                        </p:cTn>
                                        <p:tgtEl>
                                          <p:spTgt spid="22"/>
                                        </p:tgtEl>
                                        <p:attrNameLst>
                                          <p:attrName>style.visibility</p:attrName>
                                        </p:attrNameLst>
                                      </p:cBhvr>
                                      <p:to>
                                        <p:strVal val="visible"/>
                                      </p:to>
                                    </p:set>
                                    <p:anim calcmode="lin" valueType="num">
                                      <p:cBhvr>
                                        <p:cTn id="62" dur="500" fill="hold"/>
                                        <p:tgtEl>
                                          <p:spTgt spid="22"/>
                                        </p:tgtEl>
                                        <p:attrNameLst>
                                          <p:attrName>ppt_w</p:attrName>
                                        </p:attrNameLst>
                                      </p:cBhvr>
                                      <p:tavLst>
                                        <p:tav tm="0">
                                          <p:val>
                                            <p:strVal val="4/3*#ppt_w"/>
                                          </p:val>
                                        </p:tav>
                                        <p:tav tm="100000">
                                          <p:val>
                                            <p:strVal val="#ppt_w"/>
                                          </p:val>
                                        </p:tav>
                                      </p:tavLst>
                                    </p:anim>
                                    <p:anim calcmode="lin" valueType="num">
                                      <p:cBhvr>
                                        <p:cTn id="63" dur="500" fill="hold"/>
                                        <p:tgtEl>
                                          <p:spTgt spid="22"/>
                                        </p:tgtEl>
                                        <p:attrNameLst>
                                          <p:attrName>ppt_h</p:attrName>
                                        </p:attrNameLst>
                                      </p:cBhvr>
                                      <p:tavLst>
                                        <p:tav tm="0">
                                          <p:val>
                                            <p:strVal val="4/3*#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wipe(left)">
                                      <p:cBhvr>
                                        <p:cTn id="68" dur="500"/>
                                        <p:tgtEl>
                                          <p:spTgt spid="9"/>
                                        </p:tgtEl>
                                      </p:cBhvr>
                                    </p:animEffect>
                                  </p:childTnLst>
                                </p:cTn>
                              </p:par>
                            </p:childTnLst>
                          </p:cTn>
                        </p:par>
                      </p:childTnLst>
                    </p:cTn>
                  </p:par>
                  <p:par>
                    <p:cTn id="69" fill="hold">
                      <p:stCondLst>
                        <p:cond delay="indefinite"/>
                      </p:stCondLst>
                      <p:childTnLst>
                        <p:par>
                          <p:cTn id="70" fill="hold">
                            <p:stCondLst>
                              <p:cond delay="0"/>
                            </p:stCondLst>
                            <p:childTnLst>
                              <p:par>
                                <p:cTn id="71" presetID="23" presetClass="entr" presetSubtype="288" fill="hold" nodeType="click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p:cTn id="73" dur="500" fill="hold"/>
                                        <p:tgtEl>
                                          <p:spTgt spid="23"/>
                                        </p:tgtEl>
                                        <p:attrNameLst>
                                          <p:attrName>ppt_w</p:attrName>
                                        </p:attrNameLst>
                                      </p:cBhvr>
                                      <p:tavLst>
                                        <p:tav tm="0">
                                          <p:val>
                                            <p:strVal val="4/3*#ppt_w"/>
                                          </p:val>
                                        </p:tav>
                                        <p:tav tm="100000">
                                          <p:val>
                                            <p:strVal val="#ppt_w"/>
                                          </p:val>
                                        </p:tav>
                                      </p:tavLst>
                                    </p:anim>
                                    <p:anim calcmode="lin" valueType="num">
                                      <p:cBhvr>
                                        <p:cTn id="74" dur="500" fill="hold"/>
                                        <p:tgtEl>
                                          <p:spTgt spid="23"/>
                                        </p:tgtEl>
                                        <p:attrNameLst>
                                          <p:attrName>ppt_h</p:attrName>
                                        </p:attrNameLst>
                                      </p:cBhvr>
                                      <p:tavLst>
                                        <p:tav tm="0">
                                          <p:val>
                                            <p:strVal val="4/3*#ppt_h"/>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0"/>
                                        </p:tgtEl>
                                        <p:attrNameLst>
                                          <p:attrName>style.visibility</p:attrName>
                                        </p:attrNameLst>
                                      </p:cBhvr>
                                      <p:to>
                                        <p:strVal val="visible"/>
                                      </p:to>
                                    </p:set>
                                    <p:animEffect transition="in" filter="wipe(left)">
                                      <p:cBhvr>
                                        <p:cTn id="83" dur="500"/>
                                        <p:tgtEl>
                                          <p:spTgt spid="10"/>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wipe(left)">
                                      <p:cBhvr>
                                        <p:cTn id="88" dur="500"/>
                                        <p:tgtEl>
                                          <p:spTgt spid="26"/>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1"/>
                                        </p:tgtEl>
                                        <p:attrNameLst>
                                          <p:attrName>style.visibility</p:attrName>
                                        </p:attrNameLst>
                                      </p:cBhvr>
                                      <p:to>
                                        <p:strVal val="visible"/>
                                      </p:to>
                                    </p:set>
                                    <p:animEffect transition="in" filter="wipe(left)">
                                      <p:cBhvr>
                                        <p:cTn id="93" dur="500"/>
                                        <p:tgtEl>
                                          <p:spTgt spid="11"/>
                                        </p:tgtEl>
                                      </p:cBhvr>
                                    </p:animEffect>
                                  </p:childTnLst>
                                </p:cTn>
                              </p:par>
                            </p:childTnLst>
                          </p:cTn>
                        </p:par>
                      </p:childTnLst>
                    </p:cTn>
                  </p:par>
                  <p:par>
                    <p:cTn id="94" fill="hold">
                      <p:stCondLst>
                        <p:cond delay="indefinite"/>
                      </p:stCondLst>
                      <p:childTnLst>
                        <p:par>
                          <p:cTn id="95" fill="hold">
                            <p:stCondLst>
                              <p:cond delay="0"/>
                            </p:stCondLst>
                            <p:childTnLst>
                              <p:par>
                                <p:cTn id="96" presetID="23" presetClass="entr" presetSubtype="288" fill="hold" nodeType="clickEffect">
                                  <p:stCondLst>
                                    <p:cond delay="0"/>
                                  </p:stCondLst>
                                  <p:childTnLst>
                                    <p:set>
                                      <p:cBhvr>
                                        <p:cTn id="97" dur="1" fill="hold">
                                          <p:stCondLst>
                                            <p:cond delay="0"/>
                                          </p:stCondLst>
                                        </p:cTn>
                                        <p:tgtEl>
                                          <p:spTgt spid="20"/>
                                        </p:tgtEl>
                                        <p:attrNameLst>
                                          <p:attrName>style.visibility</p:attrName>
                                        </p:attrNameLst>
                                      </p:cBhvr>
                                      <p:to>
                                        <p:strVal val="visible"/>
                                      </p:to>
                                    </p:set>
                                    <p:anim calcmode="lin" valueType="num">
                                      <p:cBhvr>
                                        <p:cTn id="98" dur="500" fill="hold"/>
                                        <p:tgtEl>
                                          <p:spTgt spid="20"/>
                                        </p:tgtEl>
                                        <p:attrNameLst>
                                          <p:attrName>ppt_w</p:attrName>
                                        </p:attrNameLst>
                                      </p:cBhvr>
                                      <p:tavLst>
                                        <p:tav tm="0">
                                          <p:val>
                                            <p:strVal val="4/3*#ppt_w"/>
                                          </p:val>
                                        </p:tav>
                                        <p:tav tm="100000">
                                          <p:val>
                                            <p:strVal val="#ppt_w"/>
                                          </p:val>
                                        </p:tav>
                                      </p:tavLst>
                                    </p:anim>
                                    <p:anim calcmode="lin" valueType="num">
                                      <p:cBhvr>
                                        <p:cTn id="99" dur="500" fill="hold"/>
                                        <p:tgtEl>
                                          <p:spTgt spid="20"/>
                                        </p:tgtEl>
                                        <p:attrNameLst>
                                          <p:attrName>ppt_h</p:attrName>
                                        </p:attrNameLst>
                                      </p:cBhvr>
                                      <p:tavLst>
                                        <p:tav tm="0">
                                          <p:val>
                                            <p:strVal val="4/3*#ppt_h"/>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23" presetClass="entr" presetSubtype="288" fill="hold" nodeType="clickEffect">
                                  <p:stCondLst>
                                    <p:cond delay="0"/>
                                  </p:stCondLst>
                                  <p:childTnLst>
                                    <p:set>
                                      <p:cBhvr>
                                        <p:cTn id="103" dur="1" fill="hold">
                                          <p:stCondLst>
                                            <p:cond delay="0"/>
                                          </p:stCondLst>
                                        </p:cTn>
                                        <p:tgtEl>
                                          <p:spTgt spid="21"/>
                                        </p:tgtEl>
                                        <p:attrNameLst>
                                          <p:attrName>style.visibility</p:attrName>
                                        </p:attrNameLst>
                                      </p:cBhvr>
                                      <p:to>
                                        <p:strVal val="visible"/>
                                      </p:to>
                                    </p:set>
                                    <p:anim calcmode="lin" valueType="num">
                                      <p:cBhvr>
                                        <p:cTn id="104" dur="500" fill="hold"/>
                                        <p:tgtEl>
                                          <p:spTgt spid="21"/>
                                        </p:tgtEl>
                                        <p:attrNameLst>
                                          <p:attrName>ppt_w</p:attrName>
                                        </p:attrNameLst>
                                      </p:cBhvr>
                                      <p:tavLst>
                                        <p:tav tm="0">
                                          <p:val>
                                            <p:strVal val="4/3*#ppt_w"/>
                                          </p:val>
                                        </p:tav>
                                        <p:tav tm="100000">
                                          <p:val>
                                            <p:strVal val="#ppt_w"/>
                                          </p:val>
                                        </p:tav>
                                      </p:tavLst>
                                    </p:anim>
                                    <p:anim calcmode="lin" valueType="num">
                                      <p:cBhvr>
                                        <p:cTn id="105" dur="500" fill="hold"/>
                                        <p:tgtEl>
                                          <p:spTgt spid="21"/>
                                        </p:tgtEl>
                                        <p:attrNameLst>
                                          <p:attrName>ppt_h</p:attrName>
                                        </p:attrNameLst>
                                      </p:cBhvr>
                                      <p:tavLst>
                                        <p:tav tm="0">
                                          <p:val>
                                            <p:strVal val="4/3*#ppt_h"/>
                                          </p:val>
                                        </p:tav>
                                        <p:tav tm="100000">
                                          <p:val>
                                            <p:strVal val="#ppt_h"/>
                                          </p:val>
                                        </p:tav>
                                      </p:tavLst>
                                    </p:anim>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2"/>
                                        </p:tgtEl>
                                        <p:attrNameLst>
                                          <p:attrName>style.visibility</p:attrName>
                                        </p:attrNameLst>
                                      </p:cBhvr>
                                      <p:to>
                                        <p:strVal val="visible"/>
                                      </p:to>
                                    </p:set>
                                    <p:animEffect transition="in" filter="wipe(left)">
                                      <p:cBhvr>
                                        <p:cTn id="110" dur="500"/>
                                        <p:tgtEl>
                                          <p:spTgt spid="12"/>
                                        </p:tgtEl>
                                      </p:cBhvr>
                                    </p:animEffect>
                                  </p:childTnLst>
                                </p:cTn>
                              </p:par>
                            </p:childTnLst>
                          </p:cTn>
                        </p:par>
                      </p:childTnLst>
                    </p:cTn>
                  </p:par>
                  <p:par>
                    <p:cTn id="111" fill="hold">
                      <p:stCondLst>
                        <p:cond delay="indefinite"/>
                      </p:stCondLst>
                      <p:childTnLst>
                        <p:par>
                          <p:cTn id="112" fill="hold">
                            <p:stCondLst>
                              <p:cond delay="0"/>
                            </p:stCondLst>
                            <p:childTnLst>
                              <p:par>
                                <p:cTn id="113" presetID="23" presetClass="entr" presetSubtype="288" fill="hold" nodeType="clickEffect">
                                  <p:stCondLst>
                                    <p:cond delay="0"/>
                                  </p:stCondLst>
                                  <p:childTnLst>
                                    <p:set>
                                      <p:cBhvr>
                                        <p:cTn id="114" dur="1" fill="hold">
                                          <p:stCondLst>
                                            <p:cond delay="0"/>
                                          </p:stCondLst>
                                        </p:cTn>
                                        <p:tgtEl>
                                          <p:spTgt spid="24"/>
                                        </p:tgtEl>
                                        <p:attrNameLst>
                                          <p:attrName>style.visibility</p:attrName>
                                        </p:attrNameLst>
                                      </p:cBhvr>
                                      <p:to>
                                        <p:strVal val="visible"/>
                                      </p:to>
                                    </p:set>
                                    <p:anim calcmode="lin" valueType="num">
                                      <p:cBhvr>
                                        <p:cTn id="115" dur="500" fill="hold"/>
                                        <p:tgtEl>
                                          <p:spTgt spid="24"/>
                                        </p:tgtEl>
                                        <p:attrNameLst>
                                          <p:attrName>ppt_w</p:attrName>
                                        </p:attrNameLst>
                                      </p:cBhvr>
                                      <p:tavLst>
                                        <p:tav tm="0">
                                          <p:val>
                                            <p:strVal val="4/3*#ppt_w"/>
                                          </p:val>
                                        </p:tav>
                                        <p:tav tm="100000">
                                          <p:val>
                                            <p:strVal val="#ppt_w"/>
                                          </p:val>
                                        </p:tav>
                                      </p:tavLst>
                                    </p:anim>
                                    <p:anim calcmode="lin" valueType="num">
                                      <p:cBhvr>
                                        <p:cTn id="116" dur="500" fill="hold"/>
                                        <p:tgtEl>
                                          <p:spTgt spid="24"/>
                                        </p:tgtEl>
                                        <p:attrNameLst>
                                          <p:attrName>ppt_h</p:attrName>
                                        </p:attrNameLst>
                                      </p:cBhvr>
                                      <p:tavLst>
                                        <p:tav tm="0">
                                          <p:val>
                                            <p:strVal val="4/3*#ppt_h"/>
                                          </p:val>
                                        </p:tav>
                                        <p:tav tm="100000">
                                          <p:val>
                                            <p:strVal val="#ppt_h"/>
                                          </p:val>
                                        </p:tav>
                                      </p:tavLst>
                                    </p:anim>
                                  </p:childTnLst>
                                </p:cTn>
                              </p:par>
                            </p:childTnLst>
                          </p:cTn>
                        </p:par>
                      </p:childTnLst>
                    </p:cTn>
                  </p:par>
                  <p:par>
                    <p:cTn id="117" fill="hold">
                      <p:stCondLst>
                        <p:cond delay="indefinite"/>
                      </p:stCondLst>
                      <p:childTnLst>
                        <p:par>
                          <p:cTn id="118" fill="hold">
                            <p:stCondLst>
                              <p:cond delay="0"/>
                            </p:stCondLst>
                            <p:childTnLst>
                              <p:par>
                                <p:cTn id="119" presetID="23" presetClass="entr" presetSubtype="288" fill="hold" nodeType="clickEffect">
                                  <p:stCondLst>
                                    <p:cond delay="0"/>
                                  </p:stCondLst>
                                  <p:childTnLst>
                                    <p:set>
                                      <p:cBhvr>
                                        <p:cTn id="120" dur="1" fill="hold">
                                          <p:stCondLst>
                                            <p:cond delay="0"/>
                                          </p:stCondLst>
                                        </p:cTn>
                                        <p:tgtEl>
                                          <p:spTgt spid="25"/>
                                        </p:tgtEl>
                                        <p:attrNameLst>
                                          <p:attrName>style.visibility</p:attrName>
                                        </p:attrNameLst>
                                      </p:cBhvr>
                                      <p:to>
                                        <p:strVal val="visible"/>
                                      </p:to>
                                    </p:set>
                                    <p:anim calcmode="lin" valueType="num">
                                      <p:cBhvr>
                                        <p:cTn id="121" dur="500" fill="hold"/>
                                        <p:tgtEl>
                                          <p:spTgt spid="25"/>
                                        </p:tgtEl>
                                        <p:attrNameLst>
                                          <p:attrName>ppt_w</p:attrName>
                                        </p:attrNameLst>
                                      </p:cBhvr>
                                      <p:tavLst>
                                        <p:tav tm="0">
                                          <p:val>
                                            <p:strVal val="4/3*#ppt_w"/>
                                          </p:val>
                                        </p:tav>
                                        <p:tav tm="100000">
                                          <p:val>
                                            <p:strVal val="#ppt_w"/>
                                          </p:val>
                                        </p:tav>
                                      </p:tavLst>
                                    </p:anim>
                                    <p:anim calcmode="lin" valueType="num">
                                      <p:cBhvr>
                                        <p:cTn id="122" dur="500" fill="hold"/>
                                        <p:tgtEl>
                                          <p:spTgt spid="25"/>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9" grpId="0" autoUpdateAnimBg="0"/>
      <p:bldP spid="164870" grpId="0" autoUpdateAnimBg="0"/>
      <p:bldP spid="8" grpId="0" autoUpdateAnimBg="0"/>
      <p:bldP spid="9" grpId="0" animBg="1"/>
      <p:bldP spid="10" grpId="0" animBg="1"/>
      <p:bldP spid="11" grpId="0" animBg="1"/>
      <p:bldP spid="12" grpId="0" animBg="1"/>
      <p:bldP spid="13" grpId="0" animBg="1"/>
      <p:bldP spid="14" grpId="0" animBg="1"/>
      <p:bldP spid="15" grpId="0" autoUpdateAnimBg="0"/>
      <p:bldP spid="1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2"/>
          <p:cNvSpPr txBox="1">
            <a:spLocks noChangeArrowheads="1"/>
          </p:cNvSpPr>
          <p:nvPr/>
        </p:nvSpPr>
        <p:spPr bwMode="auto">
          <a:xfrm>
            <a:off x="0" y="765175"/>
            <a:ext cx="7956550"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FontTx/>
              <a:buChar char="•"/>
            </a:pPr>
            <a:r>
              <a:rPr lang="zh-CN" altLang="en-US" sz="2800" b="1">
                <a:solidFill>
                  <a:srgbClr val="FF3300"/>
                </a:solidFill>
                <a:ea typeface="楷体_GB2312" pitchFamily="49" charset="-122"/>
              </a:rPr>
              <a:t>克劳修斯说法不成立，则开尔文说法也不成立</a:t>
            </a:r>
            <a:endParaRPr lang="zh-CN" altLang="en-US" sz="3600" b="1">
              <a:solidFill>
                <a:srgbClr val="FF3300"/>
              </a:solidFill>
              <a:ea typeface="楷体_GB2312" pitchFamily="49" charset="-122"/>
            </a:endParaRPr>
          </a:p>
        </p:txBody>
      </p:sp>
      <p:pic>
        <p:nvPicPr>
          <p:cNvPr id="1669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1888" y="2133600"/>
            <a:ext cx="5867400" cy="292417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6916" name="AutoShape 4"/>
          <p:cNvSpPr>
            <a:spLocks noChangeArrowheads="1"/>
          </p:cNvSpPr>
          <p:nvPr/>
        </p:nvSpPr>
        <p:spPr bwMode="auto">
          <a:xfrm>
            <a:off x="7050088" y="2209800"/>
            <a:ext cx="228600" cy="1066800"/>
          </a:xfrm>
          <a:prstGeom prst="downArrow">
            <a:avLst>
              <a:gd name="adj1" fmla="val 50000"/>
              <a:gd name="adj2" fmla="val 116667"/>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6918" name="Group 6"/>
          <p:cNvGrpSpPr>
            <a:grpSpLocks/>
          </p:cNvGrpSpPr>
          <p:nvPr/>
        </p:nvGrpSpPr>
        <p:grpSpPr bwMode="auto">
          <a:xfrm>
            <a:off x="2436813" y="2492375"/>
            <a:ext cx="727075" cy="1938338"/>
            <a:chOff x="1882" y="1570"/>
            <a:chExt cx="458" cy="1221"/>
          </a:xfrm>
        </p:grpSpPr>
        <p:sp>
          <p:nvSpPr>
            <p:cNvPr id="45079" name="AutoShape 7"/>
            <p:cNvSpPr>
              <a:spLocks noChangeArrowheads="1"/>
            </p:cNvSpPr>
            <p:nvPr/>
          </p:nvSpPr>
          <p:spPr bwMode="auto">
            <a:xfrm>
              <a:off x="2196" y="1824"/>
              <a:ext cx="144" cy="960"/>
            </a:xfrm>
            <a:prstGeom prst="upArrow">
              <a:avLst>
                <a:gd name="adj1" fmla="val 50000"/>
                <a:gd name="adj2" fmla="val 166667"/>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080" name="Object 8"/>
            <p:cNvGraphicFramePr>
              <a:graphicFrameLocks noChangeAspect="1"/>
            </p:cNvGraphicFramePr>
            <p:nvPr/>
          </p:nvGraphicFramePr>
          <p:xfrm>
            <a:off x="1927" y="1570"/>
            <a:ext cx="236" cy="268"/>
          </p:xfrm>
          <a:graphic>
            <a:graphicData uri="http://schemas.openxmlformats.org/presentationml/2006/ole">
              <mc:AlternateContent xmlns:mc="http://schemas.openxmlformats.org/markup-compatibility/2006">
                <mc:Choice xmlns:v="urn:schemas-microsoft-com:vml" Requires="v">
                  <p:oleObj spid="_x0000_s107254" name="公式" r:id="rId4" imgW="190335" imgH="215713" progId="Equation.3">
                    <p:embed/>
                  </p:oleObj>
                </mc:Choice>
                <mc:Fallback>
                  <p:oleObj name="公式" r:id="rId4" imgW="190335" imgH="21571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7" y="1570"/>
                          <a:ext cx="236" cy="268"/>
                        </a:xfrm>
                        <a:prstGeom prst="rect">
                          <a:avLst/>
                        </a:prstGeom>
                        <a:solidFill>
                          <a:srgbClr val="FF33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81" name="Object 9"/>
            <p:cNvGraphicFramePr>
              <a:graphicFrameLocks noChangeAspect="1"/>
            </p:cNvGraphicFramePr>
            <p:nvPr/>
          </p:nvGraphicFramePr>
          <p:xfrm>
            <a:off x="1882" y="2523"/>
            <a:ext cx="236" cy="268"/>
          </p:xfrm>
          <a:graphic>
            <a:graphicData uri="http://schemas.openxmlformats.org/presentationml/2006/ole">
              <mc:AlternateContent xmlns:mc="http://schemas.openxmlformats.org/markup-compatibility/2006">
                <mc:Choice xmlns:v="urn:schemas-microsoft-com:vml" Requires="v">
                  <p:oleObj spid="_x0000_s107255" name="公式" r:id="rId6" imgW="190335" imgH="215713" progId="Equation.3">
                    <p:embed/>
                  </p:oleObj>
                </mc:Choice>
                <mc:Fallback>
                  <p:oleObj name="公式" r:id="rId6" imgW="190335" imgH="21571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2" y="2523"/>
                          <a:ext cx="236" cy="268"/>
                        </a:xfrm>
                        <a:prstGeom prst="rect">
                          <a:avLst/>
                        </a:prstGeom>
                        <a:solidFill>
                          <a:srgbClr val="FF33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6922" name="Group 10"/>
          <p:cNvGrpSpPr>
            <a:grpSpLocks/>
          </p:cNvGrpSpPr>
          <p:nvPr/>
        </p:nvGrpSpPr>
        <p:grpSpPr bwMode="auto">
          <a:xfrm>
            <a:off x="4078288" y="3733800"/>
            <a:ext cx="749300" cy="914400"/>
            <a:chOff x="2916" y="2352"/>
            <a:chExt cx="472" cy="576"/>
          </a:xfrm>
        </p:grpSpPr>
        <p:sp>
          <p:nvSpPr>
            <p:cNvPr id="45077" name="AutoShape 11"/>
            <p:cNvSpPr>
              <a:spLocks noChangeArrowheads="1"/>
            </p:cNvSpPr>
            <p:nvPr/>
          </p:nvSpPr>
          <p:spPr bwMode="auto">
            <a:xfrm>
              <a:off x="2916" y="2352"/>
              <a:ext cx="144" cy="576"/>
            </a:xfrm>
            <a:prstGeom prst="downArrow">
              <a:avLst>
                <a:gd name="adj1" fmla="val 50000"/>
                <a:gd name="adj2" fmla="val 100000"/>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078" name="Object 12"/>
            <p:cNvGraphicFramePr>
              <a:graphicFrameLocks noChangeAspect="1"/>
            </p:cNvGraphicFramePr>
            <p:nvPr/>
          </p:nvGraphicFramePr>
          <p:xfrm>
            <a:off x="3152" y="2523"/>
            <a:ext cx="236" cy="268"/>
          </p:xfrm>
          <a:graphic>
            <a:graphicData uri="http://schemas.openxmlformats.org/presentationml/2006/ole">
              <mc:AlternateContent xmlns:mc="http://schemas.openxmlformats.org/markup-compatibility/2006">
                <mc:Choice xmlns:v="urn:schemas-microsoft-com:vml" Requires="v">
                  <p:oleObj spid="_x0000_s107256" name="公式" r:id="rId7" imgW="190335" imgH="215713" progId="Equation.3">
                    <p:embed/>
                  </p:oleObj>
                </mc:Choice>
                <mc:Fallback>
                  <p:oleObj name="公式" r:id="rId7" imgW="190335" imgH="21571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 y="2523"/>
                          <a:ext cx="236" cy="268"/>
                        </a:xfrm>
                        <a:prstGeom prst="rect">
                          <a:avLst/>
                        </a:prstGeom>
                        <a:solidFill>
                          <a:srgbClr val="FF33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6925" name="Group 13"/>
          <p:cNvGrpSpPr>
            <a:grpSpLocks/>
          </p:cNvGrpSpPr>
          <p:nvPr/>
        </p:nvGrpSpPr>
        <p:grpSpPr bwMode="auto">
          <a:xfrm>
            <a:off x="4154488" y="2209800"/>
            <a:ext cx="876300" cy="1219200"/>
            <a:chOff x="2964" y="1392"/>
            <a:chExt cx="552" cy="768"/>
          </a:xfrm>
        </p:grpSpPr>
        <p:sp>
          <p:nvSpPr>
            <p:cNvPr id="45075" name="AutoShape 14"/>
            <p:cNvSpPr>
              <a:spLocks noChangeArrowheads="1"/>
            </p:cNvSpPr>
            <p:nvPr/>
          </p:nvSpPr>
          <p:spPr bwMode="auto">
            <a:xfrm>
              <a:off x="2964" y="1392"/>
              <a:ext cx="240" cy="768"/>
            </a:xfrm>
            <a:prstGeom prst="downArrow">
              <a:avLst>
                <a:gd name="adj1" fmla="val 50000"/>
                <a:gd name="adj2" fmla="val 80000"/>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076" name="Object 15"/>
            <p:cNvGraphicFramePr>
              <a:graphicFrameLocks noChangeAspect="1"/>
            </p:cNvGraphicFramePr>
            <p:nvPr/>
          </p:nvGraphicFramePr>
          <p:xfrm>
            <a:off x="3296" y="1570"/>
            <a:ext cx="220" cy="268"/>
          </p:xfrm>
          <a:graphic>
            <a:graphicData uri="http://schemas.openxmlformats.org/presentationml/2006/ole">
              <mc:AlternateContent xmlns:mc="http://schemas.openxmlformats.org/markup-compatibility/2006">
                <mc:Choice xmlns:v="urn:schemas-microsoft-com:vml" Requires="v">
                  <p:oleObj spid="_x0000_s107257" name="公式" r:id="rId8" imgW="177569" imgH="215619" progId="Equation.3">
                    <p:embed/>
                  </p:oleObj>
                </mc:Choice>
                <mc:Fallback>
                  <p:oleObj name="公式" r:id="rId8" imgW="177569" imgH="215619"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96" y="1570"/>
                          <a:ext cx="220" cy="268"/>
                        </a:xfrm>
                        <a:prstGeom prst="rect">
                          <a:avLst/>
                        </a:prstGeom>
                        <a:solidFill>
                          <a:srgbClr val="FF33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6928" name="Group 16"/>
          <p:cNvGrpSpPr>
            <a:grpSpLocks/>
          </p:cNvGrpSpPr>
          <p:nvPr/>
        </p:nvGrpSpPr>
        <p:grpSpPr bwMode="auto">
          <a:xfrm>
            <a:off x="4687888" y="3429000"/>
            <a:ext cx="1684337" cy="712788"/>
            <a:chOff x="3300" y="2160"/>
            <a:chExt cx="1061" cy="449"/>
          </a:xfrm>
        </p:grpSpPr>
        <p:sp>
          <p:nvSpPr>
            <p:cNvPr id="45073" name="AutoShape 17"/>
            <p:cNvSpPr>
              <a:spLocks noChangeArrowheads="1"/>
            </p:cNvSpPr>
            <p:nvPr/>
          </p:nvSpPr>
          <p:spPr bwMode="auto">
            <a:xfrm>
              <a:off x="3300" y="2160"/>
              <a:ext cx="480" cy="144"/>
            </a:xfrm>
            <a:prstGeom prst="rightArrow">
              <a:avLst>
                <a:gd name="adj1" fmla="val 50000"/>
                <a:gd name="adj2" fmla="val 83333"/>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074" name="Object 18"/>
            <p:cNvGraphicFramePr>
              <a:graphicFrameLocks noChangeAspect="1"/>
            </p:cNvGraphicFramePr>
            <p:nvPr/>
          </p:nvGraphicFramePr>
          <p:xfrm>
            <a:off x="3449" y="2341"/>
            <a:ext cx="912" cy="268"/>
          </p:xfrm>
          <a:graphic>
            <a:graphicData uri="http://schemas.openxmlformats.org/presentationml/2006/ole">
              <mc:AlternateContent xmlns:mc="http://schemas.openxmlformats.org/markup-compatibility/2006">
                <mc:Choice xmlns:v="urn:schemas-microsoft-com:vml" Requires="v">
                  <p:oleObj spid="_x0000_s107258" name="公式" r:id="rId10" imgW="736280" imgH="215806" progId="Equation.3">
                    <p:embed/>
                  </p:oleObj>
                </mc:Choice>
                <mc:Fallback>
                  <p:oleObj name="公式" r:id="rId10" imgW="736280" imgH="215806"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49" y="2341"/>
                          <a:ext cx="912" cy="268"/>
                        </a:xfrm>
                        <a:prstGeom prst="rect">
                          <a:avLst/>
                        </a:prstGeom>
                        <a:solidFill>
                          <a:srgbClr val="FF33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66931" name="Object 19"/>
          <p:cNvGraphicFramePr>
            <a:graphicFrameLocks noChangeAspect="1"/>
          </p:cNvGraphicFramePr>
          <p:nvPr/>
        </p:nvGraphicFramePr>
        <p:xfrm>
          <a:off x="7418388" y="2565400"/>
          <a:ext cx="349250" cy="425450"/>
        </p:xfrm>
        <a:graphic>
          <a:graphicData uri="http://schemas.openxmlformats.org/presentationml/2006/ole">
            <mc:AlternateContent xmlns:mc="http://schemas.openxmlformats.org/markup-compatibility/2006">
              <mc:Choice xmlns:v="urn:schemas-microsoft-com:vml" Requires="v">
                <p:oleObj spid="_x0000_s107259" name="公式" r:id="rId12" imgW="177569" imgH="215619" progId="Equation.3">
                  <p:embed/>
                </p:oleObj>
              </mc:Choice>
              <mc:Fallback>
                <p:oleObj name="公式" r:id="rId12" imgW="177569" imgH="215619"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18388" y="2565400"/>
                        <a:ext cx="349250" cy="425450"/>
                      </a:xfrm>
                      <a:prstGeom prst="rect">
                        <a:avLst/>
                      </a:prstGeom>
                      <a:solidFill>
                        <a:srgbClr val="FF33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6932" name="Group 20"/>
          <p:cNvGrpSpPr>
            <a:grpSpLocks/>
          </p:cNvGrpSpPr>
          <p:nvPr/>
        </p:nvGrpSpPr>
        <p:grpSpPr bwMode="auto">
          <a:xfrm>
            <a:off x="7135813" y="3500438"/>
            <a:ext cx="1684337" cy="712787"/>
            <a:chOff x="3300" y="2160"/>
            <a:chExt cx="1061" cy="449"/>
          </a:xfrm>
        </p:grpSpPr>
        <p:sp>
          <p:nvSpPr>
            <p:cNvPr id="45071" name="AutoShape 21"/>
            <p:cNvSpPr>
              <a:spLocks noChangeArrowheads="1"/>
            </p:cNvSpPr>
            <p:nvPr/>
          </p:nvSpPr>
          <p:spPr bwMode="auto">
            <a:xfrm>
              <a:off x="3300" y="2160"/>
              <a:ext cx="480" cy="144"/>
            </a:xfrm>
            <a:prstGeom prst="rightArrow">
              <a:avLst>
                <a:gd name="adj1" fmla="val 50000"/>
                <a:gd name="adj2" fmla="val 83333"/>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5072" name="Object 22"/>
            <p:cNvGraphicFramePr>
              <a:graphicFrameLocks noChangeAspect="1"/>
            </p:cNvGraphicFramePr>
            <p:nvPr/>
          </p:nvGraphicFramePr>
          <p:xfrm>
            <a:off x="3448" y="2341"/>
            <a:ext cx="913" cy="268"/>
          </p:xfrm>
          <a:graphic>
            <a:graphicData uri="http://schemas.openxmlformats.org/presentationml/2006/ole">
              <mc:AlternateContent xmlns:mc="http://schemas.openxmlformats.org/markup-compatibility/2006">
                <mc:Choice xmlns:v="urn:schemas-microsoft-com:vml" Requires="v">
                  <p:oleObj spid="_x0000_s107260" name="公式" r:id="rId14" imgW="736280" imgH="215806" progId="Equation.3">
                    <p:embed/>
                  </p:oleObj>
                </mc:Choice>
                <mc:Fallback>
                  <p:oleObj name="公式" r:id="rId14" imgW="736280" imgH="215806"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48" y="2341"/>
                          <a:ext cx="913" cy="268"/>
                        </a:xfrm>
                        <a:prstGeom prst="rect">
                          <a:avLst/>
                        </a:prstGeom>
                        <a:solidFill>
                          <a:srgbClr val="FF33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6935" name="Text Box 23"/>
          <p:cNvSpPr txBox="1">
            <a:spLocks noChangeArrowheads="1"/>
          </p:cNvSpPr>
          <p:nvPr/>
        </p:nvSpPr>
        <p:spPr bwMode="auto">
          <a:xfrm>
            <a:off x="107950" y="4365625"/>
            <a:ext cx="2019300" cy="641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3600" b="1">
                <a:solidFill>
                  <a:srgbClr val="FF3300"/>
                </a:solidFill>
                <a:ea typeface="楷体_GB2312" pitchFamily="49" charset="-122"/>
              </a:rPr>
              <a:t>低温热源</a:t>
            </a:r>
          </a:p>
        </p:txBody>
      </p:sp>
      <p:sp>
        <p:nvSpPr>
          <p:cNvPr id="166936" name="Text Box 24"/>
          <p:cNvSpPr txBox="1">
            <a:spLocks noChangeArrowheads="1"/>
          </p:cNvSpPr>
          <p:nvPr/>
        </p:nvSpPr>
        <p:spPr bwMode="auto">
          <a:xfrm>
            <a:off x="34925" y="2066925"/>
            <a:ext cx="2160588" cy="641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3600" b="1">
                <a:solidFill>
                  <a:srgbClr val="FF3300"/>
                </a:solidFill>
                <a:ea typeface="楷体_GB2312" pitchFamily="49" charset="-122"/>
              </a:rPr>
              <a:t>高温热源</a:t>
            </a:r>
          </a:p>
        </p:txBody>
      </p:sp>
      <p:sp>
        <p:nvSpPr>
          <p:cNvPr id="166937" name="Text Box 25"/>
          <p:cNvSpPr txBox="1">
            <a:spLocks noChangeArrowheads="1"/>
          </p:cNvSpPr>
          <p:nvPr/>
        </p:nvSpPr>
        <p:spPr bwMode="auto">
          <a:xfrm>
            <a:off x="250825" y="5373688"/>
            <a:ext cx="8066088" cy="10795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3600" b="1">
                <a:solidFill>
                  <a:srgbClr val="FF3300"/>
                </a:solidFill>
                <a:ea typeface="楷体_GB2312" pitchFamily="49" charset="-122"/>
              </a:rPr>
              <a:t>总的效果：</a:t>
            </a:r>
            <a:r>
              <a:rPr lang="zh-CN" altLang="en-US" sz="2400" b="1">
                <a:solidFill>
                  <a:srgbClr val="FF3300"/>
                </a:solidFill>
                <a:ea typeface="楷体_GB2312" pitchFamily="49" charset="-122"/>
              </a:rPr>
              <a:t>低温热源温度没有变化。</a:t>
            </a:r>
          </a:p>
          <a:p>
            <a:pPr algn="l" eaLnBrk="1" hangingPunct="1">
              <a:spcBef>
                <a:spcPct val="20000"/>
              </a:spcBef>
            </a:pPr>
            <a:r>
              <a:rPr lang="zh-CN" altLang="en-US" sz="2400" b="1">
                <a:solidFill>
                  <a:srgbClr val="FF3300"/>
                </a:solidFill>
                <a:ea typeface="楷体_GB2312" pitchFamily="49" charset="-122"/>
              </a:rPr>
              <a:t>                               从高温热源吸热全部转化成了有用的功</a:t>
            </a:r>
          </a:p>
        </p:txBody>
      </p:sp>
      <p:sp>
        <p:nvSpPr>
          <p:cNvPr id="2" name="文本框 1"/>
          <p:cNvSpPr txBox="1"/>
          <p:nvPr/>
        </p:nvSpPr>
        <p:spPr>
          <a:xfrm>
            <a:off x="2502155" y="2012208"/>
            <a:ext cx="1210588" cy="400110"/>
          </a:xfrm>
          <a:prstGeom prst="rect">
            <a:avLst/>
          </a:prstGeom>
          <a:noFill/>
        </p:spPr>
        <p:txBody>
          <a:bodyPr wrap="none" rtlCol="0">
            <a:spAutoFit/>
          </a:bodyPr>
          <a:lstStyle/>
          <a:p>
            <a:r>
              <a:rPr lang="zh-CN" altLang="en-US">
                <a:solidFill>
                  <a:srgbClr val="FF0000"/>
                </a:solidFill>
              </a:rPr>
              <a:t>高温热源</a:t>
            </a:r>
          </a:p>
        </p:txBody>
      </p:sp>
      <p:sp>
        <p:nvSpPr>
          <p:cNvPr id="26" name="文本框 25"/>
          <p:cNvSpPr txBox="1"/>
          <p:nvPr/>
        </p:nvSpPr>
        <p:spPr>
          <a:xfrm>
            <a:off x="6141582" y="2012208"/>
            <a:ext cx="1210588" cy="400110"/>
          </a:xfrm>
          <a:prstGeom prst="rect">
            <a:avLst/>
          </a:prstGeom>
          <a:noFill/>
        </p:spPr>
        <p:txBody>
          <a:bodyPr wrap="none" rtlCol="0">
            <a:spAutoFit/>
          </a:bodyPr>
          <a:lstStyle/>
          <a:p>
            <a:r>
              <a:rPr lang="zh-CN" altLang="en-US">
                <a:solidFill>
                  <a:srgbClr val="FF0000"/>
                </a:solidFill>
              </a:rPr>
              <a:t>高温热源</a:t>
            </a:r>
          </a:p>
        </p:txBody>
      </p:sp>
      <p:sp>
        <p:nvSpPr>
          <p:cNvPr id="27" name="文本框 26"/>
          <p:cNvSpPr txBox="1"/>
          <p:nvPr/>
        </p:nvSpPr>
        <p:spPr>
          <a:xfrm>
            <a:off x="2411759" y="4397042"/>
            <a:ext cx="1210589" cy="400110"/>
          </a:xfrm>
          <a:prstGeom prst="rect">
            <a:avLst/>
          </a:prstGeom>
          <a:noFill/>
        </p:spPr>
        <p:txBody>
          <a:bodyPr wrap="none" rtlCol="0">
            <a:spAutoFit/>
          </a:bodyPr>
          <a:lstStyle/>
          <a:p>
            <a:r>
              <a:rPr lang="zh-CN" altLang="en-US">
                <a:solidFill>
                  <a:srgbClr val="FF0000"/>
                </a:solidFill>
              </a:rPr>
              <a:t>低温热源</a:t>
            </a:r>
          </a:p>
        </p:txBody>
      </p:sp>
      <p:sp>
        <p:nvSpPr>
          <p:cNvPr id="28" name="文本框 27"/>
          <p:cNvSpPr txBox="1"/>
          <p:nvPr/>
        </p:nvSpPr>
        <p:spPr>
          <a:xfrm>
            <a:off x="6051186" y="4397042"/>
            <a:ext cx="1210589" cy="400110"/>
          </a:xfrm>
          <a:prstGeom prst="rect">
            <a:avLst/>
          </a:prstGeom>
          <a:noFill/>
        </p:spPr>
        <p:txBody>
          <a:bodyPr wrap="none" rtlCol="0">
            <a:spAutoFit/>
          </a:bodyPr>
          <a:lstStyle/>
          <a:p>
            <a:r>
              <a:rPr lang="zh-CN" altLang="en-US">
                <a:solidFill>
                  <a:srgbClr val="FF0000"/>
                </a:solidFill>
              </a:rPr>
              <a:t>低温热源</a:t>
            </a:r>
          </a:p>
        </p:txBody>
      </p:sp>
    </p:spTree>
    <p:extLst>
      <p:ext uri="{BB962C8B-B14F-4D97-AF65-F5344CB8AC3E}">
        <p14:creationId xmlns:p14="http://schemas.microsoft.com/office/powerpoint/2010/main" val="255707700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14"/>
                                        </p:tgtEl>
                                        <p:attrNameLst>
                                          <p:attrName>style.visibility</p:attrName>
                                        </p:attrNameLst>
                                      </p:cBhvr>
                                      <p:to>
                                        <p:strVal val="visible"/>
                                      </p:to>
                                    </p:set>
                                    <p:animEffect transition="in" filter="wipe(left)">
                                      <p:cBhvr>
                                        <p:cTn id="7" dur="500"/>
                                        <p:tgtEl>
                                          <p:spTgt spid="1669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6915"/>
                                        </p:tgtEl>
                                        <p:attrNameLst>
                                          <p:attrName>style.visibility</p:attrName>
                                        </p:attrNameLst>
                                      </p:cBhvr>
                                      <p:to>
                                        <p:strVal val="visible"/>
                                      </p:to>
                                    </p:set>
                                    <p:animEffect transition="in" filter="blinds(horizontal)">
                                      <p:cBhvr>
                                        <p:cTn id="12" dur="500"/>
                                        <p:tgtEl>
                                          <p:spTgt spid="1669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6935"/>
                                        </p:tgtEl>
                                        <p:attrNameLst>
                                          <p:attrName>style.visibility</p:attrName>
                                        </p:attrNameLst>
                                      </p:cBhvr>
                                      <p:to>
                                        <p:strVal val="visible"/>
                                      </p:to>
                                    </p:set>
                                    <p:animEffect transition="in" filter="wipe(down)">
                                      <p:cBhvr>
                                        <p:cTn id="17" dur="500"/>
                                        <p:tgtEl>
                                          <p:spTgt spid="166935"/>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66936"/>
                                        </p:tgtEl>
                                        <p:attrNameLst>
                                          <p:attrName>style.visibility</p:attrName>
                                        </p:attrNameLst>
                                      </p:cBhvr>
                                      <p:to>
                                        <p:strVal val="visible"/>
                                      </p:to>
                                    </p:set>
                                    <p:animEffect transition="in" filter="wipe(down)">
                                      <p:cBhvr>
                                        <p:cTn id="20" dur="500"/>
                                        <p:tgtEl>
                                          <p:spTgt spid="16693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nodeType="clickEffect">
                                  <p:stCondLst>
                                    <p:cond delay="0"/>
                                  </p:stCondLst>
                                  <p:childTnLst>
                                    <p:set>
                                      <p:cBhvr>
                                        <p:cTn id="24" dur="1" fill="hold">
                                          <p:stCondLst>
                                            <p:cond delay="0"/>
                                          </p:stCondLst>
                                        </p:cTn>
                                        <p:tgtEl>
                                          <p:spTgt spid="166918"/>
                                        </p:tgtEl>
                                        <p:attrNameLst>
                                          <p:attrName>style.visibility</p:attrName>
                                        </p:attrNameLst>
                                      </p:cBhvr>
                                      <p:to>
                                        <p:strVal val="visible"/>
                                      </p:to>
                                    </p:set>
                                    <p:animEffect transition="in" filter="wipe(down)">
                                      <p:cBhvr>
                                        <p:cTn id="25" dur="500"/>
                                        <p:tgtEl>
                                          <p:spTgt spid="16691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66925"/>
                                        </p:tgtEl>
                                        <p:attrNameLst>
                                          <p:attrName>style.visibility</p:attrName>
                                        </p:attrNameLst>
                                      </p:cBhvr>
                                      <p:to>
                                        <p:strVal val="visible"/>
                                      </p:to>
                                    </p:set>
                                    <p:animEffect transition="in" filter="wipe(down)">
                                      <p:cBhvr>
                                        <p:cTn id="40" dur="500"/>
                                        <p:tgtEl>
                                          <p:spTgt spid="16692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nodeType="clickEffect">
                                  <p:stCondLst>
                                    <p:cond delay="0"/>
                                  </p:stCondLst>
                                  <p:childTnLst>
                                    <p:set>
                                      <p:cBhvr>
                                        <p:cTn id="44" dur="1" fill="hold">
                                          <p:stCondLst>
                                            <p:cond delay="0"/>
                                          </p:stCondLst>
                                        </p:cTn>
                                        <p:tgtEl>
                                          <p:spTgt spid="166922"/>
                                        </p:tgtEl>
                                        <p:attrNameLst>
                                          <p:attrName>style.visibility</p:attrName>
                                        </p:attrNameLst>
                                      </p:cBhvr>
                                      <p:to>
                                        <p:strVal val="visible"/>
                                      </p:to>
                                    </p:set>
                                    <p:animEffect transition="in" filter="wipe(down)">
                                      <p:cBhvr>
                                        <p:cTn id="45" dur="500"/>
                                        <p:tgtEl>
                                          <p:spTgt spid="16692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nodeType="clickEffect">
                                  <p:stCondLst>
                                    <p:cond delay="0"/>
                                  </p:stCondLst>
                                  <p:childTnLst>
                                    <p:set>
                                      <p:cBhvr>
                                        <p:cTn id="49" dur="1" fill="hold">
                                          <p:stCondLst>
                                            <p:cond delay="0"/>
                                          </p:stCondLst>
                                        </p:cTn>
                                        <p:tgtEl>
                                          <p:spTgt spid="166928"/>
                                        </p:tgtEl>
                                        <p:attrNameLst>
                                          <p:attrName>style.visibility</p:attrName>
                                        </p:attrNameLst>
                                      </p:cBhvr>
                                      <p:to>
                                        <p:strVal val="visible"/>
                                      </p:to>
                                    </p:set>
                                    <p:animEffect transition="in" filter="wipe(down)">
                                      <p:cBhvr>
                                        <p:cTn id="50" dur="500"/>
                                        <p:tgtEl>
                                          <p:spTgt spid="16692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66916"/>
                                        </p:tgtEl>
                                        <p:attrNameLst>
                                          <p:attrName>style.visibility</p:attrName>
                                        </p:attrNameLst>
                                      </p:cBhvr>
                                      <p:to>
                                        <p:strVal val="visible"/>
                                      </p:to>
                                    </p:set>
                                    <p:animEffect transition="in" filter="blinds(horizontal)">
                                      <p:cBhvr>
                                        <p:cTn id="55" dur="500"/>
                                        <p:tgtEl>
                                          <p:spTgt spid="16691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3" presetClass="entr" presetSubtype="288" fill="hold" nodeType="clickEffect">
                                  <p:stCondLst>
                                    <p:cond delay="0"/>
                                  </p:stCondLst>
                                  <p:childTnLst>
                                    <p:set>
                                      <p:cBhvr>
                                        <p:cTn id="59" dur="1" fill="hold">
                                          <p:stCondLst>
                                            <p:cond delay="0"/>
                                          </p:stCondLst>
                                        </p:cTn>
                                        <p:tgtEl>
                                          <p:spTgt spid="166931"/>
                                        </p:tgtEl>
                                        <p:attrNameLst>
                                          <p:attrName>style.visibility</p:attrName>
                                        </p:attrNameLst>
                                      </p:cBhvr>
                                      <p:to>
                                        <p:strVal val="visible"/>
                                      </p:to>
                                    </p:set>
                                    <p:anim calcmode="lin" valueType="num">
                                      <p:cBhvr>
                                        <p:cTn id="60" dur="500" fill="hold"/>
                                        <p:tgtEl>
                                          <p:spTgt spid="166931"/>
                                        </p:tgtEl>
                                        <p:attrNameLst>
                                          <p:attrName>ppt_w</p:attrName>
                                        </p:attrNameLst>
                                      </p:cBhvr>
                                      <p:tavLst>
                                        <p:tav tm="0">
                                          <p:val>
                                            <p:strVal val="4/3*#ppt_w"/>
                                          </p:val>
                                        </p:tav>
                                        <p:tav tm="100000">
                                          <p:val>
                                            <p:strVal val="#ppt_w"/>
                                          </p:val>
                                        </p:tav>
                                      </p:tavLst>
                                    </p:anim>
                                    <p:anim calcmode="lin" valueType="num">
                                      <p:cBhvr>
                                        <p:cTn id="61" dur="500" fill="hold"/>
                                        <p:tgtEl>
                                          <p:spTgt spid="166931"/>
                                        </p:tgtEl>
                                        <p:attrNameLst>
                                          <p:attrName>ppt_h</p:attrName>
                                        </p:attrNameLst>
                                      </p:cBhvr>
                                      <p:tavLst>
                                        <p:tav tm="0">
                                          <p:val>
                                            <p:strVal val="4/3*#ppt_h"/>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nodeType="clickEffect">
                                  <p:stCondLst>
                                    <p:cond delay="0"/>
                                  </p:stCondLst>
                                  <p:childTnLst>
                                    <p:set>
                                      <p:cBhvr>
                                        <p:cTn id="65" dur="1" fill="hold">
                                          <p:stCondLst>
                                            <p:cond delay="0"/>
                                          </p:stCondLst>
                                        </p:cTn>
                                        <p:tgtEl>
                                          <p:spTgt spid="166932"/>
                                        </p:tgtEl>
                                        <p:attrNameLst>
                                          <p:attrName>style.visibility</p:attrName>
                                        </p:attrNameLst>
                                      </p:cBhvr>
                                      <p:to>
                                        <p:strVal val="visible"/>
                                      </p:to>
                                    </p:set>
                                    <p:animEffect transition="in" filter="wipe(down)">
                                      <p:cBhvr>
                                        <p:cTn id="66" dur="500"/>
                                        <p:tgtEl>
                                          <p:spTgt spid="16693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166937"/>
                                        </p:tgtEl>
                                        <p:attrNameLst>
                                          <p:attrName>style.visibility</p:attrName>
                                        </p:attrNameLst>
                                      </p:cBhvr>
                                      <p:to>
                                        <p:strVal val="visible"/>
                                      </p:to>
                                    </p:set>
                                    <p:animEffect transition="in" filter="wipe(down)">
                                      <p:cBhvr>
                                        <p:cTn id="71" dur="500"/>
                                        <p:tgtEl>
                                          <p:spTgt spid="166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autoUpdateAnimBg="0"/>
      <p:bldP spid="166916" grpId="0" animBg="1"/>
      <p:bldP spid="166935" grpId="0"/>
      <p:bldP spid="166936" grpId="0"/>
      <p:bldP spid="166937" grpId="0"/>
      <p:bldP spid="2" grpId="0"/>
      <p:bldP spid="26" grpId="0"/>
      <p:bldP spid="27" grpId="0"/>
      <p:bldP spid="2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ext Box 2"/>
          <p:cNvSpPr txBox="1">
            <a:spLocks noChangeArrowheads="1"/>
          </p:cNvSpPr>
          <p:nvPr/>
        </p:nvSpPr>
        <p:spPr bwMode="auto">
          <a:xfrm>
            <a:off x="503238" y="0"/>
            <a:ext cx="5005387"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a:solidFill>
                  <a:srgbClr val="3333FF"/>
                </a:solidFill>
                <a:ea typeface="楷体_GB2312" pitchFamily="49" charset="-122"/>
              </a:rPr>
              <a:t>3</a:t>
            </a:r>
            <a:r>
              <a:rPr lang="zh-CN" altLang="en-US" sz="2800" b="1">
                <a:solidFill>
                  <a:srgbClr val="3333FF"/>
                </a:solidFill>
                <a:ea typeface="楷体_GB2312" pitchFamily="49" charset="-122"/>
              </a:rPr>
              <a:t>、关于热力学第二定律的说明</a:t>
            </a:r>
            <a:endParaRPr lang="zh-CN" altLang="en-US" sz="3600" b="1">
              <a:solidFill>
                <a:srgbClr val="FF3300"/>
              </a:solidFill>
              <a:ea typeface="楷体_GB2312" pitchFamily="49" charset="-122"/>
            </a:endParaRPr>
          </a:p>
        </p:txBody>
      </p:sp>
      <p:sp>
        <p:nvSpPr>
          <p:cNvPr id="167939" name="Text Box 3"/>
          <p:cNvSpPr txBox="1">
            <a:spLocks noChangeArrowheads="1"/>
          </p:cNvSpPr>
          <p:nvPr/>
        </p:nvSpPr>
        <p:spPr bwMode="auto">
          <a:xfrm>
            <a:off x="593725" y="838200"/>
            <a:ext cx="8245475" cy="61499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FontTx/>
              <a:buChar char="•"/>
            </a:pPr>
            <a:r>
              <a:rPr lang="zh-CN" altLang="en-US" sz="2400" b="1"/>
              <a:t>热力学第一定律是能量守恒定律。热力学第二定律则指出，符合第一定律的过程并不一定都可以实现的，这两个定律是互相独立的，它们一起构成了热力学理论的基础。</a:t>
            </a:r>
          </a:p>
          <a:p>
            <a:pPr algn="l" eaLnBrk="1" hangingPunct="1">
              <a:buFontTx/>
              <a:buChar char="•"/>
            </a:pPr>
            <a:endParaRPr lang="zh-CN" altLang="en-US" sz="2400" b="1"/>
          </a:p>
          <a:p>
            <a:pPr algn="l" eaLnBrk="1" hangingPunct="1">
              <a:buFontTx/>
              <a:buChar char="•"/>
            </a:pPr>
            <a:endParaRPr lang="zh-CN" altLang="en-US" sz="2400" b="1"/>
          </a:p>
          <a:p>
            <a:pPr algn="l" eaLnBrk="1" hangingPunct="1">
              <a:buFontTx/>
              <a:buChar char="•"/>
            </a:pPr>
            <a:r>
              <a:rPr lang="zh-CN" altLang="en-US" sz="2400" b="1"/>
              <a:t>事实上，凡是关于自发过程是不可逆的表述都可以作为第二定律的一种表述。每一种表述都反映了同一客观规律的某一方面，但是其实质是一样的。</a:t>
            </a:r>
          </a:p>
          <a:p>
            <a:pPr algn="l" eaLnBrk="1" hangingPunct="1">
              <a:buFontTx/>
              <a:buChar char="•"/>
            </a:pPr>
            <a:endParaRPr lang="zh-CN" altLang="en-US" sz="2400" b="1"/>
          </a:p>
          <a:p>
            <a:pPr algn="l" eaLnBrk="1" hangingPunct="1">
              <a:buFontTx/>
              <a:buChar char="•"/>
            </a:pPr>
            <a:r>
              <a:rPr lang="zh-CN" altLang="en-US" sz="2400" b="1"/>
              <a:t>热力学第二定律可以概括为：一切与热现象有关的实际自发过程都是不可逆的。</a:t>
            </a:r>
          </a:p>
          <a:p>
            <a:pPr algn="l" eaLnBrk="1" hangingPunct="1">
              <a:buFontTx/>
              <a:buChar char="•"/>
            </a:pPr>
            <a:endParaRPr lang="zh-CN" altLang="en-US" sz="2400" b="1"/>
          </a:p>
          <a:p>
            <a:pPr algn="l" eaLnBrk="1" hangingPunct="1">
              <a:spcBef>
                <a:spcPct val="20000"/>
              </a:spcBef>
            </a:pPr>
            <a:r>
              <a:rPr lang="zh-CN" altLang="en-US" sz="2400" b="1">
                <a:solidFill>
                  <a:srgbClr val="0066FF"/>
                </a:solidFill>
                <a:ea typeface="楷体_GB2312" pitchFamily="49" charset="-122"/>
              </a:rPr>
              <a:t>热力学第二定律的</a:t>
            </a:r>
            <a:r>
              <a:rPr lang="zh-CN" altLang="en-US" sz="2400" b="1" u="sng">
                <a:solidFill>
                  <a:srgbClr val="0066FF"/>
                </a:solidFill>
                <a:ea typeface="楷体_GB2312" pitchFamily="49" charset="-122"/>
              </a:rPr>
              <a:t>适用范围</a:t>
            </a:r>
            <a:endParaRPr lang="zh-CN" altLang="en-US" sz="2400" b="1">
              <a:ea typeface="楷体_GB2312" pitchFamily="49" charset="-122"/>
            </a:endParaRPr>
          </a:p>
          <a:p>
            <a:pPr algn="l" eaLnBrk="1" hangingPunct="1">
              <a:spcBef>
                <a:spcPct val="20000"/>
              </a:spcBef>
            </a:pPr>
            <a:r>
              <a:rPr lang="zh-CN" altLang="en-US" sz="2400" b="1">
                <a:ea typeface="楷体_GB2312" pitchFamily="49" charset="-122"/>
              </a:rPr>
              <a:t>         少数粒子组成的系统，不适用。只适用于封闭的系统，不适用于开放的宇宙。</a:t>
            </a:r>
            <a:endParaRPr lang="zh-CN" altLang="en-US" sz="2400" b="1"/>
          </a:p>
          <a:p>
            <a:pPr algn="l" eaLnBrk="1" hangingPunct="1"/>
            <a:endParaRPr lang="en-US" altLang="zh-CN" sz="2400" b="1"/>
          </a:p>
        </p:txBody>
      </p:sp>
    </p:spTree>
    <p:extLst>
      <p:ext uri="{BB962C8B-B14F-4D97-AF65-F5344CB8AC3E}">
        <p14:creationId xmlns:p14="http://schemas.microsoft.com/office/powerpoint/2010/main" val="53780126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8">
                                            <p:txEl>
                                              <p:pRg st="0" end="0"/>
                                            </p:txEl>
                                          </p:spTgt>
                                        </p:tgtEl>
                                        <p:attrNameLst>
                                          <p:attrName>style.visibility</p:attrName>
                                        </p:attrNameLst>
                                      </p:cBhvr>
                                      <p:to>
                                        <p:strVal val="visible"/>
                                      </p:to>
                                    </p:set>
                                    <p:animEffect transition="in" filter="wipe(left)">
                                      <p:cBhvr>
                                        <p:cTn id="7" dur="500"/>
                                        <p:tgtEl>
                                          <p:spTgt spid="1679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7939">
                                            <p:txEl>
                                              <p:pRg st="0" end="0"/>
                                            </p:txEl>
                                          </p:spTgt>
                                        </p:tgtEl>
                                        <p:attrNameLst>
                                          <p:attrName>style.visibility</p:attrName>
                                        </p:attrNameLst>
                                      </p:cBhvr>
                                      <p:to>
                                        <p:strVal val="visible"/>
                                      </p:to>
                                    </p:set>
                                    <p:animEffect transition="in" filter="wipe(left)">
                                      <p:cBhvr>
                                        <p:cTn id="12" dur="500"/>
                                        <p:tgtEl>
                                          <p:spTgt spid="16793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7939">
                                            <p:txEl>
                                              <p:pRg st="3" end="3"/>
                                            </p:txEl>
                                          </p:spTgt>
                                        </p:tgtEl>
                                        <p:attrNameLst>
                                          <p:attrName>style.visibility</p:attrName>
                                        </p:attrNameLst>
                                      </p:cBhvr>
                                      <p:to>
                                        <p:strVal val="visible"/>
                                      </p:to>
                                    </p:set>
                                    <p:animEffect transition="in" filter="wipe(left)">
                                      <p:cBhvr>
                                        <p:cTn id="17" dur="500"/>
                                        <p:tgtEl>
                                          <p:spTgt spid="16793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7939">
                                            <p:txEl>
                                              <p:pRg st="5" end="5"/>
                                            </p:txEl>
                                          </p:spTgt>
                                        </p:tgtEl>
                                        <p:attrNameLst>
                                          <p:attrName>style.visibility</p:attrName>
                                        </p:attrNameLst>
                                      </p:cBhvr>
                                      <p:to>
                                        <p:strVal val="visible"/>
                                      </p:to>
                                    </p:set>
                                    <p:animEffect transition="in" filter="wipe(left)">
                                      <p:cBhvr>
                                        <p:cTn id="22" dur="500"/>
                                        <p:tgtEl>
                                          <p:spTgt spid="167939">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7939">
                                            <p:txEl>
                                              <p:pRg st="7" end="7"/>
                                            </p:txEl>
                                          </p:spTgt>
                                        </p:tgtEl>
                                        <p:attrNameLst>
                                          <p:attrName>style.visibility</p:attrName>
                                        </p:attrNameLst>
                                      </p:cBhvr>
                                      <p:to>
                                        <p:strVal val="visible"/>
                                      </p:to>
                                    </p:set>
                                    <p:animEffect transition="in" filter="wipe(left)">
                                      <p:cBhvr>
                                        <p:cTn id="27" dur="500"/>
                                        <p:tgtEl>
                                          <p:spTgt spid="167939">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7939">
                                            <p:txEl>
                                              <p:pRg st="8" end="8"/>
                                            </p:txEl>
                                          </p:spTgt>
                                        </p:tgtEl>
                                        <p:attrNameLst>
                                          <p:attrName>style.visibility</p:attrName>
                                        </p:attrNameLst>
                                      </p:cBhvr>
                                      <p:to>
                                        <p:strVal val="visible"/>
                                      </p:to>
                                    </p:set>
                                    <p:animEffect transition="in" filter="wipe(left)">
                                      <p:cBhvr>
                                        <p:cTn id="32" dur="500"/>
                                        <p:tgtEl>
                                          <p:spTgt spid="1679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build="p" autoUpdateAnimBg="0"/>
      <p:bldP spid="167939"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285750" y="438150"/>
            <a:ext cx="89154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dirty="0">
                <a:solidFill>
                  <a:srgbClr val="0000FF"/>
                </a:solidFill>
              </a:rPr>
              <a:t>[</a:t>
            </a:r>
            <a:r>
              <a:rPr lang="zh-CN" altLang="en-US" sz="3200" dirty="0">
                <a:solidFill>
                  <a:srgbClr val="0000FF"/>
                </a:solidFill>
              </a:rPr>
              <a:t>例</a:t>
            </a:r>
            <a:r>
              <a:rPr lang="en-US" altLang="zh-CN" sz="3200" dirty="0">
                <a:solidFill>
                  <a:srgbClr val="0000FF"/>
                </a:solidFill>
              </a:rPr>
              <a:t>1].</a:t>
            </a:r>
            <a:r>
              <a:rPr lang="en-US" altLang="zh-CN" sz="3200" dirty="0"/>
              <a:t> </a:t>
            </a:r>
            <a:r>
              <a:rPr lang="zh-CN" altLang="en-US" sz="3200" dirty="0"/>
              <a:t>试证明在 </a:t>
            </a:r>
            <a:r>
              <a:rPr lang="en-US" altLang="zh-CN" sz="3200" i="1" dirty="0"/>
              <a:t>p </a:t>
            </a:r>
            <a:r>
              <a:rPr lang="en-US" altLang="zh-CN" sz="3200" i="1" dirty="0">
                <a:sym typeface="Symbol" pitchFamily="18" charset="2"/>
              </a:rPr>
              <a:t></a:t>
            </a:r>
            <a:r>
              <a:rPr lang="en-US" altLang="zh-CN" sz="3200" dirty="0"/>
              <a:t> </a:t>
            </a:r>
            <a:r>
              <a:rPr lang="en-US" altLang="zh-CN" sz="3200" i="1" dirty="0"/>
              <a:t>V</a:t>
            </a:r>
            <a:r>
              <a:rPr lang="zh-CN" altLang="en-US" sz="3200" dirty="0"/>
              <a:t>图上任意物质的</a:t>
            </a:r>
            <a:r>
              <a:rPr lang="zh-CN" altLang="en-US" sz="3200" dirty="0">
                <a:solidFill>
                  <a:srgbClr val="FF3300"/>
                </a:solidFill>
              </a:rPr>
              <a:t>一条等温线和一条绝热线不能相交两次。</a:t>
            </a:r>
          </a:p>
        </p:txBody>
      </p:sp>
      <p:sp>
        <p:nvSpPr>
          <p:cNvPr id="95235" name="Text Box 3"/>
          <p:cNvSpPr txBox="1">
            <a:spLocks noChangeArrowheads="1"/>
          </p:cNvSpPr>
          <p:nvPr/>
        </p:nvSpPr>
        <p:spPr bwMode="auto">
          <a:xfrm>
            <a:off x="304800" y="1485900"/>
            <a:ext cx="13335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a:solidFill>
                  <a:srgbClr val="0000FF"/>
                </a:solidFill>
              </a:rPr>
              <a:t>证：</a:t>
            </a:r>
          </a:p>
        </p:txBody>
      </p:sp>
      <p:sp>
        <p:nvSpPr>
          <p:cNvPr id="95238" name="Text Box 6"/>
          <p:cNvSpPr txBox="1">
            <a:spLocks noChangeArrowheads="1"/>
          </p:cNvSpPr>
          <p:nvPr/>
        </p:nvSpPr>
        <p:spPr bwMode="auto">
          <a:xfrm>
            <a:off x="1273175" y="1520825"/>
            <a:ext cx="78327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3200" dirty="0">
                <a:solidFill>
                  <a:srgbClr val="FF3300"/>
                </a:solidFill>
              </a:rPr>
              <a:t>用反证法，</a:t>
            </a:r>
            <a:r>
              <a:rPr lang="zh-CN" altLang="en-US" sz="3200" dirty="0"/>
              <a:t>设等温线和绝热线能相交两次。</a:t>
            </a:r>
          </a:p>
        </p:txBody>
      </p:sp>
      <p:grpSp>
        <p:nvGrpSpPr>
          <p:cNvPr id="95266" name="Group 34"/>
          <p:cNvGrpSpPr>
            <a:grpSpLocks/>
          </p:cNvGrpSpPr>
          <p:nvPr/>
        </p:nvGrpSpPr>
        <p:grpSpPr bwMode="auto">
          <a:xfrm>
            <a:off x="2135188" y="2404269"/>
            <a:ext cx="3444875" cy="2522538"/>
            <a:chOff x="360" y="1270"/>
            <a:chExt cx="2170" cy="1589"/>
          </a:xfrm>
        </p:grpSpPr>
        <p:sp>
          <p:nvSpPr>
            <p:cNvPr id="95240" name="Line 8"/>
            <p:cNvSpPr>
              <a:spLocks noChangeShapeType="1"/>
            </p:cNvSpPr>
            <p:nvPr/>
          </p:nvSpPr>
          <p:spPr bwMode="auto">
            <a:xfrm>
              <a:off x="657" y="2727"/>
              <a:ext cx="1503"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1" name="Line 9"/>
            <p:cNvSpPr>
              <a:spLocks noChangeShapeType="1"/>
            </p:cNvSpPr>
            <p:nvPr/>
          </p:nvSpPr>
          <p:spPr bwMode="auto">
            <a:xfrm flipV="1">
              <a:off x="657" y="1373"/>
              <a:ext cx="0" cy="1354"/>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2" name="Arc 10"/>
            <p:cNvSpPr>
              <a:spLocks/>
            </p:cNvSpPr>
            <p:nvPr/>
          </p:nvSpPr>
          <p:spPr bwMode="auto">
            <a:xfrm flipH="1" flipV="1">
              <a:off x="983" y="1336"/>
              <a:ext cx="1029" cy="1203"/>
            </a:xfrm>
            <a:custGeom>
              <a:avLst/>
              <a:gdLst>
                <a:gd name="G0" fmla="+- 0 0 0"/>
                <a:gd name="G1" fmla="+- 21600 0 0"/>
                <a:gd name="G2" fmla="+- 21600 0 0"/>
                <a:gd name="T0" fmla="*/ 0 w 21575"/>
                <a:gd name="T1" fmla="*/ 0 h 21600"/>
                <a:gd name="T2" fmla="*/ 21575 w 21575"/>
                <a:gd name="T3" fmla="*/ 20560 h 21600"/>
                <a:gd name="T4" fmla="*/ 0 w 21575"/>
                <a:gd name="T5" fmla="*/ 21600 h 21600"/>
              </a:gdLst>
              <a:ahLst/>
              <a:cxnLst>
                <a:cxn ang="0">
                  <a:pos x="T0" y="T1"/>
                </a:cxn>
                <a:cxn ang="0">
                  <a:pos x="T2" y="T3"/>
                </a:cxn>
                <a:cxn ang="0">
                  <a:pos x="T4" y="T5"/>
                </a:cxn>
              </a:cxnLst>
              <a:rect l="0" t="0" r="r" b="b"/>
              <a:pathLst>
                <a:path w="21575" h="21600" fill="none" extrusionOk="0">
                  <a:moveTo>
                    <a:pt x="-1" y="0"/>
                  </a:moveTo>
                  <a:cubicBezTo>
                    <a:pt x="11525" y="0"/>
                    <a:pt x="21020" y="9048"/>
                    <a:pt x="21574" y="20560"/>
                  </a:cubicBezTo>
                </a:path>
                <a:path w="21575" h="21600" stroke="0" extrusionOk="0">
                  <a:moveTo>
                    <a:pt x="-1" y="0"/>
                  </a:moveTo>
                  <a:cubicBezTo>
                    <a:pt x="11525" y="0"/>
                    <a:pt x="21020" y="9048"/>
                    <a:pt x="21574" y="20560"/>
                  </a:cubicBezTo>
                  <a:lnTo>
                    <a:pt x="0" y="21600"/>
                  </a:lnTo>
                  <a:close/>
                </a:path>
              </a:pathLst>
            </a:custGeom>
            <a:noFill/>
            <a:ln w="2857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lang="zh-CN" altLang="zh-CN" sz="2800" b="0">
                <a:solidFill>
                  <a:srgbClr val="0000FF"/>
                </a:solidFill>
              </a:endParaRPr>
            </a:p>
          </p:txBody>
        </p:sp>
        <p:sp>
          <p:nvSpPr>
            <p:cNvPr id="95243" name="Freeform 11"/>
            <p:cNvSpPr>
              <a:spLocks/>
            </p:cNvSpPr>
            <p:nvPr/>
          </p:nvSpPr>
          <p:spPr bwMode="auto">
            <a:xfrm>
              <a:off x="934" y="1449"/>
              <a:ext cx="1226" cy="1166"/>
            </a:xfrm>
            <a:custGeom>
              <a:avLst/>
              <a:gdLst>
                <a:gd name="T0" fmla="*/ 0 w 1488"/>
                <a:gd name="T1" fmla="*/ 0 h 1376"/>
                <a:gd name="T2" fmla="*/ 336 w 1488"/>
                <a:gd name="T3" fmla="*/ 528 h 1376"/>
                <a:gd name="T4" fmla="*/ 624 w 1488"/>
                <a:gd name="T5" fmla="*/ 864 h 1376"/>
                <a:gd name="T6" fmla="*/ 960 w 1488"/>
                <a:gd name="T7" fmla="*/ 1152 h 1376"/>
                <a:gd name="T8" fmla="*/ 1296 w 1488"/>
                <a:gd name="T9" fmla="*/ 1344 h 1376"/>
                <a:gd name="T10" fmla="*/ 1488 w 1488"/>
                <a:gd name="T11" fmla="*/ 1344 h 1376"/>
              </a:gdLst>
              <a:ahLst/>
              <a:cxnLst>
                <a:cxn ang="0">
                  <a:pos x="T0" y="T1"/>
                </a:cxn>
                <a:cxn ang="0">
                  <a:pos x="T2" y="T3"/>
                </a:cxn>
                <a:cxn ang="0">
                  <a:pos x="T4" y="T5"/>
                </a:cxn>
                <a:cxn ang="0">
                  <a:pos x="T6" y="T7"/>
                </a:cxn>
                <a:cxn ang="0">
                  <a:pos x="T8" y="T9"/>
                </a:cxn>
                <a:cxn ang="0">
                  <a:pos x="T10" y="T11"/>
                </a:cxn>
              </a:cxnLst>
              <a:rect l="0" t="0" r="r" b="b"/>
              <a:pathLst>
                <a:path w="1488" h="1376">
                  <a:moveTo>
                    <a:pt x="0" y="0"/>
                  </a:moveTo>
                  <a:cubicBezTo>
                    <a:pt x="116" y="192"/>
                    <a:pt x="232" y="384"/>
                    <a:pt x="336" y="528"/>
                  </a:cubicBezTo>
                  <a:cubicBezTo>
                    <a:pt x="440" y="672"/>
                    <a:pt x="520" y="760"/>
                    <a:pt x="624" y="864"/>
                  </a:cubicBezTo>
                  <a:cubicBezTo>
                    <a:pt x="728" y="968"/>
                    <a:pt x="848" y="1072"/>
                    <a:pt x="960" y="1152"/>
                  </a:cubicBezTo>
                  <a:cubicBezTo>
                    <a:pt x="1072" y="1232"/>
                    <a:pt x="1208" y="1312"/>
                    <a:pt x="1296" y="1344"/>
                  </a:cubicBezTo>
                  <a:cubicBezTo>
                    <a:pt x="1384" y="1376"/>
                    <a:pt x="1456" y="1344"/>
                    <a:pt x="1488" y="1344"/>
                  </a:cubicBezTo>
                </a:path>
              </a:pathLst>
            </a:custGeom>
            <a:noFill/>
            <a:ln w="28575" cmpd="sng">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4" name="Rectangle 12"/>
            <p:cNvSpPr>
              <a:spLocks noChangeArrowheads="1"/>
            </p:cNvSpPr>
            <p:nvPr/>
          </p:nvSpPr>
          <p:spPr bwMode="auto">
            <a:xfrm>
              <a:off x="2002" y="2502"/>
              <a:ext cx="198" cy="150"/>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5" name="Line 13"/>
            <p:cNvSpPr>
              <a:spLocks noChangeShapeType="1"/>
            </p:cNvSpPr>
            <p:nvPr/>
          </p:nvSpPr>
          <p:spPr bwMode="auto">
            <a:xfrm>
              <a:off x="1250" y="1966"/>
              <a:ext cx="119" cy="113"/>
            </a:xfrm>
            <a:prstGeom prst="line">
              <a:avLst/>
            </a:prstGeom>
            <a:noFill/>
            <a:ln w="28575">
              <a:solidFill>
                <a:srgbClr val="FF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6" name="Line 14"/>
            <p:cNvSpPr>
              <a:spLocks noChangeShapeType="1"/>
            </p:cNvSpPr>
            <p:nvPr/>
          </p:nvSpPr>
          <p:spPr bwMode="auto">
            <a:xfrm rot="16200000" flipV="1">
              <a:off x="1232" y="2124"/>
              <a:ext cx="75" cy="80"/>
            </a:xfrm>
            <a:prstGeom prst="line">
              <a:avLst/>
            </a:prstGeom>
            <a:noFill/>
            <a:ln w="28575">
              <a:solidFill>
                <a:srgbClr val="0000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7" name="Text Box 15"/>
            <p:cNvSpPr txBox="1">
              <a:spLocks noChangeArrowheads="1"/>
            </p:cNvSpPr>
            <p:nvPr/>
          </p:nvSpPr>
          <p:spPr bwMode="auto">
            <a:xfrm>
              <a:off x="736" y="2201"/>
              <a:ext cx="7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rgbClr val="0000FF"/>
                  </a:solidFill>
                </a:rPr>
                <a:t>绝热线</a:t>
              </a:r>
            </a:p>
          </p:txBody>
        </p:sp>
        <p:sp>
          <p:nvSpPr>
            <p:cNvPr id="95248" name="Rectangle 16"/>
            <p:cNvSpPr>
              <a:spLocks noChangeArrowheads="1"/>
            </p:cNvSpPr>
            <p:nvPr/>
          </p:nvSpPr>
          <p:spPr bwMode="auto">
            <a:xfrm>
              <a:off x="578" y="2418"/>
              <a:ext cx="10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solidFill>
                    <a:srgbClr val="0000FF"/>
                  </a:solidFill>
                </a:rPr>
                <a:t>（等 </a:t>
              </a:r>
              <a:r>
                <a:rPr lang="en-US" altLang="zh-CN" sz="2400" i="1">
                  <a:solidFill>
                    <a:srgbClr val="0000FF"/>
                  </a:solidFill>
                </a:rPr>
                <a:t>S </a:t>
              </a:r>
              <a:r>
                <a:rPr lang="zh-CN" altLang="en-US" sz="2400">
                  <a:solidFill>
                    <a:srgbClr val="0000FF"/>
                  </a:solidFill>
                </a:rPr>
                <a:t>线）</a:t>
              </a:r>
            </a:p>
          </p:txBody>
        </p:sp>
        <p:sp>
          <p:nvSpPr>
            <p:cNvPr id="95249" name="Line 17"/>
            <p:cNvSpPr>
              <a:spLocks noChangeShapeType="1"/>
            </p:cNvSpPr>
            <p:nvPr/>
          </p:nvSpPr>
          <p:spPr bwMode="auto">
            <a:xfrm flipH="1">
              <a:off x="1013" y="1975"/>
              <a:ext cx="119" cy="2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0" name="Line 18"/>
            <p:cNvSpPr>
              <a:spLocks noChangeShapeType="1"/>
            </p:cNvSpPr>
            <p:nvPr/>
          </p:nvSpPr>
          <p:spPr bwMode="auto">
            <a:xfrm flipV="1">
              <a:off x="1141" y="1637"/>
              <a:ext cx="198" cy="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1" name="Text Box 19"/>
            <p:cNvSpPr txBox="1">
              <a:spLocks noChangeArrowheads="1"/>
            </p:cNvSpPr>
            <p:nvPr/>
          </p:nvSpPr>
          <p:spPr bwMode="auto">
            <a:xfrm>
              <a:off x="1339" y="1486"/>
              <a:ext cx="7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rgbClr val="FF3300"/>
                  </a:solidFill>
                </a:rPr>
                <a:t>等温线</a:t>
              </a:r>
            </a:p>
          </p:txBody>
        </p:sp>
        <p:sp>
          <p:nvSpPr>
            <p:cNvPr id="95252" name="Line 20"/>
            <p:cNvSpPr>
              <a:spLocks noChangeShapeType="1"/>
            </p:cNvSpPr>
            <p:nvPr/>
          </p:nvSpPr>
          <p:spPr bwMode="auto">
            <a:xfrm>
              <a:off x="1409" y="2239"/>
              <a:ext cx="553"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3" name="Line 21"/>
            <p:cNvSpPr>
              <a:spLocks noChangeShapeType="1"/>
            </p:cNvSpPr>
            <p:nvPr/>
          </p:nvSpPr>
          <p:spPr bwMode="auto">
            <a:xfrm flipH="1">
              <a:off x="1329" y="1900"/>
              <a:ext cx="356" cy="263"/>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4" name="Text Box 22"/>
            <p:cNvSpPr txBox="1">
              <a:spLocks noChangeArrowheads="1"/>
            </p:cNvSpPr>
            <p:nvPr/>
          </p:nvSpPr>
          <p:spPr bwMode="auto">
            <a:xfrm>
              <a:off x="1654" y="1671"/>
              <a:ext cx="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i="1"/>
                <a:t>Q</a:t>
              </a:r>
            </a:p>
          </p:txBody>
        </p:sp>
        <p:sp>
          <p:nvSpPr>
            <p:cNvPr id="95255" name="Text Box 23"/>
            <p:cNvSpPr txBox="1">
              <a:spLocks noChangeArrowheads="1"/>
            </p:cNvSpPr>
            <p:nvPr/>
          </p:nvSpPr>
          <p:spPr bwMode="auto">
            <a:xfrm>
              <a:off x="1661" y="1941"/>
              <a:ext cx="8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i="1"/>
                <a:t>A </a:t>
              </a:r>
              <a:r>
                <a:rPr lang="en-US" altLang="zh-CN" sz="2800"/>
                <a:t>= </a:t>
              </a:r>
              <a:r>
                <a:rPr lang="en-US" altLang="zh-CN" sz="2800" i="1"/>
                <a:t>Q</a:t>
              </a:r>
              <a:endParaRPr lang="en-US" altLang="zh-CN" sz="2800"/>
            </a:p>
          </p:txBody>
        </p:sp>
        <p:sp>
          <p:nvSpPr>
            <p:cNvPr id="95256" name="Text Box 24"/>
            <p:cNvSpPr txBox="1">
              <a:spLocks noChangeArrowheads="1"/>
            </p:cNvSpPr>
            <p:nvPr/>
          </p:nvSpPr>
          <p:spPr bwMode="auto">
            <a:xfrm>
              <a:off x="360" y="1270"/>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i="1"/>
                <a:t> p</a:t>
              </a:r>
            </a:p>
          </p:txBody>
        </p:sp>
        <p:sp>
          <p:nvSpPr>
            <p:cNvPr id="95257" name="Text Box 25"/>
            <p:cNvSpPr txBox="1">
              <a:spLocks noChangeArrowheads="1"/>
            </p:cNvSpPr>
            <p:nvPr/>
          </p:nvSpPr>
          <p:spPr bwMode="auto">
            <a:xfrm>
              <a:off x="2116" y="2532"/>
              <a:ext cx="31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i="1"/>
                <a:t>V</a:t>
              </a:r>
            </a:p>
          </p:txBody>
        </p:sp>
      </p:grpSp>
      <p:sp>
        <p:nvSpPr>
          <p:cNvPr id="95258" name="Text Box 26"/>
          <p:cNvSpPr txBox="1">
            <a:spLocks noChangeArrowheads="1"/>
          </p:cNvSpPr>
          <p:nvPr/>
        </p:nvSpPr>
        <p:spPr bwMode="auto">
          <a:xfrm>
            <a:off x="300264" y="5445224"/>
            <a:ext cx="8322593" cy="1224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15000"/>
              </a:lnSpc>
              <a:spcBef>
                <a:spcPct val="50000"/>
              </a:spcBef>
            </a:pPr>
            <a:r>
              <a:rPr lang="en-US" altLang="zh-CN" sz="3200" dirty="0"/>
              <a:t>    </a:t>
            </a:r>
            <a:r>
              <a:rPr lang="zh-CN" altLang="en-US" sz="3200" dirty="0"/>
              <a:t>则如图示，可构成一个单热库热机，从而违反热力学第二定律的开氏表述，故假设不成立。</a:t>
            </a:r>
          </a:p>
        </p:txBody>
      </p:sp>
    </p:spTree>
    <p:extLst>
      <p:ext uri="{BB962C8B-B14F-4D97-AF65-F5344CB8AC3E}">
        <p14:creationId xmlns:p14="http://schemas.microsoft.com/office/powerpoint/2010/main" val="379703812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234"/>
                                        </p:tgtEl>
                                        <p:attrNameLst>
                                          <p:attrName>style.visibility</p:attrName>
                                        </p:attrNameLst>
                                      </p:cBhvr>
                                      <p:to>
                                        <p:strVal val="visible"/>
                                      </p:to>
                                    </p:set>
                                    <p:animEffect transition="in" filter="wipe(left)">
                                      <p:cBhvr>
                                        <p:cTn id="7" dur="500"/>
                                        <p:tgtEl>
                                          <p:spTgt spid="952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235"/>
                                        </p:tgtEl>
                                        <p:attrNameLst>
                                          <p:attrName>style.visibility</p:attrName>
                                        </p:attrNameLst>
                                      </p:cBhvr>
                                      <p:to>
                                        <p:strVal val="visible"/>
                                      </p:to>
                                    </p:set>
                                    <p:animEffect transition="in" filter="wipe(left)">
                                      <p:cBhvr>
                                        <p:cTn id="12" dur="500"/>
                                        <p:tgtEl>
                                          <p:spTgt spid="952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5238"/>
                                        </p:tgtEl>
                                        <p:attrNameLst>
                                          <p:attrName>style.visibility</p:attrName>
                                        </p:attrNameLst>
                                      </p:cBhvr>
                                      <p:to>
                                        <p:strVal val="visible"/>
                                      </p:to>
                                    </p:set>
                                    <p:animEffect transition="in" filter="wipe(left)">
                                      <p:cBhvr>
                                        <p:cTn id="17" dur="500"/>
                                        <p:tgtEl>
                                          <p:spTgt spid="95238"/>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95266"/>
                                        </p:tgtEl>
                                        <p:attrNameLst>
                                          <p:attrName>style.visibility</p:attrName>
                                        </p:attrNameLst>
                                      </p:cBhvr>
                                      <p:to>
                                        <p:strVal val="visible"/>
                                      </p:to>
                                    </p:set>
                                    <p:animEffect transition="in" filter="wipe(left)">
                                      <p:cBhvr>
                                        <p:cTn id="21" dur="500"/>
                                        <p:tgtEl>
                                          <p:spTgt spid="9526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5258"/>
                                        </p:tgtEl>
                                        <p:attrNameLst>
                                          <p:attrName>style.visibility</p:attrName>
                                        </p:attrNameLst>
                                      </p:cBhvr>
                                      <p:to>
                                        <p:strVal val="visible"/>
                                      </p:to>
                                    </p:set>
                                    <p:animEffect transition="in" filter="wipe(left)">
                                      <p:cBhvr>
                                        <p:cTn id="26" dur="500"/>
                                        <p:tgtEl>
                                          <p:spTgt spid="95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autoUpdateAnimBg="0"/>
      <p:bldP spid="95235" grpId="0" autoUpdateAnimBg="0"/>
      <p:bldP spid="95238" grpId="0" autoUpdateAnimBg="0"/>
      <p:bldP spid="95258"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285750" y="438150"/>
            <a:ext cx="89154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3200" dirty="0">
                <a:solidFill>
                  <a:srgbClr val="0000FF"/>
                </a:solidFill>
              </a:rPr>
              <a:t>[</a:t>
            </a:r>
            <a:r>
              <a:rPr lang="zh-CN" altLang="en-US" sz="3200" dirty="0">
                <a:solidFill>
                  <a:srgbClr val="0000FF"/>
                </a:solidFill>
              </a:rPr>
              <a:t>例</a:t>
            </a:r>
            <a:r>
              <a:rPr lang="en-US" altLang="zh-CN" sz="3200" dirty="0">
                <a:solidFill>
                  <a:srgbClr val="0000FF"/>
                </a:solidFill>
              </a:rPr>
              <a:t>2].</a:t>
            </a:r>
            <a:r>
              <a:rPr lang="en-US" altLang="zh-CN" sz="3200" dirty="0"/>
              <a:t> </a:t>
            </a:r>
            <a:r>
              <a:rPr lang="zh-CN" altLang="en-US" sz="3200" dirty="0"/>
              <a:t>试证明在 </a:t>
            </a:r>
            <a:r>
              <a:rPr lang="en-US" altLang="zh-CN" sz="3200" i="1" dirty="0"/>
              <a:t>p </a:t>
            </a:r>
            <a:r>
              <a:rPr lang="en-US" altLang="zh-CN" sz="3200" i="1" dirty="0">
                <a:sym typeface="Symbol" pitchFamily="18" charset="2"/>
              </a:rPr>
              <a:t></a:t>
            </a:r>
            <a:r>
              <a:rPr lang="en-US" altLang="zh-CN" sz="3200" dirty="0"/>
              <a:t> </a:t>
            </a:r>
            <a:r>
              <a:rPr lang="en-US" altLang="zh-CN" sz="3200" i="1" dirty="0"/>
              <a:t>V</a:t>
            </a:r>
            <a:r>
              <a:rPr lang="zh-CN" altLang="en-US" sz="3200" dirty="0"/>
              <a:t>图上任意物质的两条</a:t>
            </a:r>
            <a:r>
              <a:rPr lang="zh-CN" altLang="en-US" sz="3200" dirty="0">
                <a:solidFill>
                  <a:srgbClr val="FF3300"/>
                </a:solidFill>
              </a:rPr>
              <a:t>绝热线不能相交。</a:t>
            </a:r>
          </a:p>
        </p:txBody>
      </p:sp>
      <p:sp>
        <p:nvSpPr>
          <p:cNvPr id="95235" name="Text Box 3"/>
          <p:cNvSpPr txBox="1">
            <a:spLocks noChangeArrowheads="1"/>
          </p:cNvSpPr>
          <p:nvPr/>
        </p:nvSpPr>
        <p:spPr bwMode="auto">
          <a:xfrm>
            <a:off x="236538" y="1490747"/>
            <a:ext cx="13335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dirty="0">
                <a:solidFill>
                  <a:srgbClr val="0000FF"/>
                </a:solidFill>
              </a:rPr>
              <a:t>证：</a:t>
            </a:r>
          </a:p>
        </p:txBody>
      </p:sp>
      <p:sp>
        <p:nvSpPr>
          <p:cNvPr id="95238" name="Text Box 6"/>
          <p:cNvSpPr txBox="1">
            <a:spLocks noChangeArrowheads="1"/>
          </p:cNvSpPr>
          <p:nvPr/>
        </p:nvSpPr>
        <p:spPr bwMode="auto">
          <a:xfrm>
            <a:off x="1273175" y="1520825"/>
            <a:ext cx="783272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3200" dirty="0">
                <a:solidFill>
                  <a:srgbClr val="FF3300"/>
                </a:solidFill>
              </a:rPr>
              <a:t>用反证法，</a:t>
            </a:r>
            <a:r>
              <a:rPr lang="zh-CN" altLang="en-US" sz="3200" dirty="0"/>
              <a:t>设两条绝热线能相交，在增加一条等温线。</a:t>
            </a:r>
          </a:p>
        </p:txBody>
      </p:sp>
      <p:grpSp>
        <p:nvGrpSpPr>
          <p:cNvPr id="95266" name="Group 34"/>
          <p:cNvGrpSpPr>
            <a:grpSpLocks/>
          </p:cNvGrpSpPr>
          <p:nvPr/>
        </p:nvGrpSpPr>
        <p:grpSpPr bwMode="auto">
          <a:xfrm>
            <a:off x="635000" y="2634654"/>
            <a:ext cx="3625850" cy="2522538"/>
            <a:chOff x="360" y="1270"/>
            <a:chExt cx="2284" cy="1589"/>
          </a:xfrm>
        </p:grpSpPr>
        <p:sp>
          <p:nvSpPr>
            <p:cNvPr id="95240" name="Line 8"/>
            <p:cNvSpPr>
              <a:spLocks noChangeShapeType="1"/>
            </p:cNvSpPr>
            <p:nvPr/>
          </p:nvSpPr>
          <p:spPr bwMode="auto">
            <a:xfrm>
              <a:off x="657" y="2727"/>
              <a:ext cx="1503"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1" name="Line 9"/>
            <p:cNvSpPr>
              <a:spLocks noChangeShapeType="1"/>
            </p:cNvSpPr>
            <p:nvPr/>
          </p:nvSpPr>
          <p:spPr bwMode="auto">
            <a:xfrm flipV="1">
              <a:off x="657" y="1373"/>
              <a:ext cx="0" cy="1354"/>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2" name="Arc 10"/>
            <p:cNvSpPr>
              <a:spLocks/>
            </p:cNvSpPr>
            <p:nvPr/>
          </p:nvSpPr>
          <p:spPr bwMode="auto">
            <a:xfrm flipH="1" flipV="1">
              <a:off x="983" y="1336"/>
              <a:ext cx="1029" cy="1203"/>
            </a:xfrm>
            <a:custGeom>
              <a:avLst/>
              <a:gdLst>
                <a:gd name="G0" fmla="+- 0 0 0"/>
                <a:gd name="G1" fmla="+- 21600 0 0"/>
                <a:gd name="G2" fmla="+- 21600 0 0"/>
                <a:gd name="T0" fmla="*/ 0 w 21575"/>
                <a:gd name="T1" fmla="*/ 0 h 21600"/>
                <a:gd name="T2" fmla="*/ 21575 w 21575"/>
                <a:gd name="T3" fmla="*/ 20560 h 21600"/>
                <a:gd name="T4" fmla="*/ 0 w 21575"/>
                <a:gd name="T5" fmla="*/ 21600 h 21600"/>
              </a:gdLst>
              <a:ahLst/>
              <a:cxnLst>
                <a:cxn ang="0">
                  <a:pos x="T0" y="T1"/>
                </a:cxn>
                <a:cxn ang="0">
                  <a:pos x="T2" y="T3"/>
                </a:cxn>
                <a:cxn ang="0">
                  <a:pos x="T4" y="T5"/>
                </a:cxn>
              </a:cxnLst>
              <a:rect l="0" t="0" r="r" b="b"/>
              <a:pathLst>
                <a:path w="21575" h="21600" fill="none" extrusionOk="0">
                  <a:moveTo>
                    <a:pt x="-1" y="0"/>
                  </a:moveTo>
                  <a:cubicBezTo>
                    <a:pt x="11525" y="0"/>
                    <a:pt x="21020" y="9048"/>
                    <a:pt x="21574" y="20560"/>
                  </a:cubicBezTo>
                </a:path>
                <a:path w="21575" h="21600" stroke="0" extrusionOk="0">
                  <a:moveTo>
                    <a:pt x="-1" y="0"/>
                  </a:moveTo>
                  <a:cubicBezTo>
                    <a:pt x="11525" y="0"/>
                    <a:pt x="21020" y="9048"/>
                    <a:pt x="21574" y="20560"/>
                  </a:cubicBezTo>
                  <a:lnTo>
                    <a:pt x="0" y="21600"/>
                  </a:lnTo>
                  <a:close/>
                </a:path>
              </a:pathLst>
            </a:custGeom>
            <a:noFill/>
            <a:ln w="2857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lang="zh-CN" altLang="zh-CN" sz="2800" b="0">
                <a:solidFill>
                  <a:srgbClr val="0000FF"/>
                </a:solidFill>
              </a:endParaRPr>
            </a:p>
          </p:txBody>
        </p:sp>
        <p:sp>
          <p:nvSpPr>
            <p:cNvPr id="95243" name="Freeform 11"/>
            <p:cNvSpPr>
              <a:spLocks/>
            </p:cNvSpPr>
            <p:nvPr/>
          </p:nvSpPr>
          <p:spPr bwMode="auto">
            <a:xfrm>
              <a:off x="802" y="1449"/>
              <a:ext cx="1341" cy="601"/>
            </a:xfrm>
            <a:custGeom>
              <a:avLst/>
              <a:gdLst>
                <a:gd name="T0" fmla="*/ 0 w 1488"/>
                <a:gd name="T1" fmla="*/ 0 h 1376"/>
                <a:gd name="T2" fmla="*/ 336 w 1488"/>
                <a:gd name="T3" fmla="*/ 528 h 1376"/>
                <a:gd name="T4" fmla="*/ 624 w 1488"/>
                <a:gd name="T5" fmla="*/ 864 h 1376"/>
                <a:gd name="T6" fmla="*/ 960 w 1488"/>
                <a:gd name="T7" fmla="*/ 1152 h 1376"/>
                <a:gd name="T8" fmla="*/ 1296 w 1488"/>
                <a:gd name="T9" fmla="*/ 1344 h 1376"/>
                <a:gd name="T10" fmla="*/ 1488 w 1488"/>
                <a:gd name="T11" fmla="*/ 1344 h 1376"/>
              </a:gdLst>
              <a:ahLst/>
              <a:cxnLst>
                <a:cxn ang="0">
                  <a:pos x="T0" y="T1"/>
                </a:cxn>
                <a:cxn ang="0">
                  <a:pos x="T2" y="T3"/>
                </a:cxn>
                <a:cxn ang="0">
                  <a:pos x="T4" y="T5"/>
                </a:cxn>
                <a:cxn ang="0">
                  <a:pos x="T6" y="T7"/>
                </a:cxn>
                <a:cxn ang="0">
                  <a:pos x="T8" y="T9"/>
                </a:cxn>
                <a:cxn ang="0">
                  <a:pos x="T10" y="T11"/>
                </a:cxn>
              </a:cxnLst>
              <a:rect l="0" t="0" r="r" b="b"/>
              <a:pathLst>
                <a:path w="1488" h="1376">
                  <a:moveTo>
                    <a:pt x="0" y="0"/>
                  </a:moveTo>
                  <a:cubicBezTo>
                    <a:pt x="116" y="192"/>
                    <a:pt x="232" y="384"/>
                    <a:pt x="336" y="528"/>
                  </a:cubicBezTo>
                  <a:cubicBezTo>
                    <a:pt x="440" y="672"/>
                    <a:pt x="520" y="760"/>
                    <a:pt x="624" y="864"/>
                  </a:cubicBezTo>
                  <a:cubicBezTo>
                    <a:pt x="728" y="968"/>
                    <a:pt x="848" y="1072"/>
                    <a:pt x="960" y="1152"/>
                  </a:cubicBezTo>
                  <a:cubicBezTo>
                    <a:pt x="1072" y="1232"/>
                    <a:pt x="1208" y="1312"/>
                    <a:pt x="1296" y="1344"/>
                  </a:cubicBezTo>
                  <a:cubicBezTo>
                    <a:pt x="1384" y="1376"/>
                    <a:pt x="1456" y="1344"/>
                    <a:pt x="1488" y="1344"/>
                  </a:cubicBezTo>
                </a:path>
              </a:pathLst>
            </a:custGeom>
            <a:noFill/>
            <a:ln w="28575" cmpd="sng">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4" name="Rectangle 12"/>
            <p:cNvSpPr>
              <a:spLocks noChangeArrowheads="1"/>
            </p:cNvSpPr>
            <p:nvPr/>
          </p:nvSpPr>
          <p:spPr bwMode="auto">
            <a:xfrm>
              <a:off x="2002" y="2502"/>
              <a:ext cx="198" cy="150"/>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5" name="Line 13"/>
            <p:cNvSpPr>
              <a:spLocks noChangeShapeType="1"/>
            </p:cNvSpPr>
            <p:nvPr/>
          </p:nvSpPr>
          <p:spPr bwMode="auto">
            <a:xfrm>
              <a:off x="1170" y="1702"/>
              <a:ext cx="119" cy="113"/>
            </a:xfrm>
            <a:prstGeom prst="line">
              <a:avLst/>
            </a:prstGeom>
            <a:noFill/>
            <a:ln w="28575">
              <a:solidFill>
                <a:srgbClr val="FF33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6" name="Line 14"/>
            <p:cNvSpPr>
              <a:spLocks noChangeShapeType="1"/>
            </p:cNvSpPr>
            <p:nvPr/>
          </p:nvSpPr>
          <p:spPr bwMode="auto">
            <a:xfrm rot="16200000" flipV="1">
              <a:off x="1232" y="2124"/>
              <a:ext cx="75" cy="80"/>
            </a:xfrm>
            <a:prstGeom prst="line">
              <a:avLst/>
            </a:prstGeom>
            <a:noFill/>
            <a:ln w="28575">
              <a:solidFill>
                <a:srgbClr val="0000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7" name="Text Box 15"/>
            <p:cNvSpPr txBox="1">
              <a:spLocks noChangeArrowheads="1"/>
            </p:cNvSpPr>
            <p:nvPr/>
          </p:nvSpPr>
          <p:spPr bwMode="auto">
            <a:xfrm>
              <a:off x="736" y="2201"/>
              <a:ext cx="7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rgbClr val="0000FF"/>
                  </a:solidFill>
                </a:rPr>
                <a:t>绝热线</a:t>
              </a:r>
            </a:p>
          </p:txBody>
        </p:sp>
        <p:sp>
          <p:nvSpPr>
            <p:cNvPr id="95248" name="Rectangle 16"/>
            <p:cNvSpPr>
              <a:spLocks noChangeArrowheads="1"/>
            </p:cNvSpPr>
            <p:nvPr/>
          </p:nvSpPr>
          <p:spPr bwMode="auto">
            <a:xfrm>
              <a:off x="578" y="2418"/>
              <a:ext cx="10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0000FF"/>
                  </a:solidFill>
                </a:rPr>
                <a:t>（等 </a:t>
              </a:r>
              <a:r>
                <a:rPr lang="en-US" altLang="zh-CN" sz="2400" i="1" dirty="0">
                  <a:solidFill>
                    <a:srgbClr val="0000FF"/>
                  </a:solidFill>
                </a:rPr>
                <a:t>S </a:t>
              </a:r>
              <a:r>
                <a:rPr lang="zh-CN" altLang="en-US" sz="2400" dirty="0">
                  <a:solidFill>
                    <a:srgbClr val="0000FF"/>
                  </a:solidFill>
                </a:rPr>
                <a:t>线）</a:t>
              </a:r>
            </a:p>
          </p:txBody>
        </p:sp>
        <p:sp>
          <p:nvSpPr>
            <p:cNvPr id="95249" name="Line 17"/>
            <p:cNvSpPr>
              <a:spLocks noChangeShapeType="1"/>
            </p:cNvSpPr>
            <p:nvPr/>
          </p:nvSpPr>
          <p:spPr bwMode="auto">
            <a:xfrm flipH="1">
              <a:off x="1013" y="1975"/>
              <a:ext cx="119" cy="264"/>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0" name="Line 18"/>
            <p:cNvSpPr>
              <a:spLocks noChangeShapeType="1"/>
            </p:cNvSpPr>
            <p:nvPr/>
          </p:nvSpPr>
          <p:spPr bwMode="auto">
            <a:xfrm flipV="1">
              <a:off x="1164" y="1470"/>
              <a:ext cx="198" cy="15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1" name="Text Box 19"/>
            <p:cNvSpPr txBox="1">
              <a:spLocks noChangeArrowheads="1"/>
            </p:cNvSpPr>
            <p:nvPr/>
          </p:nvSpPr>
          <p:spPr bwMode="auto">
            <a:xfrm>
              <a:off x="1273" y="1289"/>
              <a:ext cx="7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solidFill>
                    <a:srgbClr val="FF3300"/>
                  </a:solidFill>
                </a:rPr>
                <a:t>等温线</a:t>
              </a:r>
            </a:p>
          </p:txBody>
        </p:sp>
        <p:sp>
          <p:nvSpPr>
            <p:cNvPr id="95252" name="Line 20"/>
            <p:cNvSpPr>
              <a:spLocks noChangeShapeType="1"/>
            </p:cNvSpPr>
            <p:nvPr/>
          </p:nvSpPr>
          <p:spPr bwMode="auto">
            <a:xfrm>
              <a:off x="1409" y="2202"/>
              <a:ext cx="553"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3" name="Line 21"/>
            <p:cNvSpPr>
              <a:spLocks noChangeShapeType="1"/>
            </p:cNvSpPr>
            <p:nvPr/>
          </p:nvSpPr>
          <p:spPr bwMode="auto">
            <a:xfrm flipH="1">
              <a:off x="1388" y="1565"/>
              <a:ext cx="356" cy="263"/>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54" name="Text Box 22"/>
            <p:cNvSpPr txBox="1">
              <a:spLocks noChangeArrowheads="1"/>
            </p:cNvSpPr>
            <p:nvPr/>
          </p:nvSpPr>
          <p:spPr bwMode="auto">
            <a:xfrm>
              <a:off x="1751" y="1507"/>
              <a:ext cx="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i="1" dirty="0"/>
                <a:t>Q</a:t>
              </a:r>
            </a:p>
          </p:txBody>
        </p:sp>
        <p:sp>
          <p:nvSpPr>
            <p:cNvPr id="95255" name="Text Box 23"/>
            <p:cNvSpPr txBox="1">
              <a:spLocks noChangeArrowheads="1"/>
            </p:cNvSpPr>
            <p:nvPr/>
          </p:nvSpPr>
          <p:spPr bwMode="auto">
            <a:xfrm>
              <a:off x="1775" y="2091"/>
              <a:ext cx="8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i="1" dirty="0"/>
                <a:t>A </a:t>
              </a:r>
              <a:r>
                <a:rPr lang="en-US" altLang="zh-CN" sz="2800" dirty="0"/>
                <a:t>= </a:t>
              </a:r>
              <a:r>
                <a:rPr lang="en-US" altLang="zh-CN" sz="2800" i="1" dirty="0"/>
                <a:t>Q</a:t>
              </a:r>
              <a:endParaRPr lang="en-US" altLang="zh-CN" sz="2800" dirty="0"/>
            </a:p>
          </p:txBody>
        </p:sp>
        <p:sp>
          <p:nvSpPr>
            <p:cNvPr id="95256" name="Text Box 24"/>
            <p:cNvSpPr txBox="1">
              <a:spLocks noChangeArrowheads="1"/>
            </p:cNvSpPr>
            <p:nvPr/>
          </p:nvSpPr>
          <p:spPr bwMode="auto">
            <a:xfrm>
              <a:off x="360" y="1270"/>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i="1"/>
                <a:t> p</a:t>
              </a:r>
            </a:p>
          </p:txBody>
        </p:sp>
        <p:sp>
          <p:nvSpPr>
            <p:cNvPr id="95257" name="Text Box 25"/>
            <p:cNvSpPr txBox="1">
              <a:spLocks noChangeArrowheads="1"/>
            </p:cNvSpPr>
            <p:nvPr/>
          </p:nvSpPr>
          <p:spPr bwMode="auto">
            <a:xfrm>
              <a:off x="2116" y="2532"/>
              <a:ext cx="31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i="1" dirty="0"/>
                <a:t>V</a:t>
              </a:r>
            </a:p>
          </p:txBody>
        </p:sp>
      </p:grpSp>
      <p:sp>
        <p:nvSpPr>
          <p:cNvPr id="95258" name="Text Box 26"/>
          <p:cNvSpPr txBox="1">
            <a:spLocks noChangeArrowheads="1"/>
          </p:cNvSpPr>
          <p:nvPr/>
        </p:nvSpPr>
        <p:spPr bwMode="auto">
          <a:xfrm>
            <a:off x="4159251" y="2702039"/>
            <a:ext cx="4781550" cy="2357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5000"/>
              </a:lnSpc>
              <a:spcBef>
                <a:spcPct val="50000"/>
              </a:spcBef>
            </a:pPr>
            <a:r>
              <a:rPr lang="en-US" altLang="zh-CN" sz="3200" dirty="0"/>
              <a:t>  </a:t>
            </a:r>
            <a:r>
              <a:rPr lang="zh-CN" altLang="en-US" sz="3200" dirty="0"/>
              <a:t>如图所示，可构成一个单热库热机，从而违反热力学第二定律的开氏表述，故假设不成立。</a:t>
            </a:r>
          </a:p>
        </p:txBody>
      </p:sp>
      <p:sp>
        <p:nvSpPr>
          <p:cNvPr id="35" name="Arc 10"/>
          <p:cNvSpPr>
            <a:spLocks/>
          </p:cNvSpPr>
          <p:nvPr/>
        </p:nvSpPr>
        <p:spPr bwMode="auto">
          <a:xfrm flipH="1" flipV="1">
            <a:off x="2339182" y="3153766"/>
            <a:ext cx="969168" cy="1647823"/>
          </a:xfrm>
          <a:custGeom>
            <a:avLst/>
            <a:gdLst>
              <a:gd name="G0" fmla="+- 0 0 0"/>
              <a:gd name="G1" fmla="+- 21600 0 0"/>
              <a:gd name="G2" fmla="+- 21600 0 0"/>
              <a:gd name="T0" fmla="*/ 0 w 21575"/>
              <a:gd name="T1" fmla="*/ 0 h 21600"/>
              <a:gd name="T2" fmla="*/ 21575 w 21575"/>
              <a:gd name="T3" fmla="*/ 20560 h 21600"/>
              <a:gd name="T4" fmla="*/ 0 w 21575"/>
              <a:gd name="T5" fmla="*/ 21600 h 21600"/>
            </a:gdLst>
            <a:ahLst/>
            <a:cxnLst>
              <a:cxn ang="0">
                <a:pos x="T0" y="T1"/>
              </a:cxn>
              <a:cxn ang="0">
                <a:pos x="T2" y="T3"/>
              </a:cxn>
              <a:cxn ang="0">
                <a:pos x="T4" y="T5"/>
              </a:cxn>
            </a:cxnLst>
            <a:rect l="0" t="0" r="r" b="b"/>
            <a:pathLst>
              <a:path w="21575" h="21600" fill="none" extrusionOk="0">
                <a:moveTo>
                  <a:pt x="-1" y="0"/>
                </a:moveTo>
                <a:cubicBezTo>
                  <a:pt x="11525" y="0"/>
                  <a:pt x="21020" y="9048"/>
                  <a:pt x="21574" y="20560"/>
                </a:cubicBezTo>
              </a:path>
              <a:path w="21575" h="21600" stroke="0" extrusionOk="0">
                <a:moveTo>
                  <a:pt x="-1" y="0"/>
                </a:moveTo>
                <a:cubicBezTo>
                  <a:pt x="11525" y="0"/>
                  <a:pt x="21020" y="9048"/>
                  <a:pt x="21574" y="20560"/>
                </a:cubicBezTo>
                <a:lnTo>
                  <a:pt x="0" y="21600"/>
                </a:lnTo>
                <a:close/>
              </a:path>
            </a:pathLst>
          </a:custGeom>
          <a:noFill/>
          <a:ln w="2857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lang="zh-CN" altLang="zh-CN" sz="2800" b="0">
              <a:solidFill>
                <a:srgbClr val="0000FF"/>
              </a:solidFill>
            </a:endParaRPr>
          </a:p>
        </p:txBody>
      </p:sp>
      <p:sp>
        <p:nvSpPr>
          <p:cNvPr id="36" name="Line 14"/>
          <p:cNvSpPr>
            <a:spLocks noChangeShapeType="1"/>
          </p:cNvSpPr>
          <p:nvPr/>
        </p:nvSpPr>
        <p:spPr bwMode="auto">
          <a:xfrm rot="16200000" flipV="1">
            <a:off x="2297715" y="3903669"/>
            <a:ext cx="264255" cy="36164"/>
          </a:xfrm>
          <a:prstGeom prst="line">
            <a:avLst/>
          </a:prstGeom>
          <a:noFill/>
          <a:ln w="28575">
            <a:solidFill>
              <a:srgbClr val="0000FF"/>
            </a:solidFill>
            <a:round/>
            <a:headEnd type="arrow"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17"/>
          <p:cNvSpPr>
            <a:spLocks noChangeShapeType="1"/>
          </p:cNvSpPr>
          <p:nvPr/>
        </p:nvSpPr>
        <p:spPr bwMode="auto">
          <a:xfrm flipH="1">
            <a:off x="1758155" y="3694310"/>
            <a:ext cx="581025" cy="503238"/>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1212418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234"/>
                                        </p:tgtEl>
                                        <p:attrNameLst>
                                          <p:attrName>style.visibility</p:attrName>
                                        </p:attrNameLst>
                                      </p:cBhvr>
                                      <p:to>
                                        <p:strVal val="visible"/>
                                      </p:to>
                                    </p:set>
                                    <p:animEffect transition="in" filter="wipe(left)">
                                      <p:cBhvr>
                                        <p:cTn id="7" dur="500"/>
                                        <p:tgtEl>
                                          <p:spTgt spid="952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235"/>
                                        </p:tgtEl>
                                        <p:attrNameLst>
                                          <p:attrName>style.visibility</p:attrName>
                                        </p:attrNameLst>
                                      </p:cBhvr>
                                      <p:to>
                                        <p:strVal val="visible"/>
                                      </p:to>
                                    </p:set>
                                    <p:animEffect transition="in" filter="wipe(left)">
                                      <p:cBhvr>
                                        <p:cTn id="12" dur="500"/>
                                        <p:tgtEl>
                                          <p:spTgt spid="952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5238"/>
                                        </p:tgtEl>
                                        <p:attrNameLst>
                                          <p:attrName>style.visibility</p:attrName>
                                        </p:attrNameLst>
                                      </p:cBhvr>
                                      <p:to>
                                        <p:strVal val="visible"/>
                                      </p:to>
                                    </p:set>
                                    <p:animEffect transition="in" filter="wipe(left)">
                                      <p:cBhvr>
                                        <p:cTn id="17" dur="500"/>
                                        <p:tgtEl>
                                          <p:spTgt spid="95238"/>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95266"/>
                                        </p:tgtEl>
                                        <p:attrNameLst>
                                          <p:attrName>style.visibility</p:attrName>
                                        </p:attrNameLst>
                                      </p:cBhvr>
                                      <p:to>
                                        <p:strVal val="visible"/>
                                      </p:to>
                                    </p:set>
                                    <p:animEffect transition="in" filter="wipe(left)">
                                      <p:cBhvr>
                                        <p:cTn id="21" dur="500"/>
                                        <p:tgtEl>
                                          <p:spTgt spid="9526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5258"/>
                                        </p:tgtEl>
                                        <p:attrNameLst>
                                          <p:attrName>style.visibility</p:attrName>
                                        </p:attrNameLst>
                                      </p:cBhvr>
                                      <p:to>
                                        <p:strVal val="visible"/>
                                      </p:to>
                                    </p:set>
                                    <p:animEffect transition="in" filter="wipe(left)">
                                      <p:cBhvr>
                                        <p:cTn id="32" dur="500"/>
                                        <p:tgtEl>
                                          <p:spTgt spid="95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autoUpdateAnimBg="0"/>
      <p:bldP spid="95235" grpId="0" autoUpdateAnimBg="0"/>
      <p:bldP spid="95238" grpId="0" autoUpdateAnimBg="0"/>
      <p:bldP spid="95258" grpId="0" autoUpdateAnimBg="0"/>
      <p:bldP spid="35" grpId="0" animBg="1"/>
      <p:bldP spid="3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ChangeArrowheads="1"/>
          </p:cNvSpPr>
          <p:nvPr/>
        </p:nvSpPr>
        <p:spPr bwMode="auto">
          <a:xfrm>
            <a:off x="132716" y="1603441"/>
            <a:ext cx="5867400" cy="1631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762000" eaLnBrk="0" hangingPunct="0"/>
            <a:r>
              <a:rPr lang="en-US" altLang="zh-CN" sz="2400" b="1">
                <a:solidFill>
                  <a:schemeClr val="folHlink"/>
                </a:solidFill>
              </a:rPr>
              <a:t> 2</a:t>
            </a:r>
            <a:r>
              <a:rPr lang="zh-CN" altLang="en-US" sz="2400" b="1">
                <a:solidFill>
                  <a:schemeClr val="folHlink"/>
                </a:solidFill>
              </a:rPr>
              <a:t>、</a:t>
            </a:r>
            <a:r>
              <a:rPr lang="zh-CN" altLang="en-US" sz="2400" b="1" dirty="0">
                <a:solidFill>
                  <a:schemeClr val="folHlink"/>
                </a:solidFill>
              </a:rPr>
              <a:t>卡诺定理 </a:t>
            </a:r>
            <a:r>
              <a:rPr lang="en-US" altLang="zh-CN" sz="2400" b="1">
                <a:solidFill>
                  <a:schemeClr val="folHlink"/>
                </a:solidFill>
              </a:rPr>
              <a:t>Carnot's theorem</a:t>
            </a:r>
            <a:endParaRPr lang="en-US" altLang="zh-CN" sz="2400" b="1" dirty="0">
              <a:solidFill>
                <a:schemeClr val="folHlink"/>
              </a:solidFill>
            </a:endParaRPr>
          </a:p>
          <a:p>
            <a:pPr algn="l" defTabSz="762000" eaLnBrk="0" hangingPunct="0"/>
            <a:r>
              <a:rPr lang="en-US" altLang="zh-CN" sz="2400" b="1" dirty="0"/>
              <a:t>        </a:t>
            </a:r>
            <a:r>
              <a:rPr lang="zh-CN" altLang="en-US" sz="2400" b="1" dirty="0"/>
              <a:t>（</a:t>
            </a:r>
            <a:r>
              <a:rPr lang="en-US" altLang="zh-CN" sz="2400" b="1" dirty="0"/>
              <a:t>1</a:t>
            </a:r>
            <a:r>
              <a:rPr lang="zh-CN" altLang="en-US" sz="2400" b="1" dirty="0"/>
              <a:t>）在相同的高温热源</a:t>
            </a:r>
            <a:r>
              <a:rPr lang="en-US" altLang="zh-CN" sz="2400" b="1" i="1" dirty="0"/>
              <a:t>T</a:t>
            </a:r>
            <a:r>
              <a:rPr lang="en-US" altLang="zh-CN" sz="2400" b="1" baseline="-25000" dirty="0"/>
              <a:t>1  </a:t>
            </a:r>
            <a:r>
              <a:rPr lang="zh-CN" altLang="en-US" sz="2400" b="1" dirty="0"/>
              <a:t>和相同的低温热源</a:t>
            </a:r>
            <a:r>
              <a:rPr lang="en-US" altLang="zh-CN" sz="2400" b="1" i="1" dirty="0"/>
              <a:t>T</a:t>
            </a:r>
            <a:r>
              <a:rPr lang="en-US" altLang="zh-CN" sz="2400" b="1" baseline="-25000" dirty="0"/>
              <a:t>2</a:t>
            </a:r>
            <a:r>
              <a:rPr lang="en-US" altLang="zh-CN" sz="2400" b="1" dirty="0"/>
              <a:t> </a:t>
            </a:r>
            <a:r>
              <a:rPr lang="zh-CN" altLang="en-US" sz="2400" b="1" dirty="0"/>
              <a:t>之间工作</a:t>
            </a:r>
            <a:r>
              <a:rPr lang="zh-CN" altLang="en-US" sz="2400" b="1"/>
              <a:t>的 一切可逆</a:t>
            </a:r>
            <a:r>
              <a:rPr lang="zh-CN" altLang="en-US" sz="2400" b="1" dirty="0"/>
              <a:t>热机，其效率都相等，与工作物质无关；</a:t>
            </a:r>
            <a:r>
              <a:rPr lang="zh-CN" altLang="en-US" sz="2400" b="1" dirty="0">
                <a:solidFill>
                  <a:srgbClr val="FFFF00"/>
                </a:solidFill>
              </a:rPr>
              <a:t>        </a:t>
            </a:r>
          </a:p>
        </p:txBody>
      </p:sp>
      <p:graphicFrame>
        <p:nvGraphicFramePr>
          <p:cNvPr id="168963" name="Object 3"/>
          <p:cNvGraphicFramePr>
            <a:graphicFrameLocks/>
          </p:cNvGraphicFramePr>
          <p:nvPr>
            <p:extLst>
              <p:ext uri="{D42A27DB-BD31-4B8C-83A1-F6EECF244321}">
                <p14:modId xmlns:p14="http://schemas.microsoft.com/office/powerpoint/2010/main" val="3995231442"/>
              </p:ext>
            </p:extLst>
          </p:nvPr>
        </p:nvGraphicFramePr>
        <p:xfrm>
          <a:off x="6156176" y="1847870"/>
          <a:ext cx="2286000" cy="1143000"/>
        </p:xfrm>
        <a:graphic>
          <a:graphicData uri="http://schemas.openxmlformats.org/presentationml/2006/ole">
            <mc:AlternateContent xmlns:mc="http://schemas.openxmlformats.org/markup-compatibility/2006">
              <mc:Choice xmlns:v="urn:schemas-microsoft-com:vml" Requires="v">
                <p:oleObj spid="_x0000_s107744" name="Equation" r:id="rId4" imgW="660113" imgH="444307" progId="Equation.3">
                  <p:embed/>
                </p:oleObj>
              </mc:Choice>
              <mc:Fallback>
                <p:oleObj name="Equation" r:id="rId4" imgW="660113" imgH="444307"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6176" y="1847870"/>
                        <a:ext cx="2286000" cy="11430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8964" name="Rectangle 4"/>
          <p:cNvSpPr>
            <a:spLocks noChangeArrowheads="1"/>
          </p:cNvSpPr>
          <p:nvPr/>
        </p:nvSpPr>
        <p:spPr bwMode="auto">
          <a:xfrm>
            <a:off x="275908" y="3157247"/>
            <a:ext cx="5715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en-US" altLang="zh-CN" sz="2400" b="1" dirty="0"/>
              <a:t>      </a:t>
            </a:r>
            <a:r>
              <a:rPr lang="zh-CN" altLang="en-US" sz="2400" b="1" dirty="0"/>
              <a:t>（</a:t>
            </a:r>
            <a:r>
              <a:rPr lang="en-US" altLang="zh-CN" sz="2400" b="1" dirty="0"/>
              <a:t>2</a:t>
            </a:r>
            <a:r>
              <a:rPr lang="zh-CN" altLang="en-US" sz="2400" b="1" dirty="0"/>
              <a:t>）在相同的高温热源和相同的低温热源之间工作的 一切不可逆热机，其效率不可能大于可逆热机的效率。</a:t>
            </a:r>
          </a:p>
        </p:txBody>
      </p:sp>
      <p:graphicFrame>
        <p:nvGraphicFramePr>
          <p:cNvPr id="168965" name="Object 5"/>
          <p:cNvGraphicFramePr>
            <a:graphicFrameLocks/>
          </p:cNvGraphicFramePr>
          <p:nvPr>
            <p:extLst>
              <p:ext uri="{D42A27DB-BD31-4B8C-83A1-F6EECF244321}">
                <p14:modId xmlns:p14="http://schemas.microsoft.com/office/powerpoint/2010/main" val="1589693774"/>
              </p:ext>
            </p:extLst>
          </p:nvPr>
        </p:nvGraphicFramePr>
        <p:xfrm>
          <a:off x="6463248" y="3294112"/>
          <a:ext cx="2286000" cy="1143000"/>
        </p:xfrm>
        <a:graphic>
          <a:graphicData uri="http://schemas.openxmlformats.org/presentationml/2006/ole">
            <mc:AlternateContent xmlns:mc="http://schemas.openxmlformats.org/markup-compatibility/2006">
              <mc:Choice xmlns:v="urn:schemas-microsoft-com:vml" Requires="v">
                <p:oleObj spid="_x0000_s107745" name="Equation" r:id="rId6" imgW="660113" imgH="444307" progId="Equation.3">
                  <p:embed/>
                </p:oleObj>
              </mc:Choice>
              <mc:Fallback>
                <p:oleObj name="Equation" r:id="rId6" imgW="660113" imgH="444307"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63248" y="3294112"/>
                        <a:ext cx="2286000" cy="11430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8966" name="Text Box 6"/>
          <p:cNvSpPr txBox="1">
            <a:spLocks noChangeArrowheads="1"/>
          </p:cNvSpPr>
          <p:nvPr/>
        </p:nvSpPr>
        <p:spPr bwMode="auto">
          <a:xfrm>
            <a:off x="323850" y="4624083"/>
            <a:ext cx="4419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400" b="1" dirty="0">
                <a:solidFill>
                  <a:schemeClr val="folHlink"/>
                </a:solidFill>
              </a:rPr>
              <a:t>卡诺定理的意义</a:t>
            </a:r>
          </a:p>
          <a:p>
            <a:pPr algn="l" eaLnBrk="1" hangingPunct="1">
              <a:spcBef>
                <a:spcPct val="50000"/>
              </a:spcBef>
            </a:pPr>
            <a:r>
              <a:rPr lang="en-US" altLang="zh-CN" sz="2400" b="1"/>
              <a:t>1</a:t>
            </a:r>
            <a:r>
              <a:rPr lang="zh-CN" altLang="en-US" sz="2400" b="1"/>
              <a:t>）、</a:t>
            </a:r>
            <a:r>
              <a:rPr lang="zh-CN" altLang="en-US" sz="2400" b="1" dirty="0"/>
              <a:t>给出了热机效率的极限</a:t>
            </a:r>
          </a:p>
          <a:p>
            <a:pPr algn="l" eaLnBrk="1" hangingPunct="1">
              <a:spcBef>
                <a:spcPct val="50000"/>
              </a:spcBef>
            </a:pPr>
            <a:r>
              <a:rPr lang="en-US" altLang="zh-CN" sz="2400" b="1"/>
              <a:t>2</a:t>
            </a:r>
            <a:r>
              <a:rPr lang="zh-CN" altLang="en-US" sz="2400" b="1"/>
              <a:t>）、</a:t>
            </a:r>
            <a:r>
              <a:rPr lang="zh-CN" altLang="en-US" sz="2400" b="1" dirty="0"/>
              <a:t>指出提高热机效率的途径：</a:t>
            </a:r>
          </a:p>
        </p:txBody>
      </p:sp>
      <p:sp>
        <p:nvSpPr>
          <p:cNvPr id="168967" name="Text Box 7"/>
          <p:cNvSpPr txBox="1">
            <a:spLocks noChangeArrowheads="1"/>
          </p:cNvSpPr>
          <p:nvPr/>
        </p:nvSpPr>
        <p:spPr bwMode="auto">
          <a:xfrm>
            <a:off x="4953000" y="5299347"/>
            <a:ext cx="4191000"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400" b="1"/>
              <a:t>过程</a:t>
            </a:r>
            <a:r>
              <a:rPr lang="en-US" altLang="zh-CN" sz="2400" b="1"/>
              <a:t>——</a:t>
            </a:r>
            <a:r>
              <a:rPr lang="zh-CN" altLang="en-US" sz="2400" b="1"/>
              <a:t>尽可能接近可逆机；</a:t>
            </a:r>
          </a:p>
          <a:p>
            <a:pPr algn="l" eaLnBrk="1" hangingPunct="1">
              <a:spcBef>
                <a:spcPct val="50000"/>
              </a:spcBef>
            </a:pPr>
            <a:r>
              <a:rPr lang="zh-CN" altLang="en-US" sz="2400" b="1"/>
              <a:t>热源</a:t>
            </a:r>
            <a:r>
              <a:rPr lang="en-US" altLang="zh-CN" sz="2400" b="1"/>
              <a:t>——</a:t>
            </a:r>
            <a:r>
              <a:rPr lang="zh-CN" altLang="en-US" sz="2400" b="1"/>
              <a:t>尽可能提高热源的温度差。（</a:t>
            </a:r>
            <a:r>
              <a:rPr lang="en-US" altLang="zh-CN" sz="2400" b="1"/>
              <a:t>T</a:t>
            </a:r>
            <a:r>
              <a:rPr lang="en-US" altLang="zh-CN" sz="2400" b="1" baseline="-25000"/>
              <a:t>2</a:t>
            </a:r>
            <a:r>
              <a:rPr lang="zh-CN" altLang="en-US" sz="2400" b="1"/>
              <a:t>有限，提高</a:t>
            </a:r>
            <a:r>
              <a:rPr lang="en-US" altLang="zh-CN" sz="2400" b="1"/>
              <a:t>T</a:t>
            </a:r>
            <a:r>
              <a:rPr lang="en-US" altLang="zh-CN" sz="2400" b="1" baseline="-25000"/>
              <a:t>1</a:t>
            </a:r>
            <a:r>
              <a:rPr lang="zh-CN" altLang="en-US" sz="2400" b="1"/>
              <a:t>）</a:t>
            </a:r>
          </a:p>
        </p:txBody>
      </p:sp>
      <p:sp>
        <p:nvSpPr>
          <p:cNvPr id="168968" name="AutoShape 8"/>
          <p:cNvSpPr>
            <a:spLocks/>
          </p:cNvSpPr>
          <p:nvPr/>
        </p:nvSpPr>
        <p:spPr bwMode="auto">
          <a:xfrm>
            <a:off x="4657725" y="5408913"/>
            <a:ext cx="381000" cy="762000"/>
          </a:xfrm>
          <a:prstGeom prst="leftBrace">
            <a:avLst>
              <a:gd name="adj1" fmla="val 1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4">
            <a:extLst>
              <a:ext uri="{FF2B5EF4-FFF2-40B4-BE49-F238E27FC236}">
                <a16:creationId xmlns:a16="http://schemas.microsoft.com/office/drawing/2014/main" id="{011E8595-9329-4C6C-8AB7-A4B7253A3FE7}"/>
              </a:ext>
            </a:extLst>
          </p:cNvPr>
          <p:cNvSpPr>
            <a:spLocks noChangeArrowheads="1"/>
          </p:cNvSpPr>
          <p:nvPr/>
        </p:nvSpPr>
        <p:spPr bwMode="auto">
          <a:xfrm>
            <a:off x="127954" y="105810"/>
            <a:ext cx="9196574" cy="1631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800" b="1">
                <a:solidFill>
                  <a:schemeClr val="folHlink"/>
                </a:solidFill>
              </a:rPr>
              <a:t>四、卡诺定理 </a:t>
            </a:r>
            <a:r>
              <a:rPr lang="en-US" altLang="zh-CN" sz="2800" b="1">
                <a:solidFill>
                  <a:schemeClr val="folHlink"/>
                </a:solidFill>
              </a:rPr>
              <a:t>Carnot's theorem</a:t>
            </a:r>
          </a:p>
          <a:p>
            <a:pPr algn="l"/>
            <a:endParaRPr lang="en-US" altLang="zh-CN" sz="2800" b="1">
              <a:solidFill>
                <a:schemeClr val="folHlink"/>
              </a:solidFill>
            </a:endParaRPr>
          </a:p>
          <a:p>
            <a:r>
              <a:rPr kumimoji="1" lang="en-US" altLang="zh-CN" sz="2400" b="1">
                <a:solidFill>
                  <a:srgbClr val="0000FF"/>
                </a:solidFill>
              </a:rPr>
              <a:t>1</a:t>
            </a:r>
            <a:r>
              <a:rPr kumimoji="1" lang="zh-CN" altLang="en-US" sz="2400" b="1">
                <a:solidFill>
                  <a:srgbClr val="0000FF"/>
                </a:solidFill>
              </a:rPr>
              <a:t>、可逆</a:t>
            </a:r>
            <a:r>
              <a:rPr kumimoji="1" lang="zh-CN" altLang="en-US" sz="2400" b="1" dirty="0">
                <a:solidFill>
                  <a:srgbClr val="0000FF"/>
                </a:solidFill>
              </a:rPr>
              <a:t>机：</a:t>
            </a:r>
            <a:r>
              <a:rPr kumimoji="1" lang="zh-CN" altLang="en-US" sz="2400" b="1" dirty="0"/>
              <a:t>作可逆循环过程的</a:t>
            </a:r>
            <a:r>
              <a:rPr kumimoji="1" lang="zh-CN" altLang="en-US" sz="2400" b="1"/>
              <a:t>机器</a:t>
            </a:r>
            <a:r>
              <a:rPr lang="zh-CN" altLang="en-US" sz="2400" b="1"/>
              <a:t>。作</a:t>
            </a:r>
            <a:r>
              <a:rPr lang="zh-CN" altLang="en-US" sz="2400" b="1">
                <a:solidFill>
                  <a:srgbClr val="3333FF"/>
                </a:solidFill>
              </a:rPr>
              <a:t>卡诺循环的机器是可逆机</a:t>
            </a:r>
            <a:r>
              <a:rPr lang="zh-CN" altLang="en-US" sz="2400" b="1"/>
              <a:t>。</a:t>
            </a:r>
          </a:p>
          <a:p>
            <a:endParaRPr kumimoji="1" lang="zh-CN" altLang="en-US" dirty="0"/>
          </a:p>
        </p:txBody>
      </p:sp>
    </p:spTree>
    <p:extLst>
      <p:ext uri="{BB962C8B-B14F-4D97-AF65-F5344CB8AC3E}">
        <p14:creationId xmlns:p14="http://schemas.microsoft.com/office/powerpoint/2010/main" val="257634311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68962"/>
                                        </p:tgtEl>
                                        <p:attrNameLst>
                                          <p:attrName>style.visibility</p:attrName>
                                        </p:attrNameLst>
                                      </p:cBhvr>
                                      <p:to>
                                        <p:strVal val="visible"/>
                                      </p:to>
                                    </p:set>
                                    <p:animEffect transition="in" filter="blinds(horizontal)">
                                      <p:cBhvr>
                                        <p:cTn id="11" dur="500"/>
                                        <p:tgtEl>
                                          <p:spTgt spid="168962"/>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nodeType="clickEffect">
                                  <p:stCondLst>
                                    <p:cond delay="0"/>
                                  </p:stCondLst>
                                  <p:childTnLst>
                                    <p:set>
                                      <p:cBhvr>
                                        <p:cTn id="15" dur="1" fill="hold">
                                          <p:stCondLst>
                                            <p:cond delay="0"/>
                                          </p:stCondLst>
                                        </p:cTn>
                                        <p:tgtEl>
                                          <p:spTgt spid="168963"/>
                                        </p:tgtEl>
                                        <p:attrNameLst>
                                          <p:attrName>style.visibility</p:attrName>
                                        </p:attrNameLst>
                                      </p:cBhvr>
                                      <p:to>
                                        <p:strVal val="visible"/>
                                      </p:to>
                                    </p:set>
                                    <p:anim calcmode="lin" valueType="num">
                                      <p:cBhvr additive="base">
                                        <p:cTn id="16" dur="500" fill="hold"/>
                                        <p:tgtEl>
                                          <p:spTgt spid="168963"/>
                                        </p:tgtEl>
                                        <p:attrNameLst>
                                          <p:attrName>ppt_x</p:attrName>
                                        </p:attrNameLst>
                                      </p:cBhvr>
                                      <p:tavLst>
                                        <p:tav tm="0">
                                          <p:val>
                                            <p:strVal val="1+#ppt_w/2"/>
                                          </p:val>
                                        </p:tav>
                                        <p:tav tm="100000">
                                          <p:val>
                                            <p:strVal val="#ppt_x"/>
                                          </p:val>
                                        </p:tav>
                                      </p:tavLst>
                                    </p:anim>
                                    <p:anim calcmode="lin" valueType="num">
                                      <p:cBhvr additive="base">
                                        <p:cTn id="17" dur="500" fill="hold"/>
                                        <p:tgtEl>
                                          <p:spTgt spid="168963"/>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8964"/>
                                        </p:tgtEl>
                                        <p:attrNameLst>
                                          <p:attrName>style.visibility</p:attrName>
                                        </p:attrNameLst>
                                      </p:cBhvr>
                                      <p:to>
                                        <p:strVal val="visible"/>
                                      </p:to>
                                    </p:set>
                                    <p:animEffect transition="in" filter="blinds(horizontal)">
                                      <p:cBhvr>
                                        <p:cTn id="22" dur="500"/>
                                        <p:tgtEl>
                                          <p:spTgt spid="16896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168965"/>
                                        </p:tgtEl>
                                        <p:attrNameLst>
                                          <p:attrName>style.visibility</p:attrName>
                                        </p:attrNameLst>
                                      </p:cBhvr>
                                      <p:to>
                                        <p:strVal val="visible"/>
                                      </p:to>
                                    </p:set>
                                    <p:anim calcmode="lin" valueType="num">
                                      <p:cBhvr additive="base">
                                        <p:cTn id="27" dur="500" fill="hold"/>
                                        <p:tgtEl>
                                          <p:spTgt spid="168965"/>
                                        </p:tgtEl>
                                        <p:attrNameLst>
                                          <p:attrName>ppt_x</p:attrName>
                                        </p:attrNameLst>
                                      </p:cBhvr>
                                      <p:tavLst>
                                        <p:tav tm="0">
                                          <p:val>
                                            <p:strVal val="1+#ppt_w/2"/>
                                          </p:val>
                                        </p:tav>
                                        <p:tav tm="100000">
                                          <p:val>
                                            <p:strVal val="#ppt_x"/>
                                          </p:val>
                                        </p:tav>
                                      </p:tavLst>
                                    </p:anim>
                                    <p:anim calcmode="lin" valueType="num">
                                      <p:cBhvr additive="base">
                                        <p:cTn id="28" dur="500" fill="hold"/>
                                        <p:tgtEl>
                                          <p:spTgt spid="16896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68966"/>
                                        </p:tgtEl>
                                        <p:attrNameLst>
                                          <p:attrName>style.visibility</p:attrName>
                                        </p:attrNameLst>
                                      </p:cBhvr>
                                      <p:to>
                                        <p:strVal val="visible"/>
                                      </p:to>
                                    </p:set>
                                    <p:animEffect transition="in" filter="blinds(horizontal)">
                                      <p:cBhvr>
                                        <p:cTn id="33" dur="500"/>
                                        <p:tgtEl>
                                          <p:spTgt spid="16896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6896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8967">
                                            <p:txEl>
                                              <p:pRg st="0" end="0"/>
                                            </p:txEl>
                                          </p:spTgt>
                                        </p:tgtEl>
                                        <p:attrNameLst>
                                          <p:attrName>style.visibility</p:attrName>
                                        </p:attrNameLst>
                                      </p:cBhvr>
                                      <p:to>
                                        <p:strVal val="visible"/>
                                      </p:to>
                                    </p:set>
                                    <p:animEffect transition="in" filter="blinds(horizontal)">
                                      <p:cBhvr>
                                        <p:cTn id="42" dur="500"/>
                                        <p:tgtEl>
                                          <p:spTgt spid="168967">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8967">
                                            <p:txEl>
                                              <p:pRg st="1" end="1"/>
                                            </p:txEl>
                                          </p:spTgt>
                                        </p:tgtEl>
                                        <p:attrNameLst>
                                          <p:attrName>style.visibility</p:attrName>
                                        </p:attrNameLst>
                                      </p:cBhvr>
                                      <p:to>
                                        <p:strVal val="visible"/>
                                      </p:to>
                                    </p:set>
                                    <p:animEffect transition="in" filter="blinds(horizontal)">
                                      <p:cBhvr>
                                        <p:cTn id="47" dur="500"/>
                                        <p:tgtEl>
                                          <p:spTgt spid="1689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autoUpdateAnimBg="0"/>
      <p:bldP spid="168964" grpId="0" autoUpdateAnimBg="0"/>
      <p:bldP spid="168966" grpId="0" autoUpdateAnimBg="0"/>
      <p:bldP spid="168967" grpId="0" build="p" autoUpdateAnimBg="0"/>
      <p:bldP spid="168968" grpId="0" animBg="1"/>
      <p:bldP spid="1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4"/>
          <p:cNvSpPr>
            <a:spLocks noChangeArrowheads="1"/>
          </p:cNvSpPr>
          <p:nvPr/>
        </p:nvSpPr>
        <p:spPr bwMode="auto">
          <a:xfrm>
            <a:off x="1763713" y="965200"/>
            <a:ext cx="72723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a:t>1. </a:t>
            </a:r>
            <a:r>
              <a:rPr kumimoji="1" lang="zh-CN" altLang="en-US"/>
              <a:t>设</a:t>
            </a:r>
            <a:r>
              <a:rPr kumimoji="1" lang="en-US" altLang="zh-CN"/>
              <a:t>E</a:t>
            </a:r>
            <a:r>
              <a:rPr kumimoji="1" lang="zh-CN" altLang="en-US"/>
              <a:t>为卡诺理想可逆机，</a:t>
            </a:r>
            <a:r>
              <a:rPr kumimoji="1" lang="en-US" altLang="zh-CN"/>
              <a:t>E</a:t>
            </a:r>
            <a:r>
              <a:rPr kumimoji="1" lang="en-US" altLang="zh-CN" i="1">
                <a:cs typeface="Times New Roman" pitchFamily="18" charset="0"/>
              </a:rPr>
              <a:t>'</a:t>
            </a:r>
            <a:r>
              <a:rPr kumimoji="1" lang="zh-CN" altLang="en-US"/>
              <a:t>为另一可逆机。</a:t>
            </a:r>
          </a:p>
        </p:txBody>
      </p:sp>
      <p:graphicFrame>
        <p:nvGraphicFramePr>
          <p:cNvPr id="91141" name="Object 5"/>
          <p:cNvGraphicFramePr>
            <a:graphicFrameLocks noChangeAspect="1"/>
          </p:cNvGraphicFramePr>
          <p:nvPr>
            <p:extLst/>
          </p:nvPr>
        </p:nvGraphicFramePr>
        <p:xfrm>
          <a:off x="1436688" y="1706563"/>
          <a:ext cx="2430462" cy="563562"/>
        </p:xfrm>
        <a:graphic>
          <a:graphicData uri="http://schemas.openxmlformats.org/presentationml/2006/ole">
            <mc:AlternateContent xmlns:mc="http://schemas.openxmlformats.org/markup-compatibility/2006">
              <mc:Choice xmlns:v="urn:schemas-microsoft-com:vml" Requires="v">
                <p:oleObj spid="_x0000_s171350" name="公式" r:id="rId3" imgW="761760" imgH="215640" progId="Equation.3">
                  <p:embed/>
                </p:oleObj>
              </mc:Choice>
              <mc:Fallback>
                <p:oleObj name="公式" r:id="rId3" imgW="761760" imgH="215640" progId="Equation.3">
                  <p:embed/>
                  <p:pic>
                    <p:nvPicPr>
                      <p:cNvPr id="91141" name="Object 5"/>
                      <p:cNvPicPr>
                        <a:picLocks noChangeAspect="1" noChangeArrowheads="1"/>
                      </p:cNvPicPr>
                      <p:nvPr/>
                    </p:nvPicPr>
                    <p:blipFill>
                      <a:blip r:embed="rId4">
                        <a:lum bright="2000"/>
                      </a:blip>
                      <a:srcRect/>
                      <a:stretch>
                        <a:fillRect/>
                      </a:stretch>
                    </p:blipFill>
                    <p:spPr bwMode="auto">
                      <a:xfrm>
                        <a:off x="1436688" y="1706563"/>
                        <a:ext cx="2430462"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42" name="Object 6"/>
          <p:cNvGraphicFramePr>
            <a:graphicFrameLocks noChangeAspect="1"/>
          </p:cNvGraphicFramePr>
          <p:nvPr>
            <p:extLst/>
          </p:nvPr>
        </p:nvGraphicFramePr>
        <p:xfrm>
          <a:off x="3780408" y="1700808"/>
          <a:ext cx="1943720" cy="561683"/>
        </p:xfrm>
        <a:graphic>
          <a:graphicData uri="http://schemas.openxmlformats.org/presentationml/2006/ole">
            <mc:AlternateContent xmlns:mc="http://schemas.openxmlformats.org/markup-compatibility/2006">
              <mc:Choice xmlns:v="urn:schemas-microsoft-com:vml" Requires="v">
                <p:oleObj spid="_x0000_s171351" name="公式" r:id="rId5" imgW="609480" imgH="215640" progId="Equation.3">
                  <p:embed/>
                </p:oleObj>
              </mc:Choice>
              <mc:Fallback>
                <p:oleObj name="公式" r:id="rId5" imgW="609480" imgH="215640" progId="Equation.3">
                  <p:embed/>
                  <p:pic>
                    <p:nvPicPr>
                      <p:cNvPr id="91142" name="Object 6"/>
                      <p:cNvPicPr>
                        <a:picLocks noChangeAspect="1" noChangeArrowheads="1"/>
                      </p:cNvPicPr>
                      <p:nvPr/>
                    </p:nvPicPr>
                    <p:blipFill>
                      <a:blip r:embed="rId6">
                        <a:lum bright="2000"/>
                      </a:blip>
                      <a:srcRect/>
                      <a:stretch>
                        <a:fillRect/>
                      </a:stretch>
                    </p:blipFill>
                    <p:spPr bwMode="auto">
                      <a:xfrm>
                        <a:off x="3780408" y="1700808"/>
                        <a:ext cx="1943720" cy="561683"/>
                      </a:xfrm>
                      <a:prstGeom prst="rect">
                        <a:avLst/>
                      </a:prstGeom>
                      <a:noFill/>
                      <a:ln>
                        <a:noFill/>
                      </a:ln>
                      <a:effectLst/>
                      <a:extLst/>
                    </p:spPr>
                  </p:pic>
                </p:oleObj>
              </mc:Fallback>
            </mc:AlternateContent>
          </a:graphicData>
        </a:graphic>
      </p:graphicFrame>
      <p:graphicFrame>
        <p:nvGraphicFramePr>
          <p:cNvPr id="91143" name="Object 7"/>
          <p:cNvGraphicFramePr>
            <a:graphicFrameLocks noChangeAspect="1"/>
          </p:cNvGraphicFramePr>
          <p:nvPr>
            <p:extLst/>
          </p:nvPr>
        </p:nvGraphicFramePr>
        <p:xfrm>
          <a:off x="1554907" y="2636912"/>
          <a:ext cx="2008981" cy="582612"/>
        </p:xfrm>
        <a:graphic>
          <a:graphicData uri="http://schemas.openxmlformats.org/presentationml/2006/ole">
            <mc:AlternateContent xmlns:mc="http://schemas.openxmlformats.org/markup-compatibility/2006">
              <mc:Choice xmlns:v="urn:schemas-microsoft-com:vml" Requires="v">
                <p:oleObj spid="_x0000_s171352" name="公式" r:id="rId7" imgW="723600" imgH="215640" progId="Equation.3">
                  <p:embed/>
                </p:oleObj>
              </mc:Choice>
              <mc:Fallback>
                <p:oleObj name="公式" r:id="rId7" imgW="723600" imgH="215640" progId="Equation.3">
                  <p:embed/>
                  <p:pic>
                    <p:nvPicPr>
                      <p:cNvPr id="91143" name="Object 7"/>
                      <p:cNvPicPr>
                        <a:picLocks noChangeAspect="1" noChangeArrowheads="1"/>
                      </p:cNvPicPr>
                      <p:nvPr/>
                    </p:nvPicPr>
                    <p:blipFill>
                      <a:blip r:embed="rId8">
                        <a:lum bright="2000"/>
                      </a:blip>
                      <a:srcRect/>
                      <a:stretch>
                        <a:fillRect/>
                      </a:stretch>
                    </p:blipFill>
                    <p:spPr bwMode="auto">
                      <a:xfrm>
                        <a:off x="1554907" y="2636912"/>
                        <a:ext cx="2008981" cy="582612"/>
                      </a:xfrm>
                      <a:prstGeom prst="rect">
                        <a:avLst/>
                      </a:prstGeom>
                      <a:noFill/>
                      <a:ln>
                        <a:noFill/>
                      </a:ln>
                      <a:effectLst/>
                      <a:extLst/>
                    </p:spPr>
                  </p:pic>
                </p:oleObj>
              </mc:Fallback>
            </mc:AlternateContent>
          </a:graphicData>
        </a:graphic>
      </p:graphicFrame>
      <p:graphicFrame>
        <p:nvGraphicFramePr>
          <p:cNvPr id="91144" name="Object 8"/>
          <p:cNvGraphicFramePr>
            <a:graphicFrameLocks noChangeAspect="1"/>
          </p:cNvGraphicFramePr>
          <p:nvPr>
            <p:extLst/>
          </p:nvPr>
        </p:nvGraphicFramePr>
        <p:xfrm>
          <a:off x="6784975" y="1989138"/>
          <a:ext cx="1624013" cy="1169987"/>
        </p:xfrm>
        <a:graphic>
          <a:graphicData uri="http://schemas.openxmlformats.org/presentationml/2006/ole">
            <mc:AlternateContent xmlns:mc="http://schemas.openxmlformats.org/markup-compatibility/2006">
              <mc:Choice xmlns:v="urn:schemas-microsoft-com:vml" Requires="v">
                <p:oleObj spid="_x0000_s171353" name="公式" r:id="rId9" imgW="520560" imgH="457200" progId="Equation.3">
                  <p:embed/>
                </p:oleObj>
              </mc:Choice>
              <mc:Fallback>
                <p:oleObj name="公式" r:id="rId9" imgW="520560" imgH="457200" progId="Equation.3">
                  <p:embed/>
                  <p:pic>
                    <p:nvPicPr>
                      <p:cNvPr id="91144" name="Object 8"/>
                      <p:cNvPicPr>
                        <a:picLocks noChangeAspect="1" noChangeArrowheads="1"/>
                      </p:cNvPicPr>
                      <p:nvPr/>
                    </p:nvPicPr>
                    <p:blipFill>
                      <a:blip r:embed="rId10">
                        <a:lum bright="2000"/>
                      </a:blip>
                      <a:srcRect/>
                      <a:stretch>
                        <a:fillRect/>
                      </a:stretch>
                    </p:blipFill>
                    <p:spPr bwMode="auto">
                      <a:xfrm>
                        <a:off x="6784975" y="1989138"/>
                        <a:ext cx="1624013" cy="116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45" name="Object 9"/>
          <p:cNvGraphicFramePr>
            <a:graphicFrameLocks noChangeAspect="1"/>
          </p:cNvGraphicFramePr>
          <p:nvPr>
            <p:extLst/>
          </p:nvPr>
        </p:nvGraphicFramePr>
        <p:xfrm>
          <a:off x="3638057" y="2420888"/>
          <a:ext cx="2237237" cy="1057325"/>
        </p:xfrm>
        <a:graphic>
          <a:graphicData uri="http://schemas.openxmlformats.org/presentationml/2006/ole">
            <mc:AlternateContent xmlns:mc="http://schemas.openxmlformats.org/markup-compatibility/2006">
              <mc:Choice xmlns:v="urn:schemas-microsoft-com:vml" Requires="v">
                <p:oleObj spid="_x0000_s171354" name="公式" r:id="rId11" imgW="749160" imgH="431640" progId="Equation.3">
                  <p:embed/>
                </p:oleObj>
              </mc:Choice>
              <mc:Fallback>
                <p:oleObj name="公式" r:id="rId11" imgW="749160" imgH="431640" progId="Equation.3">
                  <p:embed/>
                  <p:pic>
                    <p:nvPicPr>
                      <p:cNvPr id="91145" name="Object 9"/>
                      <p:cNvPicPr>
                        <a:picLocks noChangeAspect="1" noChangeArrowheads="1"/>
                      </p:cNvPicPr>
                      <p:nvPr/>
                    </p:nvPicPr>
                    <p:blipFill>
                      <a:blip r:embed="rId12">
                        <a:lum bright="2000"/>
                      </a:blip>
                      <a:srcRect/>
                      <a:stretch>
                        <a:fillRect/>
                      </a:stretch>
                    </p:blipFill>
                    <p:spPr bwMode="auto">
                      <a:xfrm>
                        <a:off x="3638057" y="2420888"/>
                        <a:ext cx="2237237" cy="1057325"/>
                      </a:xfrm>
                      <a:prstGeom prst="rect">
                        <a:avLst/>
                      </a:prstGeom>
                      <a:noFill/>
                      <a:ln>
                        <a:noFill/>
                      </a:ln>
                      <a:effectLst/>
                      <a:extLst/>
                    </p:spPr>
                  </p:pic>
                </p:oleObj>
              </mc:Fallback>
            </mc:AlternateContent>
          </a:graphicData>
        </a:graphic>
      </p:graphicFrame>
      <p:sp>
        <p:nvSpPr>
          <p:cNvPr id="91152" name="AutoShape 16"/>
          <p:cNvSpPr>
            <a:spLocks/>
          </p:cNvSpPr>
          <p:nvPr/>
        </p:nvSpPr>
        <p:spPr bwMode="auto">
          <a:xfrm>
            <a:off x="5940425" y="2060575"/>
            <a:ext cx="152400" cy="1143000"/>
          </a:xfrm>
          <a:prstGeom prst="rightBrace">
            <a:avLst>
              <a:gd name="adj1" fmla="val 62500"/>
              <a:gd name="adj2" fmla="val 48056"/>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1155" name="Object 19"/>
          <p:cNvGraphicFramePr>
            <a:graphicFrameLocks noChangeAspect="1"/>
          </p:cNvGraphicFramePr>
          <p:nvPr>
            <p:extLst/>
          </p:nvPr>
        </p:nvGraphicFramePr>
        <p:xfrm>
          <a:off x="3451845" y="4489450"/>
          <a:ext cx="2200275" cy="730250"/>
        </p:xfrm>
        <a:graphic>
          <a:graphicData uri="http://schemas.openxmlformats.org/presentationml/2006/ole">
            <mc:AlternateContent xmlns:mc="http://schemas.openxmlformats.org/markup-compatibility/2006">
              <mc:Choice xmlns:v="urn:schemas-microsoft-com:vml" Requires="v">
                <p:oleObj spid="_x0000_s171355" name="公式" r:id="rId13" imgW="723600" imgH="215640" progId="Equation.3">
                  <p:embed/>
                </p:oleObj>
              </mc:Choice>
              <mc:Fallback>
                <p:oleObj name="公式" r:id="rId13" imgW="723600" imgH="215640" progId="Equation.3">
                  <p:embed/>
                  <p:pic>
                    <p:nvPicPr>
                      <p:cNvPr id="91155" name="Object 19"/>
                      <p:cNvPicPr>
                        <a:picLocks noChangeAspect="1" noChangeArrowheads="1"/>
                      </p:cNvPicPr>
                      <p:nvPr/>
                    </p:nvPicPr>
                    <p:blipFill>
                      <a:blip r:embed="rId14"/>
                      <a:srcRect/>
                      <a:stretch>
                        <a:fillRect/>
                      </a:stretch>
                    </p:blipFill>
                    <p:spPr bwMode="auto">
                      <a:xfrm>
                        <a:off x="3451845" y="4489450"/>
                        <a:ext cx="2200275" cy="730250"/>
                      </a:xfrm>
                      <a:prstGeom prst="rect">
                        <a:avLst/>
                      </a:prstGeom>
                      <a:noFill/>
                      <a:ln>
                        <a:noFill/>
                      </a:ln>
                      <a:effectLst/>
                      <a:extLst/>
                    </p:spPr>
                  </p:pic>
                </p:oleObj>
              </mc:Fallback>
            </mc:AlternateContent>
          </a:graphicData>
        </a:graphic>
      </p:graphicFrame>
      <p:grpSp>
        <p:nvGrpSpPr>
          <p:cNvPr id="91156" name="Group 20"/>
          <p:cNvGrpSpPr>
            <a:grpSpLocks/>
          </p:cNvGrpSpPr>
          <p:nvPr/>
        </p:nvGrpSpPr>
        <p:grpSpPr bwMode="auto">
          <a:xfrm>
            <a:off x="5537200" y="3789363"/>
            <a:ext cx="2400300" cy="2455862"/>
            <a:chOff x="3456" y="2352"/>
            <a:chExt cx="1834" cy="1853"/>
          </a:xfrm>
        </p:grpSpPr>
        <p:sp>
          <p:nvSpPr>
            <p:cNvPr id="91157" name="Rectangle 21"/>
            <p:cNvSpPr>
              <a:spLocks noChangeArrowheads="1"/>
            </p:cNvSpPr>
            <p:nvPr/>
          </p:nvSpPr>
          <p:spPr bwMode="auto">
            <a:xfrm>
              <a:off x="3456" y="2365"/>
              <a:ext cx="1816" cy="313"/>
            </a:xfrm>
            <a:prstGeom prst="rect">
              <a:avLst/>
            </a:prstGeom>
            <a:solidFill>
              <a:srgbClr val="DB856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8" name="Rectangle 22"/>
            <p:cNvSpPr>
              <a:spLocks noChangeArrowheads="1"/>
            </p:cNvSpPr>
            <p:nvPr/>
          </p:nvSpPr>
          <p:spPr bwMode="auto">
            <a:xfrm>
              <a:off x="3456" y="3876"/>
              <a:ext cx="1816" cy="312"/>
            </a:xfrm>
            <a:prstGeom prst="rect">
              <a:avLst/>
            </a:prstGeom>
            <a:solidFill>
              <a:srgbClr val="ACACD8"/>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9" name="Rectangle 23"/>
            <p:cNvSpPr>
              <a:spLocks noChangeArrowheads="1"/>
            </p:cNvSpPr>
            <p:nvPr/>
          </p:nvSpPr>
          <p:spPr bwMode="auto">
            <a:xfrm>
              <a:off x="4156" y="2352"/>
              <a:ext cx="141" cy="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a:latin typeface="Times New Roman" pitchFamily="18" charset="0"/>
              </a:endParaRPr>
            </a:p>
          </p:txBody>
        </p:sp>
        <p:sp>
          <p:nvSpPr>
            <p:cNvPr id="91160" name="Rectangle 24"/>
            <p:cNvSpPr>
              <a:spLocks noChangeArrowheads="1"/>
            </p:cNvSpPr>
            <p:nvPr/>
          </p:nvSpPr>
          <p:spPr bwMode="auto">
            <a:xfrm>
              <a:off x="4124" y="2352"/>
              <a:ext cx="361"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400" i="1">
                  <a:latin typeface="Times New Roman" pitchFamily="18" charset="0"/>
                </a:rPr>
                <a:t>T</a:t>
              </a:r>
              <a:r>
                <a:rPr kumimoji="1" lang="en-US" altLang="zh-CN" sz="2400" baseline="-25000">
                  <a:latin typeface="Times New Roman" pitchFamily="18" charset="0"/>
                </a:rPr>
                <a:t>1</a:t>
              </a:r>
              <a:endParaRPr kumimoji="1" lang="en-US" altLang="zh-CN" sz="2400">
                <a:latin typeface="Times New Roman" pitchFamily="18" charset="0"/>
              </a:endParaRPr>
            </a:p>
          </p:txBody>
        </p:sp>
        <p:sp>
          <p:nvSpPr>
            <p:cNvPr id="91161" name="Rectangle 25"/>
            <p:cNvSpPr>
              <a:spLocks noChangeArrowheads="1"/>
            </p:cNvSpPr>
            <p:nvPr/>
          </p:nvSpPr>
          <p:spPr bwMode="auto">
            <a:xfrm>
              <a:off x="4143" y="3860"/>
              <a:ext cx="360"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400" i="1">
                  <a:latin typeface="Times New Roman" pitchFamily="18" charset="0"/>
                </a:rPr>
                <a:t>T</a:t>
              </a:r>
              <a:r>
                <a:rPr kumimoji="1" lang="en-US" altLang="zh-CN" sz="2400" baseline="-25000">
                  <a:latin typeface="Times New Roman" pitchFamily="18" charset="0"/>
                </a:rPr>
                <a:t>2</a:t>
              </a:r>
              <a:endParaRPr kumimoji="1" lang="en-US" altLang="zh-CN" sz="2400" i="1">
                <a:latin typeface="Times New Roman" pitchFamily="18" charset="0"/>
              </a:endParaRPr>
            </a:p>
          </p:txBody>
        </p:sp>
        <p:sp>
          <p:nvSpPr>
            <p:cNvPr id="91162" name="Oval 26"/>
            <p:cNvSpPr>
              <a:spLocks noChangeArrowheads="1"/>
            </p:cNvSpPr>
            <p:nvPr/>
          </p:nvSpPr>
          <p:spPr bwMode="auto">
            <a:xfrm>
              <a:off x="3984" y="2976"/>
              <a:ext cx="624" cy="592"/>
            </a:xfrm>
            <a:prstGeom prst="ellipse">
              <a:avLst/>
            </a:prstGeom>
            <a:solidFill>
              <a:srgbClr val="FFCC00"/>
            </a:solidFill>
            <a:ln w="2857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a:solidFill>
                  <a:srgbClr val="FF0066"/>
                </a:solidFill>
              </a:endParaRPr>
            </a:p>
          </p:txBody>
        </p:sp>
        <p:sp>
          <p:nvSpPr>
            <p:cNvPr id="91163" name="Rectangle 27"/>
            <p:cNvSpPr>
              <a:spLocks noChangeArrowheads="1"/>
            </p:cNvSpPr>
            <p:nvPr/>
          </p:nvSpPr>
          <p:spPr bwMode="auto">
            <a:xfrm>
              <a:off x="4151" y="3532"/>
              <a:ext cx="14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baseline="-25000">
                <a:latin typeface="Times New Roman" pitchFamily="18" charset="0"/>
              </a:endParaRPr>
            </a:p>
          </p:txBody>
        </p:sp>
        <p:sp>
          <p:nvSpPr>
            <p:cNvPr id="91164" name="Rectangle 28"/>
            <p:cNvSpPr>
              <a:spLocks noChangeArrowheads="1"/>
            </p:cNvSpPr>
            <p:nvPr/>
          </p:nvSpPr>
          <p:spPr bwMode="auto">
            <a:xfrm>
              <a:off x="4214" y="2799"/>
              <a:ext cx="14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baseline="-25000">
                <a:latin typeface="Times New Roman" pitchFamily="18" charset="0"/>
              </a:endParaRPr>
            </a:p>
          </p:txBody>
        </p:sp>
        <p:sp>
          <p:nvSpPr>
            <p:cNvPr id="91165" name="Rectangle 29"/>
            <p:cNvSpPr>
              <a:spLocks noChangeArrowheads="1"/>
            </p:cNvSpPr>
            <p:nvPr/>
          </p:nvSpPr>
          <p:spPr bwMode="auto">
            <a:xfrm>
              <a:off x="4759" y="3122"/>
              <a:ext cx="141" cy="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a:latin typeface="Times New Roman" pitchFamily="18" charset="0"/>
              </a:endParaRPr>
            </a:p>
          </p:txBody>
        </p:sp>
        <p:graphicFrame>
          <p:nvGraphicFramePr>
            <p:cNvPr id="91166" name="Object 30"/>
            <p:cNvGraphicFramePr>
              <a:graphicFrameLocks noChangeAspect="1"/>
            </p:cNvGraphicFramePr>
            <p:nvPr/>
          </p:nvGraphicFramePr>
          <p:xfrm>
            <a:off x="4461" y="2736"/>
            <a:ext cx="689" cy="296"/>
          </p:xfrm>
          <a:graphic>
            <a:graphicData uri="http://schemas.openxmlformats.org/presentationml/2006/ole">
              <mc:AlternateContent xmlns:mc="http://schemas.openxmlformats.org/markup-compatibility/2006">
                <mc:Choice xmlns:v="urn:schemas-microsoft-com:vml" Requires="v">
                  <p:oleObj spid="_x0000_s171356" name="Equation" r:id="rId15" imgW="482400" imgH="215640" progId="Equation.3">
                    <p:embed/>
                  </p:oleObj>
                </mc:Choice>
                <mc:Fallback>
                  <p:oleObj name="Equation" r:id="rId15" imgW="482400" imgH="215640" progId="Equation.3">
                    <p:embed/>
                    <p:pic>
                      <p:nvPicPr>
                        <p:cNvPr id="91166" name="Object 30"/>
                        <p:cNvPicPr>
                          <a:picLocks noChangeAspect="1" noChangeArrowheads="1"/>
                        </p:cNvPicPr>
                        <p:nvPr/>
                      </p:nvPicPr>
                      <p:blipFill>
                        <a:blip r:embed="rId16">
                          <a:lum bright="2000"/>
                          <a:extLst>
                            <a:ext uri="{28A0092B-C50C-407E-A947-70E740481C1C}">
                              <a14:useLocalDpi xmlns:a14="http://schemas.microsoft.com/office/drawing/2010/main" val="0"/>
                            </a:ext>
                          </a:extLst>
                        </a:blip>
                        <a:srcRect/>
                        <a:stretch>
                          <a:fillRect/>
                        </a:stretch>
                      </p:blipFill>
                      <p:spPr bwMode="auto">
                        <a:xfrm>
                          <a:off x="4461" y="2736"/>
                          <a:ext cx="689"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67" name="Object 31"/>
            <p:cNvGraphicFramePr>
              <a:graphicFrameLocks noChangeAspect="1"/>
            </p:cNvGraphicFramePr>
            <p:nvPr/>
          </p:nvGraphicFramePr>
          <p:xfrm>
            <a:off x="4509" y="3504"/>
            <a:ext cx="702" cy="296"/>
          </p:xfrm>
          <a:graphic>
            <a:graphicData uri="http://schemas.openxmlformats.org/presentationml/2006/ole">
              <mc:AlternateContent xmlns:mc="http://schemas.openxmlformats.org/markup-compatibility/2006">
                <mc:Choice xmlns:v="urn:schemas-microsoft-com:vml" Requires="v">
                  <p:oleObj spid="_x0000_s171357" name="Equation" r:id="rId17" imgW="495000" imgH="215640" progId="Equation.3">
                    <p:embed/>
                  </p:oleObj>
                </mc:Choice>
                <mc:Fallback>
                  <p:oleObj name="Equation" r:id="rId17" imgW="495000" imgH="215640" progId="Equation.3">
                    <p:embed/>
                    <p:pic>
                      <p:nvPicPr>
                        <p:cNvPr id="91167" name="Object 31"/>
                        <p:cNvPicPr>
                          <a:picLocks noChangeAspect="1" noChangeArrowheads="1"/>
                        </p:cNvPicPr>
                        <p:nvPr/>
                      </p:nvPicPr>
                      <p:blipFill>
                        <a:blip r:embed="rId18">
                          <a:lum bright="2000"/>
                          <a:extLst>
                            <a:ext uri="{28A0092B-C50C-407E-A947-70E740481C1C}">
                              <a14:useLocalDpi xmlns:a14="http://schemas.microsoft.com/office/drawing/2010/main" val="0"/>
                            </a:ext>
                          </a:extLst>
                        </a:blip>
                        <a:srcRect/>
                        <a:stretch>
                          <a:fillRect/>
                        </a:stretch>
                      </p:blipFill>
                      <p:spPr bwMode="auto">
                        <a:xfrm>
                          <a:off x="4509" y="3504"/>
                          <a:ext cx="702"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68" name="Rectangle 32"/>
            <p:cNvSpPr>
              <a:spLocks noChangeArrowheads="1"/>
            </p:cNvSpPr>
            <p:nvPr/>
          </p:nvSpPr>
          <p:spPr bwMode="auto">
            <a:xfrm>
              <a:off x="3711" y="3119"/>
              <a:ext cx="140" cy="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a:latin typeface="Times New Roman" pitchFamily="18" charset="0"/>
              </a:endParaRPr>
            </a:p>
          </p:txBody>
        </p:sp>
        <p:sp>
          <p:nvSpPr>
            <p:cNvPr id="91169" name="Rectangle 33"/>
            <p:cNvSpPr>
              <a:spLocks noChangeArrowheads="1"/>
            </p:cNvSpPr>
            <p:nvPr/>
          </p:nvSpPr>
          <p:spPr bwMode="auto">
            <a:xfrm>
              <a:off x="4558" y="3168"/>
              <a:ext cx="732"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t>E+E</a:t>
              </a:r>
              <a:r>
                <a:rPr kumimoji="1" lang="en-US" altLang="zh-CN" i="1" dirty="0">
                  <a:cs typeface="Times New Roman" pitchFamily="18" charset="0"/>
                </a:rPr>
                <a:t>'</a:t>
              </a:r>
            </a:p>
          </p:txBody>
        </p:sp>
        <p:sp>
          <p:nvSpPr>
            <p:cNvPr id="91170" name="AutoShape 34"/>
            <p:cNvSpPr>
              <a:spLocks noChangeArrowheads="1"/>
            </p:cNvSpPr>
            <p:nvPr/>
          </p:nvSpPr>
          <p:spPr bwMode="auto">
            <a:xfrm>
              <a:off x="4125" y="2640"/>
              <a:ext cx="306" cy="672"/>
            </a:xfrm>
            <a:prstGeom prst="upArrow">
              <a:avLst>
                <a:gd name="adj1" fmla="val 50000"/>
                <a:gd name="adj2" fmla="val 54902"/>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1171" name="AutoShape 35"/>
            <p:cNvSpPr>
              <a:spLocks noChangeArrowheads="1"/>
            </p:cNvSpPr>
            <p:nvPr/>
          </p:nvSpPr>
          <p:spPr bwMode="auto">
            <a:xfrm>
              <a:off x="4173" y="3264"/>
              <a:ext cx="240" cy="615"/>
            </a:xfrm>
            <a:prstGeom prst="upArrow">
              <a:avLst>
                <a:gd name="adj1" fmla="val 50000"/>
                <a:gd name="adj2" fmla="val 64063"/>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91172" name="Text Box 36"/>
          <p:cNvSpPr txBox="1">
            <a:spLocks noChangeArrowheads="1"/>
          </p:cNvSpPr>
          <p:nvPr/>
        </p:nvSpPr>
        <p:spPr bwMode="auto">
          <a:xfrm>
            <a:off x="7986713" y="4005263"/>
            <a:ext cx="47307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a:t>无功冷机</a:t>
            </a:r>
          </a:p>
        </p:txBody>
      </p:sp>
      <p:grpSp>
        <p:nvGrpSpPr>
          <p:cNvPr id="91206" name="Group 70"/>
          <p:cNvGrpSpPr>
            <a:grpSpLocks/>
          </p:cNvGrpSpPr>
          <p:nvPr/>
        </p:nvGrpSpPr>
        <p:grpSpPr bwMode="auto">
          <a:xfrm>
            <a:off x="539750" y="3744913"/>
            <a:ext cx="2976563" cy="2609850"/>
            <a:chOff x="340" y="2359"/>
            <a:chExt cx="1875" cy="1644"/>
          </a:xfrm>
        </p:grpSpPr>
        <p:sp>
          <p:nvSpPr>
            <p:cNvPr id="91174" name="Rectangle 38"/>
            <p:cNvSpPr>
              <a:spLocks noChangeArrowheads="1"/>
            </p:cNvSpPr>
            <p:nvPr/>
          </p:nvSpPr>
          <p:spPr bwMode="auto">
            <a:xfrm>
              <a:off x="608" y="2398"/>
              <a:ext cx="1524" cy="257"/>
            </a:xfrm>
            <a:prstGeom prst="rect">
              <a:avLst/>
            </a:prstGeom>
            <a:solidFill>
              <a:srgbClr val="DB8567"/>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75" name="Rectangle 39"/>
            <p:cNvSpPr>
              <a:spLocks noChangeArrowheads="1"/>
            </p:cNvSpPr>
            <p:nvPr/>
          </p:nvSpPr>
          <p:spPr bwMode="auto">
            <a:xfrm>
              <a:off x="608" y="3638"/>
              <a:ext cx="1524" cy="257"/>
            </a:xfrm>
            <a:prstGeom prst="rect">
              <a:avLst/>
            </a:prstGeom>
            <a:solidFill>
              <a:srgbClr val="ACACD8"/>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76" name="Rectangle 40"/>
            <p:cNvSpPr>
              <a:spLocks noChangeArrowheads="1"/>
            </p:cNvSpPr>
            <p:nvPr/>
          </p:nvSpPr>
          <p:spPr bwMode="auto">
            <a:xfrm>
              <a:off x="1190" y="2387"/>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a:latin typeface="Times New Roman" pitchFamily="18" charset="0"/>
              </a:endParaRPr>
            </a:p>
          </p:txBody>
        </p:sp>
        <p:sp>
          <p:nvSpPr>
            <p:cNvPr id="91177" name="Rectangle 41"/>
            <p:cNvSpPr>
              <a:spLocks noChangeArrowheads="1"/>
            </p:cNvSpPr>
            <p:nvPr/>
          </p:nvSpPr>
          <p:spPr bwMode="auto">
            <a:xfrm>
              <a:off x="748" y="2359"/>
              <a:ext cx="14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zh-CN" altLang="en-US" sz="2400">
                  <a:latin typeface="Times New Roman" pitchFamily="18" charset="0"/>
                </a:rPr>
                <a:t>高温热源</a:t>
              </a:r>
              <a:r>
                <a:rPr kumimoji="1" lang="en-US" altLang="zh-CN" sz="2400" i="1">
                  <a:latin typeface="Times New Roman" pitchFamily="18" charset="0"/>
                </a:rPr>
                <a:t>T</a:t>
              </a:r>
              <a:r>
                <a:rPr kumimoji="1" lang="en-US" altLang="zh-CN" sz="2400" baseline="-25000">
                  <a:latin typeface="Times New Roman" pitchFamily="18" charset="0"/>
                </a:rPr>
                <a:t>1</a:t>
              </a:r>
              <a:endParaRPr kumimoji="1" lang="en-US" altLang="zh-CN" sz="2400">
                <a:latin typeface="Times New Roman" pitchFamily="18" charset="0"/>
              </a:endParaRPr>
            </a:p>
          </p:txBody>
        </p:sp>
        <p:sp>
          <p:nvSpPr>
            <p:cNvPr id="91178" name="Rectangle 42"/>
            <p:cNvSpPr>
              <a:spLocks noChangeArrowheads="1"/>
            </p:cNvSpPr>
            <p:nvPr/>
          </p:nvSpPr>
          <p:spPr bwMode="auto">
            <a:xfrm>
              <a:off x="803" y="3591"/>
              <a:ext cx="106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zh-CN" altLang="en-US" sz="2400">
                  <a:latin typeface="Times New Roman" pitchFamily="18" charset="0"/>
                </a:rPr>
                <a:t>低温热源</a:t>
              </a:r>
              <a:r>
                <a:rPr kumimoji="1" lang="en-US" altLang="zh-CN" sz="2400" i="1">
                  <a:latin typeface="Times New Roman" pitchFamily="18" charset="0"/>
                </a:rPr>
                <a:t>T</a:t>
              </a:r>
              <a:r>
                <a:rPr kumimoji="1" lang="en-US" altLang="zh-CN" sz="2400" baseline="-25000">
                  <a:latin typeface="Times New Roman" pitchFamily="18" charset="0"/>
                </a:rPr>
                <a:t>2</a:t>
              </a:r>
              <a:endParaRPr kumimoji="1" lang="en-US" altLang="zh-CN" sz="2400" i="1">
                <a:latin typeface="Times New Roman" pitchFamily="18" charset="0"/>
              </a:endParaRPr>
            </a:p>
          </p:txBody>
        </p:sp>
        <p:sp>
          <p:nvSpPr>
            <p:cNvPr id="91179" name="Oval 43"/>
            <p:cNvSpPr>
              <a:spLocks noChangeArrowheads="1"/>
            </p:cNvSpPr>
            <p:nvPr/>
          </p:nvSpPr>
          <p:spPr bwMode="auto">
            <a:xfrm>
              <a:off x="1484" y="2991"/>
              <a:ext cx="417" cy="408"/>
            </a:xfrm>
            <a:prstGeom prst="ellipse">
              <a:avLst/>
            </a:prstGeom>
            <a:solidFill>
              <a:srgbClr val="FFCC00"/>
            </a:solidFill>
            <a:ln w="2857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a:solidFill>
                  <a:srgbClr val="FF0066"/>
                </a:solidFill>
              </a:endParaRPr>
            </a:p>
          </p:txBody>
        </p:sp>
        <p:sp>
          <p:nvSpPr>
            <p:cNvPr id="91180" name="Rectangle 44"/>
            <p:cNvSpPr>
              <a:spLocks noChangeArrowheads="1"/>
            </p:cNvSpPr>
            <p:nvPr/>
          </p:nvSpPr>
          <p:spPr bwMode="auto">
            <a:xfrm>
              <a:off x="1590" y="3355"/>
              <a:ext cx="11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baseline="-25000">
                <a:latin typeface="Times New Roman" pitchFamily="18" charset="0"/>
              </a:endParaRPr>
            </a:p>
          </p:txBody>
        </p:sp>
        <p:sp>
          <p:nvSpPr>
            <p:cNvPr id="91181" name="Rectangle 45"/>
            <p:cNvSpPr>
              <a:spLocks noChangeArrowheads="1"/>
            </p:cNvSpPr>
            <p:nvPr/>
          </p:nvSpPr>
          <p:spPr bwMode="auto">
            <a:xfrm>
              <a:off x="1643" y="2755"/>
              <a:ext cx="11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baseline="-25000">
                <a:latin typeface="Times New Roman" pitchFamily="18" charset="0"/>
              </a:endParaRPr>
            </a:p>
          </p:txBody>
        </p:sp>
        <p:sp>
          <p:nvSpPr>
            <p:cNvPr id="91182" name="Rectangle 46"/>
            <p:cNvSpPr>
              <a:spLocks noChangeArrowheads="1"/>
            </p:cNvSpPr>
            <p:nvPr/>
          </p:nvSpPr>
          <p:spPr bwMode="auto">
            <a:xfrm>
              <a:off x="2099" y="3018"/>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a:latin typeface="Times New Roman" pitchFamily="18" charset="0"/>
              </a:endParaRPr>
            </a:p>
          </p:txBody>
        </p:sp>
        <p:graphicFrame>
          <p:nvGraphicFramePr>
            <p:cNvPr id="91183" name="Object 47"/>
            <p:cNvGraphicFramePr>
              <a:graphicFrameLocks noChangeAspect="1"/>
            </p:cNvGraphicFramePr>
            <p:nvPr/>
          </p:nvGraphicFramePr>
          <p:xfrm>
            <a:off x="1814" y="2702"/>
            <a:ext cx="228" cy="243"/>
          </p:xfrm>
          <a:graphic>
            <a:graphicData uri="http://schemas.openxmlformats.org/presentationml/2006/ole">
              <mc:AlternateContent xmlns:mc="http://schemas.openxmlformats.org/markup-compatibility/2006">
                <mc:Choice xmlns:v="urn:schemas-microsoft-com:vml" Requires="v">
                  <p:oleObj spid="_x0000_s171358" name="Equation" r:id="rId19" imgW="190440" imgH="215640" progId="Equation.3">
                    <p:embed/>
                  </p:oleObj>
                </mc:Choice>
                <mc:Fallback>
                  <p:oleObj name="Equation" r:id="rId19" imgW="190440" imgH="215640" progId="Equation.3">
                    <p:embed/>
                    <p:pic>
                      <p:nvPicPr>
                        <p:cNvPr id="91183" name="Object 47"/>
                        <p:cNvPicPr>
                          <a:picLocks noChangeAspect="1" noChangeArrowheads="1"/>
                        </p:cNvPicPr>
                        <p:nvPr/>
                      </p:nvPicPr>
                      <p:blipFill>
                        <a:blip r:embed="rId20">
                          <a:lum bright="2000"/>
                          <a:extLst>
                            <a:ext uri="{28A0092B-C50C-407E-A947-70E740481C1C}">
                              <a14:useLocalDpi xmlns:a14="http://schemas.microsoft.com/office/drawing/2010/main" val="0"/>
                            </a:ext>
                          </a:extLst>
                        </a:blip>
                        <a:srcRect/>
                        <a:stretch>
                          <a:fillRect/>
                        </a:stretch>
                      </p:blipFill>
                      <p:spPr bwMode="auto">
                        <a:xfrm>
                          <a:off x="1814" y="2702"/>
                          <a:ext cx="228"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84" name="Object 48"/>
            <p:cNvGraphicFramePr>
              <a:graphicFrameLocks noChangeAspect="1"/>
            </p:cNvGraphicFramePr>
            <p:nvPr/>
          </p:nvGraphicFramePr>
          <p:xfrm>
            <a:off x="1894" y="3372"/>
            <a:ext cx="242" cy="243"/>
          </p:xfrm>
          <a:graphic>
            <a:graphicData uri="http://schemas.openxmlformats.org/presentationml/2006/ole">
              <mc:AlternateContent xmlns:mc="http://schemas.openxmlformats.org/markup-compatibility/2006">
                <mc:Choice xmlns:v="urn:schemas-microsoft-com:vml" Requires="v">
                  <p:oleObj spid="_x0000_s171359" name="Equation" r:id="rId21" imgW="203040" imgH="215640" progId="Equation.3">
                    <p:embed/>
                  </p:oleObj>
                </mc:Choice>
                <mc:Fallback>
                  <p:oleObj name="Equation" r:id="rId21" imgW="203040" imgH="215640" progId="Equation.3">
                    <p:embed/>
                    <p:pic>
                      <p:nvPicPr>
                        <p:cNvPr id="91184" name="Object 48"/>
                        <p:cNvPicPr>
                          <a:picLocks noChangeAspect="1" noChangeArrowheads="1"/>
                        </p:cNvPicPr>
                        <p:nvPr/>
                      </p:nvPicPr>
                      <p:blipFill>
                        <a:blip r:embed="rId22">
                          <a:lum bright="2000"/>
                          <a:extLst>
                            <a:ext uri="{28A0092B-C50C-407E-A947-70E740481C1C}">
                              <a14:useLocalDpi xmlns:a14="http://schemas.microsoft.com/office/drawing/2010/main" val="0"/>
                            </a:ext>
                          </a:extLst>
                        </a:blip>
                        <a:srcRect/>
                        <a:stretch>
                          <a:fillRect/>
                        </a:stretch>
                      </p:blipFill>
                      <p:spPr bwMode="auto">
                        <a:xfrm>
                          <a:off x="1894" y="3372"/>
                          <a:ext cx="242"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85" name="Rectangle 49"/>
            <p:cNvSpPr>
              <a:spLocks noChangeArrowheads="1"/>
            </p:cNvSpPr>
            <p:nvPr/>
          </p:nvSpPr>
          <p:spPr bwMode="auto">
            <a:xfrm>
              <a:off x="711" y="3355"/>
              <a:ext cx="11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baseline="-25000">
                <a:latin typeface="Times New Roman" pitchFamily="18" charset="0"/>
              </a:endParaRPr>
            </a:p>
          </p:txBody>
        </p:sp>
        <p:sp>
          <p:nvSpPr>
            <p:cNvPr id="91186" name="Rectangle 50"/>
            <p:cNvSpPr>
              <a:spLocks noChangeArrowheads="1"/>
            </p:cNvSpPr>
            <p:nvPr/>
          </p:nvSpPr>
          <p:spPr bwMode="auto">
            <a:xfrm>
              <a:off x="765" y="2755"/>
              <a:ext cx="117"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baseline="-25000">
                <a:latin typeface="Times New Roman" pitchFamily="18" charset="0"/>
              </a:endParaRPr>
            </a:p>
          </p:txBody>
        </p:sp>
        <p:sp>
          <p:nvSpPr>
            <p:cNvPr id="91187" name="Rectangle 51"/>
            <p:cNvSpPr>
              <a:spLocks noChangeArrowheads="1"/>
            </p:cNvSpPr>
            <p:nvPr/>
          </p:nvSpPr>
          <p:spPr bwMode="auto">
            <a:xfrm>
              <a:off x="1221" y="3017"/>
              <a:ext cx="1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endParaRPr kumimoji="1" lang="zh-CN" altLang="zh-CN" i="1">
                <a:latin typeface="Times New Roman" pitchFamily="18" charset="0"/>
              </a:endParaRPr>
            </a:p>
          </p:txBody>
        </p:sp>
        <p:graphicFrame>
          <p:nvGraphicFramePr>
            <p:cNvPr id="91188" name="Object 52"/>
            <p:cNvGraphicFramePr>
              <a:graphicFrameLocks noChangeAspect="1"/>
            </p:cNvGraphicFramePr>
            <p:nvPr/>
          </p:nvGraphicFramePr>
          <p:xfrm>
            <a:off x="887" y="2663"/>
            <a:ext cx="226" cy="244"/>
          </p:xfrm>
          <a:graphic>
            <a:graphicData uri="http://schemas.openxmlformats.org/presentationml/2006/ole">
              <mc:AlternateContent xmlns:mc="http://schemas.openxmlformats.org/markup-compatibility/2006">
                <mc:Choice xmlns:v="urn:schemas-microsoft-com:vml" Requires="v">
                  <p:oleObj spid="_x0000_s171360" name="Equation" r:id="rId23" imgW="190440" imgH="215640" progId="Equation.3">
                    <p:embed/>
                  </p:oleObj>
                </mc:Choice>
                <mc:Fallback>
                  <p:oleObj name="Equation" r:id="rId23" imgW="190440" imgH="215640" progId="Equation.3">
                    <p:embed/>
                    <p:pic>
                      <p:nvPicPr>
                        <p:cNvPr id="91188" name="Object 52"/>
                        <p:cNvPicPr>
                          <a:picLocks noChangeAspect="1" noChangeArrowheads="1"/>
                        </p:cNvPicPr>
                        <p:nvPr/>
                      </p:nvPicPr>
                      <p:blipFill>
                        <a:blip r:embed="rId24">
                          <a:lum bright="2000"/>
                          <a:extLst>
                            <a:ext uri="{28A0092B-C50C-407E-A947-70E740481C1C}">
                              <a14:useLocalDpi xmlns:a14="http://schemas.microsoft.com/office/drawing/2010/main" val="0"/>
                            </a:ext>
                          </a:extLst>
                        </a:blip>
                        <a:srcRect/>
                        <a:stretch>
                          <a:fillRect/>
                        </a:stretch>
                      </p:blipFill>
                      <p:spPr bwMode="auto">
                        <a:xfrm>
                          <a:off x="887" y="2663"/>
                          <a:ext cx="226"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89" name="Object 53"/>
            <p:cNvGraphicFramePr>
              <a:graphicFrameLocks noChangeAspect="1"/>
            </p:cNvGraphicFramePr>
            <p:nvPr/>
          </p:nvGraphicFramePr>
          <p:xfrm>
            <a:off x="928" y="3333"/>
            <a:ext cx="241" cy="243"/>
          </p:xfrm>
          <a:graphic>
            <a:graphicData uri="http://schemas.openxmlformats.org/presentationml/2006/ole">
              <mc:AlternateContent xmlns:mc="http://schemas.openxmlformats.org/markup-compatibility/2006">
                <mc:Choice xmlns:v="urn:schemas-microsoft-com:vml" Requires="v">
                  <p:oleObj spid="_x0000_s171361" name="Equation" r:id="rId25" imgW="203040" imgH="215640" progId="Equation.3">
                    <p:embed/>
                  </p:oleObj>
                </mc:Choice>
                <mc:Fallback>
                  <p:oleObj name="Equation" r:id="rId25" imgW="203040" imgH="215640" progId="Equation.3">
                    <p:embed/>
                    <p:pic>
                      <p:nvPicPr>
                        <p:cNvPr id="91189" name="Object 53"/>
                        <p:cNvPicPr>
                          <a:picLocks noChangeAspect="1" noChangeArrowheads="1"/>
                        </p:cNvPicPr>
                        <p:nvPr/>
                      </p:nvPicPr>
                      <p:blipFill>
                        <a:blip r:embed="rId26">
                          <a:lum bright="2000"/>
                          <a:extLst>
                            <a:ext uri="{28A0092B-C50C-407E-A947-70E740481C1C}">
                              <a14:useLocalDpi xmlns:a14="http://schemas.microsoft.com/office/drawing/2010/main" val="0"/>
                            </a:ext>
                          </a:extLst>
                        </a:blip>
                        <a:srcRect/>
                        <a:stretch>
                          <a:fillRect/>
                        </a:stretch>
                      </p:blipFill>
                      <p:spPr bwMode="auto">
                        <a:xfrm>
                          <a:off x="928" y="3333"/>
                          <a:ext cx="241"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90" name="Object 54"/>
            <p:cNvGraphicFramePr>
              <a:graphicFrameLocks noChangeAspect="1"/>
            </p:cNvGraphicFramePr>
            <p:nvPr/>
          </p:nvGraphicFramePr>
          <p:xfrm>
            <a:off x="1049" y="2939"/>
            <a:ext cx="195" cy="185"/>
          </p:xfrm>
          <a:graphic>
            <a:graphicData uri="http://schemas.openxmlformats.org/presentationml/2006/ole">
              <mc:AlternateContent xmlns:mc="http://schemas.openxmlformats.org/markup-compatibility/2006">
                <mc:Choice xmlns:v="urn:schemas-microsoft-com:vml" Requires="v">
                  <p:oleObj spid="_x0000_s171362" name="Equation" r:id="rId27" imgW="164880" imgH="164880" progId="Equation.3">
                    <p:embed/>
                  </p:oleObj>
                </mc:Choice>
                <mc:Fallback>
                  <p:oleObj name="Equation" r:id="rId27" imgW="164880" imgH="164880" progId="Equation.3">
                    <p:embed/>
                    <p:pic>
                      <p:nvPicPr>
                        <p:cNvPr id="91190" name="Object 54"/>
                        <p:cNvPicPr>
                          <a:picLocks noChangeAspect="1" noChangeArrowheads="1"/>
                        </p:cNvPicPr>
                        <p:nvPr/>
                      </p:nvPicPr>
                      <p:blipFill>
                        <a:blip r:embed="rId28">
                          <a:lum bright="2000"/>
                          <a:extLst>
                            <a:ext uri="{28A0092B-C50C-407E-A947-70E740481C1C}">
                              <a14:useLocalDpi xmlns:a14="http://schemas.microsoft.com/office/drawing/2010/main" val="0"/>
                            </a:ext>
                          </a:extLst>
                        </a:blip>
                        <a:srcRect/>
                        <a:stretch>
                          <a:fillRect/>
                        </a:stretch>
                      </p:blipFill>
                      <p:spPr bwMode="auto">
                        <a:xfrm>
                          <a:off x="1049" y="2939"/>
                          <a:ext cx="195"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91" name="Rectangle 55"/>
            <p:cNvSpPr>
              <a:spLocks noChangeArrowheads="1"/>
            </p:cNvSpPr>
            <p:nvPr/>
          </p:nvSpPr>
          <p:spPr bwMode="auto">
            <a:xfrm>
              <a:off x="1484" y="3777"/>
              <a:ext cx="78"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92" name="Oval 56"/>
            <p:cNvSpPr>
              <a:spLocks noChangeArrowheads="1"/>
            </p:cNvSpPr>
            <p:nvPr/>
          </p:nvSpPr>
          <p:spPr bwMode="auto">
            <a:xfrm>
              <a:off x="605" y="2991"/>
              <a:ext cx="417" cy="408"/>
            </a:xfrm>
            <a:prstGeom prst="ellipse">
              <a:avLst/>
            </a:prstGeom>
            <a:solidFill>
              <a:srgbClr val="FFCC00"/>
            </a:solidFill>
            <a:ln w="2857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a:solidFill>
                  <a:srgbClr val="FF0000"/>
                </a:solidFill>
              </a:endParaRPr>
            </a:p>
          </p:txBody>
        </p:sp>
        <p:sp>
          <p:nvSpPr>
            <p:cNvPr id="91193" name="Text Box 57"/>
            <p:cNvSpPr txBox="1">
              <a:spLocks noChangeArrowheads="1"/>
            </p:cNvSpPr>
            <p:nvPr/>
          </p:nvSpPr>
          <p:spPr bwMode="auto">
            <a:xfrm>
              <a:off x="340" y="3022"/>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t>E</a:t>
              </a:r>
            </a:p>
          </p:txBody>
        </p:sp>
        <p:sp>
          <p:nvSpPr>
            <p:cNvPr id="91194" name="Rectangle 58"/>
            <p:cNvSpPr>
              <a:spLocks noChangeArrowheads="1"/>
            </p:cNvSpPr>
            <p:nvPr/>
          </p:nvSpPr>
          <p:spPr bwMode="auto">
            <a:xfrm>
              <a:off x="1882" y="3022"/>
              <a:ext cx="32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t>E</a:t>
              </a:r>
              <a:r>
                <a:rPr kumimoji="1" lang="en-US" altLang="zh-CN" i="1" dirty="0">
                  <a:cs typeface="Times New Roman" pitchFamily="18" charset="0"/>
                </a:rPr>
                <a:t>'</a:t>
              </a:r>
            </a:p>
          </p:txBody>
        </p:sp>
        <p:sp>
          <p:nvSpPr>
            <p:cNvPr id="91195" name="AutoShape 59"/>
            <p:cNvSpPr>
              <a:spLocks noChangeArrowheads="1"/>
            </p:cNvSpPr>
            <p:nvPr/>
          </p:nvSpPr>
          <p:spPr bwMode="auto">
            <a:xfrm>
              <a:off x="726" y="3215"/>
              <a:ext cx="202" cy="505"/>
            </a:xfrm>
            <a:prstGeom prst="downArrow">
              <a:avLst>
                <a:gd name="adj1" fmla="val 50000"/>
                <a:gd name="adj2" fmla="val 62500"/>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1196" name="AutoShape 60"/>
            <p:cNvSpPr>
              <a:spLocks noChangeArrowheads="1"/>
            </p:cNvSpPr>
            <p:nvPr/>
          </p:nvSpPr>
          <p:spPr bwMode="auto">
            <a:xfrm>
              <a:off x="1250" y="3136"/>
              <a:ext cx="362" cy="158"/>
            </a:xfrm>
            <a:prstGeom prst="rightArrow">
              <a:avLst>
                <a:gd name="adj1" fmla="val 44444"/>
                <a:gd name="adj2" fmla="val 59018"/>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97" name="AutoShape 61"/>
            <p:cNvSpPr>
              <a:spLocks noChangeArrowheads="1"/>
            </p:cNvSpPr>
            <p:nvPr/>
          </p:nvSpPr>
          <p:spPr bwMode="auto">
            <a:xfrm>
              <a:off x="807" y="3136"/>
              <a:ext cx="516" cy="158"/>
            </a:xfrm>
            <a:prstGeom prst="rightArrow">
              <a:avLst>
                <a:gd name="adj1" fmla="val 50000"/>
                <a:gd name="adj2" fmla="val 81646"/>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98" name="AutoShape 62"/>
            <p:cNvSpPr>
              <a:spLocks noChangeArrowheads="1"/>
            </p:cNvSpPr>
            <p:nvPr/>
          </p:nvSpPr>
          <p:spPr bwMode="auto">
            <a:xfrm>
              <a:off x="686" y="2623"/>
              <a:ext cx="257" cy="671"/>
            </a:xfrm>
            <a:prstGeom prst="downArrow">
              <a:avLst>
                <a:gd name="adj1" fmla="val 50000"/>
                <a:gd name="adj2" fmla="val 65272"/>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1199" name="AutoShape 63"/>
            <p:cNvSpPr>
              <a:spLocks noChangeArrowheads="1"/>
            </p:cNvSpPr>
            <p:nvPr/>
          </p:nvSpPr>
          <p:spPr bwMode="auto">
            <a:xfrm>
              <a:off x="1572" y="2623"/>
              <a:ext cx="257" cy="552"/>
            </a:xfrm>
            <a:prstGeom prst="upArrow">
              <a:avLst>
                <a:gd name="adj1" fmla="val 50000"/>
                <a:gd name="adj2" fmla="val 53696"/>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1200" name="AutoShape 64"/>
            <p:cNvSpPr>
              <a:spLocks noChangeArrowheads="1"/>
            </p:cNvSpPr>
            <p:nvPr/>
          </p:nvSpPr>
          <p:spPr bwMode="auto">
            <a:xfrm>
              <a:off x="1612" y="3136"/>
              <a:ext cx="162" cy="505"/>
            </a:xfrm>
            <a:prstGeom prst="upArrow">
              <a:avLst>
                <a:gd name="adj1" fmla="val 50000"/>
                <a:gd name="adj2" fmla="val 77932"/>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91205" name="AutoShape 69"/>
          <p:cNvSpPr>
            <a:spLocks noChangeArrowheads="1"/>
          </p:cNvSpPr>
          <p:nvPr/>
        </p:nvSpPr>
        <p:spPr bwMode="auto">
          <a:xfrm>
            <a:off x="6156324" y="2492374"/>
            <a:ext cx="557467" cy="288000"/>
          </a:xfrm>
          <a:prstGeom prst="rightArrow">
            <a:avLst>
              <a:gd name="adj1" fmla="val 50000"/>
              <a:gd name="adj2" fmla="val 56880"/>
            </a:avLst>
          </a:prstGeom>
          <a:noFill/>
          <a:ln w="9525">
            <a:solidFill>
              <a:schemeClr val="tx1"/>
            </a:solidFill>
            <a:miter lim="800000"/>
            <a:headEnd/>
            <a:tailEnd/>
          </a:ln>
          <a:effectLst/>
          <a:extLst/>
        </p:spPr>
        <p:txBody>
          <a:bodyPr wrap="none" anchor="ctr"/>
          <a:lstStyle/>
          <a:p>
            <a:endParaRPr lang="zh-CN" altLang="en-US"/>
          </a:p>
        </p:txBody>
      </p:sp>
      <p:sp>
        <p:nvSpPr>
          <p:cNvPr id="2" name="矩形 1"/>
          <p:cNvSpPr/>
          <p:nvPr/>
        </p:nvSpPr>
        <p:spPr>
          <a:xfrm>
            <a:off x="349043" y="961564"/>
            <a:ext cx="1008610" cy="584775"/>
          </a:xfrm>
          <a:prstGeom prst="rect">
            <a:avLst/>
          </a:prstGeom>
        </p:spPr>
        <p:txBody>
          <a:bodyPr wrap="none">
            <a:spAutoFit/>
          </a:bodyPr>
          <a:lstStyle/>
          <a:p>
            <a:pPr algn="ctr"/>
            <a:r>
              <a:rPr kumimoji="1" lang="zh-CN" altLang="en-US" sz="3200" dirty="0">
                <a:latin typeface="+mj-ea"/>
                <a:ea typeface="+mj-ea"/>
              </a:rPr>
              <a:t>证明</a:t>
            </a:r>
          </a:p>
        </p:txBody>
      </p:sp>
      <p:sp>
        <p:nvSpPr>
          <p:cNvPr id="58" name="Rectangle 9">
            <a:extLst>
              <a:ext uri="{FF2B5EF4-FFF2-40B4-BE49-F238E27FC236}">
                <a16:creationId xmlns:a16="http://schemas.microsoft.com/office/drawing/2014/main" id="{ADE068BC-677C-472A-98DF-3765322BE657}"/>
              </a:ext>
            </a:extLst>
          </p:cNvPr>
          <p:cNvSpPr>
            <a:spLocks noChangeArrowheads="1"/>
          </p:cNvSpPr>
          <p:nvPr/>
        </p:nvSpPr>
        <p:spPr bwMode="auto">
          <a:xfrm>
            <a:off x="271565" y="168768"/>
            <a:ext cx="7594600"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800" b="1">
                <a:ea typeface="楷体_GB2312" pitchFamily="49" charset="-122"/>
              </a:rPr>
              <a:t>3</a:t>
            </a:r>
            <a:r>
              <a:rPr lang="zh-CN" altLang="en-US" sz="2800" b="1">
                <a:ea typeface="楷体_GB2312" pitchFamily="49" charset="-122"/>
              </a:rPr>
              <a:t>、卡诺定理可以由热力学第二定律加以</a:t>
            </a:r>
            <a:r>
              <a:rPr lang="zh-CN" altLang="en-US" sz="2800" b="1">
                <a:ea typeface="楷体_GB2312" pitchFamily="49" charset="-122"/>
                <a:hlinkClick r:id="rId29"/>
              </a:rPr>
              <a:t>证明</a:t>
            </a:r>
            <a:r>
              <a:rPr lang="zh-CN" altLang="en-US" sz="2800" b="1">
                <a:ea typeface="楷体_GB2312" pitchFamily="49" charset="-122"/>
              </a:rPr>
              <a:t>。 </a:t>
            </a:r>
          </a:p>
        </p:txBody>
      </p:sp>
      <p:graphicFrame>
        <p:nvGraphicFramePr>
          <p:cNvPr id="4" name="对象 3">
            <a:extLst>
              <a:ext uri="{FF2B5EF4-FFF2-40B4-BE49-F238E27FC236}">
                <a16:creationId xmlns:a16="http://schemas.microsoft.com/office/drawing/2014/main" id="{FA081171-D364-4F0D-96CF-CDDF513C1D9B}"/>
              </a:ext>
            </a:extLst>
          </p:cNvPr>
          <p:cNvGraphicFramePr>
            <a:graphicFrameLocks noChangeAspect="1"/>
          </p:cNvGraphicFramePr>
          <p:nvPr>
            <p:extLst>
              <p:ext uri="{D42A27DB-BD31-4B8C-83A1-F6EECF244321}">
                <p14:modId xmlns:p14="http://schemas.microsoft.com/office/powerpoint/2010/main" val="3063354478"/>
              </p:ext>
            </p:extLst>
          </p:nvPr>
        </p:nvGraphicFramePr>
        <p:xfrm>
          <a:off x="7019925" y="6312744"/>
          <a:ext cx="917575" cy="393700"/>
        </p:xfrm>
        <a:graphic>
          <a:graphicData uri="http://schemas.openxmlformats.org/presentationml/2006/ole">
            <mc:AlternateContent xmlns:mc="http://schemas.openxmlformats.org/markup-compatibility/2006">
              <mc:Choice xmlns:v="urn:schemas-microsoft-com:vml" Requires="v">
                <p:oleObj spid="_x0000_s171363" name="Equation" r:id="rId30" imgW="917708" imgH="393494" progId="Equation.DSMT4">
                  <p:embed/>
                </p:oleObj>
              </mc:Choice>
              <mc:Fallback>
                <p:oleObj name="Equation" r:id="rId30" imgW="917708" imgH="393494" progId="Equation.DSMT4">
                  <p:embed/>
                  <p:pic>
                    <p:nvPicPr>
                      <p:cNvPr id="0" name=""/>
                      <p:cNvPicPr/>
                      <p:nvPr/>
                    </p:nvPicPr>
                    <p:blipFill>
                      <a:blip r:embed="rId31"/>
                      <a:stretch>
                        <a:fillRect/>
                      </a:stretch>
                    </p:blipFill>
                    <p:spPr>
                      <a:xfrm>
                        <a:off x="7019925" y="6312744"/>
                        <a:ext cx="917575" cy="393700"/>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C22A2F28-EA71-46C5-85BE-B0723CC28C50}"/>
              </a:ext>
            </a:extLst>
          </p:cNvPr>
          <p:cNvSpPr txBox="1"/>
          <p:nvPr/>
        </p:nvSpPr>
        <p:spPr>
          <a:xfrm>
            <a:off x="7969519" y="6327613"/>
            <a:ext cx="457177" cy="400110"/>
          </a:xfrm>
          <a:prstGeom prst="rect">
            <a:avLst/>
          </a:prstGeom>
          <a:noFill/>
        </p:spPr>
        <p:txBody>
          <a:bodyPr wrap="none" rtlCol="0">
            <a:spAutoFit/>
          </a:bodyPr>
          <a:lstStyle/>
          <a:p>
            <a:r>
              <a:rPr lang="en-US" altLang="zh-CN"/>
              <a:t>&gt;0</a:t>
            </a:r>
            <a:endParaRPr lang="zh-CN" altLang="en-US"/>
          </a:p>
        </p:txBody>
      </p:sp>
      <p:sp>
        <p:nvSpPr>
          <p:cNvPr id="6" name="文本框 5">
            <a:extLst>
              <a:ext uri="{FF2B5EF4-FFF2-40B4-BE49-F238E27FC236}">
                <a16:creationId xmlns:a16="http://schemas.microsoft.com/office/drawing/2014/main" id="{9CA9F8D7-F438-4623-AD05-7F8689D7789D}"/>
              </a:ext>
            </a:extLst>
          </p:cNvPr>
          <p:cNvSpPr txBox="1"/>
          <p:nvPr/>
        </p:nvSpPr>
        <p:spPr>
          <a:xfrm>
            <a:off x="665745" y="6400626"/>
            <a:ext cx="2637260" cy="400110"/>
          </a:xfrm>
          <a:prstGeom prst="rect">
            <a:avLst/>
          </a:prstGeom>
          <a:noFill/>
        </p:spPr>
        <p:txBody>
          <a:bodyPr wrap="none" rtlCol="0">
            <a:spAutoFit/>
          </a:bodyPr>
          <a:lstStyle/>
          <a:p>
            <a:r>
              <a:rPr lang="zh-CN" altLang="en-US"/>
              <a:t>复合机：热机</a:t>
            </a:r>
            <a:r>
              <a:rPr lang="en-US" altLang="zh-CN"/>
              <a:t>+</a:t>
            </a:r>
            <a:r>
              <a:rPr lang="zh-CN" altLang="en-US"/>
              <a:t>制冷机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40"/>
                                        </p:tgtEl>
                                        <p:attrNameLst>
                                          <p:attrName>style.visibility</p:attrName>
                                        </p:attrNameLst>
                                      </p:cBhvr>
                                      <p:to>
                                        <p:strVal val="visible"/>
                                      </p:to>
                                    </p:set>
                                    <p:animEffect transition="in" filter="wipe(left)">
                                      <p:cBhvr>
                                        <p:cTn id="12" dur="500"/>
                                        <p:tgtEl>
                                          <p:spTgt spid="911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1141"/>
                                        </p:tgtEl>
                                        <p:attrNameLst>
                                          <p:attrName>style.visibility</p:attrName>
                                        </p:attrNameLst>
                                      </p:cBhvr>
                                      <p:to>
                                        <p:strVal val="visible"/>
                                      </p:to>
                                    </p:set>
                                    <p:animEffect transition="in" filter="wipe(left)">
                                      <p:cBhvr>
                                        <p:cTn id="17" dur="500"/>
                                        <p:tgtEl>
                                          <p:spTgt spid="911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1142"/>
                                        </p:tgtEl>
                                        <p:attrNameLst>
                                          <p:attrName>style.visibility</p:attrName>
                                        </p:attrNameLst>
                                      </p:cBhvr>
                                      <p:to>
                                        <p:strVal val="visible"/>
                                      </p:to>
                                    </p:set>
                                    <p:animEffect transition="in" filter="wipe(left)">
                                      <p:cBhvr>
                                        <p:cTn id="22" dur="500"/>
                                        <p:tgtEl>
                                          <p:spTgt spid="911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1143"/>
                                        </p:tgtEl>
                                        <p:attrNameLst>
                                          <p:attrName>style.visibility</p:attrName>
                                        </p:attrNameLst>
                                      </p:cBhvr>
                                      <p:to>
                                        <p:strVal val="visible"/>
                                      </p:to>
                                    </p:set>
                                    <p:animEffect transition="in" filter="wipe(left)">
                                      <p:cBhvr>
                                        <p:cTn id="27" dur="500"/>
                                        <p:tgtEl>
                                          <p:spTgt spid="911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1145"/>
                                        </p:tgtEl>
                                        <p:attrNameLst>
                                          <p:attrName>style.visibility</p:attrName>
                                        </p:attrNameLst>
                                      </p:cBhvr>
                                      <p:to>
                                        <p:strVal val="visible"/>
                                      </p:to>
                                    </p:set>
                                    <p:animEffect transition="in" filter="wipe(left)">
                                      <p:cBhvr>
                                        <p:cTn id="32" dur="500"/>
                                        <p:tgtEl>
                                          <p:spTgt spid="911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1152"/>
                                        </p:tgtEl>
                                        <p:attrNameLst>
                                          <p:attrName>style.visibility</p:attrName>
                                        </p:attrNameLst>
                                      </p:cBhvr>
                                      <p:to>
                                        <p:strVal val="visible"/>
                                      </p:to>
                                    </p:set>
                                    <p:animEffect transition="in" filter="wipe(left)">
                                      <p:cBhvr>
                                        <p:cTn id="37" dur="500"/>
                                        <p:tgtEl>
                                          <p:spTgt spid="91152"/>
                                        </p:tgtEl>
                                      </p:cBhvr>
                                    </p:animEffect>
                                  </p:childTnLst>
                                </p:cTn>
                              </p:par>
                            </p:childTnLst>
                          </p:cTn>
                        </p:par>
                        <p:par>
                          <p:cTn id="38" fill="hold" nodeType="afterGroup">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91205"/>
                                        </p:tgtEl>
                                        <p:attrNameLst>
                                          <p:attrName>style.visibility</p:attrName>
                                        </p:attrNameLst>
                                      </p:cBhvr>
                                      <p:to>
                                        <p:strVal val="visible"/>
                                      </p:to>
                                    </p:set>
                                    <p:animEffect transition="in" filter="wipe(left)">
                                      <p:cBhvr>
                                        <p:cTn id="41" dur="500"/>
                                        <p:tgtEl>
                                          <p:spTgt spid="9120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91144"/>
                                        </p:tgtEl>
                                        <p:attrNameLst>
                                          <p:attrName>style.visibility</p:attrName>
                                        </p:attrNameLst>
                                      </p:cBhvr>
                                      <p:to>
                                        <p:strVal val="visible"/>
                                      </p:to>
                                    </p:set>
                                    <p:animEffect transition="in" filter="wipe(left)">
                                      <p:cBhvr>
                                        <p:cTn id="46" dur="500"/>
                                        <p:tgtEl>
                                          <p:spTgt spid="9114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91206"/>
                                        </p:tgtEl>
                                        <p:attrNameLst>
                                          <p:attrName>style.visibility</p:attrName>
                                        </p:attrNameLst>
                                      </p:cBhvr>
                                      <p:to>
                                        <p:strVal val="visible"/>
                                      </p:to>
                                    </p:set>
                                    <p:animEffect transition="in" filter="wipe(left)">
                                      <p:cBhvr>
                                        <p:cTn id="51" dur="500"/>
                                        <p:tgtEl>
                                          <p:spTgt spid="9120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91155"/>
                                        </p:tgtEl>
                                        <p:attrNameLst>
                                          <p:attrName>style.visibility</p:attrName>
                                        </p:attrNameLst>
                                      </p:cBhvr>
                                      <p:to>
                                        <p:strVal val="visible"/>
                                      </p:to>
                                    </p:set>
                                    <p:animEffect transition="in" filter="wipe(left)">
                                      <p:cBhvr>
                                        <p:cTn id="56" dur="500"/>
                                        <p:tgtEl>
                                          <p:spTgt spid="9115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91156"/>
                                        </p:tgtEl>
                                        <p:attrNameLst>
                                          <p:attrName>style.visibility</p:attrName>
                                        </p:attrNameLst>
                                      </p:cBhvr>
                                      <p:to>
                                        <p:strVal val="visible"/>
                                      </p:to>
                                    </p:set>
                                    <p:animEffect transition="in" filter="wipe(left)">
                                      <p:cBhvr>
                                        <p:cTn id="61" dur="500"/>
                                        <p:tgtEl>
                                          <p:spTgt spid="9115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91172"/>
                                        </p:tgtEl>
                                        <p:attrNameLst>
                                          <p:attrName>style.visibility</p:attrName>
                                        </p:attrNameLst>
                                      </p:cBhvr>
                                      <p:to>
                                        <p:strVal val="visible"/>
                                      </p:to>
                                    </p:set>
                                    <p:animEffect transition="in" filter="wipe(left)">
                                      <p:cBhvr>
                                        <p:cTn id="66" dur="500"/>
                                        <p:tgtEl>
                                          <p:spTgt spid="9117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fade">
                                      <p:cBhvr>
                                        <p:cTn id="71" dur="2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autoUpdateAnimBg="0"/>
      <p:bldP spid="91152" grpId="0" animBg="1"/>
      <p:bldP spid="91172" grpId="0" autoUpdateAnimBg="0"/>
      <p:bldP spid="91205" grpId="0" animBg="1"/>
      <p:bldP spid="2" grpId="0"/>
      <p:bldP spid="5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4"/>
          <p:cNvSpPr>
            <a:spLocks noChangeArrowheads="1"/>
          </p:cNvSpPr>
          <p:nvPr/>
        </p:nvSpPr>
        <p:spPr bwMode="auto">
          <a:xfrm>
            <a:off x="539750" y="2636838"/>
            <a:ext cx="76327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a:t>反之，使</a:t>
            </a:r>
            <a:r>
              <a:rPr kumimoji="1" lang="en-US" altLang="zh-CN"/>
              <a:t>E</a:t>
            </a:r>
            <a:r>
              <a:rPr kumimoji="1" lang="zh-CN" altLang="en-US"/>
              <a:t>逆向运行，</a:t>
            </a:r>
            <a:r>
              <a:rPr kumimoji="1" lang="en-US" altLang="zh-CN"/>
              <a:t>E</a:t>
            </a:r>
            <a:r>
              <a:rPr kumimoji="1" lang="en-US" altLang="zh-CN" i="1">
                <a:cs typeface="Times New Roman" pitchFamily="18" charset="0"/>
              </a:rPr>
              <a:t>'</a:t>
            </a:r>
            <a:r>
              <a:rPr kumimoji="1" lang="zh-CN" altLang="en-US"/>
              <a:t>正向运行，又可证明：</a:t>
            </a:r>
          </a:p>
        </p:txBody>
      </p:sp>
      <p:graphicFrame>
        <p:nvGraphicFramePr>
          <p:cNvPr id="115717" name="Object 5"/>
          <p:cNvGraphicFramePr>
            <a:graphicFrameLocks noChangeAspect="1"/>
          </p:cNvGraphicFramePr>
          <p:nvPr>
            <p:extLst/>
          </p:nvPr>
        </p:nvGraphicFramePr>
        <p:xfrm>
          <a:off x="2771775" y="3140075"/>
          <a:ext cx="1296988" cy="549275"/>
        </p:xfrm>
        <a:graphic>
          <a:graphicData uri="http://schemas.openxmlformats.org/presentationml/2006/ole">
            <mc:AlternateContent xmlns:mc="http://schemas.openxmlformats.org/markup-compatibility/2006">
              <mc:Choice xmlns:v="urn:schemas-microsoft-com:vml" Requires="v">
                <p:oleObj spid="_x0000_s172209" name="公式" r:id="rId3" imgW="393480" imgH="203040" progId="Equation.3">
                  <p:embed/>
                </p:oleObj>
              </mc:Choice>
              <mc:Fallback>
                <p:oleObj name="公式" r:id="rId3" imgW="393480" imgH="203040" progId="Equation.3">
                  <p:embed/>
                  <p:pic>
                    <p:nvPicPr>
                      <p:cNvPr id="115717" name="Object 5"/>
                      <p:cNvPicPr>
                        <a:picLocks noChangeAspect="1" noChangeArrowheads="1"/>
                      </p:cNvPicPr>
                      <p:nvPr/>
                    </p:nvPicPr>
                    <p:blipFill>
                      <a:blip r:embed="rId4">
                        <a:lum bright="2000"/>
                      </a:blip>
                      <a:srcRect/>
                      <a:stretch>
                        <a:fillRect/>
                      </a:stretch>
                    </p:blipFill>
                    <p:spPr bwMode="auto">
                      <a:xfrm>
                        <a:off x="2771775" y="3140075"/>
                        <a:ext cx="12969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18" name="Object 6"/>
          <p:cNvGraphicFramePr>
            <a:graphicFrameLocks noChangeAspect="1"/>
          </p:cNvGraphicFramePr>
          <p:nvPr>
            <p:extLst/>
          </p:nvPr>
        </p:nvGraphicFramePr>
        <p:xfrm>
          <a:off x="2771775" y="3662363"/>
          <a:ext cx="2520950" cy="641350"/>
        </p:xfrm>
        <a:graphic>
          <a:graphicData uri="http://schemas.openxmlformats.org/presentationml/2006/ole">
            <mc:AlternateContent xmlns:mc="http://schemas.openxmlformats.org/markup-compatibility/2006">
              <mc:Choice xmlns:v="urn:schemas-microsoft-com:vml" Requires="v">
                <p:oleObj spid="_x0000_s172210" name="公式" r:id="rId5" imgW="736560" imgH="228600" progId="Equation.3">
                  <p:embed/>
                </p:oleObj>
              </mc:Choice>
              <mc:Fallback>
                <p:oleObj name="公式" r:id="rId5" imgW="736560" imgH="228600" progId="Equation.3">
                  <p:embed/>
                  <p:pic>
                    <p:nvPicPr>
                      <p:cNvPr id="115718" name="Object 6"/>
                      <p:cNvPicPr>
                        <a:picLocks noChangeAspect="1" noChangeArrowheads="1"/>
                      </p:cNvPicPr>
                      <p:nvPr/>
                    </p:nvPicPr>
                    <p:blipFill>
                      <a:blip r:embed="rId6">
                        <a:lum bright="2000"/>
                      </a:blip>
                      <a:srcRect/>
                      <a:stretch>
                        <a:fillRect/>
                      </a:stretch>
                    </p:blipFill>
                    <p:spPr bwMode="auto">
                      <a:xfrm>
                        <a:off x="2771775" y="3662363"/>
                        <a:ext cx="2520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19" name="Text Box 7"/>
          <p:cNvSpPr txBox="1">
            <a:spLocks noChangeArrowheads="1"/>
          </p:cNvSpPr>
          <p:nvPr/>
        </p:nvSpPr>
        <p:spPr bwMode="auto">
          <a:xfrm>
            <a:off x="539750" y="1412875"/>
            <a:ext cx="809307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dirty="0"/>
              <a:t>结果： 复合机</a:t>
            </a:r>
            <a:r>
              <a:rPr kumimoji="1" lang="en-US" altLang="zh-CN" dirty="0"/>
              <a:t>E+E</a:t>
            </a:r>
            <a:r>
              <a:rPr kumimoji="1" lang="en-US" altLang="zh-CN" i="1" dirty="0">
                <a:cs typeface="Times New Roman" pitchFamily="18" charset="0"/>
              </a:rPr>
              <a:t>'</a:t>
            </a:r>
            <a:r>
              <a:rPr kumimoji="1" lang="zh-CN" altLang="en-US" dirty="0"/>
              <a:t>成为无功冷机，违背克劳修斯</a:t>
            </a:r>
            <a:r>
              <a:rPr kumimoji="1" lang="zh-CN" altLang="en-US" dirty="0">
                <a:ea typeface="隶书_GB2312" pitchFamily="2" charset="-122"/>
              </a:rPr>
              <a:t>表述，故假设不成立。</a:t>
            </a:r>
          </a:p>
        </p:txBody>
      </p:sp>
      <p:graphicFrame>
        <p:nvGraphicFramePr>
          <p:cNvPr id="115720" name="Object 8"/>
          <p:cNvGraphicFramePr>
            <a:graphicFrameLocks noChangeAspect="1"/>
          </p:cNvGraphicFramePr>
          <p:nvPr>
            <p:extLst/>
          </p:nvPr>
        </p:nvGraphicFramePr>
        <p:xfrm>
          <a:off x="5003775" y="1983308"/>
          <a:ext cx="1368425" cy="509588"/>
        </p:xfrm>
        <a:graphic>
          <a:graphicData uri="http://schemas.openxmlformats.org/presentationml/2006/ole">
            <mc:AlternateContent xmlns:mc="http://schemas.openxmlformats.org/markup-compatibility/2006">
              <mc:Choice xmlns:v="urn:schemas-microsoft-com:vml" Requires="v">
                <p:oleObj spid="_x0000_s172211" name="公式" r:id="rId7" imgW="545760" imgH="203040" progId="Equation.3">
                  <p:embed/>
                </p:oleObj>
              </mc:Choice>
              <mc:Fallback>
                <p:oleObj name="公式" r:id="rId7" imgW="545760" imgH="203040" progId="Equation.3">
                  <p:embed/>
                  <p:pic>
                    <p:nvPicPr>
                      <p:cNvPr id="115720" name="Object 8"/>
                      <p:cNvPicPr>
                        <a:picLocks noChangeAspect="1" noChangeArrowheads="1"/>
                      </p:cNvPicPr>
                      <p:nvPr/>
                    </p:nvPicPr>
                    <p:blipFill>
                      <a:blip r:embed="rId8"/>
                      <a:srcRect/>
                      <a:stretch>
                        <a:fillRect/>
                      </a:stretch>
                    </p:blipFill>
                    <p:spPr bwMode="auto">
                      <a:xfrm>
                        <a:off x="5003775" y="1983308"/>
                        <a:ext cx="1368425"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21" name="AutoShape 9"/>
          <p:cNvSpPr>
            <a:spLocks noChangeArrowheads="1"/>
          </p:cNvSpPr>
          <p:nvPr/>
        </p:nvSpPr>
        <p:spPr bwMode="auto">
          <a:xfrm>
            <a:off x="1908175" y="3861048"/>
            <a:ext cx="647700" cy="324000"/>
          </a:xfrm>
          <a:prstGeom prst="rightArrow">
            <a:avLst>
              <a:gd name="adj1" fmla="val 50000"/>
              <a:gd name="adj2" fmla="val 49003"/>
            </a:avLst>
          </a:prstGeom>
          <a:noFill/>
          <a:ln w="9525">
            <a:solidFill>
              <a:schemeClr val="tx1"/>
            </a:solidFill>
            <a:miter lim="800000"/>
            <a:headEnd/>
            <a:tailEnd/>
          </a:ln>
          <a:effectLst/>
          <a:extLst/>
        </p:spPr>
        <p:txBody>
          <a:bodyPr wrap="none" anchor="ctr"/>
          <a:lstStyle/>
          <a:p>
            <a:endParaRPr lang="zh-CN" altLang="en-US"/>
          </a:p>
        </p:txBody>
      </p:sp>
      <p:sp>
        <p:nvSpPr>
          <p:cNvPr id="115722" name="AutoShape 10"/>
          <p:cNvSpPr>
            <a:spLocks noChangeArrowheads="1"/>
          </p:cNvSpPr>
          <p:nvPr/>
        </p:nvSpPr>
        <p:spPr bwMode="auto">
          <a:xfrm>
            <a:off x="4212332" y="2060848"/>
            <a:ext cx="647700" cy="324000"/>
          </a:xfrm>
          <a:prstGeom prst="rightArrow">
            <a:avLst>
              <a:gd name="adj1" fmla="val 50000"/>
              <a:gd name="adj2" fmla="val 58964"/>
            </a:avLst>
          </a:prstGeom>
          <a:noFill/>
          <a:ln w="9525">
            <a:solidFill>
              <a:schemeClr val="tx1"/>
            </a:solidFill>
            <a:miter lim="800000"/>
            <a:headEnd/>
            <a:tailEnd/>
          </a:ln>
          <a:effectLst/>
          <a:extLst/>
        </p:spPr>
        <p:txBody>
          <a:bodyPr wrap="none" anchor="ctr"/>
          <a:lstStyle/>
          <a:p>
            <a:endParaRPr lang="zh-CN" altLang="en-US"/>
          </a:p>
        </p:txBody>
      </p:sp>
      <p:graphicFrame>
        <p:nvGraphicFramePr>
          <p:cNvPr id="115723" name="Object 11"/>
          <p:cNvGraphicFramePr>
            <a:graphicFrameLocks noChangeAspect="1"/>
          </p:cNvGraphicFramePr>
          <p:nvPr>
            <p:extLst/>
          </p:nvPr>
        </p:nvGraphicFramePr>
        <p:xfrm>
          <a:off x="1744663" y="188913"/>
          <a:ext cx="1624012" cy="1169987"/>
        </p:xfrm>
        <a:graphic>
          <a:graphicData uri="http://schemas.openxmlformats.org/presentationml/2006/ole">
            <mc:AlternateContent xmlns:mc="http://schemas.openxmlformats.org/markup-compatibility/2006">
              <mc:Choice xmlns:v="urn:schemas-microsoft-com:vml" Requires="v">
                <p:oleObj spid="_x0000_s172212" name="公式" r:id="rId9" imgW="520560" imgH="457200" progId="Equation.3">
                  <p:embed/>
                </p:oleObj>
              </mc:Choice>
              <mc:Fallback>
                <p:oleObj name="公式" r:id="rId9" imgW="520560" imgH="457200" progId="Equation.3">
                  <p:embed/>
                  <p:pic>
                    <p:nvPicPr>
                      <p:cNvPr id="115723" name="Object 11"/>
                      <p:cNvPicPr>
                        <a:picLocks noChangeAspect="1" noChangeArrowheads="1"/>
                      </p:cNvPicPr>
                      <p:nvPr/>
                    </p:nvPicPr>
                    <p:blipFill>
                      <a:blip r:embed="rId10">
                        <a:lum bright="2000"/>
                      </a:blip>
                      <a:srcRect/>
                      <a:stretch>
                        <a:fillRect/>
                      </a:stretch>
                    </p:blipFill>
                    <p:spPr bwMode="auto">
                      <a:xfrm>
                        <a:off x="1744663" y="188913"/>
                        <a:ext cx="1624012" cy="116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24" name="Object 12"/>
          <p:cNvGraphicFramePr>
            <a:graphicFrameLocks noChangeAspect="1"/>
          </p:cNvGraphicFramePr>
          <p:nvPr>
            <p:extLst/>
          </p:nvPr>
        </p:nvGraphicFramePr>
        <p:xfrm>
          <a:off x="3952875" y="476250"/>
          <a:ext cx="3784600" cy="603250"/>
        </p:xfrm>
        <a:graphic>
          <a:graphicData uri="http://schemas.openxmlformats.org/presentationml/2006/ole">
            <mc:AlternateContent xmlns:mc="http://schemas.openxmlformats.org/markup-compatibility/2006">
              <mc:Choice xmlns:v="urn:schemas-microsoft-com:vml" Requires="v">
                <p:oleObj spid="_x0000_s172213" name="公式" r:id="rId11" imgW="1104840" imgH="215640" progId="Equation.3">
                  <p:embed/>
                </p:oleObj>
              </mc:Choice>
              <mc:Fallback>
                <p:oleObj name="公式" r:id="rId11" imgW="1104840" imgH="215640" progId="Equation.3">
                  <p:embed/>
                  <p:pic>
                    <p:nvPicPr>
                      <p:cNvPr id="115724" name="Object 12"/>
                      <p:cNvPicPr>
                        <a:picLocks noChangeAspect="1" noChangeArrowheads="1"/>
                      </p:cNvPicPr>
                      <p:nvPr/>
                    </p:nvPicPr>
                    <p:blipFill>
                      <a:blip r:embed="rId12">
                        <a:lum bright="2000"/>
                      </a:blip>
                      <a:srcRect/>
                      <a:stretch>
                        <a:fillRect/>
                      </a:stretch>
                    </p:blipFill>
                    <p:spPr bwMode="auto">
                      <a:xfrm>
                        <a:off x="3952875" y="476250"/>
                        <a:ext cx="37846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29" name="Text Box 17"/>
          <p:cNvSpPr txBox="1">
            <a:spLocks noChangeArrowheads="1"/>
          </p:cNvSpPr>
          <p:nvPr/>
        </p:nvSpPr>
        <p:spPr bwMode="auto">
          <a:xfrm>
            <a:off x="539750" y="3716338"/>
            <a:ext cx="1604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综上，</a:t>
            </a:r>
          </a:p>
        </p:txBody>
      </p:sp>
      <p:graphicFrame>
        <p:nvGraphicFramePr>
          <p:cNvPr id="115730" name="Object 18"/>
          <p:cNvGraphicFramePr>
            <a:graphicFrameLocks noChangeAspect="1"/>
          </p:cNvGraphicFramePr>
          <p:nvPr>
            <p:extLst/>
          </p:nvPr>
        </p:nvGraphicFramePr>
        <p:xfrm>
          <a:off x="827088" y="4292600"/>
          <a:ext cx="2778125" cy="1192213"/>
        </p:xfrm>
        <a:graphic>
          <a:graphicData uri="http://schemas.openxmlformats.org/presentationml/2006/ole">
            <mc:AlternateContent xmlns:mc="http://schemas.openxmlformats.org/markup-compatibility/2006">
              <mc:Choice xmlns:v="urn:schemas-microsoft-com:vml" Requires="v">
                <p:oleObj spid="_x0000_s172214" name="公式" r:id="rId13" imgW="825480" imgH="431640" progId="Equation.3">
                  <p:embed/>
                </p:oleObj>
              </mc:Choice>
              <mc:Fallback>
                <p:oleObj name="公式" r:id="rId13" imgW="825480" imgH="431640" progId="Equation.3">
                  <p:embed/>
                  <p:pic>
                    <p:nvPicPr>
                      <p:cNvPr id="115730" name="Object 18"/>
                      <p:cNvPicPr>
                        <a:picLocks noChangeAspect="1" noChangeArrowheads="1"/>
                      </p:cNvPicPr>
                      <p:nvPr/>
                    </p:nvPicPr>
                    <p:blipFill>
                      <a:blip r:embed="rId14">
                        <a:lum bright="2000"/>
                      </a:blip>
                      <a:srcRect/>
                      <a:stretch>
                        <a:fillRect/>
                      </a:stretch>
                    </p:blipFill>
                    <p:spPr bwMode="auto">
                      <a:xfrm>
                        <a:off x="827088" y="4292600"/>
                        <a:ext cx="2778125"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31" name="Object 19"/>
          <p:cNvGraphicFramePr>
            <a:graphicFrameLocks noChangeAspect="1"/>
          </p:cNvGraphicFramePr>
          <p:nvPr>
            <p:extLst/>
          </p:nvPr>
        </p:nvGraphicFramePr>
        <p:xfrm>
          <a:off x="4745038" y="4292600"/>
          <a:ext cx="2820987" cy="1192213"/>
        </p:xfrm>
        <a:graphic>
          <a:graphicData uri="http://schemas.openxmlformats.org/presentationml/2006/ole">
            <mc:AlternateContent xmlns:mc="http://schemas.openxmlformats.org/markup-compatibility/2006">
              <mc:Choice xmlns:v="urn:schemas-microsoft-com:vml" Requires="v">
                <p:oleObj spid="_x0000_s172215" name="公式" r:id="rId15" imgW="838080" imgH="431640" progId="Equation.3">
                  <p:embed/>
                </p:oleObj>
              </mc:Choice>
              <mc:Fallback>
                <p:oleObj name="公式" r:id="rId15" imgW="838080" imgH="431640" progId="Equation.3">
                  <p:embed/>
                  <p:pic>
                    <p:nvPicPr>
                      <p:cNvPr id="115731" name="Object 19"/>
                      <p:cNvPicPr>
                        <a:picLocks noChangeAspect="1" noChangeArrowheads="1"/>
                      </p:cNvPicPr>
                      <p:nvPr/>
                    </p:nvPicPr>
                    <p:blipFill>
                      <a:blip r:embed="rId16">
                        <a:lum bright="2000"/>
                      </a:blip>
                      <a:srcRect/>
                      <a:stretch>
                        <a:fillRect/>
                      </a:stretch>
                    </p:blipFill>
                    <p:spPr bwMode="auto">
                      <a:xfrm>
                        <a:off x="4745038" y="4292600"/>
                        <a:ext cx="2820987"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32" name="AutoShape 20"/>
          <p:cNvSpPr>
            <a:spLocks noChangeArrowheads="1"/>
          </p:cNvSpPr>
          <p:nvPr/>
        </p:nvSpPr>
        <p:spPr bwMode="auto">
          <a:xfrm>
            <a:off x="3924300" y="4725144"/>
            <a:ext cx="576263" cy="324000"/>
          </a:xfrm>
          <a:prstGeom prst="rightArrow">
            <a:avLst>
              <a:gd name="adj1" fmla="val 50000"/>
              <a:gd name="adj2" fmla="val 46601"/>
            </a:avLst>
          </a:prstGeom>
          <a:noFill/>
          <a:ln w="9525">
            <a:solidFill>
              <a:schemeClr val="tx1"/>
            </a:solidFill>
            <a:miter lim="800000"/>
            <a:headEnd/>
            <a:tailEnd/>
          </a:ln>
          <a:effectLst/>
          <a:extLst/>
        </p:spPr>
        <p:txBody>
          <a:bodyPr wrap="none" anchor="ctr"/>
          <a:lstStyle/>
          <a:p>
            <a:endParaRPr lang="zh-CN" altLang="en-US"/>
          </a:p>
        </p:txBody>
      </p:sp>
      <p:sp>
        <p:nvSpPr>
          <p:cNvPr id="115733" name="Rectangle 21"/>
          <p:cNvSpPr>
            <a:spLocks noChangeArrowheads="1"/>
          </p:cNvSpPr>
          <p:nvPr/>
        </p:nvSpPr>
        <p:spPr bwMode="auto">
          <a:xfrm>
            <a:off x="539750" y="5335588"/>
            <a:ext cx="813752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zh-CN" altLang="en-US"/>
              <a:t>工作在相同的高温热源 </a:t>
            </a:r>
            <a:r>
              <a:rPr kumimoji="1" lang="en-US" altLang="zh-CN" i="1"/>
              <a:t>T</a:t>
            </a:r>
            <a:r>
              <a:rPr kumimoji="1" lang="en-US" altLang="zh-CN" baseline="-25000"/>
              <a:t>1</a:t>
            </a:r>
            <a:r>
              <a:rPr kumimoji="1" lang="en-US" altLang="zh-CN"/>
              <a:t> </a:t>
            </a:r>
            <a:r>
              <a:rPr kumimoji="1" lang="zh-CN" altLang="en-US"/>
              <a:t>和低温热源 </a:t>
            </a:r>
            <a:r>
              <a:rPr kumimoji="1" lang="en-US" altLang="zh-CN" i="1"/>
              <a:t>T</a:t>
            </a:r>
            <a:r>
              <a:rPr kumimoji="1" lang="en-US" altLang="zh-CN" baseline="-25000"/>
              <a:t>2 </a:t>
            </a:r>
            <a:r>
              <a:rPr kumimoji="1" lang="zh-CN" altLang="en-US"/>
              <a:t>之间的一切可逆机效率相同，与工作物质无关。</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5723"/>
                                        </p:tgtEl>
                                        <p:attrNameLst>
                                          <p:attrName>style.visibility</p:attrName>
                                        </p:attrNameLst>
                                      </p:cBhvr>
                                      <p:to>
                                        <p:strVal val="visible"/>
                                      </p:to>
                                    </p:set>
                                    <p:animEffect transition="in" filter="wipe(left)">
                                      <p:cBhvr>
                                        <p:cTn id="7" dur="500"/>
                                        <p:tgtEl>
                                          <p:spTgt spid="11572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15724"/>
                                        </p:tgtEl>
                                        <p:attrNameLst>
                                          <p:attrName>style.visibility</p:attrName>
                                        </p:attrNameLst>
                                      </p:cBhvr>
                                      <p:to>
                                        <p:strVal val="visible"/>
                                      </p:to>
                                    </p:set>
                                    <p:animEffect transition="in" filter="wipe(left)">
                                      <p:cBhvr>
                                        <p:cTn id="11" dur="500"/>
                                        <p:tgtEl>
                                          <p:spTgt spid="1157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5719"/>
                                        </p:tgtEl>
                                        <p:attrNameLst>
                                          <p:attrName>style.visibility</p:attrName>
                                        </p:attrNameLst>
                                      </p:cBhvr>
                                      <p:to>
                                        <p:strVal val="visible"/>
                                      </p:to>
                                    </p:set>
                                    <p:animEffect transition="in" filter="wipe(left)">
                                      <p:cBhvr>
                                        <p:cTn id="16" dur="500"/>
                                        <p:tgtEl>
                                          <p:spTgt spid="1157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5722"/>
                                        </p:tgtEl>
                                        <p:attrNameLst>
                                          <p:attrName>style.visibility</p:attrName>
                                        </p:attrNameLst>
                                      </p:cBhvr>
                                      <p:to>
                                        <p:strVal val="visible"/>
                                      </p:to>
                                    </p:set>
                                    <p:animEffect transition="in" filter="wipe(left)">
                                      <p:cBhvr>
                                        <p:cTn id="21" dur="500"/>
                                        <p:tgtEl>
                                          <p:spTgt spid="115722"/>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115720"/>
                                        </p:tgtEl>
                                        <p:attrNameLst>
                                          <p:attrName>style.visibility</p:attrName>
                                        </p:attrNameLst>
                                      </p:cBhvr>
                                      <p:to>
                                        <p:strVal val="visible"/>
                                      </p:to>
                                    </p:set>
                                    <p:animEffect transition="in" filter="wipe(left)">
                                      <p:cBhvr>
                                        <p:cTn id="25" dur="500"/>
                                        <p:tgtEl>
                                          <p:spTgt spid="1157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5716"/>
                                        </p:tgtEl>
                                        <p:attrNameLst>
                                          <p:attrName>style.visibility</p:attrName>
                                        </p:attrNameLst>
                                      </p:cBhvr>
                                      <p:to>
                                        <p:strVal val="visible"/>
                                      </p:to>
                                    </p:set>
                                    <p:animEffect transition="in" filter="wipe(left)">
                                      <p:cBhvr>
                                        <p:cTn id="30" dur="500"/>
                                        <p:tgtEl>
                                          <p:spTgt spid="11571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15717"/>
                                        </p:tgtEl>
                                        <p:attrNameLst>
                                          <p:attrName>style.visibility</p:attrName>
                                        </p:attrNameLst>
                                      </p:cBhvr>
                                      <p:to>
                                        <p:strVal val="visible"/>
                                      </p:to>
                                    </p:set>
                                    <p:animEffect transition="in" filter="wipe(left)">
                                      <p:cBhvr>
                                        <p:cTn id="35" dur="500"/>
                                        <p:tgtEl>
                                          <p:spTgt spid="11571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5729"/>
                                        </p:tgtEl>
                                        <p:attrNameLst>
                                          <p:attrName>style.visibility</p:attrName>
                                        </p:attrNameLst>
                                      </p:cBhvr>
                                      <p:to>
                                        <p:strVal val="visible"/>
                                      </p:to>
                                    </p:set>
                                    <p:animEffect transition="in" filter="wipe(left)">
                                      <p:cBhvr>
                                        <p:cTn id="40" dur="500"/>
                                        <p:tgtEl>
                                          <p:spTgt spid="115729"/>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15721"/>
                                        </p:tgtEl>
                                        <p:attrNameLst>
                                          <p:attrName>style.visibility</p:attrName>
                                        </p:attrNameLst>
                                      </p:cBhvr>
                                      <p:to>
                                        <p:strVal val="visible"/>
                                      </p:to>
                                    </p:set>
                                    <p:animEffect transition="in" filter="wipe(left)">
                                      <p:cBhvr>
                                        <p:cTn id="44" dur="500"/>
                                        <p:tgtEl>
                                          <p:spTgt spid="11572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15718"/>
                                        </p:tgtEl>
                                        <p:attrNameLst>
                                          <p:attrName>style.visibility</p:attrName>
                                        </p:attrNameLst>
                                      </p:cBhvr>
                                      <p:to>
                                        <p:strVal val="visible"/>
                                      </p:to>
                                    </p:set>
                                    <p:animEffect transition="in" filter="wipe(left)">
                                      <p:cBhvr>
                                        <p:cTn id="49" dur="500"/>
                                        <p:tgtEl>
                                          <p:spTgt spid="11571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15730"/>
                                        </p:tgtEl>
                                        <p:attrNameLst>
                                          <p:attrName>style.visibility</p:attrName>
                                        </p:attrNameLst>
                                      </p:cBhvr>
                                      <p:to>
                                        <p:strVal val="visible"/>
                                      </p:to>
                                    </p:set>
                                    <p:animEffect transition="in" filter="wipe(left)">
                                      <p:cBhvr>
                                        <p:cTn id="54" dur="500"/>
                                        <p:tgtEl>
                                          <p:spTgt spid="11573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15732"/>
                                        </p:tgtEl>
                                        <p:attrNameLst>
                                          <p:attrName>style.visibility</p:attrName>
                                        </p:attrNameLst>
                                      </p:cBhvr>
                                      <p:to>
                                        <p:strVal val="visible"/>
                                      </p:to>
                                    </p:set>
                                    <p:animEffect transition="in" filter="wipe(left)">
                                      <p:cBhvr>
                                        <p:cTn id="59" dur="500"/>
                                        <p:tgtEl>
                                          <p:spTgt spid="115732"/>
                                        </p:tgtEl>
                                      </p:cBhvr>
                                    </p:animEffect>
                                  </p:childTnLst>
                                </p:cTn>
                              </p:par>
                            </p:childTnLst>
                          </p:cTn>
                        </p:par>
                        <p:par>
                          <p:cTn id="60" fill="hold" nodeType="afterGroup">
                            <p:stCondLst>
                              <p:cond delay="500"/>
                            </p:stCondLst>
                            <p:childTnLst>
                              <p:par>
                                <p:cTn id="61" presetID="22" presetClass="entr" presetSubtype="8" fill="hold" nodeType="afterEffect">
                                  <p:stCondLst>
                                    <p:cond delay="0"/>
                                  </p:stCondLst>
                                  <p:childTnLst>
                                    <p:set>
                                      <p:cBhvr>
                                        <p:cTn id="62" dur="1" fill="hold">
                                          <p:stCondLst>
                                            <p:cond delay="0"/>
                                          </p:stCondLst>
                                        </p:cTn>
                                        <p:tgtEl>
                                          <p:spTgt spid="115731"/>
                                        </p:tgtEl>
                                        <p:attrNameLst>
                                          <p:attrName>style.visibility</p:attrName>
                                        </p:attrNameLst>
                                      </p:cBhvr>
                                      <p:to>
                                        <p:strVal val="visible"/>
                                      </p:to>
                                    </p:set>
                                    <p:animEffect transition="in" filter="wipe(left)">
                                      <p:cBhvr>
                                        <p:cTn id="63" dur="500"/>
                                        <p:tgtEl>
                                          <p:spTgt spid="11573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15733"/>
                                        </p:tgtEl>
                                        <p:attrNameLst>
                                          <p:attrName>style.visibility</p:attrName>
                                        </p:attrNameLst>
                                      </p:cBhvr>
                                      <p:to>
                                        <p:strVal val="visible"/>
                                      </p:to>
                                    </p:set>
                                    <p:animEffect transition="in" filter="wipe(left)">
                                      <p:cBhvr>
                                        <p:cTn id="68" dur="500"/>
                                        <p:tgtEl>
                                          <p:spTgt spid="115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autoUpdateAnimBg="0"/>
      <p:bldP spid="115719" grpId="0" autoUpdateAnimBg="0"/>
      <p:bldP spid="115721" grpId="0" animBg="1"/>
      <p:bldP spid="115722" grpId="0" animBg="1"/>
      <p:bldP spid="115729" grpId="0"/>
      <p:bldP spid="115732" grpId="0" animBg="1"/>
      <p:bldP spid="115733"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FA358B24-7C58-4938-B554-FCE2CC1213F1}" type="slidenum">
              <a:rPr lang="en-US"/>
              <a:pPr/>
              <a:t>66</a:t>
            </a:fld>
            <a:endParaRPr lang="en-US"/>
          </a:p>
        </p:txBody>
      </p:sp>
      <p:grpSp>
        <p:nvGrpSpPr>
          <p:cNvPr id="257033" name="Group 9"/>
          <p:cNvGrpSpPr>
            <a:grpSpLocks/>
          </p:cNvGrpSpPr>
          <p:nvPr/>
        </p:nvGrpSpPr>
        <p:grpSpPr bwMode="auto">
          <a:xfrm>
            <a:off x="685800" y="381000"/>
            <a:ext cx="7635875" cy="3081338"/>
            <a:chOff x="432" y="240"/>
            <a:chExt cx="4810" cy="1941"/>
          </a:xfrm>
        </p:grpSpPr>
        <p:sp>
          <p:nvSpPr>
            <p:cNvPr id="257027" name="Text Box 3"/>
            <p:cNvSpPr txBox="1">
              <a:spLocks noChangeArrowheads="1"/>
            </p:cNvSpPr>
            <p:nvPr/>
          </p:nvSpPr>
          <p:spPr bwMode="auto">
            <a:xfrm>
              <a:off x="432" y="240"/>
              <a:ext cx="4810" cy="19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kumimoji="1" lang="zh-CN" altLang="en-US" sz="2800" b="1" dirty="0">
                  <a:latin typeface="楷体_GB2312" pitchFamily="49" charset="-122"/>
                  <a:ea typeface="楷体_GB2312" pitchFamily="49" charset="-122"/>
                </a:rPr>
                <a:t>由卡诺定理知</a:t>
              </a:r>
            </a:p>
            <a:p>
              <a:pPr algn="l">
                <a:buClr>
                  <a:srgbClr val="3366FF"/>
                </a:buClr>
                <a:buFont typeface="Wingdings" pitchFamily="2" charset="2"/>
                <a:buChar char="("/>
              </a:pPr>
              <a:r>
                <a:rPr kumimoji="1" lang="zh-CN" altLang="en-US" sz="2800" b="1" dirty="0">
                  <a:latin typeface="楷体_GB2312" pitchFamily="49" charset="-122"/>
                  <a:ea typeface="楷体_GB2312" pitchFamily="49" charset="-122"/>
                </a:rPr>
                <a:t>任意</a:t>
              </a:r>
              <a:r>
                <a:rPr kumimoji="1" lang="en-US" altLang="zh-CN" sz="2800" b="1" dirty="0">
                  <a:latin typeface="楷体_GB2312" pitchFamily="49" charset="-122"/>
                  <a:ea typeface="楷体_GB2312" pitchFamily="49" charset="-122"/>
                </a:rPr>
                <a:t>(arbitrary)</a:t>
              </a:r>
              <a:r>
                <a:rPr kumimoji="1" lang="zh-CN" altLang="zh-CN" sz="2800" b="1" dirty="0">
                  <a:latin typeface="楷体_GB2312" pitchFamily="49" charset="-122"/>
                  <a:ea typeface="楷体_GB2312" pitchFamily="49" charset="-122"/>
                </a:rPr>
                <a:t>可逆卡诺热机的效率都等</a:t>
              </a:r>
            </a:p>
            <a:p>
              <a:pPr algn="l"/>
              <a:r>
                <a:rPr kumimoji="1" lang="zh-CN" altLang="zh-CN" sz="2800" b="1" dirty="0">
                  <a:latin typeface="楷体_GB2312" pitchFamily="49" charset="-122"/>
                  <a:ea typeface="楷体_GB2312" pitchFamily="49" charset="-122"/>
                </a:rPr>
                <a:t>  于以理想气体为工质的卡诺热机的效率</a:t>
              </a:r>
            </a:p>
            <a:p>
              <a:pPr algn="l"/>
              <a:r>
                <a:rPr kumimoji="1" lang="zh-CN" altLang="zh-CN" sz="2800" b="1" dirty="0">
                  <a:latin typeface="楷体_GB2312" pitchFamily="49" charset="-122"/>
                  <a:ea typeface="楷体_GB2312" pitchFamily="49" charset="-122"/>
                </a:rPr>
                <a:t>                </a:t>
              </a:r>
              <a:endParaRPr kumimoji="1" lang="zh-CN" altLang="zh-CN" sz="2800" b="1" dirty="0">
                <a:latin typeface="楷体_GB2312" pitchFamily="49" charset="-122"/>
                <a:ea typeface="楷体_GB2312" pitchFamily="49" charset="-122"/>
                <a:sym typeface="Symbol" pitchFamily="18" charset="2"/>
              </a:endParaRPr>
            </a:p>
            <a:p>
              <a:pPr algn="l"/>
              <a:r>
                <a:rPr kumimoji="1" lang="zh-CN" altLang="zh-CN" sz="2800" b="1" dirty="0">
                  <a:latin typeface="楷体_GB2312" pitchFamily="49" charset="-122"/>
                  <a:ea typeface="楷体_GB2312" pitchFamily="49" charset="-122"/>
                  <a:sym typeface="Symbol" pitchFamily="18" charset="2"/>
                </a:rPr>
                <a:t>                    亦即</a:t>
              </a:r>
            </a:p>
            <a:p>
              <a:pPr algn="l"/>
              <a:r>
                <a:rPr kumimoji="1" lang="zh-CN" altLang="zh-CN" sz="2800" b="1" dirty="0">
                  <a:latin typeface="楷体_GB2312" pitchFamily="49" charset="-122"/>
                  <a:ea typeface="楷体_GB2312" pitchFamily="49" charset="-122"/>
                  <a:sym typeface="Symbol" pitchFamily="18" charset="2"/>
                </a:rPr>
                <a:t>        </a:t>
              </a:r>
            </a:p>
            <a:p>
              <a:pPr algn="l"/>
              <a:r>
                <a:rPr kumimoji="1" lang="zh-CN" altLang="en-US" sz="2800" b="1" dirty="0">
                  <a:latin typeface="楷体_GB2312" pitchFamily="49" charset="-122"/>
                  <a:ea typeface="楷体_GB2312" pitchFamily="49" charset="-122"/>
                  <a:sym typeface="Symbol" pitchFamily="18" charset="2"/>
                </a:rPr>
                <a:t>  </a:t>
              </a:r>
              <a:r>
                <a:rPr kumimoji="1" lang="en-US" altLang="zh-CN" sz="2800" b="1" dirty="0">
                  <a:latin typeface="楷体_GB2312" pitchFamily="49" charset="-122"/>
                  <a:ea typeface="楷体_GB2312" pitchFamily="49" charset="-122"/>
                  <a:sym typeface="Symbol" pitchFamily="18" charset="2"/>
                </a:rPr>
                <a:t>T</a:t>
              </a:r>
              <a:r>
                <a:rPr kumimoji="1" lang="en-US" altLang="zh-CN" sz="2800" b="1" baseline="-25000" dirty="0">
                  <a:latin typeface="楷体_GB2312" pitchFamily="49" charset="-122"/>
                  <a:ea typeface="楷体_GB2312" pitchFamily="49" charset="-122"/>
                  <a:sym typeface="Symbol" pitchFamily="18" charset="2"/>
                </a:rPr>
                <a:t>1</a:t>
              </a:r>
              <a:r>
                <a:rPr kumimoji="1" lang="zh-CN" altLang="en-US" sz="2800" b="1" dirty="0">
                  <a:latin typeface="楷体_GB2312" pitchFamily="49" charset="-122"/>
                  <a:ea typeface="楷体_GB2312" pitchFamily="49" charset="-122"/>
                  <a:sym typeface="Symbol" pitchFamily="18" charset="2"/>
                </a:rPr>
                <a:t>、</a:t>
              </a:r>
              <a:r>
                <a:rPr kumimoji="1" lang="en-US" altLang="zh-CN" sz="2800" b="1" dirty="0">
                  <a:latin typeface="楷体_GB2312" pitchFamily="49" charset="-122"/>
                  <a:ea typeface="楷体_GB2312" pitchFamily="49" charset="-122"/>
                  <a:sym typeface="Symbol" pitchFamily="18" charset="2"/>
                </a:rPr>
                <a:t>T</a:t>
              </a:r>
              <a:r>
                <a:rPr kumimoji="1" lang="en-US" altLang="zh-CN" sz="2800" b="1" baseline="-25000" dirty="0">
                  <a:latin typeface="楷体_GB2312" pitchFamily="49" charset="-122"/>
                  <a:ea typeface="楷体_GB2312" pitchFamily="49" charset="-122"/>
                  <a:sym typeface="Symbol" pitchFamily="18" charset="2"/>
                </a:rPr>
                <a:t>2</a:t>
              </a:r>
              <a:r>
                <a:rPr kumimoji="1" lang="zh-CN" altLang="en-US" sz="2800" b="1" dirty="0">
                  <a:latin typeface="楷体_GB2312" pitchFamily="49" charset="-122"/>
                  <a:ea typeface="楷体_GB2312" pitchFamily="49" charset="-122"/>
                  <a:sym typeface="Symbol" pitchFamily="18" charset="2"/>
                </a:rPr>
                <a:t>为理想气体温标定义的温度 </a:t>
              </a:r>
            </a:p>
          </p:txBody>
        </p:sp>
        <p:graphicFrame>
          <p:nvGraphicFramePr>
            <p:cNvPr id="257028" name="Object 4"/>
            <p:cNvGraphicFramePr>
              <a:graphicFrameLocks noChangeAspect="1"/>
            </p:cNvGraphicFramePr>
            <p:nvPr>
              <p:extLst>
                <p:ext uri="{D42A27DB-BD31-4B8C-83A1-F6EECF244321}">
                  <p14:modId xmlns:p14="http://schemas.microsoft.com/office/powerpoint/2010/main" val="2353635855"/>
                </p:ext>
              </p:extLst>
            </p:nvPr>
          </p:nvGraphicFramePr>
          <p:xfrm>
            <a:off x="432" y="1367"/>
            <a:ext cx="1360" cy="328"/>
          </p:xfrm>
          <a:graphic>
            <a:graphicData uri="http://schemas.openxmlformats.org/presentationml/2006/ole">
              <mc:AlternateContent xmlns:mc="http://schemas.openxmlformats.org/markup-compatibility/2006">
                <mc:Choice xmlns:v="urn:schemas-microsoft-com:vml" Requires="v">
                  <p:oleObj spid="_x0000_s108870" name="公式" r:id="rId3" imgW="888840" imgH="215640" progId="Equation.3">
                    <p:embed/>
                  </p:oleObj>
                </mc:Choice>
                <mc:Fallback>
                  <p:oleObj name="公式" r:id="rId3" imgW="88884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 y="1367"/>
                          <a:ext cx="1360" cy="328"/>
                        </a:xfrm>
                        <a:prstGeom prst="rect">
                          <a:avLst/>
                        </a:prstGeom>
                        <a:noFill/>
                        <a:ln>
                          <a:noFill/>
                        </a:ln>
                        <a:effectLst/>
                      </p:spPr>
                    </p:pic>
                  </p:oleObj>
                </mc:Fallback>
              </mc:AlternateContent>
            </a:graphicData>
          </a:graphic>
        </p:graphicFrame>
        <p:graphicFrame>
          <p:nvGraphicFramePr>
            <p:cNvPr id="257029" name="Object 5"/>
            <p:cNvGraphicFramePr>
              <a:graphicFrameLocks noChangeAspect="1"/>
            </p:cNvGraphicFramePr>
            <p:nvPr>
              <p:extLst>
                <p:ext uri="{D42A27DB-BD31-4B8C-83A1-F6EECF244321}">
                  <p14:modId xmlns:p14="http://schemas.microsoft.com/office/powerpoint/2010/main" val="3222401305"/>
                </p:ext>
              </p:extLst>
            </p:nvPr>
          </p:nvGraphicFramePr>
          <p:xfrm>
            <a:off x="2853" y="1207"/>
            <a:ext cx="1917" cy="647"/>
          </p:xfrm>
          <a:graphic>
            <a:graphicData uri="http://schemas.openxmlformats.org/presentationml/2006/ole">
              <mc:AlternateContent xmlns:mc="http://schemas.openxmlformats.org/markup-compatibility/2006">
                <mc:Choice xmlns:v="urn:schemas-microsoft-com:vml" Requires="v">
                  <p:oleObj spid="_x0000_s108871" name="Equation" r:id="rId5" imgW="1282680" imgH="444240" progId="Equation.DSMT4">
                    <p:embed/>
                  </p:oleObj>
                </mc:Choice>
                <mc:Fallback>
                  <p:oleObj name="Equation" r:id="rId5" imgW="1282680" imgH="444240" progId="Equation.DSMT4">
                    <p:embed/>
                    <p:pic>
                      <p:nvPicPr>
                        <p:cNvPr id="0" name=""/>
                        <p:cNvPicPr>
                          <a:picLocks noChangeAspect="1" noChangeArrowheads="1"/>
                        </p:cNvPicPr>
                        <p:nvPr/>
                      </p:nvPicPr>
                      <p:blipFill>
                        <a:blip r:embed="rId6"/>
                        <a:srcRect/>
                        <a:stretch>
                          <a:fillRect/>
                        </a:stretch>
                      </p:blipFill>
                      <p:spPr bwMode="auto">
                        <a:xfrm>
                          <a:off x="2853" y="1207"/>
                          <a:ext cx="1917" cy="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57030" name="Group 6"/>
          <p:cNvGrpSpPr>
            <a:grpSpLocks/>
          </p:cNvGrpSpPr>
          <p:nvPr/>
        </p:nvGrpSpPr>
        <p:grpSpPr bwMode="auto">
          <a:xfrm>
            <a:off x="468313" y="3646488"/>
            <a:ext cx="8483600" cy="2678113"/>
            <a:chOff x="643" y="435"/>
            <a:chExt cx="5344" cy="1687"/>
          </a:xfrm>
        </p:grpSpPr>
        <p:sp>
          <p:nvSpPr>
            <p:cNvPr id="257031" name="Rectangle 7"/>
            <p:cNvSpPr>
              <a:spLocks noChangeArrowheads="1"/>
            </p:cNvSpPr>
            <p:nvPr/>
          </p:nvSpPr>
          <p:spPr bwMode="auto">
            <a:xfrm>
              <a:off x="643" y="435"/>
              <a:ext cx="5344" cy="1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buClr>
                  <a:srgbClr val="3366FF"/>
                </a:buClr>
                <a:buFont typeface="Wingdings" pitchFamily="2" charset="2"/>
                <a:buChar char="("/>
              </a:pPr>
              <a:r>
                <a:rPr kumimoji="1" lang="zh-CN" altLang="en-US" sz="2800" b="1" dirty="0">
                  <a:latin typeface="楷体_GB2312" pitchFamily="49" charset="-122"/>
                  <a:ea typeface="楷体_GB2312" pitchFamily="49" charset="-122"/>
                  <a:sym typeface="Symbol" pitchFamily="18" charset="2"/>
                </a:rPr>
                <a:t>卡诺定理表达式为</a:t>
              </a:r>
            </a:p>
            <a:p>
              <a:pPr algn="l">
                <a:buFontTx/>
                <a:buChar char="–"/>
              </a:pPr>
              <a:endParaRPr kumimoji="1" lang="zh-CN" altLang="en-US" sz="2800" b="1" dirty="0">
                <a:latin typeface="楷体_GB2312" pitchFamily="49" charset="-122"/>
                <a:ea typeface="楷体_GB2312" pitchFamily="49" charset="-122"/>
                <a:sym typeface="Symbol" pitchFamily="18" charset="2"/>
              </a:endParaRPr>
            </a:p>
            <a:p>
              <a:pPr algn="l"/>
              <a:endParaRPr kumimoji="1" lang="zh-CN" altLang="en-US" sz="2800" b="1" dirty="0">
                <a:latin typeface="楷体_GB2312" pitchFamily="49" charset="-122"/>
                <a:ea typeface="楷体_GB2312" pitchFamily="49" charset="-122"/>
                <a:sym typeface="Symbol" pitchFamily="18" charset="2"/>
              </a:endParaRPr>
            </a:p>
            <a:p>
              <a:pPr algn="l"/>
              <a:endParaRPr kumimoji="1" lang="zh-CN" altLang="en-US" sz="2800" b="1" dirty="0">
                <a:latin typeface="楷体_GB2312" pitchFamily="49" charset="-122"/>
                <a:ea typeface="楷体_GB2312" pitchFamily="49" charset="-122"/>
                <a:sym typeface="Symbol" pitchFamily="18" charset="2"/>
              </a:endParaRPr>
            </a:p>
            <a:p>
              <a:pPr algn="l"/>
              <a:r>
                <a:rPr kumimoji="1" lang="en-US" altLang="zh-CN" sz="2800" b="1" dirty="0">
                  <a:latin typeface="楷体_GB2312" pitchFamily="49" charset="-122"/>
                  <a:ea typeface="楷体_GB2312" pitchFamily="49" charset="-122"/>
                  <a:sym typeface="Symbol" pitchFamily="18" charset="2"/>
                </a:rPr>
                <a:t>A</a:t>
              </a:r>
              <a:r>
                <a:rPr kumimoji="1" lang="zh-CN" altLang="en-US" sz="2800" b="1" dirty="0">
                  <a:latin typeface="楷体_GB2312" pitchFamily="49" charset="-122"/>
                  <a:ea typeface="楷体_GB2312" pitchFamily="49" charset="-122"/>
                  <a:sym typeface="Symbol" pitchFamily="18" charset="2"/>
                </a:rPr>
                <a:t>代表任意，</a:t>
              </a:r>
              <a:r>
                <a:rPr kumimoji="1" lang="en-US" altLang="zh-CN" sz="2800" b="1" dirty="0">
                  <a:latin typeface="楷体_GB2312" pitchFamily="49" charset="-122"/>
                  <a:ea typeface="楷体_GB2312" pitchFamily="49" charset="-122"/>
                  <a:sym typeface="Symbol" pitchFamily="18" charset="2"/>
                </a:rPr>
                <a:t>R</a:t>
              </a:r>
              <a:r>
                <a:rPr kumimoji="1" lang="zh-CN" altLang="en-US" sz="2800" b="1" dirty="0">
                  <a:latin typeface="楷体_GB2312" pitchFamily="49" charset="-122"/>
                  <a:ea typeface="楷体_GB2312" pitchFamily="49" charset="-122"/>
                  <a:sym typeface="Symbol" pitchFamily="18" charset="2"/>
                </a:rPr>
                <a:t>代表可逆</a:t>
              </a:r>
            </a:p>
            <a:p>
              <a:pPr algn="l"/>
              <a:r>
                <a:rPr kumimoji="1" lang="zh-CN" altLang="en-US" sz="2800" b="1" dirty="0">
                  <a:latin typeface="Times New Roman"/>
                  <a:ea typeface="楷体_GB2312" pitchFamily="49" charset="-122"/>
                  <a:sym typeface="Symbol" pitchFamily="18" charset="2"/>
                </a:rPr>
                <a:t>“</a:t>
              </a:r>
              <a:r>
                <a:rPr kumimoji="1" lang="en-US" altLang="zh-CN" sz="2800" b="1" dirty="0">
                  <a:latin typeface="楷体_GB2312" pitchFamily="49" charset="-122"/>
                  <a:ea typeface="楷体_GB2312" pitchFamily="49" charset="-122"/>
                  <a:sym typeface="Symbol" pitchFamily="18" charset="2"/>
                </a:rPr>
                <a:t>=</a:t>
              </a:r>
              <a:r>
                <a:rPr kumimoji="1" lang="en-US" altLang="zh-CN" sz="2800" b="1" dirty="0">
                  <a:latin typeface="Times New Roman"/>
                  <a:ea typeface="楷体_GB2312" pitchFamily="49" charset="-122"/>
                  <a:sym typeface="Symbol" pitchFamily="18" charset="2"/>
                </a:rPr>
                <a:t>”</a:t>
              </a:r>
              <a:r>
                <a:rPr kumimoji="1" lang="en-US" altLang="zh-CN" sz="2800" b="1" dirty="0">
                  <a:latin typeface="楷体_GB2312" pitchFamily="49" charset="-122"/>
                  <a:ea typeface="楷体_GB2312" pitchFamily="49" charset="-122"/>
                  <a:sym typeface="Symbol" pitchFamily="18" charset="2"/>
                </a:rPr>
                <a:t> </a:t>
              </a:r>
              <a:r>
                <a:rPr kumimoji="1" lang="zh-CN" altLang="en-US" sz="2800" b="1" dirty="0">
                  <a:latin typeface="楷体_GB2312" pitchFamily="49" charset="-122"/>
                  <a:ea typeface="楷体_GB2312" pitchFamily="49" charset="-122"/>
                  <a:sym typeface="Symbol" pitchFamily="18" charset="2"/>
                </a:rPr>
                <a:t>当</a:t>
              </a:r>
              <a:r>
                <a:rPr kumimoji="1" lang="en-US" altLang="zh-CN" sz="2800" b="1" dirty="0">
                  <a:latin typeface="楷体_GB2312" pitchFamily="49" charset="-122"/>
                  <a:ea typeface="楷体_GB2312" pitchFamily="49" charset="-122"/>
                  <a:sym typeface="Symbol" pitchFamily="18" charset="2"/>
                </a:rPr>
                <a:t>A</a:t>
              </a:r>
              <a:r>
                <a:rPr kumimoji="1" lang="zh-CN" altLang="en-US" sz="2800" b="1" dirty="0">
                  <a:latin typeface="楷体_GB2312" pitchFamily="49" charset="-122"/>
                  <a:ea typeface="楷体_GB2312" pitchFamily="49" charset="-122"/>
                  <a:sym typeface="Symbol" pitchFamily="18" charset="2"/>
                </a:rPr>
                <a:t>为可逆热机时，</a:t>
              </a:r>
              <a:r>
                <a:rPr kumimoji="1" lang="zh-CN" altLang="en-US" sz="2800" b="1" dirty="0">
                  <a:latin typeface="Times New Roman"/>
                  <a:ea typeface="楷体_GB2312" pitchFamily="49" charset="-122"/>
                  <a:sym typeface="Symbol" pitchFamily="18" charset="2"/>
                </a:rPr>
                <a:t>“</a:t>
              </a:r>
              <a:r>
                <a:rPr kumimoji="1" lang="en-US" altLang="zh-CN" sz="2800" b="1" dirty="0">
                  <a:latin typeface="楷体_GB2312" pitchFamily="49" charset="-122"/>
                  <a:ea typeface="楷体_GB2312" pitchFamily="49" charset="-122"/>
                  <a:sym typeface="Symbol" pitchFamily="18" charset="2"/>
                </a:rPr>
                <a:t>&lt;</a:t>
              </a:r>
              <a:r>
                <a:rPr kumimoji="1" lang="en-US" altLang="zh-CN" sz="2800" b="1" dirty="0">
                  <a:latin typeface="Times New Roman"/>
                  <a:ea typeface="楷体_GB2312" pitchFamily="49" charset="-122"/>
                  <a:sym typeface="Symbol" pitchFamily="18" charset="2"/>
                </a:rPr>
                <a:t>”</a:t>
              </a:r>
              <a:r>
                <a:rPr kumimoji="1" lang="en-US" altLang="zh-CN" sz="2800" b="1" dirty="0">
                  <a:latin typeface="楷体_GB2312" pitchFamily="49" charset="-122"/>
                  <a:ea typeface="楷体_GB2312" pitchFamily="49" charset="-122"/>
                  <a:sym typeface="Symbol" pitchFamily="18" charset="2"/>
                </a:rPr>
                <a:t> </a:t>
              </a:r>
              <a:r>
                <a:rPr kumimoji="1" lang="zh-CN" altLang="en-US" sz="2800" b="1" dirty="0">
                  <a:latin typeface="楷体_GB2312" pitchFamily="49" charset="-122"/>
                  <a:ea typeface="楷体_GB2312" pitchFamily="49" charset="-122"/>
                  <a:sym typeface="Symbol" pitchFamily="18" charset="2"/>
                </a:rPr>
                <a:t>当</a:t>
              </a:r>
              <a:r>
                <a:rPr kumimoji="1" lang="en-US" altLang="zh-CN" sz="2800" b="1" dirty="0">
                  <a:latin typeface="楷体_GB2312" pitchFamily="49" charset="-122"/>
                  <a:ea typeface="楷体_GB2312" pitchFamily="49" charset="-122"/>
                  <a:sym typeface="Symbol" pitchFamily="18" charset="2"/>
                </a:rPr>
                <a:t>A</a:t>
              </a:r>
              <a:r>
                <a:rPr kumimoji="1" lang="zh-CN" altLang="en-US" sz="2800" b="1" dirty="0">
                  <a:latin typeface="楷体_GB2312" pitchFamily="49" charset="-122"/>
                  <a:ea typeface="楷体_GB2312" pitchFamily="49" charset="-122"/>
                  <a:sym typeface="Symbol" pitchFamily="18" charset="2"/>
                </a:rPr>
                <a:t>为不可逆热机时。</a:t>
              </a:r>
            </a:p>
          </p:txBody>
        </p:sp>
        <p:graphicFrame>
          <p:nvGraphicFramePr>
            <p:cNvPr id="257032" name="Object 8"/>
            <p:cNvGraphicFramePr>
              <a:graphicFrameLocks noChangeAspect="1"/>
            </p:cNvGraphicFramePr>
            <p:nvPr/>
          </p:nvGraphicFramePr>
          <p:xfrm>
            <a:off x="1728" y="864"/>
            <a:ext cx="2579" cy="657"/>
          </p:xfrm>
          <a:graphic>
            <a:graphicData uri="http://schemas.openxmlformats.org/presentationml/2006/ole">
              <mc:AlternateContent xmlns:mc="http://schemas.openxmlformats.org/markup-compatibility/2006">
                <mc:Choice xmlns:v="urn:schemas-microsoft-com:vml" Requires="v">
                  <p:oleObj spid="_x0000_s108872" name="公式" r:id="rId7" imgW="1739880" imgH="444240" progId="Equation.3">
                    <p:embed/>
                  </p:oleObj>
                </mc:Choice>
                <mc:Fallback>
                  <p:oleObj name="公式" r:id="rId7" imgW="1739880" imgH="4442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28" y="864"/>
                          <a:ext cx="2579" cy="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10" name="Picture 43" descr="动画140">
            <a:hlinkClick r:id="rId9"/>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6288314" y="6172200"/>
            <a:ext cx="21939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353873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7033"/>
                                        </p:tgtEl>
                                        <p:attrNameLst>
                                          <p:attrName>style.visibility</p:attrName>
                                        </p:attrNameLst>
                                      </p:cBhvr>
                                      <p:to>
                                        <p:strVal val="visible"/>
                                      </p:to>
                                    </p:set>
                                    <p:animEffect transition="in" filter="wipe(left)">
                                      <p:cBhvr>
                                        <p:cTn id="7" dur="500"/>
                                        <p:tgtEl>
                                          <p:spTgt spid="2570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7030"/>
                                        </p:tgtEl>
                                        <p:attrNameLst>
                                          <p:attrName>style.visibility</p:attrName>
                                        </p:attrNameLst>
                                      </p:cBhvr>
                                      <p:to>
                                        <p:strVal val="visible"/>
                                      </p:to>
                                    </p:set>
                                    <p:animEffect transition="in" filter="wipe(left)">
                                      <p:cBhvr>
                                        <p:cTn id="12" dur="500"/>
                                        <p:tgtEl>
                                          <p:spTgt spid="2570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2"/>
          <p:cNvSpPr txBox="1">
            <a:spLocks noChangeArrowheads="1"/>
          </p:cNvSpPr>
          <p:nvPr/>
        </p:nvSpPr>
        <p:spPr bwMode="auto">
          <a:xfrm>
            <a:off x="755650" y="2703513"/>
            <a:ext cx="7924800" cy="1373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latin typeface="宋体" pitchFamily="2" charset="-122"/>
              </a:rPr>
              <a:t>    </a:t>
            </a:r>
            <a:r>
              <a:rPr lang="zh-CN" altLang="en-US" sz="2800" b="1">
                <a:latin typeface="宋体" pitchFamily="2" charset="-122"/>
              </a:rPr>
              <a:t>由卡诺定理可知，工作在两个给定的高温热源和低温热源之间的所有可逆热机，如果其中有一可逆卡诺热机，则有</a:t>
            </a:r>
          </a:p>
        </p:txBody>
      </p:sp>
      <p:sp>
        <p:nvSpPr>
          <p:cNvPr id="172035" name="Text Box 3"/>
          <p:cNvSpPr txBox="1">
            <a:spLocks noChangeArrowheads="1"/>
          </p:cNvSpPr>
          <p:nvPr/>
        </p:nvSpPr>
        <p:spPr bwMode="auto">
          <a:xfrm>
            <a:off x="1258888" y="-26988"/>
            <a:ext cx="6700837" cy="646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eaLnBrk="1" hangingPunct="1"/>
            <a:r>
              <a:rPr lang="en-US" altLang="zh-CN" sz="3600" b="1">
                <a:solidFill>
                  <a:srgbClr val="FF3300"/>
                </a:solidFill>
                <a:ea typeface="楷体_GB2312" pitchFamily="49" charset="-122"/>
              </a:rPr>
              <a:t> 6-6</a:t>
            </a:r>
            <a:r>
              <a:rPr lang="zh-CN" altLang="en-US" sz="3600" b="1">
                <a:solidFill>
                  <a:srgbClr val="FF3300"/>
                </a:solidFill>
                <a:ea typeface="楷体_GB2312" pitchFamily="49" charset="-122"/>
              </a:rPr>
              <a:t>，</a:t>
            </a:r>
            <a:r>
              <a:rPr lang="en-US" altLang="zh-CN" sz="3600" b="1">
                <a:solidFill>
                  <a:srgbClr val="FF3300"/>
                </a:solidFill>
                <a:ea typeface="楷体_GB2312" pitchFamily="49" charset="-122"/>
              </a:rPr>
              <a:t>6-7</a:t>
            </a:r>
            <a:r>
              <a:rPr lang="zh-CN" altLang="en-US" sz="3600" b="1">
                <a:solidFill>
                  <a:srgbClr val="FF3300"/>
                </a:solidFill>
                <a:ea typeface="楷体_GB2312" pitchFamily="49" charset="-122"/>
              </a:rPr>
              <a:t>、熵、 熵增加原理</a:t>
            </a:r>
            <a:endParaRPr lang="zh-CN" altLang="en-US" sz="3200">
              <a:solidFill>
                <a:srgbClr val="3366FF"/>
              </a:solidFill>
            </a:endParaRPr>
          </a:p>
        </p:txBody>
      </p:sp>
      <p:sp>
        <p:nvSpPr>
          <p:cNvPr id="172037" name="Text Box 5"/>
          <p:cNvSpPr txBox="1">
            <a:spLocks noChangeArrowheads="1"/>
          </p:cNvSpPr>
          <p:nvPr/>
        </p:nvSpPr>
        <p:spPr bwMode="auto">
          <a:xfrm>
            <a:off x="273050" y="2117725"/>
            <a:ext cx="3938588"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a:solidFill>
                  <a:srgbClr val="3333FF"/>
                </a:solidFill>
                <a:ea typeface="楷体_GB2312" pitchFamily="49" charset="-122"/>
              </a:rPr>
              <a:t>1</a:t>
            </a:r>
            <a:r>
              <a:rPr lang="zh-CN" altLang="en-US" sz="2800" b="1">
                <a:solidFill>
                  <a:srgbClr val="3333FF"/>
                </a:solidFill>
                <a:ea typeface="楷体_GB2312" pitchFamily="49" charset="-122"/>
              </a:rPr>
              <a:t>、克劳修斯等式</a:t>
            </a:r>
            <a:endParaRPr lang="zh-CN" altLang="en-US" sz="2800" b="1">
              <a:latin typeface="楷体_GB2312" pitchFamily="49" charset="-122"/>
              <a:ea typeface="楷体_GB2312" pitchFamily="49" charset="-122"/>
            </a:endParaRPr>
          </a:p>
        </p:txBody>
      </p:sp>
      <p:sp>
        <p:nvSpPr>
          <p:cNvPr id="172038" name="Text Box 6"/>
          <p:cNvSpPr txBox="1">
            <a:spLocks noChangeArrowheads="1"/>
          </p:cNvSpPr>
          <p:nvPr/>
        </p:nvSpPr>
        <p:spPr bwMode="auto">
          <a:xfrm>
            <a:off x="431800" y="5059363"/>
            <a:ext cx="795655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a:latin typeface="宋体" pitchFamily="2" charset="-122"/>
              </a:rPr>
              <a:t>系统从热源</a:t>
            </a:r>
            <a:r>
              <a:rPr lang="en-US" altLang="zh-CN" sz="2400" b="1" i="1">
                <a:latin typeface="宋体" pitchFamily="2" charset="-122"/>
              </a:rPr>
              <a:t>T</a:t>
            </a:r>
            <a:r>
              <a:rPr lang="en-US" altLang="zh-CN" sz="2400" b="1" baseline="-25000">
                <a:latin typeface="宋体" pitchFamily="2" charset="-122"/>
              </a:rPr>
              <a:t>1</a:t>
            </a:r>
            <a:r>
              <a:rPr lang="zh-CN" altLang="en-US" sz="2400" b="1">
                <a:latin typeface="宋体" pitchFamily="2" charset="-122"/>
              </a:rPr>
              <a:t>吸热</a:t>
            </a:r>
            <a:r>
              <a:rPr lang="en-US" altLang="zh-CN" sz="2400" b="1" i="1">
                <a:latin typeface="宋体" pitchFamily="2" charset="-122"/>
              </a:rPr>
              <a:t>Q</a:t>
            </a:r>
            <a:r>
              <a:rPr lang="en-US" altLang="zh-CN" sz="2400" b="1" baseline="-25000">
                <a:latin typeface="宋体" pitchFamily="2" charset="-122"/>
              </a:rPr>
              <a:t>1</a:t>
            </a:r>
            <a:r>
              <a:rPr lang="zh-CN" altLang="en-US" sz="2400" b="1">
                <a:latin typeface="宋体" pitchFamily="2" charset="-122"/>
              </a:rPr>
              <a:t>，向</a:t>
            </a:r>
            <a:r>
              <a:rPr lang="en-US" altLang="zh-CN" sz="2400" b="1" i="1">
                <a:latin typeface="宋体" pitchFamily="2" charset="-122"/>
              </a:rPr>
              <a:t>T</a:t>
            </a:r>
            <a:r>
              <a:rPr lang="en-US" altLang="zh-CN" sz="2400" b="1" baseline="-25000">
                <a:latin typeface="宋体" pitchFamily="2" charset="-122"/>
              </a:rPr>
              <a:t>2</a:t>
            </a:r>
            <a:r>
              <a:rPr lang="zh-CN" altLang="en-US" sz="2400" b="1">
                <a:latin typeface="宋体" pitchFamily="2" charset="-122"/>
              </a:rPr>
              <a:t>放热 </a:t>
            </a:r>
            <a:r>
              <a:rPr lang="en-US" altLang="zh-CN" sz="2400" b="1" i="1">
                <a:latin typeface="宋体" pitchFamily="2" charset="-122"/>
              </a:rPr>
              <a:t>Q</a:t>
            </a:r>
            <a:r>
              <a:rPr lang="en-US" altLang="zh-CN" sz="2400" b="1" baseline="-25000">
                <a:latin typeface="宋体" pitchFamily="2" charset="-122"/>
              </a:rPr>
              <a:t>2</a:t>
            </a:r>
            <a:r>
              <a:rPr lang="zh-CN" altLang="en-US" sz="2400" b="1">
                <a:latin typeface="宋体" pitchFamily="2" charset="-122"/>
              </a:rPr>
              <a:t>（</a:t>
            </a:r>
            <a:r>
              <a:rPr lang="en-US" altLang="zh-CN" sz="2400" b="1">
                <a:latin typeface="宋体" pitchFamily="2" charset="-122"/>
              </a:rPr>
              <a:t>&lt; 0</a:t>
            </a:r>
            <a:r>
              <a:rPr lang="zh-CN" altLang="en-US" sz="2400" b="1">
                <a:latin typeface="宋体" pitchFamily="2" charset="-122"/>
              </a:rPr>
              <a:t>）。上式又可写为</a:t>
            </a:r>
            <a:endParaRPr lang="zh-CN" altLang="en-US" sz="2400" b="1">
              <a:latin typeface="楷体_GB2312" pitchFamily="49" charset="-122"/>
              <a:ea typeface="楷体_GB2312" pitchFamily="49" charset="-122"/>
            </a:endParaRPr>
          </a:p>
        </p:txBody>
      </p:sp>
      <p:graphicFrame>
        <p:nvGraphicFramePr>
          <p:cNvPr id="172039" name="Object 7"/>
          <p:cNvGraphicFramePr>
            <a:graphicFrameLocks noChangeAspect="1"/>
          </p:cNvGraphicFramePr>
          <p:nvPr>
            <p:extLst>
              <p:ext uri="{D42A27DB-BD31-4B8C-83A1-F6EECF244321}">
                <p14:modId xmlns:p14="http://schemas.microsoft.com/office/powerpoint/2010/main" val="360894192"/>
              </p:ext>
            </p:extLst>
          </p:nvPr>
        </p:nvGraphicFramePr>
        <p:xfrm>
          <a:off x="1711325" y="5673725"/>
          <a:ext cx="1566863" cy="900113"/>
        </p:xfrm>
        <a:graphic>
          <a:graphicData uri="http://schemas.openxmlformats.org/presentationml/2006/ole">
            <mc:AlternateContent xmlns:mc="http://schemas.openxmlformats.org/markup-compatibility/2006">
              <mc:Choice xmlns:v="urn:schemas-microsoft-com:vml" Requires="v">
                <p:oleObj spid="_x0000_s112858" name="Equation" r:id="rId3" imgW="748975" imgH="431613" progId="Equation.DSMT4">
                  <p:embed/>
                </p:oleObj>
              </mc:Choice>
              <mc:Fallback>
                <p:oleObj name="Equation" r:id="rId3" imgW="748975" imgH="431613"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1325" y="5673725"/>
                        <a:ext cx="1566863" cy="900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2040" name="Object 8"/>
          <p:cNvGraphicFramePr>
            <a:graphicFrameLocks noChangeAspect="1"/>
          </p:cNvGraphicFramePr>
          <p:nvPr/>
        </p:nvGraphicFramePr>
        <p:xfrm>
          <a:off x="3249613" y="4068763"/>
          <a:ext cx="2857500" cy="981075"/>
        </p:xfrm>
        <a:graphic>
          <a:graphicData uri="http://schemas.openxmlformats.org/presentationml/2006/ole">
            <mc:AlternateContent xmlns:mc="http://schemas.openxmlformats.org/markup-compatibility/2006">
              <mc:Choice xmlns:v="urn:schemas-microsoft-com:vml" Requires="v">
                <p:oleObj spid="_x0000_s112859" name="Equation" r:id="rId5" imgW="1333500" imgH="457200" progId="Equation.DSMT4">
                  <p:embed/>
                </p:oleObj>
              </mc:Choice>
              <mc:Fallback>
                <p:oleObj name="Equation" r:id="rId5" imgW="1333500" imgH="457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9613" y="4068763"/>
                        <a:ext cx="2857500" cy="9810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2041" name="Text Box 9"/>
          <p:cNvSpPr txBox="1">
            <a:spLocks noChangeArrowheads="1"/>
          </p:cNvSpPr>
          <p:nvPr/>
        </p:nvSpPr>
        <p:spPr bwMode="auto">
          <a:xfrm>
            <a:off x="5148263" y="5949950"/>
            <a:ext cx="3311525"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800" b="1">
                <a:solidFill>
                  <a:srgbClr val="FF3300"/>
                </a:solidFill>
                <a:ea typeface="楷体_GB2312" pitchFamily="49" charset="-122"/>
              </a:rPr>
              <a:t>定义</a:t>
            </a:r>
            <a:r>
              <a:rPr lang="en-US" altLang="zh-CN" sz="2800" b="1">
                <a:solidFill>
                  <a:srgbClr val="FF3300"/>
                </a:solidFill>
                <a:ea typeface="楷体_GB2312" pitchFamily="49" charset="-122"/>
              </a:rPr>
              <a:t>Q/T</a:t>
            </a:r>
            <a:r>
              <a:rPr lang="zh-CN" altLang="en-US" sz="2800" b="1">
                <a:solidFill>
                  <a:srgbClr val="FF3300"/>
                </a:solidFill>
                <a:ea typeface="楷体_GB2312" pitchFamily="49" charset="-122"/>
              </a:rPr>
              <a:t>为热温比</a:t>
            </a:r>
            <a:endParaRPr lang="zh-CN" altLang="en-US" sz="2800"/>
          </a:p>
        </p:txBody>
      </p:sp>
      <p:sp>
        <p:nvSpPr>
          <p:cNvPr id="172042" name="Text Box 10"/>
          <p:cNvSpPr txBox="1">
            <a:spLocks noChangeArrowheads="1"/>
          </p:cNvSpPr>
          <p:nvPr/>
        </p:nvSpPr>
        <p:spPr bwMode="auto">
          <a:xfrm>
            <a:off x="250825" y="1235075"/>
            <a:ext cx="8893175"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a:latin typeface="宋体" pitchFamily="2" charset="-122"/>
                <a:ea typeface="楷体_GB2312" pitchFamily="49" charset="-122"/>
              </a:rPr>
              <a:t>   </a:t>
            </a:r>
            <a:r>
              <a:rPr lang="zh-CN" altLang="en-US" sz="2400" b="1">
                <a:latin typeface="宋体" pitchFamily="2" charset="-122"/>
                <a:ea typeface="楷体_GB2312" pitchFamily="49" charset="-122"/>
              </a:rPr>
              <a:t>非平衡态可自发向平衡态过渡，但</a:t>
            </a:r>
            <a:r>
              <a:rPr lang="zh-CN" altLang="en-US" sz="2400" b="1">
                <a:ea typeface="楷体_GB2312" pitchFamily="49" charset="-122"/>
              </a:rPr>
              <a:t>平衡态不可能自发向非平衡态过渡。利用熵的概念可以给出一个描述过程进行方向的判据。</a:t>
            </a:r>
          </a:p>
        </p:txBody>
      </p:sp>
      <p:sp>
        <p:nvSpPr>
          <p:cNvPr id="2" name="矩形 1"/>
          <p:cNvSpPr>
            <a:spLocks noChangeArrowheads="1"/>
          </p:cNvSpPr>
          <p:nvPr/>
        </p:nvSpPr>
        <p:spPr bwMode="auto">
          <a:xfrm>
            <a:off x="179388" y="642938"/>
            <a:ext cx="299561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en-US" sz="3000" b="1">
                <a:solidFill>
                  <a:schemeClr val="folHlink"/>
                </a:solidFill>
                <a:latin typeface="Arial" pitchFamily="34" charset="0"/>
                <a:ea typeface="楷体_GB2312" pitchFamily="49" charset="-122"/>
              </a:rPr>
              <a:t>一）、熵</a:t>
            </a:r>
          </a:p>
        </p:txBody>
      </p:sp>
    </p:spTree>
    <p:extLst>
      <p:ext uri="{BB962C8B-B14F-4D97-AF65-F5344CB8AC3E}">
        <p14:creationId xmlns:p14="http://schemas.microsoft.com/office/powerpoint/2010/main" val="1459187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35"/>
                                        </p:tgtEl>
                                        <p:attrNameLst>
                                          <p:attrName>style.visibility</p:attrName>
                                        </p:attrNameLst>
                                      </p:cBhvr>
                                      <p:to>
                                        <p:strVal val="visible"/>
                                      </p:to>
                                    </p:set>
                                    <p:animEffect transition="in" filter="wipe(left)">
                                      <p:cBhvr>
                                        <p:cTn id="7" dur="500"/>
                                        <p:tgtEl>
                                          <p:spTgt spid="1720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72042"/>
                                        </p:tgtEl>
                                        <p:attrNameLst>
                                          <p:attrName>style.visibility</p:attrName>
                                        </p:attrNameLst>
                                      </p:cBhvr>
                                      <p:to>
                                        <p:strVal val="visible"/>
                                      </p:to>
                                    </p:set>
                                    <p:animEffect transition="in" filter="wipe(left)">
                                      <p:cBhvr>
                                        <p:cTn id="16" dur="500"/>
                                        <p:tgtEl>
                                          <p:spTgt spid="1720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2037"/>
                                        </p:tgtEl>
                                        <p:attrNameLst>
                                          <p:attrName>style.visibility</p:attrName>
                                        </p:attrNameLst>
                                      </p:cBhvr>
                                      <p:to>
                                        <p:strVal val="visible"/>
                                      </p:to>
                                    </p:set>
                                    <p:animEffect transition="in" filter="wipe(left)">
                                      <p:cBhvr>
                                        <p:cTn id="21" dur="500"/>
                                        <p:tgtEl>
                                          <p:spTgt spid="17203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2034"/>
                                        </p:tgtEl>
                                        <p:attrNameLst>
                                          <p:attrName>style.visibility</p:attrName>
                                        </p:attrNameLst>
                                      </p:cBhvr>
                                      <p:to>
                                        <p:strVal val="visible"/>
                                      </p:to>
                                    </p:set>
                                    <p:animEffect transition="in" filter="wipe(left)">
                                      <p:cBhvr>
                                        <p:cTn id="26" dur="500"/>
                                        <p:tgtEl>
                                          <p:spTgt spid="17203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72040"/>
                                        </p:tgtEl>
                                        <p:attrNameLst>
                                          <p:attrName>style.visibility</p:attrName>
                                        </p:attrNameLst>
                                      </p:cBhvr>
                                      <p:to>
                                        <p:strVal val="visible"/>
                                      </p:to>
                                    </p:set>
                                    <p:animEffect transition="in" filter="wipe(left)">
                                      <p:cBhvr>
                                        <p:cTn id="31" dur="500"/>
                                        <p:tgtEl>
                                          <p:spTgt spid="17204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2038"/>
                                        </p:tgtEl>
                                        <p:attrNameLst>
                                          <p:attrName>style.visibility</p:attrName>
                                        </p:attrNameLst>
                                      </p:cBhvr>
                                      <p:to>
                                        <p:strVal val="visible"/>
                                      </p:to>
                                    </p:set>
                                    <p:animEffect transition="in" filter="wipe(left)">
                                      <p:cBhvr>
                                        <p:cTn id="36" dur="500"/>
                                        <p:tgtEl>
                                          <p:spTgt spid="17203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72039"/>
                                        </p:tgtEl>
                                        <p:attrNameLst>
                                          <p:attrName>style.visibility</p:attrName>
                                        </p:attrNameLst>
                                      </p:cBhvr>
                                      <p:to>
                                        <p:strVal val="visible"/>
                                      </p:to>
                                    </p:set>
                                    <p:animEffect transition="in" filter="wipe(left)">
                                      <p:cBhvr>
                                        <p:cTn id="41" dur="500"/>
                                        <p:tgtEl>
                                          <p:spTgt spid="17203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72041"/>
                                        </p:tgtEl>
                                        <p:attrNameLst>
                                          <p:attrName>style.visibility</p:attrName>
                                        </p:attrNameLst>
                                      </p:cBhvr>
                                      <p:to>
                                        <p:strVal val="visible"/>
                                      </p:to>
                                    </p:set>
                                    <p:animEffect transition="in" filter="wipe(left)">
                                      <p:cBhvr>
                                        <p:cTn id="46" dur="500"/>
                                        <p:tgtEl>
                                          <p:spTgt spid="172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autoUpdateAnimBg="0"/>
      <p:bldP spid="172035" grpId="0" autoUpdateAnimBg="0"/>
      <p:bldP spid="172037" grpId="0" autoUpdateAnimBg="0"/>
      <p:bldP spid="172038" grpId="0" autoUpdateAnimBg="0"/>
      <p:bldP spid="172041" grpId="0" autoUpdateAnimBg="0"/>
      <p:bldP spid="172042" grpId="0" autoUpdateAnimBg="0"/>
      <p:bldP spid="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82" name="Text Box 26"/>
          <p:cNvSpPr txBox="1">
            <a:spLocks noChangeArrowheads="1"/>
          </p:cNvSpPr>
          <p:nvPr/>
        </p:nvSpPr>
        <p:spPr bwMode="auto">
          <a:xfrm>
            <a:off x="304800" y="228600"/>
            <a:ext cx="6096000" cy="884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FF3300"/>
                </a:solidFill>
                <a:ea typeface="楷体_GB2312" pitchFamily="49" charset="-122"/>
              </a:rPr>
              <a:t>推广：</a:t>
            </a:r>
            <a:r>
              <a:rPr lang="zh-CN" altLang="en-US" sz="2400" b="1">
                <a:latin typeface="宋体" pitchFamily="2" charset="-122"/>
              </a:rPr>
              <a:t>对于任意循环过程（右图所示），可将过程划分成许多小</a:t>
            </a:r>
            <a:r>
              <a:rPr lang="zh-CN" altLang="en-US" sz="2400" b="1">
                <a:solidFill>
                  <a:srgbClr val="FF3300"/>
                </a:solidFill>
                <a:latin typeface="宋体" pitchFamily="2" charset="-122"/>
              </a:rPr>
              <a:t>卡诺循环</a:t>
            </a:r>
            <a:r>
              <a:rPr lang="zh-CN" altLang="en-US" sz="2400" b="1">
                <a:latin typeface="宋体" pitchFamily="2" charset="-122"/>
              </a:rPr>
              <a:t>过程，有</a:t>
            </a:r>
          </a:p>
        </p:txBody>
      </p:sp>
      <p:graphicFrame>
        <p:nvGraphicFramePr>
          <p:cNvPr id="173083" name="Object 27"/>
          <p:cNvGraphicFramePr>
            <a:graphicFrameLocks noChangeAspect="1"/>
          </p:cNvGraphicFramePr>
          <p:nvPr/>
        </p:nvGraphicFramePr>
        <p:xfrm>
          <a:off x="1676400" y="1143000"/>
          <a:ext cx="1524000" cy="1041400"/>
        </p:xfrm>
        <a:graphic>
          <a:graphicData uri="http://schemas.openxmlformats.org/presentationml/2006/ole">
            <mc:AlternateContent xmlns:mc="http://schemas.openxmlformats.org/markup-compatibility/2006">
              <mc:Choice xmlns:v="urn:schemas-microsoft-com:vml" Requires="v">
                <p:oleObj spid="_x0000_s114201" name="公式" r:id="rId3" imgW="647419" imgH="444307" progId="Equation.3">
                  <p:embed/>
                </p:oleObj>
              </mc:Choice>
              <mc:Fallback>
                <p:oleObj name="公式" r:id="rId3" imgW="647419" imgH="44430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143000"/>
                        <a:ext cx="1524000" cy="10414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3084" name="Text Box 28"/>
          <p:cNvSpPr txBox="1">
            <a:spLocks noChangeArrowheads="1"/>
          </p:cNvSpPr>
          <p:nvPr/>
        </p:nvSpPr>
        <p:spPr bwMode="auto">
          <a:xfrm>
            <a:off x="517525" y="2382838"/>
            <a:ext cx="203835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400" b="1"/>
              <a:t>无限细分时</a:t>
            </a:r>
            <a:endParaRPr lang="zh-CN" altLang="en-US" sz="2400"/>
          </a:p>
        </p:txBody>
      </p:sp>
      <p:graphicFrame>
        <p:nvGraphicFramePr>
          <p:cNvPr id="173085" name="Object 29"/>
          <p:cNvGraphicFramePr>
            <a:graphicFrameLocks noChangeAspect="1"/>
          </p:cNvGraphicFramePr>
          <p:nvPr/>
        </p:nvGraphicFramePr>
        <p:xfrm>
          <a:off x="2590800" y="2667000"/>
          <a:ext cx="1676400" cy="1136650"/>
        </p:xfrm>
        <a:graphic>
          <a:graphicData uri="http://schemas.openxmlformats.org/presentationml/2006/ole">
            <mc:AlternateContent xmlns:mc="http://schemas.openxmlformats.org/markup-compatibility/2006">
              <mc:Choice xmlns:v="urn:schemas-microsoft-com:vml" Requires="v">
                <p:oleObj spid="_x0000_s114202" name="公式" r:id="rId5" imgW="596641" imgH="406224" progId="Equation.3">
                  <p:embed/>
                </p:oleObj>
              </mc:Choice>
              <mc:Fallback>
                <p:oleObj name="公式" r:id="rId5" imgW="596641" imgH="40622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2667000"/>
                        <a:ext cx="1676400" cy="11366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3086" name="AutoShape 30"/>
          <p:cNvSpPr>
            <a:spLocks noChangeArrowheads="1"/>
          </p:cNvSpPr>
          <p:nvPr/>
        </p:nvSpPr>
        <p:spPr bwMode="auto">
          <a:xfrm>
            <a:off x="3995738" y="1273175"/>
            <a:ext cx="2049462" cy="1219200"/>
          </a:xfrm>
          <a:prstGeom prst="cloudCallout">
            <a:avLst>
              <a:gd name="adj1" fmla="val -50620"/>
              <a:gd name="adj2" fmla="val 65884"/>
            </a:avLst>
          </a:prstGeom>
          <a:solidFill>
            <a:srgbClr val="FFFF66"/>
          </a:solidFill>
          <a:ln w="9525">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pPr>
            <a:r>
              <a:rPr lang="zh-CN" altLang="en-US" sz="2400" b="1">
                <a:ea typeface="楷体_GB2312" pitchFamily="49" charset="-122"/>
              </a:rPr>
              <a:t>克劳修斯</a:t>
            </a:r>
          </a:p>
          <a:p>
            <a:pPr>
              <a:spcBef>
                <a:spcPct val="20000"/>
              </a:spcBef>
            </a:pPr>
            <a:r>
              <a:rPr lang="zh-CN" altLang="en-US" sz="2400" b="1">
                <a:ea typeface="楷体_GB2312" pitchFamily="49" charset="-122"/>
              </a:rPr>
              <a:t>等式</a:t>
            </a:r>
          </a:p>
        </p:txBody>
      </p:sp>
      <p:sp>
        <p:nvSpPr>
          <p:cNvPr id="173087" name="Text Box 31"/>
          <p:cNvSpPr txBox="1">
            <a:spLocks noChangeArrowheads="1"/>
          </p:cNvSpPr>
          <p:nvPr/>
        </p:nvSpPr>
        <p:spPr bwMode="auto">
          <a:xfrm>
            <a:off x="304800" y="3886200"/>
            <a:ext cx="6340475" cy="9461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400" b="1"/>
              <a:t>如图所示的</a:t>
            </a:r>
            <a:r>
              <a:rPr lang="zh-CN" altLang="en-US" sz="2400" b="1">
                <a:solidFill>
                  <a:schemeClr val="folHlink"/>
                </a:solidFill>
              </a:rPr>
              <a:t>可逆循环过程</a:t>
            </a:r>
            <a:r>
              <a:rPr lang="zh-CN" altLang="en-US" sz="2400" b="1"/>
              <a:t>中有两个状态</a:t>
            </a:r>
            <a:r>
              <a:rPr lang="en-US" altLang="zh-CN" sz="2800" b="1" i="1"/>
              <a:t>A</a:t>
            </a:r>
            <a:r>
              <a:rPr lang="zh-CN" altLang="en-US" sz="2400" b="1"/>
              <a:t>和</a:t>
            </a:r>
            <a:r>
              <a:rPr lang="en-US" altLang="zh-CN" sz="2800" b="1" i="1"/>
              <a:t>B</a:t>
            </a:r>
            <a:r>
              <a:rPr lang="zh-CN" altLang="en-US" sz="2400" b="1"/>
              <a:t>，此循环分为两个可逆过程</a:t>
            </a:r>
            <a:r>
              <a:rPr lang="en-US" altLang="zh-CN" sz="2800" b="1" i="1"/>
              <a:t>AcB</a:t>
            </a:r>
            <a:r>
              <a:rPr lang="zh-CN" altLang="en-US" sz="2400" b="1"/>
              <a:t>和</a:t>
            </a:r>
            <a:r>
              <a:rPr lang="en-US" altLang="zh-CN" sz="2800" b="1" i="1"/>
              <a:t>BdA</a:t>
            </a:r>
            <a:r>
              <a:rPr lang="zh-CN" altLang="en-US" sz="2400" b="1"/>
              <a:t>，则</a:t>
            </a:r>
          </a:p>
        </p:txBody>
      </p:sp>
      <p:grpSp>
        <p:nvGrpSpPr>
          <p:cNvPr id="173088" name="Group 32"/>
          <p:cNvGrpSpPr>
            <a:grpSpLocks/>
          </p:cNvGrpSpPr>
          <p:nvPr/>
        </p:nvGrpSpPr>
        <p:grpSpPr bwMode="auto">
          <a:xfrm>
            <a:off x="6308725" y="3025775"/>
            <a:ext cx="2630488" cy="2347913"/>
            <a:chOff x="3974" y="1482"/>
            <a:chExt cx="1657" cy="1479"/>
          </a:xfrm>
        </p:grpSpPr>
        <p:sp>
          <p:nvSpPr>
            <p:cNvPr id="51214" name="Line 33"/>
            <p:cNvSpPr>
              <a:spLocks noChangeShapeType="1"/>
            </p:cNvSpPr>
            <p:nvPr/>
          </p:nvSpPr>
          <p:spPr bwMode="auto">
            <a:xfrm flipV="1">
              <a:off x="4224" y="1584"/>
              <a:ext cx="0" cy="1104"/>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5" name="Line 34"/>
            <p:cNvSpPr>
              <a:spLocks noChangeShapeType="1"/>
            </p:cNvSpPr>
            <p:nvPr/>
          </p:nvSpPr>
          <p:spPr bwMode="auto">
            <a:xfrm>
              <a:off x="4224" y="2688"/>
              <a:ext cx="1344"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6" name="Arc 35"/>
            <p:cNvSpPr>
              <a:spLocks/>
            </p:cNvSpPr>
            <p:nvPr/>
          </p:nvSpPr>
          <p:spPr bwMode="auto">
            <a:xfrm flipV="1">
              <a:off x="4464" y="1680"/>
              <a:ext cx="720" cy="6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00FF"/>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7" name="Arc 36"/>
            <p:cNvSpPr>
              <a:spLocks/>
            </p:cNvSpPr>
            <p:nvPr/>
          </p:nvSpPr>
          <p:spPr bwMode="auto">
            <a:xfrm flipH="1">
              <a:off x="4464" y="1680"/>
              <a:ext cx="720" cy="6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00FF"/>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8" name="Line 37"/>
            <p:cNvSpPr>
              <a:spLocks noChangeShapeType="1"/>
            </p:cNvSpPr>
            <p:nvPr/>
          </p:nvSpPr>
          <p:spPr bwMode="auto">
            <a:xfrm flipV="1">
              <a:off x="4656" y="1728"/>
              <a:ext cx="192" cy="144"/>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9" name="Line 38"/>
            <p:cNvSpPr>
              <a:spLocks noChangeShapeType="1"/>
            </p:cNvSpPr>
            <p:nvPr/>
          </p:nvSpPr>
          <p:spPr bwMode="auto">
            <a:xfrm flipH="1">
              <a:off x="4896" y="2064"/>
              <a:ext cx="144" cy="96"/>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0" name="Text Box 39"/>
            <p:cNvSpPr txBox="1">
              <a:spLocks noChangeArrowheads="1"/>
            </p:cNvSpPr>
            <p:nvPr/>
          </p:nvSpPr>
          <p:spPr bwMode="auto">
            <a:xfrm>
              <a:off x="4406" y="2250"/>
              <a:ext cx="26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A</a:t>
              </a:r>
              <a:endParaRPr lang="en-US" altLang="zh-CN" sz="3600" b="1">
                <a:solidFill>
                  <a:srgbClr val="FF3300"/>
                </a:solidFill>
                <a:ea typeface="楷体_GB2312" pitchFamily="49" charset="-122"/>
              </a:endParaRPr>
            </a:p>
          </p:txBody>
        </p:sp>
        <p:sp>
          <p:nvSpPr>
            <p:cNvPr id="51221" name="Text Box 40"/>
            <p:cNvSpPr txBox="1">
              <a:spLocks noChangeArrowheads="1"/>
            </p:cNvSpPr>
            <p:nvPr/>
          </p:nvSpPr>
          <p:spPr bwMode="auto">
            <a:xfrm>
              <a:off x="5174" y="1482"/>
              <a:ext cx="26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B</a:t>
              </a:r>
              <a:endParaRPr lang="en-US" altLang="zh-CN" sz="3600" b="1">
                <a:solidFill>
                  <a:srgbClr val="FF3300"/>
                </a:solidFill>
                <a:ea typeface="楷体_GB2312" pitchFamily="49" charset="-122"/>
              </a:endParaRPr>
            </a:p>
          </p:txBody>
        </p:sp>
        <p:sp>
          <p:nvSpPr>
            <p:cNvPr id="51222" name="Text Box 41"/>
            <p:cNvSpPr txBox="1">
              <a:spLocks noChangeArrowheads="1"/>
            </p:cNvSpPr>
            <p:nvPr/>
          </p:nvSpPr>
          <p:spPr bwMode="auto">
            <a:xfrm>
              <a:off x="4598" y="1530"/>
              <a:ext cx="21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c</a:t>
              </a:r>
              <a:endParaRPr lang="en-US" altLang="zh-CN" sz="3600" b="1">
                <a:solidFill>
                  <a:srgbClr val="FF3300"/>
                </a:solidFill>
                <a:ea typeface="楷体_GB2312" pitchFamily="49" charset="-122"/>
              </a:endParaRPr>
            </a:p>
          </p:txBody>
        </p:sp>
        <p:sp>
          <p:nvSpPr>
            <p:cNvPr id="51223" name="Text Box 42"/>
            <p:cNvSpPr txBox="1">
              <a:spLocks noChangeArrowheads="1"/>
            </p:cNvSpPr>
            <p:nvPr/>
          </p:nvSpPr>
          <p:spPr bwMode="auto">
            <a:xfrm>
              <a:off x="4982" y="2106"/>
              <a:ext cx="228"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d</a:t>
              </a:r>
              <a:endParaRPr lang="en-US" altLang="zh-CN" sz="3600" b="1">
                <a:solidFill>
                  <a:srgbClr val="FF3300"/>
                </a:solidFill>
                <a:ea typeface="楷体_GB2312" pitchFamily="49" charset="-122"/>
              </a:endParaRPr>
            </a:p>
          </p:txBody>
        </p:sp>
        <p:sp>
          <p:nvSpPr>
            <p:cNvPr id="51224" name="Text Box 43"/>
            <p:cNvSpPr txBox="1">
              <a:spLocks noChangeArrowheads="1"/>
            </p:cNvSpPr>
            <p:nvPr/>
          </p:nvSpPr>
          <p:spPr bwMode="auto">
            <a:xfrm>
              <a:off x="5366" y="2634"/>
              <a:ext cx="26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V</a:t>
              </a:r>
              <a:endParaRPr lang="en-US" altLang="zh-CN" sz="3600" b="1">
                <a:solidFill>
                  <a:srgbClr val="FF3300"/>
                </a:solidFill>
                <a:ea typeface="楷体_GB2312" pitchFamily="49" charset="-122"/>
              </a:endParaRPr>
            </a:p>
          </p:txBody>
        </p:sp>
        <p:sp>
          <p:nvSpPr>
            <p:cNvPr id="51225" name="Text Box 44"/>
            <p:cNvSpPr txBox="1">
              <a:spLocks noChangeArrowheads="1"/>
            </p:cNvSpPr>
            <p:nvPr/>
          </p:nvSpPr>
          <p:spPr bwMode="auto">
            <a:xfrm>
              <a:off x="3974" y="1530"/>
              <a:ext cx="228"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p</a:t>
              </a:r>
              <a:endParaRPr lang="en-US" altLang="zh-CN" sz="3600" b="1">
                <a:solidFill>
                  <a:srgbClr val="FF3300"/>
                </a:solidFill>
                <a:ea typeface="楷体_GB2312" pitchFamily="49" charset="-122"/>
              </a:endParaRPr>
            </a:p>
          </p:txBody>
        </p:sp>
      </p:grpSp>
      <p:graphicFrame>
        <p:nvGraphicFramePr>
          <p:cNvPr id="173101" name="Object 45"/>
          <p:cNvGraphicFramePr>
            <a:graphicFrameLocks noChangeAspect="1"/>
          </p:cNvGraphicFramePr>
          <p:nvPr/>
        </p:nvGraphicFramePr>
        <p:xfrm>
          <a:off x="609600" y="4724400"/>
          <a:ext cx="3962400" cy="1047750"/>
        </p:xfrm>
        <a:graphic>
          <a:graphicData uri="http://schemas.openxmlformats.org/presentationml/2006/ole">
            <mc:AlternateContent xmlns:mc="http://schemas.openxmlformats.org/markup-compatibility/2006">
              <mc:Choice xmlns:v="urn:schemas-microsoft-com:vml" Requires="v">
                <p:oleObj spid="_x0000_s114203" name="Equation" r:id="rId7" imgW="1675673" imgH="444307" progId="Equation.DSMT4">
                  <p:embed/>
                </p:oleObj>
              </mc:Choice>
              <mc:Fallback>
                <p:oleObj name="Equation" r:id="rId7" imgW="1675673" imgH="444307"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4724400"/>
                        <a:ext cx="3962400" cy="10477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3102" name="Object 46"/>
          <p:cNvGraphicFramePr>
            <a:graphicFrameLocks noChangeAspect="1"/>
          </p:cNvGraphicFramePr>
          <p:nvPr/>
        </p:nvGraphicFramePr>
        <p:xfrm>
          <a:off x="5399088" y="4876800"/>
          <a:ext cx="2614612" cy="1047750"/>
        </p:xfrm>
        <a:graphic>
          <a:graphicData uri="http://schemas.openxmlformats.org/presentationml/2006/ole">
            <mc:AlternateContent xmlns:mc="http://schemas.openxmlformats.org/markup-compatibility/2006">
              <mc:Choice xmlns:v="urn:schemas-microsoft-com:vml" Requires="v">
                <p:oleObj spid="_x0000_s114204" name="Equation" r:id="rId9" imgW="1104900" imgH="444500" progId="Equation.DSMT4">
                  <p:embed/>
                </p:oleObj>
              </mc:Choice>
              <mc:Fallback>
                <p:oleObj name="Equation" r:id="rId9" imgW="1104900" imgH="4445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9088" y="4876800"/>
                        <a:ext cx="2614612" cy="10477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3103" name="Object 47"/>
          <p:cNvGraphicFramePr>
            <a:graphicFrameLocks noChangeAspect="1"/>
          </p:cNvGraphicFramePr>
          <p:nvPr/>
        </p:nvGraphicFramePr>
        <p:xfrm>
          <a:off x="2555875" y="5810250"/>
          <a:ext cx="2432050" cy="1047750"/>
        </p:xfrm>
        <a:graphic>
          <a:graphicData uri="http://schemas.openxmlformats.org/presentationml/2006/ole">
            <mc:AlternateContent xmlns:mc="http://schemas.openxmlformats.org/markup-compatibility/2006">
              <mc:Choice xmlns:v="urn:schemas-microsoft-com:vml" Requires="v">
                <p:oleObj spid="_x0000_s114205" name="公式" r:id="rId11" imgW="1028254" imgH="444307" progId="Equation.3">
                  <p:embed/>
                </p:oleObj>
              </mc:Choice>
              <mc:Fallback>
                <p:oleObj name="公式" r:id="rId11" imgW="1028254" imgH="444307"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5875" y="5810250"/>
                        <a:ext cx="2432050" cy="10477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3104" name="Text Box 48"/>
          <p:cNvSpPr txBox="1">
            <a:spLocks noChangeArrowheads="1"/>
          </p:cNvSpPr>
          <p:nvPr/>
        </p:nvSpPr>
        <p:spPr bwMode="auto">
          <a:xfrm>
            <a:off x="5292725" y="6165850"/>
            <a:ext cx="3311525"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800" b="1">
                <a:solidFill>
                  <a:srgbClr val="FF3300"/>
                </a:solidFill>
                <a:ea typeface="楷体_GB2312" pitchFamily="49" charset="-122"/>
              </a:rPr>
              <a:t>积分值与路径无关</a:t>
            </a:r>
          </a:p>
        </p:txBody>
      </p:sp>
      <p:pic>
        <p:nvPicPr>
          <p:cNvPr id="52279" name="Picture 55" descr="http://www.fzu.edu.cn/xywz/wlfd/article/14/146.files/image006.gif"/>
          <p:cNvPicPr>
            <a:picLocks noChangeAspect="1" noChangeArrowheads="1"/>
          </p:cNvPicPr>
          <p:nvPr/>
        </p:nvPicPr>
        <p:blipFill>
          <a:blip r:embed="rId13">
            <a:extLst>
              <a:ext uri="{28A0092B-C50C-407E-A947-70E740481C1C}">
                <a14:useLocalDpi xmlns:a14="http://schemas.microsoft.com/office/drawing/2010/main" val="0"/>
              </a:ext>
            </a:extLst>
          </a:blip>
          <a:srcRect b="16098"/>
          <a:stretch>
            <a:fillRect/>
          </a:stretch>
        </p:blipFill>
        <p:spPr bwMode="auto">
          <a:xfrm>
            <a:off x="6227763" y="155575"/>
            <a:ext cx="295910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14084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3082"/>
                                        </p:tgtEl>
                                        <p:attrNameLst>
                                          <p:attrName>style.visibility</p:attrName>
                                        </p:attrNameLst>
                                      </p:cBhvr>
                                      <p:to>
                                        <p:strVal val="visible"/>
                                      </p:to>
                                    </p:set>
                                    <p:animEffect transition="in" filter="wipe(left)">
                                      <p:cBhvr>
                                        <p:cTn id="7" dur="500"/>
                                        <p:tgtEl>
                                          <p:spTgt spid="1730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52279"/>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73083"/>
                                        </p:tgtEl>
                                        <p:attrNameLst>
                                          <p:attrName>style.visibility</p:attrName>
                                        </p:attrNameLst>
                                      </p:cBhvr>
                                      <p:to>
                                        <p:strVal val="visible"/>
                                      </p:to>
                                    </p:set>
                                    <p:animEffect transition="in" filter="wipe(left)">
                                      <p:cBhvr>
                                        <p:cTn id="16" dur="500"/>
                                        <p:tgtEl>
                                          <p:spTgt spid="17308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3084"/>
                                        </p:tgtEl>
                                        <p:attrNameLst>
                                          <p:attrName>style.visibility</p:attrName>
                                        </p:attrNameLst>
                                      </p:cBhvr>
                                      <p:to>
                                        <p:strVal val="visible"/>
                                      </p:to>
                                    </p:set>
                                    <p:animEffect transition="in" filter="wipe(left)">
                                      <p:cBhvr>
                                        <p:cTn id="21" dur="500"/>
                                        <p:tgtEl>
                                          <p:spTgt spid="17308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73085"/>
                                        </p:tgtEl>
                                        <p:attrNameLst>
                                          <p:attrName>style.visibility</p:attrName>
                                        </p:attrNameLst>
                                      </p:cBhvr>
                                      <p:to>
                                        <p:strVal val="visible"/>
                                      </p:to>
                                    </p:set>
                                    <p:animEffect transition="in" filter="wipe(left)">
                                      <p:cBhvr>
                                        <p:cTn id="26" dur="500"/>
                                        <p:tgtEl>
                                          <p:spTgt spid="17308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73086"/>
                                        </p:tgtEl>
                                        <p:attrNameLst>
                                          <p:attrName>style.visibility</p:attrName>
                                        </p:attrNameLst>
                                      </p:cBhvr>
                                      <p:to>
                                        <p:strVal val="visible"/>
                                      </p:to>
                                    </p:set>
                                    <p:animEffect transition="in" filter="wipe(left)">
                                      <p:cBhvr>
                                        <p:cTn id="31" dur="500"/>
                                        <p:tgtEl>
                                          <p:spTgt spid="17308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3087"/>
                                        </p:tgtEl>
                                        <p:attrNameLst>
                                          <p:attrName>style.visibility</p:attrName>
                                        </p:attrNameLst>
                                      </p:cBhvr>
                                      <p:to>
                                        <p:strVal val="visible"/>
                                      </p:to>
                                    </p:set>
                                    <p:animEffect transition="in" filter="wipe(left)">
                                      <p:cBhvr>
                                        <p:cTn id="36" dur="500"/>
                                        <p:tgtEl>
                                          <p:spTgt spid="17308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73088"/>
                                        </p:tgtEl>
                                        <p:attrNameLst>
                                          <p:attrName>style.visibility</p:attrName>
                                        </p:attrNameLst>
                                      </p:cBhvr>
                                      <p:to>
                                        <p:strVal val="visible"/>
                                      </p:to>
                                    </p:set>
                                    <p:animEffect transition="in" filter="wipe(left)">
                                      <p:cBhvr>
                                        <p:cTn id="41" dur="500"/>
                                        <p:tgtEl>
                                          <p:spTgt spid="17308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73101"/>
                                        </p:tgtEl>
                                        <p:attrNameLst>
                                          <p:attrName>style.visibility</p:attrName>
                                        </p:attrNameLst>
                                      </p:cBhvr>
                                      <p:to>
                                        <p:strVal val="visible"/>
                                      </p:to>
                                    </p:set>
                                    <p:animEffect transition="in" filter="wipe(left)">
                                      <p:cBhvr>
                                        <p:cTn id="46" dur="500"/>
                                        <p:tgtEl>
                                          <p:spTgt spid="17310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73102"/>
                                        </p:tgtEl>
                                        <p:attrNameLst>
                                          <p:attrName>style.visibility</p:attrName>
                                        </p:attrNameLst>
                                      </p:cBhvr>
                                      <p:to>
                                        <p:strVal val="visible"/>
                                      </p:to>
                                    </p:set>
                                    <p:animEffect transition="in" filter="wipe(left)">
                                      <p:cBhvr>
                                        <p:cTn id="51" dur="500"/>
                                        <p:tgtEl>
                                          <p:spTgt spid="17310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73103"/>
                                        </p:tgtEl>
                                        <p:attrNameLst>
                                          <p:attrName>style.visibility</p:attrName>
                                        </p:attrNameLst>
                                      </p:cBhvr>
                                      <p:to>
                                        <p:strVal val="visible"/>
                                      </p:to>
                                    </p:set>
                                    <p:animEffect transition="in" filter="wipe(left)">
                                      <p:cBhvr>
                                        <p:cTn id="56" dur="500"/>
                                        <p:tgtEl>
                                          <p:spTgt spid="17310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173104"/>
                                        </p:tgtEl>
                                        <p:attrNameLst>
                                          <p:attrName>style.visibility</p:attrName>
                                        </p:attrNameLst>
                                      </p:cBhvr>
                                      <p:to>
                                        <p:strVal val="visible"/>
                                      </p:to>
                                    </p:set>
                                    <p:animEffect transition="in" filter="wipe(down)">
                                      <p:cBhvr>
                                        <p:cTn id="61" dur="500"/>
                                        <p:tgtEl>
                                          <p:spTgt spid="173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82" grpId="0" autoUpdateAnimBg="0"/>
      <p:bldP spid="173084" grpId="0" autoUpdateAnimBg="0"/>
      <p:bldP spid="173086" grpId="0" animBg="1" autoUpdateAnimBg="0"/>
      <p:bldP spid="173087" grpId="0" autoUpdateAnimBg="0"/>
      <p:bldP spid="173104"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2"/>
          <p:cNvSpPr txBox="1">
            <a:spLocks noChangeArrowheads="1"/>
          </p:cNvSpPr>
          <p:nvPr/>
        </p:nvSpPr>
        <p:spPr bwMode="auto">
          <a:xfrm>
            <a:off x="323850" y="574675"/>
            <a:ext cx="6119813" cy="191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Clr>
                <a:srgbClr val="3366FF"/>
              </a:buClr>
              <a:buSzPct val="120000"/>
              <a:buFont typeface="Wingdings" pitchFamily="2" charset="2"/>
              <a:buNone/>
            </a:pPr>
            <a:r>
              <a:rPr lang="en-US" altLang="zh-CN" sz="2400" b="1">
                <a:latin typeface="宋体" pitchFamily="2" charset="-122"/>
              </a:rPr>
              <a:t>   </a:t>
            </a:r>
            <a:r>
              <a:rPr lang="zh-CN" altLang="en-US" sz="2400" b="1">
                <a:latin typeface="宋体" pitchFamily="2" charset="-122"/>
              </a:rPr>
              <a:t>沿可逆过程的热温比的积分，只取决于始、末状态，而与过程无关，与保守力作功类似。因而可认为存在一个态函数，定义为熵。对于可逆过程</a:t>
            </a:r>
            <a:r>
              <a:rPr lang="en-US" altLang="zh-CN" sz="2400" b="1">
                <a:latin typeface="宋体" pitchFamily="2" charset="-122"/>
              </a:rPr>
              <a:t>,</a:t>
            </a:r>
            <a:r>
              <a:rPr lang="zh-CN" altLang="en-US" sz="2400" b="1">
                <a:latin typeface="宋体" pitchFamily="2" charset="-122"/>
              </a:rPr>
              <a:t>两状态熵的变化（熵的增量）</a:t>
            </a:r>
          </a:p>
        </p:txBody>
      </p:sp>
      <p:sp>
        <p:nvSpPr>
          <p:cNvPr id="174083" name="Text Box 3"/>
          <p:cNvSpPr txBox="1">
            <a:spLocks noChangeArrowheads="1"/>
          </p:cNvSpPr>
          <p:nvPr/>
        </p:nvSpPr>
        <p:spPr bwMode="auto">
          <a:xfrm>
            <a:off x="228600" y="152400"/>
            <a:ext cx="3263900"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a:solidFill>
                  <a:srgbClr val="3333FF"/>
                </a:solidFill>
                <a:ea typeface="楷体_GB2312" pitchFamily="49" charset="-122"/>
              </a:rPr>
              <a:t>2</a:t>
            </a:r>
            <a:r>
              <a:rPr lang="zh-CN" altLang="en-US" sz="2800" b="1">
                <a:solidFill>
                  <a:srgbClr val="3333FF"/>
                </a:solidFill>
                <a:ea typeface="楷体_GB2312" pitchFamily="49" charset="-122"/>
              </a:rPr>
              <a:t>、熵</a:t>
            </a:r>
            <a:endParaRPr lang="zh-CN" altLang="en-US" sz="2800" b="1">
              <a:latin typeface="楷体_GB2312" pitchFamily="49" charset="-122"/>
              <a:ea typeface="楷体_GB2312" pitchFamily="49" charset="-122"/>
            </a:endParaRPr>
          </a:p>
        </p:txBody>
      </p:sp>
      <p:graphicFrame>
        <p:nvGraphicFramePr>
          <p:cNvPr id="174084" name="Object 4"/>
          <p:cNvGraphicFramePr>
            <a:graphicFrameLocks noChangeAspect="1"/>
          </p:cNvGraphicFramePr>
          <p:nvPr/>
        </p:nvGraphicFramePr>
        <p:xfrm>
          <a:off x="2484438" y="2205038"/>
          <a:ext cx="2216150" cy="1025525"/>
        </p:xfrm>
        <a:graphic>
          <a:graphicData uri="http://schemas.openxmlformats.org/presentationml/2006/ole">
            <mc:AlternateContent xmlns:mc="http://schemas.openxmlformats.org/markup-compatibility/2006">
              <mc:Choice xmlns:v="urn:schemas-microsoft-com:vml" Requires="v">
                <p:oleObj spid="_x0000_s115118" name="公式" r:id="rId3" imgW="1016000" imgH="469900" progId="Equation.3">
                  <p:embed/>
                </p:oleObj>
              </mc:Choice>
              <mc:Fallback>
                <p:oleObj name="公式" r:id="rId3" imgW="1016000" imgH="4699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2205038"/>
                        <a:ext cx="2216150" cy="10255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085" name="Text Box 5"/>
          <p:cNvSpPr txBox="1">
            <a:spLocks noChangeArrowheads="1"/>
          </p:cNvSpPr>
          <p:nvPr/>
        </p:nvSpPr>
        <p:spPr bwMode="auto">
          <a:xfrm>
            <a:off x="179388" y="4076700"/>
            <a:ext cx="8964612" cy="15700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a:t>     </a:t>
            </a:r>
            <a:r>
              <a:rPr lang="zh-CN" altLang="en-US" sz="2400" b="1"/>
              <a:t>在一个热力学过程中，系统从初态</a:t>
            </a:r>
            <a:r>
              <a:rPr lang="en-US" altLang="zh-CN" sz="2400" b="1"/>
              <a:t>A</a:t>
            </a:r>
            <a:r>
              <a:rPr lang="zh-CN" altLang="en-US" sz="2400" b="1"/>
              <a:t>变化到末态</a:t>
            </a:r>
            <a:r>
              <a:rPr lang="en-US" altLang="zh-CN" sz="2400" b="1"/>
              <a:t>B</a:t>
            </a:r>
            <a:r>
              <a:rPr lang="zh-CN" altLang="en-US" sz="2400" b="1"/>
              <a:t>的时，系统的熵的增量等于初态</a:t>
            </a:r>
            <a:r>
              <a:rPr lang="en-US" altLang="zh-CN" sz="2400" b="1"/>
              <a:t>A</a:t>
            </a:r>
            <a:r>
              <a:rPr lang="zh-CN" altLang="en-US" sz="2400" b="1"/>
              <a:t>和末态</a:t>
            </a:r>
            <a:r>
              <a:rPr lang="en-US" altLang="zh-CN" sz="2400" b="1"/>
              <a:t>B</a:t>
            </a:r>
            <a:r>
              <a:rPr lang="zh-CN" altLang="en-US" sz="2400" b="1"/>
              <a:t>之间</a:t>
            </a:r>
            <a:r>
              <a:rPr lang="zh-CN" altLang="en-US" sz="2400" b="1">
                <a:solidFill>
                  <a:srgbClr val="FF0000"/>
                </a:solidFill>
              </a:rPr>
              <a:t>任意</a:t>
            </a:r>
            <a:r>
              <a:rPr lang="zh-CN" altLang="en-US" sz="2400" b="1"/>
              <a:t>一个可逆过程的热温比的积分。</a:t>
            </a:r>
          </a:p>
          <a:p>
            <a:pPr algn="l" eaLnBrk="1" hangingPunct="1"/>
            <a:r>
              <a:rPr lang="zh-CN" altLang="en-US" sz="2400" b="1"/>
              <a:t>      对于一个微小可逆过程</a:t>
            </a:r>
          </a:p>
        </p:txBody>
      </p:sp>
      <p:graphicFrame>
        <p:nvGraphicFramePr>
          <p:cNvPr id="174086" name="Object 6"/>
          <p:cNvGraphicFramePr>
            <a:graphicFrameLocks noChangeAspect="1"/>
          </p:cNvGraphicFramePr>
          <p:nvPr/>
        </p:nvGraphicFramePr>
        <p:xfrm>
          <a:off x="4067175" y="5084763"/>
          <a:ext cx="1447800" cy="982662"/>
        </p:xfrm>
        <a:graphic>
          <a:graphicData uri="http://schemas.openxmlformats.org/presentationml/2006/ole">
            <mc:AlternateContent xmlns:mc="http://schemas.openxmlformats.org/markup-compatibility/2006">
              <mc:Choice xmlns:v="urn:schemas-microsoft-com:vml" Requires="v">
                <p:oleObj spid="_x0000_s115119" name="公式" r:id="rId5" imgW="596641" imgH="406224" progId="Equation.3">
                  <p:embed/>
                </p:oleObj>
              </mc:Choice>
              <mc:Fallback>
                <p:oleObj name="公式" r:id="rId5" imgW="596641" imgH="40622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175" y="5084763"/>
                        <a:ext cx="1447800" cy="982662"/>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087" name="Text Box 7"/>
          <p:cNvSpPr txBox="1">
            <a:spLocks noChangeArrowheads="1"/>
          </p:cNvSpPr>
          <p:nvPr/>
        </p:nvSpPr>
        <p:spPr bwMode="auto">
          <a:xfrm>
            <a:off x="1763713" y="5699125"/>
            <a:ext cx="1746250" cy="466725"/>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a:t>单位</a:t>
            </a:r>
            <a:r>
              <a:rPr lang="zh-CN" altLang="en-US" sz="2400"/>
              <a:t>：</a:t>
            </a:r>
            <a:r>
              <a:rPr lang="en-US" altLang="zh-CN" sz="2400" b="1"/>
              <a:t>J.K</a:t>
            </a:r>
            <a:r>
              <a:rPr lang="en-US" altLang="zh-CN" sz="2400" b="1" baseline="30000"/>
              <a:t>-1</a:t>
            </a:r>
            <a:endParaRPr lang="en-US" altLang="zh-CN" sz="3600" b="1">
              <a:solidFill>
                <a:srgbClr val="FF3300"/>
              </a:solidFill>
              <a:ea typeface="楷体_GB2312" pitchFamily="49" charset="-122"/>
            </a:endParaRPr>
          </a:p>
        </p:txBody>
      </p:sp>
      <p:sp>
        <p:nvSpPr>
          <p:cNvPr id="174088" name="Text Box 8"/>
          <p:cNvSpPr txBox="1">
            <a:spLocks noChangeArrowheads="1"/>
          </p:cNvSpPr>
          <p:nvPr/>
        </p:nvSpPr>
        <p:spPr bwMode="auto">
          <a:xfrm>
            <a:off x="250825" y="3187700"/>
            <a:ext cx="68405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Clr>
                <a:srgbClr val="3366FF"/>
              </a:buClr>
              <a:buSzPct val="120000"/>
              <a:buFont typeface="Wingdings" pitchFamily="2" charset="2"/>
              <a:buNone/>
            </a:pPr>
            <a:r>
              <a:rPr lang="zh-CN" altLang="en-US" sz="2400" b="1">
                <a:solidFill>
                  <a:schemeClr val="folHlink"/>
                </a:solidFill>
                <a:latin typeface="宋体" pitchFamily="2" charset="-122"/>
              </a:rPr>
              <a:t>在一个可逆</a:t>
            </a:r>
            <a:r>
              <a:rPr lang="zh-CN" altLang="en-US" sz="2400" b="1">
                <a:solidFill>
                  <a:srgbClr val="3333FF"/>
                </a:solidFill>
                <a:latin typeface="宋体" pitchFamily="2" charset="-122"/>
              </a:rPr>
              <a:t>循环</a:t>
            </a:r>
            <a:r>
              <a:rPr lang="zh-CN" altLang="en-US" sz="2400" b="1">
                <a:solidFill>
                  <a:schemeClr val="folHlink"/>
                </a:solidFill>
                <a:latin typeface="宋体" pitchFamily="2" charset="-122"/>
              </a:rPr>
              <a:t>过程，系统的熵变等于零。</a:t>
            </a:r>
          </a:p>
        </p:txBody>
      </p:sp>
      <p:graphicFrame>
        <p:nvGraphicFramePr>
          <p:cNvPr id="174089" name="Object 9"/>
          <p:cNvGraphicFramePr>
            <a:graphicFrameLocks noChangeAspect="1"/>
          </p:cNvGraphicFramePr>
          <p:nvPr/>
        </p:nvGraphicFramePr>
        <p:xfrm>
          <a:off x="6262688" y="3068638"/>
          <a:ext cx="2881312" cy="949325"/>
        </p:xfrm>
        <a:graphic>
          <a:graphicData uri="http://schemas.openxmlformats.org/presentationml/2006/ole">
            <mc:AlternateContent xmlns:mc="http://schemas.openxmlformats.org/markup-compatibility/2006">
              <mc:Choice xmlns:v="urn:schemas-microsoft-com:vml" Requires="v">
                <p:oleObj spid="_x0000_s115120" name="公式" r:id="rId7" imgW="1193800" imgH="393700" progId="Equation.3">
                  <p:embed/>
                </p:oleObj>
              </mc:Choice>
              <mc:Fallback>
                <p:oleObj name="公式" r:id="rId7" imgW="1193800" imgH="393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62688" y="3068638"/>
                        <a:ext cx="2881312" cy="9493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090" name="Object 10"/>
          <p:cNvGraphicFramePr>
            <a:graphicFrameLocks noChangeAspect="1"/>
          </p:cNvGraphicFramePr>
          <p:nvPr/>
        </p:nvGraphicFramePr>
        <p:xfrm>
          <a:off x="3189288" y="6308725"/>
          <a:ext cx="2570162" cy="477838"/>
        </p:xfrm>
        <a:graphic>
          <a:graphicData uri="http://schemas.openxmlformats.org/presentationml/2006/ole">
            <mc:AlternateContent xmlns:mc="http://schemas.openxmlformats.org/markup-compatibility/2006">
              <mc:Choice xmlns:v="urn:schemas-microsoft-com:vml" Requires="v">
                <p:oleObj spid="_x0000_s115121" name="Equation" r:id="rId9" imgW="1091726" imgH="203112" progId="Equation.DSMT4">
                  <p:embed/>
                </p:oleObj>
              </mc:Choice>
              <mc:Fallback>
                <p:oleObj name="Equation" r:id="rId9" imgW="1091726" imgH="203112"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89288" y="6308725"/>
                        <a:ext cx="2570162"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091" name="Rectangle 11"/>
          <p:cNvSpPr>
            <a:spLocks noChangeArrowheads="1"/>
          </p:cNvSpPr>
          <p:nvPr/>
        </p:nvSpPr>
        <p:spPr bwMode="auto">
          <a:xfrm>
            <a:off x="323850" y="6308725"/>
            <a:ext cx="2228850"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chemeClr val="accent2"/>
                </a:solidFill>
              </a:rPr>
              <a:t>由热力学第一定律</a:t>
            </a:r>
          </a:p>
        </p:txBody>
      </p:sp>
      <p:grpSp>
        <p:nvGrpSpPr>
          <p:cNvPr id="174092" name="Group 12"/>
          <p:cNvGrpSpPr>
            <a:grpSpLocks/>
          </p:cNvGrpSpPr>
          <p:nvPr/>
        </p:nvGrpSpPr>
        <p:grpSpPr bwMode="auto">
          <a:xfrm>
            <a:off x="6308725" y="476250"/>
            <a:ext cx="2630488" cy="2347913"/>
            <a:chOff x="3974" y="1482"/>
            <a:chExt cx="1657" cy="1479"/>
          </a:xfrm>
        </p:grpSpPr>
        <p:sp>
          <p:nvSpPr>
            <p:cNvPr id="52238" name="Line 13"/>
            <p:cNvSpPr>
              <a:spLocks noChangeShapeType="1"/>
            </p:cNvSpPr>
            <p:nvPr/>
          </p:nvSpPr>
          <p:spPr bwMode="auto">
            <a:xfrm flipV="1">
              <a:off x="4224" y="1584"/>
              <a:ext cx="0" cy="1104"/>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9" name="Line 14"/>
            <p:cNvSpPr>
              <a:spLocks noChangeShapeType="1"/>
            </p:cNvSpPr>
            <p:nvPr/>
          </p:nvSpPr>
          <p:spPr bwMode="auto">
            <a:xfrm>
              <a:off x="4224" y="2688"/>
              <a:ext cx="1344"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0" name="Arc 15"/>
            <p:cNvSpPr>
              <a:spLocks/>
            </p:cNvSpPr>
            <p:nvPr/>
          </p:nvSpPr>
          <p:spPr bwMode="auto">
            <a:xfrm flipV="1">
              <a:off x="4464" y="1680"/>
              <a:ext cx="720" cy="6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1" name="Arc 16"/>
            <p:cNvSpPr>
              <a:spLocks/>
            </p:cNvSpPr>
            <p:nvPr/>
          </p:nvSpPr>
          <p:spPr bwMode="auto">
            <a:xfrm flipH="1">
              <a:off x="4464" y="1680"/>
              <a:ext cx="720" cy="6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00FF"/>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2" name="Line 17"/>
            <p:cNvSpPr>
              <a:spLocks noChangeShapeType="1"/>
            </p:cNvSpPr>
            <p:nvPr/>
          </p:nvSpPr>
          <p:spPr bwMode="auto">
            <a:xfrm flipV="1">
              <a:off x="4656" y="1728"/>
              <a:ext cx="192" cy="144"/>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3" name="Line 18"/>
            <p:cNvSpPr>
              <a:spLocks noChangeShapeType="1"/>
            </p:cNvSpPr>
            <p:nvPr/>
          </p:nvSpPr>
          <p:spPr bwMode="auto">
            <a:xfrm flipH="1">
              <a:off x="4896" y="2064"/>
              <a:ext cx="144" cy="96"/>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4" name="Text Box 19"/>
            <p:cNvSpPr txBox="1">
              <a:spLocks noChangeArrowheads="1"/>
            </p:cNvSpPr>
            <p:nvPr/>
          </p:nvSpPr>
          <p:spPr bwMode="auto">
            <a:xfrm>
              <a:off x="4406" y="2250"/>
              <a:ext cx="26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A</a:t>
              </a:r>
              <a:endParaRPr lang="en-US" altLang="zh-CN" sz="3600" b="1">
                <a:solidFill>
                  <a:srgbClr val="FF3300"/>
                </a:solidFill>
                <a:ea typeface="楷体_GB2312" pitchFamily="49" charset="-122"/>
              </a:endParaRPr>
            </a:p>
          </p:txBody>
        </p:sp>
        <p:sp>
          <p:nvSpPr>
            <p:cNvPr id="52245" name="Text Box 20"/>
            <p:cNvSpPr txBox="1">
              <a:spLocks noChangeArrowheads="1"/>
            </p:cNvSpPr>
            <p:nvPr/>
          </p:nvSpPr>
          <p:spPr bwMode="auto">
            <a:xfrm>
              <a:off x="5174" y="1482"/>
              <a:ext cx="26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B</a:t>
              </a:r>
              <a:endParaRPr lang="en-US" altLang="zh-CN" sz="3600" b="1">
                <a:solidFill>
                  <a:srgbClr val="FF3300"/>
                </a:solidFill>
                <a:ea typeface="楷体_GB2312" pitchFamily="49" charset="-122"/>
              </a:endParaRPr>
            </a:p>
          </p:txBody>
        </p:sp>
        <p:sp>
          <p:nvSpPr>
            <p:cNvPr id="52246" name="Text Box 21"/>
            <p:cNvSpPr txBox="1">
              <a:spLocks noChangeArrowheads="1"/>
            </p:cNvSpPr>
            <p:nvPr/>
          </p:nvSpPr>
          <p:spPr bwMode="auto">
            <a:xfrm>
              <a:off x="4598" y="1530"/>
              <a:ext cx="21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c</a:t>
              </a:r>
              <a:endParaRPr lang="en-US" altLang="zh-CN" sz="3600" b="1">
                <a:solidFill>
                  <a:srgbClr val="FF3300"/>
                </a:solidFill>
                <a:ea typeface="楷体_GB2312" pitchFamily="49" charset="-122"/>
              </a:endParaRPr>
            </a:p>
          </p:txBody>
        </p:sp>
        <p:sp>
          <p:nvSpPr>
            <p:cNvPr id="52247" name="Text Box 22"/>
            <p:cNvSpPr txBox="1">
              <a:spLocks noChangeArrowheads="1"/>
            </p:cNvSpPr>
            <p:nvPr/>
          </p:nvSpPr>
          <p:spPr bwMode="auto">
            <a:xfrm>
              <a:off x="4982" y="2026"/>
              <a:ext cx="116"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endParaRPr lang="zh-CN" altLang="zh-CN" sz="3600" b="1">
                <a:solidFill>
                  <a:srgbClr val="FF3300"/>
                </a:solidFill>
                <a:ea typeface="楷体_GB2312" pitchFamily="49" charset="-122"/>
              </a:endParaRPr>
            </a:p>
          </p:txBody>
        </p:sp>
        <p:sp>
          <p:nvSpPr>
            <p:cNvPr id="52248" name="Text Box 23"/>
            <p:cNvSpPr txBox="1">
              <a:spLocks noChangeArrowheads="1"/>
            </p:cNvSpPr>
            <p:nvPr/>
          </p:nvSpPr>
          <p:spPr bwMode="auto">
            <a:xfrm>
              <a:off x="5366" y="2634"/>
              <a:ext cx="26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V</a:t>
              </a:r>
              <a:endParaRPr lang="en-US" altLang="zh-CN" sz="3600" b="1">
                <a:solidFill>
                  <a:srgbClr val="FF3300"/>
                </a:solidFill>
                <a:ea typeface="楷体_GB2312" pitchFamily="49" charset="-122"/>
              </a:endParaRPr>
            </a:p>
          </p:txBody>
        </p:sp>
        <p:sp>
          <p:nvSpPr>
            <p:cNvPr id="52249" name="Text Box 24"/>
            <p:cNvSpPr txBox="1">
              <a:spLocks noChangeArrowheads="1"/>
            </p:cNvSpPr>
            <p:nvPr/>
          </p:nvSpPr>
          <p:spPr bwMode="auto">
            <a:xfrm>
              <a:off x="3974" y="1530"/>
              <a:ext cx="228"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p</a:t>
              </a:r>
              <a:endParaRPr lang="en-US" altLang="zh-CN" sz="3600" b="1">
                <a:solidFill>
                  <a:srgbClr val="FF3300"/>
                </a:solidFill>
                <a:ea typeface="楷体_GB2312" pitchFamily="49" charset="-122"/>
              </a:endParaRPr>
            </a:p>
          </p:txBody>
        </p:sp>
      </p:grpSp>
      <p:sp>
        <p:nvSpPr>
          <p:cNvPr id="25" name="AutoShape 30"/>
          <p:cNvSpPr>
            <a:spLocks noChangeArrowheads="1"/>
          </p:cNvSpPr>
          <p:nvPr/>
        </p:nvSpPr>
        <p:spPr bwMode="auto">
          <a:xfrm>
            <a:off x="6275388" y="5322888"/>
            <a:ext cx="2047875" cy="1219200"/>
          </a:xfrm>
          <a:prstGeom prst="cloudCallout">
            <a:avLst>
              <a:gd name="adj1" fmla="val -83199"/>
              <a:gd name="adj2" fmla="val -34116"/>
            </a:avLst>
          </a:prstGeom>
          <a:solidFill>
            <a:srgbClr val="FFFF66"/>
          </a:solidFill>
          <a:ln w="9525">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pPr>
            <a:r>
              <a:rPr lang="zh-CN" altLang="en-US" sz="2400" b="1">
                <a:ea typeface="楷体_GB2312" pitchFamily="49" charset="-122"/>
              </a:rPr>
              <a:t>熵    变</a:t>
            </a:r>
          </a:p>
        </p:txBody>
      </p:sp>
    </p:spTree>
    <p:extLst>
      <p:ext uri="{BB962C8B-B14F-4D97-AF65-F5344CB8AC3E}">
        <p14:creationId xmlns:p14="http://schemas.microsoft.com/office/powerpoint/2010/main" val="36500225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4092"/>
                                        </p:tgtEl>
                                        <p:attrNameLst>
                                          <p:attrName>style.visibility</p:attrName>
                                        </p:attrNameLst>
                                      </p:cBhvr>
                                      <p:to>
                                        <p:strVal val="visible"/>
                                      </p:to>
                                    </p:set>
                                    <p:animEffect transition="in" filter="wipe(left)">
                                      <p:cBhvr>
                                        <p:cTn id="7" dur="500"/>
                                        <p:tgtEl>
                                          <p:spTgt spid="1740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083"/>
                                        </p:tgtEl>
                                        <p:attrNameLst>
                                          <p:attrName>style.visibility</p:attrName>
                                        </p:attrNameLst>
                                      </p:cBhvr>
                                      <p:to>
                                        <p:strVal val="visible"/>
                                      </p:to>
                                    </p:set>
                                    <p:animEffect transition="in" filter="wipe(left)">
                                      <p:cBhvr>
                                        <p:cTn id="12" dur="500"/>
                                        <p:tgtEl>
                                          <p:spTgt spid="1740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082"/>
                                        </p:tgtEl>
                                        <p:attrNameLst>
                                          <p:attrName>style.visibility</p:attrName>
                                        </p:attrNameLst>
                                      </p:cBhvr>
                                      <p:to>
                                        <p:strVal val="visible"/>
                                      </p:to>
                                    </p:set>
                                    <p:animEffect transition="in" filter="wipe(left)">
                                      <p:cBhvr>
                                        <p:cTn id="17" dur="500"/>
                                        <p:tgtEl>
                                          <p:spTgt spid="1740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74084"/>
                                        </p:tgtEl>
                                        <p:attrNameLst>
                                          <p:attrName>style.visibility</p:attrName>
                                        </p:attrNameLst>
                                      </p:cBhvr>
                                      <p:to>
                                        <p:strVal val="visible"/>
                                      </p:to>
                                    </p:set>
                                    <p:animEffect transition="in" filter="wipe(left)">
                                      <p:cBhvr>
                                        <p:cTn id="22" dur="500"/>
                                        <p:tgtEl>
                                          <p:spTgt spid="1740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4088"/>
                                        </p:tgtEl>
                                        <p:attrNameLst>
                                          <p:attrName>style.visibility</p:attrName>
                                        </p:attrNameLst>
                                      </p:cBhvr>
                                      <p:to>
                                        <p:strVal val="visible"/>
                                      </p:to>
                                    </p:set>
                                    <p:animEffect transition="in" filter="wipe(left)">
                                      <p:cBhvr>
                                        <p:cTn id="27" dur="500"/>
                                        <p:tgtEl>
                                          <p:spTgt spid="1740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74089"/>
                                        </p:tgtEl>
                                        <p:attrNameLst>
                                          <p:attrName>style.visibility</p:attrName>
                                        </p:attrNameLst>
                                      </p:cBhvr>
                                      <p:to>
                                        <p:strVal val="visible"/>
                                      </p:to>
                                    </p:set>
                                    <p:animEffect transition="in" filter="wipe(left)">
                                      <p:cBhvr>
                                        <p:cTn id="32" dur="500"/>
                                        <p:tgtEl>
                                          <p:spTgt spid="17408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174085"/>
                                        </p:tgtEl>
                                        <p:attrNameLst>
                                          <p:attrName>style.visibility</p:attrName>
                                        </p:attrNameLst>
                                      </p:cBhvr>
                                      <p:to>
                                        <p:strVal val="visible"/>
                                      </p:to>
                                    </p:set>
                                    <p:animEffect transition="in" filter="wipe(left)">
                                      <p:cBhvr>
                                        <p:cTn id="37" dur="75"/>
                                        <p:tgtEl>
                                          <p:spTgt spid="17408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74086"/>
                                        </p:tgtEl>
                                        <p:attrNameLst>
                                          <p:attrName>style.visibility</p:attrName>
                                        </p:attrNameLst>
                                      </p:cBhvr>
                                      <p:to>
                                        <p:strVal val="visible"/>
                                      </p:to>
                                    </p:set>
                                    <p:animEffect transition="in" filter="wipe(left)">
                                      <p:cBhvr>
                                        <p:cTn id="42" dur="500"/>
                                        <p:tgtEl>
                                          <p:spTgt spid="17408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4087"/>
                                        </p:tgtEl>
                                        <p:attrNameLst>
                                          <p:attrName>style.visibility</p:attrName>
                                        </p:attrNameLst>
                                      </p:cBhvr>
                                      <p:to>
                                        <p:strVal val="visible"/>
                                      </p:to>
                                    </p:set>
                                    <p:animEffect transition="in" filter="wipe(left)">
                                      <p:cBhvr>
                                        <p:cTn id="52" dur="500"/>
                                        <p:tgtEl>
                                          <p:spTgt spid="17408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74091"/>
                                        </p:tgtEl>
                                        <p:attrNameLst>
                                          <p:attrName>style.visibility</p:attrName>
                                        </p:attrNameLst>
                                      </p:cBhvr>
                                      <p:to>
                                        <p:strVal val="visible"/>
                                      </p:to>
                                    </p:set>
                                    <p:animEffect transition="in" filter="blinds(horizontal)">
                                      <p:cBhvr>
                                        <p:cTn id="57" dur="500"/>
                                        <p:tgtEl>
                                          <p:spTgt spid="17409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74090"/>
                                        </p:tgtEl>
                                        <p:attrNameLst>
                                          <p:attrName>style.visibility</p:attrName>
                                        </p:attrNameLst>
                                      </p:cBhvr>
                                      <p:to>
                                        <p:strVal val="visible"/>
                                      </p:to>
                                    </p:set>
                                    <p:animEffect transition="in" filter="wipe(left)">
                                      <p:cBhvr>
                                        <p:cTn id="62" dur="500"/>
                                        <p:tgtEl>
                                          <p:spTgt spid="174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autoUpdateAnimBg="0"/>
      <p:bldP spid="174083" grpId="0" autoUpdateAnimBg="0"/>
      <p:bldP spid="174085" grpId="0" autoUpdateAnimBg="0"/>
      <p:bldP spid="174087" grpId="0" animBg="1" autoUpdateAnimBg="0"/>
      <p:bldP spid="174088" grpId="0" autoUpdateAnimBg="0"/>
      <p:bldP spid="174091" grpId="0"/>
      <p:bldP spid="25"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53250" name="Group 2"/>
          <p:cNvGrpSpPr>
            <a:grpSpLocks/>
          </p:cNvGrpSpPr>
          <p:nvPr/>
        </p:nvGrpSpPr>
        <p:grpSpPr bwMode="auto">
          <a:xfrm>
            <a:off x="-101395" y="518952"/>
            <a:ext cx="1156345" cy="1299865"/>
            <a:chOff x="0" y="119"/>
            <a:chExt cx="1227" cy="907"/>
          </a:xfrm>
        </p:grpSpPr>
        <p:sp>
          <p:nvSpPr>
            <p:cNvPr id="53268" name="AutoShape 3"/>
            <p:cNvSpPr>
              <a:spLocks noChangeArrowheads="1"/>
            </p:cNvSpPr>
            <p:nvPr/>
          </p:nvSpPr>
          <p:spPr bwMode="auto">
            <a:xfrm>
              <a:off x="0" y="119"/>
              <a:ext cx="1227" cy="907"/>
            </a:xfrm>
            <a:prstGeom prst="star16">
              <a:avLst>
                <a:gd name="adj" fmla="val 3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9" name="Text Box 4"/>
            <p:cNvSpPr txBox="1">
              <a:spLocks noChangeArrowheads="1"/>
            </p:cNvSpPr>
            <p:nvPr/>
          </p:nvSpPr>
          <p:spPr bwMode="auto">
            <a:xfrm>
              <a:off x="158" y="436"/>
              <a:ext cx="9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zh-CN" altLang="en-US" sz="2400" b="1" dirty="0">
                  <a:solidFill>
                    <a:srgbClr val="FF3300"/>
                  </a:solidFill>
                  <a:latin typeface="Arial" pitchFamily="34" charset="0"/>
                </a:rPr>
                <a:t>注意</a:t>
              </a:r>
            </a:p>
          </p:txBody>
        </p:sp>
      </p:grpSp>
      <p:sp>
        <p:nvSpPr>
          <p:cNvPr id="53251" name="Text Box 5"/>
          <p:cNvSpPr txBox="1">
            <a:spLocks noChangeArrowheads="1"/>
          </p:cNvSpPr>
          <p:nvPr/>
        </p:nvSpPr>
        <p:spPr bwMode="auto">
          <a:xfrm>
            <a:off x="1235075" y="869061"/>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2400" b="1">
                <a:latin typeface="Arial" pitchFamily="34" charset="0"/>
              </a:rPr>
              <a:t>1</a:t>
            </a:r>
            <a:r>
              <a:rPr kumimoji="0" lang="zh-CN" altLang="en-US" sz="2400" b="1">
                <a:latin typeface="Arial" pitchFamily="34" charset="0"/>
              </a:rPr>
              <a:t>、若变化路径是不可逆的，则上式不能成立；</a:t>
            </a:r>
          </a:p>
        </p:txBody>
      </p:sp>
      <p:sp>
        <p:nvSpPr>
          <p:cNvPr id="53252" name="Text Box 6"/>
          <p:cNvSpPr txBox="1">
            <a:spLocks noChangeArrowheads="1"/>
          </p:cNvSpPr>
          <p:nvPr/>
        </p:nvSpPr>
        <p:spPr bwMode="auto">
          <a:xfrm>
            <a:off x="1284287" y="1288846"/>
            <a:ext cx="25923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2400" b="1" dirty="0">
                <a:latin typeface="Arial" pitchFamily="34" charset="0"/>
              </a:rPr>
              <a:t>2</a:t>
            </a:r>
            <a:r>
              <a:rPr kumimoji="0" lang="zh-CN" altLang="en-US" sz="2400" b="1" dirty="0">
                <a:latin typeface="Arial" pitchFamily="34" charset="0"/>
              </a:rPr>
              <a:t>、熵是状态函数；</a:t>
            </a:r>
          </a:p>
        </p:txBody>
      </p:sp>
      <p:sp>
        <p:nvSpPr>
          <p:cNvPr id="53253" name="Text Box 7"/>
          <p:cNvSpPr txBox="1">
            <a:spLocks noChangeArrowheads="1"/>
          </p:cNvSpPr>
          <p:nvPr/>
        </p:nvSpPr>
        <p:spPr bwMode="auto">
          <a:xfrm>
            <a:off x="1291989" y="1718913"/>
            <a:ext cx="5040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2400" b="1" dirty="0">
                <a:latin typeface="Arial" pitchFamily="34" charset="0"/>
              </a:rPr>
              <a:t>3</a:t>
            </a:r>
            <a:r>
              <a:rPr kumimoji="0" lang="zh-CN" altLang="en-US" sz="2400" b="1" dirty="0">
                <a:latin typeface="Arial" pitchFamily="34" charset="0"/>
              </a:rPr>
              <a:t>、若把某一初态定为参考态，则：</a:t>
            </a:r>
          </a:p>
        </p:txBody>
      </p:sp>
      <p:graphicFrame>
        <p:nvGraphicFramePr>
          <p:cNvPr id="53254" name="Object 8"/>
          <p:cNvGraphicFramePr>
            <a:graphicFrameLocks noGrp="1" noChangeAspect="1"/>
          </p:cNvGraphicFramePr>
          <p:nvPr>
            <p:ph sz="half" idx="1"/>
            <p:extLst>
              <p:ext uri="{D42A27DB-BD31-4B8C-83A1-F6EECF244321}">
                <p14:modId xmlns:p14="http://schemas.microsoft.com/office/powerpoint/2010/main" val="4185759470"/>
              </p:ext>
            </p:extLst>
          </p:nvPr>
        </p:nvGraphicFramePr>
        <p:xfrm>
          <a:off x="6048276" y="1662112"/>
          <a:ext cx="1511300" cy="671513"/>
        </p:xfrm>
        <a:graphic>
          <a:graphicData uri="http://schemas.openxmlformats.org/presentationml/2006/ole">
            <mc:AlternateContent xmlns:mc="http://schemas.openxmlformats.org/markup-compatibility/2006">
              <mc:Choice xmlns:v="urn:schemas-microsoft-com:vml" Requires="v">
                <p:oleObj spid="_x0000_s116368" name="Equation" r:id="rId3" imgW="914003" imgH="406224" progId="Equation.DSMT4">
                  <p:embed/>
                </p:oleObj>
              </mc:Choice>
              <mc:Fallback>
                <p:oleObj name="Equation" r:id="rId3" imgW="914003" imgH="406224"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276" y="1662112"/>
                        <a:ext cx="1511300"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5" name="Text Box 9"/>
          <p:cNvSpPr txBox="1">
            <a:spLocks noChangeArrowheads="1"/>
          </p:cNvSpPr>
          <p:nvPr/>
        </p:nvSpPr>
        <p:spPr bwMode="auto">
          <a:xfrm>
            <a:off x="689807" y="2285999"/>
            <a:ext cx="80645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2400" b="1" dirty="0">
                <a:latin typeface="Arial" pitchFamily="34" charset="0"/>
              </a:rPr>
              <a:t>4</a:t>
            </a:r>
            <a:r>
              <a:rPr kumimoji="0" lang="zh-CN" altLang="en-US" sz="2400" b="1" dirty="0">
                <a:latin typeface="Arial" pitchFamily="34" charset="0"/>
              </a:rPr>
              <a:t>、                 式只能计算熵的变化，它无法说明熵的微观意义，这也是热力学的局限性；</a:t>
            </a:r>
          </a:p>
        </p:txBody>
      </p:sp>
      <p:sp>
        <p:nvSpPr>
          <p:cNvPr id="53256" name="Text Box 10"/>
          <p:cNvSpPr txBox="1">
            <a:spLocks noChangeArrowheads="1"/>
          </p:cNvSpPr>
          <p:nvPr/>
        </p:nvSpPr>
        <p:spPr bwMode="auto">
          <a:xfrm>
            <a:off x="683568" y="3068638"/>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2400" b="1" dirty="0">
                <a:latin typeface="Arial" pitchFamily="34" charset="0"/>
              </a:rPr>
              <a:t>5</a:t>
            </a:r>
            <a:r>
              <a:rPr kumimoji="0" lang="zh-CN" altLang="en-US" sz="2400" b="1" dirty="0">
                <a:latin typeface="Arial" pitchFamily="34" charset="0"/>
              </a:rPr>
              <a:t>、熵的概念比较抽象，但它具有更普遍意义。</a:t>
            </a:r>
          </a:p>
        </p:txBody>
      </p:sp>
      <p:sp>
        <p:nvSpPr>
          <p:cNvPr id="53257" name="Text Box 11"/>
          <p:cNvSpPr txBox="1">
            <a:spLocks noChangeArrowheads="1"/>
          </p:cNvSpPr>
          <p:nvPr/>
        </p:nvSpPr>
        <p:spPr bwMode="auto">
          <a:xfrm>
            <a:off x="250825" y="4221163"/>
            <a:ext cx="2160588"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2400" b="1" dirty="0">
                <a:solidFill>
                  <a:srgbClr val="FF3300"/>
                </a:solidFill>
                <a:latin typeface="Arial" pitchFamily="34" charset="0"/>
              </a:rPr>
              <a:t>6</a:t>
            </a:r>
            <a:r>
              <a:rPr kumimoji="0" lang="zh-CN" altLang="en-US" sz="2400" b="1" dirty="0">
                <a:solidFill>
                  <a:srgbClr val="FF3300"/>
                </a:solidFill>
                <a:latin typeface="Arial" pitchFamily="34" charset="0"/>
              </a:rPr>
              <a:t>、不可逆过程中熵的计算</a:t>
            </a:r>
          </a:p>
        </p:txBody>
      </p:sp>
      <p:sp>
        <p:nvSpPr>
          <p:cNvPr id="53258" name="AutoShape 12"/>
          <p:cNvSpPr>
            <a:spLocks/>
          </p:cNvSpPr>
          <p:nvPr/>
        </p:nvSpPr>
        <p:spPr bwMode="auto">
          <a:xfrm>
            <a:off x="2268538" y="3717925"/>
            <a:ext cx="431800" cy="1582738"/>
          </a:xfrm>
          <a:prstGeom prst="leftBrace">
            <a:avLst>
              <a:gd name="adj1" fmla="val 3054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9" name="Text Box 13"/>
          <p:cNvSpPr txBox="1">
            <a:spLocks noChangeArrowheads="1"/>
          </p:cNvSpPr>
          <p:nvPr/>
        </p:nvSpPr>
        <p:spPr bwMode="auto">
          <a:xfrm>
            <a:off x="2483768" y="3710360"/>
            <a:ext cx="56165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1800" b="1" dirty="0">
                <a:solidFill>
                  <a:schemeClr val="accent2"/>
                </a:solidFill>
                <a:latin typeface="Arial" pitchFamily="34" charset="0"/>
              </a:rPr>
              <a:t>1</a:t>
            </a:r>
            <a:r>
              <a:rPr kumimoji="0" lang="zh-CN" altLang="en-US" sz="1800" b="1" dirty="0">
                <a:solidFill>
                  <a:schemeClr val="accent2"/>
                </a:solidFill>
                <a:latin typeface="Arial" pitchFamily="34" charset="0"/>
              </a:rPr>
              <a:t>）、设计一个连接相同初、末态的任一可逆过程。</a:t>
            </a:r>
          </a:p>
        </p:txBody>
      </p:sp>
      <p:sp>
        <p:nvSpPr>
          <p:cNvPr id="53260" name="Text Box 14"/>
          <p:cNvSpPr txBox="1">
            <a:spLocks noChangeArrowheads="1"/>
          </p:cNvSpPr>
          <p:nvPr/>
        </p:nvSpPr>
        <p:spPr bwMode="auto">
          <a:xfrm>
            <a:off x="2484438" y="4283075"/>
            <a:ext cx="6767512"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1800" b="1" dirty="0">
                <a:solidFill>
                  <a:schemeClr val="accent2"/>
                </a:solidFill>
                <a:latin typeface="Arial" pitchFamily="34" charset="0"/>
              </a:rPr>
              <a:t>2</a:t>
            </a:r>
            <a:r>
              <a:rPr kumimoji="0" lang="zh-CN" altLang="en-US" sz="1800" b="1" dirty="0">
                <a:solidFill>
                  <a:schemeClr val="accent2"/>
                </a:solidFill>
                <a:latin typeface="Arial" pitchFamily="34" charset="0"/>
              </a:rPr>
              <a:t>）、计算出熵作为状态参量的函数形式，再代入初、末态参量。</a:t>
            </a:r>
          </a:p>
        </p:txBody>
      </p:sp>
      <p:sp>
        <p:nvSpPr>
          <p:cNvPr id="53261" name="Text Box 15"/>
          <p:cNvSpPr txBox="1">
            <a:spLocks noChangeArrowheads="1"/>
          </p:cNvSpPr>
          <p:nvPr/>
        </p:nvSpPr>
        <p:spPr bwMode="auto">
          <a:xfrm>
            <a:off x="2555776" y="4868863"/>
            <a:ext cx="4248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1800" b="1" dirty="0">
                <a:solidFill>
                  <a:schemeClr val="accent2"/>
                </a:solidFill>
                <a:latin typeface="Arial" pitchFamily="34" charset="0"/>
              </a:rPr>
              <a:t>3</a:t>
            </a:r>
            <a:r>
              <a:rPr kumimoji="0" lang="zh-CN" altLang="en-US" sz="1800" b="1" dirty="0">
                <a:solidFill>
                  <a:schemeClr val="accent2"/>
                </a:solidFill>
                <a:latin typeface="Arial" pitchFamily="34" charset="0"/>
              </a:rPr>
              <a:t>）、可查熵图表计算初末态的熵之差。</a:t>
            </a:r>
          </a:p>
        </p:txBody>
      </p:sp>
      <p:sp>
        <p:nvSpPr>
          <p:cNvPr id="53262" name="Text Box 16"/>
          <p:cNvSpPr txBox="1">
            <a:spLocks noChangeArrowheads="1"/>
          </p:cNvSpPr>
          <p:nvPr/>
        </p:nvSpPr>
        <p:spPr bwMode="auto">
          <a:xfrm>
            <a:off x="179388" y="5276850"/>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2400" b="1">
                <a:solidFill>
                  <a:srgbClr val="FF3300"/>
                </a:solidFill>
                <a:latin typeface="Arial" pitchFamily="34" charset="0"/>
              </a:rPr>
              <a:t>7</a:t>
            </a:r>
            <a:r>
              <a:rPr kumimoji="0" lang="zh-CN" altLang="en-US" sz="2400" b="1">
                <a:solidFill>
                  <a:srgbClr val="FF3300"/>
                </a:solidFill>
                <a:latin typeface="Arial" pitchFamily="34" charset="0"/>
              </a:rPr>
              <a:t>、以熵来表示热容</a:t>
            </a:r>
          </a:p>
        </p:txBody>
      </p:sp>
      <p:graphicFrame>
        <p:nvGraphicFramePr>
          <p:cNvPr id="53263" name="Object 17"/>
          <p:cNvGraphicFramePr>
            <a:graphicFrameLocks noChangeAspect="1"/>
          </p:cNvGraphicFramePr>
          <p:nvPr/>
        </p:nvGraphicFramePr>
        <p:xfrm>
          <a:off x="447675" y="5837238"/>
          <a:ext cx="4003675" cy="1058862"/>
        </p:xfrm>
        <a:graphic>
          <a:graphicData uri="http://schemas.openxmlformats.org/presentationml/2006/ole">
            <mc:AlternateContent xmlns:mc="http://schemas.openxmlformats.org/markup-compatibility/2006">
              <mc:Choice xmlns:v="urn:schemas-microsoft-com:vml" Requires="v">
                <p:oleObj spid="_x0000_s116369" name="Equation" r:id="rId5" imgW="1536033" imgH="406224" progId="Equation.DSMT4">
                  <p:embed/>
                </p:oleObj>
              </mc:Choice>
              <mc:Fallback>
                <p:oleObj name="Equation" r:id="rId5" imgW="1536033" imgH="40622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675" y="5837238"/>
                        <a:ext cx="4003675" cy="1058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4" name="Object 18"/>
          <p:cNvGraphicFramePr>
            <a:graphicFrameLocks noChangeAspect="1"/>
          </p:cNvGraphicFramePr>
          <p:nvPr/>
        </p:nvGraphicFramePr>
        <p:xfrm>
          <a:off x="4845050" y="5908675"/>
          <a:ext cx="3856038" cy="992188"/>
        </p:xfrm>
        <a:graphic>
          <a:graphicData uri="http://schemas.openxmlformats.org/presentationml/2006/ole">
            <mc:AlternateContent xmlns:mc="http://schemas.openxmlformats.org/markup-compatibility/2006">
              <mc:Choice xmlns:v="urn:schemas-microsoft-com:vml" Requires="v">
                <p:oleObj spid="_x0000_s116370" name="Equation" r:id="rId7" imgW="1523339" imgH="406224" progId="Equation.DSMT4">
                  <p:embed/>
                </p:oleObj>
              </mc:Choice>
              <mc:Fallback>
                <p:oleObj name="Equation" r:id="rId7" imgW="1523339" imgH="406224"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45050" y="5908675"/>
                        <a:ext cx="3856038" cy="992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65" name="Object 22"/>
          <p:cNvGraphicFramePr>
            <a:graphicFrameLocks noGrp="1" noChangeAspect="1"/>
          </p:cNvGraphicFramePr>
          <p:nvPr>
            <p:ph sz="half" idx="2"/>
          </p:nvPr>
        </p:nvGraphicFramePr>
        <p:xfrm>
          <a:off x="1042988" y="0"/>
          <a:ext cx="1028700" cy="700088"/>
        </p:xfrm>
        <a:graphic>
          <a:graphicData uri="http://schemas.openxmlformats.org/presentationml/2006/ole">
            <mc:AlternateContent xmlns:mc="http://schemas.openxmlformats.org/markup-compatibility/2006">
              <mc:Choice xmlns:v="urn:schemas-microsoft-com:vml" Requires="v">
                <p:oleObj spid="_x0000_s116371" name="公式" r:id="rId9" imgW="596641" imgH="406224" progId="Equation.3">
                  <p:embed/>
                </p:oleObj>
              </mc:Choice>
              <mc:Fallback>
                <p:oleObj name="公式" r:id="rId9" imgW="596641" imgH="406224"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988" y="0"/>
                        <a:ext cx="1028700" cy="70008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266" name="对象 1"/>
          <p:cNvGraphicFramePr>
            <a:graphicFrameLocks noChangeAspect="1"/>
          </p:cNvGraphicFramePr>
          <p:nvPr/>
        </p:nvGraphicFramePr>
        <p:xfrm>
          <a:off x="2268538" y="41275"/>
          <a:ext cx="2195512" cy="723900"/>
        </p:xfrm>
        <a:graphic>
          <a:graphicData uri="http://schemas.openxmlformats.org/presentationml/2006/ole">
            <mc:AlternateContent xmlns:mc="http://schemas.openxmlformats.org/markup-compatibility/2006">
              <mc:Choice xmlns:v="urn:schemas-microsoft-com:vml" Requires="v">
                <p:oleObj spid="_x0000_s116372" name="公式" r:id="rId11" imgW="1193800" imgH="393700" progId="Equation.3">
                  <p:embed/>
                </p:oleObj>
              </mc:Choice>
              <mc:Fallback>
                <p:oleObj name="公式" r:id="rId11" imgW="1193800" imgH="3937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68538" y="41275"/>
                        <a:ext cx="2195512" cy="723900"/>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7" name="对象 2"/>
          <p:cNvGraphicFramePr>
            <a:graphicFrameLocks noChangeAspect="1"/>
          </p:cNvGraphicFramePr>
          <p:nvPr>
            <p:extLst>
              <p:ext uri="{D42A27DB-BD31-4B8C-83A1-F6EECF244321}">
                <p14:modId xmlns:p14="http://schemas.microsoft.com/office/powerpoint/2010/main" val="122392956"/>
              </p:ext>
            </p:extLst>
          </p:nvPr>
        </p:nvGraphicFramePr>
        <p:xfrm>
          <a:off x="1308100" y="2211795"/>
          <a:ext cx="1063625" cy="492125"/>
        </p:xfrm>
        <a:graphic>
          <a:graphicData uri="http://schemas.openxmlformats.org/presentationml/2006/ole">
            <mc:AlternateContent xmlns:mc="http://schemas.openxmlformats.org/markup-compatibility/2006">
              <mc:Choice xmlns:v="urn:schemas-microsoft-com:vml" Requires="v">
                <p:oleObj spid="_x0000_s116373" name="公式" r:id="rId13" imgW="1016000" imgH="469900" progId="Equation.3">
                  <p:embed/>
                </p:oleObj>
              </mc:Choice>
              <mc:Fallback>
                <p:oleObj name="公式" r:id="rId13" imgW="1016000" imgH="4699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08100" y="2211795"/>
                        <a:ext cx="1063625" cy="492125"/>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07210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half" idx="1"/>
          </p:nvPr>
        </p:nvSpPr>
        <p:spPr>
          <a:xfrm flipH="1">
            <a:off x="467544" y="1988840"/>
            <a:ext cx="1224136" cy="4114800"/>
          </a:xfrm>
        </p:spPr>
        <p:txBody>
          <a:bodyPr/>
          <a:lstStyle/>
          <a:p>
            <a:r>
              <a:rPr kumimoji="0" lang="zh-CN" altLang="en-US" b="1" dirty="0">
                <a:solidFill>
                  <a:schemeClr val="accent2"/>
                </a:solidFill>
                <a:latin typeface="Arial" pitchFamily="34" charset="0"/>
              </a:rPr>
              <a:t>空气的熵图表</a:t>
            </a:r>
            <a:endParaRPr lang="zh-CN" altLang="en-US" dirty="0"/>
          </a:p>
        </p:txBody>
      </p:sp>
      <p:pic>
        <p:nvPicPr>
          <p:cNvPr id="99330" name="Picture 2" descr="http://jpkc.zzu.edu.cn/hgrlx/UploadFiles/pic/201351132421143.jpg"/>
          <p:cNvPicPr>
            <a:picLocks noChangeAspect="1" noChangeArrowheads="1"/>
          </p:cNvPicPr>
          <p:nvPr/>
        </p:nvPicPr>
        <p:blipFill rotWithShape="1">
          <a:blip r:embed="rId2">
            <a:extLst>
              <a:ext uri="{28A0092B-C50C-407E-A947-70E740481C1C}">
                <a14:useLocalDpi xmlns:a14="http://schemas.microsoft.com/office/drawing/2010/main" val="0"/>
              </a:ext>
            </a:extLst>
          </a:blip>
          <a:srcRect t="22227"/>
          <a:stretch/>
        </p:blipFill>
        <p:spPr bwMode="auto">
          <a:xfrm>
            <a:off x="1475656" y="0"/>
            <a:ext cx="6787607" cy="6647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858884"/>
      </p:ext>
    </p:extLst>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Text Box 1027"/>
          <p:cNvSpPr txBox="1">
            <a:spLocks noChangeArrowheads="1"/>
          </p:cNvSpPr>
          <p:nvPr/>
        </p:nvSpPr>
        <p:spPr bwMode="auto">
          <a:xfrm>
            <a:off x="314325" y="3934494"/>
            <a:ext cx="8128000"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pPr>
            <a:r>
              <a:rPr lang="en-US" altLang="zh-CN" sz="3200" b="1" dirty="0"/>
              <a:t>   </a:t>
            </a:r>
            <a:r>
              <a:rPr lang="zh-CN" altLang="en-US" sz="3200" b="1" dirty="0"/>
              <a:t>（</a:t>
            </a:r>
            <a:r>
              <a:rPr lang="en-US" altLang="zh-CN" sz="3200" b="1" dirty="0"/>
              <a:t>1</a:t>
            </a:r>
            <a:r>
              <a:rPr lang="zh-CN" altLang="en-US" sz="3200" b="1" dirty="0"/>
              <a:t>）选定系统</a:t>
            </a:r>
          </a:p>
          <a:p>
            <a:pPr algn="l">
              <a:lnSpc>
                <a:spcPct val="110000"/>
              </a:lnSpc>
            </a:pPr>
            <a:r>
              <a:rPr lang="zh-CN" altLang="en-US" sz="3200" b="1" dirty="0"/>
              <a:t>   （</a:t>
            </a:r>
            <a:r>
              <a:rPr lang="en-US" altLang="zh-CN" sz="3200" b="1" dirty="0"/>
              <a:t>2</a:t>
            </a:r>
            <a:r>
              <a:rPr lang="zh-CN" altLang="en-US" sz="3200" b="1" dirty="0"/>
              <a:t>）确定状态 （始、末态及其参量）</a:t>
            </a:r>
          </a:p>
          <a:p>
            <a:pPr algn="l">
              <a:lnSpc>
                <a:spcPct val="110000"/>
              </a:lnSpc>
            </a:pPr>
            <a:r>
              <a:rPr lang="zh-CN" altLang="en-US" sz="3200" b="1" dirty="0"/>
              <a:t>   （</a:t>
            </a:r>
            <a:r>
              <a:rPr lang="en-US" altLang="zh-CN" sz="3200" b="1" dirty="0"/>
              <a:t>3</a:t>
            </a:r>
            <a:r>
              <a:rPr lang="zh-CN" altLang="en-US" sz="3200" b="1" dirty="0"/>
              <a:t>）拟定可逆过程连接始、末态</a:t>
            </a:r>
          </a:p>
        </p:txBody>
      </p:sp>
      <p:sp>
        <p:nvSpPr>
          <p:cNvPr id="93189" name="Rectangle 1029"/>
          <p:cNvSpPr>
            <a:spLocks noChangeArrowheads="1"/>
          </p:cNvSpPr>
          <p:nvPr/>
        </p:nvSpPr>
        <p:spPr bwMode="auto">
          <a:xfrm>
            <a:off x="215710" y="474634"/>
            <a:ext cx="877927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CN" sz="2800" b="1" dirty="0">
                <a:solidFill>
                  <a:srgbClr val="FF3300"/>
                </a:solidFill>
                <a:sym typeface="Symbol" pitchFamily="18" charset="2"/>
              </a:rPr>
              <a:t>▲</a:t>
            </a:r>
            <a:r>
              <a:rPr lang="en-US" altLang="zh-CN" sz="2800" b="1" dirty="0">
                <a:solidFill>
                  <a:srgbClr val="FF00FF"/>
                </a:solidFill>
                <a:sym typeface="Symbol" pitchFamily="18" charset="2"/>
              </a:rPr>
              <a:t> </a:t>
            </a:r>
            <a:r>
              <a:rPr lang="zh-CN" altLang="en-US" sz="2800" b="1" dirty="0">
                <a:solidFill>
                  <a:srgbClr val="0000FF"/>
                </a:solidFill>
              </a:rPr>
              <a:t>熵是状态的函数，</a:t>
            </a:r>
            <a:r>
              <a:rPr lang="zh-CN" altLang="en-US" sz="2800" b="1" dirty="0"/>
              <a:t>当系统从初态至末态时，不管经历了什么过程，也不管过程是否可逆，</a:t>
            </a:r>
            <a:r>
              <a:rPr lang="zh-CN" altLang="en-US" sz="2800" b="1" dirty="0">
                <a:solidFill>
                  <a:srgbClr val="FF3300"/>
                </a:solidFill>
              </a:rPr>
              <a:t>熵的变化</a:t>
            </a:r>
            <a:r>
              <a:rPr lang="zh-CN" altLang="en-US" sz="2800" b="1" dirty="0"/>
              <a:t>总是一定的，</a:t>
            </a:r>
            <a:r>
              <a:rPr lang="zh-CN" altLang="en-US" sz="2800" b="1" dirty="0">
                <a:solidFill>
                  <a:srgbClr val="0000FF"/>
                </a:solidFill>
              </a:rPr>
              <a:t>它只决定于始、末态。</a:t>
            </a:r>
            <a:r>
              <a:rPr lang="zh-CN" altLang="en-US" sz="2800" b="1" dirty="0"/>
              <a:t>因此当给定了系统的始、末状态而</a:t>
            </a:r>
            <a:r>
              <a:rPr lang="zh-CN" altLang="en-US" sz="2800" b="1" dirty="0">
                <a:solidFill>
                  <a:srgbClr val="0000FF"/>
                </a:solidFill>
                <a:latin typeface="宋体" pitchFamily="2" charset="-122"/>
              </a:rPr>
              <a:t>求熵变时</a:t>
            </a:r>
            <a:r>
              <a:rPr lang="zh-CN" altLang="en-US" sz="2800" b="1" dirty="0">
                <a:solidFill>
                  <a:srgbClr val="0000FF"/>
                </a:solidFill>
              </a:rPr>
              <a:t>，</a:t>
            </a:r>
            <a:r>
              <a:rPr lang="zh-CN" altLang="en-US" sz="2800" b="1" dirty="0"/>
              <a:t>可以</a:t>
            </a:r>
            <a:r>
              <a:rPr lang="zh-CN" altLang="en-US" sz="2800" b="1" dirty="0">
                <a:solidFill>
                  <a:srgbClr val="FF0000"/>
                </a:solidFill>
              </a:rPr>
              <a:t>任选（</a:t>
            </a:r>
            <a:r>
              <a:rPr lang="zh-CN" altLang="en-US" sz="2800" b="1" dirty="0">
                <a:solidFill>
                  <a:srgbClr val="FF3300"/>
                </a:solidFill>
              </a:rPr>
              <a:t>或说</a:t>
            </a:r>
            <a:r>
              <a:rPr lang="zh-CN" altLang="en-US" sz="2800" b="1" dirty="0">
                <a:solidFill>
                  <a:srgbClr val="FF3300"/>
                </a:solidFill>
                <a:latin typeface="宋体" pitchFamily="2" charset="-122"/>
              </a:rPr>
              <a:t>拟定）</a:t>
            </a:r>
            <a:r>
              <a:rPr lang="zh-CN" altLang="en-US" sz="2800" b="1" dirty="0">
                <a:solidFill>
                  <a:srgbClr val="FF0000"/>
                </a:solidFill>
              </a:rPr>
              <a:t>一个可逆过程</a:t>
            </a:r>
            <a:r>
              <a:rPr lang="zh-CN" altLang="en-US" sz="2800" b="1" dirty="0"/>
              <a:t>来计算。</a:t>
            </a:r>
            <a:endParaRPr lang="zh-CN" altLang="en-US" sz="2800" b="1" dirty="0">
              <a:solidFill>
                <a:srgbClr val="0000FF"/>
              </a:solidFill>
            </a:endParaRPr>
          </a:p>
        </p:txBody>
      </p:sp>
      <p:sp>
        <p:nvSpPr>
          <p:cNvPr id="93194" name="Rectangle 1034"/>
          <p:cNvSpPr>
            <a:spLocks noChangeArrowheads="1"/>
          </p:cNvSpPr>
          <p:nvPr/>
        </p:nvSpPr>
        <p:spPr bwMode="auto">
          <a:xfrm>
            <a:off x="-87057" y="3001970"/>
            <a:ext cx="5956300" cy="68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en-US" altLang="zh-CN" sz="3200" b="1" dirty="0">
                <a:solidFill>
                  <a:srgbClr val="FF3300"/>
                </a:solidFill>
                <a:sym typeface="Symbol" pitchFamily="18" charset="2"/>
              </a:rPr>
              <a:t>▲</a:t>
            </a:r>
            <a:r>
              <a:rPr lang="zh-CN" altLang="en-US" sz="3200" b="1" dirty="0">
                <a:solidFill>
                  <a:srgbClr val="0000FF"/>
                </a:solidFill>
              </a:rPr>
              <a:t>计算熵变的步骤如下：</a:t>
            </a:r>
          </a:p>
        </p:txBody>
      </p:sp>
      <p:graphicFrame>
        <p:nvGraphicFramePr>
          <p:cNvPr id="14" name="Object 4"/>
          <p:cNvGraphicFramePr>
            <a:graphicFrameLocks noChangeAspect="1"/>
          </p:cNvGraphicFramePr>
          <p:nvPr>
            <p:extLst>
              <p:ext uri="{D42A27DB-BD31-4B8C-83A1-F6EECF244321}">
                <p14:modId xmlns:p14="http://schemas.microsoft.com/office/powerpoint/2010/main" val="1231209966"/>
              </p:ext>
            </p:extLst>
          </p:nvPr>
        </p:nvGraphicFramePr>
        <p:xfrm>
          <a:off x="4447328" y="2885716"/>
          <a:ext cx="2105025" cy="1025525"/>
        </p:xfrm>
        <a:graphic>
          <a:graphicData uri="http://schemas.openxmlformats.org/presentationml/2006/ole">
            <mc:AlternateContent xmlns:mc="http://schemas.openxmlformats.org/markup-compatibility/2006">
              <mc:Choice xmlns:v="urn:schemas-microsoft-com:vml" Requires="v">
                <p:oleObj spid="_x0000_s124124" name="公式" r:id="rId3" imgW="965160" imgH="469800" progId="Equation.3">
                  <p:embed/>
                </p:oleObj>
              </mc:Choice>
              <mc:Fallback>
                <p:oleObj name="公式" r:id="rId3" imgW="965160" imgH="469800" progId="Equation.3">
                  <p:embed/>
                  <p:pic>
                    <p:nvPicPr>
                      <p:cNvPr id="0" name=""/>
                      <p:cNvPicPr>
                        <a:picLocks noChangeAspect="1" noChangeArrowheads="1"/>
                      </p:cNvPicPr>
                      <p:nvPr/>
                    </p:nvPicPr>
                    <p:blipFill>
                      <a:blip r:embed="rId4"/>
                      <a:srcRect/>
                      <a:stretch>
                        <a:fillRect/>
                      </a:stretch>
                    </p:blipFill>
                    <p:spPr bwMode="auto">
                      <a:xfrm>
                        <a:off x="4447328" y="2885716"/>
                        <a:ext cx="2105025" cy="10255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8"/>
          <p:cNvSpPr txBox="1">
            <a:spLocks noChangeArrowheads="1"/>
          </p:cNvSpPr>
          <p:nvPr/>
        </p:nvSpPr>
        <p:spPr bwMode="auto">
          <a:xfrm>
            <a:off x="101806" y="5636294"/>
            <a:ext cx="68405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Clr>
                <a:srgbClr val="3366FF"/>
              </a:buClr>
              <a:buSzPct val="120000"/>
              <a:buFont typeface="Wingdings" pitchFamily="2" charset="2"/>
              <a:buNone/>
            </a:pPr>
            <a:r>
              <a:rPr lang="zh-CN" altLang="en-US" sz="2400" b="1">
                <a:solidFill>
                  <a:schemeClr val="folHlink"/>
                </a:solidFill>
                <a:latin typeface="宋体" pitchFamily="2" charset="-122"/>
              </a:rPr>
              <a:t>在一个可逆</a:t>
            </a:r>
            <a:r>
              <a:rPr lang="zh-CN" altLang="en-US" sz="2400" b="1">
                <a:solidFill>
                  <a:srgbClr val="3333FF"/>
                </a:solidFill>
                <a:latin typeface="宋体" pitchFamily="2" charset="-122"/>
              </a:rPr>
              <a:t>循环</a:t>
            </a:r>
            <a:r>
              <a:rPr lang="zh-CN" altLang="en-US" sz="2400" b="1">
                <a:solidFill>
                  <a:schemeClr val="folHlink"/>
                </a:solidFill>
                <a:latin typeface="宋体" pitchFamily="2" charset="-122"/>
              </a:rPr>
              <a:t>过程，系统的熵变等于零。</a:t>
            </a:r>
          </a:p>
        </p:txBody>
      </p:sp>
      <p:graphicFrame>
        <p:nvGraphicFramePr>
          <p:cNvPr id="17" name="Object 9"/>
          <p:cNvGraphicFramePr>
            <a:graphicFrameLocks noChangeAspect="1"/>
          </p:cNvGraphicFramePr>
          <p:nvPr>
            <p:extLst/>
          </p:nvPr>
        </p:nvGraphicFramePr>
        <p:xfrm>
          <a:off x="6113669" y="5517232"/>
          <a:ext cx="2881312" cy="949325"/>
        </p:xfrm>
        <a:graphic>
          <a:graphicData uri="http://schemas.openxmlformats.org/presentationml/2006/ole">
            <mc:AlternateContent xmlns:mc="http://schemas.openxmlformats.org/markup-compatibility/2006">
              <mc:Choice xmlns:v="urn:schemas-microsoft-com:vml" Requires="v">
                <p:oleObj spid="_x0000_s124125" name="公式" r:id="rId5" imgW="1193800" imgH="393700" progId="Equation.3">
                  <p:embed/>
                </p:oleObj>
              </mc:Choice>
              <mc:Fallback>
                <p:oleObj name="公式" r:id="rId5" imgW="11938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3669" y="5517232"/>
                        <a:ext cx="2881312" cy="9493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8" name="Group 12"/>
          <p:cNvGrpSpPr>
            <a:grpSpLocks/>
          </p:cNvGrpSpPr>
          <p:nvPr/>
        </p:nvGrpSpPr>
        <p:grpSpPr bwMode="auto">
          <a:xfrm>
            <a:off x="6942344" y="2925008"/>
            <a:ext cx="2077856" cy="1800090"/>
            <a:chOff x="3974" y="1421"/>
            <a:chExt cx="1657" cy="1540"/>
          </a:xfrm>
        </p:grpSpPr>
        <p:sp>
          <p:nvSpPr>
            <p:cNvPr id="19" name="Line 13"/>
            <p:cNvSpPr>
              <a:spLocks noChangeShapeType="1"/>
            </p:cNvSpPr>
            <p:nvPr/>
          </p:nvSpPr>
          <p:spPr bwMode="auto">
            <a:xfrm flipV="1">
              <a:off x="4224" y="1584"/>
              <a:ext cx="0" cy="1104"/>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4"/>
            <p:cNvSpPr>
              <a:spLocks noChangeShapeType="1"/>
            </p:cNvSpPr>
            <p:nvPr/>
          </p:nvSpPr>
          <p:spPr bwMode="auto">
            <a:xfrm>
              <a:off x="4224" y="2688"/>
              <a:ext cx="1344"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Arc 15"/>
            <p:cNvSpPr>
              <a:spLocks/>
            </p:cNvSpPr>
            <p:nvPr/>
          </p:nvSpPr>
          <p:spPr bwMode="auto">
            <a:xfrm flipV="1">
              <a:off x="4464" y="1680"/>
              <a:ext cx="720" cy="6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Arc 16"/>
            <p:cNvSpPr>
              <a:spLocks/>
            </p:cNvSpPr>
            <p:nvPr/>
          </p:nvSpPr>
          <p:spPr bwMode="auto">
            <a:xfrm flipH="1">
              <a:off x="4464" y="1680"/>
              <a:ext cx="720" cy="6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00FF"/>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7"/>
            <p:cNvSpPr>
              <a:spLocks noChangeShapeType="1"/>
            </p:cNvSpPr>
            <p:nvPr/>
          </p:nvSpPr>
          <p:spPr bwMode="auto">
            <a:xfrm flipV="1">
              <a:off x="4656" y="1728"/>
              <a:ext cx="192" cy="144"/>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8"/>
            <p:cNvSpPr>
              <a:spLocks noChangeShapeType="1"/>
            </p:cNvSpPr>
            <p:nvPr/>
          </p:nvSpPr>
          <p:spPr bwMode="auto">
            <a:xfrm flipH="1">
              <a:off x="4896" y="2064"/>
              <a:ext cx="144" cy="96"/>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19"/>
            <p:cNvSpPr txBox="1">
              <a:spLocks noChangeArrowheads="1"/>
            </p:cNvSpPr>
            <p:nvPr/>
          </p:nvSpPr>
          <p:spPr bwMode="auto">
            <a:xfrm>
              <a:off x="4406" y="2250"/>
              <a:ext cx="26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A</a:t>
              </a:r>
              <a:endParaRPr lang="en-US" altLang="zh-CN" sz="3600" b="1">
                <a:solidFill>
                  <a:srgbClr val="FF3300"/>
                </a:solidFill>
                <a:ea typeface="楷体_GB2312" pitchFamily="49" charset="-122"/>
              </a:endParaRPr>
            </a:p>
          </p:txBody>
        </p:sp>
        <p:sp>
          <p:nvSpPr>
            <p:cNvPr id="26" name="Text Box 20"/>
            <p:cNvSpPr txBox="1">
              <a:spLocks noChangeArrowheads="1"/>
            </p:cNvSpPr>
            <p:nvPr/>
          </p:nvSpPr>
          <p:spPr bwMode="auto">
            <a:xfrm>
              <a:off x="5174" y="1482"/>
              <a:ext cx="26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B</a:t>
              </a:r>
              <a:endParaRPr lang="en-US" altLang="zh-CN" sz="3600" b="1">
                <a:solidFill>
                  <a:srgbClr val="FF3300"/>
                </a:solidFill>
                <a:ea typeface="楷体_GB2312" pitchFamily="49" charset="-122"/>
              </a:endParaRPr>
            </a:p>
          </p:txBody>
        </p:sp>
        <p:sp>
          <p:nvSpPr>
            <p:cNvPr id="27" name="Text Box 21"/>
            <p:cNvSpPr txBox="1">
              <a:spLocks noChangeArrowheads="1"/>
            </p:cNvSpPr>
            <p:nvPr/>
          </p:nvSpPr>
          <p:spPr bwMode="auto">
            <a:xfrm>
              <a:off x="4496" y="1421"/>
              <a:ext cx="21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dirty="0"/>
                <a:t>c</a:t>
              </a:r>
              <a:endParaRPr lang="en-US" altLang="zh-CN" sz="3600" b="1" dirty="0">
                <a:solidFill>
                  <a:srgbClr val="FF3300"/>
                </a:solidFill>
                <a:ea typeface="楷体_GB2312" pitchFamily="49" charset="-122"/>
              </a:endParaRPr>
            </a:p>
          </p:txBody>
        </p:sp>
        <p:sp>
          <p:nvSpPr>
            <p:cNvPr id="28" name="Text Box 22"/>
            <p:cNvSpPr txBox="1">
              <a:spLocks noChangeArrowheads="1"/>
            </p:cNvSpPr>
            <p:nvPr/>
          </p:nvSpPr>
          <p:spPr bwMode="auto">
            <a:xfrm>
              <a:off x="4982" y="2026"/>
              <a:ext cx="116"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endParaRPr lang="zh-CN" altLang="zh-CN" sz="3600" b="1">
                <a:solidFill>
                  <a:srgbClr val="FF3300"/>
                </a:solidFill>
                <a:ea typeface="楷体_GB2312" pitchFamily="49" charset="-122"/>
              </a:endParaRPr>
            </a:p>
          </p:txBody>
        </p:sp>
        <p:sp>
          <p:nvSpPr>
            <p:cNvPr id="29" name="Text Box 23"/>
            <p:cNvSpPr txBox="1">
              <a:spLocks noChangeArrowheads="1"/>
            </p:cNvSpPr>
            <p:nvPr/>
          </p:nvSpPr>
          <p:spPr bwMode="auto">
            <a:xfrm>
              <a:off x="5366" y="2634"/>
              <a:ext cx="265"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V</a:t>
              </a:r>
              <a:endParaRPr lang="en-US" altLang="zh-CN" sz="3600" b="1">
                <a:solidFill>
                  <a:srgbClr val="FF3300"/>
                </a:solidFill>
                <a:ea typeface="楷体_GB2312" pitchFamily="49" charset="-122"/>
              </a:endParaRPr>
            </a:p>
          </p:txBody>
        </p:sp>
        <p:sp>
          <p:nvSpPr>
            <p:cNvPr id="30" name="Text Box 24"/>
            <p:cNvSpPr txBox="1">
              <a:spLocks noChangeArrowheads="1"/>
            </p:cNvSpPr>
            <p:nvPr/>
          </p:nvSpPr>
          <p:spPr bwMode="auto">
            <a:xfrm>
              <a:off x="3974" y="1530"/>
              <a:ext cx="228"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800" b="1" i="1"/>
                <a:t>p</a:t>
              </a:r>
              <a:endParaRPr lang="en-US" altLang="zh-CN" sz="3600" b="1">
                <a:solidFill>
                  <a:srgbClr val="FF3300"/>
                </a:solidFill>
                <a:ea typeface="楷体_GB2312" pitchFamily="49" charset="-122"/>
              </a:endParaRPr>
            </a:p>
          </p:txBody>
        </p:sp>
      </p:grpSp>
      <p:sp>
        <p:nvSpPr>
          <p:cNvPr id="31" name="Text Box 1026"/>
          <p:cNvSpPr txBox="1">
            <a:spLocks noChangeArrowheads="1"/>
          </p:cNvSpPr>
          <p:nvPr/>
        </p:nvSpPr>
        <p:spPr bwMode="auto">
          <a:xfrm>
            <a:off x="-169168" y="-30222"/>
            <a:ext cx="5029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solidFill>
                  <a:srgbClr val="0000FF"/>
                </a:solidFill>
              </a:rPr>
              <a:t> </a:t>
            </a:r>
            <a:r>
              <a:rPr lang="zh-CN" altLang="en-US" sz="3200" b="1" dirty="0">
                <a:solidFill>
                  <a:srgbClr val="0000FF"/>
                </a:solidFill>
              </a:rPr>
              <a:t>熵的计算举例</a:t>
            </a:r>
            <a:endParaRPr lang="zh-CN" altLang="en-US" sz="3200" b="1" dirty="0"/>
          </a:p>
        </p:txBody>
      </p:sp>
    </p:spTree>
    <p:extLst>
      <p:ext uri="{BB962C8B-B14F-4D97-AF65-F5344CB8AC3E}">
        <p14:creationId xmlns:p14="http://schemas.microsoft.com/office/powerpoint/2010/main" val="403293635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189"/>
                                        </p:tgtEl>
                                        <p:attrNameLst>
                                          <p:attrName>style.visibility</p:attrName>
                                        </p:attrNameLst>
                                      </p:cBhvr>
                                      <p:to>
                                        <p:strVal val="visible"/>
                                      </p:to>
                                    </p:set>
                                    <p:animEffect transition="in" filter="wipe(left)">
                                      <p:cBhvr>
                                        <p:cTn id="7" dur="500"/>
                                        <p:tgtEl>
                                          <p:spTgt spid="9318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194"/>
                                        </p:tgtEl>
                                        <p:attrNameLst>
                                          <p:attrName>style.visibility</p:attrName>
                                        </p:attrNameLst>
                                      </p:cBhvr>
                                      <p:to>
                                        <p:strVal val="visible"/>
                                      </p:to>
                                    </p:set>
                                    <p:animEffect transition="in" filter="wipe(left)">
                                      <p:cBhvr>
                                        <p:cTn id="22" dur="500"/>
                                        <p:tgtEl>
                                          <p:spTgt spid="931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3187">
                                            <p:txEl>
                                              <p:pRg st="0" end="0"/>
                                            </p:txEl>
                                          </p:spTgt>
                                        </p:tgtEl>
                                        <p:attrNameLst>
                                          <p:attrName>style.visibility</p:attrName>
                                        </p:attrNameLst>
                                      </p:cBhvr>
                                      <p:to>
                                        <p:strVal val="visible"/>
                                      </p:to>
                                    </p:set>
                                    <p:animEffect transition="in" filter="wipe(left)">
                                      <p:cBhvr>
                                        <p:cTn id="27" dur="500"/>
                                        <p:tgtEl>
                                          <p:spTgt spid="93187">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3187">
                                            <p:txEl>
                                              <p:pRg st="1" end="1"/>
                                            </p:txEl>
                                          </p:spTgt>
                                        </p:tgtEl>
                                        <p:attrNameLst>
                                          <p:attrName>style.visibility</p:attrName>
                                        </p:attrNameLst>
                                      </p:cBhvr>
                                      <p:to>
                                        <p:strVal val="visible"/>
                                      </p:to>
                                    </p:set>
                                    <p:animEffect transition="in" filter="wipe(left)">
                                      <p:cBhvr>
                                        <p:cTn id="32" dur="500"/>
                                        <p:tgtEl>
                                          <p:spTgt spid="93187">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3187">
                                            <p:txEl>
                                              <p:pRg st="2" end="2"/>
                                            </p:txEl>
                                          </p:spTgt>
                                        </p:tgtEl>
                                        <p:attrNameLst>
                                          <p:attrName>style.visibility</p:attrName>
                                        </p:attrNameLst>
                                      </p:cBhvr>
                                      <p:to>
                                        <p:strVal val="visible"/>
                                      </p:to>
                                    </p:set>
                                    <p:animEffect transition="in" filter="wipe(left)">
                                      <p:cBhvr>
                                        <p:cTn id="37" dur="500"/>
                                        <p:tgtEl>
                                          <p:spTgt spid="93187">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autoUpdateAnimBg="0"/>
      <p:bldP spid="93189" grpId="0" autoUpdateAnimBg="0"/>
      <p:bldP spid="93194" grpId="0" autoUpdateAnimBg="0"/>
      <p:bldP spid="16"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Text Box 3"/>
          <p:cNvSpPr txBox="1">
            <a:spLocks noChangeArrowheads="1"/>
          </p:cNvSpPr>
          <p:nvPr/>
        </p:nvSpPr>
        <p:spPr bwMode="auto">
          <a:xfrm>
            <a:off x="179512" y="297240"/>
            <a:ext cx="882015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3200" b="1" dirty="0">
                <a:solidFill>
                  <a:srgbClr val="0000FF"/>
                </a:solidFill>
              </a:rPr>
              <a:t>[</a:t>
            </a:r>
            <a:r>
              <a:rPr lang="zh-CN" altLang="en-US" sz="3200" b="1" dirty="0">
                <a:solidFill>
                  <a:srgbClr val="0000FF"/>
                </a:solidFill>
              </a:rPr>
              <a:t>例</a:t>
            </a:r>
            <a:r>
              <a:rPr lang="en-US" altLang="zh-CN" sz="3200" b="1" dirty="0">
                <a:solidFill>
                  <a:srgbClr val="0000FF"/>
                </a:solidFill>
              </a:rPr>
              <a:t>1]</a:t>
            </a:r>
            <a:r>
              <a:rPr lang="zh-CN" altLang="en-US" sz="3200" b="1" dirty="0">
                <a:solidFill>
                  <a:srgbClr val="0000FF"/>
                </a:solidFill>
              </a:rPr>
              <a:t>已知：</a:t>
            </a:r>
            <a:r>
              <a:rPr lang="en-US" altLang="zh-CN" sz="3200" b="1" dirty="0"/>
              <a:t>Cu</a:t>
            </a:r>
            <a:r>
              <a:rPr lang="zh-CN" altLang="en-US" sz="3200" b="1" dirty="0"/>
              <a:t>块：质量为</a:t>
            </a:r>
            <a:r>
              <a:rPr lang="en-US" altLang="zh-CN" sz="3200" b="1" i="1" dirty="0"/>
              <a:t>m</a:t>
            </a:r>
            <a:r>
              <a:rPr lang="zh-CN" altLang="en-US" sz="3200" b="1" dirty="0"/>
              <a:t>，温度为</a:t>
            </a:r>
            <a:r>
              <a:rPr lang="zh-CN" altLang="en-US" sz="3200" b="1" i="1" dirty="0"/>
              <a:t> </a:t>
            </a:r>
            <a:r>
              <a:rPr lang="en-US" altLang="zh-CN" sz="3200" b="1" i="1" dirty="0"/>
              <a:t>T</a:t>
            </a:r>
            <a:r>
              <a:rPr lang="en-US" altLang="zh-CN" sz="3200" b="1" baseline="-25000" dirty="0"/>
              <a:t>1</a:t>
            </a:r>
            <a:r>
              <a:rPr lang="zh-CN" altLang="en-US" sz="3200" b="1" dirty="0"/>
              <a:t>，比热 </a:t>
            </a:r>
            <a:r>
              <a:rPr lang="en-US" altLang="zh-CN" sz="3200" b="1" i="1" dirty="0"/>
              <a:t>c</a:t>
            </a:r>
            <a:r>
              <a:rPr lang="zh-CN" altLang="en-US" sz="3200" b="1" dirty="0"/>
              <a:t>（常量），放到温度为</a:t>
            </a:r>
            <a:r>
              <a:rPr lang="en-US" altLang="zh-CN" sz="3200" b="1" i="1" dirty="0"/>
              <a:t>T</a:t>
            </a:r>
            <a:r>
              <a:rPr lang="en-US" altLang="zh-CN" sz="3200" b="1" baseline="-25000" dirty="0"/>
              <a:t>2</a:t>
            </a:r>
            <a:r>
              <a:rPr lang="zh-CN" altLang="en-US" sz="3200" b="1" dirty="0"/>
              <a:t>的水中（ </a:t>
            </a:r>
            <a:r>
              <a:rPr lang="en-US" altLang="zh-CN" sz="3200" b="1" i="1" dirty="0"/>
              <a:t>T</a:t>
            </a:r>
            <a:r>
              <a:rPr lang="en-US" altLang="zh-CN" sz="3200" b="1" baseline="-25000" dirty="0"/>
              <a:t>2</a:t>
            </a:r>
            <a:r>
              <a:rPr lang="zh-CN" altLang="en-US" sz="3200" b="1" dirty="0"/>
              <a:t>（恒温）</a:t>
            </a:r>
            <a:r>
              <a:rPr lang="en-US" altLang="zh-CN" sz="3200" b="1" dirty="0"/>
              <a:t>&lt; </a:t>
            </a:r>
            <a:r>
              <a:rPr lang="en-US" altLang="zh-CN" sz="3200" b="1" i="1" dirty="0"/>
              <a:t>T</a:t>
            </a:r>
            <a:r>
              <a:rPr lang="en-US" altLang="zh-CN" sz="3200" b="1" baseline="-25000" dirty="0"/>
              <a:t>1</a:t>
            </a:r>
            <a:r>
              <a:rPr lang="zh-CN" altLang="en-US" sz="3200" b="1" dirty="0"/>
              <a:t>），水的达到热平衡后，计算过程中</a:t>
            </a:r>
            <a:r>
              <a:rPr lang="en-US" altLang="zh-CN" sz="3200" b="1" dirty="0"/>
              <a:t>Cu</a:t>
            </a:r>
            <a:r>
              <a:rPr lang="zh-CN" altLang="en-US" sz="3200" b="1" dirty="0"/>
              <a:t>、水和体系的熵变。</a:t>
            </a:r>
            <a:endParaRPr lang="en-US" altLang="zh-CN" sz="3200" b="1" dirty="0"/>
          </a:p>
          <a:p>
            <a:pPr algn="l"/>
            <a:endParaRPr lang="zh-CN" altLang="en-US" sz="3200" b="1" dirty="0"/>
          </a:p>
          <a:p>
            <a:pPr algn="l"/>
            <a:endParaRPr lang="zh-CN" altLang="en-US" sz="3200" b="1" dirty="0"/>
          </a:p>
        </p:txBody>
      </p:sp>
      <p:graphicFrame>
        <p:nvGraphicFramePr>
          <p:cNvPr id="86021" name="Object 5"/>
          <p:cNvGraphicFramePr>
            <a:graphicFrameLocks noChangeAspect="1"/>
          </p:cNvGraphicFramePr>
          <p:nvPr>
            <p:extLst/>
          </p:nvPr>
        </p:nvGraphicFramePr>
        <p:xfrm>
          <a:off x="1907704" y="2427238"/>
          <a:ext cx="2998788" cy="595313"/>
        </p:xfrm>
        <a:graphic>
          <a:graphicData uri="http://schemas.openxmlformats.org/presentationml/2006/ole">
            <mc:AlternateContent xmlns:mc="http://schemas.openxmlformats.org/markup-compatibility/2006">
              <mc:Choice xmlns:v="urn:schemas-microsoft-com:vml" Requires="v">
                <p:oleObj spid="_x0000_s117059" name="公式" r:id="rId3" imgW="1079280" imgH="215640" progId="Equation.3">
                  <p:embed/>
                </p:oleObj>
              </mc:Choice>
              <mc:Fallback>
                <p:oleObj name="公式" r:id="rId3" imgW="107928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2427238"/>
                        <a:ext cx="2998788"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6022" name="Group 6"/>
          <p:cNvGrpSpPr>
            <a:grpSpLocks/>
          </p:cNvGrpSpPr>
          <p:nvPr/>
        </p:nvGrpSpPr>
        <p:grpSpPr bwMode="auto">
          <a:xfrm>
            <a:off x="1352550" y="2984772"/>
            <a:ext cx="4416425" cy="666750"/>
            <a:chOff x="768" y="3444"/>
            <a:chExt cx="2782" cy="420"/>
          </a:xfrm>
        </p:grpSpPr>
        <p:sp>
          <p:nvSpPr>
            <p:cNvPr id="86023" name="Text Box 7"/>
            <p:cNvSpPr txBox="1">
              <a:spLocks noChangeArrowheads="1"/>
            </p:cNvSpPr>
            <p:nvPr/>
          </p:nvSpPr>
          <p:spPr bwMode="auto">
            <a:xfrm>
              <a:off x="768" y="3444"/>
              <a:ext cx="64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t> </a:t>
              </a:r>
              <a:r>
                <a:rPr lang="zh-CN" altLang="en-US" sz="3200" b="1">
                  <a:solidFill>
                    <a:srgbClr val="0000FF"/>
                  </a:solidFill>
                </a:rPr>
                <a:t>求：</a:t>
              </a:r>
              <a:endParaRPr lang="zh-CN" altLang="en-US" sz="3200" b="1"/>
            </a:p>
          </p:txBody>
        </p:sp>
        <p:graphicFrame>
          <p:nvGraphicFramePr>
            <p:cNvPr id="86024" name="Object 8"/>
            <p:cNvGraphicFramePr>
              <a:graphicFrameLocks noChangeAspect="1"/>
            </p:cNvGraphicFramePr>
            <p:nvPr/>
          </p:nvGraphicFramePr>
          <p:xfrm>
            <a:off x="1380" y="3444"/>
            <a:ext cx="2170" cy="420"/>
          </p:xfrm>
          <a:graphic>
            <a:graphicData uri="http://schemas.openxmlformats.org/presentationml/2006/ole">
              <mc:AlternateContent xmlns:mc="http://schemas.openxmlformats.org/markup-compatibility/2006">
                <mc:Choice xmlns:v="urn:schemas-microsoft-com:vml" Requires="v">
                  <p:oleObj spid="_x0000_s117060" name="公式" r:id="rId5" imgW="1180800" imgH="228600" progId="Equation.3">
                    <p:embed/>
                  </p:oleObj>
                </mc:Choice>
                <mc:Fallback>
                  <p:oleObj name="公式" r:id="rId5" imgW="11808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0" y="3444"/>
                          <a:ext cx="2170" cy="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6025" name="Text Box 9"/>
          <p:cNvSpPr txBox="1">
            <a:spLocks noChangeArrowheads="1"/>
          </p:cNvSpPr>
          <p:nvPr/>
        </p:nvSpPr>
        <p:spPr bwMode="auto">
          <a:xfrm>
            <a:off x="828675" y="3681458"/>
            <a:ext cx="1981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dirty="0"/>
              <a:t> </a:t>
            </a:r>
            <a:r>
              <a:rPr lang="zh-CN" altLang="en-US" sz="3200" b="1" dirty="0">
                <a:solidFill>
                  <a:srgbClr val="0000FF"/>
                </a:solidFill>
              </a:rPr>
              <a:t>解：</a:t>
            </a:r>
            <a:endParaRPr lang="zh-CN" altLang="en-US" sz="3200" b="1" dirty="0"/>
          </a:p>
        </p:txBody>
      </p:sp>
      <p:sp>
        <p:nvSpPr>
          <p:cNvPr id="86026" name="Text Box 10"/>
          <p:cNvSpPr txBox="1">
            <a:spLocks noChangeArrowheads="1"/>
          </p:cNvSpPr>
          <p:nvPr/>
        </p:nvSpPr>
        <p:spPr bwMode="auto">
          <a:xfrm>
            <a:off x="4771554" y="2420888"/>
            <a:ext cx="3848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t>（该过程不可逆）</a:t>
            </a:r>
          </a:p>
        </p:txBody>
      </p:sp>
      <p:sp>
        <p:nvSpPr>
          <p:cNvPr id="86027" name="Text Box 11"/>
          <p:cNvSpPr txBox="1">
            <a:spLocks noChangeArrowheads="1"/>
          </p:cNvSpPr>
          <p:nvPr/>
        </p:nvSpPr>
        <p:spPr bwMode="auto">
          <a:xfrm>
            <a:off x="2171700" y="3708672"/>
            <a:ext cx="6972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dirty="0"/>
              <a:t>设计一个</a:t>
            </a:r>
            <a:r>
              <a:rPr lang="zh-CN" altLang="en-US" sz="3200" b="1" dirty="0">
                <a:solidFill>
                  <a:srgbClr val="0000FF"/>
                </a:solidFill>
              </a:rPr>
              <a:t>准静态加热</a:t>
            </a:r>
            <a:r>
              <a:rPr lang="zh-CN" altLang="en-US" sz="3200" b="1" dirty="0">
                <a:solidFill>
                  <a:srgbClr val="FF3300"/>
                </a:solidFill>
              </a:rPr>
              <a:t>（</a:t>
            </a:r>
            <a:r>
              <a:rPr lang="zh-CN" altLang="en-US" sz="3200" b="1" dirty="0">
                <a:solidFill>
                  <a:srgbClr val="FF0000"/>
                </a:solidFill>
              </a:rPr>
              <a:t>可逆）</a:t>
            </a:r>
            <a:r>
              <a:rPr lang="zh-CN" altLang="en-US" sz="3200" b="1" dirty="0"/>
              <a:t>过程：</a:t>
            </a:r>
            <a:endParaRPr lang="zh-CN" altLang="en-US" sz="3200" b="1" dirty="0">
              <a:solidFill>
                <a:srgbClr val="0000FF"/>
              </a:solidFill>
            </a:endParaRPr>
          </a:p>
        </p:txBody>
      </p:sp>
      <p:grpSp>
        <p:nvGrpSpPr>
          <p:cNvPr id="86028" name="Group 12"/>
          <p:cNvGrpSpPr>
            <a:grpSpLocks/>
          </p:cNvGrpSpPr>
          <p:nvPr/>
        </p:nvGrpSpPr>
        <p:grpSpPr bwMode="auto">
          <a:xfrm>
            <a:off x="209550" y="4470672"/>
            <a:ext cx="1485900" cy="1219200"/>
            <a:chOff x="348" y="2352"/>
            <a:chExt cx="936" cy="768"/>
          </a:xfrm>
        </p:grpSpPr>
        <p:grpSp>
          <p:nvGrpSpPr>
            <p:cNvPr id="86029" name="Group 13"/>
            <p:cNvGrpSpPr>
              <a:grpSpLocks/>
            </p:cNvGrpSpPr>
            <p:nvPr/>
          </p:nvGrpSpPr>
          <p:grpSpPr bwMode="auto">
            <a:xfrm>
              <a:off x="576" y="2352"/>
              <a:ext cx="540" cy="384"/>
              <a:chOff x="576" y="2352"/>
              <a:chExt cx="540" cy="384"/>
            </a:xfrm>
          </p:grpSpPr>
          <p:sp>
            <p:nvSpPr>
              <p:cNvPr id="86030" name="Text Box 14"/>
              <p:cNvSpPr txBox="1">
                <a:spLocks noChangeArrowheads="1"/>
              </p:cNvSpPr>
              <p:nvPr/>
            </p:nvSpPr>
            <p:spPr bwMode="auto">
              <a:xfrm>
                <a:off x="576" y="2352"/>
                <a:ext cx="5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t>Cu</a:t>
                </a:r>
              </a:p>
            </p:txBody>
          </p:sp>
          <p:sp>
            <p:nvSpPr>
              <p:cNvPr id="86031" name="Rectangle 15"/>
              <p:cNvSpPr>
                <a:spLocks noChangeArrowheads="1"/>
              </p:cNvSpPr>
              <p:nvPr/>
            </p:nvSpPr>
            <p:spPr bwMode="auto">
              <a:xfrm>
                <a:off x="588" y="2376"/>
                <a:ext cx="432" cy="360"/>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sp>
          <p:nvSpPr>
            <p:cNvPr id="86032" name="Text Box 16"/>
            <p:cNvSpPr txBox="1">
              <a:spLocks noChangeArrowheads="1"/>
            </p:cNvSpPr>
            <p:nvPr/>
          </p:nvSpPr>
          <p:spPr bwMode="auto">
            <a:xfrm>
              <a:off x="360" y="2736"/>
              <a:ext cx="9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i="1"/>
                <a:t>    T</a:t>
              </a:r>
              <a:r>
                <a:rPr lang="en-US" altLang="zh-CN" sz="3200" b="1" baseline="-25000"/>
                <a:t>1</a:t>
              </a:r>
              <a:endParaRPr lang="en-US" altLang="zh-CN" sz="3200" b="1"/>
            </a:p>
          </p:txBody>
        </p:sp>
        <p:sp>
          <p:nvSpPr>
            <p:cNvPr id="86033" name="Rectangle 17"/>
            <p:cNvSpPr>
              <a:spLocks noChangeArrowheads="1"/>
            </p:cNvSpPr>
            <p:nvPr/>
          </p:nvSpPr>
          <p:spPr bwMode="auto">
            <a:xfrm>
              <a:off x="348" y="2736"/>
              <a:ext cx="876" cy="384"/>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grpSp>
        <p:nvGrpSpPr>
          <p:cNvPr id="86034" name="Group 18"/>
          <p:cNvGrpSpPr>
            <a:grpSpLocks/>
          </p:cNvGrpSpPr>
          <p:nvPr/>
        </p:nvGrpSpPr>
        <p:grpSpPr bwMode="auto">
          <a:xfrm>
            <a:off x="5753100" y="4489722"/>
            <a:ext cx="1485900" cy="1219200"/>
            <a:chOff x="3636" y="2376"/>
            <a:chExt cx="936" cy="768"/>
          </a:xfrm>
        </p:grpSpPr>
        <p:grpSp>
          <p:nvGrpSpPr>
            <p:cNvPr id="86035" name="Group 19"/>
            <p:cNvGrpSpPr>
              <a:grpSpLocks/>
            </p:cNvGrpSpPr>
            <p:nvPr/>
          </p:nvGrpSpPr>
          <p:grpSpPr bwMode="auto">
            <a:xfrm>
              <a:off x="3864" y="2376"/>
              <a:ext cx="540" cy="384"/>
              <a:chOff x="576" y="2352"/>
              <a:chExt cx="540" cy="384"/>
            </a:xfrm>
          </p:grpSpPr>
          <p:sp>
            <p:nvSpPr>
              <p:cNvPr id="86036" name="Text Box 20"/>
              <p:cNvSpPr txBox="1">
                <a:spLocks noChangeArrowheads="1"/>
              </p:cNvSpPr>
              <p:nvPr/>
            </p:nvSpPr>
            <p:spPr bwMode="auto">
              <a:xfrm>
                <a:off x="576" y="2352"/>
                <a:ext cx="5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t>Cu</a:t>
                </a:r>
              </a:p>
            </p:txBody>
          </p:sp>
          <p:sp>
            <p:nvSpPr>
              <p:cNvPr id="86037" name="Rectangle 21"/>
              <p:cNvSpPr>
                <a:spLocks noChangeArrowheads="1"/>
              </p:cNvSpPr>
              <p:nvPr/>
            </p:nvSpPr>
            <p:spPr bwMode="auto">
              <a:xfrm>
                <a:off x="588" y="2376"/>
                <a:ext cx="432" cy="360"/>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sp>
          <p:nvSpPr>
            <p:cNvPr id="86038" name="Text Box 22"/>
            <p:cNvSpPr txBox="1">
              <a:spLocks noChangeArrowheads="1"/>
            </p:cNvSpPr>
            <p:nvPr/>
          </p:nvSpPr>
          <p:spPr bwMode="auto">
            <a:xfrm>
              <a:off x="3648" y="2760"/>
              <a:ext cx="9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i="1" dirty="0"/>
                <a:t>T</a:t>
              </a:r>
              <a:r>
                <a:rPr lang="en-US" altLang="zh-CN" sz="3200" b="1" baseline="-25000" dirty="0"/>
                <a:t>2</a:t>
              </a:r>
              <a:r>
                <a:rPr lang="en-US" altLang="zh-CN" sz="3200" b="1" dirty="0">
                  <a:sym typeface="Symbol" pitchFamily="18" charset="2"/>
                </a:rPr>
                <a:t>d</a:t>
              </a:r>
              <a:r>
                <a:rPr lang="en-US" altLang="zh-CN" sz="3200" b="1" i="1" dirty="0">
                  <a:sym typeface="Symbol" pitchFamily="18" charset="2"/>
                </a:rPr>
                <a:t>T</a:t>
              </a:r>
              <a:endParaRPr lang="en-US" altLang="zh-CN" sz="3200" b="1" dirty="0"/>
            </a:p>
          </p:txBody>
        </p:sp>
        <p:sp>
          <p:nvSpPr>
            <p:cNvPr id="86039" name="Rectangle 23"/>
            <p:cNvSpPr>
              <a:spLocks noChangeArrowheads="1"/>
            </p:cNvSpPr>
            <p:nvPr/>
          </p:nvSpPr>
          <p:spPr bwMode="auto">
            <a:xfrm>
              <a:off x="3636" y="2760"/>
              <a:ext cx="876" cy="384"/>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grpSp>
        <p:nvGrpSpPr>
          <p:cNvPr id="86040" name="Group 24"/>
          <p:cNvGrpSpPr>
            <a:grpSpLocks/>
          </p:cNvGrpSpPr>
          <p:nvPr/>
        </p:nvGrpSpPr>
        <p:grpSpPr bwMode="auto">
          <a:xfrm>
            <a:off x="1695450" y="4489722"/>
            <a:ext cx="1771650" cy="1219200"/>
            <a:chOff x="1056" y="2376"/>
            <a:chExt cx="1116" cy="768"/>
          </a:xfrm>
        </p:grpSpPr>
        <p:grpSp>
          <p:nvGrpSpPr>
            <p:cNvPr id="86041" name="Group 25"/>
            <p:cNvGrpSpPr>
              <a:grpSpLocks/>
            </p:cNvGrpSpPr>
            <p:nvPr/>
          </p:nvGrpSpPr>
          <p:grpSpPr bwMode="auto">
            <a:xfrm>
              <a:off x="1248" y="2376"/>
              <a:ext cx="924" cy="768"/>
              <a:chOff x="1356" y="2376"/>
              <a:chExt cx="924" cy="768"/>
            </a:xfrm>
          </p:grpSpPr>
          <p:grpSp>
            <p:nvGrpSpPr>
              <p:cNvPr id="86042" name="Group 26"/>
              <p:cNvGrpSpPr>
                <a:grpSpLocks/>
              </p:cNvGrpSpPr>
              <p:nvPr/>
            </p:nvGrpSpPr>
            <p:grpSpPr bwMode="auto">
              <a:xfrm>
                <a:off x="1596" y="2376"/>
                <a:ext cx="540" cy="384"/>
                <a:chOff x="576" y="2352"/>
                <a:chExt cx="540" cy="384"/>
              </a:xfrm>
            </p:grpSpPr>
            <p:sp>
              <p:nvSpPr>
                <p:cNvPr id="86043" name="Text Box 27"/>
                <p:cNvSpPr txBox="1">
                  <a:spLocks noChangeArrowheads="1"/>
                </p:cNvSpPr>
                <p:nvPr/>
              </p:nvSpPr>
              <p:spPr bwMode="auto">
                <a:xfrm>
                  <a:off x="576" y="2352"/>
                  <a:ext cx="5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t>Cu</a:t>
                  </a:r>
                </a:p>
              </p:txBody>
            </p:sp>
            <p:sp>
              <p:nvSpPr>
                <p:cNvPr id="86044" name="Rectangle 28"/>
                <p:cNvSpPr>
                  <a:spLocks noChangeArrowheads="1"/>
                </p:cNvSpPr>
                <p:nvPr/>
              </p:nvSpPr>
              <p:spPr bwMode="auto">
                <a:xfrm>
                  <a:off x="588" y="2376"/>
                  <a:ext cx="432" cy="360"/>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sp>
            <p:nvSpPr>
              <p:cNvPr id="86045" name="Text Box 29"/>
              <p:cNvSpPr txBox="1">
                <a:spLocks noChangeArrowheads="1"/>
              </p:cNvSpPr>
              <p:nvPr/>
            </p:nvSpPr>
            <p:spPr bwMode="auto">
              <a:xfrm>
                <a:off x="1356" y="2760"/>
                <a:ext cx="9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i="1"/>
                  <a:t>T</a:t>
                </a:r>
                <a:r>
                  <a:rPr lang="en-US" altLang="zh-CN" sz="3200" b="1" baseline="-25000"/>
                  <a:t>1</a:t>
                </a:r>
                <a:r>
                  <a:rPr lang="en-US" altLang="zh-CN" sz="3200" b="1"/>
                  <a:t>+d</a:t>
                </a:r>
                <a:r>
                  <a:rPr lang="en-US" altLang="zh-CN" sz="3200" b="1" i="1"/>
                  <a:t>T</a:t>
                </a:r>
                <a:endParaRPr lang="en-US" altLang="zh-CN" sz="3200" b="1"/>
              </a:p>
            </p:txBody>
          </p:sp>
          <p:sp>
            <p:nvSpPr>
              <p:cNvPr id="86046" name="Rectangle 30"/>
              <p:cNvSpPr>
                <a:spLocks noChangeArrowheads="1"/>
              </p:cNvSpPr>
              <p:nvPr/>
            </p:nvSpPr>
            <p:spPr bwMode="auto">
              <a:xfrm>
                <a:off x="1368" y="2760"/>
                <a:ext cx="876" cy="384"/>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sp>
          <p:nvSpPr>
            <p:cNvPr id="86047" name="AutoShape 31"/>
            <p:cNvSpPr>
              <a:spLocks noChangeArrowheads="1"/>
            </p:cNvSpPr>
            <p:nvPr/>
          </p:nvSpPr>
          <p:spPr bwMode="auto">
            <a:xfrm>
              <a:off x="1056" y="2616"/>
              <a:ext cx="120" cy="312"/>
            </a:xfrm>
            <a:prstGeom prst="rightArrow">
              <a:avLst>
                <a:gd name="adj1" fmla="val 50000"/>
                <a:gd name="adj2" fmla="val 25000"/>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grpSp>
        <p:nvGrpSpPr>
          <p:cNvPr id="86048" name="Group 32"/>
          <p:cNvGrpSpPr>
            <a:grpSpLocks/>
          </p:cNvGrpSpPr>
          <p:nvPr/>
        </p:nvGrpSpPr>
        <p:grpSpPr bwMode="auto">
          <a:xfrm>
            <a:off x="3505200" y="4470672"/>
            <a:ext cx="1924050" cy="1219200"/>
            <a:chOff x="2196" y="2364"/>
            <a:chExt cx="1212" cy="768"/>
          </a:xfrm>
        </p:grpSpPr>
        <p:grpSp>
          <p:nvGrpSpPr>
            <p:cNvPr id="86049" name="Group 33"/>
            <p:cNvGrpSpPr>
              <a:grpSpLocks/>
            </p:cNvGrpSpPr>
            <p:nvPr/>
          </p:nvGrpSpPr>
          <p:grpSpPr bwMode="auto">
            <a:xfrm>
              <a:off x="2340" y="2364"/>
              <a:ext cx="1068" cy="768"/>
              <a:chOff x="2424" y="2364"/>
              <a:chExt cx="1068" cy="768"/>
            </a:xfrm>
          </p:grpSpPr>
          <p:grpSp>
            <p:nvGrpSpPr>
              <p:cNvPr id="86050" name="Group 34"/>
              <p:cNvGrpSpPr>
                <a:grpSpLocks/>
              </p:cNvGrpSpPr>
              <p:nvPr/>
            </p:nvGrpSpPr>
            <p:grpSpPr bwMode="auto">
              <a:xfrm>
                <a:off x="2712" y="2364"/>
                <a:ext cx="540" cy="384"/>
                <a:chOff x="576" y="2352"/>
                <a:chExt cx="540" cy="384"/>
              </a:xfrm>
            </p:grpSpPr>
            <p:sp>
              <p:nvSpPr>
                <p:cNvPr id="86051" name="Text Box 35"/>
                <p:cNvSpPr txBox="1">
                  <a:spLocks noChangeArrowheads="1"/>
                </p:cNvSpPr>
                <p:nvPr/>
              </p:nvSpPr>
              <p:spPr bwMode="auto">
                <a:xfrm>
                  <a:off x="576" y="2352"/>
                  <a:ext cx="5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t>Cu</a:t>
                  </a:r>
                </a:p>
              </p:txBody>
            </p:sp>
            <p:sp>
              <p:nvSpPr>
                <p:cNvPr id="86052" name="Rectangle 36"/>
                <p:cNvSpPr>
                  <a:spLocks noChangeArrowheads="1"/>
                </p:cNvSpPr>
                <p:nvPr/>
              </p:nvSpPr>
              <p:spPr bwMode="auto">
                <a:xfrm>
                  <a:off x="588" y="2376"/>
                  <a:ext cx="432" cy="360"/>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sp>
            <p:nvSpPr>
              <p:cNvPr id="86053" name="Text Box 37"/>
              <p:cNvSpPr txBox="1">
                <a:spLocks noChangeArrowheads="1"/>
              </p:cNvSpPr>
              <p:nvPr/>
            </p:nvSpPr>
            <p:spPr bwMode="auto">
              <a:xfrm>
                <a:off x="2424" y="2748"/>
                <a:ext cx="106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i="1"/>
                  <a:t>T</a:t>
                </a:r>
                <a:r>
                  <a:rPr lang="en-US" altLang="zh-CN" sz="3200" b="1" baseline="-25000"/>
                  <a:t>1</a:t>
                </a:r>
                <a:r>
                  <a:rPr lang="en-US" altLang="zh-CN" sz="3200" b="1"/>
                  <a:t>+2d</a:t>
                </a:r>
                <a:r>
                  <a:rPr lang="en-US" altLang="zh-CN" sz="3200" b="1" i="1"/>
                  <a:t>T</a:t>
                </a:r>
                <a:endParaRPr lang="en-US" altLang="zh-CN" sz="3200" b="1"/>
              </a:p>
            </p:txBody>
          </p:sp>
          <p:sp>
            <p:nvSpPr>
              <p:cNvPr id="86054" name="Rectangle 38"/>
              <p:cNvSpPr>
                <a:spLocks noChangeArrowheads="1"/>
              </p:cNvSpPr>
              <p:nvPr/>
            </p:nvSpPr>
            <p:spPr bwMode="auto">
              <a:xfrm>
                <a:off x="2484" y="2748"/>
                <a:ext cx="876" cy="384"/>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sp>
          <p:nvSpPr>
            <p:cNvPr id="86055" name="AutoShape 39"/>
            <p:cNvSpPr>
              <a:spLocks noChangeArrowheads="1"/>
            </p:cNvSpPr>
            <p:nvPr/>
          </p:nvSpPr>
          <p:spPr bwMode="auto">
            <a:xfrm>
              <a:off x="2196" y="2604"/>
              <a:ext cx="120" cy="312"/>
            </a:xfrm>
            <a:prstGeom prst="rightArrow">
              <a:avLst>
                <a:gd name="adj1" fmla="val 50000"/>
                <a:gd name="adj2" fmla="val 25000"/>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grpSp>
        <p:nvGrpSpPr>
          <p:cNvPr id="86056" name="Group 40"/>
          <p:cNvGrpSpPr>
            <a:grpSpLocks/>
          </p:cNvGrpSpPr>
          <p:nvPr/>
        </p:nvGrpSpPr>
        <p:grpSpPr bwMode="auto">
          <a:xfrm>
            <a:off x="7258050" y="4489722"/>
            <a:ext cx="1752600" cy="1219200"/>
            <a:chOff x="4560" y="2376"/>
            <a:chExt cx="1104" cy="768"/>
          </a:xfrm>
        </p:grpSpPr>
        <p:grpSp>
          <p:nvGrpSpPr>
            <p:cNvPr id="86057" name="Group 41"/>
            <p:cNvGrpSpPr>
              <a:grpSpLocks/>
            </p:cNvGrpSpPr>
            <p:nvPr/>
          </p:nvGrpSpPr>
          <p:grpSpPr bwMode="auto">
            <a:xfrm>
              <a:off x="4728" y="2376"/>
              <a:ext cx="936" cy="768"/>
              <a:chOff x="348" y="2352"/>
              <a:chExt cx="936" cy="768"/>
            </a:xfrm>
          </p:grpSpPr>
          <p:grpSp>
            <p:nvGrpSpPr>
              <p:cNvPr id="86058" name="Group 42"/>
              <p:cNvGrpSpPr>
                <a:grpSpLocks/>
              </p:cNvGrpSpPr>
              <p:nvPr/>
            </p:nvGrpSpPr>
            <p:grpSpPr bwMode="auto">
              <a:xfrm>
                <a:off x="576" y="2352"/>
                <a:ext cx="540" cy="384"/>
                <a:chOff x="576" y="2352"/>
                <a:chExt cx="540" cy="384"/>
              </a:xfrm>
            </p:grpSpPr>
            <p:sp>
              <p:nvSpPr>
                <p:cNvPr id="86059" name="Text Box 43"/>
                <p:cNvSpPr txBox="1">
                  <a:spLocks noChangeArrowheads="1"/>
                </p:cNvSpPr>
                <p:nvPr/>
              </p:nvSpPr>
              <p:spPr bwMode="auto">
                <a:xfrm>
                  <a:off x="576" y="2352"/>
                  <a:ext cx="54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t>Cu</a:t>
                  </a:r>
                </a:p>
              </p:txBody>
            </p:sp>
            <p:sp>
              <p:nvSpPr>
                <p:cNvPr id="86060" name="Rectangle 44"/>
                <p:cNvSpPr>
                  <a:spLocks noChangeArrowheads="1"/>
                </p:cNvSpPr>
                <p:nvPr/>
              </p:nvSpPr>
              <p:spPr bwMode="auto">
                <a:xfrm>
                  <a:off x="588" y="2376"/>
                  <a:ext cx="432" cy="360"/>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sp>
            <p:nvSpPr>
              <p:cNvPr id="86061" name="Text Box 45"/>
              <p:cNvSpPr txBox="1">
                <a:spLocks noChangeArrowheads="1"/>
              </p:cNvSpPr>
              <p:nvPr/>
            </p:nvSpPr>
            <p:spPr bwMode="auto">
              <a:xfrm>
                <a:off x="360" y="2736"/>
                <a:ext cx="9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i="1"/>
                  <a:t>    T</a:t>
                </a:r>
                <a:r>
                  <a:rPr lang="en-US" altLang="zh-CN" sz="3200" b="1" baseline="-25000"/>
                  <a:t>2</a:t>
                </a:r>
                <a:endParaRPr lang="en-US" altLang="zh-CN" sz="3200" b="1"/>
              </a:p>
            </p:txBody>
          </p:sp>
          <p:sp>
            <p:nvSpPr>
              <p:cNvPr id="86062" name="Rectangle 46"/>
              <p:cNvSpPr>
                <a:spLocks noChangeArrowheads="1"/>
              </p:cNvSpPr>
              <p:nvPr/>
            </p:nvSpPr>
            <p:spPr bwMode="auto">
              <a:xfrm>
                <a:off x="348" y="2736"/>
                <a:ext cx="876" cy="384"/>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sp>
          <p:nvSpPr>
            <p:cNvPr id="86063" name="AutoShape 47"/>
            <p:cNvSpPr>
              <a:spLocks noChangeArrowheads="1"/>
            </p:cNvSpPr>
            <p:nvPr/>
          </p:nvSpPr>
          <p:spPr bwMode="auto">
            <a:xfrm>
              <a:off x="4560" y="2580"/>
              <a:ext cx="120" cy="312"/>
            </a:xfrm>
            <a:prstGeom prst="rightArrow">
              <a:avLst>
                <a:gd name="adj1" fmla="val 50000"/>
                <a:gd name="adj2" fmla="val 25000"/>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sp>
        <p:nvSpPr>
          <p:cNvPr id="86064" name="Text Box 48"/>
          <p:cNvSpPr txBox="1">
            <a:spLocks noChangeArrowheads="1"/>
          </p:cNvSpPr>
          <p:nvPr/>
        </p:nvSpPr>
        <p:spPr bwMode="auto">
          <a:xfrm>
            <a:off x="5143500" y="4318272"/>
            <a:ext cx="914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sym typeface="Symbol" pitchFamily="18" charset="2"/>
              </a:rPr>
              <a:t></a:t>
            </a:r>
            <a:endParaRPr lang="en-US" altLang="zh-CN" sz="3200" b="1"/>
          </a:p>
        </p:txBody>
      </p:sp>
      <p:grpSp>
        <p:nvGrpSpPr>
          <p:cNvPr id="86070" name="Group 54"/>
          <p:cNvGrpSpPr>
            <a:grpSpLocks/>
          </p:cNvGrpSpPr>
          <p:nvPr/>
        </p:nvGrpSpPr>
        <p:grpSpPr bwMode="auto">
          <a:xfrm>
            <a:off x="2780952" y="5801697"/>
            <a:ext cx="3951288" cy="1155701"/>
            <a:chOff x="1676" y="3484"/>
            <a:chExt cx="2489" cy="728"/>
          </a:xfrm>
        </p:grpSpPr>
        <p:graphicFrame>
          <p:nvGraphicFramePr>
            <p:cNvPr id="86066" name="Object 50"/>
            <p:cNvGraphicFramePr>
              <a:graphicFrameLocks noChangeAspect="1"/>
            </p:cNvGraphicFramePr>
            <p:nvPr/>
          </p:nvGraphicFramePr>
          <p:xfrm>
            <a:off x="1676" y="3484"/>
            <a:ext cx="2489" cy="728"/>
          </p:xfrm>
          <a:graphic>
            <a:graphicData uri="http://schemas.openxmlformats.org/presentationml/2006/ole">
              <mc:AlternateContent xmlns:mc="http://schemas.openxmlformats.org/markup-compatibility/2006">
                <mc:Choice xmlns:v="urn:schemas-microsoft-com:vml" Requires="v">
                  <p:oleObj spid="_x0000_s117061" name="公式" r:id="rId7" imgW="1384200" imgH="406080" progId="Equation.3">
                    <p:embed/>
                  </p:oleObj>
                </mc:Choice>
                <mc:Fallback>
                  <p:oleObj name="公式" r:id="rId7" imgW="1384200" imgH="4060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 y="3484"/>
                          <a:ext cx="2489" cy="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67" name="Line 51"/>
            <p:cNvSpPr>
              <a:spLocks noChangeShapeType="1"/>
            </p:cNvSpPr>
            <p:nvPr/>
          </p:nvSpPr>
          <p:spPr bwMode="auto">
            <a:xfrm>
              <a:off x="2671" y="3612"/>
              <a:ext cx="1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b="1"/>
            </a:p>
          </p:txBody>
        </p:sp>
      </p:grpSp>
      <p:sp>
        <p:nvSpPr>
          <p:cNvPr id="86068" name="Text Box 52"/>
          <p:cNvSpPr txBox="1">
            <a:spLocks noChangeArrowheads="1"/>
          </p:cNvSpPr>
          <p:nvPr/>
        </p:nvSpPr>
        <p:spPr bwMode="auto">
          <a:xfrm>
            <a:off x="1504950" y="6089922"/>
            <a:ext cx="180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t>则</a:t>
            </a:r>
          </a:p>
        </p:txBody>
      </p:sp>
    </p:spTree>
    <p:extLst>
      <p:ext uri="{BB962C8B-B14F-4D97-AF65-F5344CB8AC3E}">
        <p14:creationId xmlns:p14="http://schemas.microsoft.com/office/powerpoint/2010/main" val="36351182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6019"/>
                                        </p:tgtEl>
                                        <p:attrNameLst>
                                          <p:attrName>style.visibility</p:attrName>
                                        </p:attrNameLst>
                                      </p:cBhvr>
                                      <p:to>
                                        <p:strVal val="visible"/>
                                      </p:to>
                                    </p:set>
                                    <p:animEffect transition="in" filter="wipe(left)">
                                      <p:cBhvr>
                                        <p:cTn id="7" dur="500"/>
                                        <p:tgtEl>
                                          <p:spTgt spid="860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6021"/>
                                        </p:tgtEl>
                                        <p:attrNameLst>
                                          <p:attrName>style.visibility</p:attrName>
                                        </p:attrNameLst>
                                      </p:cBhvr>
                                      <p:to>
                                        <p:strVal val="visible"/>
                                      </p:to>
                                    </p:set>
                                    <p:animEffect transition="in" filter="wipe(left)">
                                      <p:cBhvr>
                                        <p:cTn id="12" dur="500"/>
                                        <p:tgtEl>
                                          <p:spTgt spid="860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6026"/>
                                        </p:tgtEl>
                                        <p:attrNameLst>
                                          <p:attrName>style.visibility</p:attrName>
                                        </p:attrNameLst>
                                      </p:cBhvr>
                                      <p:to>
                                        <p:strVal val="visible"/>
                                      </p:to>
                                    </p:set>
                                    <p:animEffect transition="in" filter="wipe(left)">
                                      <p:cBhvr>
                                        <p:cTn id="17" dur="500"/>
                                        <p:tgtEl>
                                          <p:spTgt spid="860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6022"/>
                                        </p:tgtEl>
                                        <p:attrNameLst>
                                          <p:attrName>style.visibility</p:attrName>
                                        </p:attrNameLst>
                                      </p:cBhvr>
                                      <p:to>
                                        <p:strVal val="visible"/>
                                      </p:to>
                                    </p:set>
                                    <p:animEffect transition="in" filter="wipe(left)">
                                      <p:cBhvr>
                                        <p:cTn id="22" dur="500"/>
                                        <p:tgtEl>
                                          <p:spTgt spid="860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6025"/>
                                        </p:tgtEl>
                                        <p:attrNameLst>
                                          <p:attrName>style.visibility</p:attrName>
                                        </p:attrNameLst>
                                      </p:cBhvr>
                                      <p:to>
                                        <p:strVal val="visible"/>
                                      </p:to>
                                    </p:set>
                                    <p:animEffect transition="in" filter="wipe(left)">
                                      <p:cBhvr>
                                        <p:cTn id="27" dur="500"/>
                                        <p:tgtEl>
                                          <p:spTgt spid="860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6027"/>
                                        </p:tgtEl>
                                        <p:attrNameLst>
                                          <p:attrName>style.visibility</p:attrName>
                                        </p:attrNameLst>
                                      </p:cBhvr>
                                      <p:to>
                                        <p:strVal val="visible"/>
                                      </p:to>
                                    </p:set>
                                    <p:animEffect transition="in" filter="wipe(left)">
                                      <p:cBhvr>
                                        <p:cTn id="32" dur="500"/>
                                        <p:tgtEl>
                                          <p:spTgt spid="860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6028"/>
                                        </p:tgtEl>
                                        <p:attrNameLst>
                                          <p:attrName>style.visibility</p:attrName>
                                        </p:attrNameLst>
                                      </p:cBhvr>
                                      <p:to>
                                        <p:strVal val="visible"/>
                                      </p:to>
                                    </p:set>
                                    <p:animEffect transition="in" filter="wipe(left)">
                                      <p:cBhvr>
                                        <p:cTn id="37" dur="500"/>
                                        <p:tgtEl>
                                          <p:spTgt spid="8602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6040"/>
                                        </p:tgtEl>
                                        <p:attrNameLst>
                                          <p:attrName>style.visibility</p:attrName>
                                        </p:attrNameLst>
                                      </p:cBhvr>
                                      <p:to>
                                        <p:strVal val="visible"/>
                                      </p:to>
                                    </p:set>
                                    <p:animEffect transition="in" filter="wipe(left)">
                                      <p:cBhvr>
                                        <p:cTn id="42" dur="500"/>
                                        <p:tgtEl>
                                          <p:spTgt spid="860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6048"/>
                                        </p:tgtEl>
                                        <p:attrNameLst>
                                          <p:attrName>style.visibility</p:attrName>
                                        </p:attrNameLst>
                                      </p:cBhvr>
                                      <p:to>
                                        <p:strVal val="visible"/>
                                      </p:to>
                                    </p:set>
                                    <p:animEffect transition="in" filter="wipe(left)">
                                      <p:cBhvr>
                                        <p:cTn id="47" dur="500"/>
                                        <p:tgtEl>
                                          <p:spTgt spid="8604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6064"/>
                                        </p:tgtEl>
                                        <p:attrNameLst>
                                          <p:attrName>style.visibility</p:attrName>
                                        </p:attrNameLst>
                                      </p:cBhvr>
                                      <p:to>
                                        <p:strVal val="visible"/>
                                      </p:to>
                                    </p:set>
                                    <p:animEffect transition="in" filter="wipe(left)">
                                      <p:cBhvr>
                                        <p:cTn id="52" dur="500"/>
                                        <p:tgtEl>
                                          <p:spTgt spid="8606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86034"/>
                                        </p:tgtEl>
                                        <p:attrNameLst>
                                          <p:attrName>style.visibility</p:attrName>
                                        </p:attrNameLst>
                                      </p:cBhvr>
                                      <p:to>
                                        <p:strVal val="visible"/>
                                      </p:to>
                                    </p:set>
                                    <p:animEffect transition="in" filter="wipe(left)">
                                      <p:cBhvr>
                                        <p:cTn id="57" dur="500"/>
                                        <p:tgtEl>
                                          <p:spTgt spid="8603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86056"/>
                                        </p:tgtEl>
                                        <p:attrNameLst>
                                          <p:attrName>style.visibility</p:attrName>
                                        </p:attrNameLst>
                                      </p:cBhvr>
                                      <p:to>
                                        <p:strVal val="visible"/>
                                      </p:to>
                                    </p:set>
                                    <p:animEffect transition="in" filter="wipe(left)">
                                      <p:cBhvr>
                                        <p:cTn id="62" dur="500"/>
                                        <p:tgtEl>
                                          <p:spTgt spid="8605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86068"/>
                                        </p:tgtEl>
                                        <p:attrNameLst>
                                          <p:attrName>style.visibility</p:attrName>
                                        </p:attrNameLst>
                                      </p:cBhvr>
                                      <p:to>
                                        <p:strVal val="visible"/>
                                      </p:to>
                                    </p:set>
                                    <p:animEffect transition="in" filter="wipe(left)">
                                      <p:cBhvr>
                                        <p:cTn id="67" dur="500"/>
                                        <p:tgtEl>
                                          <p:spTgt spid="86068"/>
                                        </p:tgtEl>
                                      </p:cBhvr>
                                    </p:animEffect>
                                  </p:childTnLst>
                                </p:cTn>
                              </p:par>
                            </p:childTnLst>
                          </p:cTn>
                        </p:par>
                        <p:par>
                          <p:cTn id="68" fill="hold" nodeType="afterGroup">
                            <p:stCondLst>
                              <p:cond delay="500"/>
                            </p:stCondLst>
                            <p:childTnLst>
                              <p:par>
                                <p:cTn id="69" presetID="22" presetClass="entr" presetSubtype="8" fill="hold" nodeType="afterEffect">
                                  <p:stCondLst>
                                    <p:cond delay="0"/>
                                  </p:stCondLst>
                                  <p:childTnLst>
                                    <p:set>
                                      <p:cBhvr>
                                        <p:cTn id="70" dur="1" fill="hold">
                                          <p:stCondLst>
                                            <p:cond delay="0"/>
                                          </p:stCondLst>
                                        </p:cTn>
                                        <p:tgtEl>
                                          <p:spTgt spid="86070"/>
                                        </p:tgtEl>
                                        <p:attrNameLst>
                                          <p:attrName>style.visibility</p:attrName>
                                        </p:attrNameLst>
                                      </p:cBhvr>
                                      <p:to>
                                        <p:strVal val="visible"/>
                                      </p:to>
                                    </p:set>
                                    <p:animEffect transition="in" filter="wipe(left)">
                                      <p:cBhvr>
                                        <p:cTn id="71" dur="500"/>
                                        <p:tgtEl>
                                          <p:spTgt spid="86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autoUpdateAnimBg="0"/>
      <p:bldP spid="86025" grpId="0" autoUpdateAnimBg="0"/>
      <p:bldP spid="86026" grpId="0" autoUpdateAnimBg="0"/>
      <p:bldP spid="86027" grpId="0" autoUpdateAnimBg="0"/>
      <p:bldP spid="86064" grpId="0" autoUpdateAnimBg="0"/>
      <p:bldP spid="86068"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2" name="Object 1026"/>
          <p:cNvGraphicFramePr>
            <a:graphicFrameLocks noChangeAspect="1"/>
          </p:cNvGraphicFramePr>
          <p:nvPr>
            <p:extLst>
              <p:ext uri="{D42A27DB-BD31-4B8C-83A1-F6EECF244321}">
                <p14:modId xmlns:p14="http://schemas.microsoft.com/office/powerpoint/2010/main" val="2096738458"/>
              </p:ext>
            </p:extLst>
          </p:nvPr>
        </p:nvGraphicFramePr>
        <p:xfrm>
          <a:off x="2058614" y="144686"/>
          <a:ext cx="4933950" cy="1139825"/>
        </p:xfrm>
        <a:graphic>
          <a:graphicData uri="http://schemas.openxmlformats.org/presentationml/2006/ole">
            <mc:AlternateContent xmlns:mc="http://schemas.openxmlformats.org/markup-compatibility/2006">
              <mc:Choice xmlns:v="urn:schemas-microsoft-com:vml" Requires="v">
                <p:oleObj spid="_x0000_s118428" name="公式" r:id="rId4" imgW="1981080" imgH="457200" progId="Equation.3">
                  <p:embed/>
                </p:oleObj>
              </mc:Choice>
              <mc:Fallback>
                <p:oleObj name="公式" r:id="rId4" imgW="198108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8614" y="144686"/>
                        <a:ext cx="493395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43" name="Text Box 1027"/>
          <p:cNvSpPr txBox="1">
            <a:spLocks noChangeArrowheads="1"/>
          </p:cNvSpPr>
          <p:nvPr/>
        </p:nvSpPr>
        <p:spPr bwMode="auto">
          <a:xfrm>
            <a:off x="-334466" y="1932289"/>
            <a:ext cx="3695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dirty="0"/>
              <a:t>水恒温吸热：</a:t>
            </a:r>
          </a:p>
        </p:txBody>
      </p:sp>
      <p:graphicFrame>
        <p:nvGraphicFramePr>
          <p:cNvPr id="87045" name="Object 1029"/>
          <p:cNvGraphicFramePr>
            <a:graphicFrameLocks noChangeAspect="1"/>
          </p:cNvGraphicFramePr>
          <p:nvPr>
            <p:extLst/>
          </p:nvPr>
        </p:nvGraphicFramePr>
        <p:xfrm>
          <a:off x="433857" y="3140968"/>
          <a:ext cx="2601913" cy="563563"/>
        </p:xfrm>
        <a:graphic>
          <a:graphicData uri="http://schemas.openxmlformats.org/presentationml/2006/ole">
            <mc:AlternateContent xmlns:mc="http://schemas.openxmlformats.org/markup-compatibility/2006">
              <mc:Choice xmlns:v="urn:schemas-microsoft-com:vml" Requires="v">
                <p:oleObj spid="_x0000_s118429" name="公式" r:id="rId6" imgW="1218960" imgH="228600" progId="Equation.3">
                  <p:embed/>
                </p:oleObj>
              </mc:Choice>
              <mc:Fallback>
                <p:oleObj name="公式" r:id="rId6" imgW="121896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857" y="3140968"/>
                        <a:ext cx="2601913"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7046" name="Object 1030"/>
          <p:cNvGraphicFramePr>
            <a:graphicFrameLocks noChangeAspect="1"/>
          </p:cNvGraphicFramePr>
          <p:nvPr>
            <p:extLst/>
          </p:nvPr>
        </p:nvGraphicFramePr>
        <p:xfrm>
          <a:off x="899592" y="3906564"/>
          <a:ext cx="3068637" cy="1081088"/>
        </p:xfrm>
        <a:graphic>
          <a:graphicData uri="http://schemas.openxmlformats.org/presentationml/2006/ole">
            <mc:AlternateContent xmlns:mc="http://schemas.openxmlformats.org/markup-compatibility/2006">
              <mc:Choice xmlns:v="urn:schemas-microsoft-com:vml" Requires="v">
                <p:oleObj spid="_x0000_s118430" name="公式" r:id="rId8" imgW="1295280" imgH="444240" progId="Equation.3">
                  <p:embed/>
                </p:oleObj>
              </mc:Choice>
              <mc:Fallback>
                <p:oleObj name="公式" r:id="rId8" imgW="1295280" imgH="4442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9592" y="3906564"/>
                        <a:ext cx="3068637"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7048" name="Object 1032"/>
          <p:cNvGraphicFramePr>
            <a:graphicFrameLocks noChangeAspect="1"/>
          </p:cNvGraphicFramePr>
          <p:nvPr>
            <p:extLst/>
          </p:nvPr>
        </p:nvGraphicFramePr>
        <p:xfrm>
          <a:off x="3923928" y="4196283"/>
          <a:ext cx="612775" cy="465138"/>
        </p:xfrm>
        <a:graphic>
          <a:graphicData uri="http://schemas.openxmlformats.org/presentationml/2006/ole">
            <mc:AlternateContent xmlns:mc="http://schemas.openxmlformats.org/markup-compatibility/2006">
              <mc:Choice xmlns:v="urn:schemas-microsoft-com:vml" Requires="v">
                <p:oleObj spid="_x0000_s118431" name="公式" r:id="rId10" imgW="241200" imgH="177480" progId="Equation.3">
                  <p:embed/>
                </p:oleObj>
              </mc:Choice>
              <mc:Fallback>
                <p:oleObj name="公式" r:id="rId10" imgW="241200" imgH="177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23928" y="4196283"/>
                        <a:ext cx="6127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49" name="Text Box 1033"/>
          <p:cNvSpPr txBox="1">
            <a:spLocks noChangeArrowheads="1"/>
          </p:cNvSpPr>
          <p:nvPr/>
        </p:nvSpPr>
        <p:spPr bwMode="auto">
          <a:xfrm>
            <a:off x="827584" y="5085184"/>
            <a:ext cx="25336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dirty="0"/>
              <a:t>如何证明（自己证）</a:t>
            </a:r>
          </a:p>
        </p:txBody>
      </p:sp>
      <p:graphicFrame>
        <p:nvGraphicFramePr>
          <p:cNvPr id="3" name="对象 2"/>
          <p:cNvGraphicFramePr>
            <a:graphicFrameLocks noChangeAspect="1"/>
          </p:cNvGraphicFramePr>
          <p:nvPr>
            <p:extLst>
              <p:ext uri="{D42A27DB-BD31-4B8C-83A1-F6EECF244321}">
                <p14:modId xmlns:p14="http://schemas.microsoft.com/office/powerpoint/2010/main" val="2119247913"/>
              </p:ext>
            </p:extLst>
          </p:nvPr>
        </p:nvGraphicFramePr>
        <p:xfrm>
          <a:off x="4604919" y="3422749"/>
          <a:ext cx="4775291" cy="3335440"/>
        </p:xfrm>
        <a:graphic>
          <a:graphicData uri="http://schemas.openxmlformats.org/presentationml/2006/ole">
            <mc:AlternateContent xmlns:mc="http://schemas.openxmlformats.org/markup-compatibility/2006">
              <mc:Choice xmlns:v="urn:schemas-microsoft-com:vml" Requires="v">
                <p:oleObj spid="_x0000_s118432" name="Graph" r:id="rId12" imgW="4174560" imgH="2916000" progId="Origin50.Graph">
                  <p:embed/>
                </p:oleObj>
              </mc:Choice>
              <mc:Fallback>
                <p:oleObj name="Graph" r:id="rId12" imgW="4174560" imgH="2916000" progId="Origin50.Graph">
                  <p:embed/>
                  <p:pic>
                    <p:nvPicPr>
                      <p:cNvPr id="0" name=""/>
                      <p:cNvPicPr/>
                      <p:nvPr/>
                    </p:nvPicPr>
                    <p:blipFill>
                      <a:blip r:embed="rId13"/>
                      <a:stretch>
                        <a:fillRect/>
                      </a:stretch>
                    </p:blipFill>
                    <p:spPr>
                      <a:xfrm>
                        <a:off x="4604919" y="3422749"/>
                        <a:ext cx="4775291" cy="3335440"/>
                      </a:xfrm>
                      <a:prstGeom prst="rect">
                        <a:avLst/>
                      </a:prstGeom>
                    </p:spPr>
                  </p:pic>
                </p:oleObj>
              </mc:Fallback>
            </mc:AlternateContent>
          </a:graphicData>
        </a:graphic>
      </p:graphicFrame>
      <p:graphicFrame>
        <p:nvGraphicFramePr>
          <p:cNvPr id="10" name="Object 7"/>
          <p:cNvGraphicFramePr>
            <a:graphicFrameLocks noChangeAspect="1"/>
          </p:cNvGraphicFramePr>
          <p:nvPr>
            <p:extLst>
              <p:ext uri="{D42A27DB-BD31-4B8C-83A1-F6EECF244321}">
                <p14:modId xmlns:p14="http://schemas.microsoft.com/office/powerpoint/2010/main" val="2660201089"/>
              </p:ext>
            </p:extLst>
          </p:nvPr>
        </p:nvGraphicFramePr>
        <p:xfrm>
          <a:off x="2767386" y="1574230"/>
          <a:ext cx="6030764" cy="1288714"/>
        </p:xfrm>
        <a:graphic>
          <a:graphicData uri="http://schemas.openxmlformats.org/presentationml/2006/ole">
            <mc:AlternateContent xmlns:mc="http://schemas.openxmlformats.org/markup-compatibility/2006">
              <mc:Choice xmlns:v="urn:schemas-microsoft-com:vml" Requires="v">
                <p:oleObj spid="_x0000_s118433" name="Equation" r:id="rId14" imgW="2247840" imgH="482400" progId="Equation.DSMT4">
                  <p:embed/>
                </p:oleObj>
              </mc:Choice>
              <mc:Fallback>
                <p:oleObj name="Equation" r:id="rId14" imgW="2247840" imgH="482400" progId="Equation.DSMT4">
                  <p:embed/>
                  <p:pic>
                    <p:nvPicPr>
                      <p:cNvPr id="172039" name="Object 7"/>
                      <p:cNvPicPr>
                        <a:picLocks noChangeAspect="1" noChangeArrowheads="1"/>
                      </p:cNvPicPr>
                      <p:nvPr/>
                    </p:nvPicPr>
                    <p:blipFill>
                      <a:blip r:embed="rId15"/>
                      <a:srcRect/>
                      <a:stretch>
                        <a:fillRect/>
                      </a:stretch>
                    </p:blipFill>
                    <p:spPr bwMode="auto">
                      <a:xfrm>
                        <a:off x="2767386" y="1574230"/>
                        <a:ext cx="6030764" cy="1288714"/>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98422288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7042"/>
                                        </p:tgtEl>
                                        <p:attrNameLst>
                                          <p:attrName>style.visibility</p:attrName>
                                        </p:attrNameLst>
                                      </p:cBhvr>
                                      <p:to>
                                        <p:strVal val="visible"/>
                                      </p:to>
                                    </p:set>
                                    <p:animEffect transition="in" filter="wipe(left)">
                                      <p:cBhvr>
                                        <p:cTn id="7" dur="500"/>
                                        <p:tgtEl>
                                          <p:spTgt spid="870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043"/>
                                        </p:tgtEl>
                                        <p:attrNameLst>
                                          <p:attrName>style.visibility</p:attrName>
                                        </p:attrNameLst>
                                      </p:cBhvr>
                                      <p:to>
                                        <p:strVal val="visible"/>
                                      </p:to>
                                    </p:set>
                                    <p:animEffect transition="in" filter="wipe(left)">
                                      <p:cBhvr>
                                        <p:cTn id="12" dur="500"/>
                                        <p:tgtEl>
                                          <p:spTgt spid="870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7045"/>
                                        </p:tgtEl>
                                        <p:attrNameLst>
                                          <p:attrName>style.visibility</p:attrName>
                                        </p:attrNameLst>
                                      </p:cBhvr>
                                      <p:to>
                                        <p:strVal val="visible"/>
                                      </p:to>
                                    </p:set>
                                    <p:animEffect transition="in" filter="wipe(left)">
                                      <p:cBhvr>
                                        <p:cTn id="22" dur="500"/>
                                        <p:tgtEl>
                                          <p:spTgt spid="8704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7046"/>
                                        </p:tgtEl>
                                        <p:attrNameLst>
                                          <p:attrName>style.visibility</p:attrName>
                                        </p:attrNameLst>
                                      </p:cBhvr>
                                      <p:to>
                                        <p:strVal val="visible"/>
                                      </p:to>
                                    </p:set>
                                    <p:animEffect transition="in" filter="wipe(left)">
                                      <p:cBhvr>
                                        <p:cTn id="27" dur="500"/>
                                        <p:tgtEl>
                                          <p:spTgt spid="870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7048"/>
                                        </p:tgtEl>
                                        <p:attrNameLst>
                                          <p:attrName>style.visibility</p:attrName>
                                        </p:attrNameLst>
                                      </p:cBhvr>
                                      <p:to>
                                        <p:strVal val="visible"/>
                                      </p:to>
                                    </p:set>
                                    <p:animEffect transition="in" filter="wipe(left)">
                                      <p:cBhvr>
                                        <p:cTn id="32" dur="500"/>
                                        <p:tgtEl>
                                          <p:spTgt spid="8704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7049"/>
                                        </p:tgtEl>
                                        <p:attrNameLst>
                                          <p:attrName>style.visibility</p:attrName>
                                        </p:attrNameLst>
                                      </p:cBhvr>
                                      <p:to>
                                        <p:strVal val="visible"/>
                                      </p:to>
                                    </p:set>
                                    <p:animEffect transition="in" filter="wipe(left)">
                                      <p:cBhvr>
                                        <p:cTn id="37" dur="500"/>
                                        <p:tgtEl>
                                          <p:spTgt spid="87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autoUpdateAnimBg="0"/>
      <p:bldP spid="87049"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136525" y="141288"/>
            <a:ext cx="9236075" cy="13112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dirty="0">
                <a:solidFill>
                  <a:srgbClr val="3333FF"/>
                </a:solidFill>
                <a:ea typeface="楷体_GB2312" pitchFamily="49" charset="-122"/>
              </a:rPr>
              <a:t>例题</a:t>
            </a:r>
            <a:r>
              <a:rPr lang="en-US" altLang="zh-CN" sz="2800" b="1" dirty="0">
                <a:solidFill>
                  <a:srgbClr val="3333FF"/>
                </a:solidFill>
                <a:ea typeface="楷体_GB2312" pitchFamily="49" charset="-122"/>
              </a:rPr>
              <a:t>2</a:t>
            </a:r>
            <a:r>
              <a:rPr lang="zh-CN" altLang="en-US" sz="2800" b="1" dirty="0">
                <a:solidFill>
                  <a:srgbClr val="3333FF"/>
                </a:solidFill>
                <a:ea typeface="楷体_GB2312" pitchFamily="49" charset="-122"/>
              </a:rPr>
              <a:t>、</a:t>
            </a:r>
            <a:r>
              <a:rPr lang="zh-CN" altLang="en-US" sz="2800" b="1" dirty="0">
                <a:solidFill>
                  <a:srgbClr val="3333FF"/>
                </a:solidFill>
                <a:ea typeface="楷体_GB2312" pitchFamily="49" charset="-122"/>
                <a:sym typeface="Symbol" pitchFamily="18" charset="2"/>
              </a:rPr>
              <a:t> 求理想气体的状态函数熵</a:t>
            </a:r>
            <a:endParaRPr lang="zh-CN" altLang="en-US" sz="2400" b="1" dirty="0"/>
          </a:p>
          <a:p>
            <a:pPr lvl="1" algn="l" eaLnBrk="1" hangingPunct="1"/>
            <a:r>
              <a:rPr lang="zh-CN" altLang="en-US" sz="2400" b="1" dirty="0"/>
              <a:t>设有</a:t>
            </a:r>
            <a:r>
              <a:rPr lang="en-US" altLang="zh-CN" sz="2400" b="1" dirty="0"/>
              <a:t>1</a:t>
            </a:r>
            <a:r>
              <a:rPr lang="zh-CN" altLang="en-US" sz="2400" b="1" dirty="0"/>
              <a:t>摩尔理想气体，其状态参量由</a:t>
            </a:r>
            <a:r>
              <a:rPr lang="en-US" altLang="zh-CN" sz="2800" b="1" i="1" dirty="0"/>
              <a:t>p</a:t>
            </a:r>
            <a:r>
              <a:rPr lang="en-US" altLang="zh-CN" sz="2800" b="1" baseline="-25000" dirty="0"/>
              <a:t>1</a:t>
            </a:r>
            <a:r>
              <a:rPr lang="en-US" altLang="zh-CN" sz="2800" b="1" dirty="0"/>
              <a:t>,</a:t>
            </a:r>
            <a:r>
              <a:rPr lang="en-US" altLang="zh-CN" sz="2800" b="1" i="1" dirty="0"/>
              <a:t>V</a:t>
            </a:r>
            <a:r>
              <a:rPr lang="en-US" altLang="zh-CN" sz="2800" b="1" baseline="-25000" dirty="0"/>
              <a:t>1</a:t>
            </a:r>
            <a:r>
              <a:rPr lang="en-US" altLang="zh-CN" sz="2800" b="1" dirty="0"/>
              <a:t>,</a:t>
            </a:r>
            <a:r>
              <a:rPr lang="en-US" altLang="zh-CN" sz="2800" b="1" i="1" dirty="0"/>
              <a:t>T</a:t>
            </a:r>
            <a:r>
              <a:rPr lang="en-US" altLang="zh-CN" sz="2800" b="1" baseline="-25000" dirty="0"/>
              <a:t>1</a:t>
            </a:r>
            <a:r>
              <a:rPr lang="zh-CN" altLang="en-US" sz="2400" b="1" dirty="0"/>
              <a:t>变化到</a:t>
            </a:r>
            <a:r>
              <a:rPr lang="en-US" altLang="zh-CN" sz="2800" b="1" i="1" dirty="0"/>
              <a:t>p</a:t>
            </a:r>
            <a:r>
              <a:rPr lang="en-US" altLang="zh-CN" sz="2800" b="1" baseline="-25000" dirty="0"/>
              <a:t>2</a:t>
            </a:r>
            <a:r>
              <a:rPr lang="en-US" altLang="zh-CN" sz="2800" b="1" dirty="0"/>
              <a:t>,</a:t>
            </a:r>
            <a:r>
              <a:rPr lang="en-US" altLang="zh-CN" sz="2800" b="1" i="1" dirty="0"/>
              <a:t>V</a:t>
            </a:r>
            <a:r>
              <a:rPr lang="en-US" altLang="zh-CN" sz="2800" b="1" baseline="-25000" dirty="0"/>
              <a:t>2</a:t>
            </a:r>
            <a:r>
              <a:rPr lang="en-US" altLang="zh-CN" sz="2800" b="1" dirty="0"/>
              <a:t>,</a:t>
            </a:r>
            <a:r>
              <a:rPr lang="en-US" altLang="zh-CN" sz="2800" b="1" i="1" dirty="0"/>
              <a:t>T</a:t>
            </a:r>
            <a:r>
              <a:rPr lang="en-US" altLang="zh-CN" sz="2800" b="1" baseline="-25000" dirty="0"/>
              <a:t>2</a:t>
            </a:r>
            <a:r>
              <a:rPr lang="en-US" altLang="zh-CN" sz="2400" b="1" dirty="0"/>
              <a:t> </a:t>
            </a:r>
            <a:r>
              <a:rPr lang="zh-CN" altLang="en-US" sz="2400" b="1" dirty="0"/>
              <a:t>，在此过程中，系统的熵变为</a:t>
            </a:r>
          </a:p>
        </p:txBody>
      </p:sp>
      <p:graphicFrame>
        <p:nvGraphicFramePr>
          <p:cNvPr id="176131" name="Object 3"/>
          <p:cNvGraphicFramePr>
            <a:graphicFrameLocks noChangeAspect="1"/>
          </p:cNvGraphicFramePr>
          <p:nvPr/>
        </p:nvGraphicFramePr>
        <p:xfrm>
          <a:off x="4911725" y="1052513"/>
          <a:ext cx="1676400" cy="954087"/>
        </p:xfrm>
        <a:graphic>
          <a:graphicData uri="http://schemas.openxmlformats.org/presentationml/2006/ole">
            <mc:AlternateContent xmlns:mc="http://schemas.openxmlformats.org/markup-compatibility/2006">
              <mc:Choice xmlns:v="urn:schemas-microsoft-com:vml" Requires="v">
                <p:oleObj spid="_x0000_s119535" name="公式" r:id="rId3" imgW="710891" imgH="406224" progId="Equation.3">
                  <p:embed/>
                </p:oleObj>
              </mc:Choice>
              <mc:Fallback>
                <p:oleObj name="公式" r:id="rId3" imgW="710891" imgH="4062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1725" y="1052513"/>
                        <a:ext cx="1676400" cy="95408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6132" name="Text Box 4"/>
          <p:cNvSpPr txBox="1">
            <a:spLocks noChangeArrowheads="1"/>
          </p:cNvSpPr>
          <p:nvPr/>
        </p:nvSpPr>
        <p:spPr bwMode="auto">
          <a:xfrm>
            <a:off x="228600" y="1828800"/>
            <a:ext cx="47910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400" b="1"/>
              <a:t>由热力学第一定律，上式可以写成</a:t>
            </a:r>
            <a:endParaRPr lang="zh-CN" altLang="en-US" sz="2400"/>
          </a:p>
        </p:txBody>
      </p:sp>
      <p:graphicFrame>
        <p:nvGraphicFramePr>
          <p:cNvPr id="176133" name="Object 5"/>
          <p:cNvGraphicFramePr>
            <a:graphicFrameLocks noChangeAspect="1"/>
          </p:cNvGraphicFramePr>
          <p:nvPr/>
        </p:nvGraphicFramePr>
        <p:xfrm>
          <a:off x="1454150" y="2362200"/>
          <a:ext cx="5781675" cy="2049463"/>
        </p:xfrm>
        <a:graphic>
          <a:graphicData uri="http://schemas.openxmlformats.org/presentationml/2006/ole">
            <mc:AlternateContent xmlns:mc="http://schemas.openxmlformats.org/markup-compatibility/2006">
              <mc:Choice xmlns:v="urn:schemas-microsoft-com:vml" Requires="v">
                <p:oleObj spid="_x0000_s119536" name="Equation" r:id="rId5" imgW="2578100" imgH="914400" progId="Equation.DSMT4">
                  <p:embed/>
                </p:oleObj>
              </mc:Choice>
              <mc:Fallback>
                <p:oleObj name="Equation" r:id="rId5" imgW="2578100" imgH="9144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4150" y="2362200"/>
                        <a:ext cx="5781675" cy="20494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6134" name="Text Box 6"/>
          <p:cNvSpPr txBox="1">
            <a:spLocks noChangeArrowheads="1"/>
          </p:cNvSpPr>
          <p:nvPr/>
        </p:nvSpPr>
        <p:spPr bwMode="auto">
          <a:xfrm>
            <a:off x="533400" y="4478338"/>
            <a:ext cx="4614863"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800" b="1">
                <a:solidFill>
                  <a:srgbClr val="FF3300"/>
                </a:solidFill>
                <a:ea typeface="楷体_GB2312" pitchFamily="49" charset="-122"/>
              </a:rPr>
              <a:t>等温过程</a:t>
            </a:r>
            <a:r>
              <a:rPr lang="en-US" altLang="zh-CN" sz="2800" b="1">
                <a:solidFill>
                  <a:srgbClr val="FF3300"/>
                </a:solidFill>
                <a:ea typeface="楷体_GB2312" pitchFamily="49" charset="-122"/>
              </a:rPr>
              <a:t>(</a:t>
            </a:r>
            <a:r>
              <a:rPr lang="zh-CN" altLang="en-US" sz="2800" b="1">
                <a:solidFill>
                  <a:srgbClr val="FF3300"/>
                </a:solidFill>
                <a:ea typeface="楷体_GB2312" pitchFamily="49" charset="-122"/>
              </a:rPr>
              <a:t>气体的自由膨胀</a:t>
            </a:r>
            <a:r>
              <a:rPr lang="en-US" altLang="zh-CN" sz="2800" b="1">
                <a:solidFill>
                  <a:srgbClr val="FF3300"/>
                </a:solidFill>
                <a:ea typeface="楷体_GB2312" pitchFamily="49" charset="-122"/>
              </a:rPr>
              <a:t>)</a:t>
            </a:r>
            <a:endParaRPr lang="en-US" altLang="zh-CN" sz="2400"/>
          </a:p>
        </p:txBody>
      </p:sp>
      <p:graphicFrame>
        <p:nvGraphicFramePr>
          <p:cNvPr id="176135" name="Object 7"/>
          <p:cNvGraphicFramePr>
            <a:graphicFrameLocks noChangeAspect="1"/>
          </p:cNvGraphicFramePr>
          <p:nvPr/>
        </p:nvGraphicFramePr>
        <p:xfrm>
          <a:off x="5005388" y="4308475"/>
          <a:ext cx="2640012" cy="1038225"/>
        </p:xfrm>
        <a:graphic>
          <a:graphicData uri="http://schemas.openxmlformats.org/presentationml/2006/ole">
            <mc:AlternateContent xmlns:mc="http://schemas.openxmlformats.org/markup-compatibility/2006">
              <mc:Choice xmlns:v="urn:schemas-microsoft-com:vml" Requires="v">
                <p:oleObj spid="_x0000_s119537" name="Equation" r:id="rId7" imgW="1091726" imgH="431613" progId="Equation.DSMT4">
                  <p:embed/>
                </p:oleObj>
              </mc:Choice>
              <mc:Fallback>
                <p:oleObj name="Equation" r:id="rId7" imgW="1091726" imgH="431613"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5388" y="4308475"/>
                        <a:ext cx="2640012" cy="10382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6136" name="Text Box 8"/>
          <p:cNvSpPr txBox="1">
            <a:spLocks noChangeArrowheads="1"/>
          </p:cNvSpPr>
          <p:nvPr/>
        </p:nvSpPr>
        <p:spPr bwMode="auto">
          <a:xfrm>
            <a:off x="609600" y="5257800"/>
            <a:ext cx="1874838"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800" b="1">
                <a:solidFill>
                  <a:srgbClr val="FF3300"/>
                </a:solidFill>
                <a:ea typeface="楷体_GB2312" pitchFamily="49" charset="-122"/>
              </a:rPr>
              <a:t>等体过程</a:t>
            </a:r>
            <a:endParaRPr lang="zh-CN" altLang="en-US" sz="2400"/>
          </a:p>
        </p:txBody>
      </p:sp>
      <p:graphicFrame>
        <p:nvGraphicFramePr>
          <p:cNvPr id="176137" name="Object 9"/>
          <p:cNvGraphicFramePr>
            <a:graphicFrameLocks noChangeAspect="1"/>
          </p:cNvGraphicFramePr>
          <p:nvPr/>
        </p:nvGraphicFramePr>
        <p:xfrm>
          <a:off x="3152775" y="5043488"/>
          <a:ext cx="2532063" cy="1060450"/>
        </p:xfrm>
        <a:graphic>
          <a:graphicData uri="http://schemas.openxmlformats.org/presentationml/2006/ole">
            <mc:AlternateContent xmlns:mc="http://schemas.openxmlformats.org/markup-compatibility/2006">
              <mc:Choice xmlns:v="urn:schemas-microsoft-com:vml" Requires="v">
                <p:oleObj spid="_x0000_s119538" name="Equation" r:id="rId9" imgW="1028254" imgH="431613" progId="Equation.DSMT4">
                  <p:embed/>
                </p:oleObj>
              </mc:Choice>
              <mc:Fallback>
                <p:oleObj name="Equation" r:id="rId9" imgW="1028254" imgH="431613"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52775" y="5043488"/>
                        <a:ext cx="2532063" cy="10604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6138" name="Text Box 10"/>
          <p:cNvSpPr txBox="1">
            <a:spLocks noChangeArrowheads="1"/>
          </p:cNvSpPr>
          <p:nvPr/>
        </p:nvSpPr>
        <p:spPr bwMode="auto">
          <a:xfrm>
            <a:off x="666750" y="6019800"/>
            <a:ext cx="1874838"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800" b="1">
                <a:solidFill>
                  <a:srgbClr val="FF3300"/>
                </a:solidFill>
                <a:ea typeface="楷体_GB2312" pitchFamily="49" charset="-122"/>
              </a:rPr>
              <a:t>等压过程</a:t>
            </a:r>
            <a:endParaRPr lang="zh-CN" altLang="en-US" sz="2400"/>
          </a:p>
        </p:txBody>
      </p:sp>
      <p:graphicFrame>
        <p:nvGraphicFramePr>
          <p:cNvPr id="176139" name="Object 11"/>
          <p:cNvGraphicFramePr>
            <a:graphicFrameLocks noChangeAspect="1"/>
          </p:cNvGraphicFramePr>
          <p:nvPr/>
        </p:nvGraphicFramePr>
        <p:xfrm>
          <a:off x="2492375" y="5881688"/>
          <a:ext cx="3810000" cy="1033462"/>
        </p:xfrm>
        <a:graphic>
          <a:graphicData uri="http://schemas.openxmlformats.org/presentationml/2006/ole">
            <mc:AlternateContent xmlns:mc="http://schemas.openxmlformats.org/markup-compatibility/2006">
              <mc:Choice xmlns:v="urn:schemas-microsoft-com:vml" Requires="v">
                <p:oleObj spid="_x0000_s119539" name="Equation" r:id="rId11" imgW="1587500" imgH="431800" progId="Equation.DSMT4">
                  <p:embed/>
                </p:oleObj>
              </mc:Choice>
              <mc:Fallback>
                <p:oleObj name="Equation" r:id="rId11" imgW="1587500" imgH="4318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92375" y="5881688"/>
                        <a:ext cx="3810000" cy="103346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6140" name="Object 12"/>
          <p:cNvGraphicFramePr>
            <a:graphicFrameLocks noChangeAspect="1"/>
          </p:cNvGraphicFramePr>
          <p:nvPr/>
        </p:nvGraphicFramePr>
        <p:xfrm>
          <a:off x="6324600" y="5865813"/>
          <a:ext cx="2811463" cy="992187"/>
        </p:xfrm>
        <a:graphic>
          <a:graphicData uri="http://schemas.openxmlformats.org/presentationml/2006/ole">
            <mc:AlternateContent xmlns:mc="http://schemas.openxmlformats.org/markup-compatibility/2006">
              <mc:Choice xmlns:v="urn:schemas-microsoft-com:vml" Requires="v">
                <p:oleObj spid="_x0000_s119540" name="Equation" r:id="rId13" imgW="1218671" imgH="431613" progId="Equation.DSMT4">
                  <p:embed/>
                </p:oleObj>
              </mc:Choice>
              <mc:Fallback>
                <p:oleObj name="Equation" r:id="rId13" imgW="1218671" imgH="431613"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24600" y="5865813"/>
                        <a:ext cx="2811463" cy="99218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6141" name="Object 13"/>
          <p:cNvGraphicFramePr>
            <a:graphicFrameLocks noChangeAspect="1"/>
          </p:cNvGraphicFramePr>
          <p:nvPr/>
        </p:nvGraphicFramePr>
        <p:xfrm>
          <a:off x="5795963" y="2276475"/>
          <a:ext cx="2159000" cy="719138"/>
        </p:xfrm>
        <a:graphic>
          <a:graphicData uri="http://schemas.openxmlformats.org/presentationml/2006/ole">
            <mc:AlternateContent xmlns:mc="http://schemas.openxmlformats.org/markup-compatibility/2006">
              <mc:Choice xmlns:v="urn:schemas-microsoft-com:vml" Requires="v">
                <p:oleObj spid="_x0000_s119541" name="Equation" r:id="rId15" imgW="609336" imgH="203112" progId="Equation.DSMT4">
                  <p:embed/>
                </p:oleObj>
              </mc:Choice>
              <mc:Fallback>
                <p:oleObj name="Equation" r:id="rId15" imgW="609336" imgH="203112"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95963" y="2276475"/>
                        <a:ext cx="2159000"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617179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30">
                                            <p:txEl>
                                              <p:pRg st="0" end="0"/>
                                            </p:txEl>
                                          </p:spTgt>
                                        </p:tgtEl>
                                        <p:attrNameLst>
                                          <p:attrName>style.visibility</p:attrName>
                                        </p:attrNameLst>
                                      </p:cBhvr>
                                      <p:to>
                                        <p:strVal val="visible"/>
                                      </p:to>
                                    </p:set>
                                    <p:animEffect transition="in" filter="wipe(left)">
                                      <p:cBhvr>
                                        <p:cTn id="7" dur="500"/>
                                        <p:tgtEl>
                                          <p:spTgt spid="1761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6130">
                                            <p:txEl>
                                              <p:pRg st="1" end="1"/>
                                            </p:txEl>
                                          </p:spTgt>
                                        </p:tgtEl>
                                        <p:attrNameLst>
                                          <p:attrName>style.visibility</p:attrName>
                                        </p:attrNameLst>
                                      </p:cBhvr>
                                      <p:to>
                                        <p:strVal val="visible"/>
                                      </p:to>
                                    </p:set>
                                    <p:animEffect transition="in" filter="wipe(left)">
                                      <p:cBhvr>
                                        <p:cTn id="12" dur="500"/>
                                        <p:tgtEl>
                                          <p:spTgt spid="17613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6131"/>
                                        </p:tgtEl>
                                        <p:attrNameLst>
                                          <p:attrName>style.visibility</p:attrName>
                                        </p:attrNameLst>
                                      </p:cBhvr>
                                      <p:to>
                                        <p:strVal val="visible"/>
                                      </p:to>
                                    </p:set>
                                    <p:animEffect transition="in" filter="wipe(left)">
                                      <p:cBhvr>
                                        <p:cTn id="17" dur="500"/>
                                        <p:tgtEl>
                                          <p:spTgt spid="1761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6132"/>
                                        </p:tgtEl>
                                        <p:attrNameLst>
                                          <p:attrName>style.visibility</p:attrName>
                                        </p:attrNameLst>
                                      </p:cBhvr>
                                      <p:to>
                                        <p:strVal val="visible"/>
                                      </p:to>
                                    </p:set>
                                    <p:animEffect transition="in" filter="wipe(left)">
                                      <p:cBhvr>
                                        <p:cTn id="22" dur="500"/>
                                        <p:tgtEl>
                                          <p:spTgt spid="1761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76133"/>
                                        </p:tgtEl>
                                        <p:attrNameLst>
                                          <p:attrName>style.visibility</p:attrName>
                                        </p:attrNameLst>
                                      </p:cBhvr>
                                      <p:to>
                                        <p:strVal val="visible"/>
                                      </p:to>
                                    </p:set>
                                    <p:animEffect transition="in" filter="wipe(left)">
                                      <p:cBhvr>
                                        <p:cTn id="27" dur="500"/>
                                        <p:tgtEl>
                                          <p:spTgt spid="1761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76141"/>
                                        </p:tgtEl>
                                        <p:attrNameLst>
                                          <p:attrName>style.visibility</p:attrName>
                                        </p:attrNameLst>
                                      </p:cBhvr>
                                      <p:to>
                                        <p:strVal val="visible"/>
                                      </p:to>
                                    </p:set>
                                    <p:animEffect transition="in" filter="blinds(horizontal)">
                                      <p:cBhvr>
                                        <p:cTn id="32" dur="500"/>
                                        <p:tgtEl>
                                          <p:spTgt spid="1761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6134"/>
                                        </p:tgtEl>
                                        <p:attrNameLst>
                                          <p:attrName>style.visibility</p:attrName>
                                        </p:attrNameLst>
                                      </p:cBhvr>
                                      <p:to>
                                        <p:strVal val="visible"/>
                                      </p:to>
                                    </p:set>
                                    <p:animEffect transition="in" filter="wipe(left)">
                                      <p:cBhvr>
                                        <p:cTn id="37" dur="500"/>
                                        <p:tgtEl>
                                          <p:spTgt spid="1761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76135"/>
                                        </p:tgtEl>
                                        <p:attrNameLst>
                                          <p:attrName>style.visibility</p:attrName>
                                        </p:attrNameLst>
                                      </p:cBhvr>
                                      <p:to>
                                        <p:strVal val="visible"/>
                                      </p:to>
                                    </p:set>
                                    <p:animEffect transition="in" filter="wipe(left)">
                                      <p:cBhvr>
                                        <p:cTn id="42" dur="500"/>
                                        <p:tgtEl>
                                          <p:spTgt spid="1761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6136"/>
                                        </p:tgtEl>
                                        <p:attrNameLst>
                                          <p:attrName>style.visibility</p:attrName>
                                        </p:attrNameLst>
                                      </p:cBhvr>
                                      <p:to>
                                        <p:strVal val="visible"/>
                                      </p:to>
                                    </p:set>
                                    <p:animEffect transition="in" filter="wipe(left)">
                                      <p:cBhvr>
                                        <p:cTn id="47" dur="500"/>
                                        <p:tgtEl>
                                          <p:spTgt spid="17613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76137"/>
                                        </p:tgtEl>
                                        <p:attrNameLst>
                                          <p:attrName>style.visibility</p:attrName>
                                        </p:attrNameLst>
                                      </p:cBhvr>
                                      <p:to>
                                        <p:strVal val="visible"/>
                                      </p:to>
                                    </p:set>
                                    <p:animEffect transition="in" filter="wipe(left)">
                                      <p:cBhvr>
                                        <p:cTn id="52" dur="500"/>
                                        <p:tgtEl>
                                          <p:spTgt spid="17613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6138"/>
                                        </p:tgtEl>
                                        <p:attrNameLst>
                                          <p:attrName>style.visibility</p:attrName>
                                        </p:attrNameLst>
                                      </p:cBhvr>
                                      <p:to>
                                        <p:strVal val="visible"/>
                                      </p:to>
                                    </p:set>
                                    <p:animEffect transition="in" filter="wipe(left)">
                                      <p:cBhvr>
                                        <p:cTn id="57" dur="500"/>
                                        <p:tgtEl>
                                          <p:spTgt spid="17613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76139"/>
                                        </p:tgtEl>
                                        <p:attrNameLst>
                                          <p:attrName>style.visibility</p:attrName>
                                        </p:attrNameLst>
                                      </p:cBhvr>
                                      <p:to>
                                        <p:strVal val="visible"/>
                                      </p:to>
                                    </p:set>
                                    <p:animEffect transition="in" filter="wipe(left)">
                                      <p:cBhvr>
                                        <p:cTn id="62" dur="500"/>
                                        <p:tgtEl>
                                          <p:spTgt spid="17613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76140"/>
                                        </p:tgtEl>
                                        <p:attrNameLst>
                                          <p:attrName>style.visibility</p:attrName>
                                        </p:attrNameLst>
                                      </p:cBhvr>
                                      <p:to>
                                        <p:strVal val="visible"/>
                                      </p:to>
                                    </p:set>
                                    <p:animEffect transition="in" filter="wipe(left)">
                                      <p:cBhvr>
                                        <p:cTn id="67" dur="500"/>
                                        <p:tgtEl>
                                          <p:spTgt spid="176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build="p" bldLvl="2" autoUpdateAnimBg="0"/>
      <p:bldP spid="176132" grpId="0" autoUpdateAnimBg="0"/>
      <p:bldP spid="176134" grpId="0" autoUpdateAnimBg="0"/>
      <p:bldP spid="176136" grpId="0" autoUpdateAnimBg="0"/>
      <p:bldP spid="176138"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5" name="Object 3"/>
          <p:cNvGraphicFramePr>
            <a:graphicFrameLocks noChangeAspect="1"/>
          </p:cNvGraphicFramePr>
          <p:nvPr>
            <p:extLst>
              <p:ext uri="{D42A27DB-BD31-4B8C-83A1-F6EECF244321}">
                <p14:modId xmlns:p14="http://schemas.microsoft.com/office/powerpoint/2010/main" val="749212677"/>
              </p:ext>
            </p:extLst>
          </p:nvPr>
        </p:nvGraphicFramePr>
        <p:xfrm>
          <a:off x="2705100" y="3239606"/>
          <a:ext cx="1938338" cy="498958"/>
        </p:xfrm>
        <a:graphic>
          <a:graphicData uri="http://schemas.openxmlformats.org/presentationml/2006/ole">
            <mc:AlternateContent xmlns:mc="http://schemas.openxmlformats.org/markup-compatibility/2006">
              <mc:Choice xmlns:v="urn:schemas-microsoft-com:vml" Requires="v">
                <p:oleObj spid="_x0000_s178211" name="Equation" r:id="rId3" imgW="711000" imgH="215640" progId="Equation.DSMT4">
                  <p:embed/>
                </p:oleObj>
              </mc:Choice>
              <mc:Fallback>
                <p:oleObj name="Equation" r:id="rId3" imgW="711000" imgH="215640" progId="Equation.DSMT4">
                  <p:embed/>
                  <p:pic>
                    <p:nvPicPr>
                      <p:cNvPr id="110595" name="Object 3"/>
                      <p:cNvPicPr>
                        <a:picLocks noChangeAspect="1" noChangeArrowheads="1"/>
                      </p:cNvPicPr>
                      <p:nvPr/>
                    </p:nvPicPr>
                    <p:blipFill>
                      <a:blip r:embed="rId4"/>
                      <a:srcRect/>
                      <a:stretch>
                        <a:fillRect/>
                      </a:stretch>
                    </p:blipFill>
                    <p:spPr bwMode="auto">
                      <a:xfrm>
                        <a:off x="2705100" y="3239606"/>
                        <a:ext cx="1938338" cy="498958"/>
                      </a:xfrm>
                      <a:prstGeom prst="rect">
                        <a:avLst/>
                      </a:prstGeom>
                      <a:noFill/>
                      <a:ln>
                        <a:noFill/>
                      </a:ln>
                      <a:effectLst/>
                      <a:extLst/>
                    </p:spPr>
                  </p:pic>
                </p:oleObj>
              </mc:Fallback>
            </mc:AlternateContent>
          </a:graphicData>
        </a:graphic>
      </p:graphicFrame>
      <p:graphicFrame>
        <p:nvGraphicFramePr>
          <p:cNvPr id="110596" name="Object 4"/>
          <p:cNvGraphicFramePr>
            <a:graphicFrameLocks noChangeAspect="1"/>
          </p:cNvGraphicFramePr>
          <p:nvPr>
            <p:extLst/>
          </p:nvPr>
        </p:nvGraphicFramePr>
        <p:xfrm>
          <a:off x="2627784" y="4208561"/>
          <a:ext cx="4549403" cy="516583"/>
        </p:xfrm>
        <a:graphic>
          <a:graphicData uri="http://schemas.openxmlformats.org/presentationml/2006/ole">
            <mc:AlternateContent xmlns:mc="http://schemas.openxmlformats.org/markup-compatibility/2006">
              <mc:Choice xmlns:v="urn:schemas-microsoft-com:vml" Requires="v">
                <p:oleObj spid="_x0000_s178212" name="公式" r:id="rId5" imgW="1600200" imgH="215640" progId="Equation.3">
                  <p:embed/>
                </p:oleObj>
              </mc:Choice>
              <mc:Fallback>
                <p:oleObj name="公式" r:id="rId5" imgW="1600200" imgH="215640" progId="Equation.3">
                  <p:embed/>
                  <p:pic>
                    <p:nvPicPr>
                      <p:cNvPr id="110596" name="Object 4"/>
                      <p:cNvPicPr>
                        <a:picLocks noChangeAspect="1" noChangeArrowheads="1"/>
                      </p:cNvPicPr>
                      <p:nvPr/>
                    </p:nvPicPr>
                    <p:blipFill>
                      <a:blip r:embed="rId6"/>
                      <a:srcRect/>
                      <a:stretch>
                        <a:fillRect/>
                      </a:stretch>
                    </p:blipFill>
                    <p:spPr bwMode="auto">
                      <a:xfrm>
                        <a:off x="2627784" y="4208561"/>
                        <a:ext cx="4549403" cy="516583"/>
                      </a:xfrm>
                      <a:prstGeom prst="rect">
                        <a:avLst/>
                      </a:prstGeom>
                      <a:noFill/>
                      <a:ln>
                        <a:noFill/>
                      </a:ln>
                      <a:effectLst/>
                      <a:extLst/>
                    </p:spPr>
                  </p:pic>
                </p:oleObj>
              </mc:Fallback>
            </mc:AlternateContent>
          </a:graphicData>
        </a:graphic>
      </p:graphicFrame>
      <p:graphicFrame>
        <p:nvGraphicFramePr>
          <p:cNvPr id="110597" name="Object 5"/>
          <p:cNvGraphicFramePr>
            <a:graphicFrameLocks noChangeAspect="1"/>
          </p:cNvGraphicFramePr>
          <p:nvPr>
            <p:extLst/>
          </p:nvPr>
        </p:nvGraphicFramePr>
        <p:xfrm>
          <a:off x="2257425" y="5084763"/>
          <a:ext cx="2830513" cy="1247775"/>
        </p:xfrm>
        <a:graphic>
          <a:graphicData uri="http://schemas.openxmlformats.org/presentationml/2006/ole">
            <mc:AlternateContent xmlns:mc="http://schemas.openxmlformats.org/markup-compatibility/2006">
              <mc:Choice xmlns:v="urn:schemas-microsoft-com:vml" Requires="v">
                <p:oleObj spid="_x0000_s178213" name="公式" r:id="rId7" imgW="1079280" imgH="457200" progId="Equation.3">
                  <p:embed/>
                </p:oleObj>
              </mc:Choice>
              <mc:Fallback>
                <p:oleObj name="公式" r:id="rId7" imgW="1079280" imgH="457200" progId="Equation.3">
                  <p:embed/>
                  <p:pic>
                    <p:nvPicPr>
                      <p:cNvPr id="110597" name="Object 5"/>
                      <p:cNvPicPr>
                        <a:picLocks noChangeAspect="1" noChangeArrowheads="1"/>
                      </p:cNvPicPr>
                      <p:nvPr/>
                    </p:nvPicPr>
                    <p:blipFill>
                      <a:blip r:embed="rId8"/>
                      <a:srcRect/>
                      <a:stretch>
                        <a:fillRect/>
                      </a:stretch>
                    </p:blipFill>
                    <p:spPr bwMode="auto">
                      <a:xfrm>
                        <a:off x="2257425" y="5084763"/>
                        <a:ext cx="2830513"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600" name="Text Box 8"/>
          <p:cNvSpPr txBox="1">
            <a:spLocks noChangeArrowheads="1"/>
          </p:cNvSpPr>
          <p:nvPr/>
        </p:nvSpPr>
        <p:spPr bwMode="auto">
          <a:xfrm>
            <a:off x="1116013" y="2492375"/>
            <a:ext cx="6191250"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zh-CN" altLang="en-US" sz="2800" dirty="0">
                <a:latin typeface="+mj-ea"/>
                <a:ea typeface="+mj-ea"/>
                <a:sym typeface="Wingdings" pitchFamily="2" charset="2"/>
              </a:rPr>
              <a:t>（</a:t>
            </a:r>
            <a:r>
              <a:rPr kumimoji="1" lang="en-US" altLang="zh-CN" sz="2800" dirty="0">
                <a:latin typeface="+mj-ea"/>
                <a:ea typeface="+mj-ea"/>
                <a:sym typeface="Wingdings" pitchFamily="2" charset="2"/>
              </a:rPr>
              <a:t>1</a:t>
            </a:r>
            <a:r>
              <a:rPr kumimoji="1" lang="zh-CN" altLang="en-US" sz="2800" dirty="0">
                <a:latin typeface="+mj-ea"/>
                <a:ea typeface="+mj-ea"/>
                <a:sym typeface="Wingdings" pitchFamily="2" charset="2"/>
              </a:rPr>
              <a:t>）</a:t>
            </a:r>
            <a:r>
              <a:rPr kumimoji="1" lang="zh-CN" altLang="en-US" sz="2800" dirty="0">
                <a:latin typeface="+mj-ea"/>
                <a:ea typeface="+mj-ea"/>
              </a:rPr>
              <a:t>设最后温度为</a:t>
            </a:r>
            <a:r>
              <a:rPr kumimoji="1" lang="en-US" altLang="zh-CN" sz="2800" i="1" dirty="0">
                <a:latin typeface="+mj-ea"/>
                <a:ea typeface="+mj-ea"/>
              </a:rPr>
              <a:t>T</a:t>
            </a:r>
            <a:r>
              <a:rPr kumimoji="1" lang="en-US" altLang="zh-CN" sz="2800" dirty="0">
                <a:latin typeface="+mj-ea"/>
                <a:ea typeface="+mj-ea"/>
              </a:rPr>
              <a:t> </a:t>
            </a:r>
            <a:r>
              <a:rPr kumimoji="1" lang="en-US" altLang="zh-CN" sz="2800" i="1" dirty="0">
                <a:latin typeface="+mj-ea"/>
                <a:ea typeface="+mj-ea"/>
                <a:cs typeface="Times New Roman" pitchFamily="18" charset="0"/>
              </a:rPr>
              <a:t>'</a:t>
            </a:r>
            <a:r>
              <a:rPr kumimoji="1" lang="en-US" altLang="zh-CN" sz="2800" i="1" dirty="0">
                <a:latin typeface="+mj-ea"/>
                <a:ea typeface="+mj-ea"/>
              </a:rPr>
              <a:t> </a:t>
            </a:r>
            <a:r>
              <a:rPr kumimoji="1" lang="zh-CN" altLang="en-US" sz="2800" dirty="0">
                <a:latin typeface="+mj-ea"/>
                <a:ea typeface="+mj-ea"/>
              </a:rPr>
              <a:t>，则有</a:t>
            </a:r>
          </a:p>
        </p:txBody>
      </p:sp>
      <p:sp>
        <p:nvSpPr>
          <p:cNvPr id="110602" name="Rectangle 10"/>
          <p:cNvSpPr>
            <a:spLocks noChangeArrowheads="1"/>
          </p:cNvSpPr>
          <p:nvPr/>
        </p:nvSpPr>
        <p:spPr bwMode="auto">
          <a:xfrm>
            <a:off x="395288" y="260350"/>
            <a:ext cx="8496300" cy="2111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kumimoji="1" lang="zh-CN" altLang="en-US" sz="2800">
                <a:solidFill>
                  <a:srgbClr val="0000FF"/>
                </a:solidFill>
                <a:latin typeface="+mn-lt"/>
                <a:ea typeface="+mj-ea"/>
              </a:rPr>
              <a:t>例</a:t>
            </a:r>
            <a:r>
              <a:rPr lang="en-US" altLang="zh-CN" sz="2800">
                <a:solidFill>
                  <a:srgbClr val="0000FF"/>
                </a:solidFill>
                <a:latin typeface="+mn-lt"/>
                <a:ea typeface="+mj-ea"/>
              </a:rPr>
              <a:t>3</a:t>
            </a:r>
            <a:r>
              <a:rPr kumimoji="1" lang="en-US" altLang="zh-CN" sz="2800">
                <a:latin typeface="+mn-lt"/>
                <a:ea typeface="+mj-ea"/>
              </a:rPr>
              <a:t> </a:t>
            </a:r>
            <a:r>
              <a:rPr kumimoji="1" lang="zh-CN" altLang="en-US" sz="2800" dirty="0">
                <a:latin typeface="+mn-lt"/>
                <a:ea typeface="+mj-ea"/>
              </a:rPr>
              <a:t>有一热容为</a:t>
            </a:r>
            <a:r>
              <a:rPr kumimoji="1" lang="en-US" altLang="zh-CN" sz="2800" i="1" dirty="0">
                <a:latin typeface="+mn-lt"/>
                <a:ea typeface="+mj-ea"/>
              </a:rPr>
              <a:t>C</a:t>
            </a:r>
            <a:r>
              <a:rPr kumimoji="1" lang="en-US" altLang="zh-CN" sz="2800" baseline="-25000" dirty="0">
                <a:latin typeface="+mn-lt"/>
                <a:ea typeface="+mj-ea"/>
              </a:rPr>
              <a:t>1</a:t>
            </a:r>
            <a:r>
              <a:rPr kumimoji="1" lang="zh-CN" altLang="en-US" sz="2800" dirty="0">
                <a:latin typeface="+mn-lt"/>
                <a:ea typeface="+mj-ea"/>
              </a:rPr>
              <a:t>、温度为</a:t>
            </a:r>
            <a:r>
              <a:rPr kumimoji="1" lang="en-US" altLang="zh-CN" sz="2800" i="1" dirty="0">
                <a:latin typeface="+mn-lt"/>
                <a:ea typeface="+mj-ea"/>
              </a:rPr>
              <a:t>T</a:t>
            </a:r>
            <a:r>
              <a:rPr kumimoji="1" lang="en-US" altLang="zh-CN" sz="2800" baseline="-25000" dirty="0">
                <a:latin typeface="+mn-lt"/>
                <a:ea typeface="+mj-ea"/>
              </a:rPr>
              <a:t>1</a:t>
            </a:r>
            <a:r>
              <a:rPr kumimoji="1" lang="zh-CN" altLang="en-US" sz="2800" dirty="0">
                <a:latin typeface="+mn-lt"/>
                <a:ea typeface="+mj-ea"/>
              </a:rPr>
              <a:t>的固体与热容为</a:t>
            </a:r>
            <a:r>
              <a:rPr kumimoji="1" lang="en-US" altLang="zh-CN" sz="2800" i="1" dirty="0">
                <a:latin typeface="+mn-lt"/>
                <a:ea typeface="+mj-ea"/>
              </a:rPr>
              <a:t>C</a:t>
            </a:r>
            <a:r>
              <a:rPr kumimoji="1" lang="en-US" altLang="zh-CN" sz="2800" baseline="-25000" dirty="0">
                <a:latin typeface="+mn-lt"/>
                <a:ea typeface="+mj-ea"/>
              </a:rPr>
              <a:t>2</a:t>
            </a:r>
            <a:r>
              <a:rPr kumimoji="1" lang="zh-CN" altLang="en-US" sz="2800" dirty="0">
                <a:latin typeface="+mn-lt"/>
                <a:ea typeface="+mj-ea"/>
              </a:rPr>
              <a:t>、温度为</a:t>
            </a:r>
            <a:r>
              <a:rPr kumimoji="1" lang="en-US" altLang="zh-CN" sz="2800" i="1" dirty="0">
                <a:latin typeface="+mn-lt"/>
                <a:ea typeface="+mj-ea"/>
              </a:rPr>
              <a:t>T</a:t>
            </a:r>
            <a:r>
              <a:rPr kumimoji="1" lang="en-US" altLang="zh-CN" sz="2800" baseline="-25000" dirty="0">
                <a:latin typeface="+mn-lt"/>
                <a:ea typeface="+mj-ea"/>
              </a:rPr>
              <a:t>2</a:t>
            </a:r>
            <a:r>
              <a:rPr kumimoji="1" lang="zh-CN" altLang="en-US" sz="2800" dirty="0">
                <a:latin typeface="+mn-lt"/>
                <a:ea typeface="+mj-ea"/>
              </a:rPr>
              <a:t>的液体共置于一绝热容器内。</a:t>
            </a:r>
          </a:p>
          <a:p>
            <a:pPr algn="just">
              <a:lnSpc>
                <a:spcPct val="120000"/>
              </a:lnSpc>
            </a:pPr>
            <a:r>
              <a:rPr kumimoji="1" lang="zh-CN" altLang="en-US" sz="2800" dirty="0">
                <a:latin typeface="+mn-lt"/>
                <a:ea typeface="+mj-ea"/>
              </a:rPr>
              <a:t>  （</a:t>
            </a:r>
            <a:r>
              <a:rPr kumimoji="1" lang="en-US" altLang="zh-CN" sz="2800" dirty="0">
                <a:latin typeface="+mn-lt"/>
                <a:ea typeface="+mj-ea"/>
              </a:rPr>
              <a:t>1</a:t>
            </a:r>
            <a:r>
              <a:rPr kumimoji="1" lang="zh-CN" altLang="en-US" sz="2800" dirty="0">
                <a:latin typeface="+mn-lt"/>
                <a:ea typeface="+mj-ea"/>
              </a:rPr>
              <a:t>）试求平衡建立后，系统最后的温度；</a:t>
            </a:r>
          </a:p>
          <a:p>
            <a:pPr algn="just">
              <a:lnSpc>
                <a:spcPct val="120000"/>
              </a:lnSpc>
            </a:pPr>
            <a:r>
              <a:rPr kumimoji="1" lang="zh-CN" altLang="en-US" sz="2800" dirty="0">
                <a:latin typeface="+mn-lt"/>
                <a:ea typeface="+mj-ea"/>
              </a:rPr>
              <a:t>  （</a:t>
            </a:r>
            <a:r>
              <a:rPr kumimoji="1" lang="en-US" altLang="zh-CN" sz="2800" dirty="0">
                <a:latin typeface="+mn-lt"/>
                <a:ea typeface="+mj-ea"/>
              </a:rPr>
              <a:t>2</a:t>
            </a:r>
            <a:r>
              <a:rPr kumimoji="1" lang="zh-CN" altLang="en-US" sz="2800" dirty="0">
                <a:latin typeface="+mn-lt"/>
                <a:ea typeface="+mj-ea"/>
              </a:rPr>
              <a:t>）试确定系统总的熵变。</a:t>
            </a:r>
          </a:p>
        </p:txBody>
      </p:sp>
      <p:sp>
        <p:nvSpPr>
          <p:cNvPr id="110603" name="AutoShape 11"/>
          <p:cNvSpPr>
            <a:spLocks noChangeArrowheads="1"/>
          </p:cNvSpPr>
          <p:nvPr/>
        </p:nvSpPr>
        <p:spPr bwMode="auto">
          <a:xfrm>
            <a:off x="1476375" y="4293096"/>
            <a:ext cx="503238" cy="324000"/>
          </a:xfrm>
          <a:prstGeom prst="rightArrow">
            <a:avLst>
              <a:gd name="adj1" fmla="val 50000"/>
              <a:gd name="adj2" fmla="val 43925"/>
            </a:avLst>
          </a:prstGeom>
          <a:noFill/>
          <a:ln w="9525">
            <a:solidFill>
              <a:schemeClr val="tx1"/>
            </a:solidFill>
            <a:miter lim="800000"/>
            <a:headEnd/>
            <a:tailEnd/>
          </a:ln>
          <a:effectLst/>
          <a:extLst/>
        </p:spPr>
        <p:txBody>
          <a:bodyPr wrap="none" anchor="ctr"/>
          <a:lstStyle/>
          <a:p>
            <a:endParaRPr lang="zh-CN" altLang="en-US"/>
          </a:p>
        </p:txBody>
      </p:sp>
      <p:sp>
        <p:nvSpPr>
          <p:cNvPr id="110604" name="AutoShape 12"/>
          <p:cNvSpPr>
            <a:spLocks noChangeArrowheads="1"/>
          </p:cNvSpPr>
          <p:nvPr/>
        </p:nvSpPr>
        <p:spPr bwMode="auto">
          <a:xfrm>
            <a:off x="1476375" y="5445224"/>
            <a:ext cx="503238" cy="324000"/>
          </a:xfrm>
          <a:prstGeom prst="rightArrow">
            <a:avLst>
              <a:gd name="adj1" fmla="val 50000"/>
              <a:gd name="adj2" fmla="val 43925"/>
            </a:avLst>
          </a:prstGeom>
          <a:noFill/>
          <a:ln w="9525">
            <a:solidFill>
              <a:schemeClr val="tx1"/>
            </a:solidFill>
            <a:miter lim="800000"/>
            <a:headEnd/>
            <a:tailEnd/>
          </a:ln>
          <a:effectLst/>
          <a:extLst/>
        </p:spPr>
        <p:txBody>
          <a:bodyPr wrap="none" anchor="ctr"/>
          <a:lstStyle/>
          <a:p>
            <a:endParaRPr lang="zh-CN" altLang="en-US"/>
          </a:p>
        </p:txBody>
      </p:sp>
      <p:sp>
        <p:nvSpPr>
          <p:cNvPr id="110605" name="Rectangle 13"/>
          <p:cNvSpPr>
            <a:spLocks noChangeArrowheads="1"/>
          </p:cNvSpPr>
          <p:nvPr/>
        </p:nvSpPr>
        <p:spPr bwMode="auto">
          <a:xfrm>
            <a:off x="468313" y="2492375"/>
            <a:ext cx="15287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a:solidFill>
                  <a:srgbClr val="0000FF"/>
                </a:solidFill>
              </a:rPr>
              <a:t>解</a:t>
            </a:r>
            <a:r>
              <a:rPr kumimoji="1" lang="zh-CN" altLang="en-US">
                <a:solidFill>
                  <a:srgbClr val="0000FF"/>
                </a:solidFill>
                <a:sym typeface="Wingdings" pitchFamily="2" charset="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0602">
                                            <p:txEl>
                                              <p:pRg st="0" end="0"/>
                                            </p:txEl>
                                          </p:spTgt>
                                        </p:tgtEl>
                                        <p:attrNameLst>
                                          <p:attrName>style.visibility</p:attrName>
                                        </p:attrNameLst>
                                      </p:cBhvr>
                                      <p:to>
                                        <p:strVal val="visible"/>
                                      </p:to>
                                    </p:set>
                                    <p:animEffect transition="in" filter="wipe(left)">
                                      <p:cBhvr>
                                        <p:cTn id="7" dur="500"/>
                                        <p:tgtEl>
                                          <p:spTgt spid="110602">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0602">
                                            <p:txEl>
                                              <p:pRg st="1" end="1"/>
                                            </p:txEl>
                                          </p:spTgt>
                                        </p:tgtEl>
                                        <p:attrNameLst>
                                          <p:attrName>style.visibility</p:attrName>
                                        </p:attrNameLst>
                                      </p:cBhvr>
                                      <p:to>
                                        <p:strVal val="visible"/>
                                      </p:to>
                                    </p:set>
                                    <p:animEffect transition="in" filter="wipe(left)">
                                      <p:cBhvr>
                                        <p:cTn id="11" dur="500"/>
                                        <p:tgtEl>
                                          <p:spTgt spid="110602">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0602">
                                            <p:txEl>
                                              <p:pRg st="2" end="2"/>
                                            </p:txEl>
                                          </p:spTgt>
                                        </p:tgtEl>
                                        <p:attrNameLst>
                                          <p:attrName>style.visibility</p:attrName>
                                        </p:attrNameLst>
                                      </p:cBhvr>
                                      <p:to>
                                        <p:strVal val="visible"/>
                                      </p:to>
                                    </p:set>
                                    <p:animEffect transition="in" filter="wipe(left)">
                                      <p:cBhvr>
                                        <p:cTn id="15" dur="500"/>
                                        <p:tgtEl>
                                          <p:spTgt spid="110602">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0605"/>
                                        </p:tgtEl>
                                        <p:attrNameLst>
                                          <p:attrName>style.visibility</p:attrName>
                                        </p:attrNameLst>
                                      </p:cBhvr>
                                      <p:to>
                                        <p:strVal val="visible"/>
                                      </p:to>
                                    </p:set>
                                    <p:animEffect transition="in" filter="wipe(left)">
                                      <p:cBhvr>
                                        <p:cTn id="20" dur="500"/>
                                        <p:tgtEl>
                                          <p:spTgt spid="11060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0600"/>
                                        </p:tgtEl>
                                        <p:attrNameLst>
                                          <p:attrName>style.visibility</p:attrName>
                                        </p:attrNameLst>
                                      </p:cBhvr>
                                      <p:to>
                                        <p:strVal val="visible"/>
                                      </p:to>
                                    </p:set>
                                    <p:animEffect transition="in" filter="wipe(left)">
                                      <p:cBhvr>
                                        <p:cTn id="25" dur="500"/>
                                        <p:tgtEl>
                                          <p:spTgt spid="11060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10595"/>
                                        </p:tgtEl>
                                        <p:attrNameLst>
                                          <p:attrName>style.visibility</p:attrName>
                                        </p:attrNameLst>
                                      </p:cBhvr>
                                      <p:to>
                                        <p:strVal val="visible"/>
                                      </p:to>
                                    </p:set>
                                    <p:animEffect transition="in" filter="wipe(left)">
                                      <p:cBhvr>
                                        <p:cTn id="30" dur="500"/>
                                        <p:tgtEl>
                                          <p:spTgt spid="11059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0603"/>
                                        </p:tgtEl>
                                        <p:attrNameLst>
                                          <p:attrName>style.visibility</p:attrName>
                                        </p:attrNameLst>
                                      </p:cBhvr>
                                      <p:to>
                                        <p:strVal val="visible"/>
                                      </p:to>
                                    </p:set>
                                    <p:animEffect transition="in" filter="wipe(left)">
                                      <p:cBhvr>
                                        <p:cTn id="35" dur="500"/>
                                        <p:tgtEl>
                                          <p:spTgt spid="110603"/>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110596"/>
                                        </p:tgtEl>
                                        <p:attrNameLst>
                                          <p:attrName>style.visibility</p:attrName>
                                        </p:attrNameLst>
                                      </p:cBhvr>
                                      <p:to>
                                        <p:strVal val="visible"/>
                                      </p:to>
                                    </p:set>
                                    <p:animEffect transition="in" filter="wipe(left)">
                                      <p:cBhvr>
                                        <p:cTn id="39" dur="500"/>
                                        <p:tgtEl>
                                          <p:spTgt spid="11059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10604"/>
                                        </p:tgtEl>
                                        <p:attrNameLst>
                                          <p:attrName>style.visibility</p:attrName>
                                        </p:attrNameLst>
                                      </p:cBhvr>
                                      <p:to>
                                        <p:strVal val="visible"/>
                                      </p:to>
                                    </p:set>
                                    <p:animEffect transition="in" filter="wipe(left)">
                                      <p:cBhvr>
                                        <p:cTn id="44" dur="500"/>
                                        <p:tgtEl>
                                          <p:spTgt spid="110604"/>
                                        </p:tgtEl>
                                      </p:cBhvr>
                                    </p:animEffect>
                                  </p:childTnLst>
                                </p:cTn>
                              </p:par>
                            </p:childTnLst>
                          </p:cTn>
                        </p:par>
                        <p:par>
                          <p:cTn id="45" fill="hold" nodeType="afterGroup">
                            <p:stCondLst>
                              <p:cond delay="500"/>
                            </p:stCondLst>
                            <p:childTnLst>
                              <p:par>
                                <p:cTn id="46" presetID="22" presetClass="entr" presetSubtype="8" fill="hold" nodeType="afterEffect">
                                  <p:stCondLst>
                                    <p:cond delay="0"/>
                                  </p:stCondLst>
                                  <p:childTnLst>
                                    <p:set>
                                      <p:cBhvr>
                                        <p:cTn id="47" dur="1" fill="hold">
                                          <p:stCondLst>
                                            <p:cond delay="0"/>
                                          </p:stCondLst>
                                        </p:cTn>
                                        <p:tgtEl>
                                          <p:spTgt spid="110597"/>
                                        </p:tgtEl>
                                        <p:attrNameLst>
                                          <p:attrName>style.visibility</p:attrName>
                                        </p:attrNameLst>
                                      </p:cBhvr>
                                      <p:to>
                                        <p:strVal val="visible"/>
                                      </p:to>
                                    </p:set>
                                    <p:animEffect transition="in" filter="wipe(left)">
                                      <p:cBhvr>
                                        <p:cTn id="48" dur="500"/>
                                        <p:tgtEl>
                                          <p:spTgt spid="110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0" grpId="0"/>
      <p:bldP spid="110602" grpId="0" build="p" autoUpdateAnimBg="0"/>
      <p:bldP spid="110603" grpId="0" animBg="1"/>
      <p:bldP spid="110604" grpId="0" animBg="1"/>
      <p:bldP spid="11060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619" name="Object 3"/>
          <p:cNvGraphicFramePr>
            <a:graphicFrameLocks noChangeAspect="1"/>
          </p:cNvGraphicFramePr>
          <p:nvPr>
            <p:extLst/>
          </p:nvPr>
        </p:nvGraphicFramePr>
        <p:xfrm>
          <a:off x="1976438" y="1690756"/>
          <a:ext cx="2267379" cy="930207"/>
        </p:xfrm>
        <a:graphic>
          <a:graphicData uri="http://schemas.openxmlformats.org/presentationml/2006/ole">
            <mc:AlternateContent xmlns:mc="http://schemas.openxmlformats.org/markup-compatibility/2006">
              <mc:Choice xmlns:v="urn:schemas-microsoft-com:vml" Requires="v">
                <p:oleObj spid="_x0000_s179268" name="公式" r:id="rId3" imgW="812520" imgH="393480" progId="Equation.3">
                  <p:embed/>
                </p:oleObj>
              </mc:Choice>
              <mc:Fallback>
                <p:oleObj name="公式" r:id="rId3" imgW="812520" imgH="393480" progId="Equation.3">
                  <p:embed/>
                  <p:pic>
                    <p:nvPicPr>
                      <p:cNvPr id="111619" name="Object 3"/>
                      <p:cNvPicPr>
                        <a:picLocks noChangeAspect="1" noChangeArrowheads="1"/>
                      </p:cNvPicPr>
                      <p:nvPr/>
                    </p:nvPicPr>
                    <p:blipFill>
                      <a:blip r:embed="rId4"/>
                      <a:srcRect/>
                      <a:stretch>
                        <a:fillRect/>
                      </a:stretch>
                    </p:blipFill>
                    <p:spPr bwMode="auto">
                      <a:xfrm>
                        <a:off x="1976438" y="1690756"/>
                        <a:ext cx="2267379" cy="930207"/>
                      </a:xfrm>
                      <a:prstGeom prst="rect">
                        <a:avLst/>
                      </a:prstGeom>
                      <a:noFill/>
                      <a:ln>
                        <a:noFill/>
                      </a:ln>
                      <a:effectLst/>
                      <a:extLst/>
                    </p:spPr>
                  </p:pic>
                </p:oleObj>
              </mc:Fallback>
            </mc:AlternateContent>
          </a:graphicData>
        </a:graphic>
      </p:graphicFrame>
      <p:graphicFrame>
        <p:nvGraphicFramePr>
          <p:cNvPr id="111620" name="Object 4"/>
          <p:cNvGraphicFramePr>
            <a:graphicFrameLocks noChangeAspect="1"/>
          </p:cNvGraphicFramePr>
          <p:nvPr>
            <p:extLst/>
          </p:nvPr>
        </p:nvGraphicFramePr>
        <p:xfrm>
          <a:off x="5004048" y="1707789"/>
          <a:ext cx="2247031" cy="907607"/>
        </p:xfrm>
        <a:graphic>
          <a:graphicData uri="http://schemas.openxmlformats.org/presentationml/2006/ole">
            <mc:AlternateContent xmlns:mc="http://schemas.openxmlformats.org/markup-compatibility/2006">
              <mc:Choice xmlns:v="urn:schemas-microsoft-com:vml" Requires="v">
                <p:oleObj spid="_x0000_s179269" name="公式" r:id="rId5" imgW="825480" imgH="393480" progId="Equation.3">
                  <p:embed/>
                </p:oleObj>
              </mc:Choice>
              <mc:Fallback>
                <p:oleObj name="公式" r:id="rId5" imgW="825480" imgH="393480" progId="Equation.3">
                  <p:embed/>
                  <p:pic>
                    <p:nvPicPr>
                      <p:cNvPr id="111620" name="Object 4"/>
                      <p:cNvPicPr>
                        <a:picLocks noChangeAspect="1" noChangeArrowheads="1"/>
                      </p:cNvPicPr>
                      <p:nvPr/>
                    </p:nvPicPr>
                    <p:blipFill>
                      <a:blip r:embed="rId6"/>
                      <a:srcRect/>
                      <a:stretch>
                        <a:fillRect/>
                      </a:stretch>
                    </p:blipFill>
                    <p:spPr bwMode="auto">
                      <a:xfrm>
                        <a:off x="5004048" y="1707789"/>
                        <a:ext cx="2247031" cy="907607"/>
                      </a:xfrm>
                      <a:prstGeom prst="rect">
                        <a:avLst/>
                      </a:prstGeom>
                      <a:noFill/>
                      <a:ln>
                        <a:noFill/>
                      </a:ln>
                      <a:effectLst/>
                      <a:extLst/>
                    </p:spPr>
                  </p:pic>
                </p:oleObj>
              </mc:Fallback>
            </mc:AlternateContent>
          </a:graphicData>
        </a:graphic>
      </p:graphicFrame>
      <p:sp>
        <p:nvSpPr>
          <p:cNvPr id="111621" name="Rectangle 5"/>
          <p:cNvSpPr>
            <a:spLocks noChangeArrowheads="1"/>
          </p:cNvSpPr>
          <p:nvPr/>
        </p:nvSpPr>
        <p:spPr bwMode="auto">
          <a:xfrm>
            <a:off x="468313" y="2924175"/>
            <a:ext cx="3886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1" lang="zh-CN" altLang="en-US"/>
              <a:t>总熵变：        </a:t>
            </a:r>
          </a:p>
        </p:txBody>
      </p:sp>
      <p:graphicFrame>
        <p:nvGraphicFramePr>
          <p:cNvPr id="111622" name="Object 6"/>
          <p:cNvGraphicFramePr>
            <a:graphicFrameLocks noChangeAspect="1"/>
          </p:cNvGraphicFramePr>
          <p:nvPr>
            <p:extLst/>
          </p:nvPr>
        </p:nvGraphicFramePr>
        <p:xfrm>
          <a:off x="1368425" y="3645024"/>
          <a:ext cx="3259604" cy="865064"/>
        </p:xfrm>
        <a:graphic>
          <a:graphicData uri="http://schemas.openxmlformats.org/presentationml/2006/ole">
            <mc:AlternateContent xmlns:mc="http://schemas.openxmlformats.org/markup-compatibility/2006">
              <mc:Choice xmlns:v="urn:schemas-microsoft-com:vml" Requires="v">
                <p:oleObj spid="_x0000_s179270" name="公式" r:id="rId7" imgW="1257120" imgH="393480" progId="Equation.3">
                  <p:embed/>
                </p:oleObj>
              </mc:Choice>
              <mc:Fallback>
                <p:oleObj name="公式" r:id="rId7" imgW="1257120" imgH="393480" progId="Equation.3">
                  <p:embed/>
                  <p:pic>
                    <p:nvPicPr>
                      <p:cNvPr id="111622" name="Object 6"/>
                      <p:cNvPicPr>
                        <a:picLocks noChangeAspect="1" noChangeArrowheads="1"/>
                      </p:cNvPicPr>
                      <p:nvPr/>
                    </p:nvPicPr>
                    <p:blipFill>
                      <a:blip r:embed="rId8"/>
                      <a:srcRect/>
                      <a:stretch>
                        <a:fillRect/>
                      </a:stretch>
                    </p:blipFill>
                    <p:spPr bwMode="auto">
                      <a:xfrm>
                        <a:off x="1368425" y="3645024"/>
                        <a:ext cx="3259604" cy="865064"/>
                      </a:xfrm>
                      <a:prstGeom prst="rect">
                        <a:avLst/>
                      </a:prstGeom>
                      <a:noFill/>
                      <a:ln>
                        <a:noFill/>
                      </a:ln>
                      <a:effectLst/>
                      <a:extLst/>
                    </p:spPr>
                  </p:pic>
                </p:oleObj>
              </mc:Fallback>
            </mc:AlternateContent>
          </a:graphicData>
        </a:graphic>
      </p:graphicFrame>
      <p:graphicFrame>
        <p:nvGraphicFramePr>
          <p:cNvPr id="111623" name="Object 7"/>
          <p:cNvGraphicFramePr>
            <a:graphicFrameLocks noChangeAspect="1"/>
          </p:cNvGraphicFramePr>
          <p:nvPr>
            <p:extLst/>
          </p:nvPr>
        </p:nvGraphicFramePr>
        <p:xfrm>
          <a:off x="4694500" y="3618177"/>
          <a:ext cx="3748168" cy="901701"/>
        </p:xfrm>
        <a:graphic>
          <a:graphicData uri="http://schemas.openxmlformats.org/presentationml/2006/ole">
            <mc:AlternateContent xmlns:mc="http://schemas.openxmlformats.org/markup-compatibility/2006">
              <mc:Choice xmlns:v="urn:schemas-microsoft-com:vml" Requires="v">
                <p:oleObj spid="_x0000_s179271" name="公式" r:id="rId9" imgW="1384200" imgH="393480" progId="Equation.3">
                  <p:embed/>
                </p:oleObj>
              </mc:Choice>
              <mc:Fallback>
                <p:oleObj name="公式" r:id="rId9" imgW="1384200" imgH="393480" progId="Equation.3">
                  <p:embed/>
                  <p:pic>
                    <p:nvPicPr>
                      <p:cNvPr id="111623" name="Object 7"/>
                      <p:cNvPicPr>
                        <a:picLocks noChangeAspect="1" noChangeArrowheads="1"/>
                      </p:cNvPicPr>
                      <p:nvPr/>
                    </p:nvPicPr>
                    <p:blipFill>
                      <a:blip r:embed="rId10"/>
                      <a:srcRect/>
                      <a:stretch>
                        <a:fillRect/>
                      </a:stretch>
                    </p:blipFill>
                    <p:spPr bwMode="auto">
                      <a:xfrm>
                        <a:off x="4694500" y="3618177"/>
                        <a:ext cx="3748168" cy="901701"/>
                      </a:xfrm>
                      <a:prstGeom prst="rect">
                        <a:avLst/>
                      </a:prstGeom>
                      <a:noFill/>
                      <a:ln>
                        <a:noFill/>
                      </a:ln>
                      <a:effectLst/>
                      <a:extLst/>
                    </p:spPr>
                  </p:pic>
                </p:oleObj>
              </mc:Fallback>
            </mc:AlternateContent>
          </a:graphicData>
        </a:graphic>
      </p:graphicFrame>
      <p:graphicFrame>
        <p:nvGraphicFramePr>
          <p:cNvPr id="111624" name="Object 8"/>
          <p:cNvGraphicFramePr>
            <a:graphicFrameLocks noChangeAspect="1"/>
          </p:cNvGraphicFramePr>
          <p:nvPr>
            <p:extLst/>
          </p:nvPr>
        </p:nvGraphicFramePr>
        <p:xfrm>
          <a:off x="1869008" y="4785790"/>
          <a:ext cx="3207048" cy="913335"/>
        </p:xfrm>
        <a:graphic>
          <a:graphicData uri="http://schemas.openxmlformats.org/presentationml/2006/ole">
            <mc:AlternateContent xmlns:mc="http://schemas.openxmlformats.org/markup-compatibility/2006">
              <mc:Choice xmlns:v="urn:schemas-microsoft-com:vml" Requires="v">
                <p:oleObj spid="_x0000_s179272" name="公式" r:id="rId11" imgW="1282680" imgH="431640" progId="Equation.3">
                  <p:embed/>
                </p:oleObj>
              </mc:Choice>
              <mc:Fallback>
                <p:oleObj name="公式" r:id="rId11" imgW="1282680" imgH="431640" progId="Equation.3">
                  <p:embed/>
                  <p:pic>
                    <p:nvPicPr>
                      <p:cNvPr id="111624" name="Object 8"/>
                      <p:cNvPicPr>
                        <a:picLocks noChangeAspect="1" noChangeArrowheads="1"/>
                      </p:cNvPicPr>
                      <p:nvPr/>
                    </p:nvPicPr>
                    <p:blipFill>
                      <a:blip r:embed="rId12"/>
                      <a:srcRect/>
                      <a:stretch>
                        <a:fillRect/>
                      </a:stretch>
                    </p:blipFill>
                    <p:spPr bwMode="auto">
                      <a:xfrm>
                        <a:off x="1869008" y="4785790"/>
                        <a:ext cx="3207048" cy="913335"/>
                      </a:xfrm>
                      <a:prstGeom prst="rect">
                        <a:avLst/>
                      </a:prstGeom>
                      <a:noFill/>
                      <a:ln>
                        <a:noFill/>
                      </a:ln>
                      <a:effectLst/>
                      <a:extLst/>
                    </p:spPr>
                  </p:pic>
                </p:oleObj>
              </mc:Fallback>
            </mc:AlternateContent>
          </a:graphicData>
        </a:graphic>
      </p:graphicFrame>
      <p:sp>
        <p:nvSpPr>
          <p:cNvPr id="111625" name="Text Box 9"/>
          <p:cNvSpPr txBox="1">
            <a:spLocks noChangeArrowheads="1"/>
          </p:cNvSpPr>
          <p:nvPr/>
        </p:nvSpPr>
        <p:spPr bwMode="auto">
          <a:xfrm>
            <a:off x="395288" y="404813"/>
            <a:ext cx="81534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kumimoji="1" lang="zh-CN" altLang="en-US" sz="2800"/>
              <a:t>（</a:t>
            </a:r>
            <a:r>
              <a:rPr kumimoji="1" lang="en-US" altLang="zh-CN" sz="2800"/>
              <a:t>2</a:t>
            </a:r>
            <a:r>
              <a:rPr kumimoji="1" lang="zh-CN" altLang="en-US" sz="2800"/>
              <a:t>）假设固体的升温过程是可逆的，液体的降温过程也是可逆的，则</a:t>
            </a:r>
          </a:p>
        </p:txBody>
      </p:sp>
      <p:graphicFrame>
        <p:nvGraphicFramePr>
          <p:cNvPr id="111626" name="Object 10"/>
          <p:cNvGraphicFramePr>
            <a:graphicFrameLocks noChangeAspect="1"/>
          </p:cNvGraphicFramePr>
          <p:nvPr>
            <p:extLst/>
          </p:nvPr>
        </p:nvGraphicFramePr>
        <p:xfrm>
          <a:off x="5220072" y="4986903"/>
          <a:ext cx="578986" cy="426047"/>
        </p:xfrm>
        <a:graphic>
          <a:graphicData uri="http://schemas.openxmlformats.org/presentationml/2006/ole">
            <mc:AlternateContent xmlns:mc="http://schemas.openxmlformats.org/markup-compatibility/2006">
              <mc:Choice xmlns:v="urn:schemas-microsoft-com:vml" Requires="v">
                <p:oleObj spid="_x0000_s179273" name="公式" r:id="rId13" imgW="241200" imgH="177480" progId="Equation.3">
                  <p:embed/>
                </p:oleObj>
              </mc:Choice>
              <mc:Fallback>
                <p:oleObj name="公式" r:id="rId13" imgW="241200" imgH="177480" progId="Equation.3">
                  <p:embed/>
                  <p:pic>
                    <p:nvPicPr>
                      <p:cNvPr id="111626" name="Object 10"/>
                      <p:cNvPicPr>
                        <a:picLocks noChangeAspect="1" noChangeArrowheads="1"/>
                      </p:cNvPicPr>
                      <p:nvPr/>
                    </p:nvPicPr>
                    <p:blipFill>
                      <a:blip r:embed="rId14"/>
                      <a:srcRect/>
                      <a:stretch>
                        <a:fillRect/>
                      </a:stretch>
                    </p:blipFill>
                    <p:spPr bwMode="auto">
                      <a:xfrm>
                        <a:off x="5220072" y="4986903"/>
                        <a:ext cx="578986" cy="426047"/>
                      </a:xfrm>
                      <a:prstGeom prst="rect">
                        <a:avLst/>
                      </a:prstGeom>
                      <a:noFill/>
                      <a:ln>
                        <a:noFill/>
                      </a:ln>
                      <a:effectLs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1625">
                                            <p:txEl>
                                              <p:pRg st="0" end="0"/>
                                            </p:txEl>
                                          </p:spTgt>
                                        </p:tgtEl>
                                        <p:attrNameLst>
                                          <p:attrName>style.visibility</p:attrName>
                                        </p:attrNameLst>
                                      </p:cBhvr>
                                      <p:to>
                                        <p:strVal val="visible"/>
                                      </p:to>
                                    </p:set>
                                    <p:animEffect transition="in" filter="wipe(left)">
                                      <p:cBhvr>
                                        <p:cTn id="7" dur="500"/>
                                        <p:tgtEl>
                                          <p:spTgt spid="1116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1619"/>
                                        </p:tgtEl>
                                        <p:attrNameLst>
                                          <p:attrName>style.visibility</p:attrName>
                                        </p:attrNameLst>
                                      </p:cBhvr>
                                      <p:to>
                                        <p:strVal val="visible"/>
                                      </p:to>
                                    </p:set>
                                    <p:animEffect transition="in" filter="wipe(left)">
                                      <p:cBhvr>
                                        <p:cTn id="12" dur="500"/>
                                        <p:tgtEl>
                                          <p:spTgt spid="1116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1620"/>
                                        </p:tgtEl>
                                        <p:attrNameLst>
                                          <p:attrName>style.visibility</p:attrName>
                                        </p:attrNameLst>
                                      </p:cBhvr>
                                      <p:to>
                                        <p:strVal val="visible"/>
                                      </p:to>
                                    </p:set>
                                    <p:animEffect transition="in" filter="wipe(left)">
                                      <p:cBhvr>
                                        <p:cTn id="17" dur="500"/>
                                        <p:tgtEl>
                                          <p:spTgt spid="1116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1621">
                                            <p:txEl>
                                              <p:pRg st="0" end="0"/>
                                            </p:txEl>
                                          </p:spTgt>
                                        </p:tgtEl>
                                        <p:attrNameLst>
                                          <p:attrName>style.visibility</p:attrName>
                                        </p:attrNameLst>
                                      </p:cBhvr>
                                      <p:to>
                                        <p:strVal val="visible"/>
                                      </p:to>
                                    </p:set>
                                    <p:animEffect transition="in" filter="wipe(left)">
                                      <p:cBhvr>
                                        <p:cTn id="22" dur="500"/>
                                        <p:tgtEl>
                                          <p:spTgt spid="11162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1622"/>
                                        </p:tgtEl>
                                        <p:attrNameLst>
                                          <p:attrName>style.visibility</p:attrName>
                                        </p:attrNameLst>
                                      </p:cBhvr>
                                      <p:to>
                                        <p:strVal val="visible"/>
                                      </p:to>
                                    </p:set>
                                    <p:animEffect transition="in" filter="wipe(left)">
                                      <p:cBhvr>
                                        <p:cTn id="27" dur="500"/>
                                        <p:tgtEl>
                                          <p:spTgt spid="1116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11623"/>
                                        </p:tgtEl>
                                        <p:attrNameLst>
                                          <p:attrName>style.visibility</p:attrName>
                                        </p:attrNameLst>
                                      </p:cBhvr>
                                      <p:to>
                                        <p:strVal val="visible"/>
                                      </p:to>
                                    </p:set>
                                    <p:animEffect transition="in" filter="wipe(left)">
                                      <p:cBhvr>
                                        <p:cTn id="32" dur="500"/>
                                        <p:tgtEl>
                                          <p:spTgt spid="1116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11624"/>
                                        </p:tgtEl>
                                        <p:attrNameLst>
                                          <p:attrName>style.visibility</p:attrName>
                                        </p:attrNameLst>
                                      </p:cBhvr>
                                      <p:to>
                                        <p:strVal val="visible"/>
                                      </p:to>
                                    </p:set>
                                    <p:animEffect transition="in" filter="wipe(left)">
                                      <p:cBhvr>
                                        <p:cTn id="37" dur="500"/>
                                        <p:tgtEl>
                                          <p:spTgt spid="111624"/>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111626"/>
                                        </p:tgtEl>
                                        <p:attrNameLst>
                                          <p:attrName>style.visibility</p:attrName>
                                        </p:attrNameLst>
                                      </p:cBhvr>
                                      <p:to>
                                        <p:strVal val="visible"/>
                                      </p:to>
                                    </p:set>
                                    <p:animEffect transition="in" filter="wipe(left)">
                                      <p:cBhvr>
                                        <p:cTn id="41" dur="500"/>
                                        <p:tgtEl>
                                          <p:spTgt spid="111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1" grpId="0" build="p" autoUpdateAnimBg="0"/>
      <p:bldP spid="111625"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
          <p:cNvSpPr txBox="1">
            <a:spLocks noChangeArrowheads="1"/>
          </p:cNvSpPr>
          <p:nvPr/>
        </p:nvSpPr>
        <p:spPr bwMode="auto">
          <a:xfrm>
            <a:off x="-108520" y="1556792"/>
            <a:ext cx="8964613" cy="454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4000" b="1">
                <a:solidFill>
                  <a:srgbClr val="FF3300"/>
                </a:solidFill>
                <a:ea typeface="楷体_GB2312"/>
                <a:cs typeface="楷体_GB2312"/>
              </a:rPr>
              <a:t>11</a:t>
            </a:r>
            <a:r>
              <a:rPr lang="zh-CN" altLang="en-US" sz="4000" b="1">
                <a:solidFill>
                  <a:srgbClr val="FF3300"/>
                </a:solidFill>
                <a:ea typeface="楷体_GB2312"/>
                <a:cs typeface="楷体_GB2312"/>
              </a:rPr>
              <a:t>月</a:t>
            </a:r>
            <a:r>
              <a:rPr lang="en-US" altLang="zh-CN" sz="4000" b="1">
                <a:solidFill>
                  <a:srgbClr val="FF3300"/>
                </a:solidFill>
                <a:ea typeface="楷体_GB2312"/>
                <a:cs typeface="楷体_GB2312"/>
              </a:rPr>
              <a:t>25</a:t>
            </a:r>
            <a:r>
              <a:rPr lang="zh-CN" altLang="en-US" sz="4000" b="1">
                <a:solidFill>
                  <a:srgbClr val="FF3300"/>
                </a:solidFill>
                <a:ea typeface="楷体_GB2312"/>
                <a:cs typeface="楷体_GB2312"/>
              </a:rPr>
              <a:t>号作业：</a:t>
            </a:r>
          </a:p>
          <a:p>
            <a:pPr lvl="1" eaLnBrk="1" hangingPunct="1">
              <a:buFontTx/>
              <a:buNone/>
            </a:pPr>
            <a:r>
              <a:rPr lang="en-US" altLang="zh-CN" sz="4000" b="1" i="0">
                <a:solidFill>
                  <a:srgbClr val="FF3300"/>
                </a:solidFill>
                <a:ea typeface="楷体_GB2312"/>
                <a:cs typeface="楷体_GB2312"/>
              </a:rPr>
              <a:t>6- 15</a:t>
            </a:r>
            <a:r>
              <a:rPr lang="zh-CN" altLang="en-US" sz="4000" b="1" i="0">
                <a:solidFill>
                  <a:srgbClr val="FF3300"/>
                </a:solidFill>
                <a:ea typeface="楷体_GB2312"/>
                <a:cs typeface="楷体_GB2312"/>
              </a:rPr>
              <a:t>，</a:t>
            </a:r>
            <a:r>
              <a:rPr lang="en-US" altLang="zh-CN" sz="4000" b="1" i="0">
                <a:solidFill>
                  <a:srgbClr val="FF3300"/>
                </a:solidFill>
                <a:ea typeface="楷体_GB2312"/>
                <a:cs typeface="楷体_GB2312"/>
              </a:rPr>
              <a:t>6-16 </a:t>
            </a:r>
            <a:r>
              <a:rPr lang="en-US" altLang="zh-CN" sz="4000" b="1">
                <a:solidFill>
                  <a:srgbClr val="FF3300"/>
                </a:solidFill>
                <a:ea typeface="楷体_GB2312"/>
                <a:cs typeface="楷体_GB2312"/>
              </a:rPr>
              <a:t>,   6-17</a:t>
            </a:r>
            <a:r>
              <a:rPr lang="zh-CN" altLang="en-US" sz="4000" b="1">
                <a:solidFill>
                  <a:srgbClr val="FF3300"/>
                </a:solidFill>
                <a:ea typeface="楷体_GB2312"/>
                <a:cs typeface="楷体_GB2312"/>
              </a:rPr>
              <a:t>，</a:t>
            </a:r>
            <a:r>
              <a:rPr lang="en-US" altLang="zh-CN" sz="4000" b="1" i="0">
                <a:solidFill>
                  <a:srgbClr val="FF3300"/>
                </a:solidFill>
                <a:ea typeface="楷体_GB2312"/>
                <a:cs typeface="楷体_GB2312"/>
              </a:rPr>
              <a:t> </a:t>
            </a:r>
          </a:p>
          <a:p>
            <a:pPr lvl="1" eaLnBrk="1" hangingPunct="1">
              <a:buFontTx/>
              <a:buNone/>
            </a:pPr>
            <a:r>
              <a:rPr lang="en-US" altLang="zh-CN" sz="4000" b="1" i="0">
                <a:solidFill>
                  <a:srgbClr val="FF3300"/>
                </a:solidFill>
                <a:ea typeface="楷体_GB2312"/>
                <a:cs typeface="楷体_GB2312"/>
              </a:rPr>
              <a:t>6-18</a:t>
            </a:r>
            <a:r>
              <a:rPr lang="zh-CN" altLang="en-US" sz="4000" b="1">
                <a:solidFill>
                  <a:srgbClr val="FF3300"/>
                </a:solidFill>
                <a:ea typeface="楷体_GB2312"/>
                <a:cs typeface="楷体_GB2312"/>
              </a:rPr>
              <a:t>，</a:t>
            </a:r>
            <a:r>
              <a:rPr lang="en-US" altLang="zh-CN" sz="4000" b="1">
                <a:solidFill>
                  <a:srgbClr val="FF3300"/>
                </a:solidFill>
                <a:ea typeface="楷体_GB2312"/>
                <a:cs typeface="楷体_GB2312"/>
              </a:rPr>
              <a:t>6-19, </a:t>
            </a:r>
            <a:r>
              <a:rPr lang="en-US" altLang="zh-CN" sz="4400" b="1" i="0">
                <a:solidFill>
                  <a:srgbClr val="FF3300"/>
                </a:solidFill>
                <a:ea typeface="楷体_GB2312"/>
                <a:cs typeface="楷体_GB2312"/>
              </a:rPr>
              <a:t>6-21, 6-22,</a:t>
            </a:r>
            <a:r>
              <a:rPr lang="zh-CN" altLang="en-US" sz="4400" b="1" i="0">
                <a:solidFill>
                  <a:srgbClr val="FF3300"/>
                </a:solidFill>
                <a:ea typeface="楷体_GB2312"/>
                <a:cs typeface="楷体_GB2312"/>
              </a:rPr>
              <a:t> </a:t>
            </a:r>
            <a:endParaRPr lang="en-US" altLang="zh-CN" sz="4400" b="1" i="0">
              <a:solidFill>
                <a:srgbClr val="FF3300"/>
              </a:solidFill>
              <a:ea typeface="楷体_GB2312"/>
              <a:cs typeface="楷体_GB2312"/>
            </a:endParaRPr>
          </a:p>
          <a:p>
            <a:pPr lvl="1" eaLnBrk="1" hangingPunct="1">
              <a:buFontTx/>
              <a:buNone/>
            </a:pPr>
            <a:endParaRPr lang="en-US" altLang="zh-CN" sz="4400" b="1">
              <a:solidFill>
                <a:srgbClr val="FF3300"/>
              </a:solidFill>
              <a:ea typeface="楷体_GB2312"/>
              <a:cs typeface="楷体_GB2312"/>
            </a:endParaRPr>
          </a:p>
          <a:p>
            <a:pPr lvl="1" eaLnBrk="1" hangingPunct="1">
              <a:buNone/>
            </a:pPr>
            <a:endParaRPr lang="en-US" altLang="zh-CN" sz="4000" b="1" i="0">
              <a:solidFill>
                <a:srgbClr val="FF3300"/>
              </a:solidFill>
              <a:ea typeface="楷体_GB2312"/>
              <a:cs typeface="楷体_GB2312"/>
            </a:endParaRPr>
          </a:p>
          <a:p>
            <a:pPr lvl="1" eaLnBrk="1" hangingPunct="1">
              <a:buFontTx/>
              <a:buNone/>
            </a:pPr>
            <a:endParaRPr lang="en-US" altLang="zh-CN" sz="4000" b="1">
              <a:solidFill>
                <a:srgbClr val="FF3300"/>
              </a:solidFill>
              <a:ea typeface="楷体_GB2312"/>
              <a:cs typeface="楷体_GB2312"/>
            </a:endParaRPr>
          </a:p>
        </p:txBody>
      </p:sp>
    </p:spTree>
    <p:extLst>
      <p:ext uri="{BB962C8B-B14F-4D97-AF65-F5344CB8AC3E}">
        <p14:creationId xmlns:p14="http://schemas.microsoft.com/office/powerpoint/2010/main" val="274757646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54"/>
          <p:cNvSpPr>
            <a:spLocks noChangeArrowheads="1"/>
          </p:cNvSpPr>
          <p:nvPr/>
        </p:nvSpPr>
        <p:spPr bwMode="auto">
          <a:xfrm>
            <a:off x="35496" y="-62101"/>
            <a:ext cx="9036496" cy="6858000"/>
          </a:xfrm>
          <a:prstGeom prst="rect">
            <a:avLst/>
          </a:prstGeom>
          <a:gradFill rotWithShape="0">
            <a:gsLst>
              <a:gs pos="0">
                <a:srgbClr val="FBFFA7"/>
              </a:gs>
              <a:gs pos="50000">
                <a:srgbClr val="FFFFFF"/>
              </a:gs>
              <a:gs pos="100000">
                <a:srgbClr val="FBFFA7"/>
              </a:gs>
            </a:gsLst>
            <a:lin ang="2700000" scaled="1"/>
          </a:gra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kumimoji="0" lang="en-US" altLang="zh-CN" b="1">
              <a:solidFill>
                <a:srgbClr val="BF4766"/>
              </a:solidFill>
            </a:endParaRPr>
          </a:p>
        </p:txBody>
      </p:sp>
      <p:sp>
        <p:nvSpPr>
          <p:cNvPr id="112643" name="Rectangle 3"/>
          <p:cNvSpPr>
            <a:spLocks noChangeArrowheads="1"/>
          </p:cNvSpPr>
          <p:nvPr/>
        </p:nvSpPr>
        <p:spPr bwMode="auto">
          <a:xfrm>
            <a:off x="2771800" y="216832"/>
            <a:ext cx="3048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zh-CN" altLang="en-US" sz="3200" b="1" dirty="0">
                <a:solidFill>
                  <a:srgbClr val="009900"/>
                </a:solidFill>
                <a:ea typeface="楷体_GB2312" pitchFamily="49" charset="-122"/>
              </a:rPr>
              <a:t>上节内容回顾</a:t>
            </a:r>
          </a:p>
        </p:txBody>
      </p:sp>
      <p:sp>
        <p:nvSpPr>
          <p:cNvPr id="112692" name="Text Box 52"/>
          <p:cNvSpPr txBox="1">
            <a:spLocks noChangeArrowheads="1"/>
          </p:cNvSpPr>
          <p:nvPr/>
        </p:nvSpPr>
        <p:spPr bwMode="auto">
          <a:xfrm>
            <a:off x="24574" y="692696"/>
            <a:ext cx="24796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endParaRPr lang="en-US" altLang="zh-CN" sz="2400" b="1">
              <a:latin typeface="宋体" pitchFamily="2" charset="-122"/>
            </a:endParaRPr>
          </a:p>
          <a:p>
            <a:pPr algn="l" eaLnBrk="1" hangingPunct="1">
              <a:buFontTx/>
              <a:buChar char="•"/>
            </a:pPr>
            <a:r>
              <a:rPr lang="zh-CN" altLang="en-US" sz="2400" b="1">
                <a:latin typeface="宋体" pitchFamily="2" charset="-122"/>
              </a:rPr>
              <a:t>热机和制冷机</a:t>
            </a:r>
          </a:p>
          <a:p>
            <a:pPr algn="l" eaLnBrk="1" hangingPunct="1">
              <a:buFontTx/>
              <a:buChar char="•"/>
            </a:pPr>
            <a:endParaRPr lang="zh-CN" altLang="en-US" sz="2400" b="1">
              <a:latin typeface="宋体" pitchFamily="2" charset="-122"/>
            </a:endParaRPr>
          </a:p>
          <a:p>
            <a:pPr algn="l" eaLnBrk="1" hangingPunct="1">
              <a:buFontTx/>
              <a:buChar char="•"/>
            </a:pPr>
            <a:r>
              <a:rPr lang="zh-CN" altLang="en-US" sz="2400" b="1">
                <a:latin typeface="宋体" pitchFamily="2" charset="-122"/>
              </a:rPr>
              <a:t>卡诺循环热机和</a:t>
            </a:r>
            <a:r>
              <a:rPr lang="zh-CN" altLang="en-US" b="1"/>
              <a:t>致冷机</a:t>
            </a:r>
          </a:p>
        </p:txBody>
      </p:sp>
      <p:graphicFrame>
        <p:nvGraphicFramePr>
          <p:cNvPr id="112693" name="Object 53"/>
          <p:cNvGraphicFramePr>
            <a:graphicFrameLocks noChangeAspect="1"/>
          </p:cNvGraphicFramePr>
          <p:nvPr>
            <p:extLst/>
          </p:nvPr>
        </p:nvGraphicFramePr>
        <p:xfrm>
          <a:off x="2299471" y="1573475"/>
          <a:ext cx="2411412" cy="1208088"/>
        </p:xfrm>
        <a:graphic>
          <a:graphicData uri="http://schemas.openxmlformats.org/presentationml/2006/ole">
            <mc:AlternateContent xmlns:mc="http://schemas.openxmlformats.org/markup-compatibility/2006">
              <mc:Choice xmlns:v="urn:schemas-microsoft-com:vml" Requires="v">
                <p:oleObj spid="_x0000_s182316" name="公式" r:id="rId3" imgW="660113" imgH="444307" progId="Equation.3">
                  <p:embed/>
                </p:oleObj>
              </mc:Choice>
              <mc:Fallback>
                <p:oleObj name="公式" r:id="rId3" imgW="660113" imgH="444307" progId="Equation.3">
                  <p:embed/>
                  <p:pic>
                    <p:nvPicPr>
                      <p:cNvPr id="112693" name="Object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9471" y="1573475"/>
                        <a:ext cx="2411412" cy="1208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95" name="Object 55"/>
          <p:cNvGraphicFramePr>
            <a:graphicFrameLocks noChangeAspect="1"/>
          </p:cNvGraphicFramePr>
          <p:nvPr>
            <p:extLst/>
          </p:nvPr>
        </p:nvGraphicFramePr>
        <p:xfrm>
          <a:off x="2321175" y="823243"/>
          <a:ext cx="3212827" cy="826402"/>
        </p:xfrm>
        <a:graphic>
          <a:graphicData uri="http://schemas.openxmlformats.org/presentationml/2006/ole">
            <mc:AlternateContent xmlns:mc="http://schemas.openxmlformats.org/markup-compatibility/2006">
              <mc:Choice xmlns:v="urn:schemas-microsoft-com:vml" Requires="v">
                <p:oleObj spid="_x0000_s182317" name="Equation" r:id="rId5" imgW="1968480" imgH="507960" progId="Equation.DSMT4">
                  <p:embed/>
                </p:oleObj>
              </mc:Choice>
              <mc:Fallback>
                <p:oleObj name="Equation" r:id="rId5" imgW="1968480" imgH="507960" progId="Equation.DSMT4">
                  <p:embed/>
                  <p:pic>
                    <p:nvPicPr>
                      <p:cNvPr id="112695" name="Object 55"/>
                      <p:cNvPicPr>
                        <a:picLocks noChangeAspect="1" noChangeArrowheads="1"/>
                      </p:cNvPicPr>
                      <p:nvPr/>
                    </p:nvPicPr>
                    <p:blipFill>
                      <a:blip r:embed="rId6"/>
                      <a:srcRect/>
                      <a:stretch>
                        <a:fillRect/>
                      </a:stretch>
                    </p:blipFill>
                    <p:spPr bwMode="auto">
                      <a:xfrm>
                        <a:off x="2321175" y="823243"/>
                        <a:ext cx="3212827" cy="826402"/>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graphicFrame>
        <p:nvGraphicFramePr>
          <p:cNvPr id="112697" name="Object 57"/>
          <p:cNvGraphicFramePr>
            <a:graphicFrameLocks noChangeAspect="1"/>
          </p:cNvGraphicFramePr>
          <p:nvPr>
            <p:extLst/>
          </p:nvPr>
        </p:nvGraphicFramePr>
        <p:xfrm>
          <a:off x="5226681" y="1770824"/>
          <a:ext cx="3518198" cy="940023"/>
        </p:xfrm>
        <a:graphic>
          <a:graphicData uri="http://schemas.openxmlformats.org/presentationml/2006/ole">
            <mc:AlternateContent xmlns:mc="http://schemas.openxmlformats.org/markup-compatibility/2006">
              <mc:Choice xmlns:v="urn:schemas-microsoft-com:vml" Requires="v">
                <p:oleObj spid="_x0000_s182318" name="Equation" r:id="rId7" imgW="1685841" imgH="400185" progId="Equation.DSMT4">
                  <p:embed/>
                </p:oleObj>
              </mc:Choice>
              <mc:Fallback>
                <p:oleObj name="Equation" r:id="rId7" imgW="1685841" imgH="400185" progId="Equation.DSMT4">
                  <p:embed/>
                  <p:pic>
                    <p:nvPicPr>
                      <p:cNvPr id="112697" name="Object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26681" y="1770824"/>
                        <a:ext cx="3518198" cy="940023"/>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graphicFrame>
        <p:nvGraphicFramePr>
          <p:cNvPr id="9" name="对象 8"/>
          <p:cNvGraphicFramePr>
            <a:graphicFrameLocks noChangeAspect="1"/>
          </p:cNvGraphicFramePr>
          <p:nvPr>
            <p:extLst/>
          </p:nvPr>
        </p:nvGraphicFramePr>
        <p:xfrm>
          <a:off x="5625803" y="845005"/>
          <a:ext cx="3518197" cy="777517"/>
        </p:xfrm>
        <a:graphic>
          <a:graphicData uri="http://schemas.openxmlformats.org/presentationml/2006/ole">
            <mc:AlternateContent xmlns:mc="http://schemas.openxmlformats.org/markup-compatibility/2006">
              <mc:Choice xmlns:v="urn:schemas-microsoft-com:vml" Requires="v">
                <p:oleObj spid="_x0000_s182319" name="Equation" r:id="rId9" imgW="2286000" imgH="507960" progId="Equation.DSMT4">
                  <p:embed/>
                </p:oleObj>
              </mc:Choice>
              <mc:Fallback>
                <p:oleObj name="Equation" r:id="rId9" imgW="2286000" imgH="507960" progId="Equation.DSMT4">
                  <p:embed/>
                  <p:pic>
                    <p:nvPicPr>
                      <p:cNvPr id="9" name="对象 8"/>
                      <p:cNvPicPr>
                        <a:picLocks noChangeAspect="1" noChangeArrowheads="1"/>
                      </p:cNvPicPr>
                      <p:nvPr/>
                    </p:nvPicPr>
                    <p:blipFill>
                      <a:blip r:embed="rId10"/>
                      <a:srcRect/>
                      <a:stretch>
                        <a:fillRect/>
                      </a:stretch>
                    </p:blipFill>
                    <p:spPr bwMode="auto">
                      <a:xfrm>
                        <a:off x="5625803" y="845005"/>
                        <a:ext cx="3518197" cy="777517"/>
                      </a:xfrm>
                      <a:prstGeom prst="rect">
                        <a:avLst/>
                      </a:prstGeom>
                      <a:gradFill rotWithShape="0">
                        <a:gsLst>
                          <a:gs pos="0">
                            <a:schemeClr val="accent1"/>
                          </a:gs>
                          <a:gs pos="50000">
                            <a:srgbClr val="FFFFFF"/>
                          </a:gs>
                          <a:gs pos="100000">
                            <a:schemeClr val="accent1"/>
                          </a:gs>
                        </a:gsLst>
                        <a:lin ang="5400000" scaled="1"/>
                      </a:gradFill>
                      <a:ln>
                        <a:noFill/>
                      </a:ln>
                      <a:extLst/>
                    </p:spPr>
                  </p:pic>
                </p:oleObj>
              </mc:Fallback>
            </mc:AlternateContent>
          </a:graphicData>
        </a:graphic>
      </p:graphicFrame>
      <p:sp>
        <p:nvSpPr>
          <p:cNvPr id="10" name="Text Box 3">
            <a:extLst>
              <a:ext uri="{FF2B5EF4-FFF2-40B4-BE49-F238E27FC236}">
                <a16:creationId xmlns:a16="http://schemas.microsoft.com/office/drawing/2014/main" id="{0631D565-D9AB-488E-BB62-43106CECF5A1}"/>
              </a:ext>
            </a:extLst>
          </p:cNvPr>
          <p:cNvSpPr txBox="1">
            <a:spLocks noChangeArrowheads="1"/>
          </p:cNvSpPr>
          <p:nvPr/>
        </p:nvSpPr>
        <p:spPr bwMode="auto">
          <a:xfrm>
            <a:off x="137454" y="2631971"/>
            <a:ext cx="5280025"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Clr>
                <a:srgbClr val="3366FF"/>
              </a:buClr>
              <a:buFont typeface="Wingdings" pitchFamily="2" charset="2"/>
              <a:buNone/>
            </a:pPr>
            <a:r>
              <a:rPr lang="zh-CN" altLang="en-US" b="1">
                <a:solidFill>
                  <a:srgbClr val="3333FF"/>
                </a:solidFill>
                <a:ea typeface="楷体_GB2312" pitchFamily="49" charset="-122"/>
              </a:rPr>
              <a:t>热力学第二定律的两种表述</a:t>
            </a:r>
            <a:endParaRPr lang="zh-CN" altLang="en-US" b="1">
              <a:latin typeface="楷体_GB2312" pitchFamily="49" charset="-122"/>
              <a:ea typeface="楷体_GB2312" pitchFamily="49" charset="-122"/>
            </a:endParaRPr>
          </a:p>
        </p:txBody>
      </p:sp>
      <p:sp>
        <p:nvSpPr>
          <p:cNvPr id="11" name="Text Box 6">
            <a:extLst>
              <a:ext uri="{FF2B5EF4-FFF2-40B4-BE49-F238E27FC236}">
                <a16:creationId xmlns:a16="http://schemas.microsoft.com/office/drawing/2014/main" id="{D4878CF9-82A7-41B8-9F41-A23B6731BEDC}"/>
              </a:ext>
            </a:extLst>
          </p:cNvPr>
          <p:cNvSpPr txBox="1">
            <a:spLocks noChangeArrowheads="1"/>
          </p:cNvSpPr>
          <p:nvPr/>
        </p:nvSpPr>
        <p:spPr bwMode="auto">
          <a:xfrm>
            <a:off x="134279" y="3069719"/>
            <a:ext cx="86106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b="1">
                <a:solidFill>
                  <a:srgbClr val="FF3300"/>
                </a:solidFill>
                <a:ea typeface="楷体_GB2312" pitchFamily="49" charset="-122"/>
              </a:rPr>
              <a:t>热力学第二定律的开尔文表述</a:t>
            </a:r>
            <a:r>
              <a:rPr lang="en-US" altLang="zh-CN" b="1">
                <a:solidFill>
                  <a:srgbClr val="FF3300"/>
                </a:solidFill>
                <a:ea typeface="楷体_GB2312" pitchFamily="49" charset="-122"/>
              </a:rPr>
              <a:t>: “</a:t>
            </a:r>
            <a:r>
              <a:rPr lang="zh-CN" altLang="en-US" b="1">
                <a:solidFill>
                  <a:schemeClr val="hlink"/>
                </a:solidFill>
                <a:ea typeface="楷体_GB2312" pitchFamily="49" charset="-122"/>
              </a:rPr>
              <a:t>不可能制成一种循环动作的热机，只从单一热源吸取热量，使之全部变为有用的功，而不产生其它影响”</a:t>
            </a:r>
            <a:r>
              <a:rPr lang="en-US" altLang="zh-CN" b="1">
                <a:ea typeface="楷体_GB2312" pitchFamily="49" charset="-122"/>
              </a:rPr>
              <a:t>------</a:t>
            </a:r>
            <a:r>
              <a:rPr lang="zh-CN" altLang="en-US" b="1">
                <a:ea typeface="楷体_GB2312" pitchFamily="49" charset="-122"/>
              </a:rPr>
              <a:t>热与功的转换过程具有方向性，是不可逆的。 </a:t>
            </a:r>
          </a:p>
          <a:p>
            <a:pPr algn="just"/>
            <a:endParaRPr lang="en-US" altLang="zh-CN" b="1">
              <a:solidFill>
                <a:schemeClr val="hlink"/>
              </a:solidFill>
              <a:ea typeface="楷体_GB2312" pitchFamily="49" charset="-122"/>
            </a:endParaRPr>
          </a:p>
        </p:txBody>
      </p:sp>
      <p:sp>
        <p:nvSpPr>
          <p:cNvPr id="12" name="Text Box 2">
            <a:extLst>
              <a:ext uri="{FF2B5EF4-FFF2-40B4-BE49-F238E27FC236}">
                <a16:creationId xmlns:a16="http://schemas.microsoft.com/office/drawing/2014/main" id="{41F3FF37-4332-426E-B031-51C14782B82C}"/>
              </a:ext>
            </a:extLst>
          </p:cNvPr>
          <p:cNvSpPr txBox="1">
            <a:spLocks noChangeArrowheads="1"/>
          </p:cNvSpPr>
          <p:nvPr/>
        </p:nvSpPr>
        <p:spPr bwMode="auto">
          <a:xfrm>
            <a:off x="91801" y="4014407"/>
            <a:ext cx="8991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FontTx/>
              <a:buChar char="•"/>
            </a:pPr>
            <a:r>
              <a:rPr lang="zh-CN" altLang="en-US" b="1">
                <a:solidFill>
                  <a:srgbClr val="FF3300"/>
                </a:solidFill>
                <a:ea typeface="楷体_GB2312" pitchFamily="49" charset="-122"/>
              </a:rPr>
              <a:t>克劳修斯表述：</a:t>
            </a:r>
            <a:r>
              <a:rPr lang="zh-CN" altLang="en-US" b="1">
                <a:ea typeface="楷体_GB2312" pitchFamily="49" charset="-122"/>
              </a:rPr>
              <a:t>“热量不能自动地从低温物体传向高温物体。”   </a:t>
            </a:r>
            <a:r>
              <a:rPr lang="en-US" altLang="zh-CN" b="1">
                <a:ea typeface="楷体_GB2312" pitchFamily="49" charset="-122"/>
              </a:rPr>
              <a:t>——</a:t>
            </a:r>
            <a:r>
              <a:rPr lang="zh-CN" altLang="en-US" b="1">
                <a:solidFill>
                  <a:schemeClr val="hlink"/>
                </a:solidFill>
                <a:ea typeface="楷体_GB2312" pitchFamily="49" charset="-122"/>
              </a:rPr>
              <a:t>热传导过程具有方向性，也是不可逆的</a:t>
            </a:r>
            <a:endParaRPr lang="zh-CN" altLang="en-US" b="1">
              <a:solidFill>
                <a:srgbClr val="0000FF"/>
              </a:solidFill>
              <a:latin typeface="楷体_GB2312" pitchFamily="49" charset="-122"/>
              <a:ea typeface="楷体_GB2312" pitchFamily="49" charset="-122"/>
            </a:endParaRPr>
          </a:p>
        </p:txBody>
      </p:sp>
      <p:graphicFrame>
        <p:nvGraphicFramePr>
          <p:cNvPr id="15" name="Object 4">
            <a:extLst>
              <a:ext uri="{FF2B5EF4-FFF2-40B4-BE49-F238E27FC236}">
                <a16:creationId xmlns:a16="http://schemas.microsoft.com/office/drawing/2014/main" id="{C0AD145D-F6F5-4F97-8F6B-FF855D4D555E}"/>
              </a:ext>
            </a:extLst>
          </p:cNvPr>
          <p:cNvGraphicFramePr>
            <a:graphicFrameLocks noChangeAspect="1"/>
          </p:cNvGraphicFramePr>
          <p:nvPr>
            <p:extLst/>
          </p:nvPr>
        </p:nvGraphicFramePr>
        <p:xfrm>
          <a:off x="5148064" y="5860910"/>
          <a:ext cx="1601582" cy="780258"/>
        </p:xfrm>
        <a:graphic>
          <a:graphicData uri="http://schemas.openxmlformats.org/presentationml/2006/ole">
            <mc:AlternateContent xmlns:mc="http://schemas.openxmlformats.org/markup-compatibility/2006">
              <mc:Choice xmlns:v="urn:schemas-microsoft-com:vml" Requires="v">
                <p:oleObj spid="_x0000_s182320" name="公式" r:id="rId11" imgW="965160" imgH="469800" progId="Equation.3">
                  <p:embed/>
                </p:oleObj>
              </mc:Choice>
              <mc:Fallback>
                <p:oleObj name="公式" r:id="rId11" imgW="965160" imgH="469800" progId="Equation.3">
                  <p:embed/>
                  <p:pic>
                    <p:nvPicPr>
                      <p:cNvPr id="15" name="Object 4">
                        <a:extLst>
                          <a:ext uri="{FF2B5EF4-FFF2-40B4-BE49-F238E27FC236}">
                            <a16:creationId xmlns:a16="http://schemas.microsoft.com/office/drawing/2014/main" id="{C0AD145D-F6F5-4F97-8F6B-FF855D4D555E}"/>
                          </a:ext>
                        </a:extLst>
                      </p:cNvPr>
                      <p:cNvPicPr>
                        <a:picLocks noChangeAspect="1" noChangeArrowheads="1"/>
                      </p:cNvPicPr>
                      <p:nvPr/>
                    </p:nvPicPr>
                    <p:blipFill>
                      <a:blip r:embed="rId12"/>
                      <a:srcRect/>
                      <a:stretch>
                        <a:fillRect/>
                      </a:stretch>
                    </p:blipFill>
                    <p:spPr bwMode="auto">
                      <a:xfrm>
                        <a:off x="5148064" y="5860910"/>
                        <a:ext cx="1601582" cy="780258"/>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
        <p:nvSpPr>
          <p:cNvPr id="18" name="Text Box 10">
            <a:extLst>
              <a:ext uri="{FF2B5EF4-FFF2-40B4-BE49-F238E27FC236}">
                <a16:creationId xmlns:a16="http://schemas.microsoft.com/office/drawing/2014/main" id="{D7889523-95DA-40CB-A760-90608A0E566B}"/>
              </a:ext>
            </a:extLst>
          </p:cNvPr>
          <p:cNvSpPr txBox="1">
            <a:spLocks noChangeArrowheads="1"/>
          </p:cNvSpPr>
          <p:nvPr/>
        </p:nvSpPr>
        <p:spPr bwMode="auto">
          <a:xfrm>
            <a:off x="91801" y="4810882"/>
            <a:ext cx="8893175"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b="1">
                <a:solidFill>
                  <a:schemeClr val="folHlink"/>
                </a:solidFill>
                <a:latin typeface="Arial" pitchFamily="34" charset="0"/>
                <a:ea typeface="楷体_GB2312" pitchFamily="49" charset="-122"/>
              </a:rPr>
              <a:t>熵</a:t>
            </a:r>
            <a:r>
              <a:rPr lang="en-US" altLang="zh-CN" b="1">
                <a:latin typeface="宋体" pitchFamily="2" charset="-122"/>
                <a:ea typeface="楷体_GB2312" pitchFamily="49" charset="-122"/>
              </a:rPr>
              <a:t> </a:t>
            </a:r>
            <a:r>
              <a:rPr lang="zh-CN" altLang="en-US" b="1">
                <a:latin typeface="宋体" pitchFamily="2" charset="-122"/>
                <a:ea typeface="楷体_GB2312" pitchFamily="49" charset="-122"/>
              </a:rPr>
              <a:t>非平衡态可自发向平衡态过渡，但</a:t>
            </a:r>
            <a:r>
              <a:rPr lang="zh-CN" altLang="en-US" b="1">
                <a:ea typeface="楷体_GB2312" pitchFamily="49" charset="-122"/>
              </a:rPr>
              <a:t>平衡态不可能自发向非平衡态过渡。利用熵的概念可以给出一个描述过程进行方向的判据。</a:t>
            </a:r>
            <a:r>
              <a:rPr lang="zh-CN" altLang="en-US" b="1">
                <a:solidFill>
                  <a:srgbClr val="0000FF"/>
                </a:solidFill>
              </a:rPr>
              <a:t>熵是状态的函数，它只决定于始、末态。</a:t>
            </a:r>
            <a:endParaRPr kumimoji="0" lang="en-US" altLang="zh-CN" b="1">
              <a:solidFill>
                <a:srgbClr val="BF4766"/>
              </a:solidFill>
            </a:endParaRPr>
          </a:p>
          <a:p>
            <a:pPr algn="l" eaLnBrk="1" hangingPunct="1"/>
            <a:endParaRPr lang="zh-CN" altLang="en-US" b="1">
              <a:ea typeface="楷体_GB2312" pitchFamily="49" charset="-122"/>
            </a:endParaRPr>
          </a:p>
        </p:txBody>
      </p:sp>
      <p:graphicFrame>
        <p:nvGraphicFramePr>
          <p:cNvPr id="20" name="Object 6">
            <a:extLst>
              <a:ext uri="{FF2B5EF4-FFF2-40B4-BE49-F238E27FC236}">
                <a16:creationId xmlns:a16="http://schemas.microsoft.com/office/drawing/2014/main" id="{3D7F3B71-AFE8-4448-9F82-CF40757E881F}"/>
              </a:ext>
            </a:extLst>
          </p:cNvPr>
          <p:cNvGraphicFramePr>
            <a:graphicFrameLocks noChangeAspect="1"/>
          </p:cNvGraphicFramePr>
          <p:nvPr>
            <p:extLst/>
          </p:nvPr>
        </p:nvGraphicFramePr>
        <p:xfrm>
          <a:off x="201953" y="5939669"/>
          <a:ext cx="1130335" cy="767190"/>
        </p:xfrm>
        <a:graphic>
          <a:graphicData uri="http://schemas.openxmlformats.org/presentationml/2006/ole">
            <mc:AlternateContent xmlns:mc="http://schemas.openxmlformats.org/markup-compatibility/2006">
              <mc:Choice xmlns:v="urn:schemas-microsoft-com:vml" Requires="v">
                <p:oleObj spid="_x0000_s182321" name="公式" r:id="rId13" imgW="596641" imgH="406224" progId="Equation.3">
                  <p:embed/>
                </p:oleObj>
              </mc:Choice>
              <mc:Fallback>
                <p:oleObj name="公式" r:id="rId13" imgW="596641" imgH="406224" progId="Equation.3">
                  <p:embed/>
                  <p:pic>
                    <p:nvPicPr>
                      <p:cNvPr id="20" name="Object 6">
                        <a:extLst>
                          <a:ext uri="{FF2B5EF4-FFF2-40B4-BE49-F238E27FC236}">
                            <a16:creationId xmlns:a16="http://schemas.microsoft.com/office/drawing/2014/main" id="{3D7F3B71-AFE8-4448-9F82-CF40757E881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1953" y="5939669"/>
                        <a:ext cx="1130335" cy="767190"/>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graphicFrame>
        <p:nvGraphicFramePr>
          <p:cNvPr id="21" name="Object 10">
            <a:extLst>
              <a:ext uri="{FF2B5EF4-FFF2-40B4-BE49-F238E27FC236}">
                <a16:creationId xmlns:a16="http://schemas.microsoft.com/office/drawing/2014/main" id="{6156D65B-02E4-46C8-A2D7-7DC14B927A59}"/>
              </a:ext>
            </a:extLst>
          </p:cNvPr>
          <p:cNvGraphicFramePr>
            <a:graphicFrameLocks noChangeAspect="1"/>
          </p:cNvGraphicFramePr>
          <p:nvPr>
            <p:extLst/>
          </p:nvPr>
        </p:nvGraphicFramePr>
        <p:xfrm>
          <a:off x="1602408" y="6062114"/>
          <a:ext cx="2570162" cy="477838"/>
        </p:xfrm>
        <a:graphic>
          <a:graphicData uri="http://schemas.openxmlformats.org/presentationml/2006/ole">
            <mc:AlternateContent xmlns:mc="http://schemas.openxmlformats.org/markup-compatibility/2006">
              <mc:Choice xmlns:v="urn:schemas-microsoft-com:vml" Requires="v">
                <p:oleObj spid="_x0000_s182322" name="Equation" r:id="rId15" imgW="1091726" imgH="203112" progId="Equation.DSMT4">
                  <p:embed/>
                </p:oleObj>
              </mc:Choice>
              <mc:Fallback>
                <p:oleObj name="Equation" r:id="rId15" imgW="1091726" imgH="203112" progId="Equation.DSMT4">
                  <p:embed/>
                  <p:pic>
                    <p:nvPicPr>
                      <p:cNvPr id="21" name="Object 10">
                        <a:extLst>
                          <a:ext uri="{FF2B5EF4-FFF2-40B4-BE49-F238E27FC236}">
                            <a16:creationId xmlns:a16="http://schemas.microsoft.com/office/drawing/2014/main" id="{6156D65B-02E4-46C8-A2D7-7DC14B927A5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02408" y="6062114"/>
                        <a:ext cx="2570162"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3636241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12643"/>
                                        </p:tgtEl>
                                        <p:attrNameLst>
                                          <p:attrName>style.visibility</p:attrName>
                                        </p:attrNameLst>
                                      </p:cBhvr>
                                      <p:to>
                                        <p:strVal val="visible"/>
                                      </p:to>
                                    </p:set>
                                    <p:animEffect transition="in" filter="slide(fromTop)">
                                      <p:cBhvr>
                                        <p:cTn id="7" dur="500"/>
                                        <p:tgtEl>
                                          <p:spTgt spid="1126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92">
                                            <p:txEl>
                                              <p:pRg st="1" end="1"/>
                                            </p:txEl>
                                          </p:spTgt>
                                        </p:tgtEl>
                                        <p:attrNameLst>
                                          <p:attrName>style.visibility</p:attrName>
                                        </p:attrNameLst>
                                      </p:cBhvr>
                                      <p:to>
                                        <p:strVal val="visible"/>
                                      </p:to>
                                    </p:set>
                                    <p:animEffect transition="in" filter="wipe(left)">
                                      <p:cBhvr>
                                        <p:cTn id="12" dur="500"/>
                                        <p:tgtEl>
                                          <p:spTgt spid="11269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92">
                                            <p:txEl>
                                              <p:pRg st="3" end="3"/>
                                            </p:txEl>
                                          </p:spTgt>
                                        </p:tgtEl>
                                        <p:attrNameLst>
                                          <p:attrName>style.visibility</p:attrName>
                                        </p:attrNameLst>
                                      </p:cBhvr>
                                      <p:to>
                                        <p:strVal val="visible"/>
                                      </p:to>
                                    </p:set>
                                    <p:animEffect transition="in" filter="wipe(left)">
                                      <p:cBhvr>
                                        <p:cTn id="17" dur="500"/>
                                        <p:tgtEl>
                                          <p:spTgt spid="112692">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2695"/>
                                        </p:tgtEl>
                                        <p:attrNameLst>
                                          <p:attrName>style.visibility</p:attrName>
                                        </p:attrNameLst>
                                      </p:cBhvr>
                                      <p:to>
                                        <p:strVal val="visible"/>
                                      </p:to>
                                    </p:set>
                                    <p:animEffect transition="in" filter="wipe(left)">
                                      <p:cBhvr>
                                        <p:cTn id="22" dur="500"/>
                                        <p:tgtEl>
                                          <p:spTgt spid="11269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2693"/>
                                        </p:tgtEl>
                                        <p:attrNameLst>
                                          <p:attrName>style.visibility</p:attrName>
                                        </p:attrNameLst>
                                      </p:cBhvr>
                                      <p:to>
                                        <p:strVal val="visible"/>
                                      </p:to>
                                    </p:set>
                                    <p:animEffect transition="in" filter="wipe(left)">
                                      <p:cBhvr>
                                        <p:cTn id="32" dur="500"/>
                                        <p:tgtEl>
                                          <p:spTgt spid="11269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2697"/>
                                        </p:tgtEl>
                                        <p:attrNameLst>
                                          <p:attrName>style.visibility</p:attrName>
                                        </p:attrNameLst>
                                      </p:cBhvr>
                                      <p:to>
                                        <p:strVal val="visible"/>
                                      </p:to>
                                    </p:set>
                                    <p:animEffect transition="in" filter="wipe(left)">
                                      <p:cBhvr>
                                        <p:cTn id="37" dur="500"/>
                                        <p:tgtEl>
                                          <p:spTgt spid="11269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
                                            <p:txEl>
                                              <p:pRg st="0" end="0"/>
                                            </p:txEl>
                                          </p:spTgt>
                                        </p:tgtEl>
                                        <p:attrNameLst>
                                          <p:attrName>style.visibility</p:attrName>
                                        </p:attrNameLst>
                                      </p:cBhvr>
                                      <p:to>
                                        <p:strVal val="visible"/>
                                      </p:to>
                                    </p:set>
                                    <p:animEffect transition="in" filter="wipe(left)">
                                      <p:cBhvr>
                                        <p:cTn id="47" dur="500"/>
                                        <p:tgtEl>
                                          <p:spTgt spid="11">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
                                            <p:txEl>
                                              <p:pRg st="0" end="0"/>
                                            </p:txEl>
                                          </p:spTgt>
                                        </p:tgtEl>
                                        <p:attrNameLst>
                                          <p:attrName>style.visibility</p:attrName>
                                        </p:attrNameLst>
                                      </p:cBhvr>
                                      <p:to>
                                        <p:strVal val="visible"/>
                                      </p:to>
                                    </p:set>
                                    <p:animEffect transition="in" filter="wipe(left)">
                                      <p:cBhvr>
                                        <p:cTn id="52" dur="500"/>
                                        <p:tgtEl>
                                          <p:spTgt spid="1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left)">
                                      <p:cBhvr>
                                        <p:cTn id="62" dur="5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wipe(left)">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autoUpdateAnimBg="0"/>
      <p:bldP spid="112692" grpId="0" build="p" autoUpdateAnimBg="0"/>
      <p:bldP spid="10" grpId="0" autoUpdateAnimBg="0"/>
      <p:bldP spid="11" grpId="0" build="p" bldLvl="2" autoUpdateAnimBg="0"/>
      <p:bldP spid="12" grpId="0" build="p" bldLvl="2" autoUpdateAnimBg="0"/>
      <p:bldP spid="18"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0556" name="Group 12"/>
          <p:cNvGrpSpPr>
            <a:grpSpLocks/>
          </p:cNvGrpSpPr>
          <p:nvPr/>
        </p:nvGrpSpPr>
        <p:grpSpPr bwMode="auto">
          <a:xfrm>
            <a:off x="5651500" y="1295400"/>
            <a:ext cx="2362200" cy="1600200"/>
            <a:chOff x="2112" y="2256"/>
            <a:chExt cx="1488" cy="1008"/>
          </a:xfrm>
        </p:grpSpPr>
        <p:sp>
          <p:nvSpPr>
            <p:cNvPr id="620557" name="Rectangle 13"/>
            <p:cNvSpPr>
              <a:spLocks noChangeArrowheads="1"/>
            </p:cNvSpPr>
            <p:nvPr/>
          </p:nvSpPr>
          <p:spPr bwMode="auto">
            <a:xfrm>
              <a:off x="2160" y="2352"/>
              <a:ext cx="1440" cy="864"/>
            </a:xfrm>
            <a:prstGeom prst="rect">
              <a:avLst/>
            </a:prstGeom>
            <a:solidFill>
              <a:srgbClr val="339933">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58" name="Rectangle 14"/>
            <p:cNvSpPr>
              <a:spLocks noChangeArrowheads="1"/>
            </p:cNvSpPr>
            <p:nvPr/>
          </p:nvSpPr>
          <p:spPr bwMode="auto">
            <a:xfrm>
              <a:off x="2112" y="3163"/>
              <a:ext cx="1440" cy="101"/>
            </a:xfrm>
            <a:prstGeom prst="rect">
              <a:avLst/>
            </a:prstGeom>
            <a:solidFill>
              <a:srgbClr val="339933"/>
            </a:solidFill>
            <a:ln>
              <a:noFill/>
            </a:ln>
            <a:effectLst/>
            <a:scene3d>
              <a:camera prst="legacyObliqueTopRight"/>
              <a:lightRig rig="legacyFlat2" dir="t"/>
            </a:scene3d>
            <a:sp3d extrusionH="430200" prstMaterial="legacyMatte">
              <a:bevelT w="13500" h="13500" prst="angle"/>
              <a:bevelB w="13500" h="13500" prst="angle"/>
              <a:extrusionClr>
                <a:srgbClr val="339933"/>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p>
          </p:txBody>
        </p:sp>
        <p:sp>
          <p:nvSpPr>
            <p:cNvPr id="620559" name="Rectangle 15"/>
            <p:cNvSpPr>
              <a:spLocks noChangeArrowheads="1"/>
            </p:cNvSpPr>
            <p:nvPr/>
          </p:nvSpPr>
          <p:spPr bwMode="auto">
            <a:xfrm>
              <a:off x="3533" y="2357"/>
              <a:ext cx="67" cy="907"/>
            </a:xfrm>
            <a:prstGeom prst="rect">
              <a:avLst/>
            </a:prstGeom>
            <a:solidFill>
              <a:srgbClr val="339933"/>
            </a:solidFill>
            <a:ln>
              <a:noFill/>
            </a:ln>
            <a:effectLst/>
            <a:scene3d>
              <a:camera prst="legacyObliqueTopRight"/>
              <a:lightRig rig="legacyFlat2" dir="t"/>
            </a:scene3d>
            <a:sp3d extrusionH="430200" prstMaterial="legacyMatte">
              <a:bevelT w="13500" h="13500" prst="angle"/>
              <a:bevelB w="13500" h="13500" prst="angle"/>
              <a:extrusionClr>
                <a:srgbClr val="339933"/>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p>
          </p:txBody>
        </p:sp>
        <p:sp>
          <p:nvSpPr>
            <p:cNvPr id="620560" name="Rectangle 16"/>
            <p:cNvSpPr>
              <a:spLocks noChangeArrowheads="1"/>
            </p:cNvSpPr>
            <p:nvPr/>
          </p:nvSpPr>
          <p:spPr bwMode="auto">
            <a:xfrm>
              <a:off x="2112" y="2256"/>
              <a:ext cx="96" cy="907"/>
            </a:xfrm>
            <a:prstGeom prst="rect">
              <a:avLst/>
            </a:prstGeom>
            <a:solidFill>
              <a:srgbClr val="339933"/>
            </a:solidFill>
            <a:ln>
              <a:noFill/>
            </a:ln>
            <a:effectLst/>
            <a:scene3d>
              <a:camera prst="legacyObliqueTopRight"/>
              <a:lightRig rig="legacyFlat2" dir="t"/>
            </a:scene3d>
            <a:sp3d extrusionH="430200" prstMaterial="legacyMatte">
              <a:bevelT w="13500" h="13500" prst="angle"/>
              <a:bevelB w="13500" h="13500" prst="angle"/>
              <a:extrusionClr>
                <a:srgbClr val="339933"/>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p>
          </p:txBody>
        </p:sp>
      </p:grpSp>
      <p:grpSp>
        <p:nvGrpSpPr>
          <p:cNvPr id="620561" name="Group 17"/>
          <p:cNvGrpSpPr>
            <a:grpSpLocks/>
          </p:cNvGrpSpPr>
          <p:nvPr/>
        </p:nvGrpSpPr>
        <p:grpSpPr bwMode="auto">
          <a:xfrm>
            <a:off x="5880100" y="1447800"/>
            <a:ext cx="1066800" cy="1295400"/>
            <a:chOff x="1104" y="2688"/>
            <a:chExt cx="672" cy="816"/>
          </a:xfrm>
        </p:grpSpPr>
        <p:sp>
          <p:nvSpPr>
            <p:cNvPr id="620562" name="Oval 18"/>
            <p:cNvSpPr>
              <a:spLocks noChangeArrowheads="1"/>
            </p:cNvSpPr>
            <p:nvPr/>
          </p:nvSpPr>
          <p:spPr bwMode="auto">
            <a:xfrm>
              <a:off x="1488" y="312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63" name="Oval 19"/>
            <p:cNvSpPr>
              <a:spLocks noChangeArrowheads="1"/>
            </p:cNvSpPr>
            <p:nvPr/>
          </p:nvSpPr>
          <p:spPr bwMode="auto">
            <a:xfrm>
              <a:off x="1392" y="321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64" name="Oval 20"/>
            <p:cNvSpPr>
              <a:spLocks noChangeArrowheads="1"/>
            </p:cNvSpPr>
            <p:nvPr/>
          </p:nvSpPr>
          <p:spPr bwMode="auto">
            <a:xfrm>
              <a:off x="1104" y="312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65" name="Oval 21"/>
            <p:cNvSpPr>
              <a:spLocks noChangeArrowheads="1"/>
            </p:cNvSpPr>
            <p:nvPr/>
          </p:nvSpPr>
          <p:spPr bwMode="auto">
            <a:xfrm>
              <a:off x="1632" y="288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66" name="Oval 22"/>
            <p:cNvSpPr>
              <a:spLocks noChangeArrowheads="1"/>
            </p:cNvSpPr>
            <p:nvPr/>
          </p:nvSpPr>
          <p:spPr bwMode="auto">
            <a:xfrm>
              <a:off x="1632" y="297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67" name="Oval 23"/>
            <p:cNvSpPr>
              <a:spLocks noChangeArrowheads="1"/>
            </p:cNvSpPr>
            <p:nvPr/>
          </p:nvSpPr>
          <p:spPr bwMode="auto">
            <a:xfrm>
              <a:off x="1200" y="326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68" name="Oval 24"/>
            <p:cNvSpPr>
              <a:spLocks noChangeArrowheads="1"/>
            </p:cNvSpPr>
            <p:nvPr/>
          </p:nvSpPr>
          <p:spPr bwMode="auto">
            <a:xfrm>
              <a:off x="1488" y="331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69" name="Oval 25"/>
            <p:cNvSpPr>
              <a:spLocks noChangeArrowheads="1"/>
            </p:cNvSpPr>
            <p:nvPr/>
          </p:nvSpPr>
          <p:spPr bwMode="auto">
            <a:xfrm>
              <a:off x="1584" y="336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70" name="Oval 26"/>
            <p:cNvSpPr>
              <a:spLocks noChangeArrowheads="1"/>
            </p:cNvSpPr>
            <p:nvPr/>
          </p:nvSpPr>
          <p:spPr bwMode="auto">
            <a:xfrm>
              <a:off x="1152" y="297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71" name="Oval 27"/>
            <p:cNvSpPr>
              <a:spLocks noChangeArrowheads="1"/>
            </p:cNvSpPr>
            <p:nvPr/>
          </p:nvSpPr>
          <p:spPr bwMode="auto">
            <a:xfrm>
              <a:off x="1440" y="288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72" name="Oval 28"/>
            <p:cNvSpPr>
              <a:spLocks noChangeArrowheads="1"/>
            </p:cNvSpPr>
            <p:nvPr/>
          </p:nvSpPr>
          <p:spPr bwMode="auto">
            <a:xfrm>
              <a:off x="1248" y="302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73" name="Oval 29"/>
            <p:cNvSpPr>
              <a:spLocks noChangeArrowheads="1"/>
            </p:cNvSpPr>
            <p:nvPr/>
          </p:nvSpPr>
          <p:spPr bwMode="auto">
            <a:xfrm>
              <a:off x="1248" y="321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74" name="Oval 30"/>
            <p:cNvSpPr>
              <a:spLocks noChangeArrowheads="1"/>
            </p:cNvSpPr>
            <p:nvPr/>
          </p:nvSpPr>
          <p:spPr bwMode="auto">
            <a:xfrm>
              <a:off x="1440" y="278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75" name="Oval 31"/>
            <p:cNvSpPr>
              <a:spLocks noChangeArrowheads="1"/>
            </p:cNvSpPr>
            <p:nvPr/>
          </p:nvSpPr>
          <p:spPr bwMode="auto">
            <a:xfrm>
              <a:off x="1344" y="297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76" name="Oval 32"/>
            <p:cNvSpPr>
              <a:spLocks noChangeArrowheads="1"/>
            </p:cNvSpPr>
            <p:nvPr/>
          </p:nvSpPr>
          <p:spPr bwMode="auto">
            <a:xfrm>
              <a:off x="1440" y="307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77" name="Oval 33"/>
            <p:cNvSpPr>
              <a:spLocks noChangeArrowheads="1"/>
            </p:cNvSpPr>
            <p:nvPr/>
          </p:nvSpPr>
          <p:spPr bwMode="auto">
            <a:xfrm>
              <a:off x="1200" y="336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78" name="Oval 34"/>
            <p:cNvSpPr>
              <a:spLocks noChangeArrowheads="1"/>
            </p:cNvSpPr>
            <p:nvPr/>
          </p:nvSpPr>
          <p:spPr bwMode="auto">
            <a:xfrm>
              <a:off x="1296" y="336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79" name="Oval 35"/>
            <p:cNvSpPr>
              <a:spLocks noChangeArrowheads="1"/>
            </p:cNvSpPr>
            <p:nvPr/>
          </p:nvSpPr>
          <p:spPr bwMode="auto">
            <a:xfrm>
              <a:off x="1584" y="283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80" name="Oval 36"/>
            <p:cNvSpPr>
              <a:spLocks noChangeArrowheads="1"/>
            </p:cNvSpPr>
            <p:nvPr/>
          </p:nvSpPr>
          <p:spPr bwMode="auto">
            <a:xfrm>
              <a:off x="1632" y="316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81" name="Oval 37"/>
            <p:cNvSpPr>
              <a:spLocks noChangeArrowheads="1"/>
            </p:cNvSpPr>
            <p:nvPr/>
          </p:nvSpPr>
          <p:spPr bwMode="auto">
            <a:xfrm>
              <a:off x="1344" y="312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82" name="Oval 38"/>
            <p:cNvSpPr>
              <a:spLocks noChangeArrowheads="1"/>
            </p:cNvSpPr>
            <p:nvPr/>
          </p:nvSpPr>
          <p:spPr bwMode="auto">
            <a:xfrm>
              <a:off x="1488" y="297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83" name="Oval 39"/>
            <p:cNvSpPr>
              <a:spLocks noChangeArrowheads="1"/>
            </p:cNvSpPr>
            <p:nvPr/>
          </p:nvSpPr>
          <p:spPr bwMode="auto">
            <a:xfrm>
              <a:off x="1632" y="326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84" name="Oval 40"/>
            <p:cNvSpPr>
              <a:spLocks noChangeArrowheads="1"/>
            </p:cNvSpPr>
            <p:nvPr/>
          </p:nvSpPr>
          <p:spPr bwMode="auto">
            <a:xfrm>
              <a:off x="1584" y="321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85" name="Oval 41"/>
            <p:cNvSpPr>
              <a:spLocks noChangeArrowheads="1"/>
            </p:cNvSpPr>
            <p:nvPr/>
          </p:nvSpPr>
          <p:spPr bwMode="auto">
            <a:xfrm>
              <a:off x="1200" y="278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86" name="Oval 42"/>
            <p:cNvSpPr>
              <a:spLocks noChangeArrowheads="1"/>
            </p:cNvSpPr>
            <p:nvPr/>
          </p:nvSpPr>
          <p:spPr bwMode="auto">
            <a:xfrm>
              <a:off x="1296" y="288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87" name="Oval 43"/>
            <p:cNvSpPr>
              <a:spLocks noChangeArrowheads="1"/>
            </p:cNvSpPr>
            <p:nvPr/>
          </p:nvSpPr>
          <p:spPr bwMode="auto">
            <a:xfrm>
              <a:off x="1200" y="278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88" name="Oval 44"/>
            <p:cNvSpPr>
              <a:spLocks noChangeArrowheads="1"/>
            </p:cNvSpPr>
            <p:nvPr/>
          </p:nvSpPr>
          <p:spPr bwMode="auto">
            <a:xfrm>
              <a:off x="1200" y="316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89" name="Oval 45"/>
            <p:cNvSpPr>
              <a:spLocks noChangeArrowheads="1"/>
            </p:cNvSpPr>
            <p:nvPr/>
          </p:nvSpPr>
          <p:spPr bwMode="auto">
            <a:xfrm>
              <a:off x="1392" y="273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90" name="Oval 46"/>
            <p:cNvSpPr>
              <a:spLocks noChangeArrowheads="1"/>
            </p:cNvSpPr>
            <p:nvPr/>
          </p:nvSpPr>
          <p:spPr bwMode="auto">
            <a:xfrm>
              <a:off x="1584" y="312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91" name="Oval 47"/>
            <p:cNvSpPr>
              <a:spLocks noChangeArrowheads="1"/>
            </p:cNvSpPr>
            <p:nvPr/>
          </p:nvSpPr>
          <p:spPr bwMode="auto">
            <a:xfrm>
              <a:off x="1632" y="297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92" name="Rectangle 48"/>
            <p:cNvSpPr>
              <a:spLocks noChangeArrowheads="1"/>
            </p:cNvSpPr>
            <p:nvPr/>
          </p:nvSpPr>
          <p:spPr bwMode="auto">
            <a:xfrm>
              <a:off x="1680" y="2688"/>
              <a:ext cx="96" cy="816"/>
            </a:xfrm>
            <a:prstGeom prst="rect">
              <a:avLst/>
            </a:prstGeom>
            <a:solidFill>
              <a:srgbClr val="3399FF"/>
            </a:solidFill>
            <a:ln>
              <a:noFill/>
            </a:ln>
            <a:effectLst/>
            <a:scene3d>
              <a:camera prst="legacyObliqueTopRight"/>
              <a:lightRig rig="legacyFlat3" dir="b"/>
            </a:scene3d>
            <a:sp3d extrusionH="430200" prstMaterial="legacyMatte">
              <a:bevelT w="13500" h="13500" prst="angle"/>
              <a:bevelB w="13500" h="13500" prst="angle"/>
              <a:extrusionClr>
                <a:srgbClr val="3399FF"/>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p>
          </p:txBody>
        </p:sp>
      </p:grpSp>
      <p:sp>
        <p:nvSpPr>
          <p:cNvPr id="620593" name="Rectangle 49"/>
          <p:cNvSpPr>
            <a:spLocks noChangeArrowheads="1"/>
          </p:cNvSpPr>
          <p:nvPr/>
        </p:nvSpPr>
        <p:spPr bwMode="auto">
          <a:xfrm>
            <a:off x="5803900" y="1295400"/>
            <a:ext cx="2209800" cy="160338"/>
          </a:xfrm>
          <a:prstGeom prst="rect">
            <a:avLst/>
          </a:prstGeom>
          <a:solidFill>
            <a:srgbClr val="339933"/>
          </a:solidFill>
          <a:ln>
            <a:noFill/>
          </a:ln>
          <a:effectLst/>
          <a:scene3d>
            <a:camera prst="legacyObliqueTopRight"/>
            <a:lightRig rig="legacyFlat2" dir="t"/>
          </a:scene3d>
          <a:sp3d extrusionH="430200" prstMaterial="legacyMatte">
            <a:bevelT w="13500" h="13500" prst="angle"/>
            <a:bevelB w="13500" h="13500" prst="angle"/>
            <a:extrusionClr>
              <a:srgbClr val="339933"/>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p>
        </p:txBody>
      </p:sp>
      <p:grpSp>
        <p:nvGrpSpPr>
          <p:cNvPr id="620594" name="Group 50"/>
          <p:cNvGrpSpPr>
            <a:grpSpLocks/>
          </p:cNvGrpSpPr>
          <p:nvPr/>
        </p:nvGrpSpPr>
        <p:grpSpPr bwMode="auto">
          <a:xfrm>
            <a:off x="5953234" y="1447712"/>
            <a:ext cx="2667000" cy="1447800"/>
            <a:chOff x="864" y="1344"/>
            <a:chExt cx="1680" cy="912"/>
          </a:xfrm>
        </p:grpSpPr>
        <p:sp>
          <p:nvSpPr>
            <p:cNvPr id="620595" name="Rectangle 51"/>
            <p:cNvSpPr>
              <a:spLocks noChangeArrowheads="1"/>
            </p:cNvSpPr>
            <p:nvPr/>
          </p:nvSpPr>
          <p:spPr bwMode="auto">
            <a:xfrm rot="-1965473">
              <a:off x="2448" y="1440"/>
              <a:ext cx="96" cy="816"/>
            </a:xfrm>
            <a:prstGeom prst="rect">
              <a:avLst/>
            </a:prstGeom>
            <a:solidFill>
              <a:srgbClr val="3399FF"/>
            </a:solidFill>
            <a:ln>
              <a:noFill/>
            </a:ln>
            <a:effectLst/>
            <a:scene3d>
              <a:camera prst="legacyObliqueTopRight"/>
              <a:lightRig rig="legacyFlat3" dir="b"/>
            </a:scene3d>
            <a:sp3d extrusionH="430200" prstMaterial="legacyMatte">
              <a:bevelT w="13500" h="13500" prst="angle"/>
              <a:bevelB w="13500" h="13500" prst="angle"/>
              <a:extrusionClr>
                <a:srgbClr val="3399FF"/>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p>
          </p:txBody>
        </p:sp>
        <p:grpSp>
          <p:nvGrpSpPr>
            <p:cNvPr id="620596" name="Group 52"/>
            <p:cNvGrpSpPr>
              <a:grpSpLocks/>
            </p:cNvGrpSpPr>
            <p:nvPr/>
          </p:nvGrpSpPr>
          <p:grpSpPr bwMode="auto">
            <a:xfrm>
              <a:off x="864" y="1344"/>
              <a:ext cx="1296" cy="768"/>
              <a:chOff x="864" y="2496"/>
              <a:chExt cx="1296" cy="768"/>
            </a:xfrm>
          </p:grpSpPr>
          <p:sp>
            <p:nvSpPr>
              <p:cNvPr id="620597" name="Oval 53"/>
              <p:cNvSpPr>
                <a:spLocks noChangeArrowheads="1"/>
              </p:cNvSpPr>
              <p:nvPr/>
            </p:nvSpPr>
            <p:spPr bwMode="auto">
              <a:xfrm>
                <a:off x="1392" y="249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98" name="Oval 54"/>
              <p:cNvSpPr>
                <a:spLocks noChangeArrowheads="1"/>
              </p:cNvSpPr>
              <p:nvPr/>
            </p:nvSpPr>
            <p:spPr bwMode="auto">
              <a:xfrm>
                <a:off x="1056" y="273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599" name="Oval 55"/>
              <p:cNvSpPr>
                <a:spLocks noChangeArrowheads="1"/>
              </p:cNvSpPr>
              <p:nvPr/>
            </p:nvSpPr>
            <p:spPr bwMode="auto">
              <a:xfrm>
                <a:off x="1392" y="321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00" name="Oval 56"/>
              <p:cNvSpPr>
                <a:spLocks noChangeArrowheads="1"/>
              </p:cNvSpPr>
              <p:nvPr/>
            </p:nvSpPr>
            <p:spPr bwMode="auto">
              <a:xfrm>
                <a:off x="864" y="321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01" name="Oval 57"/>
              <p:cNvSpPr>
                <a:spLocks noChangeArrowheads="1"/>
              </p:cNvSpPr>
              <p:nvPr/>
            </p:nvSpPr>
            <p:spPr bwMode="auto">
              <a:xfrm>
                <a:off x="1584" y="297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02" name="Oval 58"/>
              <p:cNvSpPr>
                <a:spLocks noChangeArrowheads="1"/>
              </p:cNvSpPr>
              <p:nvPr/>
            </p:nvSpPr>
            <p:spPr bwMode="auto">
              <a:xfrm>
                <a:off x="1296" y="316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03" name="Oval 59"/>
              <p:cNvSpPr>
                <a:spLocks noChangeArrowheads="1"/>
              </p:cNvSpPr>
              <p:nvPr/>
            </p:nvSpPr>
            <p:spPr bwMode="auto">
              <a:xfrm>
                <a:off x="1392" y="273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04" name="Oval 60"/>
              <p:cNvSpPr>
                <a:spLocks noChangeArrowheads="1"/>
              </p:cNvSpPr>
              <p:nvPr/>
            </p:nvSpPr>
            <p:spPr bwMode="auto">
              <a:xfrm>
                <a:off x="1392" y="302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05" name="Oval 61"/>
              <p:cNvSpPr>
                <a:spLocks noChangeArrowheads="1"/>
              </p:cNvSpPr>
              <p:nvPr/>
            </p:nvSpPr>
            <p:spPr bwMode="auto">
              <a:xfrm>
                <a:off x="1680" y="307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06" name="Oval 62"/>
              <p:cNvSpPr>
                <a:spLocks noChangeArrowheads="1"/>
              </p:cNvSpPr>
              <p:nvPr/>
            </p:nvSpPr>
            <p:spPr bwMode="auto">
              <a:xfrm>
                <a:off x="1776" y="312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07" name="Oval 63"/>
              <p:cNvSpPr>
                <a:spLocks noChangeArrowheads="1"/>
              </p:cNvSpPr>
              <p:nvPr/>
            </p:nvSpPr>
            <p:spPr bwMode="auto">
              <a:xfrm>
                <a:off x="1200" y="283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08" name="Oval 64"/>
              <p:cNvSpPr>
                <a:spLocks noChangeArrowheads="1"/>
              </p:cNvSpPr>
              <p:nvPr/>
            </p:nvSpPr>
            <p:spPr bwMode="auto">
              <a:xfrm>
                <a:off x="960" y="254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09" name="Oval 65"/>
              <p:cNvSpPr>
                <a:spLocks noChangeArrowheads="1"/>
              </p:cNvSpPr>
              <p:nvPr/>
            </p:nvSpPr>
            <p:spPr bwMode="auto">
              <a:xfrm>
                <a:off x="1440" y="278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10" name="Oval 66"/>
              <p:cNvSpPr>
                <a:spLocks noChangeArrowheads="1"/>
              </p:cNvSpPr>
              <p:nvPr/>
            </p:nvSpPr>
            <p:spPr bwMode="auto">
              <a:xfrm>
                <a:off x="960" y="321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11" name="Oval 67"/>
              <p:cNvSpPr>
                <a:spLocks noChangeArrowheads="1"/>
              </p:cNvSpPr>
              <p:nvPr/>
            </p:nvSpPr>
            <p:spPr bwMode="auto">
              <a:xfrm>
                <a:off x="1632" y="254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12" name="Oval 68"/>
              <p:cNvSpPr>
                <a:spLocks noChangeArrowheads="1"/>
              </p:cNvSpPr>
              <p:nvPr/>
            </p:nvSpPr>
            <p:spPr bwMode="auto">
              <a:xfrm>
                <a:off x="1536" y="273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13" name="Oval 69"/>
              <p:cNvSpPr>
                <a:spLocks noChangeArrowheads="1"/>
              </p:cNvSpPr>
              <p:nvPr/>
            </p:nvSpPr>
            <p:spPr bwMode="auto">
              <a:xfrm>
                <a:off x="1632" y="283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14" name="Oval 70"/>
              <p:cNvSpPr>
                <a:spLocks noChangeArrowheads="1"/>
              </p:cNvSpPr>
              <p:nvPr/>
            </p:nvSpPr>
            <p:spPr bwMode="auto">
              <a:xfrm>
                <a:off x="1392" y="312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15" name="Oval 71"/>
              <p:cNvSpPr>
                <a:spLocks noChangeArrowheads="1"/>
              </p:cNvSpPr>
              <p:nvPr/>
            </p:nvSpPr>
            <p:spPr bwMode="auto">
              <a:xfrm>
                <a:off x="1488" y="312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16" name="Oval 72"/>
              <p:cNvSpPr>
                <a:spLocks noChangeArrowheads="1"/>
              </p:cNvSpPr>
              <p:nvPr/>
            </p:nvSpPr>
            <p:spPr bwMode="auto">
              <a:xfrm>
                <a:off x="864" y="268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17" name="Oval 73"/>
              <p:cNvSpPr>
                <a:spLocks noChangeArrowheads="1"/>
              </p:cNvSpPr>
              <p:nvPr/>
            </p:nvSpPr>
            <p:spPr bwMode="auto">
              <a:xfrm>
                <a:off x="1824" y="292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18" name="Oval 74"/>
              <p:cNvSpPr>
                <a:spLocks noChangeArrowheads="1"/>
              </p:cNvSpPr>
              <p:nvPr/>
            </p:nvSpPr>
            <p:spPr bwMode="auto">
              <a:xfrm>
                <a:off x="1536" y="288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19" name="Oval 75"/>
              <p:cNvSpPr>
                <a:spLocks noChangeArrowheads="1"/>
              </p:cNvSpPr>
              <p:nvPr/>
            </p:nvSpPr>
            <p:spPr bwMode="auto">
              <a:xfrm>
                <a:off x="1680" y="273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20" name="Oval 76"/>
              <p:cNvSpPr>
                <a:spLocks noChangeArrowheads="1"/>
              </p:cNvSpPr>
              <p:nvPr/>
            </p:nvSpPr>
            <p:spPr bwMode="auto">
              <a:xfrm>
                <a:off x="2112" y="316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21" name="Oval 77"/>
              <p:cNvSpPr>
                <a:spLocks noChangeArrowheads="1"/>
              </p:cNvSpPr>
              <p:nvPr/>
            </p:nvSpPr>
            <p:spPr bwMode="auto">
              <a:xfrm>
                <a:off x="1008" y="307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22" name="Oval 78"/>
              <p:cNvSpPr>
                <a:spLocks noChangeArrowheads="1"/>
              </p:cNvSpPr>
              <p:nvPr/>
            </p:nvSpPr>
            <p:spPr bwMode="auto">
              <a:xfrm>
                <a:off x="1392" y="254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23" name="Oval 79"/>
              <p:cNvSpPr>
                <a:spLocks noChangeArrowheads="1"/>
              </p:cNvSpPr>
              <p:nvPr/>
            </p:nvSpPr>
            <p:spPr bwMode="auto">
              <a:xfrm>
                <a:off x="1488" y="264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24" name="Oval 80"/>
              <p:cNvSpPr>
                <a:spLocks noChangeArrowheads="1"/>
              </p:cNvSpPr>
              <p:nvPr/>
            </p:nvSpPr>
            <p:spPr bwMode="auto">
              <a:xfrm>
                <a:off x="2112" y="254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25" name="Oval 81"/>
              <p:cNvSpPr>
                <a:spLocks noChangeArrowheads="1"/>
              </p:cNvSpPr>
              <p:nvPr/>
            </p:nvSpPr>
            <p:spPr bwMode="auto">
              <a:xfrm>
                <a:off x="1392" y="292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26" name="Oval 82"/>
              <p:cNvSpPr>
                <a:spLocks noChangeArrowheads="1"/>
              </p:cNvSpPr>
              <p:nvPr/>
            </p:nvSpPr>
            <p:spPr bwMode="auto">
              <a:xfrm>
                <a:off x="1584" y="249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27" name="Oval 83"/>
              <p:cNvSpPr>
                <a:spLocks noChangeArrowheads="1"/>
              </p:cNvSpPr>
              <p:nvPr/>
            </p:nvSpPr>
            <p:spPr bwMode="auto">
              <a:xfrm>
                <a:off x="864" y="249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28" name="Oval 84"/>
              <p:cNvSpPr>
                <a:spLocks noChangeArrowheads="1"/>
              </p:cNvSpPr>
              <p:nvPr/>
            </p:nvSpPr>
            <p:spPr bwMode="auto">
              <a:xfrm>
                <a:off x="864" y="283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29" name="Oval 85"/>
              <p:cNvSpPr>
                <a:spLocks noChangeArrowheads="1"/>
              </p:cNvSpPr>
              <p:nvPr/>
            </p:nvSpPr>
            <p:spPr bwMode="auto">
              <a:xfrm>
                <a:off x="1344" y="249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30" name="Oval 86"/>
              <p:cNvSpPr>
                <a:spLocks noChangeArrowheads="1"/>
              </p:cNvSpPr>
              <p:nvPr/>
            </p:nvSpPr>
            <p:spPr bwMode="auto">
              <a:xfrm>
                <a:off x="1152" y="288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31" name="Oval 87"/>
              <p:cNvSpPr>
                <a:spLocks noChangeArrowheads="1"/>
              </p:cNvSpPr>
              <p:nvPr/>
            </p:nvSpPr>
            <p:spPr bwMode="auto">
              <a:xfrm>
                <a:off x="1056" y="297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32" name="Oval 88"/>
              <p:cNvSpPr>
                <a:spLocks noChangeArrowheads="1"/>
              </p:cNvSpPr>
              <p:nvPr/>
            </p:nvSpPr>
            <p:spPr bwMode="auto">
              <a:xfrm>
                <a:off x="1296" y="264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33" name="Oval 89"/>
              <p:cNvSpPr>
                <a:spLocks noChangeArrowheads="1"/>
              </p:cNvSpPr>
              <p:nvPr/>
            </p:nvSpPr>
            <p:spPr bwMode="auto">
              <a:xfrm>
                <a:off x="1296" y="273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34" name="Oval 90"/>
              <p:cNvSpPr>
                <a:spLocks noChangeArrowheads="1"/>
              </p:cNvSpPr>
              <p:nvPr/>
            </p:nvSpPr>
            <p:spPr bwMode="auto">
              <a:xfrm>
                <a:off x="864" y="302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35" name="Oval 91"/>
              <p:cNvSpPr>
                <a:spLocks noChangeArrowheads="1"/>
              </p:cNvSpPr>
              <p:nvPr/>
            </p:nvSpPr>
            <p:spPr bwMode="auto">
              <a:xfrm>
                <a:off x="1152" y="307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36" name="Oval 92"/>
              <p:cNvSpPr>
                <a:spLocks noChangeArrowheads="1"/>
              </p:cNvSpPr>
              <p:nvPr/>
            </p:nvSpPr>
            <p:spPr bwMode="auto">
              <a:xfrm>
                <a:off x="1248" y="312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37" name="Oval 93"/>
              <p:cNvSpPr>
                <a:spLocks noChangeArrowheads="1"/>
              </p:cNvSpPr>
              <p:nvPr/>
            </p:nvSpPr>
            <p:spPr bwMode="auto">
              <a:xfrm>
                <a:off x="1344" y="283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38" name="Oval 94"/>
              <p:cNvSpPr>
                <a:spLocks noChangeArrowheads="1"/>
              </p:cNvSpPr>
              <p:nvPr/>
            </p:nvSpPr>
            <p:spPr bwMode="auto">
              <a:xfrm>
                <a:off x="1104" y="264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39" name="Oval 95"/>
              <p:cNvSpPr>
                <a:spLocks noChangeArrowheads="1"/>
              </p:cNvSpPr>
              <p:nvPr/>
            </p:nvSpPr>
            <p:spPr bwMode="auto">
              <a:xfrm>
                <a:off x="912" y="278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40" name="Oval 96"/>
              <p:cNvSpPr>
                <a:spLocks noChangeArrowheads="1"/>
              </p:cNvSpPr>
              <p:nvPr/>
            </p:nvSpPr>
            <p:spPr bwMode="auto">
              <a:xfrm>
                <a:off x="912" y="297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41" name="Oval 97"/>
              <p:cNvSpPr>
                <a:spLocks noChangeArrowheads="1"/>
              </p:cNvSpPr>
              <p:nvPr/>
            </p:nvSpPr>
            <p:spPr bwMode="auto">
              <a:xfrm>
                <a:off x="1104" y="254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42" name="Oval 98"/>
              <p:cNvSpPr>
                <a:spLocks noChangeArrowheads="1"/>
              </p:cNvSpPr>
              <p:nvPr/>
            </p:nvSpPr>
            <p:spPr bwMode="auto">
              <a:xfrm>
                <a:off x="1008" y="273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43" name="Oval 99"/>
              <p:cNvSpPr>
                <a:spLocks noChangeArrowheads="1"/>
              </p:cNvSpPr>
              <p:nvPr/>
            </p:nvSpPr>
            <p:spPr bwMode="auto">
              <a:xfrm>
                <a:off x="1104" y="283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44" name="Oval 100"/>
              <p:cNvSpPr>
                <a:spLocks noChangeArrowheads="1"/>
              </p:cNvSpPr>
              <p:nvPr/>
            </p:nvSpPr>
            <p:spPr bwMode="auto">
              <a:xfrm>
                <a:off x="864" y="312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45" name="Oval 101"/>
              <p:cNvSpPr>
                <a:spLocks noChangeArrowheads="1"/>
              </p:cNvSpPr>
              <p:nvPr/>
            </p:nvSpPr>
            <p:spPr bwMode="auto">
              <a:xfrm>
                <a:off x="960" y="312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46" name="Oval 102"/>
              <p:cNvSpPr>
                <a:spLocks noChangeArrowheads="1"/>
              </p:cNvSpPr>
              <p:nvPr/>
            </p:nvSpPr>
            <p:spPr bwMode="auto">
              <a:xfrm>
                <a:off x="1248" y="259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47" name="Oval 103"/>
              <p:cNvSpPr>
                <a:spLocks noChangeArrowheads="1"/>
              </p:cNvSpPr>
              <p:nvPr/>
            </p:nvSpPr>
            <p:spPr bwMode="auto">
              <a:xfrm>
                <a:off x="1296" y="292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48" name="Oval 104"/>
              <p:cNvSpPr>
                <a:spLocks noChangeArrowheads="1"/>
              </p:cNvSpPr>
              <p:nvPr/>
            </p:nvSpPr>
            <p:spPr bwMode="auto">
              <a:xfrm>
                <a:off x="1008" y="288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49" name="Oval 105"/>
              <p:cNvSpPr>
                <a:spLocks noChangeArrowheads="1"/>
              </p:cNvSpPr>
              <p:nvPr/>
            </p:nvSpPr>
            <p:spPr bwMode="auto">
              <a:xfrm>
                <a:off x="1152" y="273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50" name="Oval 106"/>
              <p:cNvSpPr>
                <a:spLocks noChangeArrowheads="1"/>
              </p:cNvSpPr>
              <p:nvPr/>
            </p:nvSpPr>
            <p:spPr bwMode="auto">
              <a:xfrm>
                <a:off x="1296" y="302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51" name="Oval 107"/>
              <p:cNvSpPr>
                <a:spLocks noChangeArrowheads="1"/>
              </p:cNvSpPr>
              <p:nvPr/>
            </p:nvSpPr>
            <p:spPr bwMode="auto">
              <a:xfrm>
                <a:off x="1056" y="321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52" name="Oval 108"/>
              <p:cNvSpPr>
                <a:spLocks noChangeArrowheads="1"/>
              </p:cNvSpPr>
              <p:nvPr/>
            </p:nvSpPr>
            <p:spPr bwMode="auto">
              <a:xfrm>
                <a:off x="864" y="254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53" name="Oval 109"/>
              <p:cNvSpPr>
                <a:spLocks noChangeArrowheads="1"/>
              </p:cNvSpPr>
              <p:nvPr/>
            </p:nvSpPr>
            <p:spPr bwMode="auto">
              <a:xfrm>
                <a:off x="960" y="264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54" name="Oval 110"/>
              <p:cNvSpPr>
                <a:spLocks noChangeArrowheads="1"/>
              </p:cNvSpPr>
              <p:nvPr/>
            </p:nvSpPr>
            <p:spPr bwMode="auto">
              <a:xfrm>
                <a:off x="864" y="254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55" name="Oval 111"/>
              <p:cNvSpPr>
                <a:spLocks noChangeArrowheads="1"/>
              </p:cNvSpPr>
              <p:nvPr/>
            </p:nvSpPr>
            <p:spPr bwMode="auto">
              <a:xfrm>
                <a:off x="864" y="292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56" name="Oval 112"/>
              <p:cNvSpPr>
                <a:spLocks noChangeArrowheads="1"/>
              </p:cNvSpPr>
              <p:nvPr/>
            </p:nvSpPr>
            <p:spPr bwMode="auto">
              <a:xfrm>
                <a:off x="1056" y="249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57" name="Oval 113"/>
              <p:cNvSpPr>
                <a:spLocks noChangeArrowheads="1"/>
              </p:cNvSpPr>
              <p:nvPr/>
            </p:nvSpPr>
            <p:spPr bwMode="auto">
              <a:xfrm>
                <a:off x="1728" y="249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58" name="Oval 114"/>
              <p:cNvSpPr>
                <a:spLocks noChangeArrowheads="1"/>
              </p:cNvSpPr>
              <p:nvPr/>
            </p:nvSpPr>
            <p:spPr bwMode="auto">
              <a:xfrm>
                <a:off x="1776" y="2832"/>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59" name="Oval 115"/>
              <p:cNvSpPr>
                <a:spLocks noChangeArrowheads="1"/>
              </p:cNvSpPr>
              <p:nvPr/>
            </p:nvSpPr>
            <p:spPr bwMode="auto">
              <a:xfrm>
                <a:off x="1968" y="2496"/>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60" name="Oval 116"/>
              <p:cNvSpPr>
                <a:spLocks noChangeArrowheads="1"/>
              </p:cNvSpPr>
              <p:nvPr/>
            </p:nvSpPr>
            <p:spPr bwMode="auto">
              <a:xfrm>
                <a:off x="2016" y="2784"/>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61" name="Oval 117"/>
              <p:cNvSpPr>
                <a:spLocks noChangeArrowheads="1"/>
              </p:cNvSpPr>
              <p:nvPr/>
            </p:nvSpPr>
            <p:spPr bwMode="auto">
              <a:xfrm>
                <a:off x="1920" y="3120"/>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62" name="Oval 118"/>
              <p:cNvSpPr>
                <a:spLocks noChangeArrowheads="1"/>
              </p:cNvSpPr>
              <p:nvPr/>
            </p:nvSpPr>
            <p:spPr bwMode="auto">
              <a:xfrm>
                <a:off x="1968" y="292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63" name="Oval 119"/>
              <p:cNvSpPr>
                <a:spLocks noChangeArrowheads="1"/>
              </p:cNvSpPr>
              <p:nvPr/>
            </p:nvSpPr>
            <p:spPr bwMode="auto">
              <a:xfrm>
                <a:off x="1776" y="268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620664" name="Oval 120"/>
              <p:cNvSpPr>
                <a:spLocks noChangeArrowheads="1"/>
              </p:cNvSpPr>
              <p:nvPr/>
            </p:nvSpPr>
            <p:spPr bwMode="auto">
              <a:xfrm>
                <a:off x="1632" y="3168"/>
                <a:ext cx="48" cy="48"/>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sp>
        <p:nvSpPr>
          <p:cNvPr id="620665" name="Rectangle 121"/>
          <p:cNvSpPr>
            <a:spLocks noChangeArrowheads="1"/>
          </p:cNvSpPr>
          <p:nvPr/>
        </p:nvSpPr>
        <p:spPr bwMode="auto">
          <a:xfrm>
            <a:off x="25918" y="918255"/>
            <a:ext cx="5314650" cy="102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r>
              <a:rPr kumimoji="1" lang="zh-CN" altLang="en-US" sz="2400" b="1" dirty="0">
                <a:solidFill>
                  <a:srgbClr val="FF0066"/>
                </a:solidFill>
                <a:effectLst/>
                <a:latin typeface="Arial" charset="0"/>
                <a:ea typeface="宋体" pitchFamily="2" charset="-122"/>
              </a:rPr>
              <a:t>例</a:t>
            </a:r>
            <a:r>
              <a:rPr kumimoji="1" lang="en-US" altLang="zh-CN" sz="2400" b="1" dirty="0">
                <a:solidFill>
                  <a:srgbClr val="FF0066"/>
                </a:solidFill>
                <a:effectLst/>
                <a:ea typeface="宋体" pitchFamily="2" charset="-122"/>
              </a:rPr>
              <a:t>1.</a:t>
            </a:r>
            <a:r>
              <a:rPr lang="zh-CN" altLang="en-US" sz="2400" b="1" dirty="0">
                <a:solidFill>
                  <a:srgbClr val="3333FF"/>
                </a:solidFill>
                <a:latin typeface="Arial" charset="0"/>
              </a:rPr>
              <a:t>向真空绝热</a:t>
            </a:r>
            <a:r>
              <a:rPr kumimoji="1" lang="zh-CN" altLang="en-US" sz="2400" b="1" dirty="0">
                <a:solidFill>
                  <a:srgbClr val="3333FF"/>
                </a:solidFill>
                <a:effectLst/>
                <a:latin typeface="Arial" charset="0"/>
                <a:ea typeface="宋体" pitchFamily="2" charset="-122"/>
              </a:rPr>
              <a:t>自由膨胀的理想气体的熵如何变化？</a:t>
            </a:r>
            <a:r>
              <a:rPr lang="zh-CN" altLang="en-US" sz="1600" dirty="0"/>
              <a:t>理想气体绝热自由膨胀过程是</a:t>
            </a:r>
            <a:r>
              <a:rPr lang="en-US" altLang="zh-CN" sz="1600" dirty="0"/>
              <a:t>`</a:t>
            </a:r>
            <a:r>
              <a:rPr lang="zh-CN" altLang="en-US" sz="1600" dirty="0"/>
              <a:t>非准静态过程</a:t>
            </a:r>
          </a:p>
          <a:p>
            <a:endParaRPr lang="zh-CN" altLang="en-US" sz="2400" dirty="0"/>
          </a:p>
        </p:txBody>
      </p:sp>
      <p:sp>
        <p:nvSpPr>
          <p:cNvPr id="620666" name="Text Box 122"/>
          <p:cNvSpPr txBox="1">
            <a:spLocks noChangeArrowheads="1"/>
          </p:cNvSpPr>
          <p:nvPr/>
        </p:nvSpPr>
        <p:spPr bwMode="auto">
          <a:xfrm>
            <a:off x="179512" y="3953445"/>
            <a:ext cx="7329488"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50000"/>
              </a:spcBef>
            </a:pPr>
            <a:r>
              <a:rPr kumimoji="1" lang="en-US" altLang="zh-CN" b="1" dirty="0">
                <a:solidFill>
                  <a:schemeClr val="tx1"/>
                </a:solidFill>
                <a:effectLst/>
                <a:sym typeface="Symbol" pitchFamily="18" charset="2"/>
              </a:rPr>
              <a:t></a:t>
            </a:r>
            <a:r>
              <a:rPr kumimoji="1" lang="zh-CN" altLang="en-US" sz="2400" b="1" dirty="0">
                <a:solidFill>
                  <a:schemeClr val="tx1"/>
                </a:solidFill>
                <a:effectLst/>
              </a:rPr>
              <a:t>设想气体从</a:t>
            </a:r>
            <a:r>
              <a:rPr kumimoji="1" lang="en-US" altLang="zh-CN" sz="2400" b="1" dirty="0">
                <a:solidFill>
                  <a:schemeClr val="tx1"/>
                </a:solidFill>
                <a:effectLst/>
              </a:rPr>
              <a:t>1</a:t>
            </a:r>
            <a:r>
              <a:rPr kumimoji="1" lang="zh-CN" altLang="en-US" sz="2400" b="1" dirty="0">
                <a:solidFill>
                  <a:schemeClr val="tx1"/>
                </a:solidFill>
                <a:effectLst/>
              </a:rPr>
              <a:t>变到</a:t>
            </a:r>
            <a:r>
              <a:rPr kumimoji="1" lang="en-US" altLang="zh-CN" sz="2400" b="1" dirty="0">
                <a:solidFill>
                  <a:schemeClr val="tx1"/>
                </a:solidFill>
                <a:effectLst/>
              </a:rPr>
              <a:t>2</a:t>
            </a:r>
            <a:r>
              <a:rPr kumimoji="1" lang="zh-CN" altLang="en-US" sz="2400" b="1" dirty="0">
                <a:solidFill>
                  <a:schemeClr val="tx1"/>
                </a:solidFill>
                <a:effectLst/>
              </a:rPr>
              <a:t>，经历了可逆等温膨胀过程</a:t>
            </a:r>
            <a:r>
              <a:rPr kumimoji="1" lang="en-US" altLang="zh-CN" sz="2400" b="1" dirty="0">
                <a:solidFill>
                  <a:schemeClr val="tx1"/>
                </a:solidFill>
                <a:effectLst/>
              </a:rPr>
              <a:t>:</a:t>
            </a:r>
          </a:p>
        </p:txBody>
      </p:sp>
      <p:graphicFrame>
        <p:nvGraphicFramePr>
          <p:cNvPr id="620667" name="Object 123"/>
          <p:cNvGraphicFramePr>
            <a:graphicFrameLocks noChangeAspect="1"/>
          </p:cNvGraphicFramePr>
          <p:nvPr>
            <p:extLst/>
          </p:nvPr>
        </p:nvGraphicFramePr>
        <p:xfrm>
          <a:off x="1336675" y="1989138"/>
          <a:ext cx="2082800" cy="393700"/>
        </p:xfrm>
        <a:graphic>
          <a:graphicData uri="http://schemas.openxmlformats.org/presentationml/2006/ole">
            <mc:AlternateContent xmlns:mc="http://schemas.openxmlformats.org/markup-compatibility/2006">
              <mc:Choice xmlns:v="urn:schemas-microsoft-com:vml" Requires="v">
                <p:oleObj spid="_x0000_s120470" name="Equation" r:id="rId4" imgW="2082600" imgH="393480" progId="Equation.DSMT4">
                  <p:embed/>
                </p:oleObj>
              </mc:Choice>
              <mc:Fallback>
                <p:oleObj name="Equation" r:id="rId4" imgW="2082600" imgH="39348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6675" y="1989138"/>
                        <a:ext cx="2082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0668" name="Object 124"/>
          <p:cNvGraphicFramePr>
            <a:graphicFrameLocks noChangeAspect="1"/>
          </p:cNvGraphicFramePr>
          <p:nvPr>
            <p:extLst/>
          </p:nvPr>
        </p:nvGraphicFramePr>
        <p:xfrm>
          <a:off x="3590925" y="1989138"/>
          <a:ext cx="1485900" cy="393700"/>
        </p:xfrm>
        <a:graphic>
          <a:graphicData uri="http://schemas.openxmlformats.org/presentationml/2006/ole">
            <mc:AlternateContent xmlns:mc="http://schemas.openxmlformats.org/markup-compatibility/2006">
              <mc:Choice xmlns:v="urn:schemas-microsoft-com:vml" Requires="v">
                <p:oleObj spid="_x0000_s120471" name="Equation" r:id="rId6" imgW="1485720" imgH="393480" progId="Equation.DSMT4">
                  <p:embed/>
                </p:oleObj>
              </mc:Choice>
              <mc:Fallback>
                <p:oleObj name="Equation" r:id="rId6" imgW="1485720" imgH="39348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90925" y="1989138"/>
                        <a:ext cx="14859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0669" name="Object 125"/>
          <p:cNvGraphicFramePr>
            <a:graphicFrameLocks noChangeAspect="1"/>
          </p:cNvGraphicFramePr>
          <p:nvPr>
            <p:extLst/>
          </p:nvPr>
        </p:nvGraphicFramePr>
        <p:xfrm>
          <a:off x="1331640" y="2540000"/>
          <a:ext cx="1536700" cy="431800"/>
        </p:xfrm>
        <a:graphic>
          <a:graphicData uri="http://schemas.openxmlformats.org/presentationml/2006/ole">
            <mc:AlternateContent xmlns:mc="http://schemas.openxmlformats.org/markup-compatibility/2006">
              <mc:Choice xmlns:v="urn:schemas-microsoft-com:vml" Requires="v">
                <p:oleObj spid="_x0000_s120472" name="Equation" r:id="rId8" imgW="1536480" imgH="431640" progId="Equation.DSMT4">
                  <p:embed/>
                </p:oleObj>
              </mc:Choice>
              <mc:Fallback>
                <p:oleObj name="Equation" r:id="rId8" imgW="1536480" imgH="43164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640" y="2540000"/>
                        <a:ext cx="1536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0670" name="Object 126"/>
          <p:cNvGraphicFramePr>
            <a:graphicFrameLocks noChangeAspect="1"/>
          </p:cNvGraphicFramePr>
          <p:nvPr>
            <p:extLst/>
          </p:nvPr>
        </p:nvGraphicFramePr>
        <p:xfrm>
          <a:off x="347787" y="4455095"/>
          <a:ext cx="2476500" cy="825500"/>
        </p:xfrm>
        <a:graphic>
          <a:graphicData uri="http://schemas.openxmlformats.org/presentationml/2006/ole">
            <mc:AlternateContent xmlns:mc="http://schemas.openxmlformats.org/markup-compatibility/2006">
              <mc:Choice xmlns:v="urn:schemas-microsoft-com:vml" Requires="v">
                <p:oleObj spid="_x0000_s120473" name="Equation" r:id="rId10" imgW="2476440" imgH="825480" progId="Equation.DSMT4">
                  <p:embed/>
                </p:oleObj>
              </mc:Choice>
              <mc:Fallback>
                <p:oleObj name="Equation" r:id="rId10" imgW="2476440" imgH="82548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7787" y="4455095"/>
                        <a:ext cx="24765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0671" name="Object 127"/>
          <p:cNvGraphicFramePr>
            <a:graphicFrameLocks noChangeAspect="1"/>
          </p:cNvGraphicFramePr>
          <p:nvPr>
            <p:extLst/>
          </p:nvPr>
        </p:nvGraphicFramePr>
        <p:xfrm>
          <a:off x="2913187" y="4496193"/>
          <a:ext cx="3378200" cy="927100"/>
        </p:xfrm>
        <a:graphic>
          <a:graphicData uri="http://schemas.openxmlformats.org/presentationml/2006/ole">
            <mc:AlternateContent xmlns:mc="http://schemas.openxmlformats.org/markup-compatibility/2006">
              <mc:Choice xmlns:v="urn:schemas-microsoft-com:vml" Requires="v">
                <p:oleObj spid="_x0000_s120474" name="Equation" r:id="rId12" imgW="3377880" imgH="927000" progId="Equation.DSMT4">
                  <p:embed/>
                </p:oleObj>
              </mc:Choice>
              <mc:Fallback>
                <p:oleObj name="Equation" r:id="rId12" imgW="3377880" imgH="927000" progId="Equation.DSMT4">
                  <p:embed/>
                  <p:pic>
                    <p:nvPicPr>
                      <p:cNvPr id="0" name=""/>
                      <p:cNvPicPr>
                        <a:picLocks noChangeAspect="1" noChangeArrowheads="1"/>
                      </p:cNvPicPr>
                      <p:nvPr/>
                    </p:nvPicPr>
                    <p:blipFill>
                      <a:blip r:embed="rId13"/>
                      <a:srcRect/>
                      <a:stretch>
                        <a:fillRect/>
                      </a:stretch>
                    </p:blipFill>
                    <p:spPr bwMode="auto">
                      <a:xfrm>
                        <a:off x="2913187" y="4496193"/>
                        <a:ext cx="3378200"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0672" name="Object 128"/>
          <p:cNvGraphicFramePr>
            <a:graphicFrameLocks noChangeAspect="1"/>
          </p:cNvGraphicFramePr>
          <p:nvPr>
            <p:extLst/>
          </p:nvPr>
        </p:nvGraphicFramePr>
        <p:xfrm>
          <a:off x="6392987" y="4730135"/>
          <a:ext cx="482600" cy="317500"/>
        </p:xfrm>
        <a:graphic>
          <a:graphicData uri="http://schemas.openxmlformats.org/presentationml/2006/ole">
            <mc:AlternateContent xmlns:mc="http://schemas.openxmlformats.org/markup-compatibility/2006">
              <mc:Choice xmlns:v="urn:schemas-microsoft-com:vml" Requires="v">
                <p:oleObj spid="_x0000_s120475" name="Equation" r:id="rId14" imgW="482400" imgH="317160" progId="Equation.DSMT4">
                  <p:embed/>
                </p:oleObj>
              </mc:Choice>
              <mc:Fallback>
                <p:oleObj name="Equation" r:id="rId14" imgW="482400" imgH="31716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92987" y="4730135"/>
                        <a:ext cx="4826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0673" name="Text Box 129"/>
          <p:cNvSpPr txBox="1">
            <a:spLocks noChangeArrowheads="1"/>
          </p:cNvSpPr>
          <p:nvPr/>
        </p:nvSpPr>
        <p:spPr bwMode="auto">
          <a:xfrm>
            <a:off x="631729" y="332656"/>
            <a:ext cx="6532559"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000" b="1" dirty="0">
                <a:solidFill>
                  <a:srgbClr val="0000FF"/>
                </a:solidFill>
                <a:effectLst/>
                <a:ea typeface="宋体" pitchFamily="2" charset="-122"/>
              </a:rPr>
              <a:t>二</a:t>
            </a:r>
            <a:r>
              <a:rPr kumimoji="1" lang="en-US" altLang="zh-CN" sz="3000" b="1" dirty="0">
                <a:solidFill>
                  <a:srgbClr val="0000FF"/>
                </a:solidFill>
                <a:effectLst/>
                <a:ea typeface="宋体" pitchFamily="2" charset="-122"/>
              </a:rPr>
              <a:t>). </a:t>
            </a:r>
            <a:r>
              <a:rPr kumimoji="1" lang="zh-CN" altLang="en-US" sz="3000" b="1" dirty="0">
                <a:solidFill>
                  <a:srgbClr val="0000FF"/>
                </a:solidFill>
                <a:effectLst/>
                <a:ea typeface="宋体" pitchFamily="2" charset="-122"/>
              </a:rPr>
              <a:t>自然发生过程的不可逆性</a:t>
            </a:r>
            <a:r>
              <a:rPr kumimoji="1" lang="en-US" altLang="zh-CN" sz="3000" b="1" dirty="0">
                <a:solidFill>
                  <a:srgbClr val="0000FF"/>
                </a:solidFill>
                <a:effectLst/>
                <a:ea typeface="宋体" pitchFamily="2" charset="-122"/>
              </a:rPr>
              <a:t>(</a:t>
            </a:r>
            <a:r>
              <a:rPr kumimoji="1" lang="zh-CN" altLang="en-US" sz="3000" b="1" dirty="0">
                <a:solidFill>
                  <a:srgbClr val="0000FF"/>
                </a:solidFill>
                <a:effectLst/>
                <a:ea typeface="宋体" pitchFamily="2" charset="-122"/>
              </a:rPr>
              <a:t>方向性</a:t>
            </a:r>
            <a:r>
              <a:rPr kumimoji="1" lang="en-US" altLang="zh-CN" sz="3000" b="1" dirty="0">
                <a:solidFill>
                  <a:srgbClr val="0000FF"/>
                </a:solidFill>
                <a:effectLst/>
                <a:ea typeface="宋体" pitchFamily="2" charset="-122"/>
              </a:rPr>
              <a:t>)</a:t>
            </a:r>
          </a:p>
        </p:txBody>
      </p:sp>
      <p:grpSp>
        <p:nvGrpSpPr>
          <p:cNvPr id="620684" name="Group 140"/>
          <p:cNvGrpSpPr>
            <a:grpSpLocks/>
          </p:cNvGrpSpPr>
          <p:nvPr/>
        </p:nvGrpSpPr>
        <p:grpSpPr bwMode="auto">
          <a:xfrm>
            <a:off x="216025" y="5373216"/>
            <a:ext cx="4779963" cy="461963"/>
            <a:chOff x="736" y="3113"/>
            <a:chExt cx="3011" cy="291"/>
          </a:xfrm>
        </p:grpSpPr>
        <p:sp>
          <p:nvSpPr>
            <p:cNvPr id="620675" name="Rectangle 131"/>
            <p:cNvSpPr>
              <a:spLocks noChangeArrowheads="1"/>
            </p:cNvSpPr>
            <p:nvPr/>
          </p:nvSpPr>
          <p:spPr bwMode="auto">
            <a:xfrm>
              <a:off x="2616" y="3129"/>
              <a:ext cx="113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D60093"/>
                  </a:solidFill>
                  <a:effectLst/>
                  <a:latin typeface="华文隶书" pitchFamily="2" charset="-122"/>
                  <a:ea typeface="华文隶书" pitchFamily="2" charset="-122"/>
                </a:rPr>
                <a:t>系统的熵增加</a:t>
              </a:r>
              <a:r>
                <a:rPr kumimoji="1" lang="en-US" altLang="zh-CN" b="1" dirty="0">
                  <a:solidFill>
                    <a:srgbClr val="D60093"/>
                  </a:solidFill>
                  <a:effectLst/>
                  <a:latin typeface="华文隶书" pitchFamily="2" charset="-122"/>
                  <a:ea typeface="华文隶书" pitchFamily="2" charset="-122"/>
                </a:rPr>
                <a:t>!</a:t>
              </a:r>
            </a:p>
          </p:txBody>
        </p:sp>
        <p:sp>
          <p:nvSpPr>
            <p:cNvPr id="620676" name="Rectangle 132"/>
            <p:cNvSpPr>
              <a:spLocks noChangeArrowheads="1"/>
            </p:cNvSpPr>
            <p:nvPr/>
          </p:nvSpPr>
          <p:spPr bwMode="auto">
            <a:xfrm>
              <a:off x="736" y="3113"/>
              <a:ext cx="17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chemeClr val="tx1"/>
                  </a:solidFill>
                  <a:effectLst/>
                  <a:ea typeface="宋体" pitchFamily="2" charset="-122"/>
                </a:rPr>
                <a:t>即不可逆绝热过程</a:t>
              </a:r>
              <a:r>
                <a:rPr kumimoji="1" lang="en-US" altLang="zh-CN" sz="2400" b="1" dirty="0">
                  <a:solidFill>
                    <a:schemeClr val="tx1"/>
                  </a:solidFill>
                  <a:effectLst/>
                  <a:ea typeface="宋体" pitchFamily="2" charset="-122"/>
                </a:rPr>
                <a:t>,</a:t>
              </a:r>
            </a:p>
          </p:txBody>
        </p:sp>
      </p:grpSp>
      <p:sp>
        <p:nvSpPr>
          <p:cNvPr id="620678" name="Rectangle 134"/>
          <p:cNvSpPr>
            <a:spLocks noChangeArrowheads="1"/>
          </p:cNvSpPr>
          <p:nvPr/>
        </p:nvSpPr>
        <p:spPr bwMode="auto">
          <a:xfrm>
            <a:off x="0" y="-26988"/>
            <a:ext cx="1835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a:solidFill>
                  <a:schemeClr val="bg1"/>
                </a:solidFill>
                <a:effectLst/>
              </a:rPr>
              <a:t>熵</a:t>
            </a:r>
            <a:r>
              <a:rPr kumimoji="1" lang="zh-CN" altLang="en-US">
                <a:effectLst>
                  <a:outerShdw blurRad="38100" dist="38100" dir="2700000" algn="tl">
                    <a:srgbClr val="C0C0C0"/>
                  </a:outerShdw>
                </a:effectLst>
              </a:rPr>
              <a:t> </a:t>
            </a:r>
          </a:p>
        </p:txBody>
      </p:sp>
      <p:sp>
        <p:nvSpPr>
          <p:cNvPr id="620680" name="Text Box 136"/>
          <p:cNvSpPr txBox="1">
            <a:spLocks noChangeArrowheads="1"/>
          </p:cNvSpPr>
          <p:nvPr/>
        </p:nvSpPr>
        <p:spPr bwMode="auto">
          <a:xfrm>
            <a:off x="235075" y="3501008"/>
            <a:ext cx="732948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50000"/>
              </a:spcBef>
            </a:pPr>
            <a:r>
              <a:rPr kumimoji="1" lang="zh-CN" altLang="en-US" sz="2400" b="1" dirty="0">
                <a:solidFill>
                  <a:schemeClr val="tx1"/>
                </a:solidFill>
                <a:effectLst/>
                <a:sym typeface="Symbol" pitchFamily="18" charset="2"/>
              </a:rPr>
              <a:t>因为</a:t>
            </a:r>
            <a:r>
              <a:rPr kumimoji="1" lang="zh-CN" altLang="en-US" sz="2400" b="1" dirty="0">
                <a:solidFill>
                  <a:schemeClr val="tx1"/>
                </a:solidFill>
                <a:effectLst/>
              </a:rPr>
              <a:t>熵的变化只决定于初态和末态</a:t>
            </a:r>
            <a:r>
              <a:rPr kumimoji="1" lang="en-US" altLang="zh-CN" sz="2400" b="1" dirty="0">
                <a:solidFill>
                  <a:schemeClr val="tx1"/>
                </a:solidFill>
                <a:effectLst/>
              </a:rPr>
              <a:t>:</a:t>
            </a:r>
          </a:p>
        </p:txBody>
      </p:sp>
      <p:sp>
        <p:nvSpPr>
          <p:cNvPr id="2" name="矩形 1"/>
          <p:cNvSpPr/>
          <p:nvPr/>
        </p:nvSpPr>
        <p:spPr>
          <a:xfrm>
            <a:off x="313663" y="3068960"/>
            <a:ext cx="5521063" cy="461665"/>
          </a:xfrm>
          <a:prstGeom prst="rect">
            <a:avLst/>
          </a:prstGeom>
        </p:spPr>
        <p:txBody>
          <a:bodyPr wrap="none">
            <a:spAutoFit/>
          </a:bodyPr>
          <a:lstStyle/>
          <a:p>
            <a:r>
              <a:rPr lang="zh-CN" altLang="en-US" sz="2400" b="1" dirty="0"/>
              <a:t>内能不变，平均温度不变，过程不可逆 </a:t>
            </a:r>
          </a:p>
        </p:txBody>
      </p:sp>
      <p:pic>
        <p:nvPicPr>
          <p:cNvPr id="85153" name="Picture 16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108825" y="2935497"/>
            <a:ext cx="1657350" cy="163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 name="Rectangle 7"/>
          <p:cNvSpPr>
            <a:spLocks noChangeArrowheads="1"/>
          </p:cNvSpPr>
          <p:nvPr/>
        </p:nvSpPr>
        <p:spPr bwMode="auto">
          <a:xfrm>
            <a:off x="6085114" y="5564132"/>
            <a:ext cx="2922289" cy="1292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 hangingPunct="0">
              <a:lnSpc>
                <a:spcPct val="110000"/>
              </a:lnSpc>
            </a:pPr>
            <a:r>
              <a:rPr kumimoji="1" lang="zh-CN" altLang="en-US" sz="2500" b="1" dirty="0">
                <a:solidFill>
                  <a:srgbClr val="0000CC"/>
                </a:solidFill>
                <a:effectLst/>
                <a:ea typeface="宋体" pitchFamily="2" charset="-122"/>
              </a:rPr>
              <a:t>一切</a:t>
            </a:r>
            <a:r>
              <a:rPr kumimoji="1" lang="zh-CN" altLang="zh-CN" sz="2500" b="1" dirty="0">
                <a:solidFill>
                  <a:srgbClr val="0000CC"/>
                </a:solidFill>
                <a:effectLst/>
                <a:ea typeface="宋体" pitchFamily="2" charset="-122"/>
              </a:rPr>
              <a:t>自发</a:t>
            </a:r>
            <a:r>
              <a:rPr kumimoji="1" lang="zh-CN" altLang="en-US" sz="2500" b="1" dirty="0">
                <a:solidFill>
                  <a:srgbClr val="0000CC"/>
                </a:solidFill>
                <a:effectLst/>
                <a:ea typeface="宋体" pitchFamily="2" charset="-122"/>
              </a:rPr>
              <a:t>（不可逆）</a:t>
            </a:r>
            <a:r>
              <a:rPr kumimoji="1" lang="zh-CN" altLang="zh-CN" sz="2500" b="1" dirty="0">
                <a:solidFill>
                  <a:srgbClr val="0000CC"/>
                </a:solidFill>
                <a:effectLst/>
                <a:ea typeface="宋体" pitchFamily="2" charset="-122"/>
              </a:rPr>
              <a:t>过程</a:t>
            </a:r>
            <a:r>
              <a:rPr kumimoji="1" lang="zh-CN" altLang="en-US" sz="2500" b="1" dirty="0">
                <a:solidFill>
                  <a:srgbClr val="0000CC"/>
                </a:solidFill>
                <a:effectLst/>
                <a:ea typeface="宋体" pitchFamily="2" charset="-122"/>
              </a:rPr>
              <a:t>总是沿</a:t>
            </a:r>
            <a:r>
              <a:rPr kumimoji="1" lang="zh-CN" altLang="zh-CN" sz="2500" b="1" dirty="0">
                <a:solidFill>
                  <a:srgbClr val="0000CC"/>
                </a:solidFill>
                <a:effectLst/>
                <a:ea typeface="宋体" pitchFamily="2" charset="-122"/>
              </a:rPr>
              <a:t>熵增加</a:t>
            </a:r>
            <a:r>
              <a:rPr kumimoji="1" lang="zh-CN" altLang="en-US" sz="2500" b="1" dirty="0">
                <a:solidFill>
                  <a:srgbClr val="0000CC"/>
                </a:solidFill>
                <a:effectLst/>
                <a:ea typeface="宋体" pitchFamily="2" charset="-122"/>
              </a:rPr>
              <a:t>的方向进行</a:t>
            </a:r>
            <a:r>
              <a:rPr kumimoji="1" lang="en-US" altLang="zh-CN" sz="2500" b="1" dirty="0">
                <a:solidFill>
                  <a:srgbClr val="0000CC"/>
                </a:solidFill>
                <a:effectLst/>
                <a:ea typeface="宋体" pitchFamily="2" charset="-122"/>
              </a:rPr>
              <a:t>.</a:t>
            </a:r>
          </a:p>
        </p:txBody>
      </p:sp>
      <p:sp>
        <p:nvSpPr>
          <p:cNvPr id="128" name="Rectangle 9"/>
          <p:cNvSpPr>
            <a:spLocks noChangeArrowheads="1"/>
          </p:cNvSpPr>
          <p:nvPr/>
        </p:nvSpPr>
        <p:spPr bwMode="auto">
          <a:xfrm>
            <a:off x="212478" y="6006624"/>
            <a:ext cx="5807426" cy="553998"/>
          </a:xfrm>
          <a:prstGeom prst="rect">
            <a:avLst/>
          </a:prstGeom>
          <a:solidFill>
            <a:srgbClr val="FFFF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3000" b="1">
                <a:solidFill>
                  <a:schemeClr val="tx1"/>
                </a:solidFill>
                <a:effectLst/>
              </a:rPr>
              <a:t>绝热</a:t>
            </a:r>
            <a:r>
              <a:rPr kumimoji="1" lang="zh-CN" altLang="en-US" sz="3000" b="1" dirty="0">
                <a:solidFill>
                  <a:srgbClr val="FF0000"/>
                </a:solidFill>
                <a:effectLst/>
              </a:rPr>
              <a:t>不可逆过程</a:t>
            </a:r>
            <a:r>
              <a:rPr kumimoji="1" lang="zh-CN" altLang="en-US" sz="3000" b="1" dirty="0">
                <a:solidFill>
                  <a:schemeClr val="tx1"/>
                </a:solidFill>
                <a:effectLst/>
              </a:rPr>
              <a:t>，熵要增加 </a:t>
            </a:r>
            <a:r>
              <a:rPr kumimoji="1" lang="zh-CN" altLang="en-US" sz="3000" b="1" dirty="0">
                <a:solidFill>
                  <a:schemeClr val="tx1"/>
                </a:solidFill>
                <a:effectLst/>
                <a:sym typeface="Symbol" pitchFamily="18" charset="2"/>
              </a:rPr>
              <a:t></a:t>
            </a:r>
            <a:r>
              <a:rPr kumimoji="1" lang="en-US" altLang="zh-CN" sz="3000" b="1" dirty="0">
                <a:solidFill>
                  <a:schemeClr val="tx1"/>
                </a:solidFill>
                <a:effectLst/>
              </a:rPr>
              <a:t>S&gt;0</a:t>
            </a:r>
            <a:r>
              <a:rPr kumimoji="1" lang="zh-CN" altLang="en-US" sz="3000" b="1" dirty="0">
                <a:solidFill>
                  <a:schemeClr val="tx1"/>
                </a:solidFill>
                <a:effectLst/>
              </a:rPr>
              <a:t>。             </a:t>
            </a:r>
          </a:p>
        </p:txBody>
      </p:sp>
    </p:spTree>
    <p:extLst>
      <p:ext uri="{BB962C8B-B14F-4D97-AF65-F5344CB8AC3E}">
        <p14:creationId xmlns:p14="http://schemas.microsoft.com/office/powerpoint/2010/main" val="3667751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06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205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62059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620561"/>
                                        </p:tgtEl>
                                        <p:attrNameLst>
                                          <p:attrName>style.visibility</p:attrName>
                                        </p:attrNameLst>
                                      </p:cBhvr>
                                      <p:to>
                                        <p:strVal val="visible"/>
                                      </p:to>
                                    </p:set>
                                  </p:childTnLst>
                                  <p:subTnLst>
                                    <p:set>
                                      <p:cBhvr override="childStyle">
                                        <p:cTn dur="1" fill="hold" display="0" masterRel="nextClick" afterEffect="1"/>
                                        <p:tgtEl>
                                          <p:spTgt spid="620561"/>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2059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2066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2066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nodeType="clickEffect">
                                  <p:stCondLst>
                                    <p:cond delay="0"/>
                                  </p:stCondLst>
                                  <p:childTnLst>
                                    <p:set>
                                      <p:cBhvr>
                                        <p:cTn id="30" dur="1" fill="hold">
                                          <p:stCondLst>
                                            <p:cond delay="0"/>
                                          </p:stCondLst>
                                        </p:cTn>
                                        <p:tgtEl>
                                          <p:spTgt spid="620669"/>
                                        </p:tgtEl>
                                        <p:attrNameLst>
                                          <p:attrName>style.visibility</p:attrName>
                                        </p:attrNameLst>
                                      </p:cBhvr>
                                      <p:to>
                                        <p:strVal val="visible"/>
                                      </p:to>
                                    </p:set>
                                    <p:animEffect transition="in" filter="slide(fromBottom)">
                                      <p:cBhvr>
                                        <p:cTn id="31" dur="500"/>
                                        <p:tgtEl>
                                          <p:spTgt spid="62066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20680"/>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620666"/>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620670"/>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620671"/>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2" presetClass="entr" presetSubtype="4" fill="hold" nodeType="clickEffect">
                                  <p:stCondLst>
                                    <p:cond delay="0"/>
                                  </p:stCondLst>
                                  <p:childTnLst>
                                    <p:set>
                                      <p:cBhvr>
                                        <p:cTn id="55" dur="1" fill="hold">
                                          <p:stCondLst>
                                            <p:cond delay="0"/>
                                          </p:stCondLst>
                                        </p:cTn>
                                        <p:tgtEl>
                                          <p:spTgt spid="620672"/>
                                        </p:tgtEl>
                                        <p:attrNameLst>
                                          <p:attrName>style.visibility</p:attrName>
                                        </p:attrNameLst>
                                      </p:cBhvr>
                                      <p:to>
                                        <p:strVal val="visible"/>
                                      </p:to>
                                    </p:set>
                                    <p:animEffect transition="in" filter="slide(fromBottom)">
                                      <p:cBhvr>
                                        <p:cTn id="56" dur="500"/>
                                        <p:tgtEl>
                                          <p:spTgt spid="62067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nodeType="clickEffect">
                                  <p:stCondLst>
                                    <p:cond delay="0"/>
                                  </p:stCondLst>
                                  <p:childTnLst>
                                    <p:set>
                                      <p:cBhvr>
                                        <p:cTn id="60" dur="1" fill="hold">
                                          <p:stCondLst>
                                            <p:cond delay="0"/>
                                          </p:stCondLst>
                                        </p:cTn>
                                        <p:tgtEl>
                                          <p:spTgt spid="620684"/>
                                        </p:tgtEl>
                                        <p:attrNameLst>
                                          <p:attrName>style.visibility</p:attrName>
                                        </p:attrNameLst>
                                      </p:cBhvr>
                                      <p:to>
                                        <p:strVal val="visible"/>
                                      </p:to>
                                    </p:set>
                                    <p:animEffect transition="in" filter="blinds(horizontal)">
                                      <p:cBhvr>
                                        <p:cTn id="61" dur="500"/>
                                        <p:tgtEl>
                                          <p:spTgt spid="620684"/>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2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7" presetClass="entr" presetSubtype="2" fill="hold" grpId="0" nodeType="clickEffect">
                                  <p:stCondLst>
                                    <p:cond delay="0"/>
                                  </p:stCondLst>
                                  <p:childTnLst>
                                    <p:set>
                                      <p:cBhvr>
                                        <p:cTn id="69" dur="1" fill="hold">
                                          <p:stCondLst>
                                            <p:cond delay="0"/>
                                          </p:stCondLst>
                                        </p:cTn>
                                        <p:tgtEl>
                                          <p:spTgt spid="127"/>
                                        </p:tgtEl>
                                        <p:attrNameLst>
                                          <p:attrName>style.visibility</p:attrName>
                                        </p:attrNameLst>
                                      </p:cBhvr>
                                      <p:to>
                                        <p:strVal val="visible"/>
                                      </p:to>
                                    </p:set>
                                    <p:anim calcmode="lin" valueType="num">
                                      <p:cBhvr additive="base">
                                        <p:cTn id="70" dur="5000" fill="hold"/>
                                        <p:tgtEl>
                                          <p:spTgt spid="127"/>
                                        </p:tgtEl>
                                        <p:attrNameLst>
                                          <p:attrName>ppt_x</p:attrName>
                                        </p:attrNameLst>
                                      </p:cBhvr>
                                      <p:tavLst>
                                        <p:tav tm="0">
                                          <p:val>
                                            <p:strVal val="1+#ppt_w/2"/>
                                          </p:val>
                                        </p:tav>
                                        <p:tav tm="100000">
                                          <p:val>
                                            <p:strVal val="#ppt_x"/>
                                          </p:val>
                                        </p:tav>
                                      </p:tavLst>
                                    </p:anim>
                                    <p:anim calcmode="lin" valueType="num">
                                      <p:cBhvr additive="base">
                                        <p:cTn id="71" dur="5000" fill="hold"/>
                                        <p:tgtEl>
                                          <p:spTgt spid="1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0593" grpId="0" animBg="1"/>
      <p:bldP spid="620665" grpId="0" autoUpdateAnimBg="0"/>
      <p:bldP spid="620666" grpId="0" autoUpdateAnimBg="0"/>
      <p:bldP spid="620680" grpId="0" autoUpdateAnimBg="0"/>
      <p:bldP spid="2" grpId="0"/>
      <p:bldP spid="127" grpId="0"/>
      <p:bldP spid="12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2"/>
          <p:cNvSpPr txBox="1">
            <a:spLocks noChangeArrowheads="1"/>
          </p:cNvSpPr>
          <p:nvPr/>
        </p:nvSpPr>
        <p:spPr bwMode="auto">
          <a:xfrm>
            <a:off x="76200" y="166688"/>
            <a:ext cx="4351338" cy="519112"/>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sz="3200" b="1">
                <a:solidFill>
                  <a:schemeClr val="folHlink"/>
                </a:solidFill>
                <a:latin typeface="Arial" pitchFamily="34" charset="0"/>
                <a:ea typeface="楷体_GB2312" pitchFamily="49" charset="-122"/>
              </a:rPr>
              <a:t>三）、熵增加原理</a:t>
            </a:r>
          </a:p>
        </p:txBody>
      </p:sp>
      <p:sp>
        <p:nvSpPr>
          <p:cNvPr id="178179" name="Text Box 3"/>
          <p:cNvSpPr txBox="1">
            <a:spLocks noChangeArrowheads="1"/>
          </p:cNvSpPr>
          <p:nvPr/>
        </p:nvSpPr>
        <p:spPr bwMode="auto">
          <a:xfrm>
            <a:off x="700981" y="2676979"/>
            <a:ext cx="6665912" cy="522287"/>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dirty="0">
                <a:solidFill>
                  <a:schemeClr val="tx2"/>
                </a:solidFill>
                <a:ea typeface="楷体_GB2312" pitchFamily="49" charset="-122"/>
              </a:rPr>
              <a:t>体系</a:t>
            </a:r>
            <a:r>
              <a:rPr lang="zh-CN" altLang="en-US" sz="2800" b="1" dirty="0">
                <a:sym typeface="Symbol" pitchFamily="18" charset="2"/>
              </a:rPr>
              <a:t>经</a:t>
            </a:r>
            <a:r>
              <a:rPr lang="zh-CN" altLang="en-US" sz="2800" b="1" dirty="0">
                <a:solidFill>
                  <a:srgbClr val="3333FF"/>
                </a:solidFill>
                <a:sym typeface="Symbol" pitchFamily="18" charset="2"/>
              </a:rPr>
              <a:t>可逆</a:t>
            </a:r>
            <a:r>
              <a:rPr lang="zh-CN" altLang="en-US" sz="2800" b="1" dirty="0">
                <a:solidFill>
                  <a:srgbClr val="FF3300"/>
                </a:solidFill>
                <a:sym typeface="Symbol" pitchFamily="18" charset="2"/>
              </a:rPr>
              <a:t>绝热过程</a:t>
            </a:r>
            <a:r>
              <a:rPr lang="zh-CN" altLang="en-US" sz="2800" b="1" dirty="0">
                <a:sym typeface="Symbol" pitchFamily="18" charset="2"/>
              </a:rPr>
              <a:t>，它的</a:t>
            </a:r>
            <a:r>
              <a:rPr lang="zh-CN" altLang="en-US" sz="2800" b="1" dirty="0">
                <a:solidFill>
                  <a:srgbClr val="FF3300"/>
                </a:solidFill>
                <a:sym typeface="Symbol" pitchFamily="18" charset="2"/>
              </a:rPr>
              <a:t>熵不变</a:t>
            </a:r>
            <a:r>
              <a:rPr lang="zh-CN" altLang="en-US" sz="2800" b="1" dirty="0">
                <a:sym typeface="Symbol" pitchFamily="18" charset="2"/>
              </a:rPr>
              <a:t>。</a:t>
            </a:r>
            <a:endParaRPr lang="zh-CN" altLang="en-US" sz="2800" b="1" dirty="0">
              <a:solidFill>
                <a:srgbClr val="FF3300"/>
              </a:solidFill>
              <a:ea typeface="楷体_GB2312" pitchFamily="49" charset="-122"/>
              <a:sym typeface="Symbol" pitchFamily="18" charset="2"/>
            </a:endParaRPr>
          </a:p>
        </p:txBody>
      </p:sp>
      <p:graphicFrame>
        <p:nvGraphicFramePr>
          <p:cNvPr id="3" name="对象 2"/>
          <p:cNvGraphicFramePr>
            <a:graphicFrameLocks noChangeAspect="1"/>
          </p:cNvGraphicFramePr>
          <p:nvPr/>
        </p:nvGraphicFramePr>
        <p:xfrm>
          <a:off x="684213" y="836613"/>
          <a:ext cx="2216150" cy="1025525"/>
        </p:xfrm>
        <a:graphic>
          <a:graphicData uri="http://schemas.openxmlformats.org/presentationml/2006/ole">
            <mc:AlternateContent xmlns:mc="http://schemas.openxmlformats.org/markup-compatibility/2006">
              <mc:Choice xmlns:v="urn:schemas-microsoft-com:vml" Requires="v">
                <p:oleObj spid="_x0000_s121374" name="公式" r:id="rId4" imgW="1016000" imgH="469900" progId="Equation.3">
                  <p:embed/>
                </p:oleObj>
              </mc:Choice>
              <mc:Fallback>
                <p:oleObj name="公式" r:id="rId4" imgW="1016000" imgH="4699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836613"/>
                        <a:ext cx="2216150" cy="10255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6"/>
          <p:cNvSpPr txBox="1">
            <a:spLocks noChangeArrowheads="1"/>
          </p:cNvSpPr>
          <p:nvPr/>
        </p:nvSpPr>
        <p:spPr bwMode="auto">
          <a:xfrm>
            <a:off x="160533" y="4221088"/>
            <a:ext cx="7795843" cy="52322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800" b="1" dirty="0">
                <a:solidFill>
                  <a:srgbClr val="FF3300"/>
                </a:solidFill>
                <a:ea typeface="楷体_GB2312" pitchFamily="49" charset="-122"/>
              </a:rPr>
              <a:t>理想气体经绝热向真空的自由膨胀</a:t>
            </a:r>
            <a:r>
              <a:rPr lang="en-US" altLang="zh-CN" sz="2800" b="1" dirty="0">
                <a:solidFill>
                  <a:srgbClr val="3333FF"/>
                </a:solidFill>
                <a:ea typeface="楷体_GB2312" pitchFamily="49" charset="-122"/>
              </a:rPr>
              <a:t>(</a:t>
            </a:r>
            <a:r>
              <a:rPr lang="zh-CN" altLang="en-US" sz="2800" b="1" dirty="0">
                <a:solidFill>
                  <a:srgbClr val="3333FF"/>
                </a:solidFill>
                <a:ea typeface="楷体_GB2312" pitchFamily="49" charset="-122"/>
              </a:rPr>
              <a:t>不可逆过程</a:t>
            </a:r>
            <a:r>
              <a:rPr lang="en-US" altLang="zh-CN" sz="2800" b="1" dirty="0">
                <a:solidFill>
                  <a:srgbClr val="3333FF"/>
                </a:solidFill>
                <a:ea typeface="楷体_GB2312" pitchFamily="49" charset="-122"/>
              </a:rPr>
              <a:t>)</a:t>
            </a:r>
            <a:endParaRPr lang="en-US" altLang="zh-CN" sz="2400" dirty="0">
              <a:solidFill>
                <a:srgbClr val="3333FF"/>
              </a:solidFill>
            </a:endParaRPr>
          </a:p>
        </p:txBody>
      </p:sp>
      <p:grpSp>
        <p:nvGrpSpPr>
          <p:cNvPr id="55303" name="组合 4"/>
          <p:cNvGrpSpPr>
            <a:grpSpLocks/>
          </p:cNvGrpSpPr>
          <p:nvPr/>
        </p:nvGrpSpPr>
        <p:grpSpPr bwMode="auto">
          <a:xfrm>
            <a:off x="5786438" y="315913"/>
            <a:ext cx="2290762" cy="1673225"/>
            <a:chOff x="5785964" y="315182"/>
            <a:chExt cx="2291236" cy="1673658"/>
          </a:xfrm>
        </p:grpSpPr>
        <p:sp>
          <p:nvSpPr>
            <p:cNvPr id="55306" name="Line 4"/>
            <p:cNvSpPr>
              <a:spLocks noChangeShapeType="1"/>
            </p:cNvSpPr>
            <p:nvPr/>
          </p:nvSpPr>
          <p:spPr bwMode="auto">
            <a:xfrm>
              <a:off x="5796136" y="315182"/>
              <a:ext cx="0" cy="1673658"/>
            </a:xfrm>
            <a:prstGeom prst="line">
              <a:avLst/>
            </a:prstGeom>
            <a:noFill/>
            <a:ln w="9525">
              <a:solidFill>
                <a:srgbClr val="FF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07" name="Line 5"/>
            <p:cNvSpPr>
              <a:spLocks noChangeShapeType="1"/>
            </p:cNvSpPr>
            <p:nvPr/>
          </p:nvSpPr>
          <p:spPr bwMode="auto">
            <a:xfrm>
              <a:off x="5785964" y="1988840"/>
              <a:ext cx="2291236"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08" name="Freeform 6"/>
            <p:cNvSpPr>
              <a:spLocks/>
            </p:cNvSpPr>
            <p:nvPr/>
          </p:nvSpPr>
          <p:spPr bwMode="auto">
            <a:xfrm>
              <a:off x="6372200" y="685800"/>
              <a:ext cx="1400200" cy="1150640"/>
            </a:xfrm>
            <a:custGeom>
              <a:avLst/>
              <a:gdLst>
                <a:gd name="T0" fmla="*/ 0 w 528"/>
                <a:gd name="T1" fmla="*/ 0 h 528"/>
                <a:gd name="T2" fmla="*/ 2147483647 w 528"/>
                <a:gd name="T3" fmla="*/ 2147483647 h 528"/>
                <a:gd name="T4" fmla="*/ 2147483647 w 528"/>
                <a:gd name="T5" fmla="*/ 2147483647 h 528"/>
                <a:gd name="T6" fmla="*/ 0 60000 65536"/>
                <a:gd name="T7" fmla="*/ 0 60000 65536"/>
                <a:gd name="T8" fmla="*/ 0 60000 65536"/>
              </a:gdLst>
              <a:ahLst/>
              <a:cxnLst>
                <a:cxn ang="T6">
                  <a:pos x="T0" y="T1"/>
                </a:cxn>
                <a:cxn ang="T7">
                  <a:pos x="T2" y="T3"/>
                </a:cxn>
                <a:cxn ang="T8">
                  <a:pos x="T4" y="T5"/>
                </a:cxn>
              </a:cxnLst>
              <a:rect l="0" t="0" r="r" b="b"/>
              <a:pathLst>
                <a:path w="528" h="528">
                  <a:moveTo>
                    <a:pt x="0" y="0"/>
                  </a:moveTo>
                  <a:cubicBezTo>
                    <a:pt x="4" y="148"/>
                    <a:pt x="8" y="296"/>
                    <a:pt x="96" y="384"/>
                  </a:cubicBezTo>
                  <a:cubicBezTo>
                    <a:pt x="184" y="472"/>
                    <a:pt x="356" y="500"/>
                    <a:pt x="528" y="528"/>
                  </a:cubicBezTo>
                </a:path>
              </a:pathLst>
            </a:custGeom>
            <a:noFill/>
            <a:ln w="25400" cap="flat" cmpd="sng">
              <a:solidFill>
                <a:srgbClr val="FF00FF"/>
              </a:solidFill>
              <a:prstDash val="solid"/>
              <a:round/>
              <a:headEn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09" name="Freeform 7"/>
            <p:cNvSpPr>
              <a:spLocks/>
            </p:cNvSpPr>
            <p:nvPr/>
          </p:nvSpPr>
          <p:spPr bwMode="auto">
            <a:xfrm>
              <a:off x="6372200" y="685800"/>
              <a:ext cx="1400200" cy="1150640"/>
            </a:xfrm>
            <a:custGeom>
              <a:avLst/>
              <a:gdLst>
                <a:gd name="T0" fmla="*/ 0 w 528"/>
                <a:gd name="T1" fmla="*/ 0 h 528"/>
                <a:gd name="T2" fmla="*/ 2147483647 w 528"/>
                <a:gd name="T3" fmla="*/ 2147483647 h 528"/>
                <a:gd name="T4" fmla="*/ 2147483647 w 528"/>
                <a:gd name="T5" fmla="*/ 2147483647 h 528"/>
                <a:gd name="T6" fmla="*/ 0 60000 65536"/>
                <a:gd name="T7" fmla="*/ 0 60000 65536"/>
                <a:gd name="T8" fmla="*/ 0 60000 65536"/>
              </a:gdLst>
              <a:ahLst/>
              <a:cxnLst>
                <a:cxn ang="T6">
                  <a:pos x="T0" y="T1"/>
                </a:cxn>
                <a:cxn ang="T7">
                  <a:pos x="T2" y="T3"/>
                </a:cxn>
                <a:cxn ang="T8">
                  <a:pos x="T4" y="T5"/>
                </a:cxn>
              </a:cxnLst>
              <a:rect l="0" t="0" r="r" b="b"/>
              <a:pathLst>
                <a:path w="528" h="528">
                  <a:moveTo>
                    <a:pt x="0" y="0"/>
                  </a:moveTo>
                  <a:cubicBezTo>
                    <a:pt x="4" y="148"/>
                    <a:pt x="8" y="296"/>
                    <a:pt x="96" y="384"/>
                  </a:cubicBezTo>
                  <a:cubicBezTo>
                    <a:pt x="184" y="472"/>
                    <a:pt x="356" y="500"/>
                    <a:pt x="528" y="528"/>
                  </a:cubicBezTo>
                </a:path>
              </a:pathLst>
            </a:custGeom>
            <a:noFill/>
            <a:ln w="9525" cap="flat" cmpd="sng">
              <a:solidFill>
                <a:srgbClr val="3333FF"/>
              </a:solidFill>
              <a:prstDash val="solid"/>
              <a:round/>
              <a:headEnd type="triangle" w="med" len="med"/>
              <a:tailEnd type="non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 name="对象 1"/>
          <p:cNvGraphicFramePr>
            <a:graphicFrameLocks noChangeAspect="1"/>
          </p:cNvGraphicFramePr>
          <p:nvPr>
            <p:extLst/>
          </p:nvPr>
        </p:nvGraphicFramePr>
        <p:xfrm>
          <a:off x="2518764" y="3284984"/>
          <a:ext cx="2195512" cy="723900"/>
        </p:xfrm>
        <a:graphic>
          <a:graphicData uri="http://schemas.openxmlformats.org/presentationml/2006/ole">
            <mc:AlternateContent xmlns:mc="http://schemas.openxmlformats.org/markup-compatibility/2006">
              <mc:Choice xmlns:v="urn:schemas-microsoft-com:vml" Requires="v">
                <p:oleObj spid="_x0000_s121375" name="公式" r:id="rId6" imgW="1193800" imgH="393700" progId="Equation.3">
                  <p:embed/>
                </p:oleObj>
              </mc:Choice>
              <mc:Fallback>
                <p:oleObj name="公式" r:id="rId6" imgW="1193800" imgH="3937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8764" y="3284984"/>
                        <a:ext cx="2195512" cy="723900"/>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extLst/>
          </p:nvPr>
        </p:nvGraphicFramePr>
        <p:xfrm>
          <a:off x="3551929" y="5022180"/>
          <a:ext cx="3378200" cy="927100"/>
        </p:xfrm>
        <a:graphic>
          <a:graphicData uri="http://schemas.openxmlformats.org/presentationml/2006/ole">
            <mc:AlternateContent xmlns:mc="http://schemas.openxmlformats.org/markup-compatibility/2006">
              <mc:Choice xmlns:v="urn:schemas-microsoft-com:vml" Requires="v">
                <p:oleObj spid="_x0000_s121376" name="Equation" r:id="rId8" imgW="3377880" imgH="927000" progId="Equation.DSMT4">
                  <p:embed/>
                </p:oleObj>
              </mc:Choice>
              <mc:Fallback>
                <p:oleObj name="Equation" r:id="rId8" imgW="3377880" imgH="927000" progId="Equation.DSMT4">
                  <p:embed/>
                  <p:pic>
                    <p:nvPicPr>
                      <p:cNvPr id="0" name=""/>
                      <p:cNvPicPr>
                        <a:picLocks noChangeAspect="1" noChangeArrowheads="1"/>
                      </p:cNvPicPr>
                      <p:nvPr/>
                    </p:nvPicPr>
                    <p:blipFill>
                      <a:blip r:embed="rId9"/>
                      <a:srcRect/>
                      <a:stretch>
                        <a:fillRect/>
                      </a:stretch>
                    </p:blipFill>
                    <p:spPr bwMode="auto">
                      <a:xfrm>
                        <a:off x="3551929" y="5022180"/>
                        <a:ext cx="3378200"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nvPr>
        </p:nvGraphicFramePr>
        <p:xfrm>
          <a:off x="899592" y="5022180"/>
          <a:ext cx="2476500" cy="825500"/>
        </p:xfrm>
        <a:graphic>
          <a:graphicData uri="http://schemas.openxmlformats.org/presentationml/2006/ole">
            <mc:AlternateContent xmlns:mc="http://schemas.openxmlformats.org/markup-compatibility/2006">
              <mc:Choice xmlns:v="urn:schemas-microsoft-com:vml" Requires="v">
                <p:oleObj spid="_x0000_s121377" name="Equation" r:id="rId10" imgW="2476500" imgH="825500" progId="Equation.DSMT4">
                  <p:embed/>
                </p:oleObj>
              </mc:Choice>
              <mc:Fallback>
                <p:oleObj name="Equation" r:id="rId10" imgW="2476500" imgH="8255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9592" y="5022180"/>
                        <a:ext cx="24765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nvPr>
        </p:nvGraphicFramePr>
        <p:xfrm>
          <a:off x="7108825" y="5310212"/>
          <a:ext cx="482600" cy="317500"/>
        </p:xfrm>
        <a:graphic>
          <a:graphicData uri="http://schemas.openxmlformats.org/presentationml/2006/ole">
            <mc:AlternateContent xmlns:mc="http://schemas.openxmlformats.org/markup-compatibility/2006">
              <mc:Choice xmlns:v="urn:schemas-microsoft-com:vml" Requires="v">
                <p:oleObj spid="_x0000_s121378" name="Equation" r:id="rId12" imgW="482181" imgH="317225" progId="Equation.DSMT4">
                  <p:embed/>
                </p:oleObj>
              </mc:Choice>
              <mc:Fallback>
                <p:oleObj name="Equation" r:id="rId12" imgW="482181" imgH="317225"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08825" y="5310212"/>
                        <a:ext cx="4826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8094500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178"/>
                                        </p:tgtEl>
                                        <p:attrNameLst>
                                          <p:attrName>style.visibility</p:attrName>
                                        </p:attrNameLst>
                                      </p:cBhvr>
                                      <p:to>
                                        <p:strVal val="visible"/>
                                      </p:to>
                                    </p:set>
                                    <p:animEffect transition="in" filter="wipe(left)">
                                      <p:cBhvr>
                                        <p:cTn id="7" dur="500"/>
                                        <p:tgtEl>
                                          <p:spTgt spid="1781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8179"/>
                                        </p:tgtEl>
                                        <p:attrNameLst>
                                          <p:attrName>style.visibility</p:attrName>
                                        </p:attrNameLst>
                                      </p:cBhvr>
                                      <p:to>
                                        <p:strVal val="visible"/>
                                      </p:to>
                                    </p:set>
                                    <p:animEffect transition="in" filter="wipe(left)">
                                      <p:cBhvr>
                                        <p:cTn id="17" dur="500"/>
                                        <p:tgtEl>
                                          <p:spTgt spid="1781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30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slide(fromBottom)">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animBg="1" autoUpdateAnimBg="0"/>
      <p:bldP spid="178179" grpId="0" animBg="1" autoUpdateAnimBg="0"/>
      <p:bldP spid="10"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p:cNvSpPr txBox="1">
            <a:spLocks noChangeArrowheads="1"/>
          </p:cNvSpPr>
          <p:nvPr/>
        </p:nvSpPr>
        <p:spPr bwMode="auto">
          <a:xfrm>
            <a:off x="457200" y="692150"/>
            <a:ext cx="8075613" cy="1816100"/>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0000FF"/>
                </a:solidFill>
                <a:ea typeface="楷体_GB2312" pitchFamily="49" charset="-122"/>
              </a:rPr>
              <a:t>熵增加原理内容：</a:t>
            </a:r>
            <a:r>
              <a:rPr lang="en-US" altLang="zh-CN" sz="2800" b="1">
                <a:sym typeface="Symbol" pitchFamily="18" charset="2"/>
              </a:rPr>
              <a:t> </a:t>
            </a:r>
            <a:r>
              <a:rPr lang="zh-CN" altLang="en-US" sz="2800" b="1">
                <a:solidFill>
                  <a:srgbClr val="FF0000"/>
                </a:solidFill>
                <a:sym typeface="Symbol" pitchFamily="18" charset="2"/>
              </a:rPr>
              <a:t>孤立系统经一</a:t>
            </a:r>
            <a:r>
              <a:rPr lang="zh-CN" altLang="en-US" sz="2800" b="1">
                <a:solidFill>
                  <a:srgbClr val="FF3300"/>
                </a:solidFill>
                <a:sym typeface="Symbol" pitchFamily="18" charset="2"/>
              </a:rPr>
              <a:t>绝热过程</a:t>
            </a:r>
            <a:r>
              <a:rPr lang="zh-CN" altLang="en-US" sz="2800" b="1">
                <a:sym typeface="Symbol" pitchFamily="18" charset="2"/>
              </a:rPr>
              <a:t>后从一状态变为另一状态，它的</a:t>
            </a:r>
            <a:r>
              <a:rPr lang="zh-CN" altLang="en-US" sz="2800" b="1">
                <a:solidFill>
                  <a:srgbClr val="FF3300"/>
                </a:solidFill>
                <a:sym typeface="Symbol" pitchFamily="18" charset="2"/>
              </a:rPr>
              <a:t>熵永不减少</a:t>
            </a:r>
            <a:r>
              <a:rPr lang="zh-CN" altLang="en-US" sz="2800" b="1">
                <a:sym typeface="Symbol" pitchFamily="18" charset="2"/>
              </a:rPr>
              <a:t>。如果过程是</a:t>
            </a:r>
            <a:r>
              <a:rPr lang="zh-CN" altLang="en-US" sz="2800" b="1">
                <a:solidFill>
                  <a:srgbClr val="FF3300"/>
                </a:solidFill>
                <a:sym typeface="Symbol" pitchFamily="18" charset="2"/>
              </a:rPr>
              <a:t>可逆的</a:t>
            </a:r>
            <a:r>
              <a:rPr lang="zh-CN" altLang="en-US" sz="2800" b="1">
                <a:sym typeface="Symbol" pitchFamily="18" charset="2"/>
              </a:rPr>
              <a:t>，则</a:t>
            </a:r>
            <a:r>
              <a:rPr lang="zh-CN" altLang="en-US" sz="2800" b="1">
                <a:solidFill>
                  <a:srgbClr val="FF3300"/>
                </a:solidFill>
                <a:sym typeface="Symbol" pitchFamily="18" charset="2"/>
              </a:rPr>
              <a:t>熵的数值不变</a:t>
            </a:r>
            <a:r>
              <a:rPr lang="zh-CN" altLang="en-US" sz="2800" b="1">
                <a:sym typeface="Symbol" pitchFamily="18" charset="2"/>
              </a:rPr>
              <a:t>；如果过程是</a:t>
            </a:r>
            <a:r>
              <a:rPr lang="zh-CN" altLang="en-US" sz="2800" b="1">
                <a:solidFill>
                  <a:srgbClr val="FF3300"/>
                </a:solidFill>
                <a:sym typeface="Symbol" pitchFamily="18" charset="2"/>
              </a:rPr>
              <a:t>不可逆</a:t>
            </a:r>
            <a:r>
              <a:rPr lang="zh-CN" altLang="en-US" sz="2800" b="1">
                <a:sym typeface="Symbol" pitchFamily="18" charset="2"/>
              </a:rPr>
              <a:t>的，则</a:t>
            </a:r>
            <a:r>
              <a:rPr lang="zh-CN" altLang="en-US" sz="2800" b="1">
                <a:solidFill>
                  <a:srgbClr val="FF3300"/>
                </a:solidFill>
                <a:sym typeface="Symbol" pitchFamily="18" charset="2"/>
              </a:rPr>
              <a:t>熵的数值增加。</a:t>
            </a:r>
            <a:endParaRPr lang="zh-CN" altLang="en-US" sz="2800" b="1">
              <a:solidFill>
                <a:srgbClr val="FF3300"/>
              </a:solidFill>
              <a:ea typeface="楷体_GB2312" pitchFamily="49" charset="-122"/>
              <a:sym typeface="Symbol" pitchFamily="18" charset="2"/>
            </a:endParaRPr>
          </a:p>
        </p:txBody>
      </p:sp>
      <p:graphicFrame>
        <p:nvGraphicFramePr>
          <p:cNvPr id="178180" name="Object 4"/>
          <p:cNvGraphicFramePr>
            <a:graphicFrameLocks noChangeAspect="1"/>
          </p:cNvGraphicFramePr>
          <p:nvPr/>
        </p:nvGraphicFramePr>
        <p:xfrm>
          <a:off x="2667000" y="2600325"/>
          <a:ext cx="1676400" cy="628650"/>
        </p:xfrm>
        <a:graphic>
          <a:graphicData uri="http://schemas.openxmlformats.org/presentationml/2006/ole">
            <mc:AlternateContent xmlns:mc="http://schemas.openxmlformats.org/markup-compatibility/2006">
              <mc:Choice xmlns:v="urn:schemas-microsoft-com:vml" Requires="v">
                <p:oleObj spid="_x0000_s121969" name="公式" r:id="rId4" imgW="469696" imgH="177723" progId="Equation.3">
                  <p:embed/>
                </p:oleObj>
              </mc:Choice>
              <mc:Fallback>
                <p:oleObj name="公式" r:id="rId4" imgW="469696" imgH="17772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2600325"/>
                        <a:ext cx="1676400" cy="6286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8181" name="Text Box 5"/>
          <p:cNvSpPr txBox="1">
            <a:spLocks noChangeArrowheads="1"/>
          </p:cNvSpPr>
          <p:nvPr/>
        </p:nvSpPr>
        <p:spPr bwMode="auto">
          <a:xfrm>
            <a:off x="250825" y="3273425"/>
            <a:ext cx="8512175" cy="12350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en-US" altLang="zh-CN" sz="2500" b="1" dirty="0">
                <a:ea typeface="楷体_GB2312" pitchFamily="49" charset="-122"/>
              </a:rPr>
              <a:t>    </a:t>
            </a:r>
            <a:r>
              <a:rPr lang="zh-CN" altLang="en-US" sz="2500" b="1" dirty="0">
                <a:ea typeface="楷体_GB2312" pitchFamily="49" charset="-122"/>
              </a:rPr>
              <a:t>根据熵增加原理，可判断：凡</a:t>
            </a:r>
            <a:r>
              <a:rPr lang="zh-CN" altLang="en-US" sz="2500" b="1" dirty="0">
                <a:solidFill>
                  <a:srgbClr val="FF3300"/>
                </a:solidFill>
                <a:ea typeface="楷体_GB2312" pitchFamily="49" charset="-122"/>
              </a:rPr>
              <a:t>不可逆绝热过程</a:t>
            </a:r>
            <a:r>
              <a:rPr lang="zh-CN" altLang="en-US" sz="2500" b="1" dirty="0">
                <a:ea typeface="楷体_GB2312" pitchFamily="49" charset="-122"/>
              </a:rPr>
              <a:t>总是向着熵增加的方向进行的。而</a:t>
            </a:r>
            <a:r>
              <a:rPr lang="zh-CN" altLang="en-US" sz="2500" b="1" dirty="0">
                <a:solidFill>
                  <a:srgbClr val="FF0000"/>
                </a:solidFill>
                <a:ea typeface="楷体_GB2312" pitchFamily="49" charset="-122"/>
              </a:rPr>
              <a:t>可逆绝热过程</a:t>
            </a:r>
            <a:r>
              <a:rPr lang="zh-CN" altLang="en-US" sz="2500" b="1" dirty="0">
                <a:ea typeface="楷体_GB2312" pitchFamily="49" charset="-122"/>
              </a:rPr>
              <a:t>则总是沿着等熵线进行的。熵增加原理又常表述为：</a:t>
            </a:r>
            <a:r>
              <a:rPr lang="zh-CN" altLang="en-US" sz="2500" b="1" dirty="0">
                <a:solidFill>
                  <a:srgbClr val="FF3300"/>
                </a:solidFill>
                <a:ea typeface="楷体_GB2312" pitchFamily="49" charset="-122"/>
              </a:rPr>
              <a:t>一个孤立系统的熵永不减少</a:t>
            </a:r>
            <a:r>
              <a:rPr lang="zh-CN" altLang="en-US" sz="2500" b="1" dirty="0">
                <a:ea typeface="楷体_GB2312" pitchFamily="49" charset="-122"/>
              </a:rPr>
              <a:t>。</a:t>
            </a:r>
            <a:endParaRPr lang="zh-CN" altLang="en-US" sz="2400" b="1" dirty="0"/>
          </a:p>
        </p:txBody>
      </p:sp>
      <p:sp>
        <p:nvSpPr>
          <p:cNvPr id="178182" name="Text Box 6"/>
          <p:cNvSpPr txBox="1">
            <a:spLocks noChangeArrowheads="1"/>
          </p:cNvSpPr>
          <p:nvPr/>
        </p:nvSpPr>
        <p:spPr bwMode="auto">
          <a:xfrm>
            <a:off x="539750" y="4679950"/>
            <a:ext cx="8299450" cy="1989138"/>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400" b="1" dirty="0">
                <a:ea typeface="楷体_GB2312" pitchFamily="49" charset="-122"/>
              </a:rPr>
              <a:t>若系统经绝热过程后熵不变，则此过程是</a:t>
            </a:r>
            <a:r>
              <a:rPr lang="zh-CN" altLang="en-US" sz="2400" b="1" dirty="0">
                <a:solidFill>
                  <a:srgbClr val="FF0000"/>
                </a:solidFill>
                <a:ea typeface="楷体_GB2312" pitchFamily="49" charset="-122"/>
              </a:rPr>
              <a:t>可逆</a:t>
            </a:r>
            <a:r>
              <a:rPr lang="zh-CN" altLang="en-US" sz="2400" b="1" dirty="0">
                <a:ea typeface="楷体_GB2312" pitchFamily="49" charset="-122"/>
              </a:rPr>
              <a:t>的；若熵增加，则此过程是</a:t>
            </a:r>
            <a:r>
              <a:rPr lang="zh-CN" altLang="en-US" sz="2400" b="1" dirty="0">
                <a:solidFill>
                  <a:srgbClr val="FF0000"/>
                </a:solidFill>
                <a:ea typeface="楷体_GB2312" pitchFamily="49" charset="-122"/>
              </a:rPr>
              <a:t>不可逆</a:t>
            </a:r>
            <a:r>
              <a:rPr lang="zh-CN" altLang="en-US" sz="2400" b="1" dirty="0">
                <a:ea typeface="楷体_GB2312" pitchFamily="49" charset="-122"/>
              </a:rPr>
              <a:t>的。</a:t>
            </a:r>
          </a:p>
          <a:p>
            <a:pPr algn="l" eaLnBrk="1" hangingPunct="1"/>
            <a:r>
              <a:rPr lang="zh-CN" altLang="en-US" sz="2400" b="1" dirty="0"/>
              <a:t>   </a:t>
            </a:r>
            <a:r>
              <a:rPr lang="en-US" altLang="zh-CN" sz="2400" b="1" dirty="0"/>
              <a:t>—— </a:t>
            </a:r>
            <a:r>
              <a:rPr lang="zh-CN" altLang="en-US" sz="2400" b="1" dirty="0"/>
              <a:t>可判断过程的性质 </a:t>
            </a:r>
          </a:p>
          <a:p>
            <a:pPr algn="l" eaLnBrk="1" hangingPunct="1"/>
            <a:r>
              <a:rPr lang="zh-CN" altLang="en-US" sz="2400" b="1" dirty="0">
                <a:latin typeface="楷体_GB2312" pitchFamily="49" charset="-122"/>
                <a:ea typeface="楷体_GB2312" pitchFamily="49" charset="-122"/>
              </a:rPr>
              <a:t>孤立系统 内所发生的过程的方向就是熵增加的方向</a:t>
            </a:r>
            <a:r>
              <a:rPr lang="zh-CN" altLang="en-US" sz="2400" b="1" dirty="0"/>
              <a:t>。</a:t>
            </a:r>
          </a:p>
          <a:p>
            <a:pPr algn="l" eaLnBrk="1" hangingPunct="1"/>
            <a:r>
              <a:rPr lang="zh-CN" altLang="en-US" sz="2400" b="1" dirty="0"/>
              <a:t>   </a:t>
            </a:r>
            <a:r>
              <a:rPr lang="en-US" altLang="zh-CN" sz="2400" b="1" dirty="0"/>
              <a:t>—— </a:t>
            </a:r>
            <a:r>
              <a:rPr lang="zh-CN" altLang="en-US" sz="2400" b="1" dirty="0"/>
              <a:t>可判断过程的方向</a:t>
            </a:r>
            <a:r>
              <a:rPr lang="zh-CN" altLang="en-US" sz="2800" b="1" dirty="0"/>
              <a:t> </a:t>
            </a:r>
          </a:p>
        </p:txBody>
      </p:sp>
      <p:sp>
        <p:nvSpPr>
          <p:cNvPr id="178183" name="Text Box 7"/>
          <p:cNvSpPr txBox="1">
            <a:spLocks noChangeArrowheads="1"/>
          </p:cNvSpPr>
          <p:nvPr/>
        </p:nvSpPr>
        <p:spPr bwMode="auto">
          <a:xfrm>
            <a:off x="449263" y="263525"/>
            <a:ext cx="309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zh-CN" altLang="en-US" sz="2400" b="1">
                <a:solidFill>
                  <a:schemeClr val="accent2"/>
                </a:solidFill>
                <a:latin typeface="Arial" pitchFamily="34" charset="0"/>
              </a:rPr>
              <a:t>大量实验事实证明：</a:t>
            </a:r>
          </a:p>
        </p:txBody>
      </p:sp>
    </p:spTree>
    <p:extLst>
      <p:ext uri="{BB962C8B-B14F-4D97-AF65-F5344CB8AC3E}">
        <p14:creationId xmlns:p14="http://schemas.microsoft.com/office/powerpoint/2010/main" val="255090590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8183"/>
                                        </p:tgtEl>
                                        <p:attrNameLst>
                                          <p:attrName>style.visibility</p:attrName>
                                        </p:attrNameLst>
                                      </p:cBhvr>
                                      <p:to>
                                        <p:strVal val="visible"/>
                                      </p:to>
                                    </p:set>
                                    <p:animEffect transition="in" filter="blinds(horizontal)">
                                      <p:cBhvr>
                                        <p:cTn id="7" dur="500"/>
                                        <p:tgtEl>
                                          <p:spTgt spid="1781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8179"/>
                                        </p:tgtEl>
                                        <p:attrNameLst>
                                          <p:attrName>style.visibility</p:attrName>
                                        </p:attrNameLst>
                                      </p:cBhvr>
                                      <p:to>
                                        <p:strVal val="visible"/>
                                      </p:to>
                                    </p:set>
                                    <p:animEffect transition="in" filter="wipe(left)">
                                      <p:cBhvr>
                                        <p:cTn id="12" dur="500"/>
                                        <p:tgtEl>
                                          <p:spTgt spid="1781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8180"/>
                                        </p:tgtEl>
                                        <p:attrNameLst>
                                          <p:attrName>style.visibility</p:attrName>
                                        </p:attrNameLst>
                                      </p:cBhvr>
                                      <p:to>
                                        <p:strVal val="visible"/>
                                      </p:to>
                                    </p:set>
                                    <p:animEffect transition="in" filter="wipe(left)">
                                      <p:cBhvr>
                                        <p:cTn id="17" dur="500"/>
                                        <p:tgtEl>
                                          <p:spTgt spid="1781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8181">
                                            <p:txEl>
                                              <p:pRg st="0" end="0"/>
                                            </p:txEl>
                                          </p:spTgt>
                                        </p:tgtEl>
                                        <p:attrNameLst>
                                          <p:attrName>style.visibility</p:attrName>
                                        </p:attrNameLst>
                                      </p:cBhvr>
                                      <p:to>
                                        <p:strVal val="visible"/>
                                      </p:to>
                                    </p:set>
                                    <p:animEffect transition="in" filter="wipe(left)">
                                      <p:cBhvr>
                                        <p:cTn id="22" dur="500"/>
                                        <p:tgtEl>
                                          <p:spTgt spid="17818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8182"/>
                                        </p:tgtEl>
                                        <p:attrNameLst>
                                          <p:attrName>style.visibility</p:attrName>
                                        </p:attrNameLst>
                                      </p:cBhvr>
                                      <p:to>
                                        <p:strVal val="visible"/>
                                      </p:to>
                                    </p:set>
                                    <p:animEffect transition="in" filter="wipe(left)">
                                      <p:cBhvr>
                                        <p:cTn id="27" dur="500"/>
                                        <p:tgtEl>
                                          <p:spTgt spid="178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animBg="1" autoUpdateAnimBg="0"/>
      <p:bldP spid="178181" grpId="0" build="p" bldLvl="2" autoUpdateAnimBg="0"/>
      <p:bldP spid="178182" grpId="0" animBg="1" autoUpdateAnimBg="0"/>
      <p:bldP spid="17818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2"/>
          <p:cNvSpPr txBox="1">
            <a:spLocks noChangeArrowheads="1"/>
          </p:cNvSpPr>
          <p:nvPr/>
        </p:nvSpPr>
        <p:spPr bwMode="auto">
          <a:xfrm>
            <a:off x="76200" y="461963"/>
            <a:ext cx="7664450" cy="519112"/>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a:r>
              <a:rPr lang="zh-CN" altLang="en-US" sz="3200" b="1">
                <a:solidFill>
                  <a:schemeClr val="folHlink"/>
                </a:solidFill>
                <a:latin typeface="Arial" pitchFamily="34" charset="0"/>
                <a:ea typeface="楷体_GB2312" pitchFamily="49" charset="-122"/>
              </a:rPr>
              <a:t>四）、熵增加原理与热力学第二定律</a:t>
            </a:r>
          </a:p>
        </p:txBody>
      </p:sp>
      <p:sp>
        <p:nvSpPr>
          <p:cNvPr id="179203" name="Text Box 3"/>
          <p:cNvSpPr txBox="1">
            <a:spLocks noChangeArrowheads="1"/>
          </p:cNvSpPr>
          <p:nvPr/>
        </p:nvSpPr>
        <p:spPr bwMode="auto">
          <a:xfrm>
            <a:off x="468313" y="1628775"/>
            <a:ext cx="8136136" cy="415498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buFontTx/>
              <a:buChar char="•"/>
            </a:pPr>
            <a:r>
              <a:rPr lang="zh-CN" altLang="en-US" sz="2400" b="1" dirty="0"/>
              <a:t>在热传导问题中，热力学第二定律：</a:t>
            </a:r>
            <a:r>
              <a:rPr lang="zh-CN" altLang="en-US" sz="2400" b="1" dirty="0">
                <a:solidFill>
                  <a:srgbClr val="0000FF"/>
                </a:solidFill>
                <a:ea typeface="楷体_GB2312" pitchFamily="49" charset="-122"/>
              </a:rPr>
              <a:t>热只能自动地从高温物体传递给低温物体，而不能向相反的方向进行</a:t>
            </a:r>
            <a:r>
              <a:rPr lang="zh-CN" altLang="en-US" sz="2400" b="1" dirty="0"/>
              <a:t>。</a:t>
            </a:r>
          </a:p>
          <a:p>
            <a:pPr algn="l" eaLnBrk="1" hangingPunct="1">
              <a:buFontTx/>
              <a:buChar char="•"/>
            </a:pPr>
            <a:endParaRPr lang="zh-CN" altLang="en-US" sz="2400" b="1" dirty="0"/>
          </a:p>
          <a:p>
            <a:pPr algn="l" eaLnBrk="1" hangingPunct="1">
              <a:buFontTx/>
              <a:buChar char="•"/>
            </a:pPr>
            <a:r>
              <a:rPr lang="zh-CN" altLang="en-US" sz="2400" b="1" dirty="0"/>
              <a:t>熵增加原理：孤立系统中进行的从高温物体向低温物体传递热量的热传导过程，是一个不可逆过程，</a:t>
            </a:r>
            <a:r>
              <a:rPr lang="zh-CN" altLang="en-US" sz="2400" b="1" dirty="0">
                <a:solidFill>
                  <a:srgbClr val="0000FF"/>
                </a:solidFill>
                <a:ea typeface="楷体_GB2312" pitchFamily="49" charset="-122"/>
              </a:rPr>
              <a:t>在这个过程中熵要增加</a:t>
            </a:r>
            <a:r>
              <a:rPr lang="zh-CN" altLang="en-US" sz="2400" b="1" dirty="0"/>
              <a:t>，当孤立系统达到温度平衡状态时，系统的熵具有最大值。</a:t>
            </a:r>
          </a:p>
          <a:p>
            <a:pPr algn="l" eaLnBrk="1" hangingPunct="1">
              <a:buFontTx/>
              <a:buChar char="•"/>
            </a:pPr>
            <a:endParaRPr lang="zh-CN" altLang="en-US" sz="2400" b="1" dirty="0"/>
          </a:p>
          <a:p>
            <a:pPr algn="l" eaLnBrk="1" hangingPunct="1">
              <a:buFontTx/>
              <a:buChar char="•"/>
            </a:pPr>
            <a:r>
              <a:rPr lang="zh-CN" altLang="en-US" sz="2400" b="1" dirty="0"/>
              <a:t>热力学第二定律与熵增加原理对热传导方向的叙述是等价的。熵增加原理的表达式就是热力学第二定律的数学表达式。</a:t>
            </a:r>
          </a:p>
        </p:txBody>
      </p:sp>
    </p:spTree>
    <p:extLst>
      <p:ext uri="{BB962C8B-B14F-4D97-AF65-F5344CB8AC3E}">
        <p14:creationId xmlns:p14="http://schemas.microsoft.com/office/powerpoint/2010/main" val="290252545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9202">
                                            <p:bg/>
                                          </p:spTgt>
                                        </p:tgtEl>
                                        <p:attrNameLst>
                                          <p:attrName>style.visibility</p:attrName>
                                        </p:attrNameLst>
                                      </p:cBhvr>
                                      <p:to>
                                        <p:strVal val="visible"/>
                                      </p:to>
                                    </p:set>
                                    <p:animEffect transition="in" filter="wipe(left)">
                                      <p:cBhvr>
                                        <p:cTn id="7" dur="500"/>
                                        <p:tgtEl>
                                          <p:spTgt spid="179202">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9202">
                                            <p:txEl>
                                              <p:pRg st="0" end="0"/>
                                            </p:txEl>
                                          </p:spTgt>
                                        </p:tgtEl>
                                        <p:attrNameLst>
                                          <p:attrName>style.visibility</p:attrName>
                                        </p:attrNameLst>
                                      </p:cBhvr>
                                      <p:to>
                                        <p:strVal val="visible"/>
                                      </p:to>
                                    </p:set>
                                    <p:animEffect transition="in" filter="wipe(left)">
                                      <p:cBhvr>
                                        <p:cTn id="12" dur="500"/>
                                        <p:tgtEl>
                                          <p:spTgt spid="17920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9203">
                                            <p:txEl>
                                              <p:pRg st="0" end="0"/>
                                            </p:txEl>
                                          </p:spTgt>
                                        </p:tgtEl>
                                        <p:attrNameLst>
                                          <p:attrName>style.visibility</p:attrName>
                                        </p:attrNameLst>
                                      </p:cBhvr>
                                      <p:to>
                                        <p:strVal val="visible"/>
                                      </p:to>
                                    </p:set>
                                    <p:animEffect transition="in" filter="wipe(left)">
                                      <p:cBhvr>
                                        <p:cTn id="17" dur="500"/>
                                        <p:tgtEl>
                                          <p:spTgt spid="17920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9203">
                                            <p:txEl>
                                              <p:pRg st="2" end="2"/>
                                            </p:txEl>
                                          </p:spTgt>
                                        </p:tgtEl>
                                        <p:attrNameLst>
                                          <p:attrName>style.visibility</p:attrName>
                                        </p:attrNameLst>
                                      </p:cBhvr>
                                      <p:to>
                                        <p:strVal val="visible"/>
                                      </p:to>
                                    </p:set>
                                    <p:animEffect transition="in" filter="wipe(left)">
                                      <p:cBhvr>
                                        <p:cTn id="22" dur="500"/>
                                        <p:tgtEl>
                                          <p:spTgt spid="17920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9203">
                                            <p:txEl>
                                              <p:pRg st="4" end="4"/>
                                            </p:txEl>
                                          </p:spTgt>
                                        </p:tgtEl>
                                        <p:attrNameLst>
                                          <p:attrName>style.visibility</p:attrName>
                                        </p:attrNameLst>
                                      </p:cBhvr>
                                      <p:to>
                                        <p:strVal val="visible"/>
                                      </p:to>
                                    </p:set>
                                    <p:animEffect transition="in" filter="wipe(left)">
                                      <p:cBhvr>
                                        <p:cTn id="27" dur="500"/>
                                        <p:tgtEl>
                                          <p:spTgt spid="1792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2" grpId="0" build="p" animBg="1" autoUpdateAnimBg="0"/>
      <p:bldP spid="179203"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eaLnBrk="1" hangingPunct="1">
              <a:defRPr/>
            </a:pPr>
            <a:r>
              <a:rPr lang="en-US" altLang="zh-CN" sz="4000" b="1">
                <a:solidFill>
                  <a:srgbClr val="FF0000"/>
                </a:solidFill>
                <a:effectLst>
                  <a:outerShdw blurRad="38100" dist="38100" dir="2700000" algn="tl">
                    <a:srgbClr val="C0C0C0"/>
                  </a:outerShdw>
                </a:effectLst>
              </a:rPr>
              <a:t>   </a:t>
            </a:r>
            <a:r>
              <a:rPr lang="zh-CN" altLang="en-US" sz="4000" b="1">
                <a:solidFill>
                  <a:srgbClr val="FF0000"/>
                </a:solidFill>
                <a:effectLst>
                  <a:outerShdw blurRad="38100" dist="38100" dir="2700000" algn="tl">
                    <a:srgbClr val="C0C0C0"/>
                  </a:outerShdw>
                </a:effectLst>
              </a:rPr>
              <a:t>六、热力学第二定律的统计意义</a:t>
            </a:r>
            <a:endParaRPr lang="zh-CN" altLang="en-US" sz="4000"/>
          </a:p>
        </p:txBody>
      </p:sp>
      <p:sp>
        <p:nvSpPr>
          <p:cNvPr id="180227" name="Text Box 3"/>
          <p:cNvSpPr txBox="1">
            <a:spLocks noChangeArrowheads="1"/>
          </p:cNvSpPr>
          <p:nvPr/>
        </p:nvSpPr>
        <p:spPr bwMode="auto">
          <a:xfrm>
            <a:off x="2819400" y="2205038"/>
            <a:ext cx="3200400" cy="579437"/>
          </a:xfrm>
          <a:prstGeom prst="rect">
            <a:avLst/>
          </a:prstGeom>
          <a:solidFill>
            <a:srgbClr val="FFFF99"/>
          </a:solidFill>
          <a:ln>
            <a:noFill/>
          </a:ln>
          <a:effectLst>
            <a:outerShdw dist="28398" dir="3806097"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3200" b="1">
                <a:solidFill>
                  <a:srgbClr val="FF0000"/>
                </a:solidFill>
              </a:rPr>
              <a:t>热力学第二定律</a:t>
            </a:r>
          </a:p>
        </p:txBody>
      </p:sp>
      <p:sp>
        <p:nvSpPr>
          <p:cNvPr id="180228" name="AutoShape 4"/>
          <p:cNvSpPr>
            <a:spLocks noChangeArrowheads="1"/>
          </p:cNvSpPr>
          <p:nvPr/>
        </p:nvSpPr>
        <p:spPr bwMode="auto">
          <a:xfrm>
            <a:off x="3962400" y="2814638"/>
            <a:ext cx="762000" cy="609600"/>
          </a:xfrm>
          <a:prstGeom prst="downArrow">
            <a:avLst>
              <a:gd name="adj1" fmla="val 50000"/>
              <a:gd name="adj2" fmla="val 25000"/>
            </a:avLst>
          </a:prstGeom>
          <a:solidFill>
            <a:srgbClr val="33CC33"/>
          </a:solidFill>
          <a:ln w="38100">
            <a:solidFill>
              <a:schemeClr val="accent1"/>
            </a:solidFill>
            <a:miter lim="800000"/>
            <a:headEnd/>
            <a:tailEnd/>
          </a:ln>
          <a:effectLst>
            <a:outerShdw dist="28398" dir="3806097" algn="ctr" rotWithShape="0">
              <a:schemeClr val="bg2"/>
            </a:outerShdw>
          </a:effectLst>
        </p:spPr>
        <p:txBody>
          <a:bodyPr vert="eaVert" wrap="none" anchor="ctr"/>
          <a:lstStyle/>
          <a:p>
            <a:endParaRPr lang="zh-CN" altLang="en-US"/>
          </a:p>
        </p:txBody>
      </p:sp>
      <p:sp>
        <p:nvSpPr>
          <p:cNvPr id="180229" name="Text Box 5"/>
          <p:cNvSpPr txBox="1">
            <a:spLocks noChangeArrowheads="1"/>
          </p:cNvSpPr>
          <p:nvPr/>
        </p:nvSpPr>
        <p:spPr bwMode="auto">
          <a:xfrm>
            <a:off x="533400" y="3500438"/>
            <a:ext cx="8001000" cy="1066800"/>
          </a:xfrm>
          <a:prstGeom prst="rect">
            <a:avLst/>
          </a:prstGeom>
          <a:solidFill>
            <a:srgbClr val="FFFF99"/>
          </a:solidFill>
          <a:ln>
            <a:noFill/>
          </a:ln>
          <a:effectLst>
            <a:outerShdw dist="45791" dir="3378596"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400" b="1" dirty="0"/>
              <a:t>          </a:t>
            </a:r>
            <a:r>
              <a:rPr lang="zh-CN" altLang="en-US" sz="3200" b="1" dirty="0"/>
              <a:t>由大量微观粒子组成的孤立系统中发生的与热现象有关的宏观过程都是不可逆的</a:t>
            </a:r>
          </a:p>
        </p:txBody>
      </p:sp>
      <p:sp>
        <p:nvSpPr>
          <p:cNvPr id="180230" name="Text Box 6"/>
          <p:cNvSpPr txBox="1">
            <a:spLocks noChangeArrowheads="1"/>
          </p:cNvSpPr>
          <p:nvPr/>
        </p:nvSpPr>
        <p:spPr bwMode="auto">
          <a:xfrm>
            <a:off x="1116013" y="5253038"/>
            <a:ext cx="7075487" cy="579437"/>
          </a:xfrm>
          <a:prstGeom prst="rect">
            <a:avLst/>
          </a:prstGeom>
          <a:solidFill>
            <a:srgbClr val="FFFF99"/>
          </a:solidFill>
          <a:ln>
            <a:noFill/>
          </a:ln>
          <a:effectLst>
            <a:outerShdw dist="25400" dir="54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3200" b="1">
                <a:solidFill>
                  <a:srgbClr val="FF0000"/>
                </a:solidFill>
              </a:rPr>
              <a:t>宏观不可逆过程的微观本质是什么？</a:t>
            </a:r>
          </a:p>
        </p:txBody>
      </p:sp>
      <p:sp>
        <p:nvSpPr>
          <p:cNvPr id="180231" name="AutoShape 7"/>
          <p:cNvSpPr>
            <a:spLocks noChangeArrowheads="1"/>
          </p:cNvSpPr>
          <p:nvPr/>
        </p:nvSpPr>
        <p:spPr bwMode="auto">
          <a:xfrm>
            <a:off x="4038600" y="4567238"/>
            <a:ext cx="762000" cy="609600"/>
          </a:xfrm>
          <a:prstGeom prst="downArrow">
            <a:avLst>
              <a:gd name="adj1" fmla="val 50000"/>
              <a:gd name="adj2" fmla="val 25000"/>
            </a:avLst>
          </a:prstGeom>
          <a:solidFill>
            <a:srgbClr val="33CC33"/>
          </a:solidFill>
          <a:ln w="38100">
            <a:solidFill>
              <a:schemeClr val="accent1"/>
            </a:solidFill>
            <a:miter lim="800000"/>
            <a:headEnd/>
            <a:tailEnd/>
          </a:ln>
          <a:effectLst>
            <a:outerShdw dist="28398" dir="3806097" algn="ctr" rotWithShape="0">
              <a:schemeClr val="bg2"/>
            </a:outerShdw>
          </a:effectLst>
        </p:spPr>
        <p:txBody>
          <a:bodyPr vert="eaVert" wrap="none" anchor="ctr"/>
          <a:lstStyle/>
          <a:p>
            <a:endParaRPr lang="zh-CN" altLang="en-US"/>
          </a:p>
        </p:txBody>
      </p:sp>
    </p:spTree>
    <p:extLst>
      <p:ext uri="{BB962C8B-B14F-4D97-AF65-F5344CB8AC3E}">
        <p14:creationId xmlns:p14="http://schemas.microsoft.com/office/powerpoint/2010/main" val="23764013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0226">
                                            <p:txEl>
                                              <p:pRg st="0" end="0"/>
                                            </p:txEl>
                                          </p:spTgt>
                                        </p:tgtEl>
                                        <p:attrNameLst>
                                          <p:attrName>style.visibility</p:attrName>
                                        </p:attrNameLst>
                                      </p:cBhvr>
                                      <p:to>
                                        <p:strVal val="visible"/>
                                      </p:to>
                                    </p:set>
                                    <p:anim calcmode="lin" valueType="num">
                                      <p:cBhvr additive="base">
                                        <p:cTn id="7" dur="500" fill="hold"/>
                                        <p:tgtEl>
                                          <p:spTgt spid="18022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022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80227"/>
                                        </p:tgtEl>
                                        <p:attrNameLst>
                                          <p:attrName>style.visibility</p:attrName>
                                        </p:attrNameLst>
                                      </p:cBhvr>
                                      <p:to>
                                        <p:strVal val="visible"/>
                                      </p:to>
                                    </p:set>
                                    <p:anim calcmode="lin" valueType="num">
                                      <p:cBhvr additive="base">
                                        <p:cTn id="13" dur="500" fill="hold"/>
                                        <p:tgtEl>
                                          <p:spTgt spid="180227"/>
                                        </p:tgtEl>
                                        <p:attrNameLst>
                                          <p:attrName>ppt_x</p:attrName>
                                        </p:attrNameLst>
                                      </p:cBhvr>
                                      <p:tavLst>
                                        <p:tav tm="0">
                                          <p:val>
                                            <p:strVal val="#ppt_x"/>
                                          </p:val>
                                        </p:tav>
                                        <p:tav tm="100000">
                                          <p:val>
                                            <p:strVal val="#ppt_x"/>
                                          </p:val>
                                        </p:tav>
                                      </p:tavLst>
                                    </p:anim>
                                    <p:anim calcmode="lin" valueType="num">
                                      <p:cBhvr additive="base">
                                        <p:cTn id="14" dur="500" fill="hold"/>
                                        <p:tgtEl>
                                          <p:spTgt spid="180227"/>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180228"/>
                                        </p:tgtEl>
                                        <p:attrNameLst>
                                          <p:attrName>style.visibility</p:attrName>
                                        </p:attrNameLst>
                                      </p:cBhvr>
                                      <p:to>
                                        <p:strVal val="visible"/>
                                      </p:to>
                                    </p:set>
                                    <p:anim calcmode="lin" valueType="num">
                                      <p:cBhvr additive="base">
                                        <p:cTn id="19" dur="500" fill="hold"/>
                                        <p:tgtEl>
                                          <p:spTgt spid="180228"/>
                                        </p:tgtEl>
                                        <p:attrNameLst>
                                          <p:attrName>ppt_x</p:attrName>
                                        </p:attrNameLst>
                                      </p:cBhvr>
                                      <p:tavLst>
                                        <p:tav tm="0">
                                          <p:val>
                                            <p:strVal val="#ppt_x"/>
                                          </p:val>
                                        </p:tav>
                                        <p:tav tm="100000">
                                          <p:val>
                                            <p:strVal val="#ppt_x"/>
                                          </p:val>
                                        </p:tav>
                                      </p:tavLst>
                                    </p:anim>
                                    <p:anim calcmode="lin" valueType="num">
                                      <p:cBhvr additive="base">
                                        <p:cTn id="20" dur="500" fill="hold"/>
                                        <p:tgtEl>
                                          <p:spTgt spid="180228"/>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6" presetClass="entr" presetSubtype="42" fill="hold" grpId="0" nodeType="clickEffect">
                                  <p:stCondLst>
                                    <p:cond delay="0"/>
                                  </p:stCondLst>
                                  <p:childTnLst>
                                    <p:set>
                                      <p:cBhvr>
                                        <p:cTn id="24" dur="1" fill="hold">
                                          <p:stCondLst>
                                            <p:cond delay="0"/>
                                          </p:stCondLst>
                                        </p:cTn>
                                        <p:tgtEl>
                                          <p:spTgt spid="180229"/>
                                        </p:tgtEl>
                                        <p:attrNameLst>
                                          <p:attrName>style.visibility</p:attrName>
                                        </p:attrNameLst>
                                      </p:cBhvr>
                                      <p:to>
                                        <p:strVal val="visible"/>
                                      </p:to>
                                    </p:set>
                                    <p:animEffect transition="in" filter="barn(outHorizontal)">
                                      <p:cBhvr>
                                        <p:cTn id="25" dur="500"/>
                                        <p:tgtEl>
                                          <p:spTgt spid="18022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1" fill="hold" grpId="0" nodeType="clickEffect">
                                  <p:stCondLst>
                                    <p:cond delay="0"/>
                                  </p:stCondLst>
                                  <p:childTnLst>
                                    <p:set>
                                      <p:cBhvr>
                                        <p:cTn id="29" dur="1" fill="hold">
                                          <p:stCondLst>
                                            <p:cond delay="0"/>
                                          </p:stCondLst>
                                        </p:cTn>
                                        <p:tgtEl>
                                          <p:spTgt spid="180231"/>
                                        </p:tgtEl>
                                        <p:attrNameLst>
                                          <p:attrName>style.visibility</p:attrName>
                                        </p:attrNameLst>
                                      </p:cBhvr>
                                      <p:to>
                                        <p:strVal val="visible"/>
                                      </p:to>
                                    </p:set>
                                    <p:anim calcmode="lin" valueType="num">
                                      <p:cBhvr additive="base">
                                        <p:cTn id="30" dur="500" fill="hold"/>
                                        <p:tgtEl>
                                          <p:spTgt spid="180231"/>
                                        </p:tgtEl>
                                        <p:attrNameLst>
                                          <p:attrName>ppt_x</p:attrName>
                                        </p:attrNameLst>
                                      </p:cBhvr>
                                      <p:tavLst>
                                        <p:tav tm="0">
                                          <p:val>
                                            <p:strVal val="#ppt_x"/>
                                          </p:val>
                                        </p:tav>
                                        <p:tav tm="100000">
                                          <p:val>
                                            <p:strVal val="#ppt_x"/>
                                          </p:val>
                                        </p:tav>
                                      </p:tavLst>
                                    </p:anim>
                                    <p:anim calcmode="lin" valueType="num">
                                      <p:cBhvr additive="base">
                                        <p:cTn id="31" dur="500" fill="hold"/>
                                        <p:tgtEl>
                                          <p:spTgt spid="180231"/>
                                        </p:tgtEl>
                                        <p:attrNameLst>
                                          <p:attrName>ppt_y</p:attrName>
                                        </p:attrNameLst>
                                      </p:cBhvr>
                                      <p:tavLst>
                                        <p:tav tm="0">
                                          <p:val>
                                            <p:strVal val="0-#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1" fill="hold" grpId="0" nodeType="clickEffect">
                                  <p:stCondLst>
                                    <p:cond delay="0"/>
                                  </p:stCondLst>
                                  <p:childTnLst>
                                    <p:set>
                                      <p:cBhvr>
                                        <p:cTn id="35" dur="1" fill="hold">
                                          <p:stCondLst>
                                            <p:cond delay="0"/>
                                          </p:stCondLst>
                                        </p:cTn>
                                        <p:tgtEl>
                                          <p:spTgt spid="180230"/>
                                        </p:tgtEl>
                                        <p:attrNameLst>
                                          <p:attrName>style.visibility</p:attrName>
                                        </p:attrNameLst>
                                      </p:cBhvr>
                                      <p:to>
                                        <p:strVal val="visible"/>
                                      </p:to>
                                    </p:set>
                                    <p:anim calcmode="lin" valueType="num">
                                      <p:cBhvr additive="base">
                                        <p:cTn id="36" dur="500" fill="hold"/>
                                        <p:tgtEl>
                                          <p:spTgt spid="180230"/>
                                        </p:tgtEl>
                                        <p:attrNameLst>
                                          <p:attrName>ppt_x</p:attrName>
                                        </p:attrNameLst>
                                      </p:cBhvr>
                                      <p:tavLst>
                                        <p:tav tm="0">
                                          <p:val>
                                            <p:strVal val="#ppt_x"/>
                                          </p:val>
                                        </p:tav>
                                        <p:tav tm="100000">
                                          <p:val>
                                            <p:strVal val="#ppt_x"/>
                                          </p:val>
                                        </p:tav>
                                      </p:tavLst>
                                    </p:anim>
                                    <p:anim calcmode="lin" valueType="num">
                                      <p:cBhvr additive="base">
                                        <p:cTn id="37" dur="500" fill="hold"/>
                                        <p:tgtEl>
                                          <p:spTgt spid="1802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build="p" autoUpdateAnimBg="0"/>
      <p:bldP spid="180227" grpId="0" animBg="1" autoUpdateAnimBg="0"/>
      <p:bldP spid="180228" grpId="0" animBg="1"/>
      <p:bldP spid="180229" grpId="0" animBg="1" autoUpdateAnimBg="0"/>
      <p:bldP spid="180230" grpId="0" animBg="1" autoUpdateAnimBg="0"/>
      <p:bldP spid="180231"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609600" y="381000"/>
            <a:ext cx="8077200" cy="457200"/>
          </a:xfrm>
          <a:noFill/>
        </p:spPr>
        <p:txBody>
          <a:bodyPr lIns="92075" tIns="46038" rIns="92075" bIns="46038"/>
          <a:lstStyle/>
          <a:p>
            <a:pPr algn="l" eaLnBrk="1" hangingPunct="1"/>
            <a:r>
              <a:rPr lang="en-US" altLang="zh-CN" sz="2800" b="1">
                <a:solidFill>
                  <a:schemeClr val="folHlink"/>
                </a:solidFill>
              </a:rPr>
              <a:t>1</a:t>
            </a:r>
            <a:r>
              <a:rPr lang="zh-CN" altLang="en-US" sz="2800" b="1">
                <a:solidFill>
                  <a:schemeClr val="folHlink"/>
                </a:solidFill>
              </a:rPr>
              <a:t>、热力学概率</a:t>
            </a:r>
            <a:r>
              <a:rPr lang="zh-CN" altLang="en-US" sz="2800" b="1">
                <a:solidFill>
                  <a:schemeClr val="tx1"/>
                </a:solidFill>
              </a:rPr>
              <a:t>（</a:t>
            </a:r>
            <a:r>
              <a:rPr lang="en-US" altLang="zh-CN" sz="2800" b="1">
                <a:solidFill>
                  <a:schemeClr val="tx1"/>
                </a:solidFill>
              </a:rPr>
              <a:t>thermodynamic probability </a:t>
            </a:r>
            <a:r>
              <a:rPr lang="zh-CN" altLang="en-US" sz="2800" b="1">
                <a:solidFill>
                  <a:schemeClr val="tx1"/>
                </a:solidFill>
              </a:rPr>
              <a:t>）</a:t>
            </a:r>
          </a:p>
        </p:txBody>
      </p:sp>
      <p:sp>
        <p:nvSpPr>
          <p:cNvPr id="181251" name="Rectangle 3"/>
          <p:cNvSpPr>
            <a:spLocks noChangeArrowheads="1"/>
          </p:cNvSpPr>
          <p:nvPr/>
        </p:nvSpPr>
        <p:spPr bwMode="auto">
          <a:xfrm>
            <a:off x="533400" y="990600"/>
            <a:ext cx="82296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just" defTabSz="762000" eaLnBrk="0" hangingPunct="0">
              <a:lnSpc>
                <a:spcPct val="120000"/>
              </a:lnSpc>
            </a:pPr>
            <a:r>
              <a:rPr lang="en-US" altLang="zh-CN" sz="2400" b="1" dirty="0"/>
              <a:t>        </a:t>
            </a:r>
            <a:r>
              <a:rPr lang="zh-CN" altLang="en-US" sz="2400" b="1" dirty="0"/>
              <a:t>平衡态的宏观（</a:t>
            </a:r>
            <a:r>
              <a:rPr lang="en-US" altLang="zh-CN" sz="2400" b="1" dirty="0">
                <a:solidFill>
                  <a:schemeClr val="folHlink"/>
                </a:solidFill>
              </a:rPr>
              <a:t>Macroscopic</a:t>
            </a:r>
            <a:r>
              <a:rPr lang="zh-CN" altLang="en-US" sz="2400" b="1" dirty="0"/>
              <a:t>）参量不随时间变化，然而，从微观（</a:t>
            </a:r>
            <a:r>
              <a:rPr lang="en-US" altLang="zh-CN" sz="2400" b="1" dirty="0">
                <a:solidFill>
                  <a:schemeClr val="folHlink"/>
                </a:solidFill>
              </a:rPr>
              <a:t>Microscopic</a:t>
            </a:r>
            <a:r>
              <a:rPr lang="zh-CN" altLang="en-US" sz="2400" b="1" dirty="0">
                <a:solidFill>
                  <a:schemeClr val="folHlink"/>
                </a:solidFill>
              </a:rPr>
              <a:t>）</a:t>
            </a:r>
            <a:r>
              <a:rPr lang="zh-CN" altLang="en-US" sz="2400" b="1" dirty="0"/>
              <a:t>上来看，它总是从一个微观状态变化到另一个微观状态，只是这些微观状态都对应同一个宏观状态而已。这样看来，系统状态的宏观描述是粗略的。</a:t>
            </a:r>
          </a:p>
        </p:txBody>
      </p:sp>
      <p:sp>
        <p:nvSpPr>
          <p:cNvPr id="181252" name="Rectangle 4"/>
          <p:cNvSpPr>
            <a:spLocks noChangeArrowheads="1"/>
          </p:cNvSpPr>
          <p:nvPr/>
        </p:nvSpPr>
        <p:spPr bwMode="auto">
          <a:xfrm>
            <a:off x="533400" y="3124200"/>
            <a:ext cx="7969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762000" eaLnBrk="0" hangingPunct="0"/>
            <a:r>
              <a:rPr lang="zh-CN" altLang="en-US" sz="2400" b="1" dirty="0"/>
              <a:t>什么是 </a:t>
            </a:r>
            <a:r>
              <a:rPr lang="zh-CN" altLang="en-US" sz="2400" b="1" dirty="0">
                <a:solidFill>
                  <a:schemeClr val="folHlink"/>
                </a:solidFill>
              </a:rPr>
              <a:t>宏观状态</a:t>
            </a:r>
            <a:r>
              <a:rPr lang="zh-CN" altLang="en-US" sz="2400" b="1" dirty="0">
                <a:solidFill>
                  <a:srgbClr val="66FF33"/>
                </a:solidFill>
              </a:rPr>
              <a:t> </a:t>
            </a:r>
            <a:r>
              <a:rPr lang="en-US" altLang="zh-CN" sz="2400" b="1" dirty="0" err="1"/>
              <a:t>macrostate</a:t>
            </a:r>
            <a:r>
              <a:rPr lang="en-US" altLang="zh-CN" sz="2400" b="1" dirty="0"/>
              <a:t> </a:t>
            </a:r>
            <a:r>
              <a:rPr lang="zh-CN" altLang="en-US" sz="2400" b="1" dirty="0">
                <a:solidFill>
                  <a:schemeClr val="folHlink"/>
                </a:solidFill>
              </a:rPr>
              <a:t>所对应 微观状态</a:t>
            </a:r>
            <a:r>
              <a:rPr lang="zh-CN" altLang="en-US" sz="2400" b="1" dirty="0"/>
              <a:t> </a:t>
            </a:r>
            <a:r>
              <a:rPr lang="en-US" altLang="zh-CN" sz="2400" b="1" dirty="0"/>
              <a:t>microstate</a:t>
            </a:r>
            <a:r>
              <a:rPr lang="zh-CN" altLang="en-US" sz="2400" b="1" dirty="0"/>
              <a:t>？</a:t>
            </a:r>
          </a:p>
        </p:txBody>
      </p:sp>
      <p:sp>
        <p:nvSpPr>
          <p:cNvPr id="181253" name="Rectangle 5"/>
          <p:cNvSpPr>
            <a:spLocks noChangeArrowheads="1"/>
          </p:cNvSpPr>
          <p:nvPr/>
        </p:nvSpPr>
        <p:spPr bwMode="auto">
          <a:xfrm>
            <a:off x="533400" y="3810000"/>
            <a:ext cx="6415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t>现以理想气体自由膨胀的不可逆性来解释：</a:t>
            </a:r>
          </a:p>
        </p:txBody>
      </p:sp>
      <p:grpSp>
        <p:nvGrpSpPr>
          <p:cNvPr id="181254" name="Group 6"/>
          <p:cNvGrpSpPr>
            <a:grpSpLocks/>
          </p:cNvGrpSpPr>
          <p:nvPr/>
        </p:nvGrpSpPr>
        <p:grpSpPr bwMode="auto">
          <a:xfrm>
            <a:off x="6858000" y="4724400"/>
            <a:ext cx="1968500" cy="838200"/>
            <a:chOff x="244" y="144"/>
            <a:chExt cx="1240" cy="528"/>
          </a:xfrm>
        </p:grpSpPr>
        <p:grpSp>
          <p:nvGrpSpPr>
            <p:cNvPr id="59402" name="Group 7"/>
            <p:cNvGrpSpPr>
              <a:grpSpLocks/>
            </p:cNvGrpSpPr>
            <p:nvPr/>
          </p:nvGrpSpPr>
          <p:grpSpPr bwMode="auto">
            <a:xfrm>
              <a:off x="244" y="144"/>
              <a:ext cx="1240" cy="528"/>
              <a:chOff x="244" y="144"/>
              <a:chExt cx="1240" cy="528"/>
            </a:xfrm>
          </p:grpSpPr>
          <p:sp>
            <p:nvSpPr>
              <p:cNvPr id="59407" name="Rectangle 8"/>
              <p:cNvSpPr>
                <a:spLocks noChangeArrowheads="1"/>
              </p:cNvSpPr>
              <p:nvPr/>
            </p:nvSpPr>
            <p:spPr bwMode="auto">
              <a:xfrm>
                <a:off x="244" y="148"/>
                <a:ext cx="1240" cy="52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8" name="Line 9"/>
              <p:cNvSpPr>
                <a:spLocks noChangeShapeType="1"/>
              </p:cNvSpPr>
              <p:nvPr/>
            </p:nvSpPr>
            <p:spPr bwMode="auto">
              <a:xfrm>
                <a:off x="864" y="144"/>
                <a:ext cx="0" cy="52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9403" name="Oval 10"/>
            <p:cNvSpPr>
              <a:spLocks noChangeArrowheads="1"/>
            </p:cNvSpPr>
            <p:nvPr/>
          </p:nvSpPr>
          <p:spPr bwMode="auto">
            <a:xfrm>
              <a:off x="388" y="292"/>
              <a:ext cx="88" cy="8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4" name="Oval 11"/>
            <p:cNvSpPr>
              <a:spLocks noChangeArrowheads="1"/>
            </p:cNvSpPr>
            <p:nvPr/>
          </p:nvSpPr>
          <p:spPr bwMode="auto">
            <a:xfrm>
              <a:off x="676" y="292"/>
              <a:ext cx="88" cy="88"/>
            </a:xfrm>
            <a:prstGeom prst="ellipse">
              <a:avLst/>
            </a:prstGeom>
            <a:solidFill>
              <a:srgbClr val="FF66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5" name="Oval 12"/>
            <p:cNvSpPr>
              <a:spLocks noChangeArrowheads="1"/>
            </p:cNvSpPr>
            <p:nvPr/>
          </p:nvSpPr>
          <p:spPr bwMode="auto">
            <a:xfrm>
              <a:off x="628" y="484"/>
              <a:ext cx="88" cy="88"/>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6" name="Oval 13"/>
            <p:cNvSpPr>
              <a:spLocks noChangeArrowheads="1"/>
            </p:cNvSpPr>
            <p:nvPr/>
          </p:nvSpPr>
          <p:spPr bwMode="auto">
            <a:xfrm>
              <a:off x="436" y="484"/>
              <a:ext cx="88" cy="88"/>
            </a:xfrm>
            <a:prstGeom prst="ellipse">
              <a:avLst/>
            </a:prstGeom>
            <a:solidFill>
              <a:srgbClr val="CC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1262" name="Rectangle 14"/>
          <p:cNvSpPr>
            <a:spLocks noChangeArrowheads="1"/>
          </p:cNvSpPr>
          <p:nvPr/>
        </p:nvSpPr>
        <p:spPr bwMode="auto">
          <a:xfrm>
            <a:off x="533400" y="4495800"/>
            <a:ext cx="6096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400" b="1" dirty="0"/>
              <a:t>        </a:t>
            </a:r>
            <a:r>
              <a:rPr lang="zh-CN" altLang="en-US" sz="2400" b="1" dirty="0"/>
              <a:t>如图，一容器用隔板分成容积相等的</a:t>
            </a:r>
            <a:r>
              <a:rPr lang="en-US" altLang="zh-CN" sz="2400" b="1" dirty="0"/>
              <a:t>A</a:t>
            </a:r>
            <a:r>
              <a:rPr lang="zh-CN" altLang="en-US" sz="2400" b="1" dirty="0"/>
              <a:t>和</a:t>
            </a:r>
            <a:r>
              <a:rPr lang="en-US" altLang="zh-CN" sz="2400" b="1" dirty="0"/>
              <a:t>B</a:t>
            </a:r>
            <a:r>
              <a:rPr lang="zh-CN" altLang="en-US" sz="2400" b="1" dirty="0"/>
              <a:t>两室。使</a:t>
            </a:r>
            <a:r>
              <a:rPr lang="en-US" altLang="zh-CN" sz="2400" b="1" dirty="0"/>
              <a:t>A</a:t>
            </a:r>
            <a:r>
              <a:rPr lang="zh-CN" altLang="en-US" sz="2400" b="1" dirty="0"/>
              <a:t>充满气体，</a:t>
            </a:r>
            <a:r>
              <a:rPr lang="en-US" altLang="zh-CN" sz="2400" b="1" dirty="0"/>
              <a:t>B</a:t>
            </a:r>
            <a:r>
              <a:rPr lang="zh-CN" altLang="en-US" sz="2400" b="1" dirty="0"/>
              <a:t>保持真空。隔板抽掉后，每个分子都有</a:t>
            </a:r>
            <a:r>
              <a:rPr lang="en-US" altLang="zh-CN" sz="2400" b="1" dirty="0"/>
              <a:t>1/2</a:t>
            </a:r>
            <a:r>
              <a:rPr lang="zh-CN" altLang="en-US" sz="2400" b="1" dirty="0"/>
              <a:t>的概率在</a:t>
            </a:r>
            <a:r>
              <a:rPr lang="en-US" altLang="zh-CN" sz="2400" b="1" dirty="0"/>
              <a:t>B</a:t>
            </a:r>
            <a:r>
              <a:rPr lang="zh-CN" altLang="en-US" sz="2400" b="1" dirty="0"/>
              <a:t>室，同样有</a:t>
            </a:r>
            <a:r>
              <a:rPr lang="en-US" altLang="zh-CN" sz="2400" b="1" dirty="0"/>
              <a:t>1/2</a:t>
            </a:r>
            <a:r>
              <a:rPr lang="zh-CN" altLang="en-US" sz="2400" b="1" dirty="0"/>
              <a:t>的概率在回到</a:t>
            </a:r>
            <a:r>
              <a:rPr lang="en-US" altLang="zh-CN" sz="2400" b="1" dirty="0"/>
              <a:t>A</a:t>
            </a:r>
            <a:r>
              <a:rPr lang="zh-CN" altLang="en-US" sz="2400" b="1" dirty="0"/>
              <a:t>室。</a:t>
            </a:r>
          </a:p>
        </p:txBody>
      </p:sp>
      <p:sp>
        <p:nvSpPr>
          <p:cNvPr id="181263" name="Rectangle 15"/>
          <p:cNvSpPr>
            <a:spLocks noChangeArrowheads="1"/>
          </p:cNvSpPr>
          <p:nvPr/>
        </p:nvSpPr>
        <p:spPr bwMode="auto">
          <a:xfrm>
            <a:off x="468313" y="6096000"/>
            <a:ext cx="8688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t>现考虑只有</a:t>
            </a:r>
            <a:r>
              <a:rPr lang="en-US" altLang="zh-CN" sz="2400" b="1" dirty="0"/>
              <a:t>4</a:t>
            </a:r>
            <a:r>
              <a:rPr lang="zh-CN" altLang="en-US" sz="2400" b="1" dirty="0"/>
              <a:t>个分子的情况，每一种可能的分布称为一个微观态：</a:t>
            </a:r>
          </a:p>
        </p:txBody>
      </p:sp>
      <p:sp>
        <p:nvSpPr>
          <p:cNvPr id="181264" name="Text Box 16"/>
          <p:cNvSpPr txBox="1">
            <a:spLocks noChangeArrowheads="1"/>
          </p:cNvSpPr>
          <p:nvPr/>
        </p:nvSpPr>
        <p:spPr bwMode="auto">
          <a:xfrm>
            <a:off x="7239000" y="4267200"/>
            <a:ext cx="1143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eaLnBrk="1" hangingPunct="1">
              <a:spcBef>
                <a:spcPct val="50000"/>
              </a:spcBef>
            </a:pPr>
            <a:r>
              <a:rPr lang="en-US" altLang="zh-CN" sz="2400" b="1"/>
              <a:t>A       B</a:t>
            </a:r>
          </a:p>
        </p:txBody>
      </p:sp>
    </p:spTree>
    <p:extLst>
      <p:ext uri="{BB962C8B-B14F-4D97-AF65-F5344CB8AC3E}">
        <p14:creationId xmlns:p14="http://schemas.microsoft.com/office/powerpoint/2010/main" val="376262589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1250"/>
                                        </p:tgtEl>
                                        <p:attrNameLst>
                                          <p:attrName>style.visibility</p:attrName>
                                        </p:attrNameLst>
                                      </p:cBhvr>
                                      <p:to>
                                        <p:strVal val="visible"/>
                                      </p:to>
                                    </p:set>
                                    <p:anim calcmode="lin" valueType="num">
                                      <p:cBhvr additive="base">
                                        <p:cTn id="7" dur="500" fill="hold"/>
                                        <p:tgtEl>
                                          <p:spTgt spid="181250"/>
                                        </p:tgtEl>
                                        <p:attrNameLst>
                                          <p:attrName>ppt_x</p:attrName>
                                        </p:attrNameLst>
                                      </p:cBhvr>
                                      <p:tavLst>
                                        <p:tav tm="0">
                                          <p:val>
                                            <p:strVal val="0-#ppt_w/2"/>
                                          </p:val>
                                        </p:tav>
                                        <p:tav tm="100000">
                                          <p:val>
                                            <p:strVal val="#ppt_x"/>
                                          </p:val>
                                        </p:tav>
                                      </p:tavLst>
                                    </p:anim>
                                    <p:anim calcmode="lin" valueType="num">
                                      <p:cBhvr additive="base">
                                        <p:cTn id="8" dur="500" fill="hold"/>
                                        <p:tgtEl>
                                          <p:spTgt spid="18125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1251"/>
                                        </p:tgtEl>
                                        <p:attrNameLst>
                                          <p:attrName>style.visibility</p:attrName>
                                        </p:attrNameLst>
                                      </p:cBhvr>
                                      <p:to>
                                        <p:strVal val="visible"/>
                                      </p:to>
                                    </p:set>
                                    <p:anim calcmode="lin" valueType="num">
                                      <p:cBhvr additive="base">
                                        <p:cTn id="13" dur="500" fill="hold"/>
                                        <p:tgtEl>
                                          <p:spTgt spid="181251"/>
                                        </p:tgtEl>
                                        <p:attrNameLst>
                                          <p:attrName>ppt_x</p:attrName>
                                        </p:attrNameLst>
                                      </p:cBhvr>
                                      <p:tavLst>
                                        <p:tav tm="0">
                                          <p:val>
                                            <p:strVal val="0-#ppt_w/2"/>
                                          </p:val>
                                        </p:tav>
                                        <p:tav tm="100000">
                                          <p:val>
                                            <p:strVal val="#ppt_x"/>
                                          </p:val>
                                        </p:tav>
                                      </p:tavLst>
                                    </p:anim>
                                    <p:anim calcmode="lin" valueType="num">
                                      <p:cBhvr additive="base">
                                        <p:cTn id="14" dur="500" fill="hold"/>
                                        <p:tgtEl>
                                          <p:spTgt spid="18125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1252"/>
                                        </p:tgtEl>
                                        <p:attrNameLst>
                                          <p:attrName>style.visibility</p:attrName>
                                        </p:attrNameLst>
                                      </p:cBhvr>
                                      <p:to>
                                        <p:strVal val="visible"/>
                                      </p:to>
                                    </p:set>
                                    <p:anim calcmode="lin" valueType="num">
                                      <p:cBhvr additive="base">
                                        <p:cTn id="19" dur="500" fill="hold"/>
                                        <p:tgtEl>
                                          <p:spTgt spid="181252"/>
                                        </p:tgtEl>
                                        <p:attrNameLst>
                                          <p:attrName>ppt_x</p:attrName>
                                        </p:attrNameLst>
                                      </p:cBhvr>
                                      <p:tavLst>
                                        <p:tav tm="0">
                                          <p:val>
                                            <p:strVal val="0-#ppt_w/2"/>
                                          </p:val>
                                        </p:tav>
                                        <p:tav tm="100000">
                                          <p:val>
                                            <p:strVal val="#ppt_x"/>
                                          </p:val>
                                        </p:tav>
                                      </p:tavLst>
                                    </p:anim>
                                    <p:anim calcmode="lin" valueType="num">
                                      <p:cBhvr additive="base">
                                        <p:cTn id="20" dur="500" fill="hold"/>
                                        <p:tgtEl>
                                          <p:spTgt spid="18125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1253"/>
                                        </p:tgtEl>
                                        <p:attrNameLst>
                                          <p:attrName>style.visibility</p:attrName>
                                        </p:attrNameLst>
                                      </p:cBhvr>
                                      <p:to>
                                        <p:strVal val="visible"/>
                                      </p:to>
                                    </p:set>
                                    <p:anim calcmode="lin" valueType="num">
                                      <p:cBhvr additive="base">
                                        <p:cTn id="25" dur="500" fill="hold"/>
                                        <p:tgtEl>
                                          <p:spTgt spid="181253"/>
                                        </p:tgtEl>
                                        <p:attrNameLst>
                                          <p:attrName>ppt_x</p:attrName>
                                        </p:attrNameLst>
                                      </p:cBhvr>
                                      <p:tavLst>
                                        <p:tav tm="0">
                                          <p:val>
                                            <p:strVal val="0-#ppt_w/2"/>
                                          </p:val>
                                        </p:tav>
                                        <p:tav tm="100000">
                                          <p:val>
                                            <p:strVal val="#ppt_x"/>
                                          </p:val>
                                        </p:tav>
                                      </p:tavLst>
                                    </p:anim>
                                    <p:anim calcmode="lin" valueType="num">
                                      <p:cBhvr additive="base">
                                        <p:cTn id="26" dur="500" fill="hold"/>
                                        <p:tgtEl>
                                          <p:spTgt spid="18125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8125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8126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81262"/>
                                        </p:tgtEl>
                                        <p:attrNameLst>
                                          <p:attrName>style.visibility</p:attrName>
                                        </p:attrNameLst>
                                      </p:cBhvr>
                                      <p:to>
                                        <p:strVal val="visible"/>
                                      </p:to>
                                    </p:set>
                                    <p:anim calcmode="lin" valueType="num">
                                      <p:cBhvr additive="base">
                                        <p:cTn id="39" dur="500" fill="hold"/>
                                        <p:tgtEl>
                                          <p:spTgt spid="181262"/>
                                        </p:tgtEl>
                                        <p:attrNameLst>
                                          <p:attrName>ppt_x</p:attrName>
                                        </p:attrNameLst>
                                      </p:cBhvr>
                                      <p:tavLst>
                                        <p:tav tm="0">
                                          <p:val>
                                            <p:strVal val="0-#ppt_w/2"/>
                                          </p:val>
                                        </p:tav>
                                        <p:tav tm="100000">
                                          <p:val>
                                            <p:strVal val="#ppt_x"/>
                                          </p:val>
                                        </p:tav>
                                      </p:tavLst>
                                    </p:anim>
                                    <p:anim calcmode="lin" valueType="num">
                                      <p:cBhvr additive="base">
                                        <p:cTn id="40" dur="500" fill="hold"/>
                                        <p:tgtEl>
                                          <p:spTgt spid="181262"/>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81263"/>
                                        </p:tgtEl>
                                        <p:attrNameLst>
                                          <p:attrName>style.visibility</p:attrName>
                                        </p:attrNameLst>
                                      </p:cBhvr>
                                      <p:to>
                                        <p:strVal val="visible"/>
                                      </p:to>
                                    </p:set>
                                    <p:anim calcmode="lin" valueType="num">
                                      <p:cBhvr additive="base">
                                        <p:cTn id="45" dur="500" fill="hold"/>
                                        <p:tgtEl>
                                          <p:spTgt spid="181263"/>
                                        </p:tgtEl>
                                        <p:attrNameLst>
                                          <p:attrName>ppt_x</p:attrName>
                                        </p:attrNameLst>
                                      </p:cBhvr>
                                      <p:tavLst>
                                        <p:tav tm="0">
                                          <p:val>
                                            <p:strVal val="0-#ppt_w/2"/>
                                          </p:val>
                                        </p:tav>
                                        <p:tav tm="100000">
                                          <p:val>
                                            <p:strVal val="#ppt_x"/>
                                          </p:val>
                                        </p:tav>
                                      </p:tavLst>
                                    </p:anim>
                                    <p:anim calcmode="lin" valueType="num">
                                      <p:cBhvr additive="base">
                                        <p:cTn id="46" dur="500" fill="hold"/>
                                        <p:tgtEl>
                                          <p:spTgt spid="1812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0" grpId="0" autoUpdateAnimBg="0"/>
      <p:bldP spid="181251" grpId="0" autoUpdateAnimBg="0"/>
      <p:bldP spid="181252" grpId="0" autoUpdateAnimBg="0"/>
      <p:bldP spid="181253" grpId="0" autoUpdateAnimBg="0"/>
      <p:bldP spid="181262" grpId="0" autoUpdateAnimBg="0"/>
      <p:bldP spid="181263" grpId="0" autoUpdateAnimBg="0"/>
      <p:bldP spid="181264"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1188640" y="-303848"/>
            <a:ext cx="7543800" cy="1295400"/>
          </a:xfrm>
        </p:spPr>
        <p:txBody>
          <a:bodyPr/>
          <a:lstStyle/>
          <a:p>
            <a:pPr eaLnBrk="1" hangingPunct="1"/>
            <a:r>
              <a:rPr lang="en-US" altLang="zh-CN" sz="2800" dirty="0">
                <a:ea typeface="宋体" charset="-122"/>
              </a:rPr>
              <a:t>Entropy, Marble Example, Results</a:t>
            </a:r>
          </a:p>
        </p:txBody>
      </p:sp>
      <p:sp>
        <p:nvSpPr>
          <p:cNvPr id="72707" name="Rectangle 5"/>
          <p:cNvSpPr>
            <a:spLocks noGrp="1" noChangeArrowheads="1"/>
          </p:cNvSpPr>
          <p:nvPr>
            <p:ph type="body" sz="half" idx="2"/>
          </p:nvPr>
        </p:nvSpPr>
        <p:spPr>
          <a:xfrm>
            <a:off x="499666" y="5207694"/>
            <a:ext cx="8085596" cy="858494"/>
          </a:xfrm>
        </p:spPr>
        <p:txBody>
          <a:bodyPr/>
          <a:lstStyle/>
          <a:p>
            <a:pPr eaLnBrk="1" hangingPunct="1"/>
            <a:r>
              <a:rPr lang="en-US" altLang="zh-CN" sz="2600" dirty="0">
                <a:ea typeface="宋体" charset="-122"/>
              </a:rPr>
              <a:t>The most ordered are the least likely</a:t>
            </a:r>
          </a:p>
          <a:p>
            <a:pPr eaLnBrk="1" hangingPunct="1"/>
            <a:r>
              <a:rPr lang="en-US" altLang="zh-CN" sz="2600" dirty="0">
                <a:ea typeface="宋体" charset="-122"/>
              </a:rPr>
              <a:t>The most disorder is the most likely</a:t>
            </a:r>
          </a:p>
        </p:txBody>
      </p:sp>
      <p:pic>
        <p:nvPicPr>
          <p:cNvPr id="72708" name="Picture 10" descr="22T1"/>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539758" y="804564"/>
            <a:ext cx="6525507" cy="3999631"/>
          </a:xfrm>
        </p:spPr>
      </p:pic>
      <p:graphicFrame>
        <p:nvGraphicFramePr>
          <p:cNvPr id="2" name="对象 1"/>
          <p:cNvGraphicFramePr>
            <a:graphicFrameLocks noChangeAspect="1"/>
          </p:cNvGraphicFramePr>
          <p:nvPr>
            <p:extLst>
              <p:ext uri="{D42A27DB-BD31-4B8C-83A1-F6EECF244321}">
                <p14:modId xmlns:p14="http://schemas.microsoft.com/office/powerpoint/2010/main" val="3941112092"/>
              </p:ext>
            </p:extLst>
          </p:nvPr>
        </p:nvGraphicFramePr>
        <p:xfrm>
          <a:off x="7555555" y="2480444"/>
          <a:ext cx="395288" cy="444500"/>
        </p:xfrm>
        <a:graphic>
          <a:graphicData uri="http://schemas.openxmlformats.org/presentationml/2006/ole">
            <mc:AlternateContent xmlns:mc="http://schemas.openxmlformats.org/markup-compatibility/2006">
              <mc:Choice xmlns:v="urn:schemas-microsoft-com:vml" Requires="v">
                <p:oleObj spid="_x0000_s125495" name="公式" r:id="rId4" imgW="203112" imgH="228501" progId="Equation.3">
                  <p:embed/>
                </p:oleObj>
              </mc:Choice>
              <mc:Fallback>
                <p:oleObj name="公式" r:id="rId4" imgW="203112" imgH="22850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555" y="2480444"/>
                        <a:ext cx="395288" cy="444500"/>
                      </a:xfrm>
                      <a:prstGeom prst="rect">
                        <a:avLst/>
                      </a:prstGeom>
                      <a:noFill/>
                      <a:ln>
                        <a:noFill/>
                      </a:ln>
                      <a:effectLs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477509718"/>
              </p:ext>
            </p:extLst>
          </p:nvPr>
        </p:nvGraphicFramePr>
        <p:xfrm>
          <a:off x="7555555" y="2840484"/>
          <a:ext cx="395288" cy="444500"/>
        </p:xfrm>
        <a:graphic>
          <a:graphicData uri="http://schemas.openxmlformats.org/presentationml/2006/ole">
            <mc:AlternateContent xmlns:mc="http://schemas.openxmlformats.org/markup-compatibility/2006">
              <mc:Choice xmlns:v="urn:schemas-microsoft-com:vml" Requires="v">
                <p:oleObj spid="_x0000_s125496" name="公式" r:id="rId6" imgW="203112" imgH="228501" progId="Equation.3">
                  <p:embed/>
                </p:oleObj>
              </mc:Choice>
              <mc:Fallback>
                <p:oleObj name="公式" r:id="rId6" imgW="203112" imgH="228501"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5555" y="2840484"/>
                        <a:ext cx="395288" cy="444500"/>
                      </a:xfrm>
                      <a:prstGeom prst="rect">
                        <a:avLst/>
                      </a:prstGeom>
                      <a:noFill/>
                      <a:ln>
                        <a:noFill/>
                      </a:ln>
                      <a:effectLs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89811997"/>
              </p:ext>
            </p:extLst>
          </p:nvPr>
        </p:nvGraphicFramePr>
        <p:xfrm>
          <a:off x="7529809" y="3200524"/>
          <a:ext cx="395287" cy="444500"/>
        </p:xfrm>
        <a:graphic>
          <a:graphicData uri="http://schemas.openxmlformats.org/presentationml/2006/ole">
            <mc:AlternateContent xmlns:mc="http://schemas.openxmlformats.org/markup-compatibility/2006">
              <mc:Choice xmlns:v="urn:schemas-microsoft-com:vml" Requires="v">
                <p:oleObj spid="_x0000_s125497" name="公式" r:id="rId8" imgW="203112" imgH="228501" progId="Equation.3">
                  <p:embed/>
                </p:oleObj>
              </mc:Choice>
              <mc:Fallback>
                <p:oleObj name="公式" r:id="rId8" imgW="203112" imgH="228501"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29809" y="3200524"/>
                        <a:ext cx="395287" cy="444500"/>
                      </a:xfrm>
                      <a:prstGeom prst="rect">
                        <a:avLst/>
                      </a:prstGeom>
                      <a:noFill/>
                      <a:ln>
                        <a:noFill/>
                      </a:ln>
                      <a:effectLs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726884032"/>
              </p:ext>
            </p:extLst>
          </p:nvPr>
        </p:nvGraphicFramePr>
        <p:xfrm>
          <a:off x="7524328" y="3792396"/>
          <a:ext cx="395287" cy="444500"/>
        </p:xfrm>
        <a:graphic>
          <a:graphicData uri="http://schemas.openxmlformats.org/presentationml/2006/ole">
            <mc:AlternateContent xmlns:mc="http://schemas.openxmlformats.org/markup-compatibility/2006">
              <mc:Choice xmlns:v="urn:schemas-microsoft-com:vml" Requires="v">
                <p:oleObj spid="_x0000_s125498" name="公式" r:id="rId10" imgW="203112" imgH="228501" progId="Equation.3">
                  <p:embed/>
                </p:oleObj>
              </mc:Choice>
              <mc:Fallback>
                <p:oleObj name="公式" r:id="rId10" imgW="203112" imgH="228501"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24328" y="3792396"/>
                        <a:ext cx="395287" cy="444500"/>
                      </a:xfrm>
                      <a:prstGeom prst="rect">
                        <a:avLst/>
                      </a:prstGeom>
                      <a:noFill/>
                      <a:ln>
                        <a:noFill/>
                      </a:ln>
                      <a:effectLs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012479445"/>
              </p:ext>
            </p:extLst>
          </p:nvPr>
        </p:nvGraphicFramePr>
        <p:xfrm>
          <a:off x="7551169" y="4208636"/>
          <a:ext cx="395288" cy="444500"/>
        </p:xfrm>
        <a:graphic>
          <a:graphicData uri="http://schemas.openxmlformats.org/presentationml/2006/ole">
            <mc:AlternateContent xmlns:mc="http://schemas.openxmlformats.org/markup-compatibility/2006">
              <mc:Choice xmlns:v="urn:schemas-microsoft-com:vml" Requires="v">
                <p:oleObj spid="_x0000_s125499" name="公式" r:id="rId11" imgW="203112" imgH="228501" progId="Equation.3">
                  <p:embed/>
                </p:oleObj>
              </mc:Choice>
              <mc:Fallback>
                <p:oleObj name="公式" r:id="rId11" imgW="203112" imgH="22850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1169" y="4208636"/>
                        <a:ext cx="395288" cy="444500"/>
                      </a:xfrm>
                      <a:prstGeom prst="rect">
                        <a:avLst/>
                      </a:prstGeom>
                      <a:noFill/>
                      <a:ln>
                        <a:noFill/>
                      </a:ln>
                      <a:effectLst/>
                      <a:extLst/>
                    </p:spPr>
                  </p:pic>
                </p:oleObj>
              </mc:Fallback>
            </mc:AlternateContent>
          </a:graphicData>
        </a:graphic>
      </p:graphicFrame>
      <p:sp>
        <p:nvSpPr>
          <p:cNvPr id="12" name="Text Box 10"/>
          <p:cNvSpPr txBox="1">
            <a:spLocks noChangeArrowheads="1"/>
          </p:cNvSpPr>
          <p:nvPr/>
        </p:nvSpPr>
        <p:spPr bwMode="auto">
          <a:xfrm>
            <a:off x="597489" y="6077744"/>
            <a:ext cx="738197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sz="2400" b="1" dirty="0">
                <a:solidFill>
                  <a:srgbClr val="FF3300"/>
                </a:solidFill>
                <a:latin typeface="Century Schoolbook" pitchFamily="18" charset="0"/>
              </a:rPr>
              <a:t>微观状态</a:t>
            </a:r>
            <a:r>
              <a:rPr lang="en-US" altLang="zh-CN" sz="2400" b="1" dirty="0">
                <a:solidFill>
                  <a:schemeClr val="accent2"/>
                </a:solidFill>
                <a:latin typeface="Century Schoolbook" pitchFamily="18" charset="0"/>
              </a:rPr>
              <a:t>——</a:t>
            </a:r>
            <a:r>
              <a:rPr lang="zh-CN" altLang="en-US" sz="2400" b="1" dirty="0">
                <a:solidFill>
                  <a:schemeClr val="accent2"/>
                </a:solidFill>
                <a:latin typeface="Century Schoolbook" pitchFamily="18" charset="0"/>
              </a:rPr>
              <a:t>系统内微观粒子的分布，用</a:t>
            </a:r>
            <a:r>
              <a:rPr lang="en-US" altLang="zh-CN" sz="2400" b="1" i="1" dirty="0">
                <a:solidFill>
                  <a:schemeClr val="accent2"/>
                </a:solidFill>
                <a:cs typeface="Times New Roman" pitchFamily="18" charset="0"/>
              </a:rPr>
              <a:t>W</a:t>
            </a:r>
            <a:r>
              <a:rPr lang="zh-CN" altLang="en-US" sz="2400" b="1" dirty="0">
                <a:solidFill>
                  <a:schemeClr val="accent2"/>
                </a:solidFill>
                <a:cs typeface="Times New Roman" pitchFamily="18" charset="0"/>
              </a:rPr>
              <a:t>表示，总的微观状态数</a:t>
            </a:r>
            <a:r>
              <a:rPr lang="en-US" altLang="zh-CN" sz="2400" b="1" dirty="0">
                <a:solidFill>
                  <a:schemeClr val="accent2"/>
                </a:solidFill>
                <a:cs typeface="Times New Roman" pitchFamily="18" charset="0"/>
              </a:rPr>
              <a:t>=</a:t>
            </a:r>
            <a:r>
              <a:rPr lang="en-US" altLang="zh-CN" sz="2400" b="1" dirty="0">
                <a:solidFill>
                  <a:srgbClr val="FF0000"/>
                </a:solidFill>
              </a:rPr>
              <a:t>2</a:t>
            </a:r>
            <a:r>
              <a:rPr lang="en-US" altLang="zh-CN" sz="2400" b="1" baseline="30000" dirty="0">
                <a:solidFill>
                  <a:srgbClr val="FF0000"/>
                </a:solidFill>
              </a:rPr>
              <a:t>4</a:t>
            </a:r>
            <a:r>
              <a:rPr lang="en-US" altLang="zh-CN" sz="2400" b="1" dirty="0">
                <a:solidFill>
                  <a:schemeClr val="accent2"/>
                </a:solidFill>
                <a:cs typeface="Times New Roman" pitchFamily="18" charset="0"/>
              </a:rPr>
              <a:t>=16</a:t>
            </a:r>
            <a:endParaRPr lang="zh-CN" altLang="el-GR" sz="2400" b="1" dirty="0">
              <a:solidFill>
                <a:schemeClr val="accent2"/>
              </a:solidFill>
              <a:cs typeface="Times New Roman" pitchFamily="18" charset="0"/>
            </a:endParaRPr>
          </a:p>
        </p:txBody>
      </p:sp>
      <p:grpSp>
        <p:nvGrpSpPr>
          <p:cNvPr id="13" name="Group 6"/>
          <p:cNvGrpSpPr>
            <a:grpSpLocks/>
          </p:cNvGrpSpPr>
          <p:nvPr/>
        </p:nvGrpSpPr>
        <p:grpSpPr bwMode="auto">
          <a:xfrm>
            <a:off x="131366" y="1870720"/>
            <a:ext cx="984250" cy="838200"/>
            <a:chOff x="244" y="144"/>
            <a:chExt cx="620" cy="528"/>
          </a:xfrm>
        </p:grpSpPr>
        <p:grpSp>
          <p:nvGrpSpPr>
            <p:cNvPr id="14" name="Group 7"/>
            <p:cNvGrpSpPr>
              <a:grpSpLocks/>
            </p:cNvGrpSpPr>
            <p:nvPr/>
          </p:nvGrpSpPr>
          <p:grpSpPr bwMode="auto">
            <a:xfrm>
              <a:off x="244" y="144"/>
              <a:ext cx="620" cy="528"/>
              <a:chOff x="244" y="144"/>
              <a:chExt cx="620" cy="528"/>
            </a:xfrm>
          </p:grpSpPr>
          <p:sp>
            <p:nvSpPr>
              <p:cNvPr id="19" name="Rectangle 8"/>
              <p:cNvSpPr>
                <a:spLocks noChangeArrowheads="1"/>
              </p:cNvSpPr>
              <p:nvPr/>
            </p:nvSpPr>
            <p:spPr bwMode="auto">
              <a:xfrm>
                <a:off x="244" y="148"/>
                <a:ext cx="620" cy="52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9"/>
              <p:cNvSpPr>
                <a:spLocks noChangeShapeType="1"/>
              </p:cNvSpPr>
              <p:nvPr/>
            </p:nvSpPr>
            <p:spPr bwMode="auto">
              <a:xfrm>
                <a:off x="864" y="144"/>
                <a:ext cx="0" cy="52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 name="Oval 10"/>
            <p:cNvSpPr>
              <a:spLocks noChangeArrowheads="1"/>
            </p:cNvSpPr>
            <p:nvPr/>
          </p:nvSpPr>
          <p:spPr bwMode="auto">
            <a:xfrm>
              <a:off x="388" y="292"/>
              <a:ext cx="88" cy="8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Oval 11"/>
            <p:cNvSpPr>
              <a:spLocks noChangeArrowheads="1"/>
            </p:cNvSpPr>
            <p:nvPr/>
          </p:nvSpPr>
          <p:spPr bwMode="auto">
            <a:xfrm>
              <a:off x="676" y="292"/>
              <a:ext cx="88" cy="88"/>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Oval 12"/>
            <p:cNvSpPr>
              <a:spLocks noChangeArrowheads="1"/>
            </p:cNvSpPr>
            <p:nvPr/>
          </p:nvSpPr>
          <p:spPr bwMode="auto">
            <a:xfrm>
              <a:off x="628" y="484"/>
              <a:ext cx="88" cy="88"/>
            </a:xfrm>
            <a:prstGeom prst="ellipse">
              <a:avLst/>
            </a:prstGeom>
            <a:solidFill>
              <a:schemeClr val="accent1"/>
            </a:solidFill>
            <a:ln w="127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Oval 13"/>
            <p:cNvSpPr>
              <a:spLocks noChangeArrowheads="1"/>
            </p:cNvSpPr>
            <p:nvPr/>
          </p:nvSpPr>
          <p:spPr bwMode="auto">
            <a:xfrm>
              <a:off x="436" y="484"/>
              <a:ext cx="88" cy="88"/>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 name="Oval 11"/>
          <p:cNvSpPr>
            <a:spLocks noChangeArrowheads="1"/>
          </p:cNvSpPr>
          <p:nvPr/>
        </p:nvSpPr>
        <p:spPr bwMode="auto">
          <a:xfrm>
            <a:off x="837039" y="2258070"/>
            <a:ext cx="139700" cy="139700"/>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Oval 11"/>
          <p:cNvSpPr>
            <a:spLocks noChangeArrowheads="1"/>
          </p:cNvSpPr>
          <p:nvPr/>
        </p:nvSpPr>
        <p:spPr bwMode="auto">
          <a:xfrm>
            <a:off x="262566" y="2306182"/>
            <a:ext cx="139700" cy="139700"/>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Oval 12"/>
          <p:cNvSpPr>
            <a:spLocks noChangeArrowheads="1"/>
          </p:cNvSpPr>
          <p:nvPr/>
        </p:nvSpPr>
        <p:spPr bwMode="auto">
          <a:xfrm>
            <a:off x="571141" y="2216652"/>
            <a:ext cx="139700" cy="139700"/>
          </a:xfrm>
          <a:prstGeom prst="ellipse">
            <a:avLst/>
          </a:prstGeom>
          <a:solidFill>
            <a:schemeClr val="accent1"/>
          </a:solidFill>
          <a:ln w="127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Oval 12"/>
          <p:cNvSpPr>
            <a:spLocks noChangeArrowheads="1"/>
          </p:cNvSpPr>
          <p:nvPr/>
        </p:nvSpPr>
        <p:spPr bwMode="auto">
          <a:xfrm>
            <a:off x="640991" y="1969498"/>
            <a:ext cx="139700" cy="139700"/>
          </a:xfrm>
          <a:prstGeom prst="ellipse">
            <a:avLst/>
          </a:prstGeom>
          <a:solidFill>
            <a:schemeClr val="accent1"/>
          </a:solidFill>
          <a:ln w="127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1527857" y="4766030"/>
            <a:ext cx="1475083" cy="400110"/>
          </a:xfrm>
          <a:prstGeom prst="rect">
            <a:avLst/>
          </a:prstGeom>
        </p:spPr>
        <p:txBody>
          <a:bodyPr wrap="none">
            <a:spAutoFit/>
          </a:bodyPr>
          <a:lstStyle/>
          <a:p>
            <a:r>
              <a:rPr lang="zh-CN" altLang="en-US" b="1" dirty="0"/>
              <a:t>宏观状态数</a:t>
            </a:r>
          </a:p>
        </p:txBody>
      </p:sp>
      <p:sp>
        <p:nvSpPr>
          <p:cNvPr id="10" name="矩形 9"/>
          <p:cNvSpPr/>
          <p:nvPr/>
        </p:nvSpPr>
        <p:spPr>
          <a:xfrm>
            <a:off x="3830154" y="4663178"/>
            <a:ext cx="1475084" cy="400110"/>
          </a:xfrm>
          <a:prstGeom prst="rect">
            <a:avLst/>
          </a:prstGeom>
        </p:spPr>
        <p:txBody>
          <a:bodyPr wrap="none">
            <a:spAutoFit/>
          </a:bodyPr>
          <a:lstStyle/>
          <a:p>
            <a:pPr algn="l" fontAlgn="auto">
              <a:spcBef>
                <a:spcPts val="0"/>
              </a:spcBef>
              <a:spcAft>
                <a:spcPts val="0"/>
              </a:spcAft>
              <a:defRPr/>
            </a:pPr>
            <a:r>
              <a:rPr lang="zh-CN" altLang="en-US" b="1" dirty="0"/>
              <a:t>微观状态数</a:t>
            </a:r>
          </a:p>
        </p:txBody>
      </p:sp>
      <p:sp>
        <p:nvSpPr>
          <p:cNvPr id="11" name="矩形 10"/>
          <p:cNvSpPr/>
          <p:nvPr/>
        </p:nvSpPr>
        <p:spPr>
          <a:xfrm>
            <a:off x="5884308" y="4677120"/>
            <a:ext cx="3008171" cy="707886"/>
          </a:xfrm>
          <a:prstGeom prst="rect">
            <a:avLst/>
          </a:prstGeom>
        </p:spPr>
        <p:txBody>
          <a:bodyPr wrap="square">
            <a:spAutoFit/>
          </a:bodyPr>
          <a:lstStyle/>
          <a:p>
            <a:r>
              <a:rPr lang="en-US" altLang="zh-CN" b="1" dirty="0"/>
              <a:t>1</a:t>
            </a:r>
            <a:r>
              <a:rPr lang="zh-CN" altLang="en-US" b="1" dirty="0"/>
              <a:t>个宏观状态所包含的微观</a:t>
            </a:r>
            <a:r>
              <a:rPr lang="zh-CN" altLang="en-US" b="1"/>
              <a:t>状态数</a:t>
            </a:r>
            <a:endParaRPr lang="zh-CN" altLang="en-US" b="1" baseline="30000" dirty="0">
              <a:solidFill>
                <a:srgbClr val="FF0000"/>
              </a:solidFill>
            </a:endParaRPr>
          </a:p>
        </p:txBody>
      </p:sp>
    </p:spTree>
    <p:extLst>
      <p:ext uri="{BB962C8B-B14F-4D97-AF65-F5344CB8AC3E}">
        <p14:creationId xmlns:p14="http://schemas.microsoft.com/office/powerpoint/2010/main" val="6853835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2466" name="标题 1"/>
              <p:cNvSpPr>
                <a:spLocks noGrp="1"/>
              </p:cNvSpPr>
              <p:nvPr>
                <p:ph type="title"/>
              </p:nvPr>
            </p:nvSpPr>
            <p:spPr>
              <a:xfrm>
                <a:off x="3421769" y="211137"/>
                <a:ext cx="5472286" cy="6708322"/>
              </a:xfrm>
            </p:spPr>
            <p:txBody>
              <a:bodyPr/>
              <a:lstStyle/>
              <a:p>
                <a:pPr algn="l"/>
                <a:r>
                  <a:rPr lang="zh-CN" altLang="en-US" sz="2400" b="1" dirty="0"/>
                  <a:t>若容器中分子数达到</a:t>
                </a:r>
                <a:r>
                  <a:rPr lang="en-US" altLang="zh-CN" sz="2400" b="1" dirty="0"/>
                  <a:t>N=6</a:t>
                </a:r>
                <a:r>
                  <a:rPr lang="en-US" altLang="zh-CN" sz="2400" b="1" dirty="0">
                    <a:sym typeface="Symbol" pitchFamily="18" charset="2"/>
                  </a:rPr>
                  <a:t></a:t>
                </a:r>
                <a:r>
                  <a:rPr lang="en-US" altLang="zh-CN" sz="2400" b="1" dirty="0"/>
                  <a:t>10</a:t>
                </a:r>
                <a:r>
                  <a:rPr lang="en-US" altLang="zh-CN" sz="2400" b="1" baseline="30000" dirty="0"/>
                  <a:t>23</a:t>
                </a:r>
                <a:br>
                  <a:rPr lang="en-US" altLang="zh-CN" sz="2400" b="1" dirty="0"/>
                </a:br>
                <a:r>
                  <a:rPr lang="zh-CN" altLang="en-US" sz="2400" b="1" dirty="0"/>
                  <a:t>数量级时，则总共有种微观状态</a:t>
                </a:r>
                <a:r>
                  <a:rPr lang="en-US" altLang="zh-CN" sz="2400" b="1" dirty="0"/>
                  <a:t>2</a:t>
                </a:r>
                <a:r>
                  <a:rPr lang="en-US" altLang="zh-CN" sz="2400" b="1" baseline="30000" dirty="0"/>
                  <a:t>N</a:t>
                </a:r>
                <a:r>
                  <a:rPr lang="zh-CN" altLang="en-US" sz="2400" b="1" dirty="0"/>
                  <a:t>，其中</a:t>
                </a:r>
                <a:r>
                  <a:rPr lang="en-US" altLang="zh-CN" sz="2400" b="1" dirty="0"/>
                  <a:t>n</a:t>
                </a:r>
                <a:r>
                  <a:rPr lang="zh-CN" altLang="en-US" sz="2400" b="1" dirty="0"/>
                  <a:t>个在</a:t>
                </a:r>
                <a:r>
                  <a:rPr lang="en-US" altLang="zh-CN" sz="2400" b="1" dirty="0"/>
                  <a:t>A</a:t>
                </a:r>
                <a:r>
                  <a:rPr lang="zh-CN" altLang="en-US" sz="2400" b="1" dirty="0"/>
                  <a:t>室，（</a:t>
                </a:r>
                <a:r>
                  <a:rPr lang="en-US" altLang="zh-CN" sz="2400" b="1" dirty="0"/>
                  <a:t>N</a:t>
                </a:r>
                <a:r>
                  <a:rPr lang="zh-CN" altLang="en-US" sz="2400" b="1" dirty="0">
                    <a:latin typeface="Times New Roman, Times, serif"/>
                  </a:rPr>
                  <a:t> </a:t>
                </a:r>
                <a:r>
                  <a:rPr lang="en-US" altLang="zh-CN" sz="2400" b="1" dirty="0"/>
                  <a:t>-n</a:t>
                </a:r>
                <a:r>
                  <a:rPr lang="zh-CN" altLang="en-US" sz="2400" b="1" dirty="0"/>
                  <a:t>）个在</a:t>
                </a:r>
                <a:r>
                  <a:rPr lang="en-US" altLang="zh-CN" sz="2400" b="1" dirty="0"/>
                  <a:t>B</a:t>
                </a:r>
                <a:r>
                  <a:rPr lang="zh-CN" altLang="en-US" sz="2400" b="1" dirty="0"/>
                  <a:t>室的宏观状态所包含的微观</a:t>
                </a:r>
                <a:r>
                  <a:rPr lang="zh-CN" altLang="en-US" sz="2400" b="1"/>
                  <a:t>状态数</a:t>
                </a:r>
                <a14:m>
                  <m:oMath xmlns:m="http://schemas.openxmlformats.org/officeDocument/2006/math">
                    <m:sSubSup>
                      <m:sSubSupPr>
                        <m:ctrlPr>
                          <a:rPr lang="en-US" altLang="zh-CN" sz="2400" b="1" i="1" smtClean="0">
                            <a:latin typeface="Cambria Math" panose="02040503050406030204" pitchFamily="18" charset="0"/>
                          </a:rPr>
                        </m:ctrlPr>
                      </m:sSubSupPr>
                      <m:e>
                        <m:r>
                          <m:rPr>
                            <m:sty m:val="p"/>
                          </m:rPr>
                          <a:rPr lang="en-US" altLang="zh-CN" sz="2400" b="1" i="1">
                            <a:latin typeface="Cambria Math" panose="02040503050406030204" pitchFamily="18" charset="0"/>
                          </a:rPr>
                          <m:t>C</m:t>
                        </m:r>
                      </m:e>
                      <m:sub>
                        <m:r>
                          <m:rPr>
                            <m:sty m:val="p"/>
                          </m:rPr>
                          <a:rPr lang="en-US" altLang="zh-CN" sz="2400" b="1" i="1">
                            <a:latin typeface="Cambria Math" panose="02040503050406030204" pitchFamily="18" charset="0"/>
                          </a:rPr>
                          <m:t>N</m:t>
                        </m:r>
                      </m:sub>
                      <m:sup>
                        <m:r>
                          <m:rPr>
                            <m:sty m:val="p"/>
                          </m:rPr>
                          <a:rPr lang="en-US" altLang="zh-CN" sz="2400" b="1" i="1">
                            <a:latin typeface="Cambria Math" panose="02040503050406030204" pitchFamily="18" charset="0"/>
                          </a:rPr>
                          <m:t>n</m:t>
                        </m:r>
                      </m:sup>
                    </m:sSubSup>
                  </m:oMath>
                </a14:m>
                <a:r>
                  <a:rPr lang="zh-CN" altLang="en-US" sz="2400" b="1"/>
                  <a:t>（</a:t>
                </a:r>
                <a:r>
                  <a:rPr lang="zh-CN" altLang="en-US" sz="2400" b="1" dirty="0"/>
                  <a:t>也称为热力学概率）为：</a:t>
                </a:r>
                <a:br>
                  <a:rPr lang="en-US" altLang="zh-CN" sz="2400" b="1" dirty="0"/>
                </a:br>
                <a:br>
                  <a:rPr lang="en-US" altLang="zh-CN" sz="2400" b="1" dirty="0"/>
                </a:br>
                <a:br>
                  <a:rPr lang="en-US" altLang="zh-CN" sz="2400" b="1" dirty="0"/>
                </a:br>
                <a:r>
                  <a:rPr lang="zh-CN" altLang="en-US" sz="2400" b="1" dirty="0"/>
                  <a:t>如左图所示，</a:t>
                </a:r>
                <a:r>
                  <a:rPr lang="en-US" altLang="zh-CN" sz="2400" b="1" dirty="0"/>
                  <a:t>N</a:t>
                </a:r>
                <a:r>
                  <a:rPr lang="zh-CN" altLang="en-US" sz="2400" b="1" dirty="0"/>
                  <a:t>个分子均匀分布（</a:t>
                </a:r>
                <a:r>
                  <a:rPr lang="en-US" altLang="zh-CN" sz="2400" b="1" dirty="0"/>
                  <a:t>n=N/2</a:t>
                </a:r>
                <a:r>
                  <a:rPr lang="zh-CN" altLang="en-US" sz="2400" b="1" dirty="0"/>
                  <a:t>）的宏观状态所包含的微观状态（此刻热力学概率</a:t>
                </a:r>
                <a:r>
                  <a:rPr lang="en-US" altLang="zh-CN" sz="2400" b="1" dirty="0"/>
                  <a:t>W(n)</a:t>
                </a:r>
                <a:r>
                  <a:rPr lang="zh-CN" altLang="en-US" sz="2400" b="1" dirty="0"/>
                  <a:t>具有极大值），其出现的概率几乎是</a:t>
                </a:r>
                <a:r>
                  <a:rPr lang="en-US" altLang="zh-CN" sz="2400" b="1" dirty="0"/>
                  <a:t>100</a:t>
                </a:r>
                <a:r>
                  <a:rPr lang="zh-CN" altLang="en-US" sz="2400" b="1" dirty="0"/>
                  <a:t>％。而</a:t>
                </a:r>
                <a:r>
                  <a:rPr lang="en-US" altLang="zh-CN" sz="2400" b="1" dirty="0"/>
                  <a:t>N</a:t>
                </a:r>
                <a:r>
                  <a:rPr lang="zh-CN" altLang="en-US" sz="2400" b="1" dirty="0"/>
                  <a:t>个分子全部同时返回</a:t>
                </a:r>
                <a:r>
                  <a:rPr lang="en-US" altLang="zh-CN" sz="2400" b="1" dirty="0"/>
                  <a:t>A</a:t>
                </a:r>
                <a:r>
                  <a:rPr lang="zh-CN" altLang="en-US" sz="2400" b="1" dirty="0"/>
                  <a:t>室的概率为其值极其微小，</a:t>
                </a:r>
                <a:br>
                  <a:rPr lang="en-US" altLang="zh-CN" sz="2400" b="1" dirty="0"/>
                </a:br>
                <a:br>
                  <a:rPr lang="en-US" altLang="zh-CN" sz="2400" b="1" dirty="0"/>
                </a:br>
                <a:br>
                  <a:rPr lang="en-US" altLang="zh-CN" sz="2400" b="1" dirty="0"/>
                </a:br>
                <a:r>
                  <a:rPr lang="zh-CN" altLang="en-US" sz="2400" b="1" dirty="0"/>
                  <a:t>接近于零，意味着气体向真空由自由膨胀后，很难自动收缩回去。</a:t>
                </a:r>
                <a:br>
                  <a:rPr lang="zh-CN" altLang="en-US" sz="2400" b="1" dirty="0"/>
                </a:br>
                <a:endParaRPr lang="zh-CN" altLang="en-US" sz="2400" b="1" dirty="0"/>
              </a:p>
            </p:txBody>
          </p:sp>
        </mc:Choice>
        <mc:Fallback xmlns="">
          <p:sp>
            <p:nvSpPr>
              <p:cNvPr id="62466" name="标题 1"/>
              <p:cNvSpPr>
                <a:spLocks noGrp="1" noRot="1" noChangeAspect="1" noMove="1" noResize="1" noEditPoints="1" noAdjustHandles="1" noChangeArrowheads="1" noChangeShapeType="1" noTextEdit="1"/>
              </p:cNvSpPr>
              <p:nvPr>
                <p:ph type="title"/>
              </p:nvPr>
            </p:nvSpPr>
            <p:spPr>
              <a:xfrm>
                <a:off x="3421769" y="211137"/>
                <a:ext cx="5472286" cy="6708322"/>
              </a:xfrm>
              <a:blipFill>
                <a:blip r:embed="rId3"/>
                <a:stretch>
                  <a:fillRect l="-1670" t="-818" r="-1670"/>
                </a:stretch>
              </a:blipFill>
            </p:spPr>
            <p:txBody>
              <a:bodyPr/>
              <a:lstStyle/>
              <a:p>
                <a:r>
                  <a:rPr lang="zh-CN" altLang="en-US">
                    <a:noFill/>
                  </a:rPr>
                  <a:t> </a:t>
                </a:r>
              </a:p>
            </p:txBody>
          </p:sp>
        </mc:Fallback>
      </mc:AlternateContent>
      <p:pic>
        <p:nvPicPr>
          <p:cNvPr id="62467" name="Picture 1" descr="http://cai.tongji.edu.cn:8888/wanluokecheng/p03/ch09/sec09/image/wg.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713" y="1104900"/>
            <a:ext cx="276542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Picture 4" descr="http://cai.tongji.edu.cn:8888/wanluokecheng/p03/ch09/sec09/image/image150.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128" y="2060575"/>
            <a:ext cx="1730375"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0" name="矩形 1"/>
          <p:cNvSpPr>
            <a:spLocks noChangeArrowheads="1"/>
          </p:cNvSpPr>
          <p:nvPr/>
        </p:nvSpPr>
        <p:spPr bwMode="auto">
          <a:xfrm>
            <a:off x="611188" y="4305300"/>
            <a:ext cx="25781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热力学概率</a:t>
            </a:r>
            <a:r>
              <a:rPr lang="en-US" altLang="zh-CN" b="1" i="1"/>
              <a:t>W</a:t>
            </a:r>
            <a:r>
              <a:rPr lang="en-US" altLang="zh-CN" b="1"/>
              <a:t>(</a:t>
            </a:r>
            <a:r>
              <a:rPr lang="en-US" altLang="zh-CN" b="1" i="1"/>
              <a:t>n</a:t>
            </a:r>
            <a:r>
              <a:rPr lang="en-US" altLang="zh-CN" b="1"/>
              <a:t>)</a:t>
            </a:r>
            <a:r>
              <a:rPr lang="zh-CN" altLang="en-US" b="1"/>
              <a:t>和</a:t>
            </a:r>
            <a:endParaRPr lang="en-US" altLang="zh-CN" b="1"/>
          </a:p>
          <a:p>
            <a:r>
              <a:rPr lang="en-US" altLang="zh-CN" b="1"/>
              <a:t>A</a:t>
            </a:r>
            <a:r>
              <a:rPr lang="zh-CN" altLang="en-US" b="1"/>
              <a:t>室中分子数</a:t>
            </a:r>
            <a:r>
              <a:rPr lang="en-US" altLang="zh-CN" b="1" i="1"/>
              <a:t>n</a:t>
            </a:r>
            <a:r>
              <a:rPr lang="zh-CN" altLang="en-US" b="1"/>
              <a:t>的关系</a:t>
            </a:r>
          </a:p>
        </p:txBody>
      </p:sp>
      <p:sp>
        <p:nvSpPr>
          <p:cNvPr id="62471" name="Rectangle 6"/>
          <p:cNvSpPr>
            <a:spLocks noChangeArrowheads="1"/>
          </p:cNvSpPr>
          <p:nvPr/>
        </p:nvSpPr>
        <p:spPr bwMode="auto">
          <a:xfrm>
            <a:off x="143669" y="211137"/>
            <a:ext cx="3211512" cy="554037"/>
          </a:xfrm>
          <a:prstGeom prst="rect">
            <a:avLst/>
          </a:prstGeom>
          <a:solidFill>
            <a:srgbClr val="FFCC33"/>
          </a:solidFill>
          <a:ln>
            <a:noFill/>
          </a:ln>
          <a:effectLst/>
          <a:extLs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lang="en-US" altLang="zh-CN" sz="3000" b="1" i="1" dirty="0">
                <a:solidFill>
                  <a:srgbClr val="FF0000"/>
                </a:solidFill>
              </a:rPr>
              <a:t>N</a:t>
            </a:r>
            <a:r>
              <a:rPr lang="zh-CN" sz="3000" b="1" dirty="0">
                <a:solidFill>
                  <a:srgbClr val="FF0000"/>
                </a:solidFill>
              </a:rPr>
              <a:t>个分子</a:t>
            </a:r>
            <a:r>
              <a:rPr lang="zh-CN" sz="3000" dirty="0">
                <a:solidFill>
                  <a:srgbClr val="FF0000"/>
                </a:solidFill>
              </a:rPr>
              <a:t> </a:t>
            </a:r>
          </a:p>
        </p:txBody>
      </p:sp>
      <p:pic>
        <p:nvPicPr>
          <p:cNvPr id="8" name="Picture 1" descr="http://cai.tongji.edu.cn:8888/wanluokecheng/p03/ch09/sec09/image/3_9_9_8.gif"/>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80282" y="5661248"/>
            <a:ext cx="3005760" cy="858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p:cNvGraphicFramePr>
            <a:graphicFrameLocks noChangeAspect="1"/>
          </p:cNvGraphicFramePr>
          <p:nvPr>
            <p:extLst/>
          </p:nvPr>
        </p:nvGraphicFramePr>
        <p:xfrm>
          <a:off x="4587453" y="5013325"/>
          <a:ext cx="2867050" cy="526601"/>
        </p:xfrm>
        <a:graphic>
          <a:graphicData uri="http://schemas.openxmlformats.org/presentationml/2006/ole">
            <mc:AlternateContent xmlns:mc="http://schemas.openxmlformats.org/markup-compatibility/2006">
              <mc:Choice xmlns:v="urn:schemas-microsoft-com:vml" Requires="v">
                <p:oleObj spid="_x0000_s126062" name="公式" r:id="rId7" imgW="1244520" imgH="228600" progId="Equation.3">
                  <p:embed/>
                </p:oleObj>
              </mc:Choice>
              <mc:Fallback>
                <p:oleObj name="公式" r:id="rId7" imgW="1244520" imgH="228600" progId="Equation.3">
                  <p:embed/>
                  <p:pic>
                    <p:nvPicPr>
                      <p:cNvPr id="0" name=""/>
                      <p:cNvPicPr>
                        <a:picLocks noChangeAspect="1" noChangeArrowheads="1"/>
                      </p:cNvPicPr>
                      <p:nvPr/>
                    </p:nvPicPr>
                    <p:blipFill>
                      <a:blip r:embed="rId8"/>
                      <a:srcRect/>
                      <a:stretch>
                        <a:fillRect/>
                      </a:stretch>
                    </p:blipFill>
                    <p:spPr bwMode="auto">
                      <a:xfrm>
                        <a:off x="4587453" y="5013325"/>
                        <a:ext cx="2867050" cy="52660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743174602"/>
      </p:ext>
    </p:extLst>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ChangeArrowheads="1"/>
          </p:cNvSpPr>
          <p:nvPr/>
        </p:nvSpPr>
        <p:spPr bwMode="auto">
          <a:xfrm>
            <a:off x="4457700" y="914400"/>
            <a:ext cx="4305300" cy="1324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just" defTabSz="762000" eaLnBrk="0" hangingPunct="0"/>
            <a:r>
              <a:rPr lang="en-US" altLang="zh-CN" b="1" dirty="0"/>
              <a:t>        </a:t>
            </a:r>
            <a:r>
              <a:rPr lang="zh-CN" altLang="en-US" b="1" dirty="0"/>
              <a:t>两侧粒子数相同时，</a:t>
            </a:r>
            <a:r>
              <a:rPr lang="en-US" altLang="zh-CN" b="1" i="1" dirty="0"/>
              <a:t>W </a:t>
            </a:r>
            <a:r>
              <a:rPr lang="zh-CN" altLang="en-US" b="1" dirty="0"/>
              <a:t>最大，称为平衡态；但不能保证 两侧粒子数总是相同，有些偏离，这叫涨落</a:t>
            </a:r>
            <a:r>
              <a:rPr lang="zh-CN" altLang="en-US" b="1" dirty="0">
                <a:solidFill>
                  <a:srgbClr val="0066FF"/>
                </a:solidFill>
              </a:rPr>
              <a:t>（</a:t>
            </a:r>
            <a:r>
              <a:rPr lang="en-US" altLang="zh-CN" b="1" dirty="0">
                <a:solidFill>
                  <a:srgbClr val="0066FF"/>
                </a:solidFill>
              </a:rPr>
              <a:t>Fluctuation</a:t>
            </a:r>
            <a:r>
              <a:rPr lang="zh-CN" altLang="en-US" b="1" dirty="0">
                <a:solidFill>
                  <a:srgbClr val="0066FF"/>
                </a:solidFill>
              </a:rPr>
              <a:t>）</a:t>
            </a:r>
            <a:r>
              <a:rPr lang="zh-CN" altLang="en-US" b="1" dirty="0">
                <a:solidFill>
                  <a:srgbClr val="EAEAEA"/>
                </a:solidFill>
              </a:rPr>
              <a:t>  </a:t>
            </a:r>
          </a:p>
        </p:txBody>
      </p:sp>
      <p:sp>
        <p:nvSpPr>
          <p:cNvPr id="185347" name="Rectangle 3"/>
          <p:cNvSpPr>
            <a:spLocks noChangeArrowheads="1"/>
          </p:cNvSpPr>
          <p:nvPr/>
        </p:nvSpPr>
        <p:spPr bwMode="auto">
          <a:xfrm>
            <a:off x="0" y="2966107"/>
            <a:ext cx="8920766" cy="1631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just" defTabSz="762000" eaLnBrk="0" hangingPunct="0"/>
            <a:r>
              <a:rPr lang="en-US" altLang="zh-CN" b="1" dirty="0"/>
              <a:t>         </a:t>
            </a:r>
            <a:r>
              <a:rPr lang="zh-CN" altLang="en-US" b="1" dirty="0"/>
              <a:t>通常</a:t>
            </a:r>
            <a:r>
              <a:rPr lang="en-US" altLang="zh-CN" b="1" dirty="0"/>
              <a:t>1mol</a:t>
            </a:r>
            <a:r>
              <a:rPr lang="zh-CN" altLang="en-US" b="1" dirty="0"/>
              <a:t>的气体有</a:t>
            </a:r>
            <a:r>
              <a:rPr lang="en-US" altLang="zh-CN" b="1" dirty="0"/>
              <a:t>N</a:t>
            </a:r>
            <a:r>
              <a:rPr lang="zh-CN" altLang="en-US" b="1" dirty="0"/>
              <a:t>＝</a:t>
            </a:r>
            <a:r>
              <a:rPr lang="en-US" altLang="zh-CN" b="1" dirty="0"/>
              <a:t>6x10</a:t>
            </a:r>
            <a:r>
              <a:rPr lang="en-US" altLang="zh-CN" b="1" baseline="30000" dirty="0"/>
              <a:t>23</a:t>
            </a:r>
            <a:r>
              <a:rPr lang="zh-CN" altLang="en-US" b="1" dirty="0"/>
              <a:t>，再加上可用速度区分微观状态，或可将盒子再细分（不只是两等份），这样实际宏观状态它所对应的微观状态数目非常大。无论怎样， </a:t>
            </a:r>
            <a:r>
              <a:rPr lang="zh-CN" altLang="en-US" b="1" dirty="0">
                <a:solidFill>
                  <a:schemeClr val="hlink"/>
                </a:solidFill>
              </a:rPr>
              <a:t>微观状态数目最大</a:t>
            </a:r>
            <a:r>
              <a:rPr lang="zh-CN" altLang="en-US" b="1" dirty="0"/>
              <a:t>（出现的几率最大）</a:t>
            </a:r>
            <a:r>
              <a:rPr lang="zh-CN" altLang="en-US" b="1" dirty="0">
                <a:solidFill>
                  <a:schemeClr val="hlink"/>
                </a:solidFill>
              </a:rPr>
              <a:t>的宏观状态是平衡态</a:t>
            </a:r>
            <a:r>
              <a:rPr lang="zh-CN" altLang="en-US" b="1" dirty="0"/>
              <a:t>，其它态都是非平衡态，这就是为什么孤立系统总是从非平衡态向平衡态过渡的原因。  </a:t>
            </a:r>
          </a:p>
        </p:txBody>
      </p:sp>
      <p:grpSp>
        <p:nvGrpSpPr>
          <p:cNvPr id="185348" name="Group 4"/>
          <p:cNvGrpSpPr>
            <a:grpSpLocks/>
          </p:cNvGrpSpPr>
          <p:nvPr/>
        </p:nvGrpSpPr>
        <p:grpSpPr bwMode="auto">
          <a:xfrm>
            <a:off x="149272" y="134839"/>
            <a:ext cx="8504984" cy="2743200"/>
            <a:chOff x="422" y="86"/>
            <a:chExt cx="5314" cy="1920"/>
          </a:xfrm>
        </p:grpSpPr>
        <p:sp>
          <p:nvSpPr>
            <p:cNvPr id="63493" name="Rectangle 5"/>
            <p:cNvSpPr>
              <a:spLocks noChangeArrowheads="1"/>
            </p:cNvSpPr>
            <p:nvPr/>
          </p:nvSpPr>
          <p:spPr bwMode="auto">
            <a:xfrm>
              <a:off x="422" y="86"/>
              <a:ext cx="5314"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762000" eaLnBrk="0" hangingPunct="0"/>
              <a:r>
                <a:rPr lang="en-US" altLang="zh-CN" sz="2400" b="1" i="1" dirty="0"/>
                <a:t>N=10</a:t>
              </a:r>
              <a:r>
                <a:rPr lang="en-US" altLang="zh-CN" sz="2400" b="1" i="1" baseline="30000" dirty="0"/>
                <a:t>23 </a:t>
              </a:r>
              <a:r>
                <a:rPr lang="zh-CN" altLang="en-US" sz="2400" b="1" dirty="0"/>
                <a:t>，</a:t>
              </a:r>
              <a:r>
                <a:rPr lang="zh-CN" altLang="en-US" sz="1800" b="1" dirty="0"/>
                <a:t>用</a:t>
              </a:r>
              <a:r>
                <a:rPr lang="en-US" altLang="zh-CN" sz="1800" b="1" i="1" dirty="0">
                  <a:solidFill>
                    <a:srgbClr val="FF0000"/>
                  </a:solidFill>
                </a:rPr>
                <a:t>W  </a:t>
              </a:r>
              <a:r>
                <a:rPr lang="zh-CN" altLang="en-US" sz="1800" b="1" dirty="0">
                  <a:solidFill>
                    <a:srgbClr val="FF0000"/>
                  </a:solidFill>
                </a:rPr>
                <a:t>表示宏观状态可能出现的微观状态数目，即宏观状态出现的概率</a:t>
              </a:r>
            </a:p>
          </p:txBody>
        </p:sp>
        <p:sp>
          <p:nvSpPr>
            <p:cNvPr id="63494" name="Line 6"/>
            <p:cNvSpPr>
              <a:spLocks noChangeShapeType="1"/>
            </p:cNvSpPr>
            <p:nvPr/>
          </p:nvSpPr>
          <p:spPr bwMode="auto">
            <a:xfrm>
              <a:off x="816" y="576"/>
              <a:ext cx="0" cy="1104"/>
            </a:xfrm>
            <a:prstGeom prst="line">
              <a:avLst/>
            </a:prstGeom>
            <a:noFill/>
            <a:ln w="12700">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5" name="Line 7"/>
            <p:cNvSpPr>
              <a:spLocks noChangeShapeType="1"/>
            </p:cNvSpPr>
            <p:nvPr/>
          </p:nvSpPr>
          <p:spPr bwMode="auto">
            <a:xfrm>
              <a:off x="816" y="1680"/>
              <a:ext cx="1776" cy="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6" name="Rectangle 8"/>
            <p:cNvSpPr>
              <a:spLocks noChangeArrowheads="1"/>
            </p:cNvSpPr>
            <p:nvPr/>
          </p:nvSpPr>
          <p:spPr bwMode="auto">
            <a:xfrm>
              <a:off x="422" y="518"/>
              <a:ext cx="2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762000" eaLnBrk="0" hangingPunct="0"/>
              <a:r>
                <a:rPr lang="en-US" altLang="zh-CN" sz="2400" b="1" i="1"/>
                <a:t>W</a:t>
              </a:r>
            </a:p>
          </p:txBody>
        </p:sp>
        <p:sp>
          <p:nvSpPr>
            <p:cNvPr id="63497" name="Rectangle 9"/>
            <p:cNvSpPr>
              <a:spLocks noChangeArrowheads="1"/>
            </p:cNvSpPr>
            <p:nvPr/>
          </p:nvSpPr>
          <p:spPr bwMode="auto">
            <a:xfrm>
              <a:off x="1430" y="1718"/>
              <a:ext cx="3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762000" eaLnBrk="0" hangingPunct="0"/>
              <a:r>
                <a:rPr lang="en-US" altLang="zh-CN" sz="2400" b="1" i="1"/>
                <a:t>N/2</a:t>
              </a:r>
            </a:p>
          </p:txBody>
        </p:sp>
        <p:sp>
          <p:nvSpPr>
            <p:cNvPr id="63498" name="Line 10"/>
            <p:cNvSpPr>
              <a:spLocks noChangeShapeType="1"/>
            </p:cNvSpPr>
            <p:nvPr/>
          </p:nvSpPr>
          <p:spPr bwMode="auto">
            <a:xfrm>
              <a:off x="1632" y="1632"/>
              <a:ext cx="0" cy="4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9" name="Line 11"/>
            <p:cNvSpPr>
              <a:spLocks noChangeShapeType="1"/>
            </p:cNvSpPr>
            <p:nvPr/>
          </p:nvSpPr>
          <p:spPr bwMode="auto">
            <a:xfrm>
              <a:off x="2304" y="1632"/>
              <a:ext cx="0" cy="4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0" name="Rectangle 12"/>
            <p:cNvSpPr>
              <a:spLocks noChangeArrowheads="1"/>
            </p:cNvSpPr>
            <p:nvPr/>
          </p:nvSpPr>
          <p:spPr bwMode="auto">
            <a:xfrm>
              <a:off x="2198" y="1718"/>
              <a:ext cx="2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762000" eaLnBrk="0" hangingPunct="0"/>
              <a:r>
                <a:rPr lang="en-US" altLang="zh-CN" sz="2400" b="1" i="1"/>
                <a:t>N</a:t>
              </a:r>
            </a:p>
          </p:txBody>
        </p:sp>
        <p:sp>
          <p:nvSpPr>
            <p:cNvPr id="63501" name="Rectangle 13"/>
            <p:cNvSpPr>
              <a:spLocks noChangeArrowheads="1"/>
            </p:cNvSpPr>
            <p:nvPr/>
          </p:nvSpPr>
          <p:spPr bwMode="auto">
            <a:xfrm>
              <a:off x="2582" y="1670"/>
              <a:ext cx="1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762000" eaLnBrk="0" hangingPunct="0"/>
              <a:endParaRPr lang="zh-CN" altLang="zh-CN" sz="2400" b="1" i="1"/>
            </a:p>
          </p:txBody>
        </p:sp>
        <p:sp>
          <p:nvSpPr>
            <p:cNvPr id="63502" name="Line 14"/>
            <p:cNvSpPr>
              <a:spLocks noChangeShapeType="1"/>
            </p:cNvSpPr>
            <p:nvPr/>
          </p:nvSpPr>
          <p:spPr bwMode="auto">
            <a:xfrm flipH="1">
              <a:off x="1584" y="576"/>
              <a:ext cx="48" cy="11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3" name="Line 15"/>
            <p:cNvSpPr>
              <a:spLocks noChangeShapeType="1"/>
            </p:cNvSpPr>
            <p:nvPr/>
          </p:nvSpPr>
          <p:spPr bwMode="auto">
            <a:xfrm>
              <a:off x="1632" y="528"/>
              <a:ext cx="48" cy="115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 name="Text Box 4"/>
          <p:cNvSpPr txBox="1">
            <a:spLocks noChangeArrowheads="1"/>
          </p:cNvSpPr>
          <p:nvPr/>
        </p:nvSpPr>
        <p:spPr bwMode="auto">
          <a:xfrm>
            <a:off x="328196" y="5632803"/>
            <a:ext cx="831641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t>上述情况表明，</a:t>
            </a:r>
            <a:r>
              <a:rPr lang="zh-CN" altLang="en-US" b="1" dirty="0">
                <a:solidFill>
                  <a:srgbClr val="FF0000"/>
                </a:solidFill>
              </a:rPr>
              <a:t>在一个与外界隔绝的孤立系统内，所</a:t>
            </a:r>
            <a:r>
              <a:rPr lang="zh-CN" altLang="en-US" b="1" dirty="0">
                <a:solidFill>
                  <a:srgbClr val="FF0000"/>
                </a:solidFill>
                <a:hlinkClick r:id="" action="ppaction://hlinkfile"/>
              </a:rPr>
              <a:t>发生的过程</a:t>
            </a:r>
            <a:r>
              <a:rPr lang="zh-CN" altLang="en-US" b="1" dirty="0">
                <a:solidFill>
                  <a:srgbClr val="FF0000"/>
                </a:solidFill>
              </a:rPr>
              <a:t>总是由概率小的宏观状态向概率大的宏观状态进行；或者说，由包含微观状态数目少的宏观状态向包含微观状态数目多的宏观状态进行。 </a:t>
            </a:r>
          </a:p>
        </p:txBody>
      </p:sp>
      <p:sp>
        <p:nvSpPr>
          <p:cNvPr id="20" name="Text Box 9"/>
          <p:cNvSpPr txBox="1">
            <a:spLocks noChangeArrowheads="1"/>
          </p:cNvSpPr>
          <p:nvPr/>
        </p:nvSpPr>
        <p:spPr bwMode="auto">
          <a:xfrm>
            <a:off x="107504" y="4725144"/>
            <a:ext cx="8686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zh-CN" altLang="en-US" b="1" dirty="0">
                <a:solidFill>
                  <a:srgbClr val="FF3300"/>
                </a:solidFill>
                <a:latin typeface="Century Schoolbook" pitchFamily="18" charset="0"/>
              </a:rPr>
              <a:t>无序度（混乱度）</a:t>
            </a:r>
            <a:r>
              <a:rPr lang="en-US" altLang="zh-CN" b="1" dirty="0">
                <a:solidFill>
                  <a:schemeClr val="accent2"/>
                </a:solidFill>
                <a:latin typeface="Century Schoolbook" pitchFamily="18" charset="0"/>
              </a:rPr>
              <a:t>——</a:t>
            </a:r>
            <a:r>
              <a:rPr lang="zh-CN" altLang="en-US" b="1" dirty="0">
                <a:solidFill>
                  <a:schemeClr val="accent2"/>
                </a:solidFill>
                <a:latin typeface="Century Schoolbook" pitchFamily="18" charset="0"/>
              </a:rPr>
              <a:t>系统微观状态数大，无序度、混乱度高，反之，</a:t>
            </a:r>
            <a:r>
              <a:rPr lang="zh-CN" altLang="en-US" b="1" dirty="0">
                <a:solidFill>
                  <a:schemeClr val="accent2"/>
                </a:solidFill>
              </a:rPr>
              <a:t>系统微观状态数小，</a:t>
            </a:r>
            <a:r>
              <a:rPr lang="zh-CN" altLang="en-US" b="1" dirty="0">
                <a:solidFill>
                  <a:schemeClr val="accent2"/>
                </a:solidFill>
                <a:latin typeface="Century Schoolbook" pitchFamily="18" charset="0"/>
              </a:rPr>
              <a:t>系统无序度、混乱</a:t>
            </a:r>
            <a:r>
              <a:rPr lang="zh-CN" altLang="en-US" b="1">
                <a:solidFill>
                  <a:schemeClr val="accent2"/>
                </a:solidFill>
                <a:latin typeface="Century Schoolbook" pitchFamily="18" charset="0"/>
              </a:rPr>
              <a:t>度低</a:t>
            </a:r>
            <a:r>
              <a:rPr lang="en-US" altLang="zh-CN" b="1">
                <a:solidFill>
                  <a:schemeClr val="accent2"/>
                </a:solidFill>
                <a:latin typeface="Century Schoolbook" pitchFamily="18" charset="0"/>
              </a:rPr>
              <a:t>(</a:t>
            </a:r>
            <a:r>
              <a:rPr lang="zh-CN" altLang="en-US" b="1">
                <a:solidFill>
                  <a:schemeClr val="accent2"/>
                </a:solidFill>
                <a:latin typeface="Century Schoolbook" pitchFamily="18" charset="0"/>
              </a:rPr>
              <a:t>越有序</a:t>
            </a:r>
            <a:r>
              <a:rPr lang="en-US" altLang="zh-CN" b="1">
                <a:solidFill>
                  <a:schemeClr val="accent2"/>
                </a:solidFill>
                <a:latin typeface="Century Schoolbook" pitchFamily="18" charset="0"/>
              </a:rPr>
              <a:t>)</a:t>
            </a:r>
            <a:r>
              <a:rPr lang="zh-CN" altLang="en-US" b="1">
                <a:solidFill>
                  <a:schemeClr val="accent2"/>
                </a:solidFill>
                <a:latin typeface="Century Schoolbook" pitchFamily="18" charset="0"/>
              </a:rPr>
              <a:t>。</a:t>
            </a:r>
            <a:endParaRPr lang="zh-CN" altLang="en-US" b="1" dirty="0">
              <a:solidFill>
                <a:schemeClr val="accent2"/>
              </a:solidFill>
              <a:latin typeface="Century Schoolbook" pitchFamily="18" charset="0"/>
            </a:endParaRPr>
          </a:p>
        </p:txBody>
      </p:sp>
    </p:spTree>
    <p:extLst>
      <p:ext uri="{BB962C8B-B14F-4D97-AF65-F5344CB8AC3E}">
        <p14:creationId xmlns:p14="http://schemas.microsoft.com/office/powerpoint/2010/main" val="289327766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85348"/>
                                        </p:tgtEl>
                                        <p:attrNameLst>
                                          <p:attrName>style.visibility</p:attrName>
                                        </p:attrNameLst>
                                      </p:cBhvr>
                                      <p:to>
                                        <p:strVal val="visible"/>
                                      </p:to>
                                    </p:set>
                                    <p:animEffect transition="in" filter="box(in)">
                                      <p:cBhvr>
                                        <p:cTn id="7" dur="500"/>
                                        <p:tgtEl>
                                          <p:spTgt spid="1853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85346"/>
                                        </p:tgtEl>
                                        <p:attrNameLst>
                                          <p:attrName>style.visibility</p:attrName>
                                        </p:attrNameLst>
                                      </p:cBhvr>
                                      <p:to>
                                        <p:strVal val="visible"/>
                                      </p:to>
                                    </p:set>
                                    <p:anim calcmode="lin" valueType="num">
                                      <p:cBhvr additive="base">
                                        <p:cTn id="12" dur="500" fill="hold"/>
                                        <p:tgtEl>
                                          <p:spTgt spid="185346"/>
                                        </p:tgtEl>
                                        <p:attrNameLst>
                                          <p:attrName>ppt_x</p:attrName>
                                        </p:attrNameLst>
                                      </p:cBhvr>
                                      <p:tavLst>
                                        <p:tav tm="0">
                                          <p:val>
                                            <p:strVal val="0-#ppt_w/2"/>
                                          </p:val>
                                        </p:tav>
                                        <p:tav tm="100000">
                                          <p:val>
                                            <p:strVal val="#ppt_x"/>
                                          </p:val>
                                        </p:tav>
                                      </p:tavLst>
                                    </p:anim>
                                    <p:anim calcmode="lin" valueType="num">
                                      <p:cBhvr additive="base">
                                        <p:cTn id="13" dur="500" fill="hold"/>
                                        <p:tgtEl>
                                          <p:spTgt spid="185346"/>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85347"/>
                                        </p:tgtEl>
                                        <p:attrNameLst>
                                          <p:attrName>style.visibility</p:attrName>
                                        </p:attrNameLst>
                                      </p:cBhvr>
                                      <p:to>
                                        <p:strVal val="visible"/>
                                      </p:to>
                                    </p:set>
                                    <p:animEffect transition="in" filter="box(in)">
                                      <p:cBhvr>
                                        <p:cTn id="18" dur="500"/>
                                        <p:tgtEl>
                                          <p:spTgt spid="18534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lt">
                                    <p:tmPct val="100000"/>
                                  </p:iterate>
                                  <p:childTnLst>
                                    <p:set>
                                      <p:cBhvr>
                                        <p:cTn id="22" dur="1" fill="hold">
                                          <p:stCondLst>
                                            <p:cond delay="0"/>
                                          </p:stCondLst>
                                        </p:cTn>
                                        <p:tgtEl>
                                          <p:spTgt spid="20"/>
                                        </p:tgtEl>
                                        <p:attrNameLst>
                                          <p:attrName>style.visibility</p:attrName>
                                        </p:attrNameLst>
                                      </p:cBhvr>
                                      <p:to>
                                        <p:strVal val="visible"/>
                                      </p:to>
                                    </p:set>
                                    <p:animEffect transition="in" filter="wipe(left)">
                                      <p:cBhvr>
                                        <p:cTn id="23" dur="75"/>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blinds(horizontal)">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6" grpId="0" autoUpdateAnimBg="0"/>
      <p:bldP spid="185347" grpId="0" autoUpdateAnimBg="0"/>
      <p:bldP spid="19" grpId="0" autoUpdateAnimBg="0"/>
      <p:bldP spid="20"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7394" name="Rectangle 2"/>
          <p:cNvSpPr>
            <a:spLocks noChangeArrowheads="1"/>
          </p:cNvSpPr>
          <p:nvPr/>
        </p:nvSpPr>
        <p:spPr bwMode="auto">
          <a:xfrm>
            <a:off x="457200" y="1066800"/>
            <a:ext cx="4402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t>非平衡态                       平衡态</a:t>
            </a:r>
          </a:p>
        </p:txBody>
      </p:sp>
      <p:sp>
        <p:nvSpPr>
          <p:cNvPr id="187395" name="Rectangle 3"/>
          <p:cNvSpPr>
            <a:spLocks noGrp="1" noChangeArrowheads="1"/>
          </p:cNvSpPr>
          <p:nvPr>
            <p:ph type="title"/>
          </p:nvPr>
        </p:nvSpPr>
        <p:spPr>
          <a:xfrm>
            <a:off x="107950" y="219075"/>
            <a:ext cx="6629400" cy="762000"/>
          </a:xfrm>
          <a:noFill/>
        </p:spPr>
        <p:txBody>
          <a:bodyPr lIns="92075" tIns="46038" rIns="92075" bIns="46038"/>
          <a:lstStyle/>
          <a:p>
            <a:pPr algn="l" eaLnBrk="1" hangingPunct="1"/>
            <a:r>
              <a:rPr lang="en-US" altLang="zh-CN" sz="2800" b="1">
                <a:solidFill>
                  <a:schemeClr val="folHlink"/>
                </a:solidFill>
              </a:rPr>
              <a:t>2</a:t>
            </a:r>
            <a:r>
              <a:rPr lang="zh-CN" altLang="en-US" sz="2800" b="1">
                <a:solidFill>
                  <a:schemeClr val="folHlink"/>
                </a:solidFill>
              </a:rPr>
              <a:t>、玻耳兹曼</a:t>
            </a:r>
            <a:r>
              <a:rPr lang="en-US" altLang="zh-CN" sz="2400" b="1">
                <a:solidFill>
                  <a:schemeClr val="folHlink"/>
                </a:solidFill>
              </a:rPr>
              <a:t>Boltzmann</a:t>
            </a:r>
            <a:r>
              <a:rPr lang="zh-CN" altLang="en-US" sz="2800" b="1">
                <a:solidFill>
                  <a:schemeClr val="folHlink"/>
                </a:solidFill>
              </a:rPr>
              <a:t>熵公式</a:t>
            </a:r>
          </a:p>
        </p:txBody>
      </p:sp>
      <p:sp>
        <p:nvSpPr>
          <p:cNvPr id="187396" name="Rectangle 4"/>
          <p:cNvSpPr>
            <a:spLocks noChangeArrowheads="1"/>
          </p:cNvSpPr>
          <p:nvPr/>
        </p:nvSpPr>
        <p:spPr bwMode="auto">
          <a:xfrm>
            <a:off x="470807" y="2638879"/>
            <a:ext cx="8458200" cy="979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762000" eaLnBrk="0" hangingPunct="0">
              <a:lnSpc>
                <a:spcPct val="120000"/>
              </a:lnSpc>
            </a:pPr>
            <a:r>
              <a:rPr lang="zh-CN" altLang="en-US" sz="2400" b="1" dirty="0"/>
              <a:t>宏观状态的有序度是按其所包含的微观状态数目来衡量</a:t>
            </a:r>
            <a:r>
              <a:rPr lang="en-US" altLang="zh-CN" sz="2400" b="1" dirty="0"/>
              <a:t>,</a:t>
            </a:r>
            <a:r>
              <a:rPr lang="zh-CN" altLang="en-US" sz="2400" b="1" dirty="0">
                <a:solidFill>
                  <a:schemeClr val="folHlink"/>
                </a:solidFill>
              </a:rPr>
              <a:t>非平衡态比平衡态更有序</a:t>
            </a:r>
            <a:r>
              <a:rPr lang="en-US" altLang="zh-CN" sz="2400" b="1" dirty="0">
                <a:solidFill>
                  <a:schemeClr val="folHlink"/>
                </a:solidFill>
              </a:rPr>
              <a:t>.</a:t>
            </a:r>
            <a:endParaRPr lang="zh-CN" altLang="en-US" sz="2400" b="1" dirty="0"/>
          </a:p>
        </p:txBody>
      </p:sp>
      <p:sp>
        <p:nvSpPr>
          <p:cNvPr id="187397" name="AutoShape 5"/>
          <p:cNvSpPr>
            <a:spLocks noChangeArrowheads="1"/>
          </p:cNvSpPr>
          <p:nvPr/>
        </p:nvSpPr>
        <p:spPr bwMode="auto">
          <a:xfrm>
            <a:off x="1905000" y="990600"/>
            <a:ext cx="1587500" cy="609600"/>
          </a:xfrm>
          <a:prstGeom prst="rightArrow">
            <a:avLst>
              <a:gd name="adj1" fmla="val 50000"/>
              <a:gd name="adj2" fmla="val 65104"/>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b="1">
                <a:solidFill>
                  <a:srgbClr val="FF3300"/>
                </a:solidFill>
              </a:rPr>
              <a:t>自然过程</a:t>
            </a:r>
          </a:p>
        </p:txBody>
      </p:sp>
      <p:sp>
        <p:nvSpPr>
          <p:cNvPr id="187398" name="AutoShape 6"/>
          <p:cNvSpPr>
            <a:spLocks noChangeArrowheads="1"/>
          </p:cNvSpPr>
          <p:nvPr/>
        </p:nvSpPr>
        <p:spPr bwMode="auto">
          <a:xfrm>
            <a:off x="6477000" y="990600"/>
            <a:ext cx="1695450" cy="609600"/>
          </a:xfrm>
          <a:prstGeom prst="rightArrow">
            <a:avLst>
              <a:gd name="adj1" fmla="val 50000"/>
              <a:gd name="adj2" fmla="val 69531"/>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b="1">
                <a:solidFill>
                  <a:srgbClr val="FF3300"/>
                </a:solidFill>
              </a:rPr>
              <a:t>自然过程</a:t>
            </a:r>
          </a:p>
        </p:txBody>
      </p:sp>
      <p:sp>
        <p:nvSpPr>
          <p:cNvPr id="187399" name="Rectangle 7"/>
          <p:cNvSpPr>
            <a:spLocks noChangeArrowheads="1"/>
          </p:cNvSpPr>
          <p:nvPr/>
        </p:nvSpPr>
        <p:spPr bwMode="auto">
          <a:xfrm>
            <a:off x="5724525" y="1101725"/>
            <a:ext cx="3140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t>有序                              无序</a:t>
            </a:r>
          </a:p>
        </p:txBody>
      </p:sp>
      <p:sp>
        <p:nvSpPr>
          <p:cNvPr id="187400" name="Rectangle 8"/>
          <p:cNvSpPr>
            <a:spLocks noChangeArrowheads="1"/>
          </p:cNvSpPr>
          <p:nvPr/>
        </p:nvSpPr>
        <p:spPr bwMode="auto">
          <a:xfrm>
            <a:off x="5638800" y="2044700"/>
            <a:ext cx="3155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a:t>低熵                      高熵 </a:t>
            </a:r>
          </a:p>
        </p:txBody>
      </p:sp>
      <p:sp>
        <p:nvSpPr>
          <p:cNvPr id="187401" name="Rectangle 9"/>
          <p:cNvSpPr>
            <a:spLocks noChangeArrowheads="1"/>
          </p:cNvSpPr>
          <p:nvPr/>
        </p:nvSpPr>
        <p:spPr bwMode="auto">
          <a:xfrm>
            <a:off x="228600" y="2044700"/>
            <a:ext cx="539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t>微观态数少                      微观态数多</a:t>
            </a:r>
          </a:p>
        </p:txBody>
      </p:sp>
      <p:sp>
        <p:nvSpPr>
          <p:cNvPr id="187402" name="AutoShape 10"/>
          <p:cNvSpPr>
            <a:spLocks noChangeArrowheads="1"/>
          </p:cNvSpPr>
          <p:nvPr/>
        </p:nvSpPr>
        <p:spPr bwMode="auto">
          <a:xfrm>
            <a:off x="1905000" y="1968500"/>
            <a:ext cx="1587500" cy="609600"/>
          </a:xfrm>
          <a:prstGeom prst="rightArrow">
            <a:avLst>
              <a:gd name="adj1" fmla="val 50000"/>
              <a:gd name="adj2" fmla="val 65104"/>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b="1">
                <a:solidFill>
                  <a:srgbClr val="FF3300"/>
                </a:solidFill>
              </a:rPr>
              <a:t>自然过程</a:t>
            </a:r>
          </a:p>
        </p:txBody>
      </p:sp>
      <p:sp>
        <p:nvSpPr>
          <p:cNvPr id="187403" name="AutoShape 11"/>
          <p:cNvSpPr>
            <a:spLocks noChangeArrowheads="1"/>
          </p:cNvSpPr>
          <p:nvPr/>
        </p:nvSpPr>
        <p:spPr bwMode="auto">
          <a:xfrm>
            <a:off x="6477000" y="1968500"/>
            <a:ext cx="1550988" cy="609600"/>
          </a:xfrm>
          <a:prstGeom prst="rightArrow">
            <a:avLst>
              <a:gd name="adj1" fmla="val 50000"/>
              <a:gd name="adj2" fmla="val 63607"/>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b="1">
                <a:solidFill>
                  <a:srgbClr val="FF3300"/>
                </a:solidFill>
              </a:rPr>
              <a:t>自然过程</a:t>
            </a:r>
          </a:p>
        </p:txBody>
      </p:sp>
      <p:grpSp>
        <p:nvGrpSpPr>
          <p:cNvPr id="187404" name="Group 12"/>
          <p:cNvGrpSpPr>
            <a:grpSpLocks/>
          </p:cNvGrpSpPr>
          <p:nvPr/>
        </p:nvGrpSpPr>
        <p:grpSpPr bwMode="auto">
          <a:xfrm>
            <a:off x="5238750" y="404813"/>
            <a:ext cx="1638300" cy="498475"/>
            <a:chOff x="2160" y="3024"/>
            <a:chExt cx="1440" cy="768"/>
          </a:xfrm>
        </p:grpSpPr>
        <p:sp>
          <p:nvSpPr>
            <p:cNvPr id="66581" name="Rectangle 13" descr="小纸屑"/>
            <p:cNvSpPr>
              <a:spLocks noChangeArrowheads="1"/>
            </p:cNvSpPr>
            <p:nvPr/>
          </p:nvSpPr>
          <p:spPr bwMode="auto">
            <a:xfrm>
              <a:off x="2160" y="3024"/>
              <a:ext cx="720" cy="768"/>
            </a:xfrm>
            <a:prstGeom prst="rect">
              <a:avLst/>
            </a:prstGeom>
            <a:pattFill prst="smConfetti">
              <a:fgClr>
                <a:srgbClr val="33CCFF"/>
              </a:fgClr>
              <a:bgClr>
                <a:schemeClr val="bg1"/>
              </a:bgClr>
            </a:pattFill>
            <a:ln w="19050">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6582" name="Object 14"/>
            <p:cNvGraphicFramePr>
              <a:graphicFrameLocks noChangeAspect="1"/>
            </p:cNvGraphicFramePr>
            <p:nvPr/>
          </p:nvGraphicFramePr>
          <p:xfrm>
            <a:off x="2400" y="3264"/>
            <a:ext cx="247" cy="240"/>
          </p:xfrm>
          <a:graphic>
            <a:graphicData uri="http://schemas.openxmlformats.org/presentationml/2006/ole">
              <mc:AlternateContent xmlns:mc="http://schemas.openxmlformats.org/markup-compatibility/2006">
                <mc:Choice xmlns:v="urn:schemas-microsoft-com:vml" Requires="v">
                  <p:oleObj spid="_x0000_s127620" name="公式" r:id="rId4" imgW="393529" imgH="380835" progId="Equation.3">
                    <p:embed/>
                  </p:oleObj>
                </mc:Choice>
                <mc:Fallback>
                  <p:oleObj name="公式" r:id="rId4" imgW="393529" imgH="38083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0" y="3264"/>
                          <a:ext cx="247"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83" name="Object 15"/>
            <p:cNvGraphicFramePr>
              <a:graphicFrameLocks noChangeAspect="1"/>
            </p:cNvGraphicFramePr>
            <p:nvPr/>
          </p:nvGraphicFramePr>
          <p:xfrm>
            <a:off x="3120" y="3264"/>
            <a:ext cx="240" cy="240"/>
          </p:xfrm>
          <a:graphic>
            <a:graphicData uri="http://schemas.openxmlformats.org/presentationml/2006/ole">
              <mc:AlternateContent xmlns:mc="http://schemas.openxmlformats.org/markup-compatibility/2006">
                <mc:Choice xmlns:v="urn:schemas-microsoft-com:vml" Requires="v">
                  <p:oleObj spid="_x0000_s127621" name="公式" r:id="rId6" imgW="380835" imgH="380835" progId="Equation.3">
                    <p:embed/>
                  </p:oleObj>
                </mc:Choice>
                <mc:Fallback>
                  <p:oleObj name="公式" r:id="rId6" imgW="380835" imgH="38083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0" y="3264"/>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6584" name="Rectangle 16"/>
            <p:cNvSpPr>
              <a:spLocks noChangeArrowheads="1"/>
            </p:cNvSpPr>
            <p:nvPr/>
          </p:nvSpPr>
          <p:spPr bwMode="auto">
            <a:xfrm>
              <a:off x="2880" y="3024"/>
              <a:ext cx="720" cy="768"/>
            </a:xfrm>
            <a:prstGeom prst="rect">
              <a:avLst/>
            </a:prstGeom>
            <a:noFill/>
            <a:ln w="19050">
              <a:solidFill>
                <a:schemeClr val="tx1"/>
              </a:solidFill>
              <a:miter lim="800000"/>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87409" name="Group 17"/>
          <p:cNvGrpSpPr>
            <a:grpSpLocks/>
          </p:cNvGrpSpPr>
          <p:nvPr/>
        </p:nvGrpSpPr>
        <p:grpSpPr bwMode="auto">
          <a:xfrm>
            <a:off x="7254875" y="404813"/>
            <a:ext cx="1638300" cy="498475"/>
            <a:chOff x="3216" y="384"/>
            <a:chExt cx="1440" cy="768"/>
          </a:xfrm>
        </p:grpSpPr>
        <p:sp>
          <p:nvSpPr>
            <p:cNvPr id="66577" name="Rectangle 18" descr="小纸屑"/>
            <p:cNvSpPr>
              <a:spLocks noChangeArrowheads="1"/>
            </p:cNvSpPr>
            <p:nvPr/>
          </p:nvSpPr>
          <p:spPr bwMode="auto">
            <a:xfrm>
              <a:off x="3936" y="384"/>
              <a:ext cx="720" cy="768"/>
            </a:xfrm>
            <a:prstGeom prst="rect">
              <a:avLst/>
            </a:prstGeom>
            <a:pattFill prst="smConfetti">
              <a:fgClr>
                <a:srgbClr val="33CCFF"/>
              </a:fgClr>
              <a:bgClr>
                <a:schemeClr val="bg1"/>
              </a:bgClr>
            </a:pattFill>
            <a:ln w="19050">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8" name="Rectangle 19" descr="小纸屑"/>
            <p:cNvSpPr>
              <a:spLocks noChangeArrowheads="1"/>
            </p:cNvSpPr>
            <p:nvPr/>
          </p:nvSpPr>
          <p:spPr bwMode="auto">
            <a:xfrm>
              <a:off x="3216" y="384"/>
              <a:ext cx="720" cy="768"/>
            </a:xfrm>
            <a:prstGeom prst="rect">
              <a:avLst/>
            </a:prstGeom>
            <a:pattFill prst="smConfetti">
              <a:fgClr>
                <a:srgbClr val="33CCFF"/>
              </a:fgClr>
              <a:bgClr>
                <a:schemeClr val="bg1"/>
              </a:bgClr>
            </a:pattFill>
            <a:ln w="19050">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6579" name="Object 20"/>
            <p:cNvGraphicFramePr>
              <a:graphicFrameLocks noChangeAspect="1"/>
            </p:cNvGraphicFramePr>
            <p:nvPr/>
          </p:nvGraphicFramePr>
          <p:xfrm>
            <a:off x="3456" y="624"/>
            <a:ext cx="247" cy="240"/>
          </p:xfrm>
          <a:graphic>
            <a:graphicData uri="http://schemas.openxmlformats.org/presentationml/2006/ole">
              <mc:AlternateContent xmlns:mc="http://schemas.openxmlformats.org/markup-compatibility/2006">
                <mc:Choice xmlns:v="urn:schemas-microsoft-com:vml" Requires="v">
                  <p:oleObj spid="_x0000_s127622" name="公式" r:id="rId8" imgW="393529" imgH="380835" progId="Equation.3">
                    <p:embed/>
                  </p:oleObj>
                </mc:Choice>
                <mc:Fallback>
                  <p:oleObj name="公式" r:id="rId8" imgW="393529" imgH="38083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6" y="624"/>
                          <a:ext cx="247"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80" name="Object 21"/>
            <p:cNvGraphicFramePr>
              <a:graphicFrameLocks noChangeAspect="1"/>
            </p:cNvGraphicFramePr>
            <p:nvPr/>
          </p:nvGraphicFramePr>
          <p:xfrm>
            <a:off x="4176" y="624"/>
            <a:ext cx="240" cy="240"/>
          </p:xfrm>
          <a:graphic>
            <a:graphicData uri="http://schemas.openxmlformats.org/presentationml/2006/ole">
              <mc:AlternateContent xmlns:mc="http://schemas.openxmlformats.org/markup-compatibility/2006">
                <mc:Choice xmlns:v="urn:schemas-microsoft-com:vml" Requires="v">
                  <p:oleObj spid="_x0000_s127623" name="公式" r:id="rId9" imgW="380835" imgH="380835" progId="Equation.3">
                    <p:embed/>
                  </p:oleObj>
                </mc:Choice>
                <mc:Fallback>
                  <p:oleObj name="公式" r:id="rId9" imgW="380835" imgH="38083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76" y="624"/>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87416" name="Rectangle 24"/>
          <p:cNvSpPr>
            <a:spLocks noChangeArrowheads="1"/>
          </p:cNvSpPr>
          <p:nvPr/>
        </p:nvSpPr>
        <p:spPr bwMode="auto">
          <a:xfrm>
            <a:off x="356614" y="5395877"/>
            <a:ext cx="7859713"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762000" eaLnBrk="0" hangingPunct="0"/>
            <a:r>
              <a:rPr lang="zh-CN" altLang="en-US" sz="2400" b="1" dirty="0">
                <a:solidFill>
                  <a:srgbClr val="FF0000"/>
                </a:solidFill>
              </a:rPr>
              <a:t>熵</a:t>
            </a:r>
            <a:r>
              <a:rPr lang="zh-CN" altLang="en-US" sz="2400" b="1" dirty="0">
                <a:solidFill>
                  <a:schemeClr val="hlink"/>
                </a:solidFill>
              </a:rPr>
              <a:t>是分子热运动无序程度的量度，或混乱度的量度。</a:t>
            </a:r>
          </a:p>
        </p:txBody>
      </p:sp>
      <p:sp>
        <p:nvSpPr>
          <p:cNvPr id="25" name="Rectangle 11"/>
          <p:cNvSpPr>
            <a:spLocks noChangeArrowheads="1"/>
          </p:cNvSpPr>
          <p:nvPr/>
        </p:nvSpPr>
        <p:spPr bwMode="auto">
          <a:xfrm>
            <a:off x="225740" y="5991051"/>
            <a:ext cx="8382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400" b="1" dirty="0"/>
              <a:t>        </a:t>
            </a:r>
            <a:r>
              <a:rPr lang="zh-CN" altLang="en-US" sz="2400" b="1" dirty="0"/>
              <a:t>从宏观上看，与内能类似，系统的任一宏观态都有确定的熵，熵是系统状态的单值函数。</a:t>
            </a:r>
            <a:endParaRPr lang="zh-CN" altLang="en-US" sz="2800" b="1" dirty="0"/>
          </a:p>
        </p:txBody>
      </p:sp>
      <p:sp>
        <p:nvSpPr>
          <p:cNvPr id="24" name="Rectangle 10"/>
          <p:cNvSpPr>
            <a:spLocks noChangeArrowheads="1"/>
          </p:cNvSpPr>
          <p:nvPr/>
        </p:nvSpPr>
        <p:spPr bwMode="auto">
          <a:xfrm>
            <a:off x="244362" y="3616245"/>
            <a:ext cx="8686800"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762000" eaLnBrk="0" hangingPunct="0"/>
            <a:r>
              <a:rPr lang="en-US" altLang="zh-CN" sz="2400" b="1" dirty="0"/>
              <a:t>    </a:t>
            </a:r>
            <a:r>
              <a:rPr lang="zh-CN" altLang="en-US" sz="2400" b="1" dirty="0"/>
              <a:t>系统的每一宏观态，都对应于一个确定的微观态数，因此熵应当是微观态数</a:t>
            </a:r>
            <a:r>
              <a:rPr lang="en-US" altLang="zh-CN" sz="2400" b="1" i="1" dirty="0"/>
              <a:t>W</a:t>
            </a:r>
            <a:r>
              <a:rPr lang="zh-CN" altLang="en-US" sz="2400" b="1" dirty="0"/>
              <a:t>的函数：</a:t>
            </a:r>
          </a:p>
        </p:txBody>
      </p:sp>
      <p:graphicFrame>
        <p:nvGraphicFramePr>
          <p:cNvPr id="26" name="Object 12"/>
          <p:cNvGraphicFramePr>
            <a:graphicFrameLocks noChangeAspect="1"/>
          </p:cNvGraphicFramePr>
          <p:nvPr>
            <p:extLst/>
          </p:nvPr>
        </p:nvGraphicFramePr>
        <p:xfrm>
          <a:off x="4416740" y="4032064"/>
          <a:ext cx="2133600" cy="631825"/>
        </p:xfrm>
        <a:graphic>
          <a:graphicData uri="http://schemas.openxmlformats.org/presentationml/2006/ole">
            <mc:AlternateContent xmlns:mc="http://schemas.openxmlformats.org/markup-compatibility/2006">
              <mc:Choice xmlns:v="urn:schemas-microsoft-com:vml" Requires="v">
                <p:oleObj spid="_x0000_s127624" name="Equation" r:id="rId10" imgW="685800" imgH="203200" progId="Equation.3">
                  <p:embed/>
                </p:oleObj>
              </mc:Choice>
              <mc:Fallback>
                <p:oleObj name="Equation" r:id="rId10" imgW="685800" imgH="203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16740" y="4032064"/>
                        <a:ext cx="2133600" cy="631825"/>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 name="Rectangle 2"/>
          <p:cNvSpPr>
            <a:spLocks noChangeArrowheads="1"/>
          </p:cNvSpPr>
          <p:nvPr/>
        </p:nvSpPr>
        <p:spPr bwMode="auto">
          <a:xfrm>
            <a:off x="323528" y="4770983"/>
            <a:ext cx="84582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762000" eaLnBrk="0" hangingPunct="0">
              <a:lnSpc>
                <a:spcPct val="120000"/>
              </a:lnSpc>
            </a:pPr>
            <a:r>
              <a:rPr lang="zh-CN" altLang="en-US" sz="2400" b="1" dirty="0"/>
              <a:t>玻耳兹曼引入了熵：</a:t>
            </a:r>
          </a:p>
        </p:txBody>
      </p:sp>
      <p:graphicFrame>
        <p:nvGraphicFramePr>
          <p:cNvPr id="28" name="Object 4"/>
          <p:cNvGraphicFramePr>
            <a:graphicFrameLocks/>
          </p:cNvGraphicFramePr>
          <p:nvPr>
            <p:extLst/>
          </p:nvPr>
        </p:nvGraphicFramePr>
        <p:xfrm>
          <a:off x="3248100" y="4775175"/>
          <a:ext cx="1849438" cy="433388"/>
        </p:xfrm>
        <a:graphic>
          <a:graphicData uri="http://schemas.openxmlformats.org/presentationml/2006/ole">
            <mc:AlternateContent xmlns:mc="http://schemas.openxmlformats.org/markup-compatibility/2006">
              <mc:Choice xmlns:v="urn:schemas-microsoft-com:vml" Requires="v">
                <p:oleObj spid="_x0000_s127625" name="Equation" r:id="rId12" imgW="710891" imgH="177723" progId="Equation.3">
                  <p:embed/>
                </p:oleObj>
              </mc:Choice>
              <mc:Fallback>
                <p:oleObj name="Equation" r:id="rId12" imgW="710891" imgH="177723" progId="Equation.3">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48100" y="4775175"/>
                        <a:ext cx="1849438" cy="43338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Rectangle 5"/>
          <p:cNvSpPr>
            <a:spLocks noChangeArrowheads="1"/>
          </p:cNvSpPr>
          <p:nvPr/>
        </p:nvSpPr>
        <p:spPr bwMode="auto">
          <a:xfrm>
            <a:off x="5652120" y="4844008"/>
            <a:ext cx="2452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762000" eaLnBrk="0" hangingPunct="0"/>
            <a:r>
              <a:rPr lang="zh-CN" altLang="en-US" sz="2400" b="1" dirty="0"/>
              <a:t>单位  </a:t>
            </a:r>
            <a:r>
              <a:rPr lang="en-US" altLang="zh-CN" sz="2400" b="1" dirty="0"/>
              <a:t>J/K</a:t>
            </a:r>
          </a:p>
        </p:txBody>
      </p:sp>
    </p:spTree>
    <p:extLst>
      <p:ext uri="{BB962C8B-B14F-4D97-AF65-F5344CB8AC3E}">
        <p14:creationId xmlns:p14="http://schemas.microsoft.com/office/powerpoint/2010/main" val="82080780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7395"/>
                                        </p:tgtEl>
                                        <p:attrNameLst>
                                          <p:attrName>style.visibility</p:attrName>
                                        </p:attrNameLst>
                                      </p:cBhvr>
                                      <p:to>
                                        <p:strVal val="visible"/>
                                      </p:to>
                                    </p:set>
                                    <p:anim calcmode="lin" valueType="num">
                                      <p:cBhvr additive="base">
                                        <p:cTn id="7" dur="500" fill="hold"/>
                                        <p:tgtEl>
                                          <p:spTgt spid="187395"/>
                                        </p:tgtEl>
                                        <p:attrNameLst>
                                          <p:attrName>ppt_x</p:attrName>
                                        </p:attrNameLst>
                                      </p:cBhvr>
                                      <p:tavLst>
                                        <p:tav tm="0">
                                          <p:val>
                                            <p:strVal val="0-#ppt_w/2"/>
                                          </p:val>
                                        </p:tav>
                                        <p:tav tm="100000">
                                          <p:val>
                                            <p:strVal val="#ppt_x"/>
                                          </p:val>
                                        </p:tav>
                                      </p:tavLst>
                                    </p:anim>
                                    <p:anim calcmode="lin" valueType="num">
                                      <p:cBhvr additive="base">
                                        <p:cTn id="8" dur="500" fill="hold"/>
                                        <p:tgtEl>
                                          <p:spTgt spid="18739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7394"/>
                                        </p:tgtEl>
                                        <p:attrNameLst>
                                          <p:attrName>style.visibility</p:attrName>
                                        </p:attrNameLst>
                                      </p:cBhvr>
                                      <p:to>
                                        <p:strVal val="visible"/>
                                      </p:to>
                                    </p:set>
                                    <p:anim calcmode="lin" valueType="num">
                                      <p:cBhvr additive="base">
                                        <p:cTn id="13" dur="500" fill="hold"/>
                                        <p:tgtEl>
                                          <p:spTgt spid="187394"/>
                                        </p:tgtEl>
                                        <p:attrNameLst>
                                          <p:attrName>ppt_x</p:attrName>
                                        </p:attrNameLst>
                                      </p:cBhvr>
                                      <p:tavLst>
                                        <p:tav tm="0">
                                          <p:val>
                                            <p:strVal val="0-#ppt_w/2"/>
                                          </p:val>
                                        </p:tav>
                                        <p:tav tm="100000">
                                          <p:val>
                                            <p:strVal val="#ppt_x"/>
                                          </p:val>
                                        </p:tav>
                                      </p:tavLst>
                                    </p:anim>
                                    <p:anim calcmode="lin" valueType="num">
                                      <p:cBhvr additive="base">
                                        <p:cTn id="14" dur="500" fill="hold"/>
                                        <p:tgtEl>
                                          <p:spTgt spid="18739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87397"/>
                                        </p:tgtEl>
                                        <p:attrNameLst>
                                          <p:attrName>style.visibility</p:attrName>
                                        </p:attrNameLst>
                                      </p:cBhvr>
                                      <p:to>
                                        <p:strVal val="visible"/>
                                      </p:to>
                                    </p:set>
                                    <p:animEffect transition="in" filter="dissolve">
                                      <p:cBhvr>
                                        <p:cTn id="19" dur="500"/>
                                        <p:tgtEl>
                                          <p:spTgt spid="18739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87399"/>
                                        </p:tgtEl>
                                        <p:attrNameLst>
                                          <p:attrName>style.visibility</p:attrName>
                                        </p:attrNameLst>
                                      </p:cBhvr>
                                      <p:to>
                                        <p:strVal val="visible"/>
                                      </p:to>
                                    </p:set>
                                    <p:anim calcmode="lin" valueType="num">
                                      <p:cBhvr additive="base">
                                        <p:cTn id="24" dur="500" fill="hold"/>
                                        <p:tgtEl>
                                          <p:spTgt spid="187399"/>
                                        </p:tgtEl>
                                        <p:attrNameLst>
                                          <p:attrName>ppt_x</p:attrName>
                                        </p:attrNameLst>
                                      </p:cBhvr>
                                      <p:tavLst>
                                        <p:tav tm="0">
                                          <p:val>
                                            <p:strVal val="1+#ppt_w/2"/>
                                          </p:val>
                                        </p:tav>
                                        <p:tav tm="100000">
                                          <p:val>
                                            <p:strVal val="#ppt_x"/>
                                          </p:val>
                                        </p:tav>
                                      </p:tavLst>
                                    </p:anim>
                                    <p:anim calcmode="lin" valueType="num">
                                      <p:cBhvr additive="base">
                                        <p:cTn id="25" dur="500" fill="hold"/>
                                        <p:tgtEl>
                                          <p:spTgt spid="187399"/>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87398"/>
                                        </p:tgtEl>
                                        <p:attrNameLst>
                                          <p:attrName>style.visibility</p:attrName>
                                        </p:attrNameLst>
                                      </p:cBhvr>
                                      <p:to>
                                        <p:strVal val="visible"/>
                                      </p:to>
                                    </p:set>
                                    <p:animEffect transition="in" filter="dissolve">
                                      <p:cBhvr>
                                        <p:cTn id="30" dur="500"/>
                                        <p:tgtEl>
                                          <p:spTgt spid="18739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87404"/>
                                        </p:tgtEl>
                                        <p:attrNameLst>
                                          <p:attrName>style.visibility</p:attrName>
                                        </p:attrNameLst>
                                      </p:cBhvr>
                                      <p:to>
                                        <p:strVal val="visible"/>
                                      </p:to>
                                    </p:set>
                                    <p:animEffect transition="in" filter="wipe(left)">
                                      <p:cBhvr>
                                        <p:cTn id="35" dur="500"/>
                                        <p:tgtEl>
                                          <p:spTgt spid="18740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87409"/>
                                        </p:tgtEl>
                                        <p:attrNameLst>
                                          <p:attrName>style.visibility</p:attrName>
                                        </p:attrNameLst>
                                      </p:cBhvr>
                                      <p:to>
                                        <p:strVal val="visible"/>
                                      </p:to>
                                    </p:set>
                                    <p:animEffect transition="in" filter="wipe(left)">
                                      <p:cBhvr>
                                        <p:cTn id="40" dur="500"/>
                                        <p:tgtEl>
                                          <p:spTgt spid="18740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87401"/>
                                        </p:tgtEl>
                                        <p:attrNameLst>
                                          <p:attrName>style.visibility</p:attrName>
                                        </p:attrNameLst>
                                      </p:cBhvr>
                                      <p:to>
                                        <p:strVal val="visible"/>
                                      </p:to>
                                    </p:set>
                                    <p:anim calcmode="lin" valueType="num">
                                      <p:cBhvr additive="base">
                                        <p:cTn id="45" dur="500" fill="hold"/>
                                        <p:tgtEl>
                                          <p:spTgt spid="187401"/>
                                        </p:tgtEl>
                                        <p:attrNameLst>
                                          <p:attrName>ppt_x</p:attrName>
                                        </p:attrNameLst>
                                      </p:cBhvr>
                                      <p:tavLst>
                                        <p:tav tm="0">
                                          <p:val>
                                            <p:strVal val="0-#ppt_w/2"/>
                                          </p:val>
                                        </p:tav>
                                        <p:tav tm="100000">
                                          <p:val>
                                            <p:strVal val="#ppt_x"/>
                                          </p:val>
                                        </p:tav>
                                      </p:tavLst>
                                    </p:anim>
                                    <p:anim calcmode="lin" valueType="num">
                                      <p:cBhvr additive="base">
                                        <p:cTn id="46" dur="500" fill="hold"/>
                                        <p:tgtEl>
                                          <p:spTgt spid="187401"/>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87402"/>
                                        </p:tgtEl>
                                        <p:attrNameLst>
                                          <p:attrName>style.visibility</p:attrName>
                                        </p:attrNameLst>
                                      </p:cBhvr>
                                      <p:to>
                                        <p:strVal val="visible"/>
                                      </p:to>
                                    </p:set>
                                    <p:animEffect transition="in" filter="dissolve">
                                      <p:cBhvr>
                                        <p:cTn id="51" dur="500"/>
                                        <p:tgtEl>
                                          <p:spTgt spid="18740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2" fill="hold" grpId="0" nodeType="clickEffect">
                                  <p:stCondLst>
                                    <p:cond delay="0"/>
                                  </p:stCondLst>
                                  <p:childTnLst>
                                    <p:set>
                                      <p:cBhvr>
                                        <p:cTn id="55" dur="1" fill="hold">
                                          <p:stCondLst>
                                            <p:cond delay="0"/>
                                          </p:stCondLst>
                                        </p:cTn>
                                        <p:tgtEl>
                                          <p:spTgt spid="187400"/>
                                        </p:tgtEl>
                                        <p:attrNameLst>
                                          <p:attrName>style.visibility</p:attrName>
                                        </p:attrNameLst>
                                      </p:cBhvr>
                                      <p:to>
                                        <p:strVal val="visible"/>
                                      </p:to>
                                    </p:set>
                                    <p:anim calcmode="lin" valueType="num">
                                      <p:cBhvr additive="base">
                                        <p:cTn id="56" dur="500" fill="hold"/>
                                        <p:tgtEl>
                                          <p:spTgt spid="187400"/>
                                        </p:tgtEl>
                                        <p:attrNameLst>
                                          <p:attrName>ppt_x</p:attrName>
                                        </p:attrNameLst>
                                      </p:cBhvr>
                                      <p:tavLst>
                                        <p:tav tm="0">
                                          <p:val>
                                            <p:strVal val="1+#ppt_w/2"/>
                                          </p:val>
                                        </p:tav>
                                        <p:tav tm="100000">
                                          <p:val>
                                            <p:strVal val="#ppt_x"/>
                                          </p:val>
                                        </p:tav>
                                      </p:tavLst>
                                    </p:anim>
                                    <p:anim calcmode="lin" valueType="num">
                                      <p:cBhvr additive="base">
                                        <p:cTn id="57" dur="500" fill="hold"/>
                                        <p:tgtEl>
                                          <p:spTgt spid="187400"/>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87403"/>
                                        </p:tgtEl>
                                        <p:attrNameLst>
                                          <p:attrName>style.visibility</p:attrName>
                                        </p:attrNameLst>
                                      </p:cBhvr>
                                      <p:to>
                                        <p:strVal val="visible"/>
                                      </p:to>
                                    </p:set>
                                    <p:animEffect transition="in" filter="dissolve">
                                      <p:cBhvr>
                                        <p:cTn id="62" dur="500"/>
                                        <p:tgtEl>
                                          <p:spTgt spid="18740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187396"/>
                                        </p:tgtEl>
                                        <p:attrNameLst>
                                          <p:attrName>style.visibility</p:attrName>
                                        </p:attrNameLst>
                                      </p:cBhvr>
                                      <p:to>
                                        <p:strVal val="visible"/>
                                      </p:to>
                                    </p:set>
                                    <p:animEffect transition="in" filter="box(in)">
                                      <p:cBhvr>
                                        <p:cTn id="67" dur="500"/>
                                        <p:tgtEl>
                                          <p:spTgt spid="18739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box(in)">
                                      <p:cBhvr>
                                        <p:cTn id="72" dur="5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26"/>
                                        </p:tgtEl>
                                        <p:attrNameLst>
                                          <p:attrName>style.visibility</p:attrName>
                                        </p:attrNameLst>
                                      </p:cBhvr>
                                      <p:to>
                                        <p:strVal val="visible"/>
                                      </p:to>
                                    </p:set>
                                    <p:anim calcmode="lin" valueType="num">
                                      <p:cBhvr additive="base">
                                        <p:cTn id="77" dur="500" fill="hold"/>
                                        <p:tgtEl>
                                          <p:spTgt spid="26"/>
                                        </p:tgtEl>
                                        <p:attrNameLst>
                                          <p:attrName>ppt_x</p:attrName>
                                        </p:attrNameLst>
                                      </p:cBhvr>
                                      <p:tavLst>
                                        <p:tav tm="0">
                                          <p:val>
                                            <p:strVal val="#ppt_x"/>
                                          </p:val>
                                        </p:tav>
                                        <p:tav tm="100000">
                                          <p:val>
                                            <p:strVal val="#ppt_x"/>
                                          </p:val>
                                        </p:tav>
                                      </p:tavLst>
                                    </p:anim>
                                    <p:anim calcmode="lin" valueType="num">
                                      <p:cBhvr additive="base">
                                        <p:cTn id="7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 presetClass="entr" presetSubtype="16"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box(in)">
                                      <p:cBhvr>
                                        <p:cTn id="83" dur="500"/>
                                        <p:tgtEl>
                                          <p:spTgt spid="27"/>
                                        </p:tgtEl>
                                      </p:cBhvr>
                                    </p:animEffect>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nodeType="clickEffect">
                                  <p:stCondLst>
                                    <p:cond delay="0"/>
                                  </p:stCondLst>
                                  <p:childTnLst>
                                    <p:set>
                                      <p:cBhvr>
                                        <p:cTn id="87" dur="1" fill="hold">
                                          <p:stCondLst>
                                            <p:cond delay="0"/>
                                          </p:stCondLst>
                                        </p:cTn>
                                        <p:tgtEl>
                                          <p:spTgt spid="28"/>
                                        </p:tgtEl>
                                        <p:attrNameLst>
                                          <p:attrName>style.visibility</p:attrName>
                                        </p:attrNameLst>
                                      </p:cBhvr>
                                      <p:to>
                                        <p:strVal val="visible"/>
                                      </p:to>
                                    </p:set>
                                    <p:anim calcmode="lin" valueType="num">
                                      <p:cBhvr additive="base">
                                        <p:cTn id="88" dur="500" fill="hold"/>
                                        <p:tgtEl>
                                          <p:spTgt spid="28"/>
                                        </p:tgtEl>
                                        <p:attrNameLst>
                                          <p:attrName>ppt_x</p:attrName>
                                        </p:attrNameLst>
                                      </p:cBhvr>
                                      <p:tavLst>
                                        <p:tav tm="0">
                                          <p:val>
                                            <p:strVal val="#ppt_x"/>
                                          </p:val>
                                        </p:tav>
                                        <p:tav tm="100000">
                                          <p:val>
                                            <p:strVal val="#ppt_x"/>
                                          </p:val>
                                        </p:tav>
                                      </p:tavLst>
                                    </p:anim>
                                    <p:anim calcmode="lin" valueType="num">
                                      <p:cBhvr additive="base">
                                        <p:cTn id="8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2" fill="hold" grpId="0" nodeType="clickEffect">
                                  <p:stCondLst>
                                    <p:cond delay="0"/>
                                  </p:stCondLst>
                                  <p:childTnLst>
                                    <p:set>
                                      <p:cBhvr>
                                        <p:cTn id="93" dur="1" fill="hold">
                                          <p:stCondLst>
                                            <p:cond delay="0"/>
                                          </p:stCondLst>
                                        </p:cTn>
                                        <p:tgtEl>
                                          <p:spTgt spid="29"/>
                                        </p:tgtEl>
                                        <p:attrNameLst>
                                          <p:attrName>style.visibility</p:attrName>
                                        </p:attrNameLst>
                                      </p:cBhvr>
                                      <p:to>
                                        <p:strVal val="visible"/>
                                      </p:to>
                                    </p:set>
                                    <p:anim calcmode="lin" valueType="num">
                                      <p:cBhvr additive="base">
                                        <p:cTn id="94" dur="500" fill="hold"/>
                                        <p:tgtEl>
                                          <p:spTgt spid="29"/>
                                        </p:tgtEl>
                                        <p:attrNameLst>
                                          <p:attrName>ppt_x</p:attrName>
                                        </p:attrNameLst>
                                      </p:cBhvr>
                                      <p:tavLst>
                                        <p:tav tm="0">
                                          <p:val>
                                            <p:strVal val="1+#ppt_w/2"/>
                                          </p:val>
                                        </p:tav>
                                        <p:tav tm="100000">
                                          <p:val>
                                            <p:strVal val="#ppt_x"/>
                                          </p:val>
                                        </p:tav>
                                      </p:tavLst>
                                    </p:anim>
                                    <p:anim calcmode="lin" valueType="num">
                                      <p:cBhvr additive="base">
                                        <p:cTn id="95"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187416"/>
                                        </p:tgtEl>
                                        <p:attrNameLst>
                                          <p:attrName>style.visibility</p:attrName>
                                        </p:attrNameLst>
                                      </p:cBhvr>
                                      <p:to>
                                        <p:strVal val="visible"/>
                                      </p:to>
                                    </p:set>
                                    <p:anim calcmode="lin" valueType="num">
                                      <p:cBhvr additive="base">
                                        <p:cTn id="100" dur="500" fill="hold"/>
                                        <p:tgtEl>
                                          <p:spTgt spid="187416"/>
                                        </p:tgtEl>
                                        <p:attrNameLst>
                                          <p:attrName>ppt_x</p:attrName>
                                        </p:attrNameLst>
                                      </p:cBhvr>
                                      <p:tavLst>
                                        <p:tav tm="0">
                                          <p:val>
                                            <p:strVal val="#ppt_x"/>
                                          </p:val>
                                        </p:tav>
                                        <p:tav tm="100000">
                                          <p:val>
                                            <p:strVal val="#ppt_x"/>
                                          </p:val>
                                        </p:tav>
                                      </p:tavLst>
                                    </p:anim>
                                    <p:anim calcmode="lin" valueType="num">
                                      <p:cBhvr additive="base">
                                        <p:cTn id="101" dur="500" fill="hold"/>
                                        <p:tgtEl>
                                          <p:spTgt spid="187416"/>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blinds(horizontal)">
                                      <p:cBhvr>
                                        <p:cTn id="10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4" grpId="0" autoUpdateAnimBg="0"/>
      <p:bldP spid="187395" grpId="0" autoUpdateAnimBg="0"/>
      <p:bldP spid="187396" grpId="0" autoUpdateAnimBg="0"/>
      <p:bldP spid="187397" grpId="0" animBg="1" autoUpdateAnimBg="0"/>
      <p:bldP spid="187398" grpId="0" animBg="1" autoUpdateAnimBg="0"/>
      <p:bldP spid="187399" grpId="0" autoUpdateAnimBg="0"/>
      <p:bldP spid="187400" grpId="0" autoUpdateAnimBg="0"/>
      <p:bldP spid="187401" grpId="0" autoUpdateAnimBg="0"/>
      <p:bldP spid="187402" grpId="0" animBg="1" autoUpdateAnimBg="0"/>
      <p:bldP spid="187403" grpId="0" animBg="1" autoUpdateAnimBg="0"/>
      <p:bldP spid="187416" grpId="0" autoUpdateAnimBg="0"/>
      <p:bldP spid="25" grpId="0" autoUpdateAnimBg="0"/>
      <p:bldP spid="24" grpId="0" autoUpdateAnimBg="0"/>
      <p:bldP spid="27" grpId="0" autoUpdateAnimBg="0"/>
      <p:bldP spid="29"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ChangeArrowheads="1"/>
          </p:cNvSpPr>
          <p:nvPr/>
        </p:nvSpPr>
        <p:spPr bwMode="auto">
          <a:xfrm>
            <a:off x="495300" y="548680"/>
            <a:ext cx="8458200" cy="536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762000" eaLnBrk="0" hangingPunct="0">
              <a:lnSpc>
                <a:spcPct val="120000"/>
              </a:lnSpc>
            </a:pPr>
            <a:r>
              <a:rPr lang="zh-CN" altLang="en-US" sz="2400" b="1" dirty="0"/>
              <a:t>玻耳兹曼熵：</a:t>
            </a:r>
          </a:p>
        </p:txBody>
      </p:sp>
      <p:graphicFrame>
        <p:nvGraphicFramePr>
          <p:cNvPr id="188420" name="Object 4"/>
          <p:cNvGraphicFramePr>
            <a:graphicFrameLocks/>
          </p:cNvGraphicFramePr>
          <p:nvPr>
            <p:extLst/>
          </p:nvPr>
        </p:nvGraphicFramePr>
        <p:xfrm>
          <a:off x="3419872" y="552872"/>
          <a:ext cx="1849438" cy="433388"/>
        </p:xfrm>
        <a:graphic>
          <a:graphicData uri="http://schemas.openxmlformats.org/presentationml/2006/ole">
            <mc:AlternateContent xmlns:mc="http://schemas.openxmlformats.org/markup-compatibility/2006">
              <mc:Choice xmlns:v="urn:schemas-microsoft-com:vml" Requires="v">
                <p:oleObj spid="_x0000_s128109" name="Equation" r:id="rId3" imgW="710891" imgH="177723" progId="Equation.3">
                  <p:embed/>
                </p:oleObj>
              </mc:Choice>
              <mc:Fallback>
                <p:oleObj name="Equation" r:id="rId3" imgW="710891" imgH="177723"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872" y="552872"/>
                        <a:ext cx="1849438" cy="43338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8422" name="Rectangle 6"/>
          <p:cNvSpPr>
            <a:spLocks noChangeArrowheads="1"/>
          </p:cNvSpPr>
          <p:nvPr/>
        </p:nvSpPr>
        <p:spPr bwMode="auto">
          <a:xfrm>
            <a:off x="424554" y="2060848"/>
            <a:ext cx="8280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just" defTabSz="762000" eaLnBrk="0" hangingPunct="0"/>
            <a:r>
              <a:rPr lang="en-US" altLang="zh-CN" sz="2400" b="1" dirty="0"/>
              <a:t>        </a:t>
            </a:r>
            <a:r>
              <a:rPr lang="zh-CN" altLang="en-US" sz="2400" b="1" dirty="0"/>
              <a:t>系统某一状态的熵值越大， 它所包含的微观状态数目越多，所对应的宏观状态越无序</a:t>
            </a:r>
            <a:r>
              <a:rPr lang="en-US" altLang="zh-CN" sz="2400" b="1" dirty="0"/>
              <a:t>,  </a:t>
            </a:r>
            <a:r>
              <a:rPr lang="zh-CN" altLang="en-US" sz="2400" b="1" dirty="0"/>
              <a:t>越接近于平衡态。 </a:t>
            </a:r>
          </a:p>
        </p:txBody>
      </p:sp>
      <p:sp>
        <p:nvSpPr>
          <p:cNvPr id="188423" name="Rectangle 7"/>
          <p:cNvSpPr>
            <a:spLocks noChangeArrowheads="1"/>
          </p:cNvSpPr>
          <p:nvPr/>
        </p:nvSpPr>
        <p:spPr bwMode="auto">
          <a:xfrm>
            <a:off x="424554" y="3429000"/>
            <a:ext cx="8395918"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l" defTabSz="762000" eaLnBrk="0" hangingPunct="0"/>
            <a:r>
              <a:rPr lang="zh-CN" altLang="en-US" sz="2400" b="1" dirty="0"/>
              <a:t>孤立系统总是倾向于 熵值</a:t>
            </a:r>
            <a:r>
              <a:rPr lang="zh-CN" altLang="en-US" sz="2400" b="1"/>
              <a:t>最大。向熵增加的方向发展。</a:t>
            </a:r>
            <a:endParaRPr lang="zh-CN" altLang="en-US" sz="2400" b="1" dirty="0"/>
          </a:p>
        </p:txBody>
      </p:sp>
      <p:sp>
        <p:nvSpPr>
          <p:cNvPr id="188425" name="Text Box 9"/>
          <p:cNvSpPr txBox="1">
            <a:spLocks noChangeArrowheads="1"/>
          </p:cNvSpPr>
          <p:nvPr/>
        </p:nvSpPr>
        <p:spPr bwMode="auto">
          <a:xfrm>
            <a:off x="145154" y="1084853"/>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2400" b="1" i="1" dirty="0">
                <a:solidFill>
                  <a:srgbClr val="FF3300"/>
                </a:solidFill>
                <a:latin typeface="Century Schoolbook" pitchFamily="18" charset="0"/>
              </a:rPr>
              <a:t>S:</a:t>
            </a:r>
            <a:r>
              <a:rPr lang="zh-CN" altLang="en-US" sz="2400" b="1" dirty="0">
                <a:solidFill>
                  <a:srgbClr val="FF3300"/>
                </a:solidFill>
                <a:latin typeface="Century Schoolbook" pitchFamily="18" charset="0"/>
              </a:rPr>
              <a:t>熵；</a:t>
            </a:r>
            <a:r>
              <a:rPr lang="en-US" altLang="zh-CN" sz="2400" b="1" i="1" dirty="0">
                <a:solidFill>
                  <a:srgbClr val="FF3300"/>
                </a:solidFill>
                <a:latin typeface="Century Schoolbook" pitchFamily="18" charset="0"/>
              </a:rPr>
              <a:t>W</a:t>
            </a:r>
            <a:r>
              <a:rPr lang="en-US" altLang="zh-CN" sz="2400" b="1" dirty="0">
                <a:solidFill>
                  <a:srgbClr val="FF3300"/>
                </a:solidFill>
                <a:latin typeface="Century Schoolbook" pitchFamily="18" charset="0"/>
              </a:rPr>
              <a:t>:</a:t>
            </a:r>
            <a:r>
              <a:rPr lang="zh-CN" altLang="en-US" sz="2400" b="1" dirty="0">
                <a:solidFill>
                  <a:srgbClr val="FF3300"/>
                </a:solidFill>
                <a:latin typeface="Century Schoolbook" pitchFamily="18" charset="0"/>
              </a:rPr>
              <a:t>热力学概率</a:t>
            </a:r>
            <a:r>
              <a:rPr lang="en-US" altLang="zh-CN" sz="2400" b="1" dirty="0">
                <a:solidFill>
                  <a:srgbClr val="FF3300"/>
                </a:solidFill>
                <a:latin typeface="Century Schoolbook" pitchFamily="18" charset="0"/>
              </a:rPr>
              <a:t>(</a:t>
            </a:r>
            <a:r>
              <a:rPr lang="zh-CN" altLang="en-US" sz="2400" b="1" dirty="0">
                <a:solidFill>
                  <a:srgbClr val="FF3300"/>
                </a:solidFill>
                <a:latin typeface="Century Schoolbook" pitchFamily="18" charset="0"/>
              </a:rPr>
              <a:t>微观状态数</a:t>
            </a:r>
            <a:r>
              <a:rPr lang="en-US" altLang="zh-CN" sz="2400" b="1" dirty="0">
                <a:solidFill>
                  <a:srgbClr val="FF3300"/>
                </a:solidFill>
                <a:latin typeface="Century Schoolbook" pitchFamily="18" charset="0"/>
              </a:rPr>
              <a:t>),</a:t>
            </a:r>
            <a:r>
              <a:rPr lang="en-US" altLang="zh-CN" sz="2400" b="1" i="1" dirty="0" err="1">
                <a:solidFill>
                  <a:srgbClr val="FF3300"/>
                </a:solidFill>
                <a:latin typeface="Century Schoolbook" pitchFamily="18" charset="0"/>
              </a:rPr>
              <a:t>k</a:t>
            </a:r>
            <a:r>
              <a:rPr lang="en-US" altLang="zh-CN" sz="2400" b="1" dirty="0" err="1">
                <a:solidFill>
                  <a:srgbClr val="FF3300"/>
                </a:solidFill>
                <a:latin typeface="Century Schoolbook" pitchFamily="18" charset="0"/>
              </a:rPr>
              <a:t>:Boltzmann</a:t>
            </a:r>
            <a:r>
              <a:rPr lang="zh-CN" altLang="en-US" sz="2400" b="1" dirty="0">
                <a:solidFill>
                  <a:srgbClr val="FF3300"/>
                </a:solidFill>
                <a:latin typeface="Century Schoolbook" pitchFamily="18" charset="0"/>
              </a:rPr>
              <a:t>常数。它将宏观状态量熵与微观量热力学概率联系起来，是熵的统计解释。</a:t>
            </a:r>
            <a:endParaRPr lang="zh-CN" altLang="en-US" sz="2400" b="1" dirty="0">
              <a:solidFill>
                <a:schemeClr val="accent2"/>
              </a:solidFill>
              <a:latin typeface="Century Schoolbook" pitchFamily="18" charset="0"/>
            </a:endParaRPr>
          </a:p>
        </p:txBody>
      </p:sp>
    </p:spTree>
    <p:extLst>
      <p:ext uri="{BB962C8B-B14F-4D97-AF65-F5344CB8AC3E}">
        <p14:creationId xmlns:p14="http://schemas.microsoft.com/office/powerpoint/2010/main" val="356420815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8418"/>
                                        </p:tgtEl>
                                        <p:attrNameLst>
                                          <p:attrName>style.visibility</p:attrName>
                                        </p:attrNameLst>
                                      </p:cBhvr>
                                      <p:to>
                                        <p:strVal val="visible"/>
                                      </p:to>
                                    </p:set>
                                    <p:animEffect transition="in" filter="box(in)">
                                      <p:cBhvr>
                                        <p:cTn id="7" dur="500"/>
                                        <p:tgtEl>
                                          <p:spTgt spid="1884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88420"/>
                                        </p:tgtEl>
                                        <p:attrNameLst>
                                          <p:attrName>style.visibility</p:attrName>
                                        </p:attrNameLst>
                                      </p:cBhvr>
                                      <p:to>
                                        <p:strVal val="visible"/>
                                      </p:to>
                                    </p:set>
                                    <p:anim calcmode="lin" valueType="num">
                                      <p:cBhvr additive="base">
                                        <p:cTn id="12" dur="500" fill="hold"/>
                                        <p:tgtEl>
                                          <p:spTgt spid="188420"/>
                                        </p:tgtEl>
                                        <p:attrNameLst>
                                          <p:attrName>ppt_x</p:attrName>
                                        </p:attrNameLst>
                                      </p:cBhvr>
                                      <p:tavLst>
                                        <p:tav tm="0">
                                          <p:val>
                                            <p:strVal val="#ppt_x"/>
                                          </p:val>
                                        </p:tav>
                                        <p:tav tm="100000">
                                          <p:val>
                                            <p:strVal val="#ppt_x"/>
                                          </p:val>
                                        </p:tav>
                                      </p:tavLst>
                                    </p:anim>
                                    <p:anim calcmode="lin" valueType="num">
                                      <p:cBhvr additive="base">
                                        <p:cTn id="13" dur="500" fill="hold"/>
                                        <p:tgtEl>
                                          <p:spTgt spid="188420"/>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iterate type="lt">
                                    <p:tmPct val="100000"/>
                                  </p:iterate>
                                  <p:childTnLst>
                                    <p:set>
                                      <p:cBhvr>
                                        <p:cTn id="17" dur="1" fill="hold">
                                          <p:stCondLst>
                                            <p:cond delay="0"/>
                                          </p:stCondLst>
                                        </p:cTn>
                                        <p:tgtEl>
                                          <p:spTgt spid="188425"/>
                                        </p:tgtEl>
                                        <p:attrNameLst>
                                          <p:attrName>style.visibility</p:attrName>
                                        </p:attrNameLst>
                                      </p:cBhvr>
                                      <p:to>
                                        <p:strVal val="visible"/>
                                      </p:to>
                                    </p:set>
                                    <p:animEffect transition="in" filter="wipe(left)">
                                      <p:cBhvr>
                                        <p:cTn id="18" dur="75"/>
                                        <p:tgtEl>
                                          <p:spTgt spid="18842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188422"/>
                                        </p:tgtEl>
                                        <p:attrNameLst>
                                          <p:attrName>style.visibility</p:attrName>
                                        </p:attrNameLst>
                                      </p:cBhvr>
                                      <p:to>
                                        <p:strVal val="visible"/>
                                      </p:to>
                                    </p:set>
                                    <p:animEffect transition="in" filter="blinds(vertical)">
                                      <p:cBhvr>
                                        <p:cTn id="23" dur="500"/>
                                        <p:tgtEl>
                                          <p:spTgt spid="18842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88423"/>
                                        </p:tgtEl>
                                        <p:attrNameLst>
                                          <p:attrName>style.visibility</p:attrName>
                                        </p:attrNameLst>
                                      </p:cBhvr>
                                      <p:to>
                                        <p:strVal val="visible"/>
                                      </p:to>
                                    </p:set>
                                    <p:animEffect transition="in" filter="box(in)">
                                      <p:cBhvr>
                                        <p:cTn id="28" dur="500"/>
                                        <p:tgtEl>
                                          <p:spTgt spid="188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autoUpdateAnimBg="0"/>
      <p:bldP spid="188422" grpId="0" autoUpdateAnimBg="0"/>
      <p:bldP spid="188423" grpId="0" autoUpdateAnimBg="0"/>
      <p:bldP spid="188425"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179388" y="188913"/>
            <a:ext cx="87852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kumimoji="1" lang="zh-CN" altLang="en-US" sz="3200" b="1" dirty="0">
                <a:solidFill>
                  <a:srgbClr val="0000FF"/>
                </a:solidFill>
                <a:latin typeface="宋体" charset="-122"/>
              </a:rPr>
              <a:t>例题</a:t>
            </a:r>
            <a:r>
              <a:rPr kumimoji="1" lang="en-US" altLang="zh-CN" sz="3200" b="1" dirty="0">
                <a:solidFill>
                  <a:srgbClr val="0000FF"/>
                </a:solidFill>
                <a:latin typeface="宋体" charset="-122"/>
              </a:rPr>
              <a:t> </a:t>
            </a:r>
            <a:r>
              <a:rPr kumimoji="1" lang="zh-CN" altLang="en-US" sz="3200" b="1" dirty="0">
                <a:solidFill>
                  <a:srgbClr val="0000FF"/>
                </a:solidFill>
                <a:latin typeface="宋体" charset="-122"/>
              </a:rPr>
              <a:t>试计算理想气体在等温膨胀过程中的熵变</a:t>
            </a:r>
          </a:p>
        </p:txBody>
      </p:sp>
      <p:graphicFrame>
        <p:nvGraphicFramePr>
          <p:cNvPr id="83971" name="Object 3"/>
          <p:cNvGraphicFramePr>
            <a:graphicFrameLocks noChangeAspect="1"/>
          </p:cNvGraphicFramePr>
          <p:nvPr>
            <p:extLst/>
          </p:nvPr>
        </p:nvGraphicFramePr>
        <p:xfrm>
          <a:off x="3492500" y="2317750"/>
          <a:ext cx="1625600" cy="679450"/>
        </p:xfrm>
        <a:graphic>
          <a:graphicData uri="http://schemas.openxmlformats.org/presentationml/2006/ole">
            <mc:AlternateContent xmlns:mc="http://schemas.openxmlformats.org/markup-compatibility/2006">
              <mc:Choice xmlns:v="urn:schemas-microsoft-com:vml" Requires="v">
                <p:oleObj spid="_x0000_s129244" name="公式" r:id="rId4" imgW="533160" imgH="215640" progId="Equation.3">
                  <p:embed/>
                </p:oleObj>
              </mc:Choice>
              <mc:Fallback>
                <p:oleObj name="公式" r:id="rId4" imgW="533160" imgH="215640" progId="Equation.3">
                  <p:embed/>
                  <p:pic>
                    <p:nvPicPr>
                      <p:cNvPr id="0" name=""/>
                      <p:cNvPicPr>
                        <a:picLocks noChangeAspect="1" noChangeArrowheads="1"/>
                      </p:cNvPicPr>
                      <p:nvPr/>
                    </p:nvPicPr>
                    <p:blipFill>
                      <a:blip r:embed="rId5"/>
                      <a:srcRect/>
                      <a:stretch>
                        <a:fillRect/>
                      </a:stretch>
                    </p:blipFill>
                    <p:spPr bwMode="auto">
                      <a:xfrm>
                        <a:off x="3492500" y="2317750"/>
                        <a:ext cx="1625600"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972" name="Object 4"/>
          <p:cNvGraphicFramePr>
            <a:graphicFrameLocks noChangeAspect="1"/>
          </p:cNvGraphicFramePr>
          <p:nvPr>
            <p:extLst/>
          </p:nvPr>
        </p:nvGraphicFramePr>
        <p:xfrm>
          <a:off x="2548731" y="4869160"/>
          <a:ext cx="3975100" cy="684213"/>
        </p:xfrm>
        <a:graphic>
          <a:graphicData uri="http://schemas.openxmlformats.org/presentationml/2006/ole">
            <mc:AlternateContent xmlns:mc="http://schemas.openxmlformats.org/markup-compatibility/2006">
              <mc:Choice xmlns:v="urn:schemas-microsoft-com:vml" Requires="v">
                <p:oleObj spid="_x0000_s129245" name="公式" r:id="rId6" imgW="1180800" imgH="241200" progId="Equation.3">
                  <p:embed/>
                </p:oleObj>
              </mc:Choice>
              <mc:Fallback>
                <p:oleObj name="公式" r:id="rId6" imgW="1180800" imgH="241200" progId="Equation.3">
                  <p:embed/>
                  <p:pic>
                    <p:nvPicPr>
                      <p:cNvPr id="0" name=""/>
                      <p:cNvPicPr>
                        <a:picLocks noChangeAspect="1" noChangeArrowheads="1"/>
                      </p:cNvPicPr>
                      <p:nvPr/>
                    </p:nvPicPr>
                    <p:blipFill>
                      <a:blip r:embed="rId7"/>
                      <a:srcRect/>
                      <a:stretch>
                        <a:fillRect/>
                      </a:stretch>
                    </p:blipFill>
                    <p:spPr bwMode="auto">
                      <a:xfrm>
                        <a:off x="2548731" y="4869160"/>
                        <a:ext cx="3975100" cy="684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974" name="Rectangle 6"/>
          <p:cNvSpPr>
            <a:spLocks noChangeArrowheads="1"/>
          </p:cNvSpPr>
          <p:nvPr/>
        </p:nvSpPr>
        <p:spPr bwMode="auto">
          <a:xfrm>
            <a:off x="468313" y="3287713"/>
            <a:ext cx="8280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kumimoji="1" lang="en-US" altLang="zh-CN" sz="2400" b="1" i="1" dirty="0">
                <a:ea typeface="楷体_GB2312" pitchFamily="49" charset="-122"/>
              </a:rPr>
              <a:t>    N </a:t>
            </a:r>
            <a:r>
              <a:rPr kumimoji="1" lang="zh-CN" altLang="en-US" sz="2400" b="1" dirty="0"/>
              <a:t>个分子同时在</a:t>
            </a:r>
            <a:r>
              <a:rPr kumimoji="1" lang="zh-CN" altLang="en-US" sz="2400" b="1" dirty="0">
                <a:ea typeface="楷体_GB2312" pitchFamily="49" charset="-122"/>
              </a:rPr>
              <a:t> </a:t>
            </a:r>
            <a:r>
              <a:rPr kumimoji="1" lang="en-US" altLang="zh-CN" sz="2400" b="1" i="1" dirty="0">
                <a:ea typeface="楷体_GB2312" pitchFamily="49" charset="-122"/>
              </a:rPr>
              <a:t>V </a:t>
            </a:r>
            <a:r>
              <a:rPr kumimoji="1" lang="zh-CN" altLang="en-US" sz="2400" b="1" dirty="0"/>
              <a:t>中出现的概率，等于各个分子出现概率的乘积，即由</a:t>
            </a:r>
            <a:r>
              <a:rPr kumimoji="1" lang="zh-CN" altLang="en-US" sz="2400" b="1" dirty="0">
                <a:ea typeface="楷体_GB2312" pitchFamily="49" charset="-122"/>
              </a:rPr>
              <a:t> </a:t>
            </a:r>
            <a:r>
              <a:rPr kumimoji="1" lang="en-US" altLang="zh-CN" sz="2400" b="1" i="1" dirty="0">
                <a:ea typeface="楷体_GB2312" pitchFamily="49" charset="-122"/>
              </a:rPr>
              <a:t>N</a:t>
            </a:r>
            <a:r>
              <a:rPr kumimoji="1" lang="en-US" altLang="zh-CN" sz="2400" b="1" dirty="0">
                <a:ea typeface="楷体_GB2312" pitchFamily="49" charset="-122"/>
              </a:rPr>
              <a:t> </a:t>
            </a:r>
            <a:r>
              <a:rPr kumimoji="1" lang="zh-CN" altLang="en-US" sz="2400" b="1" dirty="0">
                <a:latin typeface="宋体" charset="-122"/>
              </a:rPr>
              <a:t>个分子所组成的</a:t>
            </a:r>
            <a:r>
              <a:rPr kumimoji="1" lang="zh-CN" altLang="en-US" sz="2400" b="1" dirty="0">
                <a:solidFill>
                  <a:srgbClr val="0000FF"/>
                </a:solidFill>
                <a:latin typeface="宋体" charset="-122"/>
              </a:rPr>
              <a:t>宏观状态的概率</a:t>
            </a:r>
            <a:r>
              <a:rPr kumimoji="1" lang="zh-CN" altLang="en-US" sz="2400" b="1" dirty="0">
                <a:latin typeface="宋体" charset="-122"/>
              </a:rPr>
              <a:t>：</a:t>
            </a:r>
            <a:r>
              <a:rPr kumimoji="1" lang="zh-CN" altLang="en-US" sz="2400" b="1" dirty="0">
                <a:solidFill>
                  <a:srgbClr val="000066"/>
                </a:solidFill>
                <a:latin typeface="宋体" charset="-122"/>
              </a:rPr>
              <a:t>    </a:t>
            </a:r>
          </a:p>
        </p:txBody>
      </p:sp>
      <p:sp>
        <p:nvSpPr>
          <p:cNvPr id="83976" name="Text Box 8"/>
          <p:cNvSpPr txBox="1">
            <a:spLocks noChangeArrowheads="1"/>
          </p:cNvSpPr>
          <p:nvPr/>
        </p:nvSpPr>
        <p:spPr bwMode="auto">
          <a:xfrm>
            <a:off x="468313" y="1052513"/>
            <a:ext cx="84963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sz="3200">
                <a:solidFill>
                  <a:schemeClr val="tx1"/>
                </a:solidFill>
                <a:latin typeface="Arial" charset="0"/>
                <a:ea typeface="宋体" charset="-122"/>
              </a:defRPr>
            </a:lvl1pPr>
            <a:lvl2pPr marL="742950" indent="-285750" eaLnBrk="0" hangingPunct="0">
              <a:defRPr sz="3200">
                <a:solidFill>
                  <a:schemeClr val="tx1"/>
                </a:solidFill>
                <a:latin typeface="Arial" charset="0"/>
                <a:ea typeface="宋体" charset="-122"/>
              </a:defRPr>
            </a:lvl2pPr>
            <a:lvl3pPr marL="1143000" indent="-228600" eaLnBrk="0" hangingPunct="0">
              <a:defRPr sz="3200">
                <a:solidFill>
                  <a:schemeClr val="tx1"/>
                </a:solidFill>
                <a:latin typeface="Arial" charset="0"/>
                <a:ea typeface="宋体" charset="-122"/>
              </a:defRPr>
            </a:lvl3pPr>
            <a:lvl4pPr marL="1600200" indent="-228600" eaLnBrk="0" hangingPunct="0">
              <a:defRPr sz="3200">
                <a:solidFill>
                  <a:schemeClr val="tx1"/>
                </a:solidFill>
                <a:latin typeface="Arial" charset="0"/>
                <a:ea typeface="宋体" charset="-122"/>
              </a:defRPr>
            </a:lvl4pPr>
            <a:lvl5pPr marL="2057400" indent="-228600" eaLnBrk="0" hangingPunct="0">
              <a:defRPr sz="3200">
                <a:solidFill>
                  <a:schemeClr val="tx1"/>
                </a:solidFill>
                <a:latin typeface="Arial" charset="0"/>
                <a:ea typeface="宋体" charset="-122"/>
              </a:defRPr>
            </a:lvl5pPr>
            <a:lvl6pPr marL="2514600" indent="-228600" eaLnBrk="0" fontAlgn="base" hangingPunct="0">
              <a:spcBef>
                <a:spcPct val="0"/>
              </a:spcBef>
              <a:spcAft>
                <a:spcPct val="0"/>
              </a:spcAft>
              <a:defRPr sz="3200">
                <a:solidFill>
                  <a:schemeClr val="tx1"/>
                </a:solidFill>
                <a:latin typeface="Arial" charset="0"/>
                <a:ea typeface="宋体" charset="-122"/>
              </a:defRPr>
            </a:lvl6pPr>
            <a:lvl7pPr marL="2971800" indent="-228600" eaLnBrk="0" fontAlgn="base" hangingPunct="0">
              <a:spcBef>
                <a:spcPct val="0"/>
              </a:spcBef>
              <a:spcAft>
                <a:spcPct val="0"/>
              </a:spcAft>
              <a:defRPr sz="3200">
                <a:solidFill>
                  <a:schemeClr val="tx1"/>
                </a:solidFill>
                <a:latin typeface="Arial" charset="0"/>
                <a:ea typeface="宋体" charset="-122"/>
              </a:defRPr>
            </a:lvl7pPr>
            <a:lvl8pPr marL="3429000" indent="-228600" eaLnBrk="0" fontAlgn="base" hangingPunct="0">
              <a:spcBef>
                <a:spcPct val="0"/>
              </a:spcBef>
              <a:spcAft>
                <a:spcPct val="0"/>
              </a:spcAft>
              <a:defRPr sz="3200">
                <a:solidFill>
                  <a:schemeClr val="tx1"/>
                </a:solidFill>
                <a:latin typeface="Arial" charset="0"/>
                <a:ea typeface="宋体" charset="-122"/>
              </a:defRPr>
            </a:lvl8pPr>
            <a:lvl9pPr marL="3886200" indent="-228600" eaLnBrk="0" fontAlgn="base" hangingPunct="0">
              <a:spcBef>
                <a:spcPct val="0"/>
              </a:spcBef>
              <a:spcAft>
                <a:spcPct val="0"/>
              </a:spcAft>
              <a:defRPr sz="3200">
                <a:solidFill>
                  <a:schemeClr val="tx1"/>
                </a:solidFill>
                <a:latin typeface="Arial" charset="0"/>
                <a:ea typeface="宋体" charset="-122"/>
              </a:defRPr>
            </a:lvl9pPr>
          </a:lstStyle>
          <a:p>
            <a:pPr algn="l" eaLnBrk="1" hangingPunct="1">
              <a:spcBef>
                <a:spcPct val="50000"/>
              </a:spcBef>
            </a:pPr>
            <a:r>
              <a:rPr kumimoji="1" lang="zh-CN" altLang="en-US" b="1" dirty="0">
                <a:latin typeface="宋体" charset="-122"/>
              </a:rPr>
              <a:t>解：一个分子在体积为</a:t>
            </a:r>
            <a:r>
              <a:rPr kumimoji="1" lang="en-US" altLang="zh-CN" b="1" i="1" dirty="0">
                <a:latin typeface="Times New Roman" pitchFamily="18" charset="0"/>
              </a:rPr>
              <a:t>V </a:t>
            </a:r>
            <a:r>
              <a:rPr kumimoji="1" lang="zh-CN" altLang="en-US" b="1" dirty="0">
                <a:latin typeface="宋体" charset="-122"/>
              </a:rPr>
              <a:t>的容器内找到它的概率</a:t>
            </a:r>
            <a:r>
              <a:rPr lang="en-US" altLang="zh-CN" b="1" i="1" dirty="0" err="1">
                <a:sym typeface="Symbol" pitchFamily="18" charset="2"/>
              </a:rPr>
              <a:t>W</a:t>
            </a:r>
            <a:r>
              <a:rPr lang="en-US" altLang="zh-CN" b="1" baseline="-25000" dirty="0" err="1">
                <a:latin typeface="宋体" charset="-122"/>
                <a:sym typeface="Symbol" pitchFamily="18" charset="2"/>
              </a:rPr>
              <a:t>l</a:t>
            </a:r>
            <a:r>
              <a:rPr kumimoji="1" lang="zh-CN" altLang="en-US" b="1" dirty="0">
                <a:solidFill>
                  <a:srgbClr val="FF0000"/>
                </a:solidFill>
                <a:latin typeface="宋体" charset="-122"/>
              </a:rPr>
              <a:t>（微观状态</a:t>
            </a:r>
            <a:r>
              <a:rPr lang="zh-CN" altLang="en-US" b="1" dirty="0">
                <a:solidFill>
                  <a:srgbClr val="FF0000"/>
                </a:solidFill>
                <a:latin typeface="宋体" charset="-122"/>
              </a:rPr>
              <a:t>数）</a:t>
            </a:r>
            <a:r>
              <a:rPr lang="zh-CN" altLang="en-US" b="1" dirty="0">
                <a:latin typeface="宋体" charset="-122"/>
              </a:rPr>
              <a:t>与容器</a:t>
            </a:r>
            <a:r>
              <a:rPr kumimoji="1" lang="zh-CN" altLang="en-US" b="1" dirty="0">
                <a:latin typeface="宋体" charset="-122"/>
              </a:rPr>
              <a:t>的体积</a:t>
            </a:r>
            <a:r>
              <a:rPr kumimoji="1" lang="en-US" altLang="zh-CN" b="1" i="1" dirty="0">
                <a:latin typeface="Times New Roman" pitchFamily="18" charset="0"/>
              </a:rPr>
              <a:t>V </a:t>
            </a:r>
            <a:r>
              <a:rPr kumimoji="1" lang="zh-CN" altLang="en-US" b="1" dirty="0">
                <a:latin typeface="宋体" charset="-122"/>
              </a:rPr>
              <a:t>成正比：</a:t>
            </a:r>
          </a:p>
        </p:txBody>
      </p:sp>
      <p:sp>
        <p:nvSpPr>
          <p:cNvPr id="5128" name="Rectangle 9"/>
          <p:cNvSpPr>
            <a:spLocks noChangeArrowheads="1"/>
          </p:cNvSpPr>
          <p:nvPr/>
        </p:nvSpPr>
        <p:spPr bwMode="auto">
          <a:xfrm>
            <a:off x="5867400" y="2344738"/>
            <a:ext cx="25066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b="1" i="1">
                <a:latin typeface="Times New Roman" pitchFamily="18" charset="0"/>
              </a:rPr>
              <a:t>c</a:t>
            </a:r>
            <a:r>
              <a:rPr kumimoji="1" lang="en-US" altLang="zh-CN" b="1">
                <a:latin typeface="Times New Roman" pitchFamily="18" charset="0"/>
              </a:rPr>
              <a:t> </a:t>
            </a:r>
            <a:r>
              <a:rPr kumimoji="1" lang="zh-CN" altLang="en-US" b="1"/>
              <a:t>是比例系数</a:t>
            </a:r>
          </a:p>
        </p:txBody>
      </p:sp>
    </p:spTree>
    <p:extLst>
      <p:ext uri="{BB962C8B-B14F-4D97-AF65-F5344CB8AC3E}">
        <p14:creationId xmlns:p14="http://schemas.microsoft.com/office/powerpoint/2010/main" val="16448387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3970">
                                            <p:txEl>
                                              <p:pRg st="0" end="0"/>
                                            </p:txEl>
                                          </p:spTgt>
                                        </p:tgtEl>
                                        <p:attrNameLst>
                                          <p:attrName>style.visibility</p:attrName>
                                        </p:attrNameLst>
                                      </p:cBhvr>
                                      <p:to>
                                        <p:strVal val="visible"/>
                                      </p:to>
                                    </p:set>
                                    <p:animEffect transition="in" filter="wipe(left)">
                                      <p:cBhvr>
                                        <p:cTn id="7" dur="500"/>
                                        <p:tgtEl>
                                          <p:spTgt spid="839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976">
                                            <p:txEl>
                                              <p:pRg st="0" end="0"/>
                                            </p:txEl>
                                          </p:spTgt>
                                        </p:tgtEl>
                                        <p:attrNameLst>
                                          <p:attrName>style.visibility</p:attrName>
                                        </p:attrNameLst>
                                      </p:cBhvr>
                                      <p:to>
                                        <p:strVal val="visible"/>
                                      </p:to>
                                    </p:set>
                                    <p:animEffect transition="in" filter="wipe(left)">
                                      <p:cBhvr>
                                        <p:cTn id="12" dur="500"/>
                                        <p:tgtEl>
                                          <p:spTgt spid="8397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3971"/>
                                        </p:tgtEl>
                                        <p:attrNameLst>
                                          <p:attrName>style.visibility</p:attrName>
                                        </p:attrNameLst>
                                      </p:cBhvr>
                                      <p:to>
                                        <p:strVal val="visible"/>
                                      </p:to>
                                    </p:set>
                                    <p:animEffect transition="in" filter="wipe(left)">
                                      <p:cBhvr>
                                        <p:cTn id="17" dur="500"/>
                                        <p:tgtEl>
                                          <p:spTgt spid="839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3974"/>
                                        </p:tgtEl>
                                        <p:attrNameLst>
                                          <p:attrName>style.visibility</p:attrName>
                                        </p:attrNameLst>
                                      </p:cBhvr>
                                      <p:to>
                                        <p:strVal val="visible"/>
                                      </p:to>
                                    </p:set>
                                    <p:animEffect transition="in" filter="wipe(up)">
                                      <p:cBhvr>
                                        <p:cTn id="22" dur="500"/>
                                        <p:tgtEl>
                                          <p:spTgt spid="839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3972"/>
                                        </p:tgtEl>
                                        <p:attrNameLst>
                                          <p:attrName>style.visibility</p:attrName>
                                        </p:attrNameLst>
                                      </p:cBhvr>
                                      <p:to>
                                        <p:strVal val="visible"/>
                                      </p:to>
                                    </p:set>
                                    <p:animEffect transition="in" filter="wipe(left)">
                                      <p:cBhvr>
                                        <p:cTn id="27" dur="500"/>
                                        <p:tgtEl>
                                          <p:spTgt spid="83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build="p" autoUpdateAnimBg="0"/>
      <p:bldP spid="83974" grpId="0" autoUpdateAnimBg="0"/>
      <p:bldP spid="83976" grpId="0" build="p"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4" name="Object 2"/>
          <p:cNvGraphicFramePr>
            <a:graphicFrameLocks noChangeAspect="1"/>
          </p:cNvGraphicFramePr>
          <p:nvPr/>
        </p:nvGraphicFramePr>
        <p:xfrm>
          <a:off x="2124075" y="2819400"/>
          <a:ext cx="4752975" cy="587375"/>
        </p:xfrm>
        <a:graphic>
          <a:graphicData uri="http://schemas.openxmlformats.org/presentationml/2006/ole">
            <mc:AlternateContent xmlns:mc="http://schemas.openxmlformats.org/markup-compatibility/2006">
              <mc:Choice xmlns:v="urn:schemas-microsoft-com:vml" Requires="v">
                <p:oleObj spid="_x0000_s130590" name="公式" r:id="rId3" imgW="1765080" imgH="215640" progId="Equation.3">
                  <p:embed/>
                </p:oleObj>
              </mc:Choice>
              <mc:Fallback>
                <p:oleObj name="公式" r:id="rId3" imgW="176508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2819400"/>
                        <a:ext cx="4752975"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996" name="Rectangle 4"/>
          <p:cNvSpPr>
            <a:spLocks noChangeArrowheads="1"/>
          </p:cNvSpPr>
          <p:nvPr/>
        </p:nvSpPr>
        <p:spPr bwMode="auto">
          <a:xfrm>
            <a:off x="560203" y="1988840"/>
            <a:ext cx="52562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kumimoji="1" lang="zh-CN" altLang="en-US" sz="2800" b="1" dirty="0">
                <a:latin typeface="宋体" charset="-122"/>
              </a:rPr>
              <a:t>等温膨胀后，熵的增量为：</a:t>
            </a:r>
          </a:p>
        </p:txBody>
      </p:sp>
      <p:graphicFrame>
        <p:nvGraphicFramePr>
          <p:cNvPr id="84998" name="Object 6"/>
          <p:cNvGraphicFramePr>
            <a:graphicFrameLocks noChangeAspect="1"/>
          </p:cNvGraphicFramePr>
          <p:nvPr/>
        </p:nvGraphicFramePr>
        <p:xfrm>
          <a:off x="2449513" y="3613150"/>
          <a:ext cx="2219325" cy="1014413"/>
        </p:xfrm>
        <a:graphic>
          <a:graphicData uri="http://schemas.openxmlformats.org/presentationml/2006/ole">
            <mc:AlternateContent xmlns:mc="http://schemas.openxmlformats.org/markup-compatibility/2006">
              <mc:Choice xmlns:v="urn:schemas-microsoft-com:vml" Requires="v">
                <p:oleObj spid="_x0000_s130591" name="Equation" r:id="rId5" imgW="2082600" imgH="1130040" progId="Equation.3">
                  <p:embed/>
                </p:oleObj>
              </mc:Choice>
              <mc:Fallback>
                <p:oleObj name="Equation" r:id="rId5" imgW="2082600" imgH="11300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9513" y="3613150"/>
                        <a:ext cx="2219325" cy="101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4999" name="Object 7"/>
          <p:cNvGraphicFramePr>
            <a:graphicFrameLocks noChangeAspect="1"/>
          </p:cNvGraphicFramePr>
          <p:nvPr>
            <p:extLst/>
          </p:nvPr>
        </p:nvGraphicFramePr>
        <p:xfrm>
          <a:off x="2811463" y="1100138"/>
          <a:ext cx="3678237" cy="600075"/>
        </p:xfrm>
        <a:graphic>
          <a:graphicData uri="http://schemas.openxmlformats.org/presentationml/2006/ole">
            <mc:AlternateContent xmlns:mc="http://schemas.openxmlformats.org/markup-compatibility/2006">
              <mc:Choice xmlns:v="urn:schemas-microsoft-com:vml" Requires="v">
                <p:oleObj spid="_x0000_s130592" name="公式" r:id="rId7" imgW="1422360" imgH="215640" progId="Equation.3">
                  <p:embed/>
                </p:oleObj>
              </mc:Choice>
              <mc:Fallback>
                <p:oleObj name="公式" r:id="rId7" imgW="1422360" imgH="215640" progId="Equation.3">
                  <p:embed/>
                  <p:pic>
                    <p:nvPicPr>
                      <p:cNvPr id="0" name=""/>
                      <p:cNvPicPr>
                        <a:picLocks noChangeAspect="1" noChangeArrowheads="1"/>
                      </p:cNvPicPr>
                      <p:nvPr/>
                    </p:nvPicPr>
                    <p:blipFill>
                      <a:blip r:embed="rId8"/>
                      <a:srcRect/>
                      <a:stretch>
                        <a:fillRect/>
                      </a:stretch>
                    </p:blipFill>
                    <p:spPr bwMode="auto">
                      <a:xfrm>
                        <a:off x="2811463" y="1100138"/>
                        <a:ext cx="3678237"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5000" name="Rectangle 8"/>
          <p:cNvSpPr>
            <a:spLocks noChangeArrowheads="1"/>
          </p:cNvSpPr>
          <p:nvPr/>
        </p:nvSpPr>
        <p:spPr bwMode="auto">
          <a:xfrm>
            <a:off x="481012" y="307975"/>
            <a:ext cx="769138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kumimoji="1" lang="zh-CN" altLang="en-US" sz="3600" b="1">
                <a:solidFill>
                  <a:srgbClr val="0000FF"/>
                </a:solidFill>
              </a:rPr>
              <a:t>由玻耳兹曼熵公式，得</a:t>
            </a:r>
            <a:r>
              <a:rPr kumimoji="1" lang="zh-CN" altLang="en-US" sz="3600" b="1">
                <a:latin typeface="宋体" charset="-122"/>
              </a:rPr>
              <a:t>系统的熵</a:t>
            </a:r>
            <a:r>
              <a:rPr kumimoji="1" lang="zh-CN" altLang="en-US" sz="3600" b="1">
                <a:solidFill>
                  <a:srgbClr val="000066"/>
                </a:solidFill>
                <a:latin typeface="楷体_GB2312" pitchFamily="49" charset="-122"/>
                <a:ea typeface="楷体_GB2312" pitchFamily="49" charset="-122"/>
              </a:rPr>
              <a:t>    </a:t>
            </a:r>
          </a:p>
        </p:txBody>
      </p:sp>
      <p:graphicFrame>
        <p:nvGraphicFramePr>
          <p:cNvPr id="85001" name="Object 9"/>
          <p:cNvGraphicFramePr>
            <a:graphicFrameLocks noChangeAspect="1"/>
          </p:cNvGraphicFramePr>
          <p:nvPr/>
        </p:nvGraphicFramePr>
        <p:xfrm>
          <a:off x="4706938" y="3554413"/>
          <a:ext cx="2825750" cy="1169987"/>
        </p:xfrm>
        <a:graphic>
          <a:graphicData uri="http://schemas.openxmlformats.org/presentationml/2006/ole">
            <mc:AlternateContent xmlns:mc="http://schemas.openxmlformats.org/markup-compatibility/2006">
              <mc:Choice xmlns:v="urn:schemas-microsoft-com:vml" Requires="v">
                <p:oleObj spid="_x0000_s130593" name="公式" r:id="rId9" imgW="1041120" imgH="431640" progId="Equation.3">
                  <p:embed/>
                </p:oleObj>
              </mc:Choice>
              <mc:Fallback>
                <p:oleObj name="公式" r:id="rId9" imgW="1041120" imgH="4316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06938" y="3554413"/>
                        <a:ext cx="2825750" cy="1169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02" name="Object 10"/>
          <p:cNvGraphicFramePr>
            <a:graphicFrameLocks noChangeAspect="1"/>
          </p:cNvGraphicFramePr>
          <p:nvPr>
            <p:extLst/>
          </p:nvPr>
        </p:nvGraphicFramePr>
        <p:xfrm>
          <a:off x="2446338" y="4700588"/>
          <a:ext cx="2244725" cy="1104900"/>
        </p:xfrm>
        <a:graphic>
          <a:graphicData uri="http://schemas.openxmlformats.org/presentationml/2006/ole">
            <mc:AlternateContent xmlns:mc="http://schemas.openxmlformats.org/markup-compatibility/2006">
              <mc:Choice xmlns:v="urn:schemas-microsoft-com:vml" Requires="v">
                <p:oleObj spid="_x0000_s130594" name="公式" r:id="rId11" imgW="876240" imgH="431640" progId="Equation.3">
                  <p:embed/>
                </p:oleObj>
              </mc:Choice>
              <mc:Fallback>
                <p:oleObj name="公式" r:id="rId11" imgW="876240" imgH="431640" progId="Equation.3">
                  <p:embed/>
                  <p:pic>
                    <p:nvPicPr>
                      <p:cNvPr id="0" name=""/>
                      <p:cNvPicPr>
                        <a:picLocks noChangeAspect="1" noChangeArrowheads="1"/>
                      </p:cNvPicPr>
                      <p:nvPr/>
                    </p:nvPicPr>
                    <p:blipFill>
                      <a:blip r:embed="rId12"/>
                      <a:srcRect/>
                      <a:stretch>
                        <a:fillRect/>
                      </a:stretch>
                    </p:blipFill>
                    <p:spPr bwMode="auto">
                      <a:xfrm>
                        <a:off x="2446338" y="4700588"/>
                        <a:ext cx="2244725" cy="1104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634161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000">
                                            <p:txEl>
                                              <p:pRg st="0" end="0"/>
                                            </p:txEl>
                                          </p:spTgt>
                                        </p:tgtEl>
                                        <p:attrNameLst>
                                          <p:attrName>style.visibility</p:attrName>
                                        </p:attrNameLst>
                                      </p:cBhvr>
                                      <p:to>
                                        <p:strVal val="visible"/>
                                      </p:to>
                                    </p:set>
                                    <p:animEffect transition="in" filter="wipe(left)">
                                      <p:cBhvr>
                                        <p:cTn id="7" dur="500"/>
                                        <p:tgtEl>
                                          <p:spTgt spid="8500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4999"/>
                                        </p:tgtEl>
                                        <p:attrNameLst>
                                          <p:attrName>style.visibility</p:attrName>
                                        </p:attrNameLst>
                                      </p:cBhvr>
                                      <p:to>
                                        <p:strVal val="visible"/>
                                      </p:to>
                                    </p:set>
                                    <p:animEffect transition="in" filter="wipe(left)">
                                      <p:cBhvr>
                                        <p:cTn id="12" dur="500"/>
                                        <p:tgtEl>
                                          <p:spTgt spid="849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4996">
                                            <p:txEl>
                                              <p:pRg st="0" end="0"/>
                                            </p:txEl>
                                          </p:spTgt>
                                        </p:tgtEl>
                                        <p:attrNameLst>
                                          <p:attrName>style.visibility</p:attrName>
                                        </p:attrNameLst>
                                      </p:cBhvr>
                                      <p:to>
                                        <p:strVal val="visible"/>
                                      </p:to>
                                    </p:set>
                                    <p:animEffect transition="in" filter="wipe(left)">
                                      <p:cBhvr>
                                        <p:cTn id="17" dur="500"/>
                                        <p:tgtEl>
                                          <p:spTgt spid="8499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4994"/>
                                        </p:tgtEl>
                                        <p:attrNameLst>
                                          <p:attrName>style.visibility</p:attrName>
                                        </p:attrNameLst>
                                      </p:cBhvr>
                                      <p:to>
                                        <p:strVal val="visible"/>
                                      </p:to>
                                    </p:set>
                                    <p:animEffect transition="in" filter="wipe(left)">
                                      <p:cBhvr>
                                        <p:cTn id="22" dur="500"/>
                                        <p:tgtEl>
                                          <p:spTgt spid="849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4998"/>
                                        </p:tgtEl>
                                        <p:attrNameLst>
                                          <p:attrName>style.visibility</p:attrName>
                                        </p:attrNameLst>
                                      </p:cBhvr>
                                      <p:to>
                                        <p:strVal val="visible"/>
                                      </p:to>
                                    </p:set>
                                    <p:animEffect transition="in" filter="wipe(left)">
                                      <p:cBhvr>
                                        <p:cTn id="27" dur="500"/>
                                        <p:tgtEl>
                                          <p:spTgt spid="849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5001"/>
                                        </p:tgtEl>
                                        <p:attrNameLst>
                                          <p:attrName>style.visibility</p:attrName>
                                        </p:attrNameLst>
                                      </p:cBhvr>
                                      <p:to>
                                        <p:strVal val="visible"/>
                                      </p:to>
                                    </p:set>
                                    <p:animEffect transition="in" filter="wipe(left)">
                                      <p:cBhvr>
                                        <p:cTn id="32" dur="2000"/>
                                        <p:tgtEl>
                                          <p:spTgt spid="850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5002"/>
                                        </p:tgtEl>
                                        <p:attrNameLst>
                                          <p:attrName>style.visibility</p:attrName>
                                        </p:attrNameLst>
                                      </p:cBhvr>
                                      <p:to>
                                        <p:strVal val="visible"/>
                                      </p:to>
                                    </p:set>
                                    <p:animEffect transition="in" filter="wipe(left)">
                                      <p:cBhvr>
                                        <p:cTn id="37" dur="2000"/>
                                        <p:tgtEl>
                                          <p:spTgt spid="85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build="p" autoUpdateAnimBg="0"/>
      <p:bldP spid="85000"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395536" y="116632"/>
            <a:ext cx="8458200" cy="893194"/>
          </a:xfrm>
          <a:noFill/>
        </p:spPr>
        <p:txBody>
          <a:bodyPr lIns="92075" tIns="46038" rIns="92075" bIns="46038" anchor="t">
            <a:spAutoFit/>
          </a:bodyPr>
          <a:lstStyle/>
          <a:p>
            <a:pPr algn="l" eaLnBrk="1" hangingPunct="1">
              <a:spcBef>
                <a:spcPct val="20000"/>
              </a:spcBef>
            </a:pPr>
            <a:r>
              <a:rPr lang="en-US" altLang="zh-CN" sz="2800" b="1" dirty="0">
                <a:solidFill>
                  <a:schemeClr val="hlink"/>
                </a:solidFill>
              </a:rPr>
              <a:t>3</a:t>
            </a:r>
            <a:r>
              <a:rPr lang="zh-CN" altLang="en-US" sz="2800" b="1" dirty="0">
                <a:solidFill>
                  <a:schemeClr val="hlink"/>
                </a:solidFill>
              </a:rPr>
              <a:t>、热力学第二定律的统计意义</a:t>
            </a:r>
            <a:br>
              <a:rPr lang="zh-CN" altLang="en-US" sz="2800" b="1" dirty="0">
                <a:solidFill>
                  <a:schemeClr val="hlink"/>
                </a:solidFill>
              </a:rPr>
            </a:br>
            <a:r>
              <a:rPr lang="en-US" altLang="zh-CN" sz="2400" b="1" dirty="0">
                <a:solidFill>
                  <a:schemeClr val="hlink"/>
                </a:solidFill>
              </a:rPr>
              <a:t>Statistical meaning of the second law of thermodynamics</a:t>
            </a:r>
          </a:p>
        </p:txBody>
      </p:sp>
      <p:sp>
        <p:nvSpPr>
          <p:cNvPr id="189443" name="Rectangle 3"/>
          <p:cNvSpPr>
            <a:spLocks noChangeArrowheads="1"/>
          </p:cNvSpPr>
          <p:nvPr/>
        </p:nvSpPr>
        <p:spPr bwMode="auto">
          <a:xfrm>
            <a:off x="260598" y="4718698"/>
            <a:ext cx="8593138" cy="206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just" defTabSz="762000" eaLnBrk="0" hangingPunct="0"/>
            <a:r>
              <a:rPr lang="zh-CN" altLang="en-US" sz="3200" b="1"/>
              <a:t>即，</a:t>
            </a:r>
            <a:r>
              <a:rPr lang="zh-CN" altLang="en-US" sz="3200" b="1">
                <a:solidFill>
                  <a:srgbClr val="FF0000"/>
                </a:solidFill>
              </a:rPr>
              <a:t>沿着熵增加的方向进行</a:t>
            </a:r>
            <a:r>
              <a:rPr lang="zh-CN" altLang="en-US" sz="3200" b="1"/>
              <a:t>，只有</a:t>
            </a:r>
            <a:r>
              <a:rPr lang="zh-CN" altLang="en-US" sz="3200" b="1">
                <a:solidFill>
                  <a:srgbClr val="FF0000"/>
                </a:solidFill>
              </a:rPr>
              <a:t>绝热可逆过程是等熵过程</a:t>
            </a:r>
            <a:r>
              <a:rPr lang="zh-CN" altLang="en-US" sz="3200" b="1"/>
              <a:t>。与之相反的过程，并非绝对不可能发生，只是由于概率极小，实际上是观察不到的。</a:t>
            </a:r>
            <a:endParaRPr lang="zh-CN" altLang="en-US" sz="3200" b="1" dirty="0"/>
          </a:p>
        </p:txBody>
      </p:sp>
      <p:sp>
        <p:nvSpPr>
          <p:cNvPr id="11" name="Rectangle 4"/>
          <p:cNvSpPr>
            <a:spLocks noChangeArrowheads="1"/>
          </p:cNvSpPr>
          <p:nvPr/>
        </p:nvSpPr>
        <p:spPr bwMode="auto">
          <a:xfrm>
            <a:off x="260598" y="1340768"/>
            <a:ext cx="872807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3200" b="1" dirty="0">
                <a:solidFill>
                  <a:schemeClr val="hlink"/>
                </a:solidFill>
                <a:latin typeface="楷体_GB2312" pitchFamily="49" charset="-122"/>
                <a:ea typeface="楷体_GB2312" pitchFamily="49" charset="-122"/>
              </a:rPr>
              <a:t>   孤立系统中一切实际过程是从热力学概率或无序度小的状态向热力学概率大的状态进行，一切实际过程，是从非平衡态趋于平衡态的过程，都是不可逆的，向着熵增加、热力学概率和无序度增大的方向进行。</a:t>
            </a:r>
            <a:r>
              <a:rPr lang="zh-CN" altLang="en-US" sz="3200" b="1" dirty="0">
                <a:solidFill>
                  <a:srgbClr val="FF3300"/>
                </a:solidFill>
                <a:latin typeface="楷体_GB2312" pitchFamily="49" charset="-122"/>
                <a:ea typeface="楷体_GB2312" pitchFamily="49" charset="-122"/>
              </a:rPr>
              <a:t>这也是热力学第二定律的统计意义。</a:t>
            </a:r>
          </a:p>
        </p:txBody>
      </p:sp>
    </p:spTree>
    <p:extLst>
      <p:ext uri="{BB962C8B-B14F-4D97-AF65-F5344CB8AC3E}">
        <p14:creationId xmlns:p14="http://schemas.microsoft.com/office/powerpoint/2010/main" val="82717702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9442"/>
                                        </p:tgtEl>
                                        <p:attrNameLst>
                                          <p:attrName>style.visibility</p:attrName>
                                        </p:attrNameLst>
                                      </p:cBhvr>
                                      <p:to>
                                        <p:strVal val="visible"/>
                                      </p:to>
                                    </p:set>
                                    <p:anim calcmode="lin" valueType="num">
                                      <p:cBhvr additive="base">
                                        <p:cTn id="7" dur="500" fill="hold"/>
                                        <p:tgtEl>
                                          <p:spTgt spid="189442"/>
                                        </p:tgtEl>
                                        <p:attrNameLst>
                                          <p:attrName>ppt_x</p:attrName>
                                        </p:attrNameLst>
                                      </p:cBhvr>
                                      <p:tavLst>
                                        <p:tav tm="0">
                                          <p:val>
                                            <p:strVal val="0-#ppt_w/2"/>
                                          </p:val>
                                        </p:tav>
                                        <p:tav tm="100000">
                                          <p:val>
                                            <p:strVal val="#ppt_x"/>
                                          </p:val>
                                        </p:tav>
                                      </p:tavLst>
                                    </p:anim>
                                    <p:anim calcmode="lin" valueType="num">
                                      <p:cBhvr additive="base">
                                        <p:cTn id="8" dur="500" fill="hold"/>
                                        <p:tgtEl>
                                          <p:spTgt spid="1894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linds(horizontal)">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89443">
                                            <p:txEl>
                                              <p:pRg st="0" end="0"/>
                                            </p:txEl>
                                          </p:spTgt>
                                        </p:tgtEl>
                                        <p:attrNameLst>
                                          <p:attrName>style.visibility</p:attrName>
                                        </p:attrNameLst>
                                      </p:cBhvr>
                                      <p:to>
                                        <p:strVal val="visible"/>
                                      </p:to>
                                    </p:set>
                                    <p:anim calcmode="lin" valueType="num">
                                      <p:cBhvr additive="base">
                                        <p:cTn id="18" dur="500" fill="hold"/>
                                        <p:tgtEl>
                                          <p:spTgt spid="189443">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8944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autoUpdateAnimBg="0"/>
      <p:bldP spid="189443" grpId="0" build="p" autoUpdateAnimBg="0"/>
      <p:bldP spid="11"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Box 2"/>
          <p:cNvSpPr txBox="1">
            <a:spLocks noChangeArrowheads="1"/>
          </p:cNvSpPr>
          <p:nvPr/>
        </p:nvSpPr>
        <p:spPr bwMode="auto">
          <a:xfrm>
            <a:off x="381000" y="260350"/>
            <a:ext cx="1143000" cy="64135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19050">
                <a:solidFill>
                  <a:schemeClr val="tx1"/>
                </a:solidFill>
                <a:miter lim="800000"/>
                <a:headEnd/>
                <a:tailEnd type="none" w="med" len="lg"/>
              </a14:hiddenLine>
            </a:ext>
          </a:extLst>
        </p:spPr>
        <p:txBody>
          <a:bodyPr>
            <a:spAutoFit/>
          </a:bodyPr>
          <a:lstStyle/>
          <a:p>
            <a:pPr algn="l">
              <a:spcBef>
                <a:spcPct val="50000"/>
              </a:spcBef>
              <a:defRPr/>
            </a:pPr>
            <a:r>
              <a:rPr lang="zh-CN" altLang="en-US" sz="3600" b="1">
                <a:solidFill>
                  <a:srgbClr val="FF3300"/>
                </a:solidFill>
                <a:effectLst>
                  <a:outerShdw blurRad="38100" dist="38100" dir="2700000" algn="tl">
                    <a:srgbClr val="000000"/>
                  </a:outerShdw>
                </a:effectLst>
                <a:latin typeface="Century Schoolbook" pitchFamily="18" charset="0"/>
              </a:rPr>
              <a:t>注意</a:t>
            </a:r>
          </a:p>
        </p:txBody>
      </p:sp>
      <p:sp>
        <p:nvSpPr>
          <p:cNvPr id="191491" name="Text Box 3"/>
          <p:cNvSpPr txBox="1">
            <a:spLocks noChangeArrowheads="1"/>
          </p:cNvSpPr>
          <p:nvPr/>
        </p:nvSpPr>
        <p:spPr bwMode="auto">
          <a:xfrm>
            <a:off x="381000" y="1022350"/>
            <a:ext cx="8534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lang="en-US" altLang="zh-CN" sz="3200" b="1" dirty="0">
                <a:solidFill>
                  <a:schemeClr val="accent2"/>
                </a:solidFill>
                <a:latin typeface="Century Schoolbook" pitchFamily="18" charset="0"/>
              </a:rPr>
              <a:t>     </a:t>
            </a:r>
            <a:r>
              <a:rPr lang="zh-CN" altLang="en-US" sz="3200" b="1" dirty="0">
                <a:solidFill>
                  <a:schemeClr val="accent2"/>
                </a:solidFill>
                <a:latin typeface="Century Schoolbook" pitchFamily="18" charset="0"/>
              </a:rPr>
              <a:t>熵增原理只适用于</a:t>
            </a:r>
            <a:r>
              <a:rPr lang="zh-CN" altLang="en-US" sz="3200" b="1" dirty="0">
                <a:solidFill>
                  <a:srgbClr val="FF3300"/>
                </a:solidFill>
                <a:latin typeface="Century Schoolbook" pitchFamily="18" charset="0"/>
              </a:rPr>
              <a:t>孤立系统</a:t>
            </a:r>
            <a:r>
              <a:rPr lang="zh-CN" altLang="en-US" sz="3200" b="1" dirty="0">
                <a:solidFill>
                  <a:schemeClr val="accent2"/>
                </a:solidFill>
                <a:latin typeface="Century Schoolbook" pitchFamily="18" charset="0"/>
              </a:rPr>
              <a:t>、</a:t>
            </a:r>
            <a:r>
              <a:rPr lang="zh-CN" altLang="en-US" sz="3200" b="1" dirty="0">
                <a:solidFill>
                  <a:srgbClr val="FF3300"/>
                </a:solidFill>
                <a:latin typeface="Century Schoolbook" pitchFamily="18" charset="0"/>
              </a:rPr>
              <a:t>不可逆过程</a:t>
            </a:r>
            <a:r>
              <a:rPr lang="zh-CN" altLang="en-US" sz="3200" b="1" dirty="0">
                <a:solidFill>
                  <a:schemeClr val="accent2"/>
                </a:solidFill>
                <a:latin typeface="Century Schoolbook" pitchFamily="18" charset="0"/>
              </a:rPr>
              <a:t>，对于</a:t>
            </a:r>
            <a:r>
              <a:rPr lang="zh-CN" altLang="en-US" sz="3200" b="1" dirty="0">
                <a:solidFill>
                  <a:srgbClr val="FF0000"/>
                </a:solidFill>
                <a:latin typeface="Century Schoolbook" pitchFamily="18" charset="0"/>
              </a:rPr>
              <a:t>开放系统</a:t>
            </a:r>
            <a:r>
              <a:rPr lang="en-US" altLang="zh-CN" sz="3200" b="1" dirty="0">
                <a:solidFill>
                  <a:srgbClr val="FF0000"/>
                </a:solidFill>
                <a:latin typeface="Century Schoolbook" pitchFamily="18" charset="0"/>
              </a:rPr>
              <a:t>,</a:t>
            </a:r>
            <a:r>
              <a:rPr lang="zh-CN" altLang="en-US" sz="3200" b="1" dirty="0">
                <a:solidFill>
                  <a:srgbClr val="FF0000"/>
                </a:solidFill>
                <a:latin typeface="Century Schoolbook" pitchFamily="18" charset="0"/>
              </a:rPr>
              <a:t>其过程熵可增可减</a:t>
            </a:r>
            <a:r>
              <a:rPr lang="zh-CN" altLang="en-US" sz="3200" b="1" dirty="0">
                <a:solidFill>
                  <a:schemeClr val="accent2"/>
                </a:solidFill>
                <a:latin typeface="Century Schoolbook" pitchFamily="18" charset="0"/>
              </a:rPr>
              <a:t>，具体情况具体分析。</a:t>
            </a:r>
          </a:p>
        </p:txBody>
      </p:sp>
      <p:sp>
        <p:nvSpPr>
          <p:cNvPr id="191492" name="Text Box 4"/>
          <p:cNvSpPr txBox="1">
            <a:spLocks noChangeArrowheads="1"/>
          </p:cNvSpPr>
          <p:nvPr/>
        </p:nvSpPr>
        <p:spPr bwMode="auto">
          <a:xfrm>
            <a:off x="304800" y="4756150"/>
            <a:ext cx="8610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dirty="0">
                <a:solidFill>
                  <a:schemeClr val="accent2"/>
                </a:solidFill>
                <a:latin typeface="宋体" pitchFamily="2" charset="-122"/>
              </a:rPr>
              <a:t>    </a:t>
            </a:r>
            <a:r>
              <a:rPr lang="zh-CN" altLang="en-US" sz="2400" b="1" dirty="0">
                <a:solidFill>
                  <a:schemeClr val="accent2"/>
                </a:solidFill>
                <a:latin typeface="宋体" pitchFamily="2" charset="-122"/>
              </a:rPr>
              <a:t>每利用一份能量，就会得到一定的惩罚</a:t>
            </a:r>
            <a:r>
              <a:rPr lang="en-US" altLang="zh-CN" sz="2400" b="1" dirty="0">
                <a:solidFill>
                  <a:schemeClr val="accent2"/>
                </a:solidFill>
                <a:latin typeface="宋体" pitchFamily="2" charset="-122"/>
              </a:rPr>
              <a:t>--</a:t>
            </a:r>
            <a:r>
              <a:rPr lang="zh-CN" altLang="en-US" sz="2400" b="1" dirty="0">
                <a:solidFill>
                  <a:schemeClr val="accent2"/>
                </a:solidFill>
                <a:latin typeface="宋体" pitchFamily="2" charset="-122"/>
              </a:rPr>
              <a:t>把一部分本来可以利用的能量变为退化的能量；可以证明：退化的能量实际上就是环境污染的代名词。节约能源就是保护环境。而保护环境就是保护人类的生存条件，非同小可。 </a:t>
            </a:r>
          </a:p>
        </p:txBody>
      </p:sp>
      <p:sp>
        <p:nvSpPr>
          <p:cNvPr id="191493" name="Text Box 5"/>
          <p:cNvSpPr txBox="1">
            <a:spLocks noChangeArrowheads="1"/>
          </p:cNvSpPr>
          <p:nvPr/>
        </p:nvSpPr>
        <p:spPr bwMode="auto">
          <a:xfrm>
            <a:off x="228600" y="2852738"/>
            <a:ext cx="86106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solidFill>
                  <a:schemeClr val="accent2"/>
                </a:solidFill>
                <a:latin typeface="宋体" pitchFamily="2" charset="-122"/>
              </a:rPr>
              <a:t>1</a:t>
            </a:r>
            <a:r>
              <a:rPr lang="zh-CN" altLang="en-US" sz="2800" b="1">
                <a:solidFill>
                  <a:schemeClr val="accent2"/>
                </a:solidFill>
                <a:latin typeface="宋体" pitchFamily="2" charset="-122"/>
              </a:rPr>
              <a:t>）自然界的实际过程都是不可逆过程，即熵增加的过程，大量能源的使用加速了这一过程。而熵的增加导致了世界混乱度的增加。</a:t>
            </a:r>
          </a:p>
        </p:txBody>
      </p:sp>
    </p:spTree>
    <p:extLst>
      <p:ext uri="{BB962C8B-B14F-4D97-AF65-F5344CB8AC3E}">
        <p14:creationId xmlns:p14="http://schemas.microsoft.com/office/powerpoint/2010/main" val="66168370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91491"/>
                                        </p:tgtEl>
                                        <p:attrNameLst>
                                          <p:attrName>style.visibility</p:attrName>
                                        </p:attrNameLst>
                                      </p:cBhvr>
                                      <p:to>
                                        <p:strVal val="visible"/>
                                      </p:to>
                                    </p:set>
                                    <p:animEffect transition="in" filter="wipe(left)">
                                      <p:cBhvr>
                                        <p:cTn id="7" dur="75"/>
                                        <p:tgtEl>
                                          <p:spTgt spid="1914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91493"/>
                                        </p:tgtEl>
                                        <p:attrNameLst>
                                          <p:attrName>style.visibility</p:attrName>
                                        </p:attrNameLst>
                                      </p:cBhvr>
                                      <p:to>
                                        <p:strVal val="visible"/>
                                      </p:to>
                                    </p:set>
                                    <p:animEffect transition="in" filter="strips(downRight)">
                                      <p:cBhvr>
                                        <p:cTn id="12" dur="500"/>
                                        <p:tgtEl>
                                          <p:spTgt spid="1914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91492"/>
                                        </p:tgtEl>
                                        <p:attrNameLst>
                                          <p:attrName>style.visibility</p:attrName>
                                        </p:attrNameLst>
                                      </p:cBhvr>
                                      <p:to>
                                        <p:strVal val="visible"/>
                                      </p:to>
                                    </p:set>
                                    <p:animEffect transition="in" filter="strips(downRight)">
                                      <p:cBhvr>
                                        <p:cTn id="17" dur="500"/>
                                        <p:tgtEl>
                                          <p:spTgt spid="191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autoUpdateAnimBg="0"/>
      <p:bldP spid="191492" grpId="0" autoUpdateAnimBg="0"/>
      <p:bldP spid="191493"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250825" y="476250"/>
            <a:ext cx="43211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zh-CN" altLang="en-US" sz="3200" b="1" i="1">
                <a:solidFill>
                  <a:srgbClr val="FF3300"/>
                </a:solidFill>
                <a:latin typeface="Arial" pitchFamily="34" charset="0"/>
              </a:rPr>
              <a:t>热寂说是错误的</a:t>
            </a:r>
          </a:p>
        </p:txBody>
      </p:sp>
      <p:sp>
        <p:nvSpPr>
          <p:cNvPr id="72707" name="Text Box 3"/>
          <p:cNvSpPr txBox="1">
            <a:spLocks noChangeArrowheads="1"/>
          </p:cNvSpPr>
          <p:nvPr/>
        </p:nvSpPr>
        <p:spPr bwMode="auto">
          <a:xfrm>
            <a:off x="323850" y="1412875"/>
            <a:ext cx="8569325"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2400">
                <a:latin typeface="Arial" pitchFamily="34" charset="0"/>
              </a:rPr>
              <a:t>      </a:t>
            </a:r>
            <a:r>
              <a:rPr kumimoji="0" lang="zh-CN" altLang="en-US" sz="2400" b="1">
                <a:latin typeface="Arial" pitchFamily="34" charset="0"/>
              </a:rPr>
              <a:t>克劳修斯把熵增加原理应用到无限的宇宙中，他于</a:t>
            </a:r>
            <a:r>
              <a:rPr kumimoji="0" lang="en-US" altLang="zh-CN" sz="2400" b="1">
                <a:latin typeface="Arial" pitchFamily="34" charset="0"/>
              </a:rPr>
              <a:t>1865</a:t>
            </a:r>
            <a:r>
              <a:rPr kumimoji="0" lang="zh-CN" altLang="en-US" sz="2400" b="1">
                <a:latin typeface="Arial" pitchFamily="34" charset="0"/>
              </a:rPr>
              <a:t>年指出，将整个宇宙当成一个孤立系统，认为宇宙的</a:t>
            </a:r>
            <a:r>
              <a:rPr kumimoji="0" lang="zh-CN" altLang="en-US" sz="2400" b="1">
                <a:latin typeface="Arial" pitchFamily="34" charset="0"/>
                <a:hlinkClick r:id="rId2"/>
              </a:rPr>
              <a:t>熵</a:t>
            </a:r>
            <a:r>
              <a:rPr kumimoji="0" lang="zh-CN" altLang="en-US" sz="2400" b="1">
                <a:latin typeface="Arial" pitchFamily="34" charset="0"/>
              </a:rPr>
              <a:t>会趋向极大，最终达到</a:t>
            </a:r>
            <a:r>
              <a:rPr kumimoji="0" lang="zh-CN" altLang="en-US" sz="2400" b="1">
                <a:latin typeface="Arial" pitchFamily="34" charset="0"/>
                <a:hlinkClick r:id="rId3"/>
              </a:rPr>
              <a:t>热平衡状态</a:t>
            </a:r>
            <a:r>
              <a:rPr kumimoji="0" lang="zh-CN" altLang="en-US" sz="2400" b="1">
                <a:latin typeface="Arial" pitchFamily="34" charset="0"/>
              </a:rPr>
              <a:t>，即宇宙每个地方的温度都相等，那就任何进一步的变化都不会发生了，这时宇宙就会进入一个死寂的永恒状态”，这就是</a:t>
            </a:r>
            <a:r>
              <a:rPr kumimoji="0" lang="zh-CN" altLang="en-US" sz="2400" b="1">
                <a:solidFill>
                  <a:srgbClr val="FF3300"/>
                </a:solidFill>
                <a:latin typeface="Arial" pitchFamily="34" charset="0"/>
              </a:rPr>
              <a:t>“热寂说”</a:t>
            </a:r>
            <a:r>
              <a:rPr kumimoji="0" lang="zh-CN" altLang="en-US" sz="2400">
                <a:latin typeface="Arial" pitchFamily="34" charset="0"/>
              </a:rPr>
              <a:t>。</a:t>
            </a:r>
            <a:endParaRPr kumimoji="0" lang="en-US" altLang="zh-CN" sz="2400">
              <a:latin typeface="Arial" pitchFamily="34" charset="0"/>
            </a:endParaRPr>
          </a:p>
          <a:p>
            <a:pPr algn="l" eaLnBrk="1" hangingPunct="1">
              <a:spcBef>
                <a:spcPct val="50000"/>
              </a:spcBef>
            </a:pPr>
            <a:r>
              <a:rPr kumimoji="0" lang="zh-CN" altLang="en-US" sz="2400" b="1">
                <a:solidFill>
                  <a:srgbClr val="FF3300"/>
                </a:solidFill>
                <a:latin typeface="Arial" pitchFamily="34" charset="0"/>
              </a:rPr>
              <a:t>该观点是错误的</a:t>
            </a:r>
            <a:r>
              <a:rPr kumimoji="0" lang="zh-CN" altLang="en-US" sz="2400">
                <a:solidFill>
                  <a:srgbClr val="FF3300"/>
                </a:solidFill>
                <a:latin typeface="Arial" pitchFamily="34" charset="0"/>
              </a:rPr>
              <a:t>。</a:t>
            </a:r>
            <a:endParaRPr kumimoji="0" lang="en-US" altLang="zh-CN" sz="2400">
              <a:solidFill>
                <a:srgbClr val="FF3300"/>
              </a:solidFill>
              <a:latin typeface="Arial" pitchFamily="34" charset="0"/>
            </a:endParaRPr>
          </a:p>
        </p:txBody>
      </p:sp>
      <p:sp>
        <p:nvSpPr>
          <p:cNvPr id="72708" name="Text Box 4"/>
          <p:cNvSpPr txBox="1">
            <a:spLocks noChangeArrowheads="1"/>
          </p:cNvSpPr>
          <p:nvPr/>
        </p:nvSpPr>
        <p:spPr bwMode="auto">
          <a:xfrm>
            <a:off x="228311" y="3907904"/>
            <a:ext cx="1152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zh-CN" altLang="en-US" sz="2400" b="1">
                <a:solidFill>
                  <a:srgbClr val="FF3300"/>
                </a:solidFill>
                <a:latin typeface="Arial" pitchFamily="34" charset="0"/>
              </a:rPr>
              <a:t>因为：</a:t>
            </a:r>
          </a:p>
        </p:txBody>
      </p:sp>
      <p:sp>
        <p:nvSpPr>
          <p:cNvPr id="72709" name="Text Box 5"/>
          <p:cNvSpPr txBox="1">
            <a:spLocks noChangeArrowheads="1"/>
          </p:cNvSpPr>
          <p:nvPr/>
        </p:nvSpPr>
        <p:spPr bwMode="auto">
          <a:xfrm>
            <a:off x="827584" y="4407247"/>
            <a:ext cx="7850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2400" b="1">
                <a:latin typeface="Arial" pitchFamily="34" charset="0"/>
              </a:rPr>
              <a:t>1</a:t>
            </a:r>
            <a:r>
              <a:rPr kumimoji="0" lang="zh-CN" altLang="en-US" sz="2400" b="1">
                <a:latin typeface="Arial" pitchFamily="34" charset="0"/>
              </a:rPr>
              <a:t>、宇宙是无限的，热力学第二定律不能绝对化地应用。</a:t>
            </a:r>
          </a:p>
        </p:txBody>
      </p:sp>
      <p:sp>
        <p:nvSpPr>
          <p:cNvPr id="72710" name="Text Box 6"/>
          <p:cNvSpPr txBox="1">
            <a:spLocks noChangeArrowheads="1"/>
          </p:cNvSpPr>
          <p:nvPr/>
        </p:nvSpPr>
        <p:spPr bwMode="auto">
          <a:xfrm>
            <a:off x="827584" y="5054947"/>
            <a:ext cx="7848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en-US" altLang="zh-CN" sz="2400" b="1">
                <a:latin typeface="Arial" pitchFamily="34" charset="0"/>
              </a:rPr>
              <a:t>2</a:t>
            </a:r>
            <a:r>
              <a:rPr kumimoji="0" lang="zh-CN" altLang="en-US" sz="2400" b="1">
                <a:latin typeface="Arial" pitchFamily="34" charset="0"/>
              </a:rPr>
              <a:t>、从能量角度来考虑，热寂说只考虑到物质和能量从集中到分散这一变化过程。</a:t>
            </a:r>
          </a:p>
        </p:txBody>
      </p:sp>
      <p:sp>
        <p:nvSpPr>
          <p:cNvPr id="72711" name="Text Box 7"/>
          <p:cNvSpPr txBox="1">
            <a:spLocks noChangeArrowheads="1"/>
          </p:cNvSpPr>
          <p:nvPr/>
        </p:nvSpPr>
        <p:spPr bwMode="auto">
          <a:xfrm>
            <a:off x="1331913" y="6078240"/>
            <a:ext cx="41767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50000"/>
              </a:spcBef>
            </a:pPr>
            <a:r>
              <a:rPr kumimoji="0" lang="zh-CN" altLang="en-US" sz="2800" b="1">
                <a:solidFill>
                  <a:srgbClr val="FF3300"/>
                </a:solidFill>
                <a:latin typeface="Arial" pitchFamily="34" charset="0"/>
              </a:rPr>
              <a:t>宇宙绝不会走向死亡！</a:t>
            </a:r>
          </a:p>
        </p:txBody>
      </p:sp>
    </p:spTree>
    <p:extLst>
      <p:ext uri="{BB962C8B-B14F-4D97-AF65-F5344CB8AC3E}">
        <p14:creationId xmlns:p14="http://schemas.microsoft.com/office/powerpoint/2010/main" val="2337668484"/>
      </p:ext>
    </p:extLst>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ext Box 2"/>
          <p:cNvSpPr txBox="1">
            <a:spLocks noChangeArrowheads="1"/>
          </p:cNvSpPr>
          <p:nvPr/>
        </p:nvSpPr>
        <p:spPr bwMode="auto">
          <a:xfrm>
            <a:off x="177800" y="131763"/>
            <a:ext cx="42941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solidFill>
                  <a:schemeClr val="accent2"/>
                </a:solidFill>
                <a:latin typeface="宋体" pitchFamily="2" charset="-122"/>
                <a:sym typeface="Wingdings" pitchFamily="2" charset="2"/>
              </a:rPr>
              <a:t>2) </a:t>
            </a:r>
            <a:r>
              <a:rPr lang="zh-CN" altLang="en-US" sz="2800" b="1">
                <a:solidFill>
                  <a:schemeClr val="accent2"/>
                </a:solidFill>
                <a:latin typeface="宋体" pitchFamily="2" charset="-122"/>
                <a:sym typeface="Wingdings" pitchFamily="2" charset="2"/>
              </a:rPr>
              <a:t>熵是事物无序度的量度</a:t>
            </a:r>
            <a:endParaRPr lang="zh-CN" altLang="en-US" sz="2800" b="1">
              <a:solidFill>
                <a:schemeClr val="accent2"/>
              </a:solidFill>
              <a:latin typeface="宋体" pitchFamily="2" charset="-122"/>
            </a:endParaRPr>
          </a:p>
        </p:txBody>
      </p:sp>
      <p:graphicFrame>
        <p:nvGraphicFramePr>
          <p:cNvPr id="73731" name="Object 3"/>
          <p:cNvGraphicFramePr>
            <a:graphicFrameLocks noChangeAspect="1"/>
          </p:cNvGraphicFramePr>
          <p:nvPr/>
        </p:nvGraphicFramePr>
        <p:xfrm>
          <a:off x="6283325" y="152400"/>
          <a:ext cx="2236788" cy="585788"/>
        </p:xfrm>
        <a:graphic>
          <a:graphicData uri="http://schemas.openxmlformats.org/presentationml/2006/ole">
            <mc:AlternateContent xmlns:mc="http://schemas.openxmlformats.org/markup-compatibility/2006">
              <mc:Choice xmlns:v="urn:schemas-microsoft-com:vml" Requires="v">
                <p:oleObj spid="_x0000_s131292" name="公式" r:id="rId3" imgW="609600" imgH="114300" progId="Equation.3">
                  <p:embed/>
                </p:oleObj>
              </mc:Choice>
              <mc:Fallback>
                <p:oleObj name="公式" r:id="rId3" imgW="609600" imgH="114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3325" y="152400"/>
                        <a:ext cx="2236788" cy="58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2516" name="Text Box 4"/>
          <p:cNvSpPr txBox="1">
            <a:spLocks noChangeArrowheads="1"/>
          </p:cNvSpPr>
          <p:nvPr/>
        </p:nvSpPr>
        <p:spPr bwMode="auto">
          <a:xfrm>
            <a:off x="304800" y="654050"/>
            <a:ext cx="8382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400" b="1">
                <a:solidFill>
                  <a:schemeClr val="accent2"/>
                </a:solidFill>
                <a:latin typeface="宋体" pitchFamily="2" charset="-122"/>
              </a:rPr>
              <a:t>   </a:t>
            </a:r>
            <a:r>
              <a:rPr lang="zh-CN" altLang="en-US" sz="2400" b="1">
                <a:solidFill>
                  <a:schemeClr val="accent2"/>
                </a:solidFill>
                <a:latin typeface="宋体" pitchFamily="2" charset="-122"/>
              </a:rPr>
              <a:t>因为熵是与微观状态的对数成正比的，微观状态数越大，混乱度就越大。</a:t>
            </a:r>
          </a:p>
        </p:txBody>
      </p:sp>
      <p:sp>
        <p:nvSpPr>
          <p:cNvPr id="192517" name="Text Box 5"/>
          <p:cNvSpPr txBox="1">
            <a:spLocks noChangeArrowheads="1"/>
          </p:cNvSpPr>
          <p:nvPr/>
        </p:nvSpPr>
        <p:spPr bwMode="auto">
          <a:xfrm>
            <a:off x="250825" y="1573213"/>
            <a:ext cx="8534400" cy="2554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b="1">
                <a:solidFill>
                  <a:srgbClr val="FF3300"/>
                </a:solidFill>
                <a:ea typeface="楷体_GB2312" pitchFamily="49" charset="-122"/>
              </a:rPr>
              <a:t>     </a:t>
            </a:r>
            <a:r>
              <a:rPr lang="zh-CN" altLang="en-US" b="1">
                <a:solidFill>
                  <a:srgbClr val="FF3300"/>
                </a:solidFill>
                <a:ea typeface="楷体_GB2312" pitchFamily="49" charset="-122"/>
              </a:rPr>
              <a:t>在信息论中，</a:t>
            </a:r>
            <a:r>
              <a:rPr lang="zh-CN" altLang="en-US"/>
              <a:t>信息量所表示的是体系的有序度、组织结构程度、复杂性、特异性或进化发展程度。这是熵（无序度、不定度、混乱度）的矛盾对立面，</a:t>
            </a:r>
            <a:r>
              <a:rPr lang="zh-CN" altLang="en-US" b="1">
                <a:solidFill>
                  <a:srgbClr val="FF3300"/>
                </a:solidFill>
                <a:ea typeface="楷体_GB2312" pitchFamily="49" charset="-122"/>
              </a:rPr>
              <a:t>熵可用作某事件不确定度的量度。信息量越大，体系结构越规则，功能越完善，熵就越小。利用熵的概念 ，可以从理论上研究信息的计量 、传递 、变换 、存储。此外，熵在控制论、概率论、数论、天体物理、生命科学等领域也都有一定的应用。</a:t>
            </a:r>
            <a:r>
              <a:rPr lang="zh-CN" altLang="en-US" b="1">
                <a:ea typeface="楷体_GB2312" pitchFamily="49" charset="-122"/>
              </a:rPr>
              <a:t>一个系统的状态越是有序，它给予的信息就越多。 因此，熵的增加意味着信息的减少。所以玻尔兹曼认为，熵是一个系统失去信息的量度，或者说</a:t>
            </a:r>
            <a:r>
              <a:rPr lang="zh-CN" altLang="en-US" b="1">
                <a:solidFill>
                  <a:srgbClr val="FF3300"/>
                </a:solidFill>
                <a:ea typeface="楷体_GB2312" pitchFamily="49" charset="-122"/>
              </a:rPr>
              <a:t>信息就是负熵。 </a:t>
            </a:r>
          </a:p>
        </p:txBody>
      </p:sp>
      <p:sp>
        <p:nvSpPr>
          <p:cNvPr id="192518" name="Text Box 6"/>
          <p:cNvSpPr txBox="1">
            <a:spLocks noChangeArrowheads="1"/>
          </p:cNvSpPr>
          <p:nvPr/>
        </p:nvSpPr>
        <p:spPr bwMode="auto">
          <a:xfrm>
            <a:off x="0" y="4365625"/>
            <a:ext cx="46434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solidFill>
                  <a:schemeClr val="hlink"/>
                </a:solidFill>
                <a:latin typeface="宋体" pitchFamily="2" charset="-122"/>
                <a:sym typeface="Wingdings" pitchFamily="2" charset="2"/>
              </a:rPr>
              <a:t>3)</a:t>
            </a:r>
            <a:r>
              <a:rPr lang="zh-CN" altLang="en-US" sz="3600" b="1">
                <a:solidFill>
                  <a:schemeClr val="hlink"/>
                </a:solidFill>
                <a:ea typeface="楷体_GB2312" pitchFamily="49" charset="-122"/>
              </a:rPr>
              <a:t>对开放系统的熵变</a:t>
            </a:r>
          </a:p>
        </p:txBody>
      </p:sp>
      <p:graphicFrame>
        <p:nvGraphicFramePr>
          <p:cNvPr id="192519" name="Object 7"/>
          <p:cNvGraphicFramePr>
            <a:graphicFrameLocks noChangeAspect="1"/>
          </p:cNvGraphicFramePr>
          <p:nvPr/>
        </p:nvGraphicFramePr>
        <p:xfrm>
          <a:off x="4356100" y="4292600"/>
          <a:ext cx="2971800" cy="723900"/>
        </p:xfrm>
        <a:graphic>
          <a:graphicData uri="http://schemas.openxmlformats.org/presentationml/2006/ole">
            <mc:AlternateContent xmlns:mc="http://schemas.openxmlformats.org/markup-compatibility/2006">
              <mc:Choice xmlns:v="urn:schemas-microsoft-com:vml" Requires="v">
                <p:oleObj spid="_x0000_s131293" name="Equation" r:id="rId5" imgW="939800" imgH="228600" progId="Equation.3">
                  <p:embed/>
                </p:oleObj>
              </mc:Choice>
              <mc:Fallback>
                <p:oleObj name="Equation" r:id="rId5" imgW="9398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6100" y="4292600"/>
                        <a:ext cx="2971800" cy="723900"/>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2520" name="Rectangle 8"/>
          <p:cNvSpPr>
            <a:spLocks noChangeArrowheads="1"/>
          </p:cNvSpPr>
          <p:nvPr/>
        </p:nvSpPr>
        <p:spPr bwMode="auto">
          <a:xfrm>
            <a:off x="179388" y="5013325"/>
            <a:ext cx="83820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lang="en-US" altLang="zh-CN" sz="2400" b="1"/>
              <a:t>         </a:t>
            </a:r>
            <a:r>
              <a:rPr lang="zh-CN" altLang="en-US" sz="2400" b="1"/>
              <a:t>开放系统熵的改变来自两个方面：一是系统内部的不可逆过程引起熵的增加，称为熵产生 </a:t>
            </a:r>
            <a:r>
              <a:rPr lang="en-US" altLang="zh-CN" sz="2400" b="1"/>
              <a:t>dS</a:t>
            </a:r>
            <a:r>
              <a:rPr lang="en-US" altLang="zh-CN" sz="2400" b="1" baseline="-25000"/>
              <a:t>i</a:t>
            </a:r>
            <a:r>
              <a:rPr lang="en-US" altLang="zh-CN" sz="2400" b="1"/>
              <a:t> ≥0 </a:t>
            </a:r>
            <a:r>
              <a:rPr lang="zh-CN" altLang="en-US" sz="2400" b="1"/>
              <a:t>，一是与外界交换能量或物质时流入系统的熵，称为熵流</a:t>
            </a:r>
            <a:r>
              <a:rPr lang="en-US" altLang="zh-CN" sz="2400" b="1"/>
              <a:t>dS</a:t>
            </a:r>
            <a:r>
              <a:rPr lang="en-US" altLang="zh-CN" sz="2400" b="1" baseline="-25000"/>
              <a:t>e </a:t>
            </a:r>
            <a:r>
              <a:rPr lang="zh-CN" altLang="en-US" sz="2400" b="1"/>
              <a:t>（可以</a:t>
            </a:r>
            <a:r>
              <a:rPr lang="en-US" altLang="zh-CN" sz="2400" b="1"/>
              <a:t>dS</a:t>
            </a:r>
            <a:r>
              <a:rPr lang="en-US" altLang="zh-CN" sz="2400" b="1" baseline="-25000"/>
              <a:t>e</a:t>
            </a:r>
            <a:r>
              <a:rPr lang="en-US" altLang="zh-CN" sz="2400" b="1"/>
              <a:t>﹤0 </a:t>
            </a:r>
            <a:r>
              <a:rPr lang="zh-CN" altLang="en-US" sz="2400" b="1"/>
              <a:t>），系统熵的增量为：</a:t>
            </a:r>
            <a:r>
              <a:rPr lang="en-US" altLang="zh-CN" sz="2400" b="1"/>
              <a:t>dS = dS</a:t>
            </a:r>
            <a:r>
              <a:rPr lang="en-US" altLang="zh-CN" sz="2400" b="1" baseline="-25000"/>
              <a:t>i</a:t>
            </a:r>
            <a:r>
              <a:rPr lang="en-US" altLang="zh-CN" sz="2400" b="1"/>
              <a:t> + dS</a:t>
            </a:r>
            <a:r>
              <a:rPr lang="en-US" altLang="zh-CN" sz="2400" b="1" baseline="-25000"/>
              <a:t>e</a:t>
            </a:r>
            <a:r>
              <a:rPr lang="en-US" altLang="zh-CN" sz="2400" b="1"/>
              <a:t> </a:t>
            </a:r>
            <a:r>
              <a:rPr lang="zh-CN" altLang="en-US" sz="2400" b="1"/>
              <a:t>，</a:t>
            </a:r>
            <a:r>
              <a:rPr lang="en-US" altLang="zh-CN" sz="2400" b="1"/>
              <a:t>(</a:t>
            </a:r>
            <a:r>
              <a:rPr lang="zh-CN" altLang="en-US" sz="2400" b="1"/>
              <a:t>可以</a:t>
            </a:r>
            <a:r>
              <a:rPr lang="en-US" altLang="zh-CN" sz="2400" b="1"/>
              <a:t>dS﹤0 </a:t>
            </a:r>
            <a:r>
              <a:rPr lang="zh-CN" altLang="en-US" sz="2400" b="1"/>
              <a:t>）。</a:t>
            </a:r>
          </a:p>
        </p:txBody>
      </p:sp>
    </p:spTree>
    <p:extLst>
      <p:ext uri="{BB962C8B-B14F-4D97-AF65-F5344CB8AC3E}">
        <p14:creationId xmlns:p14="http://schemas.microsoft.com/office/powerpoint/2010/main" val="188937192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2514"/>
                                        </p:tgtEl>
                                        <p:attrNameLst>
                                          <p:attrName>style.visibility</p:attrName>
                                        </p:attrNameLst>
                                      </p:cBhvr>
                                      <p:to>
                                        <p:strVal val="visible"/>
                                      </p:to>
                                    </p:set>
                                    <p:animEffect transition="in" filter="wipe(left)">
                                      <p:cBhvr>
                                        <p:cTn id="7" dur="500"/>
                                        <p:tgtEl>
                                          <p:spTgt spid="1925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92516"/>
                                        </p:tgtEl>
                                        <p:attrNameLst>
                                          <p:attrName>style.visibility</p:attrName>
                                        </p:attrNameLst>
                                      </p:cBhvr>
                                      <p:to>
                                        <p:strVal val="visible"/>
                                      </p:to>
                                    </p:set>
                                    <p:animEffect transition="in" filter="strips(downRight)">
                                      <p:cBhvr>
                                        <p:cTn id="12" dur="500"/>
                                        <p:tgtEl>
                                          <p:spTgt spid="1925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92517"/>
                                        </p:tgtEl>
                                        <p:attrNameLst>
                                          <p:attrName>style.visibility</p:attrName>
                                        </p:attrNameLst>
                                      </p:cBhvr>
                                      <p:to>
                                        <p:strVal val="visible"/>
                                      </p:to>
                                    </p:set>
                                    <p:animEffect transition="in" filter="strips(downRight)">
                                      <p:cBhvr>
                                        <p:cTn id="17" dur="500"/>
                                        <p:tgtEl>
                                          <p:spTgt spid="1925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2518"/>
                                        </p:tgtEl>
                                        <p:attrNameLst>
                                          <p:attrName>style.visibility</p:attrName>
                                        </p:attrNameLst>
                                      </p:cBhvr>
                                      <p:to>
                                        <p:strVal val="visible"/>
                                      </p:to>
                                    </p:set>
                                    <p:animEffect transition="in" filter="wipe(left)">
                                      <p:cBhvr>
                                        <p:cTn id="22" dur="500"/>
                                        <p:tgtEl>
                                          <p:spTgt spid="1925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192519"/>
                                        </p:tgtEl>
                                        <p:attrNameLst>
                                          <p:attrName>style.visibility</p:attrName>
                                        </p:attrNameLst>
                                      </p:cBhvr>
                                      <p:to>
                                        <p:strVal val="visible"/>
                                      </p:to>
                                    </p:set>
                                    <p:animEffect transition="in" filter="box(out)">
                                      <p:cBhvr>
                                        <p:cTn id="27" dur="500"/>
                                        <p:tgtEl>
                                          <p:spTgt spid="1925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92520"/>
                                        </p:tgtEl>
                                        <p:attrNameLst>
                                          <p:attrName>style.visibility</p:attrName>
                                        </p:attrNameLst>
                                      </p:cBhvr>
                                      <p:to>
                                        <p:strVal val="visible"/>
                                      </p:to>
                                    </p:set>
                                    <p:animEffect transition="in" filter="blinds(horizontal)">
                                      <p:cBhvr>
                                        <p:cTn id="32" dur="500"/>
                                        <p:tgtEl>
                                          <p:spTgt spid="192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4" grpId="0" autoUpdateAnimBg="0"/>
      <p:bldP spid="192516" grpId="0" autoUpdateAnimBg="0"/>
      <p:bldP spid="192517" grpId="0" autoUpdateAnimBg="0"/>
      <p:bldP spid="192518" grpId="0" autoUpdateAnimBg="0"/>
      <p:bldP spid="192520"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ChangeArrowheads="1"/>
          </p:cNvSpPr>
          <p:nvPr/>
        </p:nvSpPr>
        <p:spPr bwMode="auto">
          <a:xfrm>
            <a:off x="900113" y="1341438"/>
            <a:ext cx="7391400" cy="609600"/>
          </a:xfrm>
          <a:prstGeom prst="rect">
            <a:avLst/>
          </a:prstGeom>
          <a:solidFill>
            <a:srgbClr val="FFFF66"/>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zh-CN" altLang="en-US" sz="2800" b="1">
                <a:solidFill>
                  <a:schemeClr val="accent2"/>
                </a:solidFill>
              </a:rPr>
              <a:t>开放系统</a:t>
            </a:r>
            <a:r>
              <a:rPr lang="en-US" altLang="zh-CN" sz="2800" b="1">
                <a:solidFill>
                  <a:schemeClr val="accent2"/>
                </a:solidFill>
              </a:rPr>
              <a:t>---</a:t>
            </a:r>
            <a:r>
              <a:rPr lang="zh-CN" altLang="en-US" sz="2800" b="1">
                <a:solidFill>
                  <a:schemeClr val="accent2"/>
                </a:solidFill>
              </a:rPr>
              <a:t>与外界有物质和能量的交换的系统</a:t>
            </a:r>
          </a:p>
        </p:txBody>
      </p:sp>
      <p:sp>
        <p:nvSpPr>
          <p:cNvPr id="193539" name="Text Box 3"/>
          <p:cNvSpPr txBox="1">
            <a:spLocks noChangeArrowheads="1"/>
          </p:cNvSpPr>
          <p:nvPr/>
        </p:nvSpPr>
        <p:spPr bwMode="auto">
          <a:xfrm>
            <a:off x="250825" y="476250"/>
            <a:ext cx="853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chemeClr val="accent2"/>
                </a:solidFill>
              </a:rPr>
              <a:t>生命是一开放系统。其熵变由两部分组成。</a:t>
            </a:r>
          </a:p>
        </p:txBody>
      </p:sp>
      <p:sp>
        <p:nvSpPr>
          <p:cNvPr id="193540" name="Text Box 4"/>
          <p:cNvSpPr txBox="1">
            <a:spLocks noChangeArrowheads="1"/>
          </p:cNvSpPr>
          <p:nvPr/>
        </p:nvSpPr>
        <p:spPr bwMode="auto">
          <a:xfrm>
            <a:off x="639762" y="2868386"/>
            <a:ext cx="8145463"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3000" b="1" dirty="0" err="1">
                <a:solidFill>
                  <a:schemeClr val="accent2"/>
                </a:solidFill>
              </a:rPr>
              <a:t>d</a:t>
            </a:r>
            <a:r>
              <a:rPr lang="en-US" altLang="zh-CN" sz="3000" b="1" i="1" dirty="0" err="1">
                <a:solidFill>
                  <a:schemeClr val="accent2"/>
                </a:solidFill>
              </a:rPr>
              <a:t>S</a:t>
            </a:r>
            <a:r>
              <a:rPr lang="en-US" altLang="zh-CN" sz="3000" b="1" baseline="-25000" dirty="0" err="1">
                <a:solidFill>
                  <a:schemeClr val="accent2"/>
                </a:solidFill>
              </a:rPr>
              <a:t>i</a:t>
            </a:r>
            <a:r>
              <a:rPr lang="zh-CN" altLang="en-US" sz="3000" b="1" baseline="-25000" dirty="0">
                <a:solidFill>
                  <a:schemeClr val="accent2"/>
                </a:solidFill>
              </a:rPr>
              <a:t>：</a:t>
            </a:r>
            <a:r>
              <a:rPr lang="zh-CN" altLang="en-US" sz="3000" b="1" dirty="0">
                <a:solidFill>
                  <a:schemeClr val="accent2"/>
                </a:solidFill>
              </a:rPr>
              <a:t>系统自身产生的熵，总为正值。</a:t>
            </a:r>
          </a:p>
        </p:txBody>
      </p:sp>
      <p:sp>
        <p:nvSpPr>
          <p:cNvPr id="193541" name="Text Box 5"/>
          <p:cNvSpPr txBox="1">
            <a:spLocks noChangeArrowheads="1"/>
          </p:cNvSpPr>
          <p:nvPr/>
        </p:nvSpPr>
        <p:spPr bwMode="auto">
          <a:xfrm>
            <a:off x="755650" y="3789363"/>
            <a:ext cx="770413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3000" b="1">
                <a:solidFill>
                  <a:schemeClr val="accent2"/>
                </a:solidFill>
                <a:ea typeface="楷体_GB2312" pitchFamily="49" charset="-122"/>
              </a:rPr>
              <a:t>d</a:t>
            </a:r>
            <a:r>
              <a:rPr lang="en-US" altLang="zh-CN" sz="3000" b="1" i="1">
                <a:solidFill>
                  <a:schemeClr val="accent2"/>
                </a:solidFill>
                <a:ea typeface="楷体_GB2312" pitchFamily="49" charset="-122"/>
              </a:rPr>
              <a:t>S</a:t>
            </a:r>
            <a:r>
              <a:rPr lang="en-US" altLang="zh-CN" sz="3000" b="1" baseline="-25000">
                <a:solidFill>
                  <a:schemeClr val="accent2"/>
                </a:solidFill>
                <a:ea typeface="楷体_GB2312" pitchFamily="49" charset="-122"/>
              </a:rPr>
              <a:t>e</a:t>
            </a:r>
            <a:r>
              <a:rPr lang="zh-CN" altLang="en-US" sz="3000" b="1">
                <a:solidFill>
                  <a:schemeClr val="accent2"/>
                </a:solidFill>
                <a:ea typeface="楷体_GB2312" pitchFamily="49" charset="-122"/>
              </a:rPr>
              <a:t>：</a:t>
            </a:r>
            <a:r>
              <a:rPr lang="zh-CN" altLang="en-US" sz="3000" b="1">
                <a:solidFill>
                  <a:schemeClr val="accent2"/>
                </a:solidFill>
              </a:rPr>
              <a:t>与外界交换的熵流，其值可正可负。</a:t>
            </a:r>
          </a:p>
        </p:txBody>
      </p:sp>
      <p:graphicFrame>
        <p:nvGraphicFramePr>
          <p:cNvPr id="193542" name="Object 6"/>
          <p:cNvGraphicFramePr>
            <a:graphicFrameLocks noChangeAspect="1"/>
          </p:cNvGraphicFramePr>
          <p:nvPr/>
        </p:nvGraphicFramePr>
        <p:xfrm>
          <a:off x="2411413" y="2060575"/>
          <a:ext cx="3105150" cy="788988"/>
        </p:xfrm>
        <a:graphic>
          <a:graphicData uri="http://schemas.openxmlformats.org/presentationml/2006/ole">
            <mc:AlternateContent xmlns:mc="http://schemas.openxmlformats.org/markup-compatibility/2006">
              <mc:Choice xmlns:v="urn:schemas-microsoft-com:vml" Requires="v">
                <p:oleObj spid="_x0000_s132205" name="公式" r:id="rId3" imgW="838335" imgH="161857" progId="Equation.3">
                  <p:embed/>
                </p:oleObj>
              </mc:Choice>
              <mc:Fallback>
                <p:oleObj name="公式" r:id="rId3" imgW="838335" imgH="16185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060575"/>
                        <a:ext cx="3105150"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3543" name="Rectangle 7"/>
          <p:cNvSpPr>
            <a:spLocks noChangeArrowheads="1"/>
          </p:cNvSpPr>
          <p:nvPr/>
        </p:nvSpPr>
        <p:spPr bwMode="auto">
          <a:xfrm>
            <a:off x="755650" y="4868863"/>
            <a:ext cx="72009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en-US" altLang="zh-CN" sz="2800" b="1" dirty="0"/>
              <a:t>        </a:t>
            </a:r>
            <a:r>
              <a:rPr lang="zh-CN" altLang="en-US" sz="2400" b="1" dirty="0"/>
              <a:t>任何系统，只要发生不可逆过程就必有熵的产生，生命也不例外，如果它不能从外界吃进负熵流，那么内部不断产生正熵</a:t>
            </a:r>
            <a:r>
              <a:rPr lang="en-US" altLang="zh-CN" sz="2400" b="1" dirty="0" err="1"/>
              <a:t>dS</a:t>
            </a:r>
            <a:r>
              <a:rPr lang="en-US" altLang="zh-CN" sz="2400" b="1" baseline="-25000" dirty="0" err="1"/>
              <a:t>i</a:t>
            </a:r>
            <a:r>
              <a:rPr lang="en-US" altLang="zh-CN" sz="2400" b="1" baseline="-25000" dirty="0"/>
              <a:t> </a:t>
            </a:r>
            <a:r>
              <a:rPr lang="en-US" altLang="zh-CN" sz="2400" b="1" dirty="0"/>
              <a:t>&gt;0</a:t>
            </a:r>
            <a:r>
              <a:rPr lang="zh-CN" altLang="en-US" sz="2400" b="1" dirty="0"/>
              <a:t>，它将使生物有趋于极大熵的危险，那就是死亡。</a:t>
            </a:r>
            <a:r>
              <a:rPr lang="zh-CN" altLang="en-US" sz="2800" b="1" dirty="0"/>
              <a:t>        </a:t>
            </a:r>
            <a:endParaRPr lang="zh-CN" altLang="en-US" dirty="0"/>
          </a:p>
        </p:txBody>
      </p:sp>
    </p:spTree>
    <p:extLst>
      <p:ext uri="{BB962C8B-B14F-4D97-AF65-F5344CB8AC3E}">
        <p14:creationId xmlns:p14="http://schemas.microsoft.com/office/powerpoint/2010/main" val="255688348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3539"/>
                                        </p:tgtEl>
                                        <p:attrNameLst>
                                          <p:attrName>style.visibility</p:attrName>
                                        </p:attrNameLst>
                                      </p:cBhvr>
                                      <p:to>
                                        <p:strVal val="visible"/>
                                      </p:to>
                                    </p:set>
                                    <p:animEffect transition="in" filter="wipe(left)">
                                      <p:cBhvr>
                                        <p:cTn id="7" dur="500"/>
                                        <p:tgtEl>
                                          <p:spTgt spid="1935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93538"/>
                                        </p:tgtEl>
                                        <p:attrNameLst>
                                          <p:attrName>style.visibility</p:attrName>
                                        </p:attrNameLst>
                                      </p:cBhvr>
                                      <p:to>
                                        <p:strVal val="visible"/>
                                      </p:to>
                                    </p:set>
                                    <p:anim calcmode="lin" valueType="num">
                                      <p:cBhvr>
                                        <p:cTn id="12" dur="500" fill="hold"/>
                                        <p:tgtEl>
                                          <p:spTgt spid="193538"/>
                                        </p:tgtEl>
                                        <p:attrNameLst>
                                          <p:attrName>ppt_w</p:attrName>
                                        </p:attrNameLst>
                                      </p:cBhvr>
                                      <p:tavLst>
                                        <p:tav tm="0">
                                          <p:val>
                                            <p:fltVal val="0"/>
                                          </p:val>
                                        </p:tav>
                                        <p:tav tm="100000">
                                          <p:val>
                                            <p:strVal val="#ppt_w"/>
                                          </p:val>
                                        </p:tav>
                                      </p:tavLst>
                                    </p:anim>
                                    <p:anim calcmode="lin" valueType="num">
                                      <p:cBhvr>
                                        <p:cTn id="13" dur="500" fill="hold"/>
                                        <p:tgtEl>
                                          <p:spTgt spid="193538"/>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93542"/>
                                        </p:tgtEl>
                                        <p:attrNameLst>
                                          <p:attrName>style.visibility</p:attrName>
                                        </p:attrNameLst>
                                      </p:cBhvr>
                                      <p:to>
                                        <p:strVal val="visible"/>
                                      </p:to>
                                    </p:set>
                                    <p:animEffect transition="in" filter="wipe(left)">
                                      <p:cBhvr>
                                        <p:cTn id="18" dur="500"/>
                                        <p:tgtEl>
                                          <p:spTgt spid="1935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193541"/>
                                        </p:tgtEl>
                                        <p:attrNameLst>
                                          <p:attrName>style.visibility</p:attrName>
                                        </p:attrNameLst>
                                      </p:cBhvr>
                                      <p:to>
                                        <p:strVal val="visible"/>
                                      </p:to>
                                    </p:set>
                                    <p:anim calcmode="lin" valueType="num">
                                      <p:cBhvr>
                                        <p:cTn id="23" dur="500" fill="hold"/>
                                        <p:tgtEl>
                                          <p:spTgt spid="193541"/>
                                        </p:tgtEl>
                                        <p:attrNameLst>
                                          <p:attrName>ppt_w</p:attrName>
                                        </p:attrNameLst>
                                      </p:cBhvr>
                                      <p:tavLst>
                                        <p:tav tm="0">
                                          <p:val>
                                            <p:fltVal val="0"/>
                                          </p:val>
                                        </p:tav>
                                        <p:tav tm="100000">
                                          <p:val>
                                            <p:strVal val="#ppt_w"/>
                                          </p:val>
                                        </p:tav>
                                      </p:tavLst>
                                    </p:anim>
                                    <p:anim calcmode="lin" valueType="num">
                                      <p:cBhvr>
                                        <p:cTn id="24" dur="500" fill="hold"/>
                                        <p:tgtEl>
                                          <p:spTgt spid="193541"/>
                                        </p:tgtEl>
                                        <p:attrNameLst>
                                          <p:attrName>ppt_h</p:attrName>
                                        </p:attrNameLst>
                                      </p:cBhvr>
                                      <p:tavLst>
                                        <p:tav tm="0">
                                          <p:val>
                                            <p:strVal val="#ppt_h"/>
                                          </p:val>
                                        </p:tav>
                                        <p:tav tm="100000">
                                          <p:val>
                                            <p:strVal val="#ppt_h"/>
                                          </p:val>
                                        </p:tav>
                                      </p:tavLst>
                                    </p:anim>
                                  </p:childTnLst>
                                </p:cTn>
                              </p:par>
                              <p:par>
                                <p:cTn id="25" presetID="17" presetClass="entr" presetSubtype="10" fill="hold" grpId="0" nodeType="withEffect">
                                  <p:stCondLst>
                                    <p:cond delay="0"/>
                                  </p:stCondLst>
                                  <p:childTnLst>
                                    <p:set>
                                      <p:cBhvr>
                                        <p:cTn id="26" dur="1" fill="hold">
                                          <p:stCondLst>
                                            <p:cond delay="0"/>
                                          </p:stCondLst>
                                        </p:cTn>
                                        <p:tgtEl>
                                          <p:spTgt spid="193540"/>
                                        </p:tgtEl>
                                        <p:attrNameLst>
                                          <p:attrName>style.visibility</p:attrName>
                                        </p:attrNameLst>
                                      </p:cBhvr>
                                      <p:to>
                                        <p:strVal val="visible"/>
                                      </p:to>
                                    </p:set>
                                    <p:anim calcmode="lin" valueType="num">
                                      <p:cBhvr>
                                        <p:cTn id="27" dur="500" fill="hold"/>
                                        <p:tgtEl>
                                          <p:spTgt spid="193540"/>
                                        </p:tgtEl>
                                        <p:attrNameLst>
                                          <p:attrName>ppt_w</p:attrName>
                                        </p:attrNameLst>
                                      </p:cBhvr>
                                      <p:tavLst>
                                        <p:tav tm="0">
                                          <p:val>
                                            <p:fltVal val="0"/>
                                          </p:val>
                                        </p:tav>
                                        <p:tav tm="100000">
                                          <p:val>
                                            <p:strVal val="#ppt_w"/>
                                          </p:val>
                                        </p:tav>
                                      </p:tavLst>
                                    </p:anim>
                                    <p:anim calcmode="lin" valueType="num">
                                      <p:cBhvr>
                                        <p:cTn id="28" dur="500" fill="hold"/>
                                        <p:tgtEl>
                                          <p:spTgt spid="193540"/>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iterate type="wd">
                                    <p:tmPct val="100000"/>
                                  </p:iterate>
                                  <p:childTnLst>
                                    <p:set>
                                      <p:cBhvr>
                                        <p:cTn id="32" dur="1" fill="hold">
                                          <p:stCondLst>
                                            <p:cond delay="0"/>
                                          </p:stCondLst>
                                        </p:cTn>
                                        <p:tgtEl>
                                          <p:spTgt spid="193543">
                                            <p:txEl>
                                              <p:pRg st="0" end="0"/>
                                            </p:txEl>
                                          </p:spTgt>
                                        </p:tgtEl>
                                        <p:attrNameLst>
                                          <p:attrName>style.visibility</p:attrName>
                                        </p:attrNameLst>
                                      </p:cBhvr>
                                      <p:to>
                                        <p:strVal val="visible"/>
                                      </p:to>
                                    </p:set>
                                    <p:animEffect transition="in" filter="blinds(horizontal)">
                                      <p:cBhvr>
                                        <p:cTn id="33" dur="300"/>
                                        <p:tgtEl>
                                          <p:spTgt spid="1935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8" grpId="0" animBg="1" autoUpdateAnimBg="0"/>
      <p:bldP spid="193539" grpId="0" autoUpdateAnimBg="0"/>
      <p:bldP spid="193540" grpId="0"/>
      <p:bldP spid="193541" grpId="0"/>
      <p:bldP spid="193543" grpId="0" build="p"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2" name="Picture 2" descr="ARROWS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013" y="1295400"/>
            <a:ext cx="19812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63" name="Picture 3" descr="ARROWS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1650" y="4724400"/>
            <a:ext cx="2014538"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64" name="Picture 4" descr="BOD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46188" y="2819400"/>
            <a:ext cx="16256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65" name="Rectangle 5"/>
          <p:cNvSpPr>
            <a:spLocks noChangeArrowheads="1"/>
          </p:cNvSpPr>
          <p:nvPr/>
        </p:nvSpPr>
        <p:spPr bwMode="auto">
          <a:xfrm>
            <a:off x="250825" y="533400"/>
            <a:ext cx="2519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00CC00"/>
                </a:solidFill>
              </a:rPr>
              <a:t>与外界交换热量</a:t>
            </a:r>
          </a:p>
        </p:txBody>
      </p:sp>
      <p:sp>
        <p:nvSpPr>
          <p:cNvPr id="194566" name="Rectangle 6"/>
          <p:cNvSpPr>
            <a:spLocks noChangeArrowheads="1"/>
          </p:cNvSpPr>
          <p:nvPr/>
        </p:nvSpPr>
        <p:spPr bwMode="auto">
          <a:xfrm>
            <a:off x="2998788" y="533400"/>
            <a:ext cx="20574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400" b="1">
                <a:solidFill>
                  <a:srgbClr val="00CC00"/>
                </a:solidFill>
              </a:rPr>
              <a:t>摄取的食物通常含有高度有序的低熵高分子，如蛋白质、淀粉等</a:t>
            </a:r>
          </a:p>
        </p:txBody>
      </p:sp>
      <p:sp>
        <p:nvSpPr>
          <p:cNvPr id="194567" name="Rectangle 7"/>
          <p:cNvSpPr>
            <a:spLocks noChangeArrowheads="1"/>
          </p:cNvSpPr>
          <p:nvPr/>
        </p:nvSpPr>
        <p:spPr bwMode="auto">
          <a:xfrm>
            <a:off x="3276600" y="3429000"/>
            <a:ext cx="18002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400" b="1">
                <a:solidFill>
                  <a:schemeClr val="hlink"/>
                </a:solidFill>
              </a:rPr>
              <a:t>排出高熵物质</a:t>
            </a:r>
            <a:r>
              <a:rPr lang="en-US" altLang="zh-CN" sz="2400" b="1">
                <a:solidFill>
                  <a:schemeClr val="hlink"/>
                </a:solidFill>
              </a:rPr>
              <a:t>,  </a:t>
            </a:r>
            <a:r>
              <a:rPr lang="zh-CN" altLang="en-US" sz="2400" b="1">
                <a:solidFill>
                  <a:schemeClr val="hlink"/>
                </a:solidFill>
              </a:rPr>
              <a:t>较无序的小分子。</a:t>
            </a:r>
          </a:p>
        </p:txBody>
      </p:sp>
      <p:sp>
        <p:nvSpPr>
          <p:cNvPr id="194568" name="Rectangle 8"/>
          <p:cNvSpPr>
            <a:spLocks noChangeArrowheads="1"/>
          </p:cNvSpPr>
          <p:nvPr/>
        </p:nvSpPr>
        <p:spPr bwMode="auto">
          <a:xfrm>
            <a:off x="5940425" y="1773238"/>
            <a:ext cx="3024188"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en-US" altLang="zh-CN" sz="2400" b="1"/>
              <a:t>        </a:t>
            </a:r>
            <a:r>
              <a:rPr lang="zh-CN" altLang="en-US" sz="2400" b="1"/>
              <a:t>以抵偿内部由于不可逆过程所产生的熵，生物体中的熵产生则来源于内部的化学过程，扩散过程及血液流动等等不可逆过程。</a:t>
            </a:r>
            <a:endParaRPr lang="zh-CN" altLang="en-US" sz="2800" b="1"/>
          </a:p>
        </p:txBody>
      </p:sp>
      <p:graphicFrame>
        <p:nvGraphicFramePr>
          <p:cNvPr id="194569" name="Object 9"/>
          <p:cNvGraphicFramePr>
            <a:graphicFrameLocks noChangeAspect="1"/>
          </p:cNvGraphicFramePr>
          <p:nvPr/>
        </p:nvGraphicFramePr>
        <p:xfrm>
          <a:off x="5410200" y="5084763"/>
          <a:ext cx="3733800" cy="723900"/>
        </p:xfrm>
        <a:graphic>
          <a:graphicData uri="http://schemas.openxmlformats.org/presentationml/2006/ole">
            <mc:AlternateContent xmlns:mc="http://schemas.openxmlformats.org/markup-compatibility/2006">
              <mc:Choice xmlns:v="urn:schemas-microsoft-com:vml" Requires="v">
                <p:oleObj spid="_x0000_s133229" name="Equation" r:id="rId6" imgW="1181100" imgH="228600" progId="Equation.3">
                  <p:embed/>
                </p:oleObj>
              </mc:Choice>
              <mc:Fallback>
                <p:oleObj name="Equation" r:id="rId6" imgW="118110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0200" y="5084763"/>
                        <a:ext cx="3733800" cy="723900"/>
                      </a:xfrm>
                      <a:prstGeom prst="rect">
                        <a:avLst/>
                      </a:prstGeom>
                      <a:solidFill>
                        <a:srgbClr val="66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570" name="Rectangle 10"/>
          <p:cNvSpPr>
            <a:spLocks noChangeArrowheads="1"/>
          </p:cNvSpPr>
          <p:nvPr/>
        </p:nvSpPr>
        <p:spPr bwMode="auto">
          <a:xfrm>
            <a:off x="3074988" y="2514600"/>
            <a:ext cx="13160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chemeClr val="hlink"/>
                </a:solidFill>
              </a:rPr>
              <a:t>dS</a:t>
            </a:r>
            <a:r>
              <a:rPr lang="en-US" altLang="zh-CN" sz="3600" b="1" baseline="-25000">
                <a:solidFill>
                  <a:schemeClr val="hlink"/>
                </a:solidFill>
              </a:rPr>
              <a:t>e</a:t>
            </a:r>
            <a:r>
              <a:rPr lang="en-US" altLang="zh-CN" sz="3600" b="1">
                <a:solidFill>
                  <a:schemeClr val="hlink"/>
                </a:solidFill>
              </a:rPr>
              <a:t>&lt;0</a:t>
            </a:r>
          </a:p>
        </p:txBody>
      </p:sp>
      <p:sp>
        <p:nvSpPr>
          <p:cNvPr id="194571" name="Rectangle 11"/>
          <p:cNvSpPr>
            <a:spLocks noChangeArrowheads="1"/>
          </p:cNvSpPr>
          <p:nvPr/>
        </p:nvSpPr>
        <p:spPr bwMode="auto">
          <a:xfrm>
            <a:off x="636588" y="5486400"/>
            <a:ext cx="11445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00CC00"/>
                </a:solidFill>
              </a:rPr>
              <a:t>dS</a:t>
            </a:r>
            <a:r>
              <a:rPr lang="en-US" altLang="zh-CN" sz="3200" b="1" baseline="-25000">
                <a:solidFill>
                  <a:srgbClr val="00CC00"/>
                </a:solidFill>
              </a:rPr>
              <a:t>i</a:t>
            </a:r>
            <a:r>
              <a:rPr lang="en-US" altLang="zh-CN" sz="3200" b="1">
                <a:solidFill>
                  <a:srgbClr val="00CC00"/>
                </a:solidFill>
              </a:rPr>
              <a:t>&gt;0</a:t>
            </a:r>
          </a:p>
        </p:txBody>
      </p:sp>
    </p:spTree>
    <p:extLst>
      <p:ext uri="{BB962C8B-B14F-4D97-AF65-F5344CB8AC3E}">
        <p14:creationId xmlns:p14="http://schemas.microsoft.com/office/powerpoint/2010/main" val="60652657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45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1" fill="hold" grpId="0" nodeType="clickEffect">
                                  <p:stCondLst>
                                    <p:cond delay="0"/>
                                  </p:stCondLst>
                                  <p:childTnLst>
                                    <p:set>
                                      <p:cBhvr>
                                        <p:cTn id="10" dur="1" fill="hold">
                                          <p:stCondLst>
                                            <p:cond delay="0"/>
                                          </p:stCondLst>
                                        </p:cTn>
                                        <p:tgtEl>
                                          <p:spTgt spid="194565"/>
                                        </p:tgtEl>
                                        <p:attrNameLst>
                                          <p:attrName>style.visibility</p:attrName>
                                        </p:attrNameLst>
                                      </p:cBhvr>
                                      <p:to>
                                        <p:strVal val="visible"/>
                                      </p:to>
                                    </p:set>
                                    <p:anim calcmode="lin" valueType="num">
                                      <p:cBhvr additive="base">
                                        <p:cTn id="11" dur="500" fill="hold"/>
                                        <p:tgtEl>
                                          <p:spTgt spid="194565"/>
                                        </p:tgtEl>
                                        <p:attrNameLst>
                                          <p:attrName>ppt_x</p:attrName>
                                        </p:attrNameLst>
                                      </p:cBhvr>
                                      <p:tavLst>
                                        <p:tav tm="0">
                                          <p:val>
                                            <p:strVal val="#ppt_x"/>
                                          </p:val>
                                        </p:tav>
                                        <p:tav tm="100000">
                                          <p:val>
                                            <p:strVal val="#ppt_x"/>
                                          </p:val>
                                        </p:tav>
                                      </p:tavLst>
                                    </p:anim>
                                    <p:anim calcmode="lin" valueType="num">
                                      <p:cBhvr additive="base">
                                        <p:cTn id="12" dur="500" fill="hold"/>
                                        <p:tgtEl>
                                          <p:spTgt spid="194565"/>
                                        </p:tgtEl>
                                        <p:attrNameLst>
                                          <p:attrName>ppt_y</p:attrName>
                                        </p:attrNameLst>
                                      </p:cBhvr>
                                      <p:tavLst>
                                        <p:tav tm="0">
                                          <p:val>
                                            <p:strVal val="0-#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4566"/>
                                        </p:tgtEl>
                                        <p:attrNameLst>
                                          <p:attrName>style.visibility</p:attrName>
                                        </p:attrNameLst>
                                      </p:cBhvr>
                                      <p:to>
                                        <p:strVal val="visible"/>
                                      </p:to>
                                    </p:set>
                                    <p:animEffect transition="in" filter="blinds(horizontal)">
                                      <p:cBhvr>
                                        <p:cTn id="17" dur="500"/>
                                        <p:tgtEl>
                                          <p:spTgt spid="1945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94562"/>
                                        </p:tgtEl>
                                        <p:attrNameLst>
                                          <p:attrName>style.visibility</p:attrName>
                                        </p:attrNameLst>
                                      </p:cBhvr>
                                      <p:to>
                                        <p:strVal val="visible"/>
                                      </p:to>
                                    </p:set>
                                    <p:animEffect transition="in" filter="blinds(horizontal)">
                                      <p:cBhvr>
                                        <p:cTn id="22" dur="500"/>
                                        <p:tgtEl>
                                          <p:spTgt spid="1945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4570"/>
                                        </p:tgtEl>
                                        <p:attrNameLst>
                                          <p:attrName>style.visibility</p:attrName>
                                        </p:attrNameLst>
                                      </p:cBhvr>
                                      <p:to>
                                        <p:strVal val="visible"/>
                                      </p:to>
                                    </p:set>
                                    <p:animEffect transition="in" filter="blinds(horizontal)">
                                      <p:cBhvr>
                                        <p:cTn id="27" dur="500"/>
                                        <p:tgtEl>
                                          <p:spTgt spid="1945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94568"/>
                                        </p:tgtEl>
                                        <p:attrNameLst>
                                          <p:attrName>style.visibility</p:attrName>
                                        </p:attrNameLst>
                                      </p:cBhvr>
                                      <p:to>
                                        <p:strVal val="visible"/>
                                      </p:to>
                                    </p:set>
                                    <p:animEffect transition="in" filter="box(in)">
                                      <p:cBhvr>
                                        <p:cTn id="32" dur="500"/>
                                        <p:tgtEl>
                                          <p:spTgt spid="1945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4571"/>
                                        </p:tgtEl>
                                        <p:attrNameLst>
                                          <p:attrName>style.visibility</p:attrName>
                                        </p:attrNameLst>
                                      </p:cBhvr>
                                      <p:to>
                                        <p:strVal val="visible"/>
                                      </p:to>
                                    </p:set>
                                    <p:animEffect transition="in" filter="blinds(horizontal)">
                                      <p:cBhvr>
                                        <p:cTn id="37" dur="500"/>
                                        <p:tgtEl>
                                          <p:spTgt spid="19457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94563"/>
                                        </p:tgtEl>
                                        <p:attrNameLst>
                                          <p:attrName>style.visibility</p:attrName>
                                        </p:attrNameLst>
                                      </p:cBhvr>
                                      <p:to>
                                        <p:strVal val="visible"/>
                                      </p:to>
                                    </p:set>
                                    <p:animEffect transition="in" filter="blinds(horizontal)">
                                      <p:cBhvr>
                                        <p:cTn id="42" dur="500"/>
                                        <p:tgtEl>
                                          <p:spTgt spid="19456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94567"/>
                                        </p:tgtEl>
                                        <p:attrNameLst>
                                          <p:attrName>style.visibility</p:attrName>
                                        </p:attrNameLst>
                                      </p:cBhvr>
                                      <p:to>
                                        <p:strVal val="visible"/>
                                      </p:to>
                                    </p:set>
                                    <p:animEffect transition="in" filter="dissolve">
                                      <p:cBhvr>
                                        <p:cTn id="47" dur="500"/>
                                        <p:tgtEl>
                                          <p:spTgt spid="19456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4" fill="hold" nodeType="clickEffect">
                                  <p:stCondLst>
                                    <p:cond delay="0"/>
                                  </p:stCondLst>
                                  <p:childTnLst>
                                    <p:set>
                                      <p:cBhvr>
                                        <p:cTn id="51" dur="1" fill="hold">
                                          <p:stCondLst>
                                            <p:cond delay="0"/>
                                          </p:stCondLst>
                                        </p:cTn>
                                        <p:tgtEl>
                                          <p:spTgt spid="194569"/>
                                        </p:tgtEl>
                                        <p:attrNameLst>
                                          <p:attrName>style.visibility</p:attrName>
                                        </p:attrNameLst>
                                      </p:cBhvr>
                                      <p:to>
                                        <p:strVal val="visible"/>
                                      </p:to>
                                    </p:set>
                                    <p:anim calcmode="lin" valueType="num">
                                      <p:cBhvr additive="base">
                                        <p:cTn id="52" dur="500" fill="hold"/>
                                        <p:tgtEl>
                                          <p:spTgt spid="194569"/>
                                        </p:tgtEl>
                                        <p:attrNameLst>
                                          <p:attrName>ppt_x</p:attrName>
                                        </p:attrNameLst>
                                      </p:cBhvr>
                                      <p:tavLst>
                                        <p:tav tm="0">
                                          <p:val>
                                            <p:strVal val="#ppt_x"/>
                                          </p:val>
                                        </p:tav>
                                        <p:tav tm="100000">
                                          <p:val>
                                            <p:strVal val="#ppt_x"/>
                                          </p:val>
                                        </p:tav>
                                      </p:tavLst>
                                    </p:anim>
                                    <p:anim calcmode="lin" valueType="num">
                                      <p:cBhvr additive="base">
                                        <p:cTn id="53" dur="500" fill="hold"/>
                                        <p:tgtEl>
                                          <p:spTgt spid="1945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5" grpId="0" autoUpdateAnimBg="0"/>
      <p:bldP spid="194566" grpId="0" autoUpdateAnimBg="0"/>
      <p:bldP spid="194567" grpId="0" autoUpdateAnimBg="0"/>
      <p:bldP spid="194568" grpId="0" autoUpdateAnimBg="0"/>
      <p:bldP spid="194570" grpId="0" autoUpdateAnimBg="0"/>
      <p:bldP spid="194571" grpId="0"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1546225" y="10668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endParaRPr lang="zh-CN" altLang="zh-CN" sz="2800" b="1">
              <a:solidFill>
                <a:schemeClr val="accent2"/>
              </a:solidFill>
              <a:latin typeface="宋体" pitchFamily="2" charset="-122"/>
            </a:endParaRPr>
          </a:p>
        </p:txBody>
      </p:sp>
      <p:sp>
        <p:nvSpPr>
          <p:cNvPr id="76803" name="Text Box 3"/>
          <p:cNvSpPr txBox="1">
            <a:spLocks noChangeArrowheads="1"/>
          </p:cNvSpPr>
          <p:nvPr/>
        </p:nvSpPr>
        <p:spPr bwMode="auto">
          <a:xfrm>
            <a:off x="323850" y="217488"/>
            <a:ext cx="8353425"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2500" b="1">
                <a:solidFill>
                  <a:schemeClr val="accent2"/>
                </a:solidFill>
                <a:latin typeface="楷体_GB2312" pitchFamily="49" charset="-122"/>
                <a:ea typeface="楷体_GB2312" pitchFamily="49" charset="-122"/>
              </a:rPr>
              <a:t>感冒：起因</a:t>
            </a:r>
            <a:r>
              <a:rPr lang="en-US" altLang="zh-CN" sz="2500" b="1">
                <a:solidFill>
                  <a:schemeClr val="accent2"/>
                </a:solidFill>
                <a:latin typeface="楷体_GB2312" pitchFamily="49" charset="-122"/>
                <a:ea typeface="楷体_GB2312" pitchFamily="49" charset="-122"/>
              </a:rPr>
              <a:t>---</a:t>
            </a:r>
            <a:r>
              <a:rPr lang="zh-CN" altLang="en-US" sz="2500" b="1">
                <a:solidFill>
                  <a:schemeClr val="accent2"/>
                </a:solidFill>
                <a:latin typeface="楷体_GB2312" pitchFamily="49" charset="-122"/>
                <a:ea typeface="楷体_GB2312" pitchFamily="49" charset="-122"/>
              </a:rPr>
              <a:t>运动或劳累过后，身体消耗大量能量，产生大量废热（体内熵大增）如能迅速排除，人相安无事，但如此时或吹风、或着凉。皮肤感到过凉，此信息传到大脑的调温中心</a:t>
            </a:r>
            <a:r>
              <a:rPr lang="en-US" altLang="zh-CN" sz="2500" b="1">
                <a:solidFill>
                  <a:schemeClr val="accent2"/>
                </a:solidFill>
                <a:latin typeface="楷体_GB2312" pitchFamily="49" charset="-122"/>
                <a:ea typeface="楷体_GB2312" pitchFamily="49" charset="-122"/>
              </a:rPr>
              <a:t>---</a:t>
            </a:r>
            <a:r>
              <a:rPr lang="zh-CN" altLang="en-US" sz="2500" b="1">
                <a:solidFill>
                  <a:schemeClr val="accent2"/>
                </a:solidFill>
                <a:latin typeface="楷体_GB2312" pitchFamily="49" charset="-122"/>
                <a:ea typeface="楷体_GB2312" pitchFamily="49" charset="-122"/>
              </a:rPr>
              <a:t>丘脑，进行调温以暖皮肤，并下令皮肤毛细血管收缩阻止身体散热，这样体内原有积熵排不出，还进一步产生积熵，以致积熵过剩。熵是无序度的量度。因此人体内二千多化学反应开始混乱</a:t>
            </a:r>
            <a:r>
              <a:rPr lang="en-US" altLang="zh-CN" sz="2500" b="1">
                <a:solidFill>
                  <a:schemeClr val="accent2"/>
                </a:solidFill>
                <a:latin typeface="楷体_GB2312" pitchFamily="49" charset="-122"/>
                <a:ea typeface="楷体_GB2312" pitchFamily="49" charset="-122"/>
              </a:rPr>
              <a:t>--</a:t>
            </a:r>
            <a:r>
              <a:rPr lang="zh-CN" altLang="en-US" sz="2500" b="1">
                <a:solidFill>
                  <a:schemeClr val="accent2"/>
                </a:solidFill>
                <a:latin typeface="楷体_GB2312" pitchFamily="49" charset="-122"/>
                <a:ea typeface="楷体_GB2312" pitchFamily="49" charset="-122"/>
              </a:rPr>
              <a:t>使人头痛、发烧、畏寒畏冷、全身无力。抵抗力减弱</a:t>
            </a:r>
            <a:r>
              <a:rPr lang="en-US" altLang="zh-CN" sz="2500" b="1">
                <a:solidFill>
                  <a:schemeClr val="accent2"/>
                </a:solidFill>
                <a:ea typeface="楷体_GB2312" pitchFamily="49" charset="-122"/>
              </a:rPr>
              <a:t>…</a:t>
            </a:r>
            <a:r>
              <a:rPr lang="en-US" altLang="zh-CN" sz="2500" b="1">
                <a:solidFill>
                  <a:schemeClr val="accent2"/>
                </a:solidFill>
                <a:latin typeface="楷体_GB2312" pitchFamily="49" charset="-122"/>
                <a:ea typeface="楷体_GB2312" pitchFamily="49" charset="-122"/>
              </a:rPr>
              <a:t>..</a:t>
            </a:r>
            <a:r>
              <a:rPr lang="zh-CN" altLang="en-US" sz="2500" b="1">
                <a:solidFill>
                  <a:schemeClr val="accent2"/>
                </a:solidFill>
                <a:latin typeface="楷体_GB2312" pitchFamily="49" charset="-122"/>
                <a:ea typeface="楷体_GB2312" pitchFamily="49" charset="-122"/>
              </a:rPr>
              <a:t>人因此感冒了</a:t>
            </a:r>
            <a:r>
              <a:rPr lang="en-US" altLang="zh-CN" sz="2500" b="1">
                <a:solidFill>
                  <a:schemeClr val="accent2"/>
                </a:solidFill>
                <a:latin typeface="楷体_GB2312" pitchFamily="49" charset="-122"/>
                <a:ea typeface="楷体_GB2312" pitchFamily="49" charset="-122"/>
              </a:rPr>
              <a:t>.</a:t>
            </a:r>
          </a:p>
        </p:txBody>
      </p:sp>
      <p:sp>
        <p:nvSpPr>
          <p:cNvPr id="195588" name="Text Box 4"/>
          <p:cNvSpPr txBox="1">
            <a:spLocks noChangeArrowheads="1"/>
          </p:cNvSpPr>
          <p:nvPr/>
        </p:nvSpPr>
        <p:spPr bwMode="auto">
          <a:xfrm>
            <a:off x="280988" y="4040188"/>
            <a:ext cx="1435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FF3300"/>
                </a:solidFill>
                <a:latin typeface="宋体" pitchFamily="2" charset="-122"/>
              </a:rPr>
              <a:t>中医说</a:t>
            </a:r>
            <a:r>
              <a:rPr lang="en-US" altLang="zh-CN" sz="2800" b="1">
                <a:solidFill>
                  <a:srgbClr val="FF3300"/>
                </a:solidFill>
                <a:latin typeface="宋体" pitchFamily="2" charset="-122"/>
              </a:rPr>
              <a:t>:</a:t>
            </a:r>
          </a:p>
        </p:txBody>
      </p:sp>
      <p:sp>
        <p:nvSpPr>
          <p:cNvPr id="195589" name="Text Box 5"/>
          <p:cNvSpPr txBox="1">
            <a:spLocks noChangeArrowheads="1"/>
          </p:cNvSpPr>
          <p:nvPr/>
        </p:nvSpPr>
        <p:spPr bwMode="auto">
          <a:xfrm>
            <a:off x="1752600" y="4005263"/>
            <a:ext cx="3368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FF3300"/>
                </a:solidFill>
                <a:latin typeface="宋体" pitchFamily="2" charset="-122"/>
              </a:rPr>
              <a:t>内有虚火</a:t>
            </a:r>
            <a:r>
              <a:rPr lang="en-US" altLang="zh-CN" sz="2800" b="1">
                <a:solidFill>
                  <a:srgbClr val="FF3300"/>
                </a:solidFill>
                <a:latin typeface="宋体" pitchFamily="2" charset="-122"/>
              </a:rPr>
              <a:t>,</a:t>
            </a:r>
            <a:r>
              <a:rPr lang="zh-CN" altLang="en-US" sz="2800" b="1">
                <a:solidFill>
                  <a:srgbClr val="FF3300"/>
                </a:solidFill>
                <a:latin typeface="宋体" pitchFamily="2" charset="-122"/>
              </a:rPr>
              <a:t>外感风寒</a:t>
            </a:r>
            <a:r>
              <a:rPr lang="en-US" altLang="zh-CN" sz="2800" b="1">
                <a:solidFill>
                  <a:srgbClr val="FF3300"/>
                </a:solidFill>
                <a:latin typeface="宋体" pitchFamily="2" charset="-122"/>
              </a:rPr>
              <a:t>.</a:t>
            </a:r>
          </a:p>
        </p:txBody>
      </p:sp>
      <p:sp>
        <p:nvSpPr>
          <p:cNvPr id="195590" name="Text Box 6"/>
          <p:cNvSpPr txBox="1">
            <a:spLocks noChangeArrowheads="1"/>
          </p:cNvSpPr>
          <p:nvPr/>
        </p:nvSpPr>
        <p:spPr bwMode="auto">
          <a:xfrm>
            <a:off x="288925" y="4652963"/>
            <a:ext cx="1435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FF3300"/>
                </a:solidFill>
                <a:latin typeface="宋体" pitchFamily="2" charset="-122"/>
              </a:rPr>
              <a:t>西医说</a:t>
            </a:r>
            <a:r>
              <a:rPr lang="en-US" altLang="zh-CN" sz="2800" b="1">
                <a:solidFill>
                  <a:srgbClr val="FF3300"/>
                </a:solidFill>
                <a:latin typeface="宋体" pitchFamily="2" charset="-122"/>
              </a:rPr>
              <a:t>:</a:t>
            </a:r>
          </a:p>
        </p:txBody>
      </p:sp>
      <p:sp>
        <p:nvSpPr>
          <p:cNvPr id="195591" name="Text Box 7"/>
          <p:cNvSpPr txBox="1">
            <a:spLocks noChangeArrowheads="1"/>
          </p:cNvSpPr>
          <p:nvPr/>
        </p:nvSpPr>
        <p:spPr bwMode="auto">
          <a:xfrm>
            <a:off x="1812925" y="4652963"/>
            <a:ext cx="26844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FF3300"/>
                </a:solidFill>
                <a:latin typeface="宋体" pitchFamily="2" charset="-122"/>
              </a:rPr>
              <a:t>感冒了</a:t>
            </a:r>
            <a:r>
              <a:rPr lang="en-US" altLang="zh-CN" sz="2800" b="1">
                <a:solidFill>
                  <a:srgbClr val="FF3300"/>
                </a:solidFill>
                <a:latin typeface="宋体" pitchFamily="2" charset="-122"/>
              </a:rPr>
              <a:t>,</a:t>
            </a:r>
            <a:r>
              <a:rPr lang="zh-CN" altLang="en-US" sz="2800" b="1">
                <a:solidFill>
                  <a:srgbClr val="FF3300"/>
                </a:solidFill>
                <a:latin typeface="宋体" pitchFamily="2" charset="-122"/>
              </a:rPr>
              <a:t>有炎症</a:t>
            </a:r>
            <a:r>
              <a:rPr lang="en-US" altLang="zh-CN" sz="2800" b="1">
                <a:solidFill>
                  <a:srgbClr val="FF3300"/>
                </a:solidFill>
                <a:latin typeface="宋体" pitchFamily="2" charset="-122"/>
              </a:rPr>
              <a:t>.</a:t>
            </a:r>
          </a:p>
        </p:txBody>
      </p:sp>
      <p:sp>
        <p:nvSpPr>
          <p:cNvPr id="195592" name="Text Box 8"/>
          <p:cNvSpPr txBox="1">
            <a:spLocks noChangeArrowheads="1"/>
          </p:cNvSpPr>
          <p:nvPr/>
        </p:nvSpPr>
        <p:spPr bwMode="auto">
          <a:xfrm>
            <a:off x="295275" y="5430838"/>
            <a:ext cx="1435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rgbClr val="FF3300"/>
                </a:solidFill>
                <a:latin typeface="宋体" pitchFamily="2" charset="-122"/>
              </a:rPr>
              <a:t>物理说</a:t>
            </a:r>
            <a:r>
              <a:rPr lang="en-US" altLang="zh-CN" sz="2800" b="1">
                <a:solidFill>
                  <a:srgbClr val="FF3300"/>
                </a:solidFill>
                <a:latin typeface="宋体" pitchFamily="2" charset="-122"/>
              </a:rPr>
              <a:t>:</a:t>
            </a:r>
          </a:p>
        </p:txBody>
      </p:sp>
      <p:sp>
        <p:nvSpPr>
          <p:cNvPr id="195593" name="Text Box 9"/>
          <p:cNvSpPr txBox="1">
            <a:spLocks noChangeArrowheads="1"/>
          </p:cNvSpPr>
          <p:nvPr/>
        </p:nvSpPr>
        <p:spPr bwMode="auto">
          <a:xfrm>
            <a:off x="5195888" y="3357563"/>
            <a:ext cx="2743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chemeClr val="folHlink"/>
                </a:solidFill>
                <a:latin typeface="宋体" pitchFamily="2" charset="-122"/>
              </a:rPr>
              <a:t>如何治疗呢</a:t>
            </a:r>
            <a:r>
              <a:rPr lang="en-US" altLang="zh-CN" sz="2800" b="1">
                <a:solidFill>
                  <a:schemeClr val="folHlink"/>
                </a:solidFill>
                <a:latin typeface="宋体" pitchFamily="2" charset="-122"/>
              </a:rPr>
              <a:t>?</a:t>
            </a:r>
          </a:p>
        </p:txBody>
      </p:sp>
      <p:sp>
        <p:nvSpPr>
          <p:cNvPr id="195594" name="Text Box 10"/>
          <p:cNvSpPr txBox="1">
            <a:spLocks noChangeArrowheads="1"/>
          </p:cNvSpPr>
          <p:nvPr/>
        </p:nvSpPr>
        <p:spPr bwMode="auto">
          <a:xfrm>
            <a:off x="5119688" y="4062413"/>
            <a:ext cx="1435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latin typeface="宋体" pitchFamily="2" charset="-122"/>
              </a:rPr>
              <a:t>中医说</a:t>
            </a:r>
            <a:r>
              <a:rPr lang="en-US" altLang="zh-CN" sz="2800" b="1">
                <a:latin typeface="宋体" pitchFamily="2" charset="-122"/>
              </a:rPr>
              <a:t>:</a:t>
            </a:r>
          </a:p>
        </p:txBody>
      </p:sp>
      <p:sp>
        <p:nvSpPr>
          <p:cNvPr id="195595" name="Text Box 11"/>
          <p:cNvSpPr txBox="1">
            <a:spLocks noChangeArrowheads="1"/>
          </p:cNvSpPr>
          <p:nvPr/>
        </p:nvSpPr>
        <p:spPr bwMode="auto">
          <a:xfrm>
            <a:off x="5049838" y="4781550"/>
            <a:ext cx="1435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latin typeface="宋体" pitchFamily="2" charset="-122"/>
              </a:rPr>
              <a:t>西医说</a:t>
            </a:r>
            <a:r>
              <a:rPr lang="en-US" altLang="zh-CN" sz="2800" b="1">
                <a:latin typeface="宋体" pitchFamily="2" charset="-122"/>
              </a:rPr>
              <a:t>:</a:t>
            </a:r>
          </a:p>
        </p:txBody>
      </p:sp>
      <p:sp>
        <p:nvSpPr>
          <p:cNvPr id="195596" name="Text Box 12"/>
          <p:cNvSpPr txBox="1">
            <a:spLocks noChangeArrowheads="1"/>
          </p:cNvSpPr>
          <p:nvPr/>
        </p:nvSpPr>
        <p:spPr bwMode="auto">
          <a:xfrm>
            <a:off x="5089525" y="5502275"/>
            <a:ext cx="1435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latin typeface="宋体" pitchFamily="2" charset="-122"/>
              </a:rPr>
              <a:t>物理说</a:t>
            </a:r>
            <a:r>
              <a:rPr lang="en-US" altLang="zh-CN" sz="2800" b="1">
                <a:latin typeface="宋体" pitchFamily="2" charset="-122"/>
              </a:rPr>
              <a:t>:</a:t>
            </a:r>
          </a:p>
        </p:txBody>
      </p:sp>
      <p:sp>
        <p:nvSpPr>
          <p:cNvPr id="195597" name="Text Box 13"/>
          <p:cNvSpPr txBox="1">
            <a:spLocks noChangeArrowheads="1"/>
          </p:cNvSpPr>
          <p:nvPr/>
        </p:nvSpPr>
        <p:spPr bwMode="auto">
          <a:xfrm>
            <a:off x="6551613" y="4035425"/>
            <a:ext cx="17922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latin typeface="宋体" pitchFamily="2" charset="-122"/>
              </a:rPr>
              <a:t>发汗清热</a:t>
            </a:r>
            <a:r>
              <a:rPr lang="en-US" altLang="zh-CN" sz="2800" b="1">
                <a:latin typeface="宋体" pitchFamily="2" charset="-122"/>
              </a:rPr>
              <a:t>.</a:t>
            </a:r>
          </a:p>
        </p:txBody>
      </p:sp>
      <p:sp>
        <p:nvSpPr>
          <p:cNvPr id="195598" name="Text Box 14"/>
          <p:cNvSpPr txBox="1">
            <a:spLocks noChangeArrowheads="1"/>
          </p:cNvSpPr>
          <p:nvPr/>
        </p:nvSpPr>
        <p:spPr bwMode="auto">
          <a:xfrm>
            <a:off x="6705600" y="4797425"/>
            <a:ext cx="1611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latin typeface="宋体" pitchFamily="2" charset="-122"/>
              </a:rPr>
              <a:t>退热消炎</a:t>
            </a:r>
          </a:p>
        </p:txBody>
      </p:sp>
      <p:sp>
        <p:nvSpPr>
          <p:cNvPr id="195599" name="Rectangle 15"/>
          <p:cNvSpPr>
            <a:spLocks noChangeArrowheads="1"/>
          </p:cNvSpPr>
          <p:nvPr/>
        </p:nvSpPr>
        <p:spPr bwMode="auto">
          <a:xfrm>
            <a:off x="1843088" y="5430838"/>
            <a:ext cx="17922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a:solidFill>
                  <a:srgbClr val="FF3300"/>
                </a:solidFill>
                <a:latin typeface="宋体" pitchFamily="2" charset="-122"/>
              </a:rPr>
              <a:t>积熵过剩</a:t>
            </a:r>
            <a:r>
              <a:rPr lang="en-US" altLang="zh-CN" sz="2800" b="1">
                <a:solidFill>
                  <a:srgbClr val="FF3300"/>
                </a:solidFill>
                <a:latin typeface="宋体" pitchFamily="2" charset="-122"/>
              </a:rPr>
              <a:t>.</a:t>
            </a:r>
          </a:p>
        </p:txBody>
      </p:sp>
      <p:sp>
        <p:nvSpPr>
          <p:cNvPr id="195600" name="Rectangle 16"/>
          <p:cNvSpPr>
            <a:spLocks noChangeArrowheads="1"/>
          </p:cNvSpPr>
          <p:nvPr/>
        </p:nvSpPr>
        <p:spPr bwMode="auto">
          <a:xfrm>
            <a:off x="6740525" y="5502275"/>
            <a:ext cx="1792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a:latin typeface="宋体" pitchFamily="2" charset="-122"/>
              </a:rPr>
              <a:t>消除积熵</a:t>
            </a:r>
            <a:r>
              <a:rPr lang="en-US" altLang="zh-CN" sz="2800" b="1">
                <a:latin typeface="宋体" pitchFamily="2" charset="-122"/>
              </a:rPr>
              <a:t>.</a:t>
            </a:r>
          </a:p>
        </p:txBody>
      </p:sp>
      <p:grpSp>
        <p:nvGrpSpPr>
          <p:cNvPr id="195601" name="Group 17"/>
          <p:cNvGrpSpPr>
            <a:grpSpLocks/>
          </p:cNvGrpSpPr>
          <p:nvPr/>
        </p:nvGrpSpPr>
        <p:grpSpPr bwMode="auto">
          <a:xfrm>
            <a:off x="5148263" y="3357563"/>
            <a:ext cx="3671887" cy="3240087"/>
            <a:chOff x="3243" y="2115"/>
            <a:chExt cx="2313" cy="2041"/>
          </a:xfrm>
        </p:grpSpPr>
        <p:sp>
          <p:nvSpPr>
            <p:cNvPr id="76818" name="Line 18"/>
            <p:cNvSpPr>
              <a:spLocks noChangeShapeType="1"/>
            </p:cNvSpPr>
            <p:nvPr/>
          </p:nvSpPr>
          <p:spPr bwMode="auto">
            <a:xfrm>
              <a:off x="3243" y="2115"/>
              <a:ext cx="0" cy="2041"/>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9" name="Line 19"/>
            <p:cNvSpPr>
              <a:spLocks noChangeShapeType="1"/>
            </p:cNvSpPr>
            <p:nvPr/>
          </p:nvSpPr>
          <p:spPr bwMode="auto">
            <a:xfrm>
              <a:off x="3243" y="2115"/>
              <a:ext cx="2313"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20809509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8"/>
                                        </p:tgtEl>
                                        <p:attrNameLst>
                                          <p:attrName>style.visibility</p:attrName>
                                        </p:attrNameLst>
                                      </p:cBhvr>
                                      <p:to>
                                        <p:strVal val="visible"/>
                                      </p:to>
                                    </p:set>
                                    <p:animEffect transition="in" filter="wipe(left)">
                                      <p:cBhvr>
                                        <p:cTn id="7" dur="500"/>
                                        <p:tgtEl>
                                          <p:spTgt spid="1955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5589"/>
                                        </p:tgtEl>
                                        <p:attrNameLst>
                                          <p:attrName>style.visibility</p:attrName>
                                        </p:attrNameLst>
                                      </p:cBhvr>
                                      <p:to>
                                        <p:strVal val="visible"/>
                                      </p:to>
                                    </p:set>
                                    <p:animEffect transition="in" filter="wipe(left)">
                                      <p:cBhvr>
                                        <p:cTn id="12" dur="500"/>
                                        <p:tgtEl>
                                          <p:spTgt spid="1955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5590"/>
                                        </p:tgtEl>
                                        <p:attrNameLst>
                                          <p:attrName>style.visibility</p:attrName>
                                        </p:attrNameLst>
                                      </p:cBhvr>
                                      <p:to>
                                        <p:strVal val="visible"/>
                                      </p:to>
                                    </p:set>
                                    <p:animEffect transition="in" filter="wipe(left)">
                                      <p:cBhvr>
                                        <p:cTn id="17" dur="500"/>
                                        <p:tgtEl>
                                          <p:spTgt spid="1955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5591"/>
                                        </p:tgtEl>
                                        <p:attrNameLst>
                                          <p:attrName>style.visibility</p:attrName>
                                        </p:attrNameLst>
                                      </p:cBhvr>
                                      <p:to>
                                        <p:strVal val="visible"/>
                                      </p:to>
                                    </p:set>
                                    <p:animEffect transition="in" filter="wipe(left)">
                                      <p:cBhvr>
                                        <p:cTn id="22" dur="500"/>
                                        <p:tgtEl>
                                          <p:spTgt spid="1955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5592"/>
                                        </p:tgtEl>
                                        <p:attrNameLst>
                                          <p:attrName>style.visibility</p:attrName>
                                        </p:attrNameLst>
                                      </p:cBhvr>
                                      <p:to>
                                        <p:strVal val="visible"/>
                                      </p:to>
                                    </p:set>
                                    <p:animEffect transition="in" filter="wipe(left)">
                                      <p:cBhvr>
                                        <p:cTn id="27" dur="500"/>
                                        <p:tgtEl>
                                          <p:spTgt spid="1955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5599"/>
                                        </p:tgtEl>
                                        <p:attrNameLst>
                                          <p:attrName>style.visibility</p:attrName>
                                        </p:attrNameLst>
                                      </p:cBhvr>
                                      <p:to>
                                        <p:strVal val="visible"/>
                                      </p:to>
                                    </p:set>
                                    <p:animEffect transition="in" filter="wipe(left)">
                                      <p:cBhvr>
                                        <p:cTn id="32" dur="500"/>
                                        <p:tgtEl>
                                          <p:spTgt spid="1955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95601"/>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95593"/>
                                        </p:tgtEl>
                                        <p:attrNameLst>
                                          <p:attrName>style.visibility</p:attrName>
                                        </p:attrNameLst>
                                      </p:cBhvr>
                                      <p:to>
                                        <p:strVal val="visible"/>
                                      </p:to>
                                    </p:set>
                                    <p:animEffect transition="in" filter="wipe(left)">
                                      <p:cBhvr>
                                        <p:cTn id="41" dur="500"/>
                                        <p:tgtEl>
                                          <p:spTgt spid="19559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95594"/>
                                        </p:tgtEl>
                                        <p:attrNameLst>
                                          <p:attrName>style.visibility</p:attrName>
                                        </p:attrNameLst>
                                      </p:cBhvr>
                                      <p:to>
                                        <p:strVal val="visible"/>
                                      </p:to>
                                    </p:set>
                                    <p:animEffect transition="in" filter="wipe(left)">
                                      <p:cBhvr>
                                        <p:cTn id="46" dur="500"/>
                                        <p:tgtEl>
                                          <p:spTgt spid="19559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95597"/>
                                        </p:tgtEl>
                                        <p:attrNameLst>
                                          <p:attrName>style.visibility</p:attrName>
                                        </p:attrNameLst>
                                      </p:cBhvr>
                                      <p:to>
                                        <p:strVal val="visible"/>
                                      </p:to>
                                    </p:set>
                                    <p:animEffect transition="in" filter="wipe(left)">
                                      <p:cBhvr>
                                        <p:cTn id="51" dur="500"/>
                                        <p:tgtEl>
                                          <p:spTgt spid="19559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95595"/>
                                        </p:tgtEl>
                                        <p:attrNameLst>
                                          <p:attrName>style.visibility</p:attrName>
                                        </p:attrNameLst>
                                      </p:cBhvr>
                                      <p:to>
                                        <p:strVal val="visible"/>
                                      </p:to>
                                    </p:set>
                                    <p:animEffect transition="in" filter="wipe(left)">
                                      <p:cBhvr>
                                        <p:cTn id="56" dur="500"/>
                                        <p:tgtEl>
                                          <p:spTgt spid="19559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95598"/>
                                        </p:tgtEl>
                                        <p:attrNameLst>
                                          <p:attrName>style.visibility</p:attrName>
                                        </p:attrNameLst>
                                      </p:cBhvr>
                                      <p:to>
                                        <p:strVal val="visible"/>
                                      </p:to>
                                    </p:set>
                                    <p:animEffect transition="in" filter="wipe(left)">
                                      <p:cBhvr>
                                        <p:cTn id="61" dur="500"/>
                                        <p:tgtEl>
                                          <p:spTgt spid="19559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95596"/>
                                        </p:tgtEl>
                                        <p:attrNameLst>
                                          <p:attrName>style.visibility</p:attrName>
                                        </p:attrNameLst>
                                      </p:cBhvr>
                                      <p:to>
                                        <p:strVal val="visible"/>
                                      </p:to>
                                    </p:set>
                                    <p:animEffect transition="in" filter="wipe(left)">
                                      <p:cBhvr>
                                        <p:cTn id="66" dur="500"/>
                                        <p:tgtEl>
                                          <p:spTgt spid="19559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95600"/>
                                        </p:tgtEl>
                                        <p:attrNameLst>
                                          <p:attrName>style.visibility</p:attrName>
                                        </p:attrNameLst>
                                      </p:cBhvr>
                                      <p:to>
                                        <p:strVal val="visible"/>
                                      </p:to>
                                    </p:set>
                                    <p:animEffect transition="in" filter="wipe(left)">
                                      <p:cBhvr>
                                        <p:cTn id="71" dur="500"/>
                                        <p:tgtEl>
                                          <p:spTgt spid="195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8" grpId="0" autoUpdateAnimBg="0"/>
      <p:bldP spid="195589" grpId="0" autoUpdateAnimBg="0"/>
      <p:bldP spid="195590" grpId="0" autoUpdateAnimBg="0"/>
      <p:bldP spid="195591" grpId="0" autoUpdateAnimBg="0"/>
      <p:bldP spid="195592" grpId="0" autoUpdateAnimBg="0"/>
      <p:bldP spid="195593" grpId="0" autoUpdateAnimBg="0"/>
      <p:bldP spid="195594" grpId="0" autoUpdateAnimBg="0"/>
      <p:bldP spid="195595" grpId="0" autoUpdateAnimBg="0"/>
      <p:bldP spid="195596" grpId="0" autoUpdateAnimBg="0"/>
      <p:bldP spid="195597" grpId="0" autoUpdateAnimBg="0"/>
      <p:bldP spid="195598" grpId="0" autoUpdateAnimBg="0"/>
      <p:bldP spid="195599" grpId="0" autoUpdateAnimBg="0"/>
      <p:bldP spid="195600" grpId="0"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ext Box 2"/>
          <p:cNvSpPr txBox="1">
            <a:spLocks noChangeArrowheads="1"/>
          </p:cNvSpPr>
          <p:nvPr/>
        </p:nvSpPr>
        <p:spPr bwMode="auto">
          <a:xfrm>
            <a:off x="304800" y="206375"/>
            <a:ext cx="8534400" cy="161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chemeClr val="hlink"/>
                </a:solidFill>
                <a:latin typeface="楷体_GB2312" pitchFamily="49" charset="-122"/>
                <a:ea typeface="楷体_GB2312" pitchFamily="49" charset="-122"/>
              </a:rPr>
              <a:t>癌症</a:t>
            </a:r>
            <a:r>
              <a:rPr lang="en-US" altLang="zh-CN" sz="2800" b="1">
                <a:solidFill>
                  <a:schemeClr val="hlink"/>
                </a:solidFill>
                <a:latin typeface="楷体_GB2312" pitchFamily="49" charset="-122"/>
                <a:ea typeface="楷体_GB2312" pitchFamily="49" charset="-122"/>
              </a:rPr>
              <a:t>:</a:t>
            </a:r>
            <a:r>
              <a:rPr lang="zh-CN" altLang="en-US" sz="2400" b="1">
                <a:solidFill>
                  <a:schemeClr val="hlink"/>
                </a:solidFill>
                <a:latin typeface="楷体_GB2312" pitchFamily="49" charset="-122"/>
                <a:ea typeface="楷体_GB2312" pitchFamily="49" charset="-122"/>
              </a:rPr>
              <a:t>由于各种原因</a:t>
            </a:r>
            <a:r>
              <a:rPr lang="en-US" altLang="zh-CN" sz="2400" b="1">
                <a:solidFill>
                  <a:schemeClr val="hlink"/>
                </a:solidFill>
                <a:latin typeface="楷体_GB2312" pitchFamily="49" charset="-122"/>
                <a:ea typeface="楷体_GB2312" pitchFamily="49" charset="-122"/>
              </a:rPr>
              <a:t>,</a:t>
            </a:r>
            <a:r>
              <a:rPr lang="zh-CN" altLang="en-US" sz="2400" b="1">
                <a:solidFill>
                  <a:schemeClr val="hlink"/>
                </a:solidFill>
                <a:latin typeface="楷体_GB2312" pitchFamily="49" charset="-122"/>
                <a:ea typeface="楷体_GB2312" pitchFamily="49" charset="-122"/>
              </a:rPr>
              <a:t>致使体内某一部分的混乱度大幅度增长</a:t>
            </a:r>
            <a:r>
              <a:rPr lang="en-US" altLang="zh-CN" sz="2400" b="1">
                <a:solidFill>
                  <a:schemeClr val="hlink"/>
                </a:solidFill>
                <a:latin typeface="楷体_GB2312" pitchFamily="49" charset="-122"/>
                <a:ea typeface="楷体_GB2312" pitchFamily="49" charset="-122"/>
              </a:rPr>
              <a:t>.</a:t>
            </a:r>
            <a:r>
              <a:rPr lang="zh-CN" altLang="en-US" sz="2400" b="1">
                <a:solidFill>
                  <a:schemeClr val="hlink"/>
                </a:solidFill>
                <a:latin typeface="楷体_GB2312" pitchFamily="49" charset="-122"/>
                <a:ea typeface="楷体_GB2312" pitchFamily="49" charset="-122"/>
              </a:rPr>
              <a:t>以致破坏了细胞再生时的基因密码的有序遗传</a:t>
            </a:r>
            <a:r>
              <a:rPr lang="en-US" altLang="zh-CN" sz="2400" b="1">
                <a:solidFill>
                  <a:schemeClr val="hlink"/>
                </a:solidFill>
                <a:latin typeface="楷体_GB2312" pitchFamily="49" charset="-122"/>
                <a:ea typeface="楷体_GB2312" pitchFamily="49" charset="-122"/>
              </a:rPr>
              <a:t>,</a:t>
            </a:r>
            <a:r>
              <a:rPr lang="zh-CN" altLang="en-US" sz="2400" b="1">
                <a:solidFill>
                  <a:schemeClr val="hlink"/>
                </a:solidFill>
                <a:latin typeface="楷体_GB2312" pitchFamily="49" charset="-122"/>
                <a:ea typeface="楷体_GB2312" pitchFamily="49" charset="-122"/>
              </a:rPr>
              <a:t>细胞无控制地生长</a:t>
            </a:r>
            <a:r>
              <a:rPr lang="en-US" altLang="zh-CN" sz="2400" b="1">
                <a:solidFill>
                  <a:schemeClr val="hlink"/>
                </a:solidFill>
                <a:latin typeface="楷体_GB2312" pitchFamily="49" charset="-122"/>
                <a:ea typeface="楷体_GB2312" pitchFamily="49" charset="-122"/>
              </a:rPr>
              <a:t>,</a:t>
            </a:r>
            <a:r>
              <a:rPr lang="zh-CN" altLang="en-US" sz="2400" b="1">
                <a:solidFill>
                  <a:schemeClr val="hlink"/>
                </a:solidFill>
                <a:latin typeface="楷体_GB2312" pitchFamily="49" charset="-122"/>
                <a:ea typeface="楷体_GB2312" pitchFamily="49" charset="-122"/>
              </a:rPr>
              <a:t>产生毒素</a:t>
            </a:r>
            <a:r>
              <a:rPr lang="en-US" altLang="zh-CN" sz="2400" b="1">
                <a:solidFill>
                  <a:schemeClr val="hlink"/>
                </a:solidFill>
                <a:latin typeface="楷体_GB2312" pitchFamily="49" charset="-122"/>
                <a:ea typeface="楷体_GB2312" pitchFamily="49" charset="-122"/>
              </a:rPr>
              <a:t>,</a:t>
            </a:r>
            <a:r>
              <a:rPr lang="zh-CN" altLang="en-US" sz="2400" b="1">
                <a:solidFill>
                  <a:schemeClr val="hlink"/>
                </a:solidFill>
                <a:latin typeface="楷体_GB2312" pitchFamily="49" charset="-122"/>
                <a:ea typeface="楷体_GB2312" pitchFamily="49" charset="-122"/>
              </a:rPr>
              <a:t>进一步破坏人体的有序</a:t>
            </a:r>
            <a:r>
              <a:rPr lang="en-US" altLang="zh-CN" sz="2400" b="1">
                <a:solidFill>
                  <a:schemeClr val="hlink"/>
                </a:solidFill>
                <a:latin typeface="楷体_GB2312" pitchFamily="49" charset="-122"/>
                <a:ea typeface="楷体_GB2312" pitchFamily="49" charset="-122"/>
              </a:rPr>
              <a:t>,</a:t>
            </a:r>
            <a:r>
              <a:rPr lang="zh-CN" altLang="en-US" sz="2400" b="1">
                <a:solidFill>
                  <a:schemeClr val="hlink"/>
                </a:solidFill>
                <a:latin typeface="楷体_GB2312" pitchFamily="49" charset="-122"/>
                <a:ea typeface="楷体_GB2312" pitchFamily="49" charset="-122"/>
              </a:rPr>
              <a:t>直到熵趋近无穷大</a:t>
            </a:r>
            <a:r>
              <a:rPr lang="en-US" altLang="zh-CN" sz="2400" b="1">
                <a:solidFill>
                  <a:schemeClr val="hlink"/>
                </a:solidFill>
                <a:latin typeface="楷体_GB2312" pitchFamily="49" charset="-122"/>
                <a:ea typeface="楷体_GB2312" pitchFamily="49" charset="-122"/>
              </a:rPr>
              <a:t>---</a:t>
            </a:r>
            <a:r>
              <a:rPr lang="zh-CN" altLang="en-US" sz="2400" b="1">
                <a:solidFill>
                  <a:schemeClr val="hlink"/>
                </a:solidFill>
                <a:latin typeface="楷体_GB2312" pitchFamily="49" charset="-122"/>
                <a:ea typeface="楷体_GB2312" pitchFamily="49" charset="-122"/>
              </a:rPr>
              <a:t>死亡到来</a:t>
            </a:r>
            <a:r>
              <a:rPr lang="en-US" altLang="zh-CN" sz="2400" b="1">
                <a:solidFill>
                  <a:schemeClr val="hlink"/>
                </a:solidFill>
                <a:latin typeface="楷体_GB2312" pitchFamily="49" charset="-122"/>
                <a:ea typeface="楷体_GB2312" pitchFamily="49" charset="-122"/>
              </a:rPr>
              <a:t>.</a:t>
            </a:r>
          </a:p>
        </p:txBody>
      </p:sp>
      <p:sp>
        <p:nvSpPr>
          <p:cNvPr id="196611" name="Text Box 3"/>
          <p:cNvSpPr txBox="1">
            <a:spLocks noChangeArrowheads="1"/>
          </p:cNvSpPr>
          <p:nvPr/>
        </p:nvSpPr>
        <p:spPr bwMode="auto">
          <a:xfrm>
            <a:off x="228600" y="2184400"/>
            <a:ext cx="8610600"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chemeClr val="folHlink"/>
                </a:solidFill>
                <a:latin typeface="楷体_GB2312" pitchFamily="49" charset="-122"/>
                <a:ea typeface="楷体_GB2312" pitchFamily="49" charset="-122"/>
              </a:rPr>
              <a:t>修养与健康</a:t>
            </a:r>
            <a:r>
              <a:rPr lang="en-US" altLang="zh-CN" sz="2800" b="1">
                <a:solidFill>
                  <a:schemeClr val="folHlink"/>
                </a:solidFill>
                <a:latin typeface="楷体_GB2312" pitchFamily="49" charset="-122"/>
                <a:ea typeface="楷体_GB2312" pitchFamily="49" charset="-122"/>
              </a:rPr>
              <a:t>:</a:t>
            </a:r>
            <a:r>
              <a:rPr lang="zh-CN" altLang="en-US" sz="2400" b="1">
                <a:solidFill>
                  <a:schemeClr val="folHlink"/>
                </a:solidFill>
                <a:latin typeface="楷体_GB2312" pitchFamily="49" charset="-122"/>
                <a:ea typeface="楷体_GB2312" pitchFamily="49" charset="-122"/>
              </a:rPr>
              <a:t>患得患失、气量狭小、爱生气的人易患癌症不易长寿。人要 </a:t>
            </a:r>
            <a:r>
              <a:rPr lang="zh-CN" altLang="en-US" sz="2400" b="1">
                <a:solidFill>
                  <a:schemeClr val="folHlink"/>
                </a:solidFill>
                <a:ea typeface="楷体_GB2312" pitchFamily="49" charset="-122"/>
              </a:rPr>
              <a:t>“</a:t>
            </a:r>
            <a:r>
              <a:rPr lang="zh-CN" altLang="en-US" sz="2400" b="1">
                <a:solidFill>
                  <a:schemeClr val="folHlink"/>
                </a:solidFill>
                <a:latin typeface="楷体_GB2312" pitchFamily="49" charset="-122"/>
                <a:ea typeface="楷体_GB2312" pitchFamily="49" charset="-122"/>
              </a:rPr>
              <a:t>淡薄名利</a:t>
            </a:r>
            <a:r>
              <a:rPr lang="zh-CN" altLang="en-US" sz="2400" b="1">
                <a:solidFill>
                  <a:schemeClr val="folHlink"/>
                </a:solidFill>
                <a:ea typeface="楷体_GB2312" pitchFamily="49" charset="-122"/>
              </a:rPr>
              <a:t>”</a:t>
            </a:r>
            <a:r>
              <a:rPr lang="zh-CN" altLang="en-US" sz="2400" b="1">
                <a:solidFill>
                  <a:schemeClr val="folHlink"/>
                </a:solidFill>
                <a:latin typeface="楷体_GB2312" pitchFamily="49" charset="-122"/>
                <a:ea typeface="楷体_GB2312" pitchFamily="49" charset="-122"/>
              </a:rPr>
              <a:t>。此方是做人的根本。</a:t>
            </a:r>
          </a:p>
        </p:txBody>
      </p:sp>
      <p:sp>
        <p:nvSpPr>
          <p:cNvPr id="196612" name="Text Box 4"/>
          <p:cNvSpPr txBox="1">
            <a:spLocks noChangeArrowheads="1"/>
          </p:cNvSpPr>
          <p:nvPr/>
        </p:nvSpPr>
        <p:spPr bwMode="auto">
          <a:xfrm>
            <a:off x="304800" y="3187700"/>
            <a:ext cx="8382000" cy="1249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zh-CN" altLang="en-US" sz="2800" b="1">
                <a:solidFill>
                  <a:schemeClr val="accent2"/>
                </a:solidFill>
                <a:latin typeface="宋体" pitchFamily="2" charset="-122"/>
              </a:rPr>
              <a:t>改革开放的正确性：</a:t>
            </a:r>
            <a:r>
              <a:rPr lang="zh-CN" altLang="en-US" sz="2400" b="1">
                <a:solidFill>
                  <a:schemeClr val="accent2"/>
                </a:solidFill>
                <a:latin typeface="宋体" pitchFamily="2" charset="-122"/>
              </a:rPr>
              <a:t>热二律告诉我们，一个孤立的社会系统，由于自身的不可逆过程（能源、交通、犯罪等），熵将趋于极大，信息量极小，没有生机、贫穷落后。</a:t>
            </a:r>
          </a:p>
        </p:txBody>
      </p:sp>
      <p:sp>
        <p:nvSpPr>
          <p:cNvPr id="196613" name="Text Box 5"/>
          <p:cNvSpPr txBox="1">
            <a:spLocks noChangeArrowheads="1"/>
          </p:cNvSpPr>
          <p:nvPr/>
        </p:nvSpPr>
        <p:spPr bwMode="auto">
          <a:xfrm>
            <a:off x="228600" y="4800600"/>
            <a:ext cx="8458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r>
              <a:rPr lang="en-US" altLang="zh-CN" sz="2800" b="1">
                <a:solidFill>
                  <a:schemeClr val="accent2"/>
                </a:solidFill>
                <a:latin typeface="宋体" pitchFamily="2" charset="-122"/>
              </a:rPr>
              <a:t>   </a:t>
            </a:r>
            <a:r>
              <a:rPr lang="zh-CN" altLang="en-US" sz="2800" b="1">
                <a:solidFill>
                  <a:schemeClr val="accent2"/>
                </a:solidFill>
                <a:latin typeface="宋体" pitchFamily="2" charset="-122"/>
              </a:rPr>
              <a:t>耗散结构告诉我们，一个开放的社会，通过输入入能源、信息、新技术</a:t>
            </a:r>
            <a:r>
              <a:rPr lang="en-US" altLang="zh-CN" sz="2800" b="1">
                <a:solidFill>
                  <a:schemeClr val="accent2"/>
                </a:solidFill>
                <a:latin typeface="宋体" pitchFamily="2" charset="-122"/>
              </a:rPr>
              <a:t>----</a:t>
            </a:r>
            <a:r>
              <a:rPr lang="zh-CN" altLang="en-US" sz="2800" b="1">
                <a:solidFill>
                  <a:schemeClr val="accent2"/>
                </a:solidFill>
                <a:latin typeface="宋体" pitchFamily="2" charset="-122"/>
              </a:rPr>
              <a:t>，输出自已的产品、技术等，才能使社会在更高层次保持有序。</a:t>
            </a:r>
          </a:p>
        </p:txBody>
      </p:sp>
    </p:spTree>
    <p:extLst>
      <p:ext uri="{BB962C8B-B14F-4D97-AF65-F5344CB8AC3E}">
        <p14:creationId xmlns:p14="http://schemas.microsoft.com/office/powerpoint/2010/main" val="261944659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6610"/>
                                        </p:tgtEl>
                                        <p:attrNameLst>
                                          <p:attrName>style.visibility</p:attrName>
                                        </p:attrNameLst>
                                      </p:cBhvr>
                                      <p:to>
                                        <p:strVal val="visible"/>
                                      </p:to>
                                    </p:set>
                                    <p:animEffect transition="in" filter="strips(downRight)">
                                      <p:cBhvr>
                                        <p:cTn id="7" dur="500"/>
                                        <p:tgtEl>
                                          <p:spTgt spid="196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96611"/>
                                        </p:tgtEl>
                                        <p:attrNameLst>
                                          <p:attrName>style.visibility</p:attrName>
                                        </p:attrNameLst>
                                      </p:cBhvr>
                                      <p:to>
                                        <p:strVal val="visible"/>
                                      </p:to>
                                    </p:set>
                                    <p:animEffect transition="in" filter="strips(downRight)">
                                      <p:cBhvr>
                                        <p:cTn id="12" dur="500"/>
                                        <p:tgtEl>
                                          <p:spTgt spid="1966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96612"/>
                                        </p:tgtEl>
                                        <p:attrNameLst>
                                          <p:attrName>style.visibility</p:attrName>
                                        </p:attrNameLst>
                                      </p:cBhvr>
                                      <p:to>
                                        <p:strVal val="visible"/>
                                      </p:to>
                                    </p:set>
                                    <p:animEffect transition="in" filter="strips(downRight)">
                                      <p:cBhvr>
                                        <p:cTn id="17" dur="500"/>
                                        <p:tgtEl>
                                          <p:spTgt spid="1966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96613"/>
                                        </p:tgtEl>
                                        <p:attrNameLst>
                                          <p:attrName>style.visibility</p:attrName>
                                        </p:attrNameLst>
                                      </p:cBhvr>
                                      <p:to>
                                        <p:strVal val="visible"/>
                                      </p:to>
                                    </p:set>
                                    <p:animEffect transition="in" filter="strips(downRight)">
                                      <p:cBhvr>
                                        <p:cTn id="22" dur="500"/>
                                        <p:tgtEl>
                                          <p:spTgt spid="196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0" grpId="0" autoUpdateAnimBg="0"/>
      <p:bldP spid="196611" grpId="0" autoUpdateAnimBg="0"/>
      <p:bldP spid="196612" grpId="0" autoUpdateAnimBg="0"/>
      <p:bldP spid="196613" grpId="0"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ChangeArrowheads="1"/>
          </p:cNvSpPr>
          <p:nvPr/>
        </p:nvSpPr>
        <p:spPr bwMode="auto">
          <a:xfrm>
            <a:off x="304800" y="5334000"/>
            <a:ext cx="84137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762000" eaLnBrk="0" hangingPunct="0"/>
            <a:r>
              <a:rPr lang="zh-CN" altLang="en-US" sz="2400" b="1"/>
              <a:t>用熵的概念，研究  </a:t>
            </a:r>
            <a:r>
              <a:rPr lang="en-US" altLang="zh-CN" sz="2400" b="1"/>
              <a:t>1</a:t>
            </a:r>
            <a:r>
              <a:rPr lang="zh-CN" altLang="en-US" sz="2400" b="1"/>
              <a:t>）信息量大小与有序度；</a:t>
            </a:r>
          </a:p>
          <a:p>
            <a:pPr algn="l" defTabSz="762000" eaLnBrk="0" hangingPunct="0"/>
            <a:r>
              <a:rPr lang="zh-CN" altLang="en-US" sz="2400" b="1"/>
              <a:t>                                  </a:t>
            </a:r>
            <a:r>
              <a:rPr lang="en-US" altLang="zh-CN" sz="2400" b="1"/>
              <a:t>2</a:t>
            </a:r>
            <a:r>
              <a:rPr lang="zh-CN" altLang="en-US" sz="2400" b="1"/>
              <a:t>）经济结构（多样化模式与稳定性等）；</a:t>
            </a:r>
          </a:p>
          <a:p>
            <a:pPr algn="l" defTabSz="762000" eaLnBrk="0" hangingPunct="0"/>
            <a:r>
              <a:rPr lang="zh-CN" altLang="en-US" sz="2400" b="1"/>
              <a:t>                                  </a:t>
            </a:r>
            <a:r>
              <a:rPr lang="en-US" altLang="zh-CN" sz="2400" b="1"/>
              <a:t>3</a:t>
            </a:r>
            <a:r>
              <a:rPr lang="zh-CN" altLang="en-US" sz="2400" b="1"/>
              <a:t>）社会思潮与社会的稳定性，等。</a:t>
            </a:r>
          </a:p>
        </p:txBody>
      </p:sp>
      <p:sp>
        <p:nvSpPr>
          <p:cNvPr id="197635" name="Rectangle 3"/>
          <p:cNvSpPr>
            <a:spLocks noChangeArrowheads="1"/>
          </p:cNvSpPr>
          <p:nvPr/>
        </p:nvSpPr>
        <p:spPr bwMode="auto">
          <a:xfrm>
            <a:off x="304800" y="304800"/>
            <a:ext cx="3505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a:solidFill>
                  <a:schemeClr val="folHlink"/>
                </a:solidFill>
              </a:rPr>
              <a:t>4</a:t>
            </a:r>
            <a:r>
              <a:rPr lang="zh-CN" altLang="en-US" sz="2800" b="1">
                <a:solidFill>
                  <a:schemeClr val="folHlink"/>
                </a:solidFill>
              </a:rPr>
              <a:t>、熵与能量 </a:t>
            </a:r>
          </a:p>
        </p:txBody>
      </p:sp>
      <p:sp>
        <p:nvSpPr>
          <p:cNvPr id="197636" name="Rectangle 4"/>
          <p:cNvSpPr>
            <a:spLocks noChangeArrowheads="1"/>
          </p:cNvSpPr>
          <p:nvPr/>
        </p:nvSpPr>
        <p:spPr bwMode="auto">
          <a:xfrm>
            <a:off x="304800" y="2438400"/>
            <a:ext cx="85344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en-US" altLang="zh-CN" sz="2400" b="1"/>
              <a:t>        </a:t>
            </a:r>
            <a:r>
              <a:rPr lang="zh-CN" altLang="en-US" sz="2400" b="1"/>
              <a:t>热力学第一定律反映了能量转化的等值性，而热力学第二定律则反映了能量转化的不可逆性，前者是能量的规律，后者是熵的法则。</a:t>
            </a:r>
            <a:r>
              <a:rPr lang="zh-CN" altLang="en-US" sz="2400" b="1">
                <a:solidFill>
                  <a:schemeClr val="hlink"/>
                </a:solidFill>
              </a:rPr>
              <a:t>能量与熵这两个物理量既有密切的联系又有本质的不同。</a:t>
            </a:r>
          </a:p>
          <a:p>
            <a:pPr algn="just" eaLnBrk="0" hangingPunct="0">
              <a:spcBef>
                <a:spcPct val="50000"/>
              </a:spcBef>
            </a:pPr>
            <a:r>
              <a:rPr lang="zh-CN" altLang="en-US" sz="2400" b="1"/>
              <a:t>以热机的发展为主导的第一次工业革命是</a:t>
            </a:r>
            <a:r>
              <a:rPr lang="zh-CN" altLang="en-US" sz="2400" b="1">
                <a:solidFill>
                  <a:schemeClr val="hlink"/>
                </a:solidFill>
              </a:rPr>
              <a:t>能量的革命</a:t>
            </a:r>
            <a:r>
              <a:rPr lang="zh-CN" altLang="en-US" sz="2400" b="1"/>
              <a:t>。</a:t>
            </a:r>
          </a:p>
          <a:p>
            <a:pPr algn="just" eaLnBrk="0" hangingPunct="0">
              <a:spcBef>
                <a:spcPct val="50000"/>
              </a:spcBef>
            </a:pPr>
            <a:r>
              <a:rPr lang="zh-CN" altLang="en-US" sz="2400" b="1"/>
              <a:t>当前以信息技术为先导的第三次革命是</a:t>
            </a:r>
            <a:r>
              <a:rPr lang="zh-CN" altLang="en-US" sz="2400" b="1">
                <a:solidFill>
                  <a:schemeClr val="hlink"/>
                </a:solidFill>
              </a:rPr>
              <a:t>熵的革命</a:t>
            </a:r>
            <a:r>
              <a:rPr lang="zh-CN" altLang="en-US" sz="2400" b="1"/>
              <a:t>。</a:t>
            </a:r>
          </a:p>
        </p:txBody>
      </p:sp>
      <p:sp>
        <p:nvSpPr>
          <p:cNvPr id="197637" name="Rectangle 5"/>
          <p:cNvSpPr>
            <a:spLocks noChangeArrowheads="1"/>
          </p:cNvSpPr>
          <p:nvPr/>
        </p:nvSpPr>
        <p:spPr bwMode="auto">
          <a:xfrm>
            <a:off x="304800" y="914400"/>
            <a:ext cx="8534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400" b="1">
                <a:solidFill>
                  <a:schemeClr val="hlink"/>
                </a:solidFill>
              </a:rPr>
              <a:t>         </a:t>
            </a:r>
            <a:r>
              <a:rPr lang="zh-CN" altLang="en-US" sz="2400" b="1">
                <a:solidFill>
                  <a:schemeClr val="hlink"/>
                </a:solidFill>
              </a:rPr>
              <a:t>熵是能量不可用程度的量度</a:t>
            </a:r>
            <a:r>
              <a:rPr lang="zh-CN" altLang="en-US" sz="2400" b="1"/>
              <a:t>，熵增加意味着系统中成为不可用能量的部分在增大</a:t>
            </a:r>
            <a:r>
              <a:rPr lang="en-US" altLang="zh-CN" sz="2400" b="1"/>
              <a:t>——</a:t>
            </a:r>
            <a:r>
              <a:rPr lang="zh-CN" altLang="en-US" sz="2400" b="1"/>
              <a:t>能量退化。不可逆过程的熵增加标致着宏观能量的退化和微观混乱度增加。</a:t>
            </a:r>
          </a:p>
        </p:txBody>
      </p:sp>
      <p:grpSp>
        <p:nvGrpSpPr>
          <p:cNvPr id="197638" name="Group 6"/>
          <p:cNvGrpSpPr>
            <a:grpSpLocks/>
          </p:cNvGrpSpPr>
          <p:nvPr/>
        </p:nvGrpSpPr>
        <p:grpSpPr bwMode="auto">
          <a:xfrm>
            <a:off x="4730750" y="260350"/>
            <a:ext cx="4413250" cy="6597650"/>
            <a:chOff x="2980" y="164"/>
            <a:chExt cx="2780" cy="4156"/>
          </a:xfrm>
        </p:grpSpPr>
        <p:sp>
          <p:nvSpPr>
            <p:cNvPr id="78855" name="Text Box 7"/>
            <p:cNvSpPr txBox="1">
              <a:spLocks noChangeArrowheads="1"/>
            </p:cNvSpPr>
            <p:nvPr/>
          </p:nvSpPr>
          <p:spPr bwMode="auto">
            <a:xfrm>
              <a:off x="2980" y="3916"/>
              <a:ext cx="2780"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000">
                  <a:solidFill>
                    <a:schemeClr val="tx1"/>
                  </a:solidFill>
                  <a:latin typeface="Times New Roman" pitchFamily="18" charset="0"/>
                  <a:ea typeface="宋体" pitchFamily="2" charset="-122"/>
                </a:defRPr>
              </a:lvl1pPr>
              <a:lvl2pPr marL="742950" indent="-285750" eaLnBrk="0" hangingPunct="0">
                <a:defRPr kumimoji="1" sz="2000">
                  <a:solidFill>
                    <a:schemeClr val="tx1"/>
                  </a:solidFill>
                  <a:latin typeface="Times New Roman" pitchFamily="18" charset="0"/>
                  <a:ea typeface="宋体" pitchFamily="2" charset="-122"/>
                </a:defRPr>
              </a:lvl2pPr>
              <a:lvl3pPr marL="1143000" indent="-228600" eaLnBrk="0" hangingPunct="0">
                <a:defRPr kumimoji="1" sz="2000">
                  <a:solidFill>
                    <a:schemeClr val="tx1"/>
                  </a:solidFill>
                  <a:latin typeface="Times New Roman" pitchFamily="18" charset="0"/>
                  <a:ea typeface="宋体" pitchFamily="2" charset="-122"/>
                </a:defRPr>
              </a:lvl3pPr>
              <a:lvl4pPr marL="1600200" indent="-228600" eaLnBrk="0" hangingPunct="0">
                <a:defRPr kumimoji="1" sz="2000">
                  <a:solidFill>
                    <a:schemeClr val="tx1"/>
                  </a:solidFill>
                  <a:latin typeface="Times New Roman" pitchFamily="18" charset="0"/>
                  <a:ea typeface="宋体" pitchFamily="2" charset="-122"/>
                </a:defRPr>
              </a:lvl4pPr>
              <a:lvl5pPr marL="2057400" indent="-228600" eaLnBrk="0" hangingPunct="0">
                <a:defRPr kumimoji="1" sz="20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000">
                  <a:solidFill>
                    <a:schemeClr val="tx1"/>
                  </a:solidFill>
                  <a:latin typeface="Times New Roman" pitchFamily="18" charset="0"/>
                  <a:ea typeface="宋体" pitchFamily="2" charset="-122"/>
                </a:defRPr>
              </a:lvl9pPr>
            </a:lstStyle>
            <a:p>
              <a:pPr algn="l" eaLnBrk="1" hangingPunct="1">
                <a:spcBef>
                  <a:spcPct val="20000"/>
                </a:spcBef>
              </a:pPr>
              <a:r>
                <a:rPr lang="zh-CN" altLang="en-US" sz="3600" b="1">
                  <a:solidFill>
                    <a:srgbClr val="FF3300"/>
                  </a:solidFill>
                  <a:ea typeface="楷体_GB2312" pitchFamily="49" charset="-122"/>
                </a:rPr>
                <a:t>熵：一种新的世界观 </a:t>
              </a:r>
            </a:p>
          </p:txBody>
        </p:sp>
        <p:pic>
          <p:nvPicPr>
            <p:cNvPr id="78856" name="Picture 8" descr="200312813399877">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6" y="164"/>
              <a:ext cx="2424" cy="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矩形 1"/>
          <p:cNvSpPr/>
          <p:nvPr/>
        </p:nvSpPr>
        <p:spPr>
          <a:xfrm>
            <a:off x="841670" y="0"/>
            <a:ext cx="6189166" cy="400110"/>
          </a:xfrm>
          <a:prstGeom prst="rect">
            <a:avLst/>
          </a:prstGeom>
        </p:spPr>
        <p:txBody>
          <a:bodyPr wrap="square">
            <a:spAutoFit/>
          </a:bodyPr>
          <a:lstStyle/>
          <a:p>
            <a:r>
              <a:rPr lang="en-US" altLang="zh-CN" dirty="0"/>
              <a:t>http://</a:t>
            </a:r>
            <a:r>
              <a:rPr lang="en-US" altLang="zh-CN" dirty="0">
                <a:hlinkClick r:id="rId4"/>
              </a:rPr>
              <a:t>www.ruanyifeng.com/blog/2013/04/entropy.html</a:t>
            </a:r>
            <a:endParaRPr lang="zh-CN" altLang="en-US" dirty="0"/>
          </a:p>
        </p:txBody>
      </p:sp>
    </p:spTree>
    <p:extLst>
      <p:ext uri="{BB962C8B-B14F-4D97-AF65-F5344CB8AC3E}">
        <p14:creationId xmlns:p14="http://schemas.microsoft.com/office/powerpoint/2010/main" val="391408635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7635"/>
                                        </p:tgtEl>
                                        <p:attrNameLst>
                                          <p:attrName>style.visibility</p:attrName>
                                        </p:attrNameLst>
                                      </p:cBhvr>
                                      <p:to>
                                        <p:strVal val="visible"/>
                                      </p:to>
                                    </p:set>
                                    <p:anim calcmode="lin" valueType="num">
                                      <p:cBhvr additive="base">
                                        <p:cTn id="7" dur="500" fill="hold"/>
                                        <p:tgtEl>
                                          <p:spTgt spid="197635"/>
                                        </p:tgtEl>
                                        <p:attrNameLst>
                                          <p:attrName>ppt_x</p:attrName>
                                        </p:attrNameLst>
                                      </p:cBhvr>
                                      <p:tavLst>
                                        <p:tav tm="0">
                                          <p:val>
                                            <p:strVal val="0-#ppt_w/2"/>
                                          </p:val>
                                        </p:tav>
                                        <p:tav tm="100000">
                                          <p:val>
                                            <p:strVal val="#ppt_x"/>
                                          </p:val>
                                        </p:tav>
                                      </p:tavLst>
                                    </p:anim>
                                    <p:anim calcmode="lin" valueType="num">
                                      <p:cBhvr additive="base">
                                        <p:cTn id="8" dur="500" fill="hold"/>
                                        <p:tgtEl>
                                          <p:spTgt spid="19763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97637"/>
                                        </p:tgtEl>
                                        <p:attrNameLst>
                                          <p:attrName>style.visibility</p:attrName>
                                        </p:attrNameLst>
                                      </p:cBhvr>
                                      <p:to>
                                        <p:strVal val="visible"/>
                                      </p:to>
                                    </p:set>
                                    <p:animEffect transition="in" filter="dissolve">
                                      <p:cBhvr>
                                        <p:cTn id="13" dur="500"/>
                                        <p:tgtEl>
                                          <p:spTgt spid="19763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197636">
                                            <p:txEl>
                                              <p:pRg st="0" end="0"/>
                                            </p:txEl>
                                          </p:spTgt>
                                        </p:tgtEl>
                                        <p:attrNameLst>
                                          <p:attrName>style.visibility</p:attrName>
                                        </p:attrNameLst>
                                      </p:cBhvr>
                                      <p:to>
                                        <p:strVal val="visible"/>
                                      </p:to>
                                    </p:set>
                                    <p:animEffect transition="in" filter="blinds(vertical)">
                                      <p:cBhvr>
                                        <p:cTn id="18" dur="500"/>
                                        <p:tgtEl>
                                          <p:spTgt spid="197636">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197636">
                                            <p:txEl>
                                              <p:pRg st="1" end="1"/>
                                            </p:txEl>
                                          </p:spTgt>
                                        </p:tgtEl>
                                        <p:attrNameLst>
                                          <p:attrName>style.visibility</p:attrName>
                                        </p:attrNameLst>
                                      </p:cBhvr>
                                      <p:to>
                                        <p:strVal val="visible"/>
                                      </p:to>
                                    </p:set>
                                    <p:animEffect transition="in" filter="blinds(vertical)">
                                      <p:cBhvr>
                                        <p:cTn id="23" dur="500"/>
                                        <p:tgtEl>
                                          <p:spTgt spid="197636">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197636">
                                            <p:txEl>
                                              <p:pRg st="2" end="2"/>
                                            </p:txEl>
                                          </p:spTgt>
                                        </p:tgtEl>
                                        <p:attrNameLst>
                                          <p:attrName>style.visibility</p:attrName>
                                        </p:attrNameLst>
                                      </p:cBhvr>
                                      <p:to>
                                        <p:strVal val="visible"/>
                                      </p:to>
                                    </p:set>
                                    <p:animEffect transition="in" filter="blinds(vertical)">
                                      <p:cBhvr>
                                        <p:cTn id="28" dur="500"/>
                                        <p:tgtEl>
                                          <p:spTgt spid="197636">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197634">
                                            <p:txEl>
                                              <p:pRg st="0" end="0"/>
                                            </p:txEl>
                                          </p:spTgt>
                                        </p:tgtEl>
                                        <p:attrNameLst>
                                          <p:attrName>style.visibility</p:attrName>
                                        </p:attrNameLst>
                                      </p:cBhvr>
                                      <p:to>
                                        <p:strVal val="visible"/>
                                      </p:to>
                                    </p:set>
                                    <p:animEffect transition="in" filter="checkerboard(across)">
                                      <p:cBhvr>
                                        <p:cTn id="33" dur="500"/>
                                        <p:tgtEl>
                                          <p:spTgt spid="197634">
                                            <p:txEl>
                                              <p:pRg st="0" end="0"/>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197634">
                                            <p:txEl>
                                              <p:pRg st="1" end="1"/>
                                            </p:txEl>
                                          </p:spTgt>
                                        </p:tgtEl>
                                        <p:attrNameLst>
                                          <p:attrName>style.visibility</p:attrName>
                                        </p:attrNameLst>
                                      </p:cBhvr>
                                      <p:to>
                                        <p:strVal val="visible"/>
                                      </p:to>
                                    </p:set>
                                    <p:animEffect transition="in" filter="checkerboard(across)">
                                      <p:cBhvr>
                                        <p:cTn id="38" dur="500"/>
                                        <p:tgtEl>
                                          <p:spTgt spid="197634">
                                            <p:txEl>
                                              <p:pRg st="1" end="1"/>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197634">
                                            <p:txEl>
                                              <p:pRg st="2" end="2"/>
                                            </p:txEl>
                                          </p:spTgt>
                                        </p:tgtEl>
                                        <p:attrNameLst>
                                          <p:attrName>style.visibility</p:attrName>
                                        </p:attrNameLst>
                                      </p:cBhvr>
                                      <p:to>
                                        <p:strVal val="visible"/>
                                      </p:to>
                                    </p:set>
                                    <p:animEffect transition="in" filter="checkerboard(across)">
                                      <p:cBhvr>
                                        <p:cTn id="43" dur="500"/>
                                        <p:tgtEl>
                                          <p:spTgt spid="197634">
                                            <p:txEl>
                                              <p:pRg st="2" end="2"/>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1976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build="p" autoUpdateAnimBg="0"/>
      <p:bldP spid="197635" grpId="0" autoUpdateAnimBg="0"/>
      <p:bldP spid="197636" grpId="0" build="p" autoUpdateAnimBg="0"/>
      <p:bldP spid="197637"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
          <p:cNvSpPr txBox="1">
            <a:spLocks noChangeArrowheads="1"/>
          </p:cNvSpPr>
          <p:nvPr/>
        </p:nvSpPr>
        <p:spPr bwMode="auto">
          <a:xfrm>
            <a:off x="89693" y="1075324"/>
            <a:ext cx="8964613"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4000" b="1">
                <a:solidFill>
                  <a:srgbClr val="FF3300"/>
                </a:solidFill>
                <a:ea typeface="楷体_GB2312"/>
                <a:cs typeface="楷体_GB2312"/>
              </a:rPr>
              <a:t>11</a:t>
            </a:r>
            <a:r>
              <a:rPr lang="zh-CN" altLang="en-US" sz="4000" b="1">
                <a:solidFill>
                  <a:srgbClr val="FF3300"/>
                </a:solidFill>
                <a:ea typeface="楷体_GB2312"/>
                <a:cs typeface="楷体_GB2312"/>
              </a:rPr>
              <a:t>月</a:t>
            </a:r>
            <a:r>
              <a:rPr lang="en-US" altLang="zh-CN" sz="4000" b="1">
                <a:solidFill>
                  <a:srgbClr val="FF3300"/>
                </a:solidFill>
                <a:ea typeface="楷体_GB2312"/>
                <a:cs typeface="楷体_GB2312"/>
              </a:rPr>
              <a:t>27</a:t>
            </a:r>
            <a:r>
              <a:rPr lang="zh-CN" altLang="en-US" sz="4000" b="1">
                <a:solidFill>
                  <a:srgbClr val="FF3300"/>
                </a:solidFill>
                <a:ea typeface="楷体_GB2312"/>
                <a:cs typeface="楷体_GB2312"/>
              </a:rPr>
              <a:t>号作业：</a:t>
            </a:r>
          </a:p>
          <a:p>
            <a:pPr lvl="1" eaLnBrk="1" hangingPunct="1">
              <a:buFontTx/>
              <a:buNone/>
            </a:pPr>
            <a:r>
              <a:rPr lang="en-US" altLang="zh-CN" sz="4000" b="1">
                <a:solidFill>
                  <a:srgbClr val="FF3300"/>
                </a:solidFill>
                <a:ea typeface="楷体_GB2312"/>
                <a:cs typeface="楷体_GB2312"/>
              </a:rPr>
              <a:t>6- 23, </a:t>
            </a:r>
            <a:r>
              <a:rPr lang="en-US" altLang="zh-CN" sz="4000" b="1" i="0">
                <a:solidFill>
                  <a:srgbClr val="FF3300"/>
                </a:solidFill>
                <a:ea typeface="楷体_GB2312"/>
                <a:cs typeface="楷体_GB2312"/>
              </a:rPr>
              <a:t>6- </a:t>
            </a:r>
            <a:r>
              <a:rPr lang="en-US" altLang="zh-CN" sz="4000" b="1">
                <a:solidFill>
                  <a:srgbClr val="FF3300"/>
                </a:solidFill>
                <a:ea typeface="楷体_GB2312"/>
                <a:cs typeface="楷体_GB2312"/>
              </a:rPr>
              <a:t>24</a:t>
            </a:r>
            <a:r>
              <a:rPr lang="zh-CN" altLang="en-US" sz="4000" b="1" i="0">
                <a:solidFill>
                  <a:srgbClr val="FF3300"/>
                </a:solidFill>
                <a:ea typeface="楷体_GB2312"/>
                <a:cs typeface="楷体_GB2312"/>
              </a:rPr>
              <a:t>，</a:t>
            </a:r>
            <a:r>
              <a:rPr lang="en-US" altLang="zh-CN" sz="4000" b="1" i="0">
                <a:solidFill>
                  <a:srgbClr val="FF3300"/>
                </a:solidFill>
                <a:ea typeface="楷体_GB2312"/>
                <a:cs typeface="楷体_GB2312"/>
              </a:rPr>
              <a:t>6-25 </a:t>
            </a:r>
            <a:r>
              <a:rPr lang="en-US" altLang="zh-CN" sz="4000" b="1">
                <a:solidFill>
                  <a:srgbClr val="FF3300"/>
                </a:solidFill>
                <a:ea typeface="楷体_GB2312"/>
                <a:cs typeface="楷体_GB2312"/>
              </a:rPr>
              <a:t>,   </a:t>
            </a:r>
          </a:p>
          <a:p>
            <a:pPr lvl="1" eaLnBrk="1" hangingPunct="1">
              <a:buFontTx/>
              <a:buNone/>
            </a:pPr>
            <a:r>
              <a:rPr lang="en-US" altLang="zh-CN" sz="4000" b="1">
                <a:solidFill>
                  <a:srgbClr val="FF3300"/>
                </a:solidFill>
                <a:ea typeface="楷体_GB2312"/>
                <a:cs typeface="楷体_GB2312"/>
              </a:rPr>
              <a:t>6-26</a:t>
            </a:r>
            <a:r>
              <a:rPr lang="zh-CN" altLang="en-US" sz="4000" b="1">
                <a:solidFill>
                  <a:srgbClr val="FF3300"/>
                </a:solidFill>
                <a:ea typeface="楷体_GB2312"/>
                <a:cs typeface="楷体_GB2312"/>
              </a:rPr>
              <a:t>，</a:t>
            </a:r>
            <a:r>
              <a:rPr lang="en-US" altLang="zh-CN" sz="4000" b="1" i="0">
                <a:solidFill>
                  <a:srgbClr val="FF3300"/>
                </a:solidFill>
                <a:ea typeface="楷体_GB2312"/>
                <a:cs typeface="楷体_GB2312"/>
              </a:rPr>
              <a:t> 6-27</a:t>
            </a:r>
            <a:endParaRPr lang="en-US" altLang="zh-CN" sz="4400" b="1" i="0">
              <a:solidFill>
                <a:srgbClr val="FF3300"/>
              </a:solidFill>
              <a:ea typeface="楷体_GB2312"/>
              <a:cs typeface="楷体_GB2312"/>
            </a:endParaRPr>
          </a:p>
        </p:txBody>
      </p:sp>
      <p:sp>
        <p:nvSpPr>
          <p:cNvPr id="2" name="矩形 1">
            <a:extLst>
              <a:ext uri="{FF2B5EF4-FFF2-40B4-BE49-F238E27FC236}">
                <a16:creationId xmlns:a16="http://schemas.microsoft.com/office/drawing/2014/main" id="{DA8B4B58-B425-47A3-BAC0-2BB17BA556F2}"/>
              </a:ext>
            </a:extLst>
          </p:cNvPr>
          <p:cNvSpPr/>
          <p:nvPr/>
        </p:nvSpPr>
        <p:spPr>
          <a:xfrm>
            <a:off x="251520" y="4653136"/>
            <a:ext cx="8496944" cy="1631216"/>
          </a:xfrm>
          <a:prstGeom prst="rect">
            <a:avLst/>
          </a:prstGeom>
        </p:spPr>
        <p:txBody>
          <a:bodyPr wrap="square">
            <a:spAutoFit/>
          </a:bodyPr>
          <a:lstStyle/>
          <a:p>
            <a:r>
              <a:rPr lang="zh-CN" altLang="en-US">
                <a:solidFill>
                  <a:srgbClr val="FF0000"/>
                </a:solidFill>
              </a:rPr>
              <a:t>热学复习题：</a:t>
            </a:r>
            <a:r>
              <a:rPr lang="zh-CN" altLang="en-US">
                <a:hlinkClick r:id="rId3"/>
              </a:rPr>
              <a:t>https://max.book118.com/html/2019/0323/8017105142002013.shtm</a:t>
            </a:r>
            <a:endParaRPr lang="en-US" altLang="zh-CN"/>
          </a:p>
          <a:p>
            <a:endParaRPr lang="en-US" altLang="zh-CN"/>
          </a:p>
          <a:p>
            <a:r>
              <a:rPr lang="en-US" altLang="zh-CN">
                <a:hlinkClick r:id="rId4"/>
              </a:rPr>
              <a:t>https://wenku.baidu.com/view/853dd7697e21af45b307a879.html</a:t>
            </a:r>
            <a:endParaRPr lang="en-US" altLang="zh-CN"/>
          </a:p>
          <a:p>
            <a:endParaRPr lang="zh-CN" altLang="en-US"/>
          </a:p>
        </p:txBody>
      </p:sp>
    </p:spTree>
    <p:extLst>
      <p:ext uri="{BB962C8B-B14F-4D97-AF65-F5344CB8AC3E}">
        <p14:creationId xmlns:p14="http://schemas.microsoft.com/office/powerpoint/2010/main" val="162194147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autoUpdateAnimBg="0"/>
    </p:bldLst>
  </p:timing>
</p:sld>
</file>

<file path=ppt/theme/theme1.xml><?xml version="1.0" encoding="utf-8"?>
<a:theme xmlns:a="http://schemas.openxmlformats.org/drawingml/2006/main" name="教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FF3300"/>
      </a:folHlink>
    </a:clrScheme>
    <a:fontScheme name="教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0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0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教案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教案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教案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教案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教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教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教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D:\MSOffice\Templates\教案.pot</Template>
  <TotalTime>7343</TotalTime>
  <Words>10311</Words>
  <Application>Microsoft Office PowerPoint</Application>
  <PresentationFormat>全屏显示(4:3)</PresentationFormat>
  <Paragraphs>908</Paragraphs>
  <Slides>102</Slides>
  <Notes>31</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8</vt:i4>
      </vt:variant>
      <vt:variant>
        <vt:lpstr>幻灯片标题</vt:lpstr>
      </vt:variant>
      <vt:variant>
        <vt:i4>102</vt:i4>
      </vt:variant>
    </vt:vector>
  </HeadingPairs>
  <TitlesOfParts>
    <vt:vector size="134" baseType="lpstr">
      <vt:lpstr>Microsoft Yahei</vt:lpstr>
      <vt:lpstr>Oswald</vt:lpstr>
      <vt:lpstr>PingFang SC</vt:lpstr>
      <vt:lpstr>Roboto</vt:lpstr>
      <vt:lpstr>Söhne</vt:lpstr>
      <vt:lpstr>Times New Roman, Times, serif</vt:lpstr>
      <vt:lpstr>仿宋_GB2312</vt:lpstr>
      <vt:lpstr>黑体</vt:lpstr>
      <vt:lpstr>华文隶书</vt:lpstr>
      <vt:lpstr>华文新魏</vt:lpstr>
      <vt:lpstr>楷体_GB2312</vt:lpstr>
      <vt:lpstr>隶书_GB2312</vt:lpstr>
      <vt:lpstr>宋体</vt:lpstr>
      <vt:lpstr>Arial</vt:lpstr>
      <vt:lpstr>Arial</vt:lpstr>
      <vt:lpstr>Bookman Old Style</vt:lpstr>
      <vt:lpstr>Calibri</vt:lpstr>
      <vt:lpstr>Cambria Math</vt:lpstr>
      <vt:lpstr>Century Schoolbook</vt:lpstr>
      <vt:lpstr>Franklin Gothic Book</vt:lpstr>
      <vt:lpstr>Symbol</vt:lpstr>
      <vt:lpstr>Times New Roman</vt:lpstr>
      <vt:lpstr>Wingdings</vt:lpstr>
      <vt:lpstr>教案</vt:lpstr>
      <vt:lpstr>Equation</vt:lpstr>
      <vt:lpstr>公式</vt:lpstr>
      <vt:lpstr>Slide</vt:lpstr>
      <vt:lpstr>Bitmap Image</vt:lpstr>
      <vt:lpstr>MathType 7.0 Equation</vt:lpstr>
      <vt:lpstr>Equation.3</vt:lpstr>
      <vt:lpstr>文档</vt:lpstr>
      <vt:lpstr>Graph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斯特林引擎（Stirling Engine）， 是一种由外部供热使气体在不同温度下作周期性压缩和膨胀的封闭往复式发动机。 它由苏格兰牧师斯特林提出。</vt:lpstr>
      <vt:lpstr>PowerPoint 演示文稿</vt:lpstr>
      <vt:lpstr>PowerPoint 演示文稿</vt:lpstr>
      <vt:lpstr>PowerPoint 演示文稿</vt:lpstr>
      <vt:lpstr>例6.布莱顿循环的计算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六、热力学第二定律的统计意义</vt:lpstr>
      <vt:lpstr>1、热力学概率（thermodynamic probability ）</vt:lpstr>
      <vt:lpstr>Entropy, Marble Example, Results</vt:lpstr>
      <vt:lpstr>若容器中分子数达到N=61023 数量级时，则总共有种微观状态2N，其中n个在A室，（N -n）个在B室的宏观状态所包含的微观状态数C_N^n（也称为热力学概率）为：   如左图所示，N个分子均匀分布（n=N/2）的宏观状态所包含的微观状态（此刻热力学概率W(n)具有极大值），其出现的概率几乎是100％。而N个分子全部同时返回A室的概率为其值极其微小，   接近于零，意味着气体向真空由自由膨胀后，很难自动收缩回去。 </vt:lpstr>
      <vt:lpstr>PowerPoint 演示文稿</vt:lpstr>
      <vt:lpstr>2、玻耳兹曼Boltzmann熵公式</vt:lpstr>
      <vt:lpstr>PowerPoint 演示文稿</vt:lpstr>
      <vt:lpstr>PowerPoint 演示文稿</vt:lpstr>
      <vt:lpstr>PowerPoint 演示文稿</vt:lpstr>
      <vt:lpstr>3、热力学第二定律的统计意义 Statistical meaning of the second law of thermodynamics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热力学基础_2</dc:title>
  <dc:creator>Wang</dc:creator>
  <cp:lastModifiedBy>Songyou Wang</cp:lastModifiedBy>
  <cp:revision>394</cp:revision>
  <dcterms:created xsi:type="dcterms:W3CDTF">2000-10-31T08:28:49Z</dcterms:created>
  <dcterms:modified xsi:type="dcterms:W3CDTF">2025-11-26T08:30:44Z</dcterms:modified>
</cp:coreProperties>
</file>