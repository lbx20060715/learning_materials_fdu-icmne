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4"/>
  </p:notesMasterIdLst>
  <p:sldIdLst>
    <p:sldId id="636" r:id="rId2"/>
    <p:sldId id="637" r:id="rId3"/>
    <p:sldId id="638" r:id="rId4"/>
    <p:sldId id="639" r:id="rId5"/>
    <p:sldId id="640" r:id="rId6"/>
    <p:sldId id="641" r:id="rId7"/>
    <p:sldId id="642" r:id="rId8"/>
    <p:sldId id="643" r:id="rId9"/>
    <p:sldId id="644" r:id="rId10"/>
    <p:sldId id="770" r:id="rId11"/>
    <p:sldId id="645" r:id="rId12"/>
    <p:sldId id="646" r:id="rId13"/>
    <p:sldId id="647" r:id="rId14"/>
    <p:sldId id="648" r:id="rId15"/>
    <p:sldId id="649" r:id="rId16"/>
    <p:sldId id="650" r:id="rId17"/>
    <p:sldId id="651" r:id="rId18"/>
    <p:sldId id="652" r:id="rId19"/>
    <p:sldId id="653" r:id="rId20"/>
    <p:sldId id="654" r:id="rId21"/>
    <p:sldId id="655" r:id="rId22"/>
    <p:sldId id="656" r:id="rId23"/>
    <p:sldId id="657" r:id="rId24"/>
    <p:sldId id="658" r:id="rId25"/>
    <p:sldId id="659" r:id="rId26"/>
    <p:sldId id="761" r:id="rId27"/>
    <p:sldId id="660" r:id="rId28"/>
    <p:sldId id="661" r:id="rId29"/>
    <p:sldId id="662" r:id="rId30"/>
    <p:sldId id="663" r:id="rId31"/>
    <p:sldId id="664" r:id="rId32"/>
    <p:sldId id="665" r:id="rId33"/>
    <p:sldId id="666" r:id="rId34"/>
    <p:sldId id="667" r:id="rId35"/>
    <p:sldId id="668" r:id="rId36"/>
    <p:sldId id="669" r:id="rId37"/>
    <p:sldId id="670" r:id="rId38"/>
    <p:sldId id="671" r:id="rId39"/>
    <p:sldId id="672" r:id="rId40"/>
    <p:sldId id="673" r:id="rId41"/>
    <p:sldId id="674" r:id="rId42"/>
    <p:sldId id="675" r:id="rId43"/>
    <p:sldId id="676" r:id="rId44"/>
    <p:sldId id="677" r:id="rId45"/>
    <p:sldId id="678" r:id="rId46"/>
    <p:sldId id="679" r:id="rId47"/>
    <p:sldId id="680" r:id="rId48"/>
    <p:sldId id="681" r:id="rId49"/>
    <p:sldId id="683" r:id="rId50"/>
    <p:sldId id="726" r:id="rId51"/>
    <p:sldId id="725" r:id="rId52"/>
    <p:sldId id="531" r:id="rId53"/>
    <p:sldId id="682" r:id="rId54"/>
    <p:sldId id="532" r:id="rId55"/>
    <p:sldId id="762" r:id="rId56"/>
    <p:sldId id="691" r:id="rId57"/>
    <p:sldId id="684" r:id="rId58"/>
    <p:sldId id="685" r:id="rId59"/>
    <p:sldId id="686" r:id="rId60"/>
    <p:sldId id="687" r:id="rId61"/>
    <p:sldId id="688" r:id="rId62"/>
    <p:sldId id="689" r:id="rId63"/>
    <p:sldId id="690" r:id="rId64"/>
    <p:sldId id="538" r:id="rId65"/>
    <p:sldId id="539" r:id="rId66"/>
    <p:sldId id="540" r:id="rId67"/>
    <p:sldId id="541" r:id="rId68"/>
    <p:sldId id="548" r:id="rId69"/>
    <p:sldId id="551" r:id="rId70"/>
    <p:sldId id="552" r:id="rId71"/>
    <p:sldId id="553" r:id="rId72"/>
    <p:sldId id="758" r:id="rId73"/>
    <p:sldId id="765" r:id="rId74"/>
    <p:sldId id="554" r:id="rId75"/>
    <p:sldId id="555" r:id="rId76"/>
    <p:sldId id="556" r:id="rId77"/>
    <p:sldId id="759" r:id="rId78"/>
    <p:sldId id="557" r:id="rId79"/>
    <p:sldId id="766" r:id="rId80"/>
    <p:sldId id="558" r:id="rId81"/>
    <p:sldId id="559" r:id="rId82"/>
    <p:sldId id="582" r:id="rId83"/>
    <p:sldId id="583" r:id="rId84"/>
    <p:sldId id="584" r:id="rId85"/>
    <p:sldId id="769" r:id="rId86"/>
    <p:sldId id="563" r:id="rId87"/>
    <p:sldId id="767" r:id="rId88"/>
    <p:sldId id="564" r:id="rId89"/>
    <p:sldId id="566" r:id="rId90"/>
    <p:sldId id="565" r:id="rId91"/>
    <p:sldId id="763" r:id="rId92"/>
    <p:sldId id="719" r:id="rId93"/>
  </p:sldIdLst>
  <p:sldSz cx="9144000" cy="6858000" type="screen4x3"/>
  <p:notesSz cx="6858000" cy="9144000"/>
  <p:defaultTextStyle>
    <a:defPPr>
      <a:defRPr lang="zh-CN"/>
    </a:defPPr>
    <a:lvl1pPr algn="l" rtl="0" eaLnBrk="0" fontAlgn="base" hangingPunct="0">
      <a:spcBef>
        <a:spcPct val="0"/>
      </a:spcBef>
      <a:spcAft>
        <a:spcPct val="0"/>
      </a:spcAft>
      <a:defRPr kumimoji="1" sz="3600" b="1" kern="1200">
        <a:solidFill>
          <a:srgbClr val="FF3300"/>
        </a:solidFill>
        <a:latin typeface="Times New Roman" panose="02020603050405020304" pitchFamily="18" charset="0"/>
        <a:ea typeface="楷体_GB2312"/>
        <a:cs typeface="楷体_GB2312"/>
      </a:defRPr>
    </a:lvl1pPr>
    <a:lvl2pPr marL="457200" algn="l" rtl="0" eaLnBrk="0" fontAlgn="base" hangingPunct="0">
      <a:spcBef>
        <a:spcPct val="0"/>
      </a:spcBef>
      <a:spcAft>
        <a:spcPct val="0"/>
      </a:spcAft>
      <a:defRPr kumimoji="1" sz="3600" b="1" kern="1200">
        <a:solidFill>
          <a:srgbClr val="FF3300"/>
        </a:solidFill>
        <a:latin typeface="Times New Roman" panose="02020603050405020304" pitchFamily="18" charset="0"/>
        <a:ea typeface="楷体_GB2312"/>
        <a:cs typeface="楷体_GB2312"/>
      </a:defRPr>
    </a:lvl2pPr>
    <a:lvl3pPr marL="914400" algn="l" rtl="0" eaLnBrk="0" fontAlgn="base" hangingPunct="0">
      <a:spcBef>
        <a:spcPct val="0"/>
      </a:spcBef>
      <a:spcAft>
        <a:spcPct val="0"/>
      </a:spcAft>
      <a:defRPr kumimoji="1" sz="3600" b="1" kern="1200">
        <a:solidFill>
          <a:srgbClr val="FF3300"/>
        </a:solidFill>
        <a:latin typeface="Times New Roman" panose="02020603050405020304" pitchFamily="18" charset="0"/>
        <a:ea typeface="楷体_GB2312"/>
        <a:cs typeface="楷体_GB2312"/>
      </a:defRPr>
    </a:lvl3pPr>
    <a:lvl4pPr marL="1371600" algn="l" rtl="0" eaLnBrk="0" fontAlgn="base" hangingPunct="0">
      <a:spcBef>
        <a:spcPct val="0"/>
      </a:spcBef>
      <a:spcAft>
        <a:spcPct val="0"/>
      </a:spcAft>
      <a:defRPr kumimoji="1" sz="3600" b="1" kern="1200">
        <a:solidFill>
          <a:srgbClr val="FF3300"/>
        </a:solidFill>
        <a:latin typeface="Times New Roman" panose="02020603050405020304" pitchFamily="18" charset="0"/>
        <a:ea typeface="楷体_GB2312"/>
        <a:cs typeface="楷体_GB2312"/>
      </a:defRPr>
    </a:lvl4pPr>
    <a:lvl5pPr marL="1828800" algn="l" rtl="0" eaLnBrk="0" fontAlgn="base" hangingPunct="0">
      <a:spcBef>
        <a:spcPct val="0"/>
      </a:spcBef>
      <a:spcAft>
        <a:spcPct val="0"/>
      </a:spcAft>
      <a:defRPr kumimoji="1" sz="3600" b="1" kern="1200">
        <a:solidFill>
          <a:srgbClr val="FF3300"/>
        </a:solidFill>
        <a:latin typeface="Times New Roman" panose="02020603050405020304" pitchFamily="18" charset="0"/>
        <a:ea typeface="楷体_GB2312"/>
        <a:cs typeface="楷体_GB2312"/>
      </a:defRPr>
    </a:lvl5pPr>
    <a:lvl6pPr marL="2286000" algn="l" defTabSz="914400" rtl="0" eaLnBrk="1" latinLnBrk="0" hangingPunct="1">
      <a:defRPr kumimoji="1" sz="3600" b="1" kern="1200">
        <a:solidFill>
          <a:srgbClr val="FF3300"/>
        </a:solidFill>
        <a:latin typeface="Times New Roman" panose="02020603050405020304" pitchFamily="18" charset="0"/>
        <a:ea typeface="楷体_GB2312"/>
        <a:cs typeface="楷体_GB2312"/>
      </a:defRPr>
    </a:lvl6pPr>
    <a:lvl7pPr marL="2743200" algn="l" defTabSz="914400" rtl="0" eaLnBrk="1" latinLnBrk="0" hangingPunct="1">
      <a:defRPr kumimoji="1" sz="3600" b="1" kern="1200">
        <a:solidFill>
          <a:srgbClr val="FF3300"/>
        </a:solidFill>
        <a:latin typeface="Times New Roman" panose="02020603050405020304" pitchFamily="18" charset="0"/>
        <a:ea typeface="楷体_GB2312"/>
        <a:cs typeface="楷体_GB2312"/>
      </a:defRPr>
    </a:lvl7pPr>
    <a:lvl8pPr marL="3200400" algn="l" defTabSz="914400" rtl="0" eaLnBrk="1" latinLnBrk="0" hangingPunct="1">
      <a:defRPr kumimoji="1" sz="3600" b="1" kern="1200">
        <a:solidFill>
          <a:srgbClr val="FF3300"/>
        </a:solidFill>
        <a:latin typeface="Times New Roman" panose="02020603050405020304" pitchFamily="18" charset="0"/>
        <a:ea typeface="楷体_GB2312"/>
        <a:cs typeface="楷体_GB2312"/>
      </a:defRPr>
    </a:lvl8pPr>
    <a:lvl9pPr marL="3657600" algn="l" defTabSz="914400" rtl="0" eaLnBrk="1" latinLnBrk="0" hangingPunct="1">
      <a:defRPr kumimoji="1" sz="3600" b="1" kern="1200">
        <a:solidFill>
          <a:srgbClr val="FF3300"/>
        </a:solidFill>
        <a:latin typeface="Times New Roman" panose="02020603050405020304" pitchFamily="18" charset="0"/>
        <a:ea typeface="楷体_GB2312"/>
        <a:cs typeface="楷体_GB2312"/>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3333FF"/>
    <a:srgbClr val="00FF00"/>
    <a:srgbClr val="0066FF"/>
    <a:srgbClr val="CC0000"/>
    <a:srgbClr val="990033"/>
    <a:srgbClr val="66FFFF"/>
    <a:srgbClr val="FFFF66"/>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804" autoAdjust="0"/>
    <p:restoredTop sz="87750" autoAdjust="0"/>
  </p:normalViewPr>
  <p:slideViewPr>
    <p:cSldViewPr>
      <p:cViewPr varScale="1">
        <p:scale>
          <a:sx n="56" d="100"/>
          <a:sy n="56" d="100"/>
        </p:scale>
        <p:origin x="396" y="48"/>
      </p:cViewPr>
      <p:guideLst>
        <p:guide orient="horz" pos="2160"/>
        <p:guide pos="2880"/>
      </p:guideLst>
    </p:cSldViewPr>
  </p:slideViewPr>
  <p:outlineViewPr>
    <p:cViewPr>
      <p:scale>
        <a:sx n="33" d="100"/>
        <a:sy n="33" d="100"/>
      </p:scale>
      <p:origin x="0" y="-32520"/>
    </p:cViewPr>
    <p:sldLst>
      <p:sld r:id="rId1" collapse="1"/>
    </p:sldLst>
  </p:outlineViewPr>
  <p:notesTextViewPr>
    <p:cViewPr>
      <p:scale>
        <a:sx n="3" d="2"/>
        <a:sy n="3" d="2"/>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_rels/viewProps.xml.rels><?xml version="1.0" encoding="UTF-8" standalone="yes"?>
<Relationships xmlns="http://schemas.openxmlformats.org/package/2006/relationships"><Relationship Id="rId1" Type="http://schemas.openxmlformats.org/officeDocument/2006/relationships/slide" Target="slides/slide23.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image" Target="../media/image1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51.wmf"/><Relationship Id="rId13" Type="http://schemas.openxmlformats.org/officeDocument/2006/relationships/image" Target="../media/image56.wmf"/><Relationship Id="rId18" Type="http://schemas.openxmlformats.org/officeDocument/2006/relationships/image" Target="../media/image61.wmf"/><Relationship Id="rId3" Type="http://schemas.openxmlformats.org/officeDocument/2006/relationships/image" Target="../media/image46.wmf"/><Relationship Id="rId7" Type="http://schemas.openxmlformats.org/officeDocument/2006/relationships/image" Target="../media/image50.wmf"/><Relationship Id="rId12" Type="http://schemas.openxmlformats.org/officeDocument/2006/relationships/image" Target="../media/image55.wmf"/><Relationship Id="rId17" Type="http://schemas.openxmlformats.org/officeDocument/2006/relationships/image" Target="../media/image60.wmf"/><Relationship Id="rId2" Type="http://schemas.openxmlformats.org/officeDocument/2006/relationships/image" Target="../media/image45.wmf"/><Relationship Id="rId16" Type="http://schemas.openxmlformats.org/officeDocument/2006/relationships/image" Target="../media/image59.wmf"/><Relationship Id="rId1" Type="http://schemas.openxmlformats.org/officeDocument/2006/relationships/image" Target="../media/image44.wmf"/><Relationship Id="rId6" Type="http://schemas.openxmlformats.org/officeDocument/2006/relationships/image" Target="../media/image49.wmf"/><Relationship Id="rId11" Type="http://schemas.openxmlformats.org/officeDocument/2006/relationships/image" Target="../media/image54.wmf"/><Relationship Id="rId5" Type="http://schemas.openxmlformats.org/officeDocument/2006/relationships/image" Target="../media/image48.wmf"/><Relationship Id="rId15" Type="http://schemas.openxmlformats.org/officeDocument/2006/relationships/image" Target="../media/image58.wmf"/><Relationship Id="rId10" Type="http://schemas.openxmlformats.org/officeDocument/2006/relationships/image" Target="../media/image53.wmf"/><Relationship Id="rId4" Type="http://schemas.openxmlformats.org/officeDocument/2006/relationships/image" Target="../media/image47.wmf"/><Relationship Id="rId9" Type="http://schemas.openxmlformats.org/officeDocument/2006/relationships/image" Target="../media/image52.wmf"/><Relationship Id="rId14" Type="http://schemas.openxmlformats.org/officeDocument/2006/relationships/image" Target="../media/image57.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67.wmf"/><Relationship Id="rId1" Type="http://schemas.openxmlformats.org/officeDocument/2006/relationships/image" Target="../media/image66.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74.emf"/><Relationship Id="rId1" Type="http://schemas.openxmlformats.org/officeDocument/2006/relationships/image" Target="../media/image7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76.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79.wmf"/><Relationship Id="rId1" Type="http://schemas.openxmlformats.org/officeDocument/2006/relationships/image" Target="../media/image78.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78.wmf"/><Relationship Id="rId3" Type="http://schemas.openxmlformats.org/officeDocument/2006/relationships/image" Target="../media/image83.wmf"/><Relationship Id="rId7" Type="http://schemas.openxmlformats.org/officeDocument/2006/relationships/image" Target="../media/image86.wmf"/><Relationship Id="rId2" Type="http://schemas.openxmlformats.org/officeDocument/2006/relationships/image" Target="../media/image82.wmf"/><Relationship Id="rId1" Type="http://schemas.openxmlformats.org/officeDocument/2006/relationships/image" Target="../media/image81.wmf"/><Relationship Id="rId6" Type="http://schemas.openxmlformats.org/officeDocument/2006/relationships/image" Target="../media/image85.wmf"/><Relationship Id="rId5" Type="http://schemas.openxmlformats.org/officeDocument/2006/relationships/image" Target="../media/image51.wmf"/><Relationship Id="rId4" Type="http://schemas.openxmlformats.org/officeDocument/2006/relationships/image" Target="../media/image84.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7.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93.wmf"/><Relationship Id="rId7" Type="http://schemas.openxmlformats.org/officeDocument/2006/relationships/image" Target="../media/image97.wmf"/><Relationship Id="rId2" Type="http://schemas.openxmlformats.org/officeDocument/2006/relationships/image" Target="../media/image92.wmf"/><Relationship Id="rId1" Type="http://schemas.openxmlformats.org/officeDocument/2006/relationships/image" Target="../media/image91.wmf"/><Relationship Id="rId6" Type="http://schemas.openxmlformats.org/officeDocument/2006/relationships/image" Target="../media/image96.wmf"/><Relationship Id="rId5" Type="http://schemas.openxmlformats.org/officeDocument/2006/relationships/image" Target="../media/image95.wmf"/><Relationship Id="rId4" Type="http://schemas.openxmlformats.org/officeDocument/2006/relationships/image" Target="../media/image94.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99.wmf"/><Relationship Id="rId1" Type="http://schemas.openxmlformats.org/officeDocument/2006/relationships/image" Target="../media/image98.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image" Target="../media/image102.wmf"/><Relationship Id="rId1" Type="http://schemas.openxmlformats.org/officeDocument/2006/relationships/image" Target="../media/image101.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09.wmf"/><Relationship Id="rId3" Type="http://schemas.openxmlformats.org/officeDocument/2006/relationships/image" Target="../media/image103.wmf"/><Relationship Id="rId7" Type="http://schemas.openxmlformats.org/officeDocument/2006/relationships/image" Target="../media/image108.wmf"/><Relationship Id="rId2" Type="http://schemas.openxmlformats.org/officeDocument/2006/relationships/image" Target="../media/image102.wmf"/><Relationship Id="rId1" Type="http://schemas.openxmlformats.org/officeDocument/2006/relationships/image" Target="../media/image104.wmf"/><Relationship Id="rId6" Type="http://schemas.openxmlformats.org/officeDocument/2006/relationships/image" Target="../media/image107.wmf"/><Relationship Id="rId5" Type="http://schemas.openxmlformats.org/officeDocument/2006/relationships/image" Target="../media/image106.wmf"/><Relationship Id="rId10" Type="http://schemas.openxmlformats.org/officeDocument/2006/relationships/image" Target="../media/image111.wmf"/><Relationship Id="rId4" Type="http://schemas.openxmlformats.org/officeDocument/2006/relationships/image" Target="../media/image105.wmf"/><Relationship Id="rId9" Type="http://schemas.openxmlformats.org/officeDocument/2006/relationships/image" Target="../media/image110.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19.wmf"/><Relationship Id="rId13" Type="http://schemas.openxmlformats.org/officeDocument/2006/relationships/image" Target="../media/image124.wmf"/><Relationship Id="rId18" Type="http://schemas.openxmlformats.org/officeDocument/2006/relationships/image" Target="../media/image129.wmf"/><Relationship Id="rId26" Type="http://schemas.openxmlformats.org/officeDocument/2006/relationships/image" Target="../media/image137.wmf"/><Relationship Id="rId3" Type="http://schemas.openxmlformats.org/officeDocument/2006/relationships/image" Target="../media/image114.wmf"/><Relationship Id="rId21" Type="http://schemas.openxmlformats.org/officeDocument/2006/relationships/image" Target="../media/image132.wmf"/><Relationship Id="rId7" Type="http://schemas.openxmlformats.org/officeDocument/2006/relationships/image" Target="../media/image118.wmf"/><Relationship Id="rId12" Type="http://schemas.openxmlformats.org/officeDocument/2006/relationships/image" Target="../media/image123.wmf"/><Relationship Id="rId17" Type="http://schemas.openxmlformats.org/officeDocument/2006/relationships/image" Target="../media/image128.wmf"/><Relationship Id="rId25" Type="http://schemas.openxmlformats.org/officeDocument/2006/relationships/image" Target="../media/image136.wmf"/><Relationship Id="rId2" Type="http://schemas.openxmlformats.org/officeDocument/2006/relationships/image" Target="../media/image113.wmf"/><Relationship Id="rId16" Type="http://schemas.openxmlformats.org/officeDocument/2006/relationships/image" Target="../media/image127.wmf"/><Relationship Id="rId20" Type="http://schemas.openxmlformats.org/officeDocument/2006/relationships/image" Target="../media/image131.wmf"/><Relationship Id="rId1" Type="http://schemas.openxmlformats.org/officeDocument/2006/relationships/image" Target="../media/image112.wmf"/><Relationship Id="rId6" Type="http://schemas.openxmlformats.org/officeDocument/2006/relationships/image" Target="../media/image117.wmf"/><Relationship Id="rId11" Type="http://schemas.openxmlformats.org/officeDocument/2006/relationships/image" Target="../media/image122.wmf"/><Relationship Id="rId24" Type="http://schemas.openxmlformats.org/officeDocument/2006/relationships/image" Target="../media/image135.wmf"/><Relationship Id="rId5" Type="http://schemas.openxmlformats.org/officeDocument/2006/relationships/image" Target="../media/image116.wmf"/><Relationship Id="rId15" Type="http://schemas.openxmlformats.org/officeDocument/2006/relationships/image" Target="../media/image126.emf"/><Relationship Id="rId23" Type="http://schemas.openxmlformats.org/officeDocument/2006/relationships/image" Target="../media/image134.wmf"/><Relationship Id="rId10" Type="http://schemas.openxmlformats.org/officeDocument/2006/relationships/image" Target="../media/image121.wmf"/><Relationship Id="rId19" Type="http://schemas.openxmlformats.org/officeDocument/2006/relationships/image" Target="../media/image130.wmf"/><Relationship Id="rId4" Type="http://schemas.openxmlformats.org/officeDocument/2006/relationships/image" Target="../media/image115.wmf"/><Relationship Id="rId9" Type="http://schemas.openxmlformats.org/officeDocument/2006/relationships/image" Target="../media/image120.wmf"/><Relationship Id="rId14" Type="http://schemas.openxmlformats.org/officeDocument/2006/relationships/image" Target="../media/image125.emf"/><Relationship Id="rId22" Type="http://schemas.openxmlformats.org/officeDocument/2006/relationships/image" Target="../media/image133.wmf"/><Relationship Id="rId27" Type="http://schemas.openxmlformats.org/officeDocument/2006/relationships/image" Target="../media/image138.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46.wmf"/><Relationship Id="rId3" Type="http://schemas.openxmlformats.org/officeDocument/2006/relationships/image" Target="../media/image141.wmf"/><Relationship Id="rId7" Type="http://schemas.openxmlformats.org/officeDocument/2006/relationships/image" Target="../media/image145.wmf"/><Relationship Id="rId12" Type="http://schemas.openxmlformats.org/officeDocument/2006/relationships/image" Target="../media/image150.wmf"/><Relationship Id="rId2" Type="http://schemas.openxmlformats.org/officeDocument/2006/relationships/image" Target="../media/image140.wmf"/><Relationship Id="rId1" Type="http://schemas.openxmlformats.org/officeDocument/2006/relationships/image" Target="../media/image139.wmf"/><Relationship Id="rId6" Type="http://schemas.openxmlformats.org/officeDocument/2006/relationships/image" Target="../media/image144.wmf"/><Relationship Id="rId11" Type="http://schemas.openxmlformats.org/officeDocument/2006/relationships/image" Target="../media/image149.wmf"/><Relationship Id="rId5" Type="http://schemas.openxmlformats.org/officeDocument/2006/relationships/image" Target="../media/image143.wmf"/><Relationship Id="rId10" Type="http://schemas.openxmlformats.org/officeDocument/2006/relationships/image" Target="../media/image148.wmf"/><Relationship Id="rId4" Type="http://schemas.openxmlformats.org/officeDocument/2006/relationships/image" Target="../media/image142.wmf"/><Relationship Id="rId9" Type="http://schemas.openxmlformats.org/officeDocument/2006/relationships/image" Target="../media/image147.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53.wmf"/><Relationship Id="rId2" Type="http://schemas.openxmlformats.org/officeDocument/2006/relationships/image" Target="../media/image152.wmf"/><Relationship Id="rId1" Type="http://schemas.openxmlformats.org/officeDocument/2006/relationships/image" Target="../media/image151.wmf"/><Relationship Id="rId4" Type="http://schemas.openxmlformats.org/officeDocument/2006/relationships/image" Target="../media/image154.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57.wmf"/><Relationship Id="rId2" Type="http://schemas.openxmlformats.org/officeDocument/2006/relationships/image" Target="../media/image156.wmf"/><Relationship Id="rId1" Type="http://schemas.openxmlformats.org/officeDocument/2006/relationships/image" Target="../media/image155.wmf"/><Relationship Id="rId4" Type="http://schemas.openxmlformats.org/officeDocument/2006/relationships/image" Target="../media/image158.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166.wmf"/><Relationship Id="rId3" Type="http://schemas.openxmlformats.org/officeDocument/2006/relationships/image" Target="../media/image161.wmf"/><Relationship Id="rId7" Type="http://schemas.openxmlformats.org/officeDocument/2006/relationships/image" Target="../media/image165.wmf"/><Relationship Id="rId2" Type="http://schemas.openxmlformats.org/officeDocument/2006/relationships/image" Target="../media/image160.wmf"/><Relationship Id="rId1" Type="http://schemas.openxmlformats.org/officeDocument/2006/relationships/image" Target="../media/image159.wmf"/><Relationship Id="rId6" Type="http://schemas.openxmlformats.org/officeDocument/2006/relationships/image" Target="../media/image164.wmf"/><Relationship Id="rId5" Type="http://schemas.openxmlformats.org/officeDocument/2006/relationships/image" Target="../media/image163.wmf"/><Relationship Id="rId10" Type="http://schemas.openxmlformats.org/officeDocument/2006/relationships/image" Target="../media/image168.wmf"/><Relationship Id="rId4" Type="http://schemas.openxmlformats.org/officeDocument/2006/relationships/image" Target="../media/image162.wmf"/><Relationship Id="rId9" Type="http://schemas.openxmlformats.org/officeDocument/2006/relationships/image" Target="../media/image167.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71.wmf"/><Relationship Id="rId2" Type="http://schemas.openxmlformats.org/officeDocument/2006/relationships/image" Target="../media/image170.wmf"/><Relationship Id="rId1" Type="http://schemas.openxmlformats.org/officeDocument/2006/relationships/image" Target="../media/image169.wmf"/><Relationship Id="rId4" Type="http://schemas.openxmlformats.org/officeDocument/2006/relationships/image" Target="../media/image172.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80.wmf"/><Relationship Id="rId3" Type="http://schemas.openxmlformats.org/officeDocument/2006/relationships/image" Target="../media/image176.wmf"/><Relationship Id="rId7" Type="http://schemas.openxmlformats.org/officeDocument/2006/relationships/image" Target="../media/image179.wmf"/><Relationship Id="rId2" Type="http://schemas.openxmlformats.org/officeDocument/2006/relationships/image" Target="../media/image175.wmf"/><Relationship Id="rId1" Type="http://schemas.openxmlformats.org/officeDocument/2006/relationships/image" Target="../media/image174.wmf"/><Relationship Id="rId6" Type="http://schemas.openxmlformats.org/officeDocument/2006/relationships/image" Target="../media/image178.wmf"/><Relationship Id="rId11" Type="http://schemas.openxmlformats.org/officeDocument/2006/relationships/image" Target="../media/image183.wmf"/><Relationship Id="rId5" Type="http://schemas.openxmlformats.org/officeDocument/2006/relationships/image" Target="../media/image170.wmf"/><Relationship Id="rId10" Type="http://schemas.openxmlformats.org/officeDocument/2006/relationships/image" Target="../media/image182.wmf"/><Relationship Id="rId4" Type="http://schemas.openxmlformats.org/officeDocument/2006/relationships/image" Target="../media/image177.wmf"/><Relationship Id="rId9" Type="http://schemas.openxmlformats.org/officeDocument/2006/relationships/image" Target="../media/image181.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192.emf"/><Relationship Id="rId3" Type="http://schemas.openxmlformats.org/officeDocument/2006/relationships/image" Target="../media/image187.wmf"/><Relationship Id="rId7" Type="http://schemas.openxmlformats.org/officeDocument/2006/relationships/image" Target="../media/image191.wmf"/><Relationship Id="rId2" Type="http://schemas.openxmlformats.org/officeDocument/2006/relationships/image" Target="../media/image186.wmf"/><Relationship Id="rId1" Type="http://schemas.openxmlformats.org/officeDocument/2006/relationships/image" Target="../media/image185.wmf"/><Relationship Id="rId6" Type="http://schemas.openxmlformats.org/officeDocument/2006/relationships/image" Target="../media/image190.wmf"/><Relationship Id="rId5" Type="http://schemas.openxmlformats.org/officeDocument/2006/relationships/image" Target="../media/image189.wmf"/><Relationship Id="rId4" Type="http://schemas.openxmlformats.org/officeDocument/2006/relationships/image" Target="../media/image188.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95.emf"/><Relationship Id="rId2" Type="http://schemas.openxmlformats.org/officeDocument/2006/relationships/image" Target="../media/image194.emf"/><Relationship Id="rId1" Type="http://schemas.openxmlformats.org/officeDocument/2006/relationships/image" Target="../media/image193.emf"/><Relationship Id="rId6" Type="http://schemas.openxmlformats.org/officeDocument/2006/relationships/image" Target="../media/image198.wmf"/><Relationship Id="rId5" Type="http://schemas.openxmlformats.org/officeDocument/2006/relationships/image" Target="../media/image197.wmf"/><Relationship Id="rId4" Type="http://schemas.openxmlformats.org/officeDocument/2006/relationships/image" Target="../media/image196.e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207.emf"/><Relationship Id="rId3" Type="http://schemas.openxmlformats.org/officeDocument/2006/relationships/image" Target="../media/image202.emf"/><Relationship Id="rId7" Type="http://schemas.openxmlformats.org/officeDocument/2006/relationships/image" Target="../media/image206.emf"/><Relationship Id="rId2" Type="http://schemas.openxmlformats.org/officeDocument/2006/relationships/image" Target="../media/image201.emf"/><Relationship Id="rId1" Type="http://schemas.openxmlformats.org/officeDocument/2006/relationships/image" Target="../media/image200.emf"/><Relationship Id="rId6" Type="http://schemas.openxmlformats.org/officeDocument/2006/relationships/image" Target="../media/image205.emf"/><Relationship Id="rId5" Type="http://schemas.openxmlformats.org/officeDocument/2006/relationships/image" Target="../media/image204.emf"/><Relationship Id="rId4" Type="http://schemas.openxmlformats.org/officeDocument/2006/relationships/image" Target="../media/image203.e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211.emf"/><Relationship Id="rId2" Type="http://schemas.openxmlformats.org/officeDocument/2006/relationships/image" Target="../media/image210.emf"/><Relationship Id="rId1" Type="http://schemas.openxmlformats.org/officeDocument/2006/relationships/image" Target="../media/image209.emf"/><Relationship Id="rId4" Type="http://schemas.openxmlformats.org/officeDocument/2006/relationships/image" Target="../media/image212.e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217.wmf"/><Relationship Id="rId2" Type="http://schemas.openxmlformats.org/officeDocument/2006/relationships/image" Target="../media/image216.emf"/><Relationship Id="rId1" Type="http://schemas.openxmlformats.org/officeDocument/2006/relationships/image" Target="../media/image215.e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215.emf"/><Relationship Id="rId3" Type="http://schemas.openxmlformats.org/officeDocument/2006/relationships/image" Target="../media/image220.wmf"/><Relationship Id="rId7" Type="http://schemas.openxmlformats.org/officeDocument/2006/relationships/image" Target="../media/image157.wmf"/><Relationship Id="rId2" Type="http://schemas.openxmlformats.org/officeDocument/2006/relationships/image" Target="../media/image219.wmf"/><Relationship Id="rId1" Type="http://schemas.openxmlformats.org/officeDocument/2006/relationships/image" Target="../media/image218.wmf"/><Relationship Id="rId6" Type="http://schemas.openxmlformats.org/officeDocument/2006/relationships/image" Target="../media/image223.wmf"/><Relationship Id="rId5" Type="http://schemas.openxmlformats.org/officeDocument/2006/relationships/image" Target="../media/image222.wmf"/><Relationship Id="rId10" Type="http://schemas.openxmlformats.org/officeDocument/2006/relationships/image" Target="../media/image224.emf"/><Relationship Id="rId4" Type="http://schemas.openxmlformats.org/officeDocument/2006/relationships/image" Target="../media/image221.wmf"/><Relationship Id="rId9" Type="http://schemas.openxmlformats.org/officeDocument/2006/relationships/image" Target="../media/image216.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227.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236.wmf"/><Relationship Id="rId3" Type="http://schemas.openxmlformats.org/officeDocument/2006/relationships/image" Target="../media/image231.wmf"/><Relationship Id="rId7" Type="http://schemas.openxmlformats.org/officeDocument/2006/relationships/image" Target="../media/image235.emf"/><Relationship Id="rId2" Type="http://schemas.openxmlformats.org/officeDocument/2006/relationships/image" Target="../media/image230.wmf"/><Relationship Id="rId1" Type="http://schemas.openxmlformats.org/officeDocument/2006/relationships/image" Target="../media/image229.wmf"/><Relationship Id="rId6" Type="http://schemas.openxmlformats.org/officeDocument/2006/relationships/image" Target="../media/image234.wmf"/><Relationship Id="rId5" Type="http://schemas.openxmlformats.org/officeDocument/2006/relationships/image" Target="../media/image233.wmf"/><Relationship Id="rId10" Type="http://schemas.openxmlformats.org/officeDocument/2006/relationships/image" Target="../media/image238.wmf"/><Relationship Id="rId4" Type="http://schemas.openxmlformats.org/officeDocument/2006/relationships/image" Target="../media/image232.wmf"/><Relationship Id="rId9" Type="http://schemas.openxmlformats.org/officeDocument/2006/relationships/image" Target="../media/image237.e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241.wmf"/><Relationship Id="rId2" Type="http://schemas.openxmlformats.org/officeDocument/2006/relationships/image" Target="../media/image240.wmf"/><Relationship Id="rId1" Type="http://schemas.openxmlformats.org/officeDocument/2006/relationships/image" Target="../media/image239.wmf"/><Relationship Id="rId5" Type="http://schemas.openxmlformats.org/officeDocument/2006/relationships/image" Target="../media/image243.wmf"/><Relationship Id="rId4" Type="http://schemas.openxmlformats.org/officeDocument/2006/relationships/image" Target="../media/image242.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248.wmf"/><Relationship Id="rId2" Type="http://schemas.openxmlformats.org/officeDocument/2006/relationships/image" Target="../media/image247.wmf"/><Relationship Id="rId1" Type="http://schemas.openxmlformats.org/officeDocument/2006/relationships/image" Target="../media/image246.wmf"/><Relationship Id="rId5" Type="http://schemas.openxmlformats.org/officeDocument/2006/relationships/image" Target="../media/image250.wmf"/><Relationship Id="rId4" Type="http://schemas.openxmlformats.org/officeDocument/2006/relationships/image" Target="../media/image249.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262.wmf"/><Relationship Id="rId2" Type="http://schemas.openxmlformats.org/officeDocument/2006/relationships/image" Target="../media/image261.wmf"/><Relationship Id="rId1" Type="http://schemas.openxmlformats.org/officeDocument/2006/relationships/image" Target="../media/image260.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267.wmf"/><Relationship Id="rId2" Type="http://schemas.openxmlformats.org/officeDocument/2006/relationships/image" Target="../media/image266.wmf"/><Relationship Id="rId1" Type="http://schemas.openxmlformats.org/officeDocument/2006/relationships/image" Target="../media/image265.wmf"/><Relationship Id="rId4" Type="http://schemas.openxmlformats.org/officeDocument/2006/relationships/image" Target="../media/image268.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271.wmf"/><Relationship Id="rId2" Type="http://schemas.openxmlformats.org/officeDocument/2006/relationships/image" Target="../media/image270.wmf"/><Relationship Id="rId1" Type="http://schemas.openxmlformats.org/officeDocument/2006/relationships/image" Target="../media/image269.e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280.wmf"/><Relationship Id="rId3" Type="http://schemas.openxmlformats.org/officeDocument/2006/relationships/image" Target="../media/image275.wmf"/><Relationship Id="rId7" Type="http://schemas.openxmlformats.org/officeDocument/2006/relationships/image" Target="../media/image279.wmf"/><Relationship Id="rId2" Type="http://schemas.openxmlformats.org/officeDocument/2006/relationships/image" Target="../media/image274.wmf"/><Relationship Id="rId1" Type="http://schemas.openxmlformats.org/officeDocument/2006/relationships/image" Target="../media/image273.wmf"/><Relationship Id="rId6" Type="http://schemas.openxmlformats.org/officeDocument/2006/relationships/image" Target="../media/image278.wmf"/><Relationship Id="rId5" Type="http://schemas.openxmlformats.org/officeDocument/2006/relationships/image" Target="../media/image277.wmf"/><Relationship Id="rId10" Type="http://schemas.openxmlformats.org/officeDocument/2006/relationships/image" Target="../media/image282.wmf"/><Relationship Id="rId4" Type="http://schemas.openxmlformats.org/officeDocument/2006/relationships/image" Target="../media/image276.wmf"/><Relationship Id="rId9" Type="http://schemas.openxmlformats.org/officeDocument/2006/relationships/image" Target="../media/image281.w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291.wmf"/><Relationship Id="rId3" Type="http://schemas.openxmlformats.org/officeDocument/2006/relationships/image" Target="../media/image286.wmf"/><Relationship Id="rId7" Type="http://schemas.openxmlformats.org/officeDocument/2006/relationships/image" Target="../media/image290.wmf"/><Relationship Id="rId2" Type="http://schemas.openxmlformats.org/officeDocument/2006/relationships/image" Target="../media/image285.wmf"/><Relationship Id="rId1" Type="http://schemas.openxmlformats.org/officeDocument/2006/relationships/image" Target="../media/image284.wmf"/><Relationship Id="rId6" Type="http://schemas.openxmlformats.org/officeDocument/2006/relationships/image" Target="../media/image289.wmf"/><Relationship Id="rId5" Type="http://schemas.openxmlformats.org/officeDocument/2006/relationships/image" Target="../media/image288.wmf"/><Relationship Id="rId4" Type="http://schemas.openxmlformats.org/officeDocument/2006/relationships/image" Target="../media/image287.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297.wmf"/><Relationship Id="rId2" Type="http://schemas.openxmlformats.org/officeDocument/2006/relationships/image" Target="../media/image296.wmf"/><Relationship Id="rId1" Type="http://schemas.openxmlformats.org/officeDocument/2006/relationships/image" Target="../media/image295.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300.wmf"/><Relationship Id="rId2" Type="http://schemas.openxmlformats.org/officeDocument/2006/relationships/image" Target="../media/image299.wmf"/><Relationship Id="rId1" Type="http://schemas.openxmlformats.org/officeDocument/2006/relationships/image" Target="../media/image298.wmf"/><Relationship Id="rId5" Type="http://schemas.openxmlformats.org/officeDocument/2006/relationships/image" Target="../media/image302.wmf"/><Relationship Id="rId4" Type="http://schemas.openxmlformats.org/officeDocument/2006/relationships/image" Target="../media/image301.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304.wmf"/><Relationship Id="rId1" Type="http://schemas.openxmlformats.org/officeDocument/2006/relationships/image" Target="../media/image303.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305.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308.wmf"/><Relationship Id="rId2" Type="http://schemas.openxmlformats.org/officeDocument/2006/relationships/image" Target="../media/image307.wmf"/><Relationship Id="rId1" Type="http://schemas.openxmlformats.org/officeDocument/2006/relationships/image" Target="../media/image306.wmf"/><Relationship Id="rId4" Type="http://schemas.openxmlformats.org/officeDocument/2006/relationships/image" Target="../media/image309.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314.wmf"/></Relationships>
</file>

<file path=ppt/drawings/_rels/vmlDrawing46.vml.rels><?xml version="1.0" encoding="UTF-8" standalone="yes"?>
<Relationships xmlns="http://schemas.openxmlformats.org/package/2006/relationships"><Relationship Id="rId8" Type="http://schemas.openxmlformats.org/officeDocument/2006/relationships/image" Target="../media/image325.wmf"/><Relationship Id="rId13" Type="http://schemas.openxmlformats.org/officeDocument/2006/relationships/image" Target="../media/image330.wmf"/><Relationship Id="rId3" Type="http://schemas.openxmlformats.org/officeDocument/2006/relationships/image" Target="../media/image320.wmf"/><Relationship Id="rId7" Type="http://schemas.openxmlformats.org/officeDocument/2006/relationships/image" Target="../media/image324.wmf"/><Relationship Id="rId12" Type="http://schemas.openxmlformats.org/officeDocument/2006/relationships/image" Target="../media/image329.wmf"/><Relationship Id="rId2" Type="http://schemas.openxmlformats.org/officeDocument/2006/relationships/image" Target="../media/image319.wmf"/><Relationship Id="rId1" Type="http://schemas.openxmlformats.org/officeDocument/2006/relationships/image" Target="../media/image318.wmf"/><Relationship Id="rId6" Type="http://schemas.openxmlformats.org/officeDocument/2006/relationships/image" Target="../media/image323.wmf"/><Relationship Id="rId11" Type="http://schemas.openxmlformats.org/officeDocument/2006/relationships/image" Target="../media/image328.wmf"/><Relationship Id="rId5" Type="http://schemas.openxmlformats.org/officeDocument/2006/relationships/image" Target="../media/image322.wmf"/><Relationship Id="rId10" Type="http://schemas.openxmlformats.org/officeDocument/2006/relationships/image" Target="../media/image327.wmf"/><Relationship Id="rId4" Type="http://schemas.openxmlformats.org/officeDocument/2006/relationships/image" Target="../media/image321.wmf"/><Relationship Id="rId9" Type="http://schemas.openxmlformats.org/officeDocument/2006/relationships/image" Target="../media/image326.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121.wmf"/><Relationship Id="rId7" Type="http://schemas.openxmlformats.org/officeDocument/2006/relationships/image" Target="../media/image336.wmf"/><Relationship Id="rId2" Type="http://schemas.openxmlformats.org/officeDocument/2006/relationships/image" Target="../media/image332.wmf"/><Relationship Id="rId1" Type="http://schemas.openxmlformats.org/officeDocument/2006/relationships/image" Target="../media/image331.wmf"/><Relationship Id="rId6" Type="http://schemas.openxmlformats.org/officeDocument/2006/relationships/image" Target="../media/image335.wmf"/><Relationship Id="rId5" Type="http://schemas.openxmlformats.org/officeDocument/2006/relationships/image" Target="../media/image334.wmf"/><Relationship Id="rId4" Type="http://schemas.openxmlformats.org/officeDocument/2006/relationships/image" Target="../media/image333.wmf"/></Relationships>
</file>

<file path=ppt/drawings/_rels/vmlDrawing48.vml.rels><?xml version="1.0" encoding="UTF-8" standalone="yes"?>
<Relationships xmlns="http://schemas.openxmlformats.org/package/2006/relationships"><Relationship Id="rId8" Type="http://schemas.openxmlformats.org/officeDocument/2006/relationships/image" Target="../media/image328.wmf"/><Relationship Id="rId13" Type="http://schemas.openxmlformats.org/officeDocument/2006/relationships/image" Target="../media/image340.wmf"/><Relationship Id="rId3" Type="http://schemas.openxmlformats.org/officeDocument/2006/relationships/image" Target="../media/image325.wmf"/><Relationship Id="rId7" Type="http://schemas.openxmlformats.org/officeDocument/2006/relationships/image" Target="../media/image339.wmf"/><Relationship Id="rId12" Type="http://schemas.openxmlformats.org/officeDocument/2006/relationships/image" Target="../media/image321.wmf"/><Relationship Id="rId2" Type="http://schemas.openxmlformats.org/officeDocument/2006/relationships/image" Target="../media/image324.wmf"/><Relationship Id="rId1" Type="http://schemas.openxmlformats.org/officeDocument/2006/relationships/image" Target="../media/image326.wmf"/><Relationship Id="rId6" Type="http://schemas.openxmlformats.org/officeDocument/2006/relationships/image" Target="../media/image338.wmf"/><Relationship Id="rId11" Type="http://schemas.openxmlformats.org/officeDocument/2006/relationships/image" Target="../media/image320.wmf"/><Relationship Id="rId5" Type="http://schemas.openxmlformats.org/officeDocument/2006/relationships/image" Target="../media/image337.wmf"/><Relationship Id="rId10" Type="http://schemas.openxmlformats.org/officeDocument/2006/relationships/image" Target="../media/image330.wmf"/><Relationship Id="rId4" Type="http://schemas.openxmlformats.org/officeDocument/2006/relationships/image" Target="../media/image327.wmf"/><Relationship Id="rId9" Type="http://schemas.openxmlformats.org/officeDocument/2006/relationships/image" Target="../media/image329.wmf"/><Relationship Id="rId14" Type="http://schemas.openxmlformats.org/officeDocument/2006/relationships/image" Target="../media/image341.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345.wmf"/><Relationship Id="rId2" Type="http://schemas.openxmlformats.org/officeDocument/2006/relationships/image" Target="../media/image344.wmf"/><Relationship Id="rId1" Type="http://schemas.openxmlformats.org/officeDocument/2006/relationships/image" Target="../media/image343.wmf"/><Relationship Id="rId6" Type="http://schemas.openxmlformats.org/officeDocument/2006/relationships/image" Target="../media/image348.wmf"/><Relationship Id="rId5" Type="http://schemas.openxmlformats.org/officeDocument/2006/relationships/image" Target="../media/image347.wmf"/><Relationship Id="rId4" Type="http://schemas.openxmlformats.org/officeDocument/2006/relationships/image" Target="../media/image346.wmf"/></Relationships>
</file>

<file path=ppt/drawings/_rels/vmlDrawing50.vml.rels><?xml version="1.0" encoding="UTF-8" standalone="yes"?>
<Relationships xmlns="http://schemas.openxmlformats.org/package/2006/relationships"><Relationship Id="rId8" Type="http://schemas.openxmlformats.org/officeDocument/2006/relationships/image" Target="../media/image351.wmf"/><Relationship Id="rId3" Type="http://schemas.openxmlformats.org/officeDocument/2006/relationships/image" Target="../media/image345.wmf"/><Relationship Id="rId7" Type="http://schemas.openxmlformats.org/officeDocument/2006/relationships/image" Target="../media/image350.wmf"/><Relationship Id="rId2" Type="http://schemas.openxmlformats.org/officeDocument/2006/relationships/image" Target="../media/image344.wmf"/><Relationship Id="rId1" Type="http://schemas.openxmlformats.org/officeDocument/2006/relationships/image" Target="../media/image343.wmf"/><Relationship Id="rId6" Type="http://schemas.openxmlformats.org/officeDocument/2006/relationships/image" Target="../media/image348.wmf"/><Relationship Id="rId11" Type="http://schemas.openxmlformats.org/officeDocument/2006/relationships/image" Target="../media/image354.wmf"/><Relationship Id="rId5" Type="http://schemas.openxmlformats.org/officeDocument/2006/relationships/image" Target="../media/image347.wmf"/><Relationship Id="rId10" Type="http://schemas.openxmlformats.org/officeDocument/2006/relationships/image" Target="../media/image353.wmf"/><Relationship Id="rId4" Type="http://schemas.openxmlformats.org/officeDocument/2006/relationships/image" Target="../media/image346.wmf"/><Relationship Id="rId9" Type="http://schemas.openxmlformats.org/officeDocument/2006/relationships/image" Target="../media/image352.wmf"/></Relationships>
</file>

<file path=ppt/drawings/_rels/vmlDrawing52.vml.rels><?xml version="1.0" encoding="UTF-8" standalone="yes"?>
<Relationships xmlns="http://schemas.openxmlformats.org/package/2006/relationships"><Relationship Id="rId2" Type="http://schemas.openxmlformats.org/officeDocument/2006/relationships/image" Target="../media/image371.emf"/><Relationship Id="rId1" Type="http://schemas.openxmlformats.org/officeDocument/2006/relationships/image" Target="../media/image370.emf"/></Relationships>
</file>

<file path=ppt/drawings/_rels/vmlDrawing53.vml.rels><?xml version="1.0" encoding="UTF-8" standalone="yes"?>
<Relationships xmlns="http://schemas.openxmlformats.org/package/2006/relationships"><Relationship Id="rId8" Type="http://schemas.openxmlformats.org/officeDocument/2006/relationships/image" Target="../media/image380.wmf"/><Relationship Id="rId3" Type="http://schemas.openxmlformats.org/officeDocument/2006/relationships/image" Target="../media/image375.wmf"/><Relationship Id="rId7" Type="http://schemas.openxmlformats.org/officeDocument/2006/relationships/image" Target="../media/image379.wmf"/><Relationship Id="rId2" Type="http://schemas.openxmlformats.org/officeDocument/2006/relationships/image" Target="../media/image374.wmf"/><Relationship Id="rId1" Type="http://schemas.openxmlformats.org/officeDocument/2006/relationships/image" Target="../media/image373.wmf"/><Relationship Id="rId6" Type="http://schemas.openxmlformats.org/officeDocument/2006/relationships/image" Target="../media/image378.wmf"/><Relationship Id="rId11" Type="http://schemas.openxmlformats.org/officeDocument/2006/relationships/image" Target="../media/image383.wmf"/><Relationship Id="rId5" Type="http://schemas.openxmlformats.org/officeDocument/2006/relationships/image" Target="../media/image377.wmf"/><Relationship Id="rId10" Type="http://schemas.openxmlformats.org/officeDocument/2006/relationships/image" Target="../media/image382.wmf"/><Relationship Id="rId4" Type="http://schemas.openxmlformats.org/officeDocument/2006/relationships/image" Target="../media/image376.wmf"/><Relationship Id="rId9" Type="http://schemas.openxmlformats.org/officeDocument/2006/relationships/image" Target="../media/image381.wmf"/></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386.wmf"/><Relationship Id="rId2" Type="http://schemas.openxmlformats.org/officeDocument/2006/relationships/image" Target="../media/image385.wmf"/><Relationship Id="rId1" Type="http://schemas.openxmlformats.org/officeDocument/2006/relationships/image" Target="../media/image384.wmf"/><Relationship Id="rId5" Type="http://schemas.openxmlformats.org/officeDocument/2006/relationships/image" Target="../media/image388.wmf"/><Relationship Id="rId4" Type="http://schemas.openxmlformats.org/officeDocument/2006/relationships/image" Target="../media/image387.w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392.wmf"/><Relationship Id="rId2" Type="http://schemas.openxmlformats.org/officeDocument/2006/relationships/image" Target="../media/image391.wmf"/><Relationship Id="rId1" Type="http://schemas.openxmlformats.org/officeDocument/2006/relationships/image" Target="../media/image39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04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defRPr sz="1200" b="0">
                <a:solidFill>
                  <a:schemeClr val="tx1"/>
                </a:solidFill>
                <a:ea typeface="宋体" charset="-122"/>
                <a:cs typeface="+mn-cs"/>
              </a:defRPr>
            </a:lvl1pPr>
          </a:lstStyle>
          <a:p>
            <a:pPr>
              <a:defRPr/>
            </a:pPr>
            <a:endParaRPr lang="en-US" altLang="zh-CN"/>
          </a:p>
        </p:txBody>
      </p:sp>
      <p:sp>
        <p:nvSpPr>
          <p:cNvPr id="19046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defRPr sz="1200" b="0">
                <a:solidFill>
                  <a:schemeClr val="tx1"/>
                </a:solidFill>
                <a:ea typeface="宋体" charset="-122"/>
                <a:cs typeface="+mn-cs"/>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9046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9047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defRPr sz="1200" b="0">
                <a:solidFill>
                  <a:schemeClr val="tx1"/>
                </a:solidFill>
                <a:ea typeface="宋体" charset="-122"/>
                <a:cs typeface="+mn-cs"/>
              </a:defRPr>
            </a:lvl1pPr>
          </a:lstStyle>
          <a:p>
            <a:pPr>
              <a:defRPr/>
            </a:pPr>
            <a:endParaRPr lang="en-US" altLang="zh-CN"/>
          </a:p>
        </p:txBody>
      </p:sp>
      <p:sp>
        <p:nvSpPr>
          <p:cNvPr id="19047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defRPr sz="1200" b="0">
                <a:solidFill>
                  <a:schemeClr val="tx1"/>
                </a:solidFill>
                <a:ea typeface="宋体" panose="02010600030101010101" pitchFamily="2" charset="-122"/>
              </a:defRPr>
            </a:lvl1pPr>
          </a:lstStyle>
          <a:p>
            <a:pPr>
              <a:defRPr/>
            </a:pPr>
            <a:fld id="{1A7D4466-FB22-4BAC-B8FF-AAF271F23CF1}" type="slidenum">
              <a:rPr lang="en-US" altLang="zh-CN"/>
              <a:pPr>
                <a:defRPr/>
              </a:pPr>
              <a:t>‹#›</a:t>
            </a:fld>
            <a:endParaRPr lang="en-US" altLang="zh-CN"/>
          </a:p>
        </p:txBody>
      </p:sp>
    </p:spTree>
    <p:extLst>
      <p:ext uri="{BB962C8B-B14F-4D97-AF65-F5344CB8AC3E}">
        <p14:creationId xmlns:p14="http://schemas.microsoft.com/office/powerpoint/2010/main" val="281080596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TextEdit="1"/>
          </p:cNvSpPr>
          <p:nvPr>
            <p:ph type="sldImg"/>
          </p:nvPr>
        </p:nvSpPr>
        <p:spPr>
          <a:ln/>
        </p:spPr>
      </p:sp>
      <p:sp>
        <p:nvSpPr>
          <p:cNvPr id="8195" name="备注占位符 2"/>
          <p:cNvSpPr>
            <a:spLocks noGrp="1"/>
          </p:cNvSpPr>
          <p:nvPr>
            <p:ph type="body" idx="1"/>
          </p:nvPr>
        </p:nvSpPr>
        <p:spPr>
          <a:noFill/>
        </p:spPr>
        <p:txBody>
          <a:bodyPr/>
          <a:lstStyle/>
          <a:p>
            <a:endParaRPr lang="zh-CN" altLang="en-US">
              <a:ea typeface="宋体" panose="02010600030101010101" pitchFamily="2" charset="-122"/>
            </a:endParaRPr>
          </a:p>
        </p:txBody>
      </p:sp>
      <p:sp>
        <p:nvSpPr>
          <p:cNvPr id="8196" name="灯片编号占位符 3"/>
          <p:cNvSpPr>
            <a:spLocks noGrp="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AC625C1-2D74-4E04-9C86-C34E2F6E89A2}" type="slidenum">
              <a:rPr lang="en-US" altLang="zh-CN" smtClean="0">
                <a:ea typeface="楷体_GB2312"/>
              </a:rPr>
              <a:pPr>
                <a:spcBef>
                  <a:spcPct val="0"/>
                </a:spcBef>
              </a:pPr>
              <a:t>4</a:t>
            </a:fld>
            <a:endParaRPr lang="en-US" altLang="zh-CN">
              <a:ea typeface="楷体_GB2312"/>
            </a:endParaRPr>
          </a:p>
        </p:txBody>
      </p:sp>
    </p:spTree>
    <p:extLst>
      <p:ext uri="{BB962C8B-B14F-4D97-AF65-F5344CB8AC3E}">
        <p14:creationId xmlns:p14="http://schemas.microsoft.com/office/powerpoint/2010/main" val="35797131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a:ln/>
        </p:spPr>
      </p:sp>
      <p:sp>
        <p:nvSpPr>
          <p:cNvPr id="10243" name="备注占位符 2"/>
          <p:cNvSpPr>
            <a:spLocks noGrp="1"/>
          </p:cNvSpPr>
          <p:nvPr>
            <p:ph type="body" idx="1"/>
          </p:nvPr>
        </p:nvSpPr>
        <p:spPr>
          <a:noFill/>
        </p:spPr>
        <p:txBody>
          <a:bodyPr/>
          <a:lstStyle/>
          <a:p>
            <a:r>
              <a:rPr lang="en-US" altLang="zh-TW">
                <a:latin typeface="Arial" panose="020B0604020202020204" pitchFamily="34" charset="0"/>
                <a:ea typeface="宋体" panose="02010600030101010101" pitchFamily="2" charset="-122"/>
              </a:rPr>
              <a:t>Deflect </a:t>
            </a:r>
            <a:r>
              <a:rPr lang="zh-CN" altLang="en-US">
                <a:latin typeface="Arial" panose="020B0604020202020204" pitchFamily="34" charset="0"/>
                <a:ea typeface="宋体" panose="02010600030101010101" pitchFamily="2" charset="-122"/>
              </a:rPr>
              <a:t>偏转</a:t>
            </a:r>
            <a:endParaRPr lang="zh-CN" altLang="en-US">
              <a:ea typeface="宋体" panose="02010600030101010101" pitchFamily="2" charset="-122"/>
            </a:endParaRPr>
          </a:p>
        </p:txBody>
      </p:sp>
      <p:sp>
        <p:nvSpPr>
          <p:cNvPr id="10244" name="灯片编号占位符 3"/>
          <p:cNvSpPr>
            <a:spLocks noGrp="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918740A-02DE-42B9-A522-DC8294183245}" type="slidenum">
              <a:rPr lang="en-US" altLang="zh-CN" smtClean="0">
                <a:ea typeface="楷体_GB2312"/>
              </a:rPr>
              <a:pPr>
                <a:spcBef>
                  <a:spcPct val="0"/>
                </a:spcBef>
              </a:pPr>
              <a:t>5</a:t>
            </a:fld>
            <a:endParaRPr lang="en-US" altLang="zh-CN">
              <a:ea typeface="楷体_GB2312"/>
            </a:endParaRPr>
          </a:p>
        </p:txBody>
      </p:sp>
    </p:spTree>
    <p:extLst>
      <p:ext uri="{BB962C8B-B14F-4D97-AF65-F5344CB8AC3E}">
        <p14:creationId xmlns:p14="http://schemas.microsoft.com/office/powerpoint/2010/main" val="2147971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a:ea typeface="楷体_GB2312"/>
              </a:rPr>
              <a:t>北宋科学家沈括在</a:t>
            </a:r>
            <a:r>
              <a:rPr lang="en-US" altLang="zh-CN" sz="1200">
                <a:ea typeface="楷体_GB2312"/>
              </a:rPr>
              <a:t>《</a:t>
            </a:r>
            <a:r>
              <a:rPr lang="zh-CN" altLang="en-US" sz="1200">
                <a:solidFill>
                  <a:srgbClr val="FF0000"/>
                </a:solidFill>
                <a:ea typeface="楷体_GB2312"/>
              </a:rPr>
              <a:t>梦溪笔谈</a:t>
            </a:r>
            <a:r>
              <a:rPr lang="en-US" altLang="zh-CN" sz="1200">
                <a:ea typeface="楷体_GB2312"/>
              </a:rPr>
              <a:t>》</a:t>
            </a:r>
            <a:r>
              <a:rPr lang="zh-CN" altLang="en-US" sz="1200">
                <a:ea typeface="楷体_GB2312"/>
              </a:rPr>
              <a:t>中留下了世界上最早关于磁针的详细记载：</a:t>
            </a:r>
            <a:r>
              <a:rPr lang="en-US" altLang="zh-CN" sz="1200">
                <a:ea typeface="楷体_GB2312"/>
              </a:rPr>
              <a:t>“</a:t>
            </a:r>
            <a:r>
              <a:rPr lang="zh-CN" altLang="en-US" sz="1200">
                <a:ea typeface="楷体_GB2312"/>
              </a:rPr>
              <a:t>方家以磁石磨针锋，则能指南。</a:t>
            </a:r>
            <a:r>
              <a:rPr lang="en-US" altLang="zh-CN" sz="1200">
                <a:ea typeface="楷体_GB2312"/>
              </a:rPr>
              <a:t>”</a:t>
            </a:r>
            <a:r>
              <a:rPr lang="zh-CN" altLang="en-US" sz="1200">
                <a:ea typeface="楷体_GB2312"/>
              </a:rPr>
              <a:t>这短短十三个字，揭示了一个改变世界的秘密。当时的工匠们发现，用磁石摩擦铁针后，铁针就会神奇地指向南北方向。这个发现很快被应用于航海，人们将磁针固定在刻有方位的</a:t>
            </a:r>
            <a:r>
              <a:rPr lang="zh-CN" altLang="en-US" sz="1200">
                <a:solidFill>
                  <a:srgbClr val="FF0000"/>
                </a:solidFill>
                <a:ea typeface="楷体_GB2312"/>
              </a:rPr>
              <a:t>罗盘</a:t>
            </a:r>
            <a:r>
              <a:rPr lang="zh-CN" altLang="en-US" sz="1200">
                <a:ea typeface="楷体_GB2312"/>
              </a:rPr>
              <a:t>上，制成了最早的航海罗盘。南宋</a:t>
            </a:r>
            <a:r>
              <a:rPr lang="en-US" altLang="zh-CN" sz="1200">
                <a:ea typeface="楷体_GB2312"/>
              </a:rPr>
              <a:t>《</a:t>
            </a:r>
            <a:r>
              <a:rPr lang="zh-CN" altLang="en-US" sz="1200">
                <a:ea typeface="楷体_GB2312"/>
              </a:rPr>
              <a:t>萍洲可谈</a:t>
            </a:r>
            <a:r>
              <a:rPr lang="en-US" altLang="zh-CN" sz="1200">
                <a:ea typeface="楷体_GB2312"/>
              </a:rPr>
              <a:t>》</a:t>
            </a:r>
            <a:r>
              <a:rPr lang="zh-CN" altLang="en-US" sz="1200">
                <a:ea typeface="楷体_GB2312"/>
              </a:rPr>
              <a:t>记载：</a:t>
            </a:r>
            <a:r>
              <a:rPr lang="en-US" altLang="zh-CN" sz="1200">
                <a:ea typeface="楷体_GB2312"/>
              </a:rPr>
              <a:t>“</a:t>
            </a:r>
            <a:r>
              <a:rPr lang="zh-CN" altLang="en-US" sz="1200">
                <a:ea typeface="楷体_GB2312"/>
              </a:rPr>
              <a:t>舟师识地理，夜则观星，昼则观日，阴晦观指南针。</a:t>
            </a:r>
            <a:r>
              <a:rPr lang="en-US" altLang="zh-CN" sz="1200">
                <a:ea typeface="楷体_GB2312"/>
              </a:rPr>
              <a:t>”</a:t>
            </a:r>
            <a:r>
              <a:rPr lang="zh-CN" altLang="en-US" sz="1200">
                <a:ea typeface="楷体_GB2312"/>
              </a:rPr>
              <a:t>这是世界上最早关于航海使用罗盘的明确记录。</a:t>
            </a:r>
            <a:endParaRPr lang="zh-CN" altLang="en-US"/>
          </a:p>
        </p:txBody>
      </p:sp>
      <p:sp>
        <p:nvSpPr>
          <p:cNvPr id="4" name="灯片编号占位符 3"/>
          <p:cNvSpPr>
            <a:spLocks noGrp="1"/>
          </p:cNvSpPr>
          <p:nvPr>
            <p:ph type="sldNum" sz="quarter" idx="10"/>
          </p:nvPr>
        </p:nvSpPr>
        <p:spPr/>
        <p:txBody>
          <a:bodyPr/>
          <a:lstStyle/>
          <a:p>
            <a:pPr>
              <a:defRPr/>
            </a:pPr>
            <a:fld id="{1A7D4466-FB22-4BAC-B8FF-AAF271F23CF1}" type="slidenum">
              <a:rPr lang="en-US" altLang="zh-CN" smtClean="0"/>
              <a:pPr>
                <a:defRPr/>
              </a:pPr>
              <a:t>6</a:t>
            </a:fld>
            <a:endParaRPr lang="en-US" altLang="zh-CN"/>
          </a:p>
        </p:txBody>
      </p:sp>
    </p:spTree>
    <p:extLst>
      <p:ext uri="{BB962C8B-B14F-4D97-AF65-F5344CB8AC3E}">
        <p14:creationId xmlns:p14="http://schemas.microsoft.com/office/powerpoint/2010/main" val="24817409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a:ln/>
        </p:spPr>
      </p:sp>
      <p:sp>
        <p:nvSpPr>
          <p:cNvPr id="17411" name="备注占位符 2"/>
          <p:cNvSpPr>
            <a:spLocks noGrp="1"/>
          </p:cNvSpPr>
          <p:nvPr>
            <p:ph type="body" idx="1"/>
          </p:nvPr>
        </p:nvSpPr>
        <p:spPr>
          <a:noFill/>
        </p:spPr>
        <p:txBody>
          <a:bodyPr/>
          <a:lstStyle/>
          <a:p>
            <a:endParaRPr lang="zh-CN" altLang="en-US">
              <a:ea typeface="宋体" panose="02010600030101010101" pitchFamily="2" charset="-122"/>
            </a:endParaRPr>
          </a:p>
        </p:txBody>
      </p:sp>
      <p:sp>
        <p:nvSpPr>
          <p:cNvPr id="17412" name="灯片编号占位符 3"/>
          <p:cNvSpPr>
            <a:spLocks noGrp="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D5487D7-AAE4-4FC9-A98B-3E44D162AE39}" type="slidenum">
              <a:rPr lang="en-US" altLang="zh-CN" smtClean="0">
                <a:ea typeface="楷体_GB2312"/>
              </a:rPr>
              <a:pPr>
                <a:spcBef>
                  <a:spcPct val="0"/>
                </a:spcBef>
              </a:pPr>
              <a:t>12</a:t>
            </a:fld>
            <a:endParaRPr lang="en-US" altLang="zh-CN">
              <a:ea typeface="楷体_GB2312"/>
            </a:endParaRPr>
          </a:p>
        </p:txBody>
      </p:sp>
    </p:spTree>
    <p:extLst>
      <p:ext uri="{BB962C8B-B14F-4D97-AF65-F5344CB8AC3E}">
        <p14:creationId xmlns:p14="http://schemas.microsoft.com/office/powerpoint/2010/main" val="33865674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FBD0BCC-5791-43B6-94E0-866A227CC33E}" type="slidenum">
              <a:rPr lang="en-US" altLang="zh-CN" smtClean="0">
                <a:ea typeface="楷体_GB2312"/>
              </a:rPr>
              <a:pPr>
                <a:spcBef>
                  <a:spcPct val="0"/>
                </a:spcBef>
              </a:pPr>
              <a:t>13</a:t>
            </a:fld>
            <a:endParaRPr lang="en-US" altLang="zh-CN">
              <a:ea typeface="楷体_GB2312"/>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p:spPr>
        <p:txBody>
          <a:bodyPr/>
          <a:lstStyle/>
          <a:p>
            <a:endParaRPr lang="zh-CN" altLang="zh-CN">
              <a:ea typeface="宋体" panose="02010600030101010101" pitchFamily="2" charset="-122"/>
            </a:endParaRPr>
          </a:p>
        </p:txBody>
      </p:sp>
    </p:spTree>
    <p:extLst>
      <p:ext uri="{BB962C8B-B14F-4D97-AF65-F5344CB8AC3E}">
        <p14:creationId xmlns:p14="http://schemas.microsoft.com/office/powerpoint/2010/main" val="28665421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A7D4466-FB22-4BAC-B8FF-AAF271F23CF1}" type="slidenum">
              <a:rPr lang="en-US" altLang="zh-CN" smtClean="0"/>
              <a:pPr>
                <a:defRPr/>
              </a:pPr>
              <a:t>14</a:t>
            </a:fld>
            <a:endParaRPr lang="en-US" altLang="zh-CN"/>
          </a:p>
        </p:txBody>
      </p:sp>
    </p:spTree>
    <p:extLst>
      <p:ext uri="{BB962C8B-B14F-4D97-AF65-F5344CB8AC3E}">
        <p14:creationId xmlns:p14="http://schemas.microsoft.com/office/powerpoint/2010/main" val="3849890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1C8DADD-0335-4732-A20C-53452A821A74}" type="slidenum">
              <a:rPr lang="en-US" altLang="zh-CN" smtClean="0">
                <a:ea typeface="楷体_GB2312"/>
              </a:rPr>
              <a:pPr>
                <a:spcBef>
                  <a:spcPct val="0"/>
                </a:spcBef>
              </a:pPr>
              <a:t>16</a:t>
            </a:fld>
            <a:endParaRPr lang="en-US" altLang="zh-CN">
              <a:ea typeface="楷体_GB2312"/>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p:spPr>
        <p:txBody>
          <a:bodyPr/>
          <a:lstStyle/>
          <a:p>
            <a:endParaRPr lang="zh-CN" altLang="zh-CN">
              <a:ea typeface="宋体" panose="02010600030101010101" pitchFamily="2" charset="-122"/>
            </a:endParaRPr>
          </a:p>
        </p:txBody>
      </p:sp>
    </p:spTree>
    <p:extLst>
      <p:ext uri="{BB962C8B-B14F-4D97-AF65-F5344CB8AC3E}">
        <p14:creationId xmlns:p14="http://schemas.microsoft.com/office/powerpoint/2010/main" val="1102269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9B6BFA3-7B5E-4882-A3A5-871FC700C730}" type="slidenum">
              <a:rPr lang="en-US" altLang="zh-CN" smtClean="0">
                <a:ea typeface="楷体_GB2312"/>
              </a:rPr>
              <a:pPr>
                <a:spcBef>
                  <a:spcPct val="0"/>
                </a:spcBef>
              </a:pPr>
              <a:t>17</a:t>
            </a:fld>
            <a:endParaRPr lang="en-US" altLang="zh-CN">
              <a:ea typeface="楷体_GB2312"/>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p:spPr>
        <p:txBody>
          <a:bodyPr/>
          <a:lstStyle/>
          <a:p>
            <a:endParaRPr lang="zh-CN" altLang="zh-CN">
              <a:ea typeface="宋体" panose="02010600030101010101" pitchFamily="2" charset="-122"/>
            </a:endParaRPr>
          </a:p>
        </p:txBody>
      </p:sp>
    </p:spTree>
    <p:extLst>
      <p:ext uri="{BB962C8B-B14F-4D97-AF65-F5344CB8AC3E}">
        <p14:creationId xmlns:p14="http://schemas.microsoft.com/office/powerpoint/2010/main" val="29067269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A7D4466-FB22-4BAC-B8FF-AAF271F23CF1}" type="slidenum">
              <a:rPr lang="en-US" altLang="zh-CN" smtClean="0"/>
              <a:pPr>
                <a:defRPr/>
              </a:pPr>
              <a:t>20</a:t>
            </a:fld>
            <a:endParaRPr lang="en-US" altLang="zh-CN"/>
          </a:p>
        </p:txBody>
      </p:sp>
    </p:spTree>
    <p:extLst>
      <p:ext uri="{BB962C8B-B14F-4D97-AF65-F5344CB8AC3E}">
        <p14:creationId xmlns:p14="http://schemas.microsoft.com/office/powerpoint/2010/main" val="35042398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A2E21E6-2BE3-40F0-9EDC-F35850DECB2F}" type="slidenum">
              <a:rPr lang="en-US" altLang="zh-CN" smtClean="0">
                <a:ea typeface="楷体_GB2312"/>
              </a:rPr>
              <a:pPr>
                <a:spcBef>
                  <a:spcPct val="0"/>
                </a:spcBef>
              </a:pPr>
              <a:t>23</a:t>
            </a:fld>
            <a:endParaRPr lang="en-US" altLang="zh-CN">
              <a:ea typeface="楷体_GB2312"/>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p:spPr>
        <p:txBody>
          <a:bodyPr/>
          <a:lstStyle/>
          <a:p>
            <a:endParaRPr lang="zh-CN" altLang="zh-CN">
              <a:ea typeface="宋体" panose="02010600030101010101" pitchFamily="2" charset="-122"/>
            </a:endParaRPr>
          </a:p>
        </p:txBody>
      </p:sp>
    </p:spTree>
    <p:extLst>
      <p:ext uri="{BB962C8B-B14F-4D97-AF65-F5344CB8AC3E}">
        <p14:creationId xmlns:p14="http://schemas.microsoft.com/office/powerpoint/2010/main" val="910786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11E866C-3BD3-4367-92F3-56AC33161839}" type="slidenum">
              <a:rPr lang="en-US" altLang="zh-CN" smtClean="0">
                <a:ea typeface="楷体_GB2312"/>
              </a:rPr>
              <a:pPr>
                <a:spcBef>
                  <a:spcPct val="0"/>
                </a:spcBef>
              </a:pPr>
              <a:t>24</a:t>
            </a:fld>
            <a:endParaRPr lang="en-US" altLang="zh-CN">
              <a:ea typeface="楷体_GB2312"/>
            </a:endParaRPr>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p:spPr>
        <p:txBody>
          <a:bodyPr/>
          <a:lstStyle/>
          <a:p>
            <a:endParaRPr lang="zh-CN" altLang="zh-CN">
              <a:ea typeface="宋体" panose="02010600030101010101" pitchFamily="2" charset="-122"/>
            </a:endParaRPr>
          </a:p>
        </p:txBody>
      </p:sp>
    </p:spTree>
    <p:extLst>
      <p:ext uri="{BB962C8B-B14F-4D97-AF65-F5344CB8AC3E}">
        <p14:creationId xmlns:p14="http://schemas.microsoft.com/office/powerpoint/2010/main" val="30391186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AA0D0C8-445A-49F0-BA7F-C008950C6CB2}" type="slidenum">
              <a:rPr lang="en-US" altLang="zh-CN" smtClean="0">
                <a:ea typeface="楷体_GB2312"/>
              </a:rPr>
              <a:pPr>
                <a:spcBef>
                  <a:spcPct val="0"/>
                </a:spcBef>
              </a:pPr>
              <a:t>25</a:t>
            </a:fld>
            <a:endParaRPr lang="en-US" altLang="zh-CN">
              <a:ea typeface="楷体_GB2312"/>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p:spPr>
        <p:txBody>
          <a:bodyPr/>
          <a:lstStyle/>
          <a:p>
            <a:endParaRPr lang="zh-CN" altLang="zh-CN">
              <a:ea typeface="宋体" panose="02010600030101010101" pitchFamily="2" charset="-122"/>
            </a:endParaRPr>
          </a:p>
        </p:txBody>
      </p:sp>
    </p:spTree>
    <p:extLst>
      <p:ext uri="{BB962C8B-B14F-4D97-AF65-F5344CB8AC3E}">
        <p14:creationId xmlns:p14="http://schemas.microsoft.com/office/powerpoint/2010/main" val="17685084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33E5A47-68A3-4360-8834-A3F6CA21803B}" type="slidenum">
              <a:rPr lang="en-US" altLang="zh-CN" smtClean="0">
                <a:ea typeface="楷体_GB2312"/>
              </a:rPr>
              <a:pPr>
                <a:spcBef>
                  <a:spcPct val="0"/>
                </a:spcBef>
              </a:pPr>
              <a:t>27</a:t>
            </a:fld>
            <a:endParaRPr lang="en-US" altLang="zh-CN">
              <a:ea typeface="楷体_GB2312"/>
            </a:endParaRPr>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p:spPr>
        <p:txBody>
          <a:bodyPr/>
          <a:lstStyle/>
          <a:p>
            <a:endParaRPr lang="zh-CN" altLang="zh-CN">
              <a:ea typeface="宋体" panose="02010600030101010101" pitchFamily="2" charset="-122"/>
            </a:endParaRPr>
          </a:p>
        </p:txBody>
      </p:sp>
    </p:spTree>
    <p:extLst>
      <p:ext uri="{BB962C8B-B14F-4D97-AF65-F5344CB8AC3E}">
        <p14:creationId xmlns:p14="http://schemas.microsoft.com/office/powerpoint/2010/main" val="32647420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1" kern="1200">
                <a:solidFill>
                  <a:schemeClr val="tx1"/>
                </a:solidFill>
                <a:effectLst/>
                <a:latin typeface="Times New Roman" pitchFamily="18" charset="0"/>
                <a:ea typeface="宋体" charset="-122"/>
                <a:cs typeface="+mn-cs"/>
              </a:rPr>
              <a:t>电场的质量并不是传统意义上的物质质量。</a:t>
            </a:r>
            <a:r>
              <a:rPr lang="zh-CN" altLang="en-US"/>
              <a:t>‌</a:t>
            </a:r>
            <a:r>
              <a:rPr kumimoji="1" lang="zh-CN" altLang="en-US" sz="1200" b="0" i="0" kern="1200">
                <a:solidFill>
                  <a:schemeClr val="tx1"/>
                </a:solidFill>
                <a:effectLst/>
                <a:latin typeface="Times New Roman" pitchFamily="18" charset="0"/>
                <a:ea typeface="宋体" charset="-122"/>
                <a:cs typeface="+mn-cs"/>
              </a:rPr>
              <a:t>在广义相对论中，质量可以理解为物质的能量和动量的一种度量。电场具有能量，因此也可以说电场具有一定的“质量”。然而，这种质量与传统物质的质量有所不同，它更多是能量的表现形式</a:t>
            </a:r>
            <a:endParaRPr lang="zh-CN" altLang="en-US"/>
          </a:p>
        </p:txBody>
      </p:sp>
      <p:sp>
        <p:nvSpPr>
          <p:cNvPr id="4" name="灯片编号占位符 3"/>
          <p:cNvSpPr>
            <a:spLocks noGrp="1"/>
          </p:cNvSpPr>
          <p:nvPr>
            <p:ph type="sldNum" sz="quarter" idx="5"/>
          </p:nvPr>
        </p:nvSpPr>
        <p:spPr/>
        <p:txBody>
          <a:bodyPr/>
          <a:lstStyle/>
          <a:p>
            <a:pPr>
              <a:defRPr/>
            </a:pPr>
            <a:fld id="{1A7D4466-FB22-4BAC-B8FF-AAF271F23CF1}" type="slidenum">
              <a:rPr lang="en-US" altLang="zh-CN" smtClean="0"/>
              <a:pPr>
                <a:defRPr/>
              </a:pPr>
              <a:t>28</a:t>
            </a:fld>
            <a:endParaRPr lang="en-US" altLang="zh-CN"/>
          </a:p>
        </p:txBody>
      </p:sp>
    </p:spTree>
    <p:extLst>
      <p:ext uri="{BB962C8B-B14F-4D97-AF65-F5344CB8AC3E}">
        <p14:creationId xmlns:p14="http://schemas.microsoft.com/office/powerpoint/2010/main" val="39796451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a:ln/>
        </p:spPr>
      </p:sp>
      <p:sp>
        <p:nvSpPr>
          <p:cNvPr id="49155" name="备注占位符 2"/>
          <p:cNvSpPr>
            <a:spLocks noGrp="1"/>
          </p:cNvSpPr>
          <p:nvPr>
            <p:ph type="body" idx="1"/>
          </p:nvPr>
        </p:nvSpPr>
        <p:spPr>
          <a:noFill/>
        </p:spPr>
        <p:txBody>
          <a:bodyPr/>
          <a:lstStyle/>
          <a:p>
            <a:endParaRPr lang="zh-CN" altLang="en-US">
              <a:ea typeface="宋体" panose="02010600030101010101" pitchFamily="2" charset="-122"/>
            </a:endParaRPr>
          </a:p>
        </p:txBody>
      </p:sp>
      <p:sp>
        <p:nvSpPr>
          <p:cNvPr id="49156" name="灯片编号占位符 3"/>
          <p:cNvSpPr>
            <a:spLocks noGrp="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C44E386-B900-426F-BCAD-8872275C5625}" type="slidenum">
              <a:rPr lang="en-US" altLang="zh-CN" smtClean="0">
                <a:ea typeface="楷体_GB2312"/>
              </a:rPr>
              <a:pPr>
                <a:spcBef>
                  <a:spcPct val="0"/>
                </a:spcBef>
              </a:pPr>
              <a:t>36</a:t>
            </a:fld>
            <a:endParaRPr lang="en-US" altLang="zh-CN">
              <a:ea typeface="楷体_GB2312"/>
            </a:endParaRPr>
          </a:p>
        </p:txBody>
      </p:sp>
    </p:spTree>
    <p:extLst>
      <p:ext uri="{BB962C8B-B14F-4D97-AF65-F5344CB8AC3E}">
        <p14:creationId xmlns:p14="http://schemas.microsoft.com/office/powerpoint/2010/main" val="33485798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A7D4466-FB22-4BAC-B8FF-AAF271F23CF1}" type="slidenum">
              <a:rPr lang="en-US" altLang="zh-CN" smtClean="0"/>
              <a:pPr>
                <a:defRPr/>
              </a:pPr>
              <a:t>41</a:t>
            </a:fld>
            <a:endParaRPr lang="en-US" altLang="zh-CN"/>
          </a:p>
        </p:txBody>
      </p:sp>
    </p:spTree>
    <p:extLst>
      <p:ext uri="{BB962C8B-B14F-4D97-AF65-F5344CB8AC3E}">
        <p14:creationId xmlns:p14="http://schemas.microsoft.com/office/powerpoint/2010/main" val="35466133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A7D4466-FB22-4BAC-B8FF-AAF271F23CF1}" type="slidenum">
              <a:rPr lang="en-US" altLang="zh-CN" smtClean="0"/>
              <a:pPr>
                <a:defRPr/>
              </a:pPr>
              <a:t>51</a:t>
            </a:fld>
            <a:endParaRPr lang="en-US" altLang="zh-CN"/>
          </a:p>
        </p:txBody>
      </p:sp>
    </p:spTree>
    <p:extLst>
      <p:ext uri="{BB962C8B-B14F-4D97-AF65-F5344CB8AC3E}">
        <p14:creationId xmlns:p14="http://schemas.microsoft.com/office/powerpoint/2010/main" val="8848542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DCA8A3F-5D95-4BFE-8F33-8CE1FF7F1D51}" type="slidenum">
              <a:rPr lang="en-US" altLang="zh-CN" smtClean="0">
                <a:ea typeface="楷体_GB2312"/>
              </a:rPr>
              <a:pPr>
                <a:spcBef>
                  <a:spcPct val="0"/>
                </a:spcBef>
              </a:pPr>
              <a:t>53</a:t>
            </a:fld>
            <a:endParaRPr lang="en-US" altLang="zh-CN">
              <a:ea typeface="楷体_GB2312"/>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p:spPr>
        <p:txBody>
          <a:bodyPr/>
          <a:lstStyle/>
          <a:p>
            <a:endParaRPr lang="zh-CN" altLang="zh-CN">
              <a:ea typeface="宋体" panose="02010600030101010101" pitchFamily="2" charset="-122"/>
            </a:endParaRPr>
          </a:p>
        </p:txBody>
      </p:sp>
    </p:spTree>
    <p:extLst>
      <p:ext uri="{BB962C8B-B14F-4D97-AF65-F5344CB8AC3E}">
        <p14:creationId xmlns:p14="http://schemas.microsoft.com/office/powerpoint/2010/main" val="1625539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A7D4466-FB22-4BAC-B8FF-AAF271F23CF1}" type="slidenum">
              <a:rPr lang="en-US" altLang="zh-CN" smtClean="0"/>
              <a:pPr>
                <a:defRPr/>
              </a:pPr>
              <a:t>55</a:t>
            </a:fld>
            <a:endParaRPr lang="en-US" altLang="zh-CN"/>
          </a:p>
        </p:txBody>
      </p:sp>
    </p:spTree>
    <p:extLst>
      <p:ext uri="{BB962C8B-B14F-4D97-AF65-F5344CB8AC3E}">
        <p14:creationId xmlns:p14="http://schemas.microsoft.com/office/powerpoint/2010/main" val="29422050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A7D4466-FB22-4BAC-B8FF-AAF271F23CF1}" type="slidenum">
              <a:rPr lang="en-US" altLang="zh-CN" smtClean="0"/>
              <a:pPr>
                <a:defRPr/>
              </a:pPr>
              <a:t>57</a:t>
            </a:fld>
            <a:endParaRPr lang="en-US" altLang="zh-CN"/>
          </a:p>
        </p:txBody>
      </p:sp>
    </p:spTree>
    <p:extLst>
      <p:ext uri="{BB962C8B-B14F-4D97-AF65-F5344CB8AC3E}">
        <p14:creationId xmlns:p14="http://schemas.microsoft.com/office/powerpoint/2010/main" val="19827648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0EAAEB6-8076-4CB1-9910-841627410E5B}" type="slidenum">
              <a:rPr lang="en-US" altLang="zh-CN" smtClean="0">
                <a:ea typeface="楷体_GB2312"/>
              </a:rPr>
              <a:pPr>
                <a:spcBef>
                  <a:spcPct val="0"/>
                </a:spcBef>
              </a:pPr>
              <a:t>61</a:t>
            </a:fld>
            <a:endParaRPr lang="en-US" altLang="zh-CN">
              <a:ea typeface="楷体_GB2312"/>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p:spPr>
        <p:txBody>
          <a:bodyPr/>
          <a:lstStyle/>
          <a:p>
            <a:endParaRPr lang="zh-CN" altLang="zh-CN">
              <a:ea typeface="宋体" panose="02010600030101010101" pitchFamily="2" charset="-122"/>
            </a:endParaRPr>
          </a:p>
        </p:txBody>
      </p:sp>
    </p:spTree>
    <p:extLst>
      <p:ext uri="{BB962C8B-B14F-4D97-AF65-F5344CB8AC3E}">
        <p14:creationId xmlns:p14="http://schemas.microsoft.com/office/powerpoint/2010/main" val="29341969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a:ln/>
        </p:spPr>
      </p:sp>
      <p:sp>
        <p:nvSpPr>
          <p:cNvPr id="75779" name="备注占位符 2"/>
          <p:cNvSpPr>
            <a:spLocks noGrp="1"/>
          </p:cNvSpPr>
          <p:nvPr>
            <p:ph type="body" idx="1"/>
          </p:nvPr>
        </p:nvSpPr>
        <p:spPr>
          <a:noFill/>
        </p:spPr>
        <p:txBody>
          <a:bodyPr/>
          <a:lstStyle/>
          <a:p>
            <a:r>
              <a:rPr kumimoji="1" lang="zh-CN" altLang="en-US" sz="1200" b="1" i="0" kern="1200">
                <a:solidFill>
                  <a:schemeClr val="tx1"/>
                </a:solidFill>
                <a:effectLst/>
                <a:latin typeface="Times New Roman" pitchFamily="18" charset="0"/>
                <a:ea typeface="宋体" charset="-122"/>
                <a:cs typeface="+mn-cs"/>
              </a:rPr>
              <a:t>德国马克已废除，现在</a:t>
            </a:r>
            <a:r>
              <a:rPr kumimoji="1" lang="en-US" altLang="zh-CN" sz="1200" b="1" i="0" kern="1200">
                <a:solidFill>
                  <a:schemeClr val="tx1"/>
                </a:solidFill>
                <a:effectLst/>
                <a:latin typeface="Times New Roman" pitchFamily="18" charset="0"/>
                <a:ea typeface="宋体" charset="-122"/>
                <a:cs typeface="+mn-cs"/>
              </a:rPr>
              <a:t>ebay</a:t>
            </a:r>
            <a:r>
              <a:rPr kumimoji="1" lang="zh-CN" altLang="en-US" sz="1200" b="1" i="0" kern="1200">
                <a:solidFill>
                  <a:schemeClr val="tx1"/>
                </a:solidFill>
                <a:effectLst/>
                <a:latin typeface="Times New Roman" pitchFamily="18" charset="0"/>
                <a:ea typeface="宋体" charset="-122"/>
                <a:cs typeface="+mn-cs"/>
              </a:rPr>
              <a:t>上</a:t>
            </a:r>
            <a:r>
              <a:rPr kumimoji="1" lang="en-US" altLang="zh-CN" sz="1200" b="1" i="0" kern="1200">
                <a:solidFill>
                  <a:schemeClr val="tx1"/>
                </a:solidFill>
                <a:effectLst/>
                <a:latin typeface="Times New Roman" pitchFamily="18" charset="0"/>
                <a:ea typeface="宋体" charset="-122"/>
                <a:cs typeface="+mn-cs"/>
              </a:rPr>
              <a:t>US $17.95</a:t>
            </a:r>
            <a:r>
              <a:rPr kumimoji="1" lang="zh-CN" altLang="en-US" sz="1200" b="1" i="0" kern="1200">
                <a:solidFill>
                  <a:schemeClr val="tx1"/>
                </a:solidFill>
                <a:effectLst/>
                <a:latin typeface="Times New Roman" pitchFamily="18" charset="0"/>
                <a:ea typeface="宋体" charset="-122"/>
                <a:cs typeface="+mn-cs"/>
              </a:rPr>
              <a:t>，</a:t>
            </a:r>
            <a:r>
              <a:rPr kumimoji="1" lang="en-US" altLang="zh-CN" sz="1200" b="0" i="0" kern="1200">
                <a:solidFill>
                  <a:schemeClr val="tx1"/>
                </a:solidFill>
                <a:effectLst/>
                <a:latin typeface="Times New Roman" pitchFamily="18" charset="0"/>
                <a:ea typeface="宋体" charset="-122"/>
                <a:cs typeface="+mn-cs"/>
              </a:rPr>
              <a:t>Approximately</a:t>
            </a:r>
            <a:r>
              <a:rPr kumimoji="1" lang="en-US" altLang="zh-CN" sz="1200" b="1" i="0" kern="1200">
                <a:solidFill>
                  <a:schemeClr val="tx1"/>
                </a:solidFill>
                <a:effectLst/>
                <a:latin typeface="Times New Roman" pitchFamily="18" charset="0"/>
                <a:ea typeface="宋体" charset="-122"/>
                <a:cs typeface="+mn-cs"/>
              </a:rPr>
              <a:t>HKD 139.70</a:t>
            </a:r>
            <a:endParaRPr kumimoji="1" lang="en-US" altLang="zh-CN" sz="1200" b="0" i="0" kern="1200">
              <a:solidFill>
                <a:schemeClr val="tx1"/>
              </a:solidFill>
              <a:effectLst/>
              <a:latin typeface="Times New Roman" pitchFamily="18" charset="0"/>
              <a:ea typeface="宋体" charset="-122"/>
              <a:cs typeface="+mn-cs"/>
            </a:endParaRPr>
          </a:p>
          <a:p>
            <a:endParaRPr lang="zh-CN" altLang="en-US">
              <a:ea typeface="宋体" panose="02010600030101010101" pitchFamily="2" charset="-122"/>
            </a:endParaRPr>
          </a:p>
        </p:txBody>
      </p:sp>
      <p:sp>
        <p:nvSpPr>
          <p:cNvPr id="75780" name="灯片编号占位符 3"/>
          <p:cNvSpPr>
            <a:spLocks noGrp="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106AB08-1D7A-4BCA-A249-FAE0719F12FE}" type="slidenum">
              <a:rPr lang="en-US" altLang="zh-CN" smtClean="0">
                <a:ea typeface="楷体_GB2312"/>
              </a:rPr>
              <a:pPr>
                <a:spcBef>
                  <a:spcPct val="0"/>
                </a:spcBef>
              </a:pPr>
              <a:t>64</a:t>
            </a:fld>
            <a:endParaRPr lang="en-US" altLang="zh-CN">
              <a:ea typeface="楷体_GB2312"/>
            </a:endParaRPr>
          </a:p>
        </p:txBody>
      </p:sp>
    </p:spTree>
    <p:extLst>
      <p:ext uri="{BB962C8B-B14F-4D97-AF65-F5344CB8AC3E}">
        <p14:creationId xmlns:p14="http://schemas.microsoft.com/office/powerpoint/2010/main" val="13561808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A7D4466-FB22-4BAC-B8FF-AAF271F23CF1}" type="slidenum">
              <a:rPr lang="en-US" altLang="zh-CN" smtClean="0"/>
              <a:pPr>
                <a:defRPr/>
              </a:pPr>
              <a:t>72</a:t>
            </a:fld>
            <a:endParaRPr lang="en-US" altLang="zh-CN"/>
          </a:p>
        </p:txBody>
      </p:sp>
    </p:spTree>
    <p:extLst>
      <p:ext uri="{BB962C8B-B14F-4D97-AF65-F5344CB8AC3E}">
        <p14:creationId xmlns:p14="http://schemas.microsoft.com/office/powerpoint/2010/main" val="20090036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A7D4466-FB22-4BAC-B8FF-AAF271F23CF1}" type="slidenum">
              <a:rPr lang="en-US" altLang="zh-CN" smtClean="0"/>
              <a:pPr>
                <a:defRPr/>
              </a:pPr>
              <a:t>78</a:t>
            </a:fld>
            <a:endParaRPr lang="en-US" altLang="zh-CN"/>
          </a:p>
        </p:txBody>
      </p:sp>
    </p:spTree>
    <p:extLst>
      <p:ext uri="{BB962C8B-B14F-4D97-AF65-F5344CB8AC3E}">
        <p14:creationId xmlns:p14="http://schemas.microsoft.com/office/powerpoint/2010/main" val="2922418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A7D4466-FB22-4BAC-B8FF-AAF271F23CF1}" type="slidenum">
              <a:rPr lang="en-US" altLang="zh-CN" smtClean="0"/>
              <a:pPr>
                <a:defRPr/>
              </a:pPr>
              <a:t>85</a:t>
            </a:fld>
            <a:endParaRPr lang="en-US" altLang="zh-CN"/>
          </a:p>
        </p:txBody>
      </p:sp>
    </p:spTree>
    <p:extLst>
      <p:ext uri="{BB962C8B-B14F-4D97-AF65-F5344CB8AC3E}">
        <p14:creationId xmlns:p14="http://schemas.microsoft.com/office/powerpoint/2010/main" val="3501576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723E01D-5F79-4EBB-A276-782CE1DB112D}" type="slidenum">
              <a:rPr lang="en-US" altLang="zh-CN"/>
              <a:pPr>
                <a:defRPr/>
              </a:pPr>
              <a:t>‹#›</a:t>
            </a:fld>
            <a:endParaRPr lang="en-US" altLang="zh-CN"/>
          </a:p>
        </p:txBody>
      </p:sp>
    </p:spTree>
    <p:extLst>
      <p:ext uri="{BB962C8B-B14F-4D97-AF65-F5344CB8AC3E}">
        <p14:creationId xmlns:p14="http://schemas.microsoft.com/office/powerpoint/2010/main" val="1369761543"/>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E58EC70-79A3-4069-BDEE-56A58001E676}" type="slidenum">
              <a:rPr lang="en-US" altLang="zh-CN"/>
              <a:pPr>
                <a:defRPr/>
              </a:pPr>
              <a:t>‹#›</a:t>
            </a:fld>
            <a:endParaRPr lang="en-US" altLang="zh-CN"/>
          </a:p>
        </p:txBody>
      </p:sp>
    </p:spTree>
    <p:extLst>
      <p:ext uri="{BB962C8B-B14F-4D97-AF65-F5344CB8AC3E}">
        <p14:creationId xmlns:p14="http://schemas.microsoft.com/office/powerpoint/2010/main" val="4035372703"/>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0F3521C-3D92-4158-BF1C-00A7AD97142C}" type="slidenum">
              <a:rPr lang="en-US" altLang="zh-CN"/>
              <a:pPr>
                <a:defRPr/>
              </a:pPr>
              <a:t>‹#›</a:t>
            </a:fld>
            <a:endParaRPr lang="en-US" altLang="zh-CN"/>
          </a:p>
        </p:txBody>
      </p:sp>
    </p:spTree>
    <p:extLst>
      <p:ext uri="{BB962C8B-B14F-4D97-AF65-F5344CB8AC3E}">
        <p14:creationId xmlns:p14="http://schemas.microsoft.com/office/powerpoint/2010/main" val="1424566977"/>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E51334C8-D023-49CB-9C5C-553BA1129B6C}" type="slidenum">
              <a:rPr lang="en-US" altLang="zh-CN"/>
              <a:pPr>
                <a:defRPr/>
              </a:pPr>
              <a:t>‹#›</a:t>
            </a:fld>
            <a:endParaRPr lang="en-US" altLang="zh-CN"/>
          </a:p>
        </p:txBody>
      </p:sp>
    </p:spTree>
    <p:extLst>
      <p:ext uri="{BB962C8B-B14F-4D97-AF65-F5344CB8AC3E}">
        <p14:creationId xmlns:p14="http://schemas.microsoft.com/office/powerpoint/2010/main" val="1016375083"/>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3B682411-2163-4BDB-A934-10AD2DC6EB7E}" type="slidenum">
              <a:rPr lang="en-US" altLang="zh-CN"/>
              <a:pPr>
                <a:defRPr/>
              </a:pPr>
              <a:t>‹#›</a:t>
            </a:fld>
            <a:endParaRPr lang="en-US" altLang="zh-CN"/>
          </a:p>
        </p:txBody>
      </p:sp>
    </p:spTree>
    <p:extLst>
      <p:ext uri="{BB962C8B-B14F-4D97-AF65-F5344CB8AC3E}">
        <p14:creationId xmlns:p14="http://schemas.microsoft.com/office/powerpoint/2010/main" val="1896738025"/>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3E2EF22A-334C-478E-8706-DEB912069EC2}" type="slidenum">
              <a:rPr lang="en-US" altLang="zh-CN"/>
              <a:pPr>
                <a:defRPr/>
              </a:pPr>
              <a:t>‹#›</a:t>
            </a:fld>
            <a:endParaRPr lang="en-US" altLang="zh-CN"/>
          </a:p>
        </p:txBody>
      </p:sp>
    </p:spTree>
    <p:extLst>
      <p:ext uri="{BB962C8B-B14F-4D97-AF65-F5344CB8AC3E}">
        <p14:creationId xmlns:p14="http://schemas.microsoft.com/office/powerpoint/2010/main" val="1418029246"/>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FBC21556-EB03-4DB4-8A17-EE38D7984CE3}" type="slidenum">
              <a:rPr lang="en-US" altLang="zh-CN"/>
              <a:pPr>
                <a:defRPr/>
              </a:pPr>
              <a:t>‹#›</a:t>
            </a:fld>
            <a:endParaRPr lang="en-US" altLang="zh-CN"/>
          </a:p>
        </p:txBody>
      </p:sp>
    </p:spTree>
    <p:extLst>
      <p:ext uri="{BB962C8B-B14F-4D97-AF65-F5344CB8AC3E}">
        <p14:creationId xmlns:p14="http://schemas.microsoft.com/office/powerpoint/2010/main" val="2606408454"/>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0426445-BEC5-411A-91B9-462F8BA3C378}" type="slidenum">
              <a:rPr lang="en-US" altLang="zh-CN"/>
              <a:pPr>
                <a:defRPr/>
              </a:pPr>
              <a:t>‹#›</a:t>
            </a:fld>
            <a:endParaRPr lang="en-US" altLang="zh-CN"/>
          </a:p>
        </p:txBody>
      </p:sp>
    </p:spTree>
    <p:extLst>
      <p:ext uri="{BB962C8B-B14F-4D97-AF65-F5344CB8AC3E}">
        <p14:creationId xmlns:p14="http://schemas.microsoft.com/office/powerpoint/2010/main" val="473503683"/>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FCA6533-1A2F-4EE4-84A4-8A9B820FBAE8}" type="slidenum">
              <a:rPr lang="en-US" altLang="zh-CN"/>
              <a:pPr>
                <a:defRPr/>
              </a:pPr>
              <a:t>‹#›</a:t>
            </a:fld>
            <a:endParaRPr lang="en-US" altLang="zh-CN"/>
          </a:p>
        </p:txBody>
      </p:sp>
    </p:spTree>
    <p:extLst>
      <p:ext uri="{BB962C8B-B14F-4D97-AF65-F5344CB8AC3E}">
        <p14:creationId xmlns:p14="http://schemas.microsoft.com/office/powerpoint/2010/main" val="3143714376"/>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FD1DC12-99BB-4F96-A92E-25E3ED626810}" type="slidenum">
              <a:rPr lang="en-US" altLang="zh-CN"/>
              <a:pPr>
                <a:defRPr/>
              </a:pPr>
              <a:t>‹#›</a:t>
            </a:fld>
            <a:endParaRPr lang="en-US" altLang="zh-CN"/>
          </a:p>
        </p:txBody>
      </p:sp>
    </p:spTree>
    <p:extLst>
      <p:ext uri="{BB962C8B-B14F-4D97-AF65-F5344CB8AC3E}">
        <p14:creationId xmlns:p14="http://schemas.microsoft.com/office/powerpoint/2010/main" val="323555223"/>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BA21DDB-24D5-4013-B324-66530598C007}" type="slidenum">
              <a:rPr lang="en-US" altLang="zh-CN"/>
              <a:pPr>
                <a:defRPr/>
              </a:pPr>
              <a:t>‹#›</a:t>
            </a:fld>
            <a:endParaRPr lang="en-US" altLang="zh-CN"/>
          </a:p>
        </p:txBody>
      </p:sp>
    </p:spTree>
    <p:extLst>
      <p:ext uri="{BB962C8B-B14F-4D97-AF65-F5344CB8AC3E}">
        <p14:creationId xmlns:p14="http://schemas.microsoft.com/office/powerpoint/2010/main" val="2772939992"/>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D3B363D9-6321-46BE-9CB2-2A33D275E18D}" type="slidenum">
              <a:rPr lang="en-US" altLang="zh-CN"/>
              <a:pPr>
                <a:defRPr/>
              </a:pPr>
              <a:t>‹#›</a:t>
            </a:fld>
            <a:endParaRPr lang="en-US" altLang="zh-CN"/>
          </a:p>
        </p:txBody>
      </p:sp>
    </p:spTree>
    <p:extLst>
      <p:ext uri="{BB962C8B-B14F-4D97-AF65-F5344CB8AC3E}">
        <p14:creationId xmlns:p14="http://schemas.microsoft.com/office/powerpoint/2010/main" val="3186579696"/>
      </p:ext>
    </p:extLst>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F612343B-8C98-4BE4-86B3-DCF76670B2E8}" type="slidenum">
              <a:rPr lang="en-US" altLang="zh-CN"/>
              <a:pPr>
                <a:defRPr/>
              </a:pPr>
              <a:t>‹#›</a:t>
            </a:fld>
            <a:endParaRPr lang="en-US" altLang="zh-CN"/>
          </a:p>
        </p:txBody>
      </p:sp>
    </p:spTree>
    <p:extLst>
      <p:ext uri="{BB962C8B-B14F-4D97-AF65-F5344CB8AC3E}">
        <p14:creationId xmlns:p14="http://schemas.microsoft.com/office/powerpoint/2010/main" val="960536368"/>
      </p:ext>
    </p:extLst>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表格占位符 2"/>
          <p:cNvSpPr>
            <a:spLocks noGrp="1"/>
          </p:cNvSpPr>
          <p:nvPr>
            <p:ph type="tbl" idx="1"/>
          </p:nvPr>
        </p:nvSpPr>
        <p:spPr>
          <a:xfrm>
            <a:off x="685800" y="1981200"/>
            <a:ext cx="7772400" cy="4114800"/>
          </a:xfrm>
        </p:spPr>
        <p:txBody>
          <a:bodyPr/>
          <a:lstStyle/>
          <a:p>
            <a:pPr lvl="0"/>
            <a:endParaRPr lang="zh-CN" alt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597BF4E-D7B6-4B12-8157-604FFA4CE9A2}" type="slidenum">
              <a:rPr lang="en-US" altLang="zh-CN"/>
              <a:pPr>
                <a:defRPr/>
              </a:pPr>
              <a:t>‹#›</a:t>
            </a:fld>
            <a:endParaRPr lang="en-US" altLang="zh-CN"/>
          </a:p>
        </p:txBody>
      </p:sp>
    </p:spTree>
    <p:extLst>
      <p:ext uri="{BB962C8B-B14F-4D97-AF65-F5344CB8AC3E}">
        <p14:creationId xmlns:p14="http://schemas.microsoft.com/office/powerpoint/2010/main" val="2104439734"/>
      </p:ext>
    </p:extLst>
  </p:cSld>
  <p:clrMapOvr>
    <a:masterClrMapping/>
  </p:clrMapOvr>
  <p:transition>
    <p:rand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719263"/>
            <a:ext cx="4038600" cy="44116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719263"/>
            <a:ext cx="4038600" cy="21288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000500"/>
            <a:ext cx="4038600" cy="21304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457200" y="6248400"/>
            <a:ext cx="2133600" cy="457200"/>
          </a:xfrm>
        </p:spPr>
        <p:txBody>
          <a:bodyPr/>
          <a:lstStyle>
            <a:lvl1pPr>
              <a:defRPr/>
            </a:lvl1pPr>
          </a:lstStyle>
          <a:p>
            <a:pPr>
              <a:defRPr/>
            </a:pPr>
            <a:endParaRPr lang="en-US" altLang="zh-CN"/>
          </a:p>
        </p:txBody>
      </p:sp>
      <p:sp>
        <p:nvSpPr>
          <p:cNvPr id="7" name="页脚占位符 6"/>
          <p:cNvSpPr>
            <a:spLocks noGrp="1"/>
          </p:cNvSpPr>
          <p:nvPr>
            <p:ph type="ftr" sz="quarter" idx="11"/>
          </p:nvPr>
        </p:nvSpPr>
        <p:spPr/>
        <p:txBody>
          <a:bodyPr/>
          <a:lstStyle>
            <a:lvl1pPr>
              <a:defRPr/>
            </a:lvl1pPr>
          </a:lstStyle>
          <a:p>
            <a:pPr>
              <a:defRPr/>
            </a:pPr>
            <a:endParaRPr lang="en-US" altLang="zh-CN"/>
          </a:p>
        </p:txBody>
      </p:sp>
      <p:sp>
        <p:nvSpPr>
          <p:cNvPr id="8" name="灯片编号占位符 7"/>
          <p:cNvSpPr>
            <a:spLocks noGrp="1"/>
          </p:cNvSpPr>
          <p:nvPr>
            <p:ph type="sldNum" sz="quarter" idx="12"/>
          </p:nvPr>
        </p:nvSpPr>
        <p:spPr>
          <a:xfrm>
            <a:off x="6553200" y="6248400"/>
            <a:ext cx="2133600" cy="457200"/>
          </a:xfrm>
        </p:spPr>
        <p:txBody>
          <a:bodyPr/>
          <a:lstStyle>
            <a:lvl1pPr>
              <a:defRPr/>
            </a:lvl1pPr>
          </a:lstStyle>
          <a:p>
            <a:pPr>
              <a:defRPr/>
            </a:pPr>
            <a:fld id="{13BA8D2F-B76E-4105-8AC9-A8DC1DA813C4}" type="slidenum">
              <a:rPr lang="en-US" altLang="zh-CN"/>
              <a:pPr>
                <a:defRPr/>
              </a:pPr>
              <a:t>‹#›</a:t>
            </a:fld>
            <a:endParaRPr lang="en-US" altLang="zh-CN"/>
          </a:p>
        </p:txBody>
      </p:sp>
    </p:spTree>
    <p:extLst>
      <p:ext uri="{BB962C8B-B14F-4D97-AF65-F5344CB8AC3E}">
        <p14:creationId xmlns:p14="http://schemas.microsoft.com/office/powerpoint/2010/main" val="11509351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SmartArt 占位符 2"/>
          <p:cNvSpPr>
            <a:spLocks noGrp="1"/>
          </p:cNvSpPr>
          <p:nvPr>
            <p:ph type="dgm" idx="1"/>
          </p:nvPr>
        </p:nvSpPr>
        <p:spPr>
          <a:xfrm>
            <a:off x="685800" y="1981200"/>
            <a:ext cx="7772400" cy="4114800"/>
          </a:xfrm>
        </p:spPr>
        <p:txBody>
          <a:bodyPr/>
          <a:lstStyle/>
          <a:p>
            <a:pPr lvl="0"/>
            <a:endParaRPr lang="zh-CN" alt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fld id="{26898629-621A-4491-837A-ADAE4BB9DAA6}" type="slidenum">
              <a:rPr lang="en-US" altLang="zh-CN"/>
              <a:pPr/>
              <a:t>‹#›</a:t>
            </a:fld>
            <a:endParaRPr lang="en-US" altLang="zh-CN"/>
          </a:p>
        </p:txBody>
      </p:sp>
    </p:spTree>
    <p:extLst>
      <p:ext uri="{BB962C8B-B14F-4D97-AF65-F5344CB8AC3E}">
        <p14:creationId xmlns:p14="http://schemas.microsoft.com/office/powerpoint/2010/main" val="3801705258"/>
      </p:ext>
    </p:extLst>
  </p:cSld>
  <p:clrMapOvr>
    <a:masterClrMapping/>
  </p:clrMapOvr>
  <p:transition>
    <p:cover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8"/>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defRPr sz="1400" b="0">
                <a:solidFill>
                  <a:schemeClr val="tx1"/>
                </a:solidFill>
                <a:ea typeface="+mn-ea"/>
                <a:cs typeface="+mn-cs"/>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defRPr sz="1400" b="0">
                <a:solidFill>
                  <a:schemeClr val="tx1"/>
                </a:solidFill>
                <a:ea typeface="+mn-ea"/>
                <a:cs typeface="+mn-cs"/>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defRPr sz="1400" b="0">
                <a:solidFill>
                  <a:schemeClr val="tx1"/>
                </a:solidFill>
                <a:ea typeface="宋体" panose="02010600030101010101" pitchFamily="2" charset="-122"/>
              </a:defRPr>
            </a:lvl1pPr>
          </a:lstStyle>
          <a:p>
            <a:pPr>
              <a:defRPr/>
            </a:pPr>
            <a:fld id="{E74C0C04-845B-4664-B99C-9C787D950E6E}"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 id="2147483879" r:id="rId7"/>
    <p:sldLayoutId id="2147483880" r:id="rId8"/>
    <p:sldLayoutId id="2147483881" r:id="rId9"/>
    <p:sldLayoutId id="2147483882" r:id="rId10"/>
    <p:sldLayoutId id="2147483883" r:id="rId11"/>
    <p:sldLayoutId id="2147483884" r:id="rId12"/>
    <p:sldLayoutId id="2147483885" r:id="rId13"/>
    <p:sldLayoutId id="2147483886" r:id="rId14"/>
    <p:sldLayoutId id="2147483887" r:id="rId15"/>
    <p:sldLayoutId id="2147483888" r:id="rId16"/>
  </p:sldLayoutIdLst>
  <p:transition>
    <p:random/>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charset="-122"/>
        </a:defRPr>
      </a:lvl5pPr>
      <a:lvl6pPr marL="457200" algn="ctr" rtl="0" fontAlgn="base">
        <a:spcBef>
          <a:spcPct val="0"/>
        </a:spcBef>
        <a:spcAft>
          <a:spcPct val="0"/>
        </a:spcAft>
        <a:defRPr kumimoji="1" sz="4400">
          <a:solidFill>
            <a:schemeClr val="tx2"/>
          </a:solidFill>
          <a:latin typeface="Times New Roman" pitchFamily="18" charset="0"/>
          <a:ea typeface="宋体" charset="-122"/>
        </a:defRPr>
      </a:lvl6pPr>
      <a:lvl7pPr marL="914400" algn="ctr" rtl="0" fontAlgn="base">
        <a:spcBef>
          <a:spcPct val="0"/>
        </a:spcBef>
        <a:spcAft>
          <a:spcPct val="0"/>
        </a:spcAft>
        <a:defRPr kumimoji="1" sz="4400">
          <a:solidFill>
            <a:schemeClr val="tx2"/>
          </a:solidFill>
          <a:latin typeface="Times New Roman" pitchFamily="18" charset="0"/>
          <a:ea typeface="宋体" charset="-122"/>
        </a:defRPr>
      </a:lvl7pPr>
      <a:lvl8pPr marL="1371600" algn="ctr" rtl="0" fontAlgn="base">
        <a:spcBef>
          <a:spcPct val="0"/>
        </a:spcBef>
        <a:spcAft>
          <a:spcPct val="0"/>
        </a:spcAft>
        <a:defRPr kumimoji="1" sz="4400">
          <a:solidFill>
            <a:schemeClr val="tx2"/>
          </a:solidFill>
          <a:latin typeface="Times New Roman" pitchFamily="18" charset="0"/>
          <a:ea typeface="宋体" charset="-122"/>
        </a:defRPr>
      </a:lvl8pPr>
      <a:lvl9pPr marL="1828800" algn="ctr" rtl="0" fontAlgn="base">
        <a:spcBef>
          <a:spcPct val="0"/>
        </a:spcBef>
        <a:spcAft>
          <a:spcPct val="0"/>
        </a:spcAft>
        <a:defRPr kumimoji="1" sz="4400">
          <a:solidFill>
            <a:schemeClr val="tx2"/>
          </a:solidFill>
          <a:latin typeface="Times New Roman" pitchFamily="18" charset="0"/>
          <a:ea typeface="宋体"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baike.baidu.com/view/4162.ht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hyperlink" Target="http://app.sms888.net/web/apps/diynew.php?uid=4188&amp;url=http://www.dabaoku.com/sucai/shenghuo/zhinanzhen/012l.jpg" TargetMode="Externa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oleObject" Target="../embeddings/oleObject1.bin"/><Relationship Id="rId7"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0.png"/><Relationship Id="rId4" Type="http://schemas.openxmlformats.org/officeDocument/2006/relationships/image" Target="../media/image15.emf"/><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22.png"/><Relationship Id="rId5" Type="http://schemas.openxmlformats.org/officeDocument/2006/relationships/image" Target="../media/image21.wmf"/><Relationship Id="rId4" Type="http://schemas.openxmlformats.org/officeDocument/2006/relationships/oleObject" Target="../embeddings/oleObject3.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image" Target="../media/image30.png"/><Relationship Id="rId3" Type="http://schemas.openxmlformats.org/officeDocument/2006/relationships/notesSlide" Target="../notesSlides/notesSlide6.xml"/><Relationship Id="rId7" Type="http://schemas.openxmlformats.org/officeDocument/2006/relationships/oleObject" Target="../embeddings/oleObject5.bin"/><Relationship Id="rId12" Type="http://schemas.openxmlformats.org/officeDocument/2006/relationships/image" Target="../media/image29.png"/><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23.wmf"/><Relationship Id="rId11" Type="http://schemas.openxmlformats.org/officeDocument/2006/relationships/image" Target="../media/image28.png"/><Relationship Id="rId5" Type="http://schemas.openxmlformats.org/officeDocument/2006/relationships/oleObject" Target="../embeddings/oleObject4.bin"/><Relationship Id="rId10" Type="http://schemas.openxmlformats.org/officeDocument/2006/relationships/image" Target="../media/image27.png"/><Relationship Id="rId4" Type="http://schemas.openxmlformats.org/officeDocument/2006/relationships/image" Target="../media/image25.jpeg"/><Relationship Id="rId9"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32.jpeg"/><Relationship Id="rId4" Type="http://schemas.openxmlformats.org/officeDocument/2006/relationships/image" Target="../media/image31.wmf"/></Relationships>
</file>

<file path=ppt/slides/_rels/slide1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35.jpeg"/><Relationship Id="rId4" Type="http://schemas.openxmlformats.org/officeDocument/2006/relationships/image" Target="../media/image34.jpeg"/></Relationships>
</file>

<file path=ppt/slides/_rels/slide1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37.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notesSlide" Target="../notesSlides/notesSlide9.xml"/><Relationship Id="rId7" Type="http://schemas.openxmlformats.org/officeDocument/2006/relationships/image" Target="../media/image41.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8.bin"/><Relationship Id="rId5" Type="http://schemas.openxmlformats.org/officeDocument/2006/relationships/image" Target="../media/image40.wmf"/><Relationship Id="rId10" Type="http://schemas.openxmlformats.org/officeDocument/2006/relationships/image" Target="../media/image43.png"/><Relationship Id="rId4" Type="http://schemas.openxmlformats.org/officeDocument/2006/relationships/oleObject" Target="../embeddings/oleObject7.bin"/><Relationship Id="rId9" Type="http://schemas.openxmlformats.org/officeDocument/2006/relationships/image" Target="../media/image42.wmf"/></Relationships>
</file>

<file path=ppt/slides/_rels/slide21.xml.rels><?xml version="1.0" encoding="UTF-8" standalone="yes"?>
<Relationships xmlns="http://schemas.openxmlformats.org/package/2006/relationships"><Relationship Id="rId13" Type="http://schemas.openxmlformats.org/officeDocument/2006/relationships/oleObject" Target="../embeddings/oleObject15.bin"/><Relationship Id="rId18" Type="http://schemas.openxmlformats.org/officeDocument/2006/relationships/image" Target="../media/image51.wmf"/><Relationship Id="rId26" Type="http://schemas.openxmlformats.org/officeDocument/2006/relationships/image" Target="../media/image55.wmf"/><Relationship Id="rId21" Type="http://schemas.openxmlformats.org/officeDocument/2006/relationships/oleObject" Target="../embeddings/oleObject19.bin"/><Relationship Id="rId34" Type="http://schemas.openxmlformats.org/officeDocument/2006/relationships/image" Target="../media/image59.wmf"/><Relationship Id="rId7" Type="http://schemas.openxmlformats.org/officeDocument/2006/relationships/oleObject" Target="../embeddings/oleObject12.bin"/><Relationship Id="rId12" Type="http://schemas.openxmlformats.org/officeDocument/2006/relationships/image" Target="../media/image48.wmf"/><Relationship Id="rId17" Type="http://schemas.openxmlformats.org/officeDocument/2006/relationships/oleObject" Target="../embeddings/oleObject17.bin"/><Relationship Id="rId25" Type="http://schemas.openxmlformats.org/officeDocument/2006/relationships/oleObject" Target="../embeddings/oleObject21.bin"/><Relationship Id="rId33" Type="http://schemas.openxmlformats.org/officeDocument/2006/relationships/oleObject" Target="../embeddings/oleObject25.bin"/><Relationship Id="rId38" Type="http://schemas.openxmlformats.org/officeDocument/2006/relationships/image" Target="../media/image61.wmf"/><Relationship Id="rId2" Type="http://schemas.openxmlformats.org/officeDocument/2006/relationships/slideLayout" Target="../slideLayouts/slideLayout7.xml"/><Relationship Id="rId16" Type="http://schemas.openxmlformats.org/officeDocument/2006/relationships/image" Target="../media/image50.wmf"/><Relationship Id="rId20" Type="http://schemas.openxmlformats.org/officeDocument/2006/relationships/image" Target="../media/image52.wmf"/><Relationship Id="rId29" Type="http://schemas.openxmlformats.org/officeDocument/2006/relationships/oleObject" Target="../embeddings/oleObject23.bin"/><Relationship Id="rId1" Type="http://schemas.openxmlformats.org/officeDocument/2006/relationships/vmlDrawing" Target="../drawings/vmlDrawing6.vml"/><Relationship Id="rId6" Type="http://schemas.openxmlformats.org/officeDocument/2006/relationships/image" Target="../media/image45.wmf"/><Relationship Id="rId11" Type="http://schemas.openxmlformats.org/officeDocument/2006/relationships/oleObject" Target="../embeddings/oleObject14.bin"/><Relationship Id="rId24" Type="http://schemas.openxmlformats.org/officeDocument/2006/relationships/image" Target="../media/image54.wmf"/><Relationship Id="rId32" Type="http://schemas.openxmlformats.org/officeDocument/2006/relationships/image" Target="../media/image58.wmf"/><Relationship Id="rId37" Type="http://schemas.openxmlformats.org/officeDocument/2006/relationships/oleObject" Target="../embeddings/oleObject27.bin"/><Relationship Id="rId5" Type="http://schemas.openxmlformats.org/officeDocument/2006/relationships/oleObject" Target="../embeddings/oleObject11.bin"/><Relationship Id="rId15" Type="http://schemas.openxmlformats.org/officeDocument/2006/relationships/oleObject" Target="../embeddings/oleObject16.bin"/><Relationship Id="rId23" Type="http://schemas.openxmlformats.org/officeDocument/2006/relationships/oleObject" Target="../embeddings/oleObject20.bin"/><Relationship Id="rId28" Type="http://schemas.openxmlformats.org/officeDocument/2006/relationships/image" Target="../media/image56.wmf"/><Relationship Id="rId36" Type="http://schemas.openxmlformats.org/officeDocument/2006/relationships/image" Target="../media/image60.wmf"/><Relationship Id="rId10" Type="http://schemas.openxmlformats.org/officeDocument/2006/relationships/image" Target="../media/image47.wmf"/><Relationship Id="rId19" Type="http://schemas.openxmlformats.org/officeDocument/2006/relationships/oleObject" Target="../embeddings/oleObject18.bin"/><Relationship Id="rId31" Type="http://schemas.openxmlformats.org/officeDocument/2006/relationships/oleObject" Target="../embeddings/oleObject24.bin"/><Relationship Id="rId4" Type="http://schemas.openxmlformats.org/officeDocument/2006/relationships/image" Target="../media/image44.wmf"/><Relationship Id="rId9" Type="http://schemas.openxmlformats.org/officeDocument/2006/relationships/oleObject" Target="../embeddings/oleObject13.bin"/><Relationship Id="rId14" Type="http://schemas.openxmlformats.org/officeDocument/2006/relationships/image" Target="../media/image49.wmf"/><Relationship Id="rId22" Type="http://schemas.openxmlformats.org/officeDocument/2006/relationships/image" Target="../media/image53.wmf"/><Relationship Id="rId27" Type="http://schemas.openxmlformats.org/officeDocument/2006/relationships/oleObject" Target="../embeddings/oleObject22.bin"/><Relationship Id="rId30" Type="http://schemas.openxmlformats.org/officeDocument/2006/relationships/image" Target="../media/image57.wmf"/><Relationship Id="rId35" Type="http://schemas.openxmlformats.org/officeDocument/2006/relationships/oleObject" Target="../embeddings/oleObject26.bin"/><Relationship Id="rId8" Type="http://schemas.openxmlformats.org/officeDocument/2006/relationships/image" Target="../media/image46.wmf"/><Relationship Id="rId3" Type="http://schemas.openxmlformats.org/officeDocument/2006/relationships/oleObject" Target="../embeddings/oleObject10.bin"/></Relationships>
</file>

<file path=ppt/slides/_rels/slide22.x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63.wmf"/><Relationship Id="rId5" Type="http://schemas.openxmlformats.org/officeDocument/2006/relationships/oleObject" Target="../embeddings/oleObject29.bin"/><Relationship Id="rId4" Type="http://schemas.openxmlformats.org/officeDocument/2006/relationships/image" Target="../media/image62.wmf"/><Relationship Id="rId9" Type="http://schemas.openxmlformats.org/officeDocument/2006/relationships/image" Target="../media/image65.jpeg"/></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notesSlide" Target="../notesSlides/notesSlide10.xml"/><Relationship Id="rId7" Type="http://schemas.openxmlformats.org/officeDocument/2006/relationships/image" Target="../media/image67.wmf"/><Relationship Id="rId2" Type="http://schemas.openxmlformats.org/officeDocument/2006/relationships/slideLayout" Target="../slideLayouts/slideLayout15.xml"/><Relationship Id="rId1" Type="http://schemas.openxmlformats.org/officeDocument/2006/relationships/vmlDrawing" Target="../drawings/vmlDrawing8.vml"/><Relationship Id="rId6" Type="http://schemas.openxmlformats.org/officeDocument/2006/relationships/oleObject" Target="../embeddings/oleObject32.bin"/><Relationship Id="rId5" Type="http://schemas.openxmlformats.org/officeDocument/2006/relationships/image" Target="../media/image66.wmf"/><Relationship Id="rId10" Type="http://schemas.openxmlformats.org/officeDocument/2006/relationships/image" Target="../media/image68.jpeg"/><Relationship Id="rId4" Type="http://schemas.openxmlformats.org/officeDocument/2006/relationships/oleObject" Target="../embeddings/oleObject31.bin"/><Relationship Id="rId9" Type="http://schemas.openxmlformats.org/officeDocument/2006/relationships/oleObject" Target="../embeddings/oleObject34.bin"/></Relationships>
</file>

<file path=ppt/slides/_rels/slide24.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71.jpeg"/></Relationships>
</file>

<file path=ppt/slides/_rels/slide2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74.emf"/><Relationship Id="rId3" Type="http://schemas.openxmlformats.org/officeDocument/2006/relationships/notesSlide" Target="../notesSlides/notesSlide14.xml"/><Relationship Id="rId7"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73.emf"/><Relationship Id="rId5" Type="http://schemas.openxmlformats.org/officeDocument/2006/relationships/oleObject" Target="../embeddings/oleObject35.bin"/><Relationship Id="rId4" Type="http://schemas.openxmlformats.org/officeDocument/2006/relationships/image" Target="../media/image75.png"/></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7.xml"/><Relationship Id="rId1" Type="http://schemas.openxmlformats.org/officeDocument/2006/relationships/vmlDrawing" Target="../drawings/vmlDrawing10.vml"/><Relationship Id="rId5" Type="http://schemas.openxmlformats.org/officeDocument/2006/relationships/image" Target="../media/image77.jpeg"/><Relationship Id="rId4" Type="http://schemas.openxmlformats.org/officeDocument/2006/relationships/image" Target="../media/image76.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38.bin"/><Relationship Id="rId7" Type="http://schemas.openxmlformats.org/officeDocument/2006/relationships/image" Target="../media/image80.png"/><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79.wmf"/><Relationship Id="rId5" Type="http://schemas.openxmlformats.org/officeDocument/2006/relationships/oleObject" Target="../embeddings/oleObject39.bin"/><Relationship Id="rId4" Type="http://schemas.openxmlformats.org/officeDocument/2006/relationships/image" Target="../media/image78.wmf"/></Relationships>
</file>

<file path=ppt/slides/_rels/slide31.xml.rels><?xml version="1.0" encoding="UTF-8" standalone="yes"?>
<Relationships xmlns="http://schemas.openxmlformats.org/package/2006/relationships"><Relationship Id="rId8" Type="http://schemas.openxmlformats.org/officeDocument/2006/relationships/image" Target="../media/image83.wmf"/><Relationship Id="rId13" Type="http://schemas.openxmlformats.org/officeDocument/2006/relationships/oleObject" Target="../embeddings/oleObject45.bin"/><Relationship Id="rId18" Type="http://schemas.openxmlformats.org/officeDocument/2006/relationships/image" Target="../media/image78.wmf"/><Relationship Id="rId3" Type="http://schemas.openxmlformats.org/officeDocument/2006/relationships/oleObject" Target="../embeddings/oleObject40.bin"/><Relationship Id="rId7" Type="http://schemas.openxmlformats.org/officeDocument/2006/relationships/oleObject" Target="../embeddings/oleObject42.bin"/><Relationship Id="rId12" Type="http://schemas.openxmlformats.org/officeDocument/2006/relationships/image" Target="../media/image51.wmf"/><Relationship Id="rId17" Type="http://schemas.openxmlformats.org/officeDocument/2006/relationships/oleObject" Target="../embeddings/oleObject47.bin"/><Relationship Id="rId2" Type="http://schemas.openxmlformats.org/officeDocument/2006/relationships/slideLayout" Target="../slideLayouts/slideLayout7.xml"/><Relationship Id="rId16" Type="http://schemas.openxmlformats.org/officeDocument/2006/relationships/image" Target="../media/image86.wmf"/><Relationship Id="rId1" Type="http://schemas.openxmlformats.org/officeDocument/2006/relationships/vmlDrawing" Target="../drawings/vmlDrawing12.vml"/><Relationship Id="rId6" Type="http://schemas.openxmlformats.org/officeDocument/2006/relationships/image" Target="../media/image82.wmf"/><Relationship Id="rId11" Type="http://schemas.openxmlformats.org/officeDocument/2006/relationships/oleObject" Target="../embeddings/oleObject44.bin"/><Relationship Id="rId5" Type="http://schemas.openxmlformats.org/officeDocument/2006/relationships/oleObject" Target="../embeddings/oleObject41.bin"/><Relationship Id="rId15" Type="http://schemas.openxmlformats.org/officeDocument/2006/relationships/oleObject" Target="../embeddings/oleObject46.bin"/><Relationship Id="rId10" Type="http://schemas.openxmlformats.org/officeDocument/2006/relationships/image" Target="../media/image84.wmf"/><Relationship Id="rId4" Type="http://schemas.openxmlformats.org/officeDocument/2006/relationships/image" Target="../media/image81.wmf"/><Relationship Id="rId9" Type="http://schemas.openxmlformats.org/officeDocument/2006/relationships/oleObject" Target="../embeddings/oleObject43.bin"/><Relationship Id="rId14" Type="http://schemas.openxmlformats.org/officeDocument/2006/relationships/image" Target="../media/image85.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50.bin"/><Relationship Id="rId3" Type="http://schemas.openxmlformats.org/officeDocument/2006/relationships/image" Target="../media/image90.png"/><Relationship Id="rId7" Type="http://schemas.openxmlformats.org/officeDocument/2006/relationships/image" Target="../media/image88.wmf"/><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49.bin"/><Relationship Id="rId5" Type="http://schemas.openxmlformats.org/officeDocument/2006/relationships/image" Target="../media/image87.wmf"/><Relationship Id="rId4" Type="http://schemas.openxmlformats.org/officeDocument/2006/relationships/oleObject" Target="../embeddings/oleObject48.bin"/><Relationship Id="rId9" Type="http://schemas.openxmlformats.org/officeDocument/2006/relationships/image" Target="../media/image89.wmf"/></Relationships>
</file>

<file path=ppt/slides/_rels/slide33.xml.rels><?xml version="1.0" encoding="UTF-8" standalone="yes"?>
<Relationships xmlns="http://schemas.openxmlformats.org/package/2006/relationships"><Relationship Id="rId8" Type="http://schemas.openxmlformats.org/officeDocument/2006/relationships/image" Target="../media/image93.wmf"/><Relationship Id="rId13" Type="http://schemas.openxmlformats.org/officeDocument/2006/relationships/oleObject" Target="../embeddings/oleObject56.bin"/><Relationship Id="rId3" Type="http://schemas.openxmlformats.org/officeDocument/2006/relationships/oleObject" Target="../embeddings/oleObject51.bin"/><Relationship Id="rId7" Type="http://schemas.openxmlformats.org/officeDocument/2006/relationships/oleObject" Target="../embeddings/oleObject53.bin"/><Relationship Id="rId12" Type="http://schemas.openxmlformats.org/officeDocument/2006/relationships/image" Target="../media/image95.wmf"/><Relationship Id="rId17" Type="http://schemas.openxmlformats.org/officeDocument/2006/relationships/image" Target="../media/image32.jpeg"/><Relationship Id="rId2" Type="http://schemas.openxmlformats.org/officeDocument/2006/relationships/slideLayout" Target="../slideLayouts/slideLayout7.xml"/><Relationship Id="rId16" Type="http://schemas.openxmlformats.org/officeDocument/2006/relationships/image" Target="../media/image97.wmf"/><Relationship Id="rId1" Type="http://schemas.openxmlformats.org/officeDocument/2006/relationships/vmlDrawing" Target="../drawings/vmlDrawing14.vml"/><Relationship Id="rId6" Type="http://schemas.openxmlformats.org/officeDocument/2006/relationships/image" Target="../media/image92.wmf"/><Relationship Id="rId11" Type="http://schemas.openxmlformats.org/officeDocument/2006/relationships/oleObject" Target="../embeddings/oleObject55.bin"/><Relationship Id="rId5" Type="http://schemas.openxmlformats.org/officeDocument/2006/relationships/oleObject" Target="../embeddings/oleObject52.bin"/><Relationship Id="rId15" Type="http://schemas.openxmlformats.org/officeDocument/2006/relationships/oleObject" Target="../embeddings/oleObject57.bin"/><Relationship Id="rId10" Type="http://schemas.openxmlformats.org/officeDocument/2006/relationships/image" Target="../media/image94.wmf"/><Relationship Id="rId4" Type="http://schemas.openxmlformats.org/officeDocument/2006/relationships/image" Target="../media/image91.wmf"/><Relationship Id="rId9" Type="http://schemas.openxmlformats.org/officeDocument/2006/relationships/oleObject" Target="../embeddings/oleObject54.bin"/><Relationship Id="rId14" Type="http://schemas.openxmlformats.org/officeDocument/2006/relationships/image" Target="../media/image96.w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58.bin"/><Relationship Id="rId7" Type="http://schemas.openxmlformats.org/officeDocument/2006/relationships/image" Target="../media/image100.jpeg"/><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99.wmf"/><Relationship Id="rId5" Type="http://schemas.openxmlformats.org/officeDocument/2006/relationships/oleObject" Target="../embeddings/oleObject59.bin"/><Relationship Id="rId4" Type="http://schemas.openxmlformats.org/officeDocument/2006/relationships/image" Target="../media/image98.wmf"/></Relationships>
</file>

<file path=ppt/slides/_rels/slide35.xml.rels><?xml version="1.0" encoding="UTF-8" standalone="yes"?>
<Relationships xmlns="http://schemas.openxmlformats.org/package/2006/relationships"><Relationship Id="rId8" Type="http://schemas.openxmlformats.org/officeDocument/2006/relationships/image" Target="../media/image103.wmf"/><Relationship Id="rId3" Type="http://schemas.openxmlformats.org/officeDocument/2006/relationships/oleObject" Target="../embeddings/oleObject60.bin"/><Relationship Id="rId7" Type="http://schemas.openxmlformats.org/officeDocument/2006/relationships/oleObject" Target="../embeddings/oleObject62.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102.wmf"/><Relationship Id="rId5" Type="http://schemas.openxmlformats.org/officeDocument/2006/relationships/oleObject" Target="../embeddings/oleObject61.bin"/><Relationship Id="rId4" Type="http://schemas.openxmlformats.org/officeDocument/2006/relationships/image" Target="../media/image101.w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65.bin"/><Relationship Id="rId13" Type="http://schemas.openxmlformats.org/officeDocument/2006/relationships/image" Target="../media/image106.wmf"/><Relationship Id="rId18" Type="http://schemas.openxmlformats.org/officeDocument/2006/relationships/oleObject" Target="../embeddings/oleObject70.bin"/><Relationship Id="rId3" Type="http://schemas.openxmlformats.org/officeDocument/2006/relationships/notesSlide" Target="../notesSlides/notesSlide15.xml"/><Relationship Id="rId21" Type="http://schemas.openxmlformats.org/officeDocument/2006/relationships/image" Target="../media/image110.wmf"/><Relationship Id="rId7" Type="http://schemas.openxmlformats.org/officeDocument/2006/relationships/image" Target="../media/image102.wmf"/><Relationship Id="rId12" Type="http://schemas.openxmlformats.org/officeDocument/2006/relationships/oleObject" Target="../embeddings/oleObject67.bin"/><Relationship Id="rId17" Type="http://schemas.openxmlformats.org/officeDocument/2006/relationships/image" Target="../media/image108.wmf"/><Relationship Id="rId2" Type="http://schemas.openxmlformats.org/officeDocument/2006/relationships/slideLayout" Target="../slideLayouts/slideLayout7.xml"/><Relationship Id="rId16" Type="http://schemas.openxmlformats.org/officeDocument/2006/relationships/oleObject" Target="../embeddings/oleObject69.bin"/><Relationship Id="rId20" Type="http://schemas.openxmlformats.org/officeDocument/2006/relationships/oleObject" Target="../embeddings/oleObject71.bin"/><Relationship Id="rId1" Type="http://schemas.openxmlformats.org/officeDocument/2006/relationships/vmlDrawing" Target="../drawings/vmlDrawing17.vml"/><Relationship Id="rId6" Type="http://schemas.openxmlformats.org/officeDocument/2006/relationships/oleObject" Target="../embeddings/oleObject64.bin"/><Relationship Id="rId11" Type="http://schemas.openxmlformats.org/officeDocument/2006/relationships/image" Target="../media/image105.wmf"/><Relationship Id="rId5" Type="http://schemas.openxmlformats.org/officeDocument/2006/relationships/image" Target="../media/image104.wmf"/><Relationship Id="rId15" Type="http://schemas.openxmlformats.org/officeDocument/2006/relationships/image" Target="../media/image107.wmf"/><Relationship Id="rId23" Type="http://schemas.openxmlformats.org/officeDocument/2006/relationships/image" Target="../media/image111.wmf"/><Relationship Id="rId10" Type="http://schemas.openxmlformats.org/officeDocument/2006/relationships/oleObject" Target="../embeddings/oleObject66.bin"/><Relationship Id="rId19" Type="http://schemas.openxmlformats.org/officeDocument/2006/relationships/image" Target="../media/image109.wmf"/><Relationship Id="rId4" Type="http://schemas.openxmlformats.org/officeDocument/2006/relationships/oleObject" Target="../embeddings/oleObject63.bin"/><Relationship Id="rId9" Type="http://schemas.openxmlformats.org/officeDocument/2006/relationships/image" Target="../media/image103.wmf"/><Relationship Id="rId14" Type="http://schemas.openxmlformats.org/officeDocument/2006/relationships/oleObject" Target="../embeddings/oleObject68.bin"/><Relationship Id="rId22" Type="http://schemas.openxmlformats.org/officeDocument/2006/relationships/oleObject" Target="../embeddings/oleObject72.bin"/></Relationships>
</file>

<file path=ppt/slides/_rels/slide37.xml.rels><?xml version="1.0" encoding="UTF-8" standalone="yes"?>
<Relationships xmlns="http://schemas.openxmlformats.org/package/2006/relationships"><Relationship Id="rId13" Type="http://schemas.openxmlformats.org/officeDocument/2006/relationships/oleObject" Target="../embeddings/oleObject78.bin"/><Relationship Id="rId18" Type="http://schemas.openxmlformats.org/officeDocument/2006/relationships/image" Target="../media/image119.wmf"/><Relationship Id="rId26" Type="http://schemas.openxmlformats.org/officeDocument/2006/relationships/image" Target="../media/image123.wmf"/><Relationship Id="rId39" Type="http://schemas.openxmlformats.org/officeDocument/2006/relationships/oleObject" Target="../embeddings/oleObject91.bin"/><Relationship Id="rId21" Type="http://schemas.openxmlformats.org/officeDocument/2006/relationships/oleObject" Target="../embeddings/oleObject82.bin"/><Relationship Id="rId34" Type="http://schemas.openxmlformats.org/officeDocument/2006/relationships/image" Target="../media/image127.wmf"/><Relationship Id="rId42" Type="http://schemas.openxmlformats.org/officeDocument/2006/relationships/image" Target="../media/image131.wmf"/><Relationship Id="rId47" Type="http://schemas.openxmlformats.org/officeDocument/2006/relationships/oleObject" Target="../embeddings/oleObject95.bin"/><Relationship Id="rId50" Type="http://schemas.openxmlformats.org/officeDocument/2006/relationships/image" Target="../media/image135.wmf"/><Relationship Id="rId55" Type="http://schemas.openxmlformats.org/officeDocument/2006/relationships/oleObject" Target="../embeddings/oleObject99.bin"/><Relationship Id="rId7" Type="http://schemas.openxmlformats.org/officeDocument/2006/relationships/oleObject" Target="../embeddings/oleObject75.bin"/><Relationship Id="rId2" Type="http://schemas.openxmlformats.org/officeDocument/2006/relationships/slideLayout" Target="../slideLayouts/slideLayout7.xml"/><Relationship Id="rId16" Type="http://schemas.openxmlformats.org/officeDocument/2006/relationships/image" Target="../media/image118.wmf"/><Relationship Id="rId29" Type="http://schemas.openxmlformats.org/officeDocument/2006/relationships/oleObject" Target="../embeddings/oleObject86.bin"/><Relationship Id="rId11" Type="http://schemas.openxmlformats.org/officeDocument/2006/relationships/oleObject" Target="../embeddings/oleObject77.bin"/><Relationship Id="rId24" Type="http://schemas.openxmlformats.org/officeDocument/2006/relationships/image" Target="../media/image122.wmf"/><Relationship Id="rId32" Type="http://schemas.openxmlformats.org/officeDocument/2006/relationships/image" Target="../media/image126.emf"/><Relationship Id="rId37" Type="http://schemas.openxmlformats.org/officeDocument/2006/relationships/oleObject" Target="../embeddings/oleObject90.bin"/><Relationship Id="rId40" Type="http://schemas.openxmlformats.org/officeDocument/2006/relationships/image" Target="../media/image130.wmf"/><Relationship Id="rId45" Type="http://schemas.openxmlformats.org/officeDocument/2006/relationships/oleObject" Target="../embeddings/oleObject94.bin"/><Relationship Id="rId53" Type="http://schemas.openxmlformats.org/officeDocument/2006/relationships/oleObject" Target="../embeddings/oleObject98.bin"/><Relationship Id="rId5" Type="http://schemas.openxmlformats.org/officeDocument/2006/relationships/oleObject" Target="../embeddings/oleObject74.bin"/><Relationship Id="rId10" Type="http://schemas.openxmlformats.org/officeDocument/2006/relationships/image" Target="../media/image115.wmf"/><Relationship Id="rId19" Type="http://schemas.openxmlformats.org/officeDocument/2006/relationships/oleObject" Target="../embeddings/oleObject81.bin"/><Relationship Id="rId31" Type="http://schemas.openxmlformats.org/officeDocument/2006/relationships/oleObject" Target="../embeddings/oleObject87.bin"/><Relationship Id="rId44" Type="http://schemas.openxmlformats.org/officeDocument/2006/relationships/image" Target="../media/image132.wmf"/><Relationship Id="rId52" Type="http://schemas.openxmlformats.org/officeDocument/2006/relationships/image" Target="../media/image136.wmf"/><Relationship Id="rId4" Type="http://schemas.openxmlformats.org/officeDocument/2006/relationships/image" Target="../media/image112.wmf"/><Relationship Id="rId9" Type="http://schemas.openxmlformats.org/officeDocument/2006/relationships/oleObject" Target="../embeddings/oleObject76.bin"/><Relationship Id="rId14" Type="http://schemas.openxmlformats.org/officeDocument/2006/relationships/image" Target="../media/image117.wmf"/><Relationship Id="rId22" Type="http://schemas.openxmlformats.org/officeDocument/2006/relationships/image" Target="../media/image121.wmf"/><Relationship Id="rId27" Type="http://schemas.openxmlformats.org/officeDocument/2006/relationships/oleObject" Target="../embeddings/oleObject85.bin"/><Relationship Id="rId30" Type="http://schemas.openxmlformats.org/officeDocument/2006/relationships/image" Target="../media/image125.emf"/><Relationship Id="rId35" Type="http://schemas.openxmlformats.org/officeDocument/2006/relationships/oleObject" Target="../embeddings/oleObject89.bin"/><Relationship Id="rId43" Type="http://schemas.openxmlformats.org/officeDocument/2006/relationships/oleObject" Target="../embeddings/oleObject93.bin"/><Relationship Id="rId48" Type="http://schemas.openxmlformats.org/officeDocument/2006/relationships/image" Target="../media/image134.wmf"/><Relationship Id="rId56" Type="http://schemas.openxmlformats.org/officeDocument/2006/relationships/image" Target="../media/image138.wmf"/><Relationship Id="rId8" Type="http://schemas.openxmlformats.org/officeDocument/2006/relationships/image" Target="../media/image114.wmf"/><Relationship Id="rId51" Type="http://schemas.openxmlformats.org/officeDocument/2006/relationships/oleObject" Target="../embeddings/oleObject97.bin"/><Relationship Id="rId3" Type="http://schemas.openxmlformats.org/officeDocument/2006/relationships/oleObject" Target="../embeddings/oleObject73.bin"/><Relationship Id="rId12" Type="http://schemas.openxmlformats.org/officeDocument/2006/relationships/image" Target="../media/image116.wmf"/><Relationship Id="rId17" Type="http://schemas.openxmlformats.org/officeDocument/2006/relationships/oleObject" Target="../embeddings/oleObject80.bin"/><Relationship Id="rId25" Type="http://schemas.openxmlformats.org/officeDocument/2006/relationships/oleObject" Target="../embeddings/oleObject84.bin"/><Relationship Id="rId33" Type="http://schemas.openxmlformats.org/officeDocument/2006/relationships/oleObject" Target="../embeddings/oleObject88.bin"/><Relationship Id="rId38" Type="http://schemas.openxmlformats.org/officeDocument/2006/relationships/image" Target="../media/image129.wmf"/><Relationship Id="rId46" Type="http://schemas.openxmlformats.org/officeDocument/2006/relationships/image" Target="../media/image133.wmf"/><Relationship Id="rId20" Type="http://schemas.openxmlformats.org/officeDocument/2006/relationships/image" Target="../media/image120.wmf"/><Relationship Id="rId41" Type="http://schemas.openxmlformats.org/officeDocument/2006/relationships/oleObject" Target="../embeddings/oleObject92.bin"/><Relationship Id="rId54" Type="http://schemas.openxmlformats.org/officeDocument/2006/relationships/image" Target="../media/image137.wmf"/><Relationship Id="rId1" Type="http://schemas.openxmlformats.org/officeDocument/2006/relationships/vmlDrawing" Target="../drawings/vmlDrawing18.vml"/><Relationship Id="rId6" Type="http://schemas.openxmlformats.org/officeDocument/2006/relationships/image" Target="../media/image113.wmf"/><Relationship Id="rId15" Type="http://schemas.openxmlformats.org/officeDocument/2006/relationships/oleObject" Target="../embeddings/oleObject79.bin"/><Relationship Id="rId23" Type="http://schemas.openxmlformats.org/officeDocument/2006/relationships/oleObject" Target="../embeddings/oleObject83.bin"/><Relationship Id="rId28" Type="http://schemas.openxmlformats.org/officeDocument/2006/relationships/image" Target="../media/image124.wmf"/><Relationship Id="rId36" Type="http://schemas.openxmlformats.org/officeDocument/2006/relationships/image" Target="../media/image128.wmf"/><Relationship Id="rId49" Type="http://schemas.openxmlformats.org/officeDocument/2006/relationships/oleObject" Target="../embeddings/oleObject96.bin"/></Relationships>
</file>

<file path=ppt/slides/_rels/slide38.xml.rels><?xml version="1.0" encoding="UTF-8" standalone="yes"?>
<Relationships xmlns="http://schemas.openxmlformats.org/package/2006/relationships"><Relationship Id="rId8" Type="http://schemas.openxmlformats.org/officeDocument/2006/relationships/image" Target="../media/image141.wmf"/><Relationship Id="rId13" Type="http://schemas.openxmlformats.org/officeDocument/2006/relationships/oleObject" Target="../embeddings/oleObject105.bin"/><Relationship Id="rId18" Type="http://schemas.openxmlformats.org/officeDocument/2006/relationships/image" Target="../media/image146.wmf"/><Relationship Id="rId26" Type="http://schemas.openxmlformats.org/officeDocument/2006/relationships/oleObject" Target="../embeddings/oleObject112.bin"/><Relationship Id="rId3" Type="http://schemas.openxmlformats.org/officeDocument/2006/relationships/oleObject" Target="../embeddings/oleObject100.bin"/><Relationship Id="rId21" Type="http://schemas.openxmlformats.org/officeDocument/2006/relationships/oleObject" Target="../embeddings/oleObject109.bin"/><Relationship Id="rId7" Type="http://schemas.openxmlformats.org/officeDocument/2006/relationships/oleObject" Target="../embeddings/oleObject102.bin"/><Relationship Id="rId12" Type="http://schemas.openxmlformats.org/officeDocument/2006/relationships/image" Target="../media/image143.wmf"/><Relationship Id="rId17" Type="http://schemas.openxmlformats.org/officeDocument/2006/relationships/oleObject" Target="../embeddings/oleObject107.bin"/><Relationship Id="rId25" Type="http://schemas.openxmlformats.org/officeDocument/2006/relationships/image" Target="../media/image149.wmf"/><Relationship Id="rId2" Type="http://schemas.openxmlformats.org/officeDocument/2006/relationships/slideLayout" Target="../slideLayouts/slideLayout7.xml"/><Relationship Id="rId16" Type="http://schemas.openxmlformats.org/officeDocument/2006/relationships/image" Target="../media/image145.wmf"/><Relationship Id="rId20" Type="http://schemas.openxmlformats.org/officeDocument/2006/relationships/image" Target="../media/image147.wmf"/><Relationship Id="rId1" Type="http://schemas.openxmlformats.org/officeDocument/2006/relationships/vmlDrawing" Target="../drawings/vmlDrawing19.vml"/><Relationship Id="rId6" Type="http://schemas.openxmlformats.org/officeDocument/2006/relationships/image" Target="../media/image140.wmf"/><Relationship Id="rId11" Type="http://schemas.openxmlformats.org/officeDocument/2006/relationships/oleObject" Target="../embeddings/oleObject104.bin"/><Relationship Id="rId24" Type="http://schemas.openxmlformats.org/officeDocument/2006/relationships/oleObject" Target="../embeddings/oleObject111.bin"/><Relationship Id="rId5" Type="http://schemas.openxmlformats.org/officeDocument/2006/relationships/oleObject" Target="../embeddings/oleObject101.bin"/><Relationship Id="rId15" Type="http://schemas.openxmlformats.org/officeDocument/2006/relationships/oleObject" Target="../embeddings/oleObject106.bin"/><Relationship Id="rId23" Type="http://schemas.openxmlformats.org/officeDocument/2006/relationships/image" Target="../media/image148.wmf"/><Relationship Id="rId10" Type="http://schemas.openxmlformats.org/officeDocument/2006/relationships/image" Target="../media/image142.wmf"/><Relationship Id="rId19" Type="http://schemas.openxmlformats.org/officeDocument/2006/relationships/oleObject" Target="../embeddings/oleObject108.bin"/><Relationship Id="rId4" Type="http://schemas.openxmlformats.org/officeDocument/2006/relationships/image" Target="../media/image139.wmf"/><Relationship Id="rId9" Type="http://schemas.openxmlformats.org/officeDocument/2006/relationships/oleObject" Target="../embeddings/oleObject103.bin"/><Relationship Id="rId14" Type="http://schemas.openxmlformats.org/officeDocument/2006/relationships/image" Target="../media/image144.wmf"/><Relationship Id="rId22" Type="http://schemas.openxmlformats.org/officeDocument/2006/relationships/oleObject" Target="../embeddings/oleObject110.bin"/><Relationship Id="rId27" Type="http://schemas.openxmlformats.org/officeDocument/2006/relationships/image" Target="../media/image150.wmf"/></Relationships>
</file>

<file path=ppt/slides/_rels/slide39.xml.rels><?xml version="1.0" encoding="UTF-8" standalone="yes"?>
<Relationships xmlns="http://schemas.openxmlformats.org/package/2006/relationships"><Relationship Id="rId8" Type="http://schemas.openxmlformats.org/officeDocument/2006/relationships/image" Target="../media/image153.wmf"/><Relationship Id="rId3" Type="http://schemas.openxmlformats.org/officeDocument/2006/relationships/oleObject" Target="../embeddings/oleObject113.bin"/><Relationship Id="rId7" Type="http://schemas.openxmlformats.org/officeDocument/2006/relationships/oleObject" Target="../embeddings/oleObject115.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152.wmf"/><Relationship Id="rId5" Type="http://schemas.openxmlformats.org/officeDocument/2006/relationships/oleObject" Target="../embeddings/oleObject114.bin"/><Relationship Id="rId10" Type="http://schemas.openxmlformats.org/officeDocument/2006/relationships/image" Target="../media/image154.wmf"/><Relationship Id="rId4" Type="http://schemas.openxmlformats.org/officeDocument/2006/relationships/image" Target="../media/image151.wmf"/><Relationship Id="rId9" Type="http://schemas.openxmlformats.org/officeDocument/2006/relationships/oleObject" Target="../embeddings/oleObject116.bin"/></Relationships>
</file>

<file path=ppt/slides/_rels/slide40.xml.rels><?xml version="1.0" encoding="UTF-8" standalone="yes"?>
<Relationships xmlns="http://schemas.openxmlformats.org/package/2006/relationships"><Relationship Id="rId8" Type="http://schemas.openxmlformats.org/officeDocument/2006/relationships/image" Target="../media/image157.wmf"/><Relationship Id="rId3" Type="http://schemas.openxmlformats.org/officeDocument/2006/relationships/oleObject" Target="../embeddings/oleObject117.bin"/><Relationship Id="rId7" Type="http://schemas.openxmlformats.org/officeDocument/2006/relationships/oleObject" Target="../embeddings/oleObject119.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156.wmf"/><Relationship Id="rId5" Type="http://schemas.openxmlformats.org/officeDocument/2006/relationships/oleObject" Target="../embeddings/oleObject118.bin"/><Relationship Id="rId10" Type="http://schemas.openxmlformats.org/officeDocument/2006/relationships/image" Target="../media/image158.wmf"/><Relationship Id="rId4" Type="http://schemas.openxmlformats.org/officeDocument/2006/relationships/image" Target="../media/image155.wmf"/><Relationship Id="rId9" Type="http://schemas.openxmlformats.org/officeDocument/2006/relationships/oleObject" Target="../embeddings/oleObject120.bin"/></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23.bin"/><Relationship Id="rId13" Type="http://schemas.openxmlformats.org/officeDocument/2006/relationships/image" Target="../media/image163.wmf"/><Relationship Id="rId18" Type="http://schemas.openxmlformats.org/officeDocument/2006/relationships/oleObject" Target="../embeddings/oleObject128.bin"/><Relationship Id="rId3" Type="http://schemas.openxmlformats.org/officeDocument/2006/relationships/notesSlide" Target="../notesSlides/notesSlide16.xml"/><Relationship Id="rId21" Type="http://schemas.openxmlformats.org/officeDocument/2006/relationships/image" Target="../media/image167.wmf"/><Relationship Id="rId7" Type="http://schemas.openxmlformats.org/officeDocument/2006/relationships/image" Target="../media/image160.wmf"/><Relationship Id="rId12" Type="http://schemas.openxmlformats.org/officeDocument/2006/relationships/oleObject" Target="../embeddings/oleObject125.bin"/><Relationship Id="rId17" Type="http://schemas.openxmlformats.org/officeDocument/2006/relationships/image" Target="../media/image165.wmf"/><Relationship Id="rId2" Type="http://schemas.openxmlformats.org/officeDocument/2006/relationships/slideLayout" Target="../slideLayouts/slideLayout7.xml"/><Relationship Id="rId16" Type="http://schemas.openxmlformats.org/officeDocument/2006/relationships/oleObject" Target="../embeddings/oleObject127.bin"/><Relationship Id="rId20" Type="http://schemas.openxmlformats.org/officeDocument/2006/relationships/oleObject" Target="../embeddings/oleObject129.bin"/><Relationship Id="rId1" Type="http://schemas.openxmlformats.org/officeDocument/2006/relationships/vmlDrawing" Target="../drawings/vmlDrawing22.vml"/><Relationship Id="rId6" Type="http://schemas.openxmlformats.org/officeDocument/2006/relationships/oleObject" Target="../embeddings/oleObject122.bin"/><Relationship Id="rId11" Type="http://schemas.openxmlformats.org/officeDocument/2006/relationships/image" Target="../media/image162.wmf"/><Relationship Id="rId5" Type="http://schemas.openxmlformats.org/officeDocument/2006/relationships/image" Target="../media/image159.wmf"/><Relationship Id="rId15" Type="http://schemas.openxmlformats.org/officeDocument/2006/relationships/image" Target="../media/image164.wmf"/><Relationship Id="rId23" Type="http://schemas.openxmlformats.org/officeDocument/2006/relationships/image" Target="../media/image168.wmf"/><Relationship Id="rId10" Type="http://schemas.openxmlformats.org/officeDocument/2006/relationships/oleObject" Target="../embeddings/oleObject124.bin"/><Relationship Id="rId19" Type="http://schemas.openxmlformats.org/officeDocument/2006/relationships/image" Target="../media/image166.wmf"/><Relationship Id="rId4" Type="http://schemas.openxmlformats.org/officeDocument/2006/relationships/oleObject" Target="../embeddings/oleObject121.bin"/><Relationship Id="rId9" Type="http://schemas.openxmlformats.org/officeDocument/2006/relationships/image" Target="../media/image161.wmf"/><Relationship Id="rId14" Type="http://schemas.openxmlformats.org/officeDocument/2006/relationships/oleObject" Target="../embeddings/oleObject126.bin"/><Relationship Id="rId22" Type="http://schemas.openxmlformats.org/officeDocument/2006/relationships/oleObject" Target="../embeddings/oleObject130.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133.bin"/><Relationship Id="rId3" Type="http://schemas.openxmlformats.org/officeDocument/2006/relationships/image" Target="../media/image173.png"/><Relationship Id="rId7" Type="http://schemas.openxmlformats.org/officeDocument/2006/relationships/image" Target="../media/image170.wmf"/><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oleObject" Target="../embeddings/oleObject132.bin"/><Relationship Id="rId11" Type="http://schemas.openxmlformats.org/officeDocument/2006/relationships/image" Target="../media/image172.wmf"/><Relationship Id="rId5" Type="http://schemas.openxmlformats.org/officeDocument/2006/relationships/image" Target="../media/image169.wmf"/><Relationship Id="rId10" Type="http://schemas.openxmlformats.org/officeDocument/2006/relationships/oleObject" Target="../embeddings/oleObject134.bin"/><Relationship Id="rId4" Type="http://schemas.openxmlformats.org/officeDocument/2006/relationships/oleObject" Target="../embeddings/oleObject131.bin"/><Relationship Id="rId9" Type="http://schemas.openxmlformats.org/officeDocument/2006/relationships/image" Target="../media/image171.wmf"/></Relationships>
</file>

<file path=ppt/slides/_rels/slide43.xml.rels><?xml version="1.0" encoding="UTF-8" standalone="yes"?>
<Relationships xmlns="http://schemas.openxmlformats.org/package/2006/relationships"><Relationship Id="rId8" Type="http://schemas.openxmlformats.org/officeDocument/2006/relationships/image" Target="../media/image176.wmf"/><Relationship Id="rId13" Type="http://schemas.openxmlformats.org/officeDocument/2006/relationships/image" Target="../media/image170.wmf"/><Relationship Id="rId18" Type="http://schemas.openxmlformats.org/officeDocument/2006/relationships/oleObject" Target="../embeddings/oleObject142.bin"/><Relationship Id="rId3" Type="http://schemas.openxmlformats.org/officeDocument/2006/relationships/oleObject" Target="../embeddings/oleObject135.bin"/><Relationship Id="rId21" Type="http://schemas.openxmlformats.org/officeDocument/2006/relationships/image" Target="../media/image181.wmf"/><Relationship Id="rId7" Type="http://schemas.openxmlformats.org/officeDocument/2006/relationships/oleObject" Target="../embeddings/oleObject137.bin"/><Relationship Id="rId12" Type="http://schemas.openxmlformats.org/officeDocument/2006/relationships/oleObject" Target="../embeddings/oleObject139.bin"/><Relationship Id="rId17" Type="http://schemas.openxmlformats.org/officeDocument/2006/relationships/image" Target="../media/image179.wmf"/><Relationship Id="rId25" Type="http://schemas.openxmlformats.org/officeDocument/2006/relationships/image" Target="../media/image183.wmf"/><Relationship Id="rId2" Type="http://schemas.openxmlformats.org/officeDocument/2006/relationships/slideLayout" Target="../slideLayouts/slideLayout7.xml"/><Relationship Id="rId16" Type="http://schemas.openxmlformats.org/officeDocument/2006/relationships/oleObject" Target="../embeddings/oleObject141.bin"/><Relationship Id="rId20" Type="http://schemas.openxmlformats.org/officeDocument/2006/relationships/oleObject" Target="../embeddings/oleObject143.bin"/><Relationship Id="rId1" Type="http://schemas.openxmlformats.org/officeDocument/2006/relationships/vmlDrawing" Target="../drawings/vmlDrawing24.vml"/><Relationship Id="rId6" Type="http://schemas.openxmlformats.org/officeDocument/2006/relationships/image" Target="../media/image175.wmf"/><Relationship Id="rId11" Type="http://schemas.openxmlformats.org/officeDocument/2006/relationships/image" Target="../media/image184.png"/><Relationship Id="rId24" Type="http://schemas.openxmlformats.org/officeDocument/2006/relationships/oleObject" Target="../embeddings/oleObject145.bin"/><Relationship Id="rId5" Type="http://schemas.openxmlformats.org/officeDocument/2006/relationships/oleObject" Target="../embeddings/oleObject136.bin"/><Relationship Id="rId15" Type="http://schemas.openxmlformats.org/officeDocument/2006/relationships/image" Target="../media/image178.wmf"/><Relationship Id="rId23" Type="http://schemas.openxmlformats.org/officeDocument/2006/relationships/image" Target="../media/image182.wmf"/><Relationship Id="rId10" Type="http://schemas.openxmlformats.org/officeDocument/2006/relationships/image" Target="../media/image177.wmf"/><Relationship Id="rId19" Type="http://schemas.openxmlformats.org/officeDocument/2006/relationships/image" Target="../media/image180.wmf"/><Relationship Id="rId4" Type="http://schemas.openxmlformats.org/officeDocument/2006/relationships/image" Target="../media/image174.wmf"/><Relationship Id="rId9" Type="http://schemas.openxmlformats.org/officeDocument/2006/relationships/oleObject" Target="../embeddings/oleObject138.bin"/><Relationship Id="rId14" Type="http://schemas.openxmlformats.org/officeDocument/2006/relationships/oleObject" Target="../embeddings/oleObject140.bin"/><Relationship Id="rId22" Type="http://schemas.openxmlformats.org/officeDocument/2006/relationships/oleObject" Target="../embeddings/oleObject144.bin"/></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148.bin"/><Relationship Id="rId13" Type="http://schemas.openxmlformats.org/officeDocument/2006/relationships/image" Target="../media/image189.wmf"/><Relationship Id="rId18" Type="http://schemas.openxmlformats.org/officeDocument/2006/relationships/oleObject" Target="../embeddings/oleObject153.bin"/><Relationship Id="rId3" Type="http://schemas.openxmlformats.org/officeDocument/2006/relationships/image" Target="../media/image173.png"/><Relationship Id="rId7" Type="http://schemas.openxmlformats.org/officeDocument/2006/relationships/image" Target="../media/image186.wmf"/><Relationship Id="rId12" Type="http://schemas.openxmlformats.org/officeDocument/2006/relationships/oleObject" Target="../embeddings/oleObject150.bin"/><Relationship Id="rId17" Type="http://schemas.openxmlformats.org/officeDocument/2006/relationships/image" Target="../media/image191.wmf"/><Relationship Id="rId2" Type="http://schemas.openxmlformats.org/officeDocument/2006/relationships/slideLayout" Target="../slideLayouts/slideLayout7.xml"/><Relationship Id="rId16" Type="http://schemas.openxmlformats.org/officeDocument/2006/relationships/oleObject" Target="../embeddings/oleObject152.bin"/><Relationship Id="rId1" Type="http://schemas.openxmlformats.org/officeDocument/2006/relationships/vmlDrawing" Target="../drawings/vmlDrawing25.vml"/><Relationship Id="rId6" Type="http://schemas.openxmlformats.org/officeDocument/2006/relationships/oleObject" Target="../embeddings/oleObject147.bin"/><Relationship Id="rId11" Type="http://schemas.openxmlformats.org/officeDocument/2006/relationships/image" Target="../media/image188.wmf"/><Relationship Id="rId5" Type="http://schemas.openxmlformats.org/officeDocument/2006/relationships/image" Target="../media/image185.wmf"/><Relationship Id="rId15" Type="http://schemas.openxmlformats.org/officeDocument/2006/relationships/image" Target="../media/image190.wmf"/><Relationship Id="rId10" Type="http://schemas.openxmlformats.org/officeDocument/2006/relationships/oleObject" Target="../embeddings/oleObject149.bin"/><Relationship Id="rId19" Type="http://schemas.openxmlformats.org/officeDocument/2006/relationships/image" Target="../media/image192.emf"/><Relationship Id="rId4" Type="http://schemas.openxmlformats.org/officeDocument/2006/relationships/oleObject" Target="../embeddings/oleObject146.bin"/><Relationship Id="rId9" Type="http://schemas.openxmlformats.org/officeDocument/2006/relationships/image" Target="../media/image187.wmf"/><Relationship Id="rId14" Type="http://schemas.openxmlformats.org/officeDocument/2006/relationships/oleObject" Target="../embeddings/oleObject151.bin"/></Relationships>
</file>

<file path=ppt/slides/_rels/slide45.xml.rels><?xml version="1.0" encoding="UTF-8" standalone="yes"?>
<Relationships xmlns="http://schemas.openxmlformats.org/package/2006/relationships"><Relationship Id="rId8" Type="http://schemas.openxmlformats.org/officeDocument/2006/relationships/image" Target="../media/image195.emf"/><Relationship Id="rId13" Type="http://schemas.openxmlformats.org/officeDocument/2006/relationships/image" Target="../media/image199.png"/><Relationship Id="rId3" Type="http://schemas.openxmlformats.org/officeDocument/2006/relationships/oleObject" Target="../embeddings/oleObject154.bin"/><Relationship Id="rId7" Type="http://schemas.openxmlformats.org/officeDocument/2006/relationships/oleObject" Target="../embeddings/oleObject156.bin"/><Relationship Id="rId12" Type="http://schemas.openxmlformats.org/officeDocument/2006/relationships/image" Target="../media/image197.wmf"/><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194.emf"/><Relationship Id="rId11" Type="http://schemas.openxmlformats.org/officeDocument/2006/relationships/oleObject" Target="../embeddings/oleObject158.bin"/><Relationship Id="rId5" Type="http://schemas.openxmlformats.org/officeDocument/2006/relationships/oleObject" Target="../embeddings/oleObject155.bin"/><Relationship Id="rId15" Type="http://schemas.openxmlformats.org/officeDocument/2006/relationships/image" Target="../media/image198.wmf"/><Relationship Id="rId10" Type="http://schemas.openxmlformats.org/officeDocument/2006/relationships/image" Target="../media/image196.emf"/><Relationship Id="rId4" Type="http://schemas.openxmlformats.org/officeDocument/2006/relationships/image" Target="../media/image193.emf"/><Relationship Id="rId9" Type="http://schemas.openxmlformats.org/officeDocument/2006/relationships/oleObject" Target="../embeddings/oleObject157.bin"/><Relationship Id="rId14" Type="http://schemas.openxmlformats.org/officeDocument/2006/relationships/oleObject" Target="../embeddings/oleObject159.bin"/></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162.bin"/><Relationship Id="rId13" Type="http://schemas.openxmlformats.org/officeDocument/2006/relationships/image" Target="../media/image204.emf"/><Relationship Id="rId18" Type="http://schemas.openxmlformats.org/officeDocument/2006/relationships/oleObject" Target="../embeddings/oleObject167.bin"/><Relationship Id="rId3" Type="http://schemas.openxmlformats.org/officeDocument/2006/relationships/image" Target="../media/image208.png"/><Relationship Id="rId7" Type="http://schemas.openxmlformats.org/officeDocument/2006/relationships/image" Target="../media/image201.emf"/><Relationship Id="rId12" Type="http://schemas.openxmlformats.org/officeDocument/2006/relationships/oleObject" Target="../embeddings/oleObject164.bin"/><Relationship Id="rId17" Type="http://schemas.openxmlformats.org/officeDocument/2006/relationships/image" Target="../media/image206.emf"/><Relationship Id="rId2" Type="http://schemas.openxmlformats.org/officeDocument/2006/relationships/slideLayout" Target="../slideLayouts/slideLayout7.xml"/><Relationship Id="rId16" Type="http://schemas.openxmlformats.org/officeDocument/2006/relationships/oleObject" Target="../embeddings/oleObject166.bin"/><Relationship Id="rId1" Type="http://schemas.openxmlformats.org/officeDocument/2006/relationships/vmlDrawing" Target="../drawings/vmlDrawing27.vml"/><Relationship Id="rId6" Type="http://schemas.openxmlformats.org/officeDocument/2006/relationships/oleObject" Target="../embeddings/oleObject161.bin"/><Relationship Id="rId11" Type="http://schemas.openxmlformats.org/officeDocument/2006/relationships/image" Target="../media/image203.emf"/><Relationship Id="rId5" Type="http://schemas.openxmlformats.org/officeDocument/2006/relationships/image" Target="../media/image200.emf"/><Relationship Id="rId15" Type="http://schemas.openxmlformats.org/officeDocument/2006/relationships/image" Target="../media/image205.emf"/><Relationship Id="rId10" Type="http://schemas.openxmlformats.org/officeDocument/2006/relationships/oleObject" Target="../embeddings/oleObject163.bin"/><Relationship Id="rId19" Type="http://schemas.openxmlformats.org/officeDocument/2006/relationships/image" Target="../media/image207.emf"/><Relationship Id="rId4" Type="http://schemas.openxmlformats.org/officeDocument/2006/relationships/oleObject" Target="../embeddings/oleObject160.bin"/><Relationship Id="rId9" Type="http://schemas.openxmlformats.org/officeDocument/2006/relationships/image" Target="../media/image202.emf"/><Relationship Id="rId14" Type="http://schemas.openxmlformats.org/officeDocument/2006/relationships/oleObject" Target="../embeddings/oleObject165.bin"/></Relationships>
</file>

<file path=ppt/slides/_rels/slide47.xml.rels><?xml version="1.0" encoding="UTF-8" standalone="yes"?>
<Relationships xmlns="http://schemas.openxmlformats.org/package/2006/relationships"><Relationship Id="rId8" Type="http://schemas.openxmlformats.org/officeDocument/2006/relationships/image" Target="../media/image211.emf"/><Relationship Id="rId3" Type="http://schemas.openxmlformats.org/officeDocument/2006/relationships/oleObject" Target="../embeddings/oleObject168.bin"/><Relationship Id="rId7" Type="http://schemas.openxmlformats.org/officeDocument/2006/relationships/oleObject" Target="../embeddings/oleObject170.bin"/><Relationship Id="rId12" Type="http://schemas.openxmlformats.org/officeDocument/2006/relationships/image" Target="../media/image212.emf"/><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210.emf"/><Relationship Id="rId11" Type="http://schemas.openxmlformats.org/officeDocument/2006/relationships/oleObject" Target="../embeddings/oleObject171.bin"/><Relationship Id="rId5" Type="http://schemas.openxmlformats.org/officeDocument/2006/relationships/oleObject" Target="../embeddings/oleObject169.bin"/><Relationship Id="rId10" Type="http://schemas.openxmlformats.org/officeDocument/2006/relationships/image" Target="../media/image214.png"/><Relationship Id="rId4" Type="http://schemas.openxmlformats.org/officeDocument/2006/relationships/image" Target="../media/image209.emf"/><Relationship Id="rId9" Type="http://schemas.openxmlformats.org/officeDocument/2006/relationships/image" Target="../media/image213.png"/></Relationships>
</file>

<file path=ppt/slides/_rels/slide48.xml.rels><?xml version="1.0" encoding="UTF-8" standalone="yes"?>
<Relationships xmlns="http://schemas.openxmlformats.org/package/2006/relationships"><Relationship Id="rId8" Type="http://schemas.openxmlformats.org/officeDocument/2006/relationships/image" Target="../media/image217.wmf"/><Relationship Id="rId3" Type="http://schemas.openxmlformats.org/officeDocument/2006/relationships/oleObject" Target="../embeddings/oleObject172.bin"/><Relationship Id="rId7" Type="http://schemas.openxmlformats.org/officeDocument/2006/relationships/oleObject" Target="../embeddings/oleObject174.bin"/><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216.emf"/><Relationship Id="rId5" Type="http://schemas.openxmlformats.org/officeDocument/2006/relationships/oleObject" Target="../embeddings/oleObject173.bin"/><Relationship Id="rId4" Type="http://schemas.openxmlformats.org/officeDocument/2006/relationships/image" Target="../media/image215.emf"/><Relationship Id="rId9" Type="http://schemas.openxmlformats.org/officeDocument/2006/relationships/image" Target="../media/image21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177.bin"/><Relationship Id="rId13" Type="http://schemas.openxmlformats.org/officeDocument/2006/relationships/image" Target="../media/image222.wmf"/><Relationship Id="rId18" Type="http://schemas.openxmlformats.org/officeDocument/2006/relationships/image" Target="../media/image157.wmf"/><Relationship Id="rId3" Type="http://schemas.openxmlformats.org/officeDocument/2006/relationships/notesSlide" Target="../notesSlides/notesSlide17.xml"/><Relationship Id="rId21" Type="http://schemas.openxmlformats.org/officeDocument/2006/relationships/oleObject" Target="../embeddings/oleObject173.bin"/><Relationship Id="rId7" Type="http://schemas.openxmlformats.org/officeDocument/2006/relationships/image" Target="../media/image219.wmf"/><Relationship Id="rId12" Type="http://schemas.openxmlformats.org/officeDocument/2006/relationships/oleObject" Target="../embeddings/oleObject179.bin"/><Relationship Id="rId17" Type="http://schemas.openxmlformats.org/officeDocument/2006/relationships/oleObject" Target="../embeddings/oleObject181.bin"/><Relationship Id="rId25" Type="http://schemas.openxmlformats.org/officeDocument/2006/relationships/image" Target="../media/image224.emf"/><Relationship Id="rId2" Type="http://schemas.openxmlformats.org/officeDocument/2006/relationships/slideLayout" Target="../slideLayouts/slideLayout16.xml"/><Relationship Id="rId16" Type="http://schemas.openxmlformats.org/officeDocument/2006/relationships/image" Target="../media/image225.png"/><Relationship Id="rId20" Type="http://schemas.openxmlformats.org/officeDocument/2006/relationships/image" Target="../media/image215.emf"/><Relationship Id="rId1" Type="http://schemas.openxmlformats.org/officeDocument/2006/relationships/vmlDrawing" Target="../drawings/vmlDrawing30.vml"/><Relationship Id="rId6" Type="http://schemas.openxmlformats.org/officeDocument/2006/relationships/oleObject" Target="../embeddings/oleObject176.bin"/><Relationship Id="rId11" Type="http://schemas.openxmlformats.org/officeDocument/2006/relationships/image" Target="../media/image221.wmf"/><Relationship Id="rId24" Type="http://schemas.openxmlformats.org/officeDocument/2006/relationships/oleObject" Target="../embeddings/oleObject182.bin"/><Relationship Id="rId5" Type="http://schemas.openxmlformats.org/officeDocument/2006/relationships/image" Target="../media/image218.wmf"/><Relationship Id="rId15" Type="http://schemas.openxmlformats.org/officeDocument/2006/relationships/image" Target="../media/image223.wmf"/><Relationship Id="rId23" Type="http://schemas.openxmlformats.org/officeDocument/2006/relationships/image" Target="../media/image226.png"/><Relationship Id="rId10" Type="http://schemas.openxmlformats.org/officeDocument/2006/relationships/oleObject" Target="../embeddings/oleObject178.bin"/><Relationship Id="rId19" Type="http://schemas.openxmlformats.org/officeDocument/2006/relationships/oleObject" Target="../embeddings/oleObject172.bin"/><Relationship Id="rId4" Type="http://schemas.openxmlformats.org/officeDocument/2006/relationships/oleObject" Target="../embeddings/oleObject175.bin"/><Relationship Id="rId9" Type="http://schemas.openxmlformats.org/officeDocument/2006/relationships/image" Target="../media/image220.wmf"/><Relationship Id="rId14" Type="http://schemas.openxmlformats.org/officeDocument/2006/relationships/oleObject" Target="../embeddings/oleObject180.bin"/><Relationship Id="rId22" Type="http://schemas.openxmlformats.org/officeDocument/2006/relationships/image" Target="../media/image216.e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83.bin"/><Relationship Id="rId2" Type="http://schemas.openxmlformats.org/officeDocument/2006/relationships/slideLayout" Target="../slideLayouts/slideLayout7.xml"/><Relationship Id="rId1" Type="http://schemas.openxmlformats.org/officeDocument/2006/relationships/vmlDrawing" Target="../drawings/vmlDrawing31.vml"/><Relationship Id="rId5" Type="http://schemas.openxmlformats.org/officeDocument/2006/relationships/image" Target="../media/image228.png"/><Relationship Id="rId4" Type="http://schemas.openxmlformats.org/officeDocument/2006/relationships/image" Target="../media/image227.wmf"/></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186.bin"/><Relationship Id="rId13" Type="http://schemas.openxmlformats.org/officeDocument/2006/relationships/image" Target="../media/image233.wmf"/><Relationship Id="rId18" Type="http://schemas.openxmlformats.org/officeDocument/2006/relationships/oleObject" Target="../embeddings/oleObject191.bin"/><Relationship Id="rId3" Type="http://schemas.openxmlformats.org/officeDocument/2006/relationships/notesSlide" Target="../notesSlides/notesSlide18.xml"/><Relationship Id="rId21" Type="http://schemas.openxmlformats.org/officeDocument/2006/relationships/image" Target="../media/image237.emf"/><Relationship Id="rId7" Type="http://schemas.openxmlformats.org/officeDocument/2006/relationships/image" Target="../media/image230.wmf"/><Relationship Id="rId12" Type="http://schemas.openxmlformats.org/officeDocument/2006/relationships/oleObject" Target="../embeddings/oleObject188.bin"/><Relationship Id="rId17" Type="http://schemas.openxmlformats.org/officeDocument/2006/relationships/image" Target="../media/image235.emf"/><Relationship Id="rId2" Type="http://schemas.openxmlformats.org/officeDocument/2006/relationships/slideLayout" Target="../slideLayouts/slideLayout7.xml"/><Relationship Id="rId16" Type="http://schemas.openxmlformats.org/officeDocument/2006/relationships/oleObject" Target="../embeddings/oleObject190.bin"/><Relationship Id="rId20" Type="http://schemas.openxmlformats.org/officeDocument/2006/relationships/oleObject" Target="../embeddings/oleObject192.bin"/><Relationship Id="rId1" Type="http://schemas.openxmlformats.org/officeDocument/2006/relationships/vmlDrawing" Target="../drawings/vmlDrawing32.vml"/><Relationship Id="rId6" Type="http://schemas.openxmlformats.org/officeDocument/2006/relationships/oleObject" Target="../embeddings/oleObject185.bin"/><Relationship Id="rId11" Type="http://schemas.openxmlformats.org/officeDocument/2006/relationships/image" Target="../media/image232.wmf"/><Relationship Id="rId5" Type="http://schemas.openxmlformats.org/officeDocument/2006/relationships/image" Target="../media/image229.wmf"/><Relationship Id="rId15" Type="http://schemas.openxmlformats.org/officeDocument/2006/relationships/image" Target="../media/image234.wmf"/><Relationship Id="rId23" Type="http://schemas.openxmlformats.org/officeDocument/2006/relationships/image" Target="../media/image238.wmf"/><Relationship Id="rId10" Type="http://schemas.openxmlformats.org/officeDocument/2006/relationships/oleObject" Target="../embeddings/oleObject187.bin"/><Relationship Id="rId19" Type="http://schemas.openxmlformats.org/officeDocument/2006/relationships/image" Target="../media/image236.wmf"/><Relationship Id="rId4" Type="http://schemas.openxmlformats.org/officeDocument/2006/relationships/oleObject" Target="../embeddings/oleObject184.bin"/><Relationship Id="rId9" Type="http://schemas.openxmlformats.org/officeDocument/2006/relationships/image" Target="../media/image231.wmf"/><Relationship Id="rId14" Type="http://schemas.openxmlformats.org/officeDocument/2006/relationships/oleObject" Target="../embeddings/oleObject189.bin"/><Relationship Id="rId22" Type="http://schemas.openxmlformats.org/officeDocument/2006/relationships/oleObject" Target="../embeddings/oleObject193.bin"/></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196.bin"/><Relationship Id="rId13" Type="http://schemas.openxmlformats.org/officeDocument/2006/relationships/image" Target="../media/image243.wmf"/><Relationship Id="rId3" Type="http://schemas.openxmlformats.org/officeDocument/2006/relationships/image" Target="../media/image244.png"/><Relationship Id="rId7" Type="http://schemas.openxmlformats.org/officeDocument/2006/relationships/image" Target="../media/image240.wmf"/><Relationship Id="rId12" Type="http://schemas.openxmlformats.org/officeDocument/2006/relationships/oleObject" Target="../embeddings/oleObject198.bin"/><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oleObject" Target="../embeddings/oleObject195.bin"/><Relationship Id="rId11" Type="http://schemas.openxmlformats.org/officeDocument/2006/relationships/image" Target="../media/image242.wmf"/><Relationship Id="rId5" Type="http://schemas.openxmlformats.org/officeDocument/2006/relationships/image" Target="../media/image239.wmf"/><Relationship Id="rId10" Type="http://schemas.openxmlformats.org/officeDocument/2006/relationships/oleObject" Target="../embeddings/oleObject197.bin"/><Relationship Id="rId4" Type="http://schemas.openxmlformats.org/officeDocument/2006/relationships/oleObject" Target="../embeddings/oleObject194.bin"/><Relationship Id="rId9" Type="http://schemas.openxmlformats.org/officeDocument/2006/relationships/image" Target="../media/image241.wmf"/><Relationship Id="rId14" Type="http://schemas.openxmlformats.org/officeDocument/2006/relationships/image" Target="../media/image245.png"/></Relationships>
</file>

<file path=ppt/slides/_rels/slide55.xml.rels><?xml version="1.0" encoding="UTF-8" standalone="yes"?>
<Relationships xmlns="http://schemas.openxmlformats.org/package/2006/relationships"><Relationship Id="rId8" Type="http://schemas.openxmlformats.org/officeDocument/2006/relationships/image" Target="../media/image251.png"/><Relationship Id="rId13" Type="http://schemas.openxmlformats.org/officeDocument/2006/relationships/oleObject" Target="../embeddings/oleObject203.bin"/><Relationship Id="rId3" Type="http://schemas.openxmlformats.org/officeDocument/2006/relationships/notesSlide" Target="../notesSlides/notesSlide19.xml"/><Relationship Id="rId7" Type="http://schemas.openxmlformats.org/officeDocument/2006/relationships/image" Target="../media/image247.wmf"/><Relationship Id="rId12" Type="http://schemas.openxmlformats.org/officeDocument/2006/relationships/image" Target="../media/image249.wmf"/><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oleObject" Target="../embeddings/oleObject200.bin"/><Relationship Id="rId11" Type="http://schemas.openxmlformats.org/officeDocument/2006/relationships/oleObject" Target="../embeddings/oleObject202.bin"/><Relationship Id="rId5" Type="http://schemas.openxmlformats.org/officeDocument/2006/relationships/image" Target="../media/image246.wmf"/><Relationship Id="rId10" Type="http://schemas.openxmlformats.org/officeDocument/2006/relationships/image" Target="../media/image248.wmf"/><Relationship Id="rId4" Type="http://schemas.openxmlformats.org/officeDocument/2006/relationships/oleObject" Target="../embeddings/oleObject199.bin"/><Relationship Id="rId9" Type="http://schemas.openxmlformats.org/officeDocument/2006/relationships/oleObject" Target="../embeddings/oleObject201.bin"/><Relationship Id="rId14" Type="http://schemas.openxmlformats.org/officeDocument/2006/relationships/image" Target="../media/image250.wmf"/></Relationships>
</file>

<file path=ppt/slides/_rels/slide56.xml.rels><?xml version="1.0" encoding="UTF-8" standalone="yes"?>
<Relationships xmlns="http://schemas.openxmlformats.org/package/2006/relationships"><Relationship Id="rId3" Type="http://schemas.openxmlformats.org/officeDocument/2006/relationships/image" Target="../media/image252.jpeg"/><Relationship Id="rId2" Type="http://schemas.openxmlformats.org/officeDocument/2006/relationships/hyperlink" Target="http://bbs.huash.com/bbs/modules/myalbum/photo.php?lid=2665" TargetMode="Externa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54.jpeg"/></Relationships>
</file>

<file path=ppt/slides/_rels/slide58.xml.rels><?xml version="1.0" encoding="UTF-8" standalone="yes"?>
<Relationships xmlns="http://schemas.openxmlformats.org/package/2006/relationships"><Relationship Id="rId3" Type="http://schemas.openxmlformats.org/officeDocument/2006/relationships/image" Target="../media/image256.png"/><Relationship Id="rId2" Type="http://schemas.openxmlformats.org/officeDocument/2006/relationships/image" Target="../media/image255.png"/><Relationship Id="rId1" Type="http://schemas.openxmlformats.org/officeDocument/2006/relationships/slideLayout" Target="../slideLayouts/slideLayout7.xml"/><Relationship Id="rId6" Type="http://schemas.openxmlformats.org/officeDocument/2006/relationships/image" Target="../media/image259.jpeg"/><Relationship Id="rId5" Type="http://schemas.openxmlformats.org/officeDocument/2006/relationships/image" Target="../media/image258.jpeg"/><Relationship Id="rId4" Type="http://schemas.openxmlformats.org/officeDocument/2006/relationships/image" Target="../media/image257.png"/></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206.bin"/><Relationship Id="rId3" Type="http://schemas.openxmlformats.org/officeDocument/2006/relationships/image" Target="../media/image263.png"/><Relationship Id="rId7" Type="http://schemas.openxmlformats.org/officeDocument/2006/relationships/image" Target="../media/image261.wmf"/><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oleObject" Target="../embeddings/oleObject205.bin"/><Relationship Id="rId5" Type="http://schemas.openxmlformats.org/officeDocument/2006/relationships/image" Target="../media/image260.wmf"/><Relationship Id="rId10" Type="http://schemas.openxmlformats.org/officeDocument/2006/relationships/image" Target="../media/image264.png"/><Relationship Id="rId4" Type="http://schemas.openxmlformats.org/officeDocument/2006/relationships/oleObject" Target="../embeddings/oleObject204.bin"/><Relationship Id="rId9" Type="http://schemas.openxmlformats.org/officeDocument/2006/relationships/image" Target="../media/image262.wmf"/></Relationships>
</file>

<file path=ppt/slides/_rels/slide60.xml.rels><?xml version="1.0" encoding="UTF-8" standalone="yes"?>
<Relationships xmlns="http://schemas.openxmlformats.org/package/2006/relationships"><Relationship Id="rId8" Type="http://schemas.openxmlformats.org/officeDocument/2006/relationships/image" Target="../media/image267.wmf"/><Relationship Id="rId3" Type="http://schemas.openxmlformats.org/officeDocument/2006/relationships/oleObject" Target="../embeddings/oleObject207.bin"/><Relationship Id="rId7" Type="http://schemas.openxmlformats.org/officeDocument/2006/relationships/oleObject" Target="../embeddings/oleObject209.bin"/><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image" Target="../media/image266.wmf"/><Relationship Id="rId5" Type="http://schemas.openxmlformats.org/officeDocument/2006/relationships/oleObject" Target="../embeddings/oleObject208.bin"/><Relationship Id="rId10" Type="http://schemas.openxmlformats.org/officeDocument/2006/relationships/image" Target="../media/image268.wmf"/><Relationship Id="rId4" Type="http://schemas.openxmlformats.org/officeDocument/2006/relationships/image" Target="../media/image265.wmf"/><Relationship Id="rId9" Type="http://schemas.openxmlformats.org/officeDocument/2006/relationships/oleObject" Target="../embeddings/oleObject210.bin"/></Relationships>
</file>

<file path=ppt/slides/_rels/slide61.xml.rels><?xml version="1.0" encoding="UTF-8" standalone="yes"?>
<Relationships xmlns="http://schemas.openxmlformats.org/package/2006/relationships"><Relationship Id="rId8" Type="http://schemas.openxmlformats.org/officeDocument/2006/relationships/image" Target="../media/image270.wmf"/><Relationship Id="rId3" Type="http://schemas.openxmlformats.org/officeDocument/2006/relationships/notesSlide" Target="../notesSlides/notesSlide21.xml"/><Relationship Id="rId7" Type="http://schemas.openxmlformats.org/officeDocument/2006/relationships/oleObject" Target="../embeddings/oleObject212.bin"/><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image" Target="../media/image269.emf"/><Relationship Id="rId5" Type="http://schemas.openxmlformats.org/officeDocument/2006/relationships/oleObject" Target="../embeddings/oleObject211.bin"/><Relationship Id="rId10" Type="http://schemas.openxmlformats.org/officeDocument/2006/relationships/image" Target="../media/image271.wmf"/><Relationship Id="rId4" Type="http://schemas.openxmlformats.org/officeDocument/2006/relationships/image" Target="../media/image272.png"/><Relationship Id="rId9" Type="http://schemas.openxmlformats.org/officeDocument/2006/relationships/oleObject" Target="../embeddings/oleObject213.bin"/></Relationships>
</file>

<file path=ppt/slides/_rels/slide62.xml.rels><?xml version="1.0" encoding="UTF-8" standalone="yes"?>
<Relationships xmlns="http://schemas.openxmlformats.org/package/2006/relationships"><Relationship Id="rId8" Type="http://schemas.openxmlformats.org/officeDocument/2006/relationships/image" Target="../media/image275.wmf"/><Relationship Id="rId13" Type="http://schemas.openxmlformats.org/officeDocument/2006/relationships/oleObject" Target="../embeddings/oleObject219.bin"/><Relationship Id="rId18" Type="http://schemas.openxmlformats.org/officeDocument/2006/relationships/image" Target="../media/image280.wmf"/><Relationship Id="rId3" Type="http://schemas.openxmlformats.org/officeDocument/2006/relationships/oleObject" Target="../embeddings/oleObject214.bin"/><Relationship Id="rId21" Type="http://schemas.openxmlformats.org/officeDocument/2006/relationships/oleObject" Target="../embeddings/oleObject223.bin"/><Relationship Id="rId7" Type="http://schemas.openxmlformats.org/officeDocument/2006/relationships/oleObject" Target="../embeddings/oleObject216.bin"/><Relationship Id="rId12" Type="http://schemas.openxmlformats.org/officeDocument/2006/relationships/image" Target="../media/image277.wmf"/><Relationship Id="rId17" Type="http://schemas.openxmlformats.org/officeDocument/2006/relationships/oleObject" Target="../embeddings/oleObject221.bin"/><Relationship Id="rId2" Type="http://schemas.openxmlformats.org/officeDocument/2006/relationships/slideLayout" Target="../slideLayouts/slideLayout7.xml"/><Relationship Id="rId16" Type="http://schemas.openxmlformats.org/officeDocument/2006/relationships/image" Target="../media/image279.wmf"/><Relationship Id="rId20" Type="http://schemas.openxmlformats.org/officeDocument/2006/relationships/image" Target="../media/image281.wmf"/><Relationship Id="rId1" Type="http://schemas.openxmlformats.org/officeDocument/2006/relationships/vmlDrawing" Target="../drawings/vmlDrawing38.vml"/><Relationship Id="rId6" Type="http://schemas.openxmlformats.org/officeDocument/2006/relationships/image" Target="../media/image274.wmf"/><Relationship Id="rId11" Type="http://schemas.openxmlformats.org/officeDocument/2006/relationships/oleObject" Target="../embeddings/oleObject218.bin"/><Relationship Id="rId5" Type="http://schemas.openxmlformats.org/officeDocument/2006/relationships/oleObject" Target="../embeddings/oleObject215.bin"/><Relationship Id="rId15" Type="http://schemas.openxmlformats.org/officeDocument/2006/relationships/oleObject" Target="../embeddings/oleObject220.bin"/><Relationship Id="rId23" Type="http://schemas.openxmlformats.org/officeDocument/2006/relationships/image" Target="../media/image283.png"/><Relationship Id="rId10" Type="http://schemas.openxmlformats.org/officeDocument/2006/relationships/image" Target="../media/image276.wmf"/><Relationship Id="rId19" Type="http://schemas.openxmlformats.org/officeDocument/2006/relationships/oleObject" Target="../embeddings/oleObject222.bin"/><Relationship Id="rId4" Type="http://schemas.openxmlformats.org/officeDocument/2006/relationships/image" Target="../media/image273.wmf"/><Relationship Id="rId9" Type="http://schemas.openxmlformats.org/officeDocument/2006/relationships/oleObject" Target="../embeddings/oleObject217.bin"/><Relationship Id="rId14" Type="http://schemas.openxmlformats.org/officeDocument/2006/relationships/image" Target="../media/image278.wmf"/><Relationship Id="rId22" Type="http://schemas.openxmlformats.org/officeDocument/2006/relationships/image" Target="../media/image282.wmf"/></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226.bin"/><Relationship Id="rId13" Type="http://schemas.openxmlformats.org/officeDocument/2006/relationships/image" Target="../media/image288.wmf"/><Relationship Id="rId18" Type="http://schemas.openxmlformats.org/officeDocument/2006/relationships/oleObject" Target="../embeddings/oleObject231.bin"/><Relationship Id="rId3" Type="http://schemas.openxmlformats.org/officeDocument/2006/relationships/image" Target="../media/image292.jpeg"/><Relationship Id="rId7" Type="http://schemas.openxmlformats.org/officeDocument/2006/relationships/image" Target="../media/image285.wmf"/><Relationship Id="rId12" Type="http://schemas.openxmlformats.org/officeDocument/2006/relationships/oleObject" Target="../embeddings/oleObject228.bin"/><Relationship Id="rId17" Type="http://schemas.openxmlformats.org/officeDocument/2006/relationships/image" Target="../media/image290.wmf"/><Relationship Id="rId2" Type="http://schemas.openxmlformats.org/officeDocument/2006/relationships/slideLayout" Target="../slideLayouts/slideLayout7.xml"/><Relationship Id="rId16" Type="http://schemas.openxmlformats.org/officeDocument/2006/relationships/oleObject" Target="../embeddings/oleObject230.bin"/><Relationship Id="rId1" Type="http://schemas.openxmlformats.org/officeDocument/2006/relationships/vmlDrawing" Target="../drawings/vmlDrawing39.vml"/><Relationship Id="rId6" Type="http://schemas.openxmlformats.org/officeDocument/2006/relationships/oleObject" Target="../embeddings/oleObject225.bin"/><Relationship Id="rId11" Type="http://schemas.openxmlformats.org/officeDocument/2006/relationships/image" Target="../media/image287.wmf"/><Relationship Id="rId5" Type="http://schemas.openxmlformats.org/officeDocument/2006/relationships/image" Target="../media/image284.wmf"/><Relationship Id="rId15" Type="http://schemas.openxmlformats.org/officeDocument/2006/relationships/image" Target="../media/image289.wmf"/><Relationship Id="rId10" Type="http://schemas.openxmlformats.org/officeDocument/2006/relationships/oleObject" Target="../embeddings/oleObject227.bin"/><Relationship Id="rId19" Type="http://schemas.openxmlformats.org/officeDocument/2006/relationships/image" Target="../media/image291.wmf"/><Relationship Id="rId4" Type="http://schemas.openxmlformats.org/officeDocument/2006/relationships/oleObject" Target="../embeddings/oleObject224.bin"/><Relationship Id="rId9" Type="http://schemas.openxmlformats.org/officeDocument/2006/relationships/image" Target="../media/image286.wmf"/><Relationship Id="rId14" Type="http://schemas.openxmlformats.org/officeDocument/2006/relationships/oleObject" Target="../embeddings/oleObject229.bin"/></Relationships>
</file>

<file path=ppt/slides/_rels/slide64.xml.rels><?xml version="1.0" encoding="UTF-8" standalone="yes"?>
<Relationships xmlns="http://schemas.openxmlformats.org/package/2006/relationships"><Relationship Id="rId3" Type="http://schemas.openxmlformats.org/officeDocument/2006/relationships/image" Target="../media/image293.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94.jpeg"/></Relationships>
</file>

<file path=ppt/slides/_rels/slide65.xml.rels><?xml version="1.0" encoding="UTF-8" standalone="yes"?>
<Relationships xmlns="http://schemas.openxmlformats.org/package/2006/relationships"><Relationship Id="rId8" Type="http://schemas.openxmlformats.org/officeDocument/2006/relationships/image" Target="../media/image297.wmf"/><Relationship Id="rId3" Type="http://schemas.openxmlformats.org/officeDocument/2006/relationships/oleObject" Target="../embeddings/oleObject232.bin"/><Relationship Id="rId7" Type="http://schemas.openxmlformats.org/officeDocument/2006/relationships/oleObject" Target="../embeddings/oleObject234.bin"/><Relationship Id="rId2" Type="http://schemas.openxmlformats.org/officeDocument/2006/relationships/slideLayout" Target="../slideLayouts/slideLayout7.xml"/><Relationship Id="rId1" Type="http://schemas.openxmlformats.org/officeDocument/2006/relationships/vmlDrawing" Target="../drawings/vmlDrawing40.vml"/><Relationship Id="rId6" Type="http://schemas.openxmlformats.org/officeDocument/2006/relationships/image" Target="../media/image296.wmf"/><Relationship Id="rId5" Type="http://schemas.openxmlformats.org/officeDocument/2006/relationships/oleObject" Target="../embeddings/oleObject233.bin"/><Relationship Id="rId4" Type="http://schemas.openxmlformats.org/officeDocument/2006/relationships/image" Target="../media/image295.wmf"/></Relationships>
</file>

<file path=ppt/slides/_rels/slide66.xml.rels><?xml version="1.0" encoding="UTF-8" standalone="yes"?>
<Relationships xmlns="http://schemas.openxmlformats.org/package/2006/relationships"><Relationship Id="rId8" Type="http://schemas.openxmlformats.org/officeDocument/2006/relationships/image" Target="../media/image300.wmf"/><Relationship Id="rId3" Type="http://schemas.openxmlformats.org/officeDocument/2006/relationships/oleObject" Target="../embeddings/oleObject235.bin"/><Relationship Id="rId7" Type="http://schemas.openxmlformats.org/officeDocument/2006/relationships/oleObject" Target="../embeddings/oleObject237.bin"/><Relationship Id="rId12" Type="http://schemas.openxmlformats.org/officeDocument/2006/relationships/image" Target="../media/image302.wmf"/><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image" Target="../media/image299.wmf"/><Relationship Id="rId11" Type="http://schemas.openxmlformats.org/officeDocument/2006/relationships/oleObject" Target="../embeddings/oleObject239.bin"/><Relationship Id="rId5" Type="http://schemas.openxmlformats.org/officeDocument/2006/relationships/oleObject" Target="../embeddings/oleObject236.bin"/><Relationship Id="rId10" Type="http://schemas.openxmlformats.org/officeDocument/2006/relationships/image" Target="../media/image301.wmf"/><Relationship Id="rId4" Type="http://schemas.openxmlformats.org/officeDocument/2006/relationships/image" Target="../media/image298.wmf"/><Relationship Id="rId9" Type="http://schemas.openxmlformats.org/officeDocument/2006/relationships/oleObject" Target="../embeddings/oleObject238.bin"/></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240.bin"/><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image" Target="../media/image304.wmf"/><Relationship Id="rId5" Type="http://schemas.openxmlformats.org/officeDocument/2006/relationships/oleObject" Target="../embeddings/oleObject241.bin"/><Relationship Id="rId4" Type="http://schemas.openxmlformats.org/officeDocument/2006/relationships/image" Target="../media/image303.w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242.bin"/><Relationship Id="rId2" Type="http://schemas.openxmlformats.org/officeDocument/2006/relationships/slideLayout" Target="../slideLayouts/slideLayout7.xml"/><Relationship Id="rId1" Type="http://schemas.openxmlformats.org/officeDocument/2006/relationships/vmlDrawing" Target="../drawings/vmlDrawing43.vml"/><Relationship Id="rId4" Type="http://schemas.openxmlformats.org/officeDocument/2006/relationships/image" Target="../media/image305.wmf"/></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245.bin"/><Relationship Id="rId3" Type="http://schemas.openxmlformats.org/officeDocument/2006/relationships/image" Target="../media/image310.png"/><Relationship Id="rId7" Type="http://schemas.openxmlformats.org/officeDocument/2006/relationships/image" Target="../media/image307.wmf"/><Relationship Id="rId2" Type="http://schemas.openxmlformats.org/officeDocument/2006/relationships/slideLayout" Target="../slideLayouts/slideLayout7.xml"/><Relationship Id="rId1" Type="http://schemas.openxmlformats.org/officeDocument/2006/relationships/vmlDrawing" Target="../drawings/vmlDrawing44.vml"/><Relationship Id="rId6" Type="http://schemas.openxmlformats.org/officeDocument/2006/relationships/oleObject" Target="../embeddings/oleObject244.bin"/><Relationship Id="rId11" Type="http://schemas.openxmlformats.org/officeDocument/2006/relationships/image" Target="../media/image309.wmf"/><Relationship Id="rId5" Type="http://schemas.openxmlformats.org/officeDocument/2006/relationships/image" Target="../media/image306.wmf"/><Relationship Id="rId10" Type="http://schemas.openxmlformats.org/officeDocument/2006/relationships/oleObject" Target="../embeddings/oleObject246.bin"/><Relationship Id="rId4" Type="http://schemas.openxmlformats.org/officeDocument/2006/relationships/oleObject" Target="../embeddings/oleObject243.bin"/><Relationship Id="rId9" Type="http://schemas.openxmlformats.org/officeDocument/2006/relationships/image" Target="../media/image308.wmf"/></Relationships>
</file>

<file path=ppt/slides/_rels/slide70.xml.rels><?xml version="1.0" encoding="UTF-8" standalone="yes"?>
<Relationships xmlns="http://schemas.openxmlformats.org/package/2006/relationships"><Relationship Id="rId3" Type="http://schemas.openxmlformats.org/officeDocument/2006/relationships/image" Target="../media/image312.png"/><Relationship Id="rId2" Type="http://schemas.openxmlformats.org/officeDocument/2006/relationships/image" Target="../media/image311.png"/><Relationship Id="rId1" Type="http://schemas.openxmlformats.org/officeDocument/2006/relationships/slideLayout" Target="../slideLayouts/slideLayout7.xml"/><Relationship Id="rId4" Type="http://schemas.openxmlformats.org/officeDocument/2006/relationships/image" Target="../media/image313.png"/></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247.bin"/><Relationship Id="rId2" Type="http://schemas.openxmlformats.org/officeDocument/2006/relationships/slideLayout" Target="../slideLayouts/slideLayout7.xml"/><Relationship Id="rId1" Type="http://schemas.openxmlformats.org/officeDocument/2006/relationships/vmlDrawing" Target="../drawings/vmlDrawing45.vml"/><Relationship Id="rId4" Type="http://schemas.openxmlformats.org/officeDocument/2006/relationships/image" Target="../media/image314.wmf"/></Relationships>
</file>

<file path=ppt/slides/_rels/slide72.xml.rels><?xml version="1.0" encoding="UTF-8" standalone="yes"?>
<Relationships xmlns="http://schemas.openxmlformats.org/package/2006/relationships"><Relationship Id="rId3" Type="http://schemas.openxmlformats.org/officeDocument/2006/relationships/image" Target="../media/image315.png"/><Relationship Id="rId7" Type="http://schemas.openxmlformats.org/officeDocument/2006/relationships/image" Target="../media/image313.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312.png"/><Relationship Id="rId5" Type="http://schemas.openxmlformats.org/officeDocument/2006/relationships/image" Target="../media/image311.png"/><Relationship Id="rId4" Type="http://schemas.openxmlformats.org/officeDocument/2006/relationships/image" Target="../media/image316.png"/></Relationships>
</file>

<file path=ppt/slides/_rels/slide73.xml.rels><?xml version="1.0" encoding="UTF-8" standalone="yes"?>
<Relationships xmlns="http://schemas.openxmlformats.org/package/2006/relationships"><Relationship Id="rId2" Type="http://schemas.openxmlformats.org/officeDocument/2006/relationships/image" Target="../media/image317.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8" Type="http://schemas.openxmlformats.org/officeDocument/2006/relationships/image" Target="../media/image320.wmf"/><Relationship Id="rId13" Type="http://schemas.openxmlformats.org/officeDocument/2006/relationships/oleObject" Target="../embeddings/oleObject253.bin"/><Relationship Id="rId18" Type="http://schemas.openxmlformats.org/officeDocument/2006/relationships/image" Target="../media/image325.wmf"/><Relationship Id="rId26" Type="http://schemas.openxmlformats.org/officeDocument/2006/relationships/oleObject" Target="../embeddings/oleObject260.bin"/><Relationship Id="rId3" Type="http://schemas.openxmlformats.org/officeDocument/2006/relationships/oleObject" Target="../embeddings/oleObject248.bin"/><Relationship Id="rId21" Type="http://schemas.openxmlformats.org/officeDocument/2006/relationships/oleObject" Target="../embeddings/oleObject257.bin"/><Relationship Id="rId7" Type="http://schemas.openxmlformats.org/officeDocument/2006/relationships/oleObject" Target="../embeddings/oleObject250.bin"/><Relationship Id="rId12" Type="http://schemas.openxmlformats.org/officeDocument/2006/relationships/image" Target="../media/image322.wmf"/><Relationship Id="rId17" Type="http://schemas.openxmlformats.org/officeDocument/2006/relationships/oleObject" Target="../embeddings/oleObject255.bin"/><Relationship Id="rId25" Type="http://schemas.openxmlformats.org/officeDocument/2006/relationships/image" Target="../media/image328.wmf"/><Relationship Id="rId2" Type="http://schemas.openxmlformats.org/officeDocument/2006/relationships/slideLayout" Target="../slideLayouts/slideLayout7.xml"/><Relationship Id="rId16" Type="http://schemas.openxmlformats.org/officeDocument/2006/relationships/image" Target="../media/image324.wmf"/><Relationship Id="rId20" Type="http://schemas.openxmlformats.org/officeDocument/2006/relationships/image" Target="../media/image326.wmf"/><Relationship Id="rId29" Type="http://schemas.openxmlformats.org/officeDocument/2006/relationships/image" Target="../media/image330.wmf"/><Relationship Id="rId1" Type="http://schemas.openxmlformats.org/officeDocument/2006/relationships/vmlDrawing" Target="../drawings/vmlDrawing46.vml"/><Relationship Id="rId6" Type="http://schemas.openxmlformats.org/officeDocument/2006/relationships/image" Target="../media/image319.wmf"/><Relationship Id="rId11" Type="http://schemas.openxmlformats.org/officeDocument/2006/relationships/oleObject" Target="../embeddings/oleObject252.bin"/><Relationship Id="rId24" Type="http://schemas.openxmlformats.org/officeDocument/2006/relationships/oleObject" Target="../embeddings/oleObject259.bin"/><Relationship Id="rId5" Type="http://schemas.openxmlformats.org/officeDocument/2006/relationships/oleObject" Target="../embeddings/oleObject249.bin"/><Relationship Id="rId15" Type="http://schemas.openxmlformats.org/officeDocument/2006/relationships/oleObject" Target="../embeddings/oleObject254.bin"/><Relationship Id="rId23" Type="http://schemas.openxmlformats.org/officeDocument/2006/relationships/oleObject" Target="../embeddings/oleObject258.bin"/><Relationship Id="rId28" Type="http://schemas.openxmlformats.org/officeDocument/2006/relationships/oleObject" Target="../embeddings/oleObject261.bin"/><Relationship Id="rId10" Type="http://schemas.openxmlformats.org/officeDocument/2006/relationships/image" Target="../media/image321.wmf"/><Relationship Id="rId19" Type="http://schemas.openxmlformats.org/officeDocument/2006/relationships/oleObject" Target="../embeddings/oleObject256.bin"/><Relationship Id="rId4" Type="http://schemas.openxmlformats.org/officeDocument/2006/relationships/image" Target="../media/image318.wmf"/><Relationship Id="rId9" Type="http://schemas.openxmlformats.org/officeDocument/2006/relationships/oleObject" Target="../embeddings/oleObject251.bin"/><Relationship Id="rId14" Type="http://schemas.openxmlformats.org/officeDocument/2006/relationships/image" Target="../media/image323.wmf"/><Relationship Id="rId22" Type="http://schemas.openxmlformats.org/officeDocument/2006/relationships/image" Target="../media/image327.wmf"/><Relationship Id="rId27" Type="http://schemas.openxmlformats.org/officeDocument/2006/relationships/image" Target="../media/image329.wmf"/></Relationships>
</file>

<file path=ppt/slides/_rels/slide75.xml.rels><?xml version="1.0" encoding="UTF-8" standalone="yes"?>
<Relationships xmlns="http://schemas.openxmlformats.org/package/2006/relationships"><Relationship Id="rId8" Type="http://schemas.openxmlformats.org/officeDocument/2006/relationships/image" Target="../media/image121.wmf"/><Relationship Id="rId13" Type="http://schemas.openxmlformats.org/officeDocument/2006/relationships/oleObject" Target="../embeddings/oleObject267.bin"/><Relationship Id="rId3" Type="http://schemas.openxmlformats.org/officeDocument/2006/relationships/oleObject" Target="../embeddings/oleObject262.bin"/><Relationship Id="rId7" Type="http://schemas.openxmlformats.org/officeDocument/2006/relationships/oleObject" Target="../embeddings/oleObject264.bin"/><Relationship Id="rId12" Type="http://schemas.openxmlformats.org/officeDocument/2006/relationships/image" Target="../media/image334.wmf"/><Relationship Id="rId2" Type="http://schemas.openxmlformats.org/officeDocument/2006/relationships/slideLayout" Target="../slideLayouts/slideLayout7.xml"/><Relationship Id="rId16" Type="http://schemas.openxmlformats.org/officeDocument/2006/relationships/image" Target="../media/image336.wmf"/><Relationship Id="rId1" Type="http://schemas.openxmlformats.org/officeDocument/2006/relationships/vmlDrawing" Target="../drawings/vmlDrawing47.vml"/><Relationship Id="rId6" Type="http://schemas.openxmlformats.org/officeDocument/2006/relationships/image" Target="../media/image332.wmf"/><Relationship Id="rId11" Type="http://schemas.openxmlformats.org/officeDocument/2006/relationships/oleObject" Target="../embeddings/oleObject266.bin"/><Relationship Id="rId5" Type="http://schemas.openxmlformats.org/officeDocument/2006/relationships/oleObject" Target="../embeddings/oleObject263.bin"/><Relationship Id="rId15" Type="http://schemas.openxmlformats.org/officeDocument/2006/relationships/oleObject" Target="../embeddings/oleObject268.bin"/><Relationship Id="rId10" Type="http://schemas.openxmlformats.org/officeDocument/2006/relationships/image" Target="../media/image333.wmf"/><Relationship Id="rId4" Type="http://schemas.openxmlformats.org/officeDocument/2006/relationships/image" Target="../media/image331.wmf"/><Relationship Id="rId9" Type="http://schemas.openxmlformats.org/officeDocument/2006/relationships/oleObject" Target="../embeddings/oleObject265.bin"/><Relationship Id="rId14" Type="http://schemas.openxmlformats.org/officeDocument/2006/relationships/image" Target="../media/image335.wmf"/></Relationships>
</file>

<file path=ppt/slides/_rels/slide76.xml.rels><?xml version="1.0" encoding="UTF-8" standalone="yes"?>
<Relationships xmlns="http://schemas.openxmlformats.org/package/2006/relationships"><Relationship Id="rId8" Type="http://schemas.openxmlformats.org/officeDocument/2006/relationships/image" Target="../media/image325.wmf"/><Relationship Id="rId13" Type="http://schemas.openxmlformats.org/officeDocument/2006/relationships/oleObject" Target="../embeddings/oleObject274.bin"/><Relationship Id="rId18" Type="http://schemas.openxmlformats.org/officeDocument/2006/relationships/image" Target="../media/image328.wmf"/><Relationship Id="rId26" Type="http://schemas.openxmlformats.org/officeDocument/2006/relationships/image" Target="../media/image321.wmf"/><Relationship Id="rId3" Type="http://schemas.openxmlformats.org/officeDocument/2006/relationships/oleObject" Target="../embeddings/oleObject269.bin"/><Relationship Id="rId21" Type="http://schemas.openxmlformats.org/officeDocument/2006/relationships/oleObject" Target="../embeddings/oleObject278.bin"/><Relationship Id="rId7" Type="http://schemas.openxmlformats.org/officeDocument/2006/relationships/oleObject" Target="../embeddings/oleObject271.bin"/><Relationship Id="rId12" Type="http://schemas.openxmlformats.org/officeDocument/2006/relationships/image" Target="../media/image337.wmf"/><Relationship Id="rId17" Type="http://schemas.openxmlformats.org/officeDocument/2006/relationships/oleObject" Target="../embeddings/oleObject276.bin"/><Relationship Id="rId25" Type="http://schemas.openxmlformats.org/officeDocument/2006/relationships/oleObject" Target="../embeddings/oleObject280.bin"/><Relationship Id="rId2" Type="http://schemas.openxmlformats.org/officeDocument/2006/relationships/slideLayout" Target="../slideLayouts/slideLayout7.xml"/><Relationship Id="rId16" Type="http://schemas.openxmlformats.org/officeDocument/2006/relationships/image" Target="../media/image339.wmf"/><Relationship Id="rId20" Type="http://schemas.openxmlformats.org/officeDocument/2006/relationships/image" Target="../media/image329.wmf"/><Relationship Id="rId29" Type="http://schemas.openxmlformats.org/officeDocument/2006/relationships/oleObject" Target="../embeddings/oleObject282.bin"/><Relationship Id="rId1" Type="http://schemas.openxmlformats.org/officeDocument/2006/relationships/vmlDrawing" Target="../drawings/vmlDrawing48.vml"/><Relationship Id="rId6" Type="http://schemas.openxmlformats.org/officeDocument/2006/relationships/image" Target="../media/image324.wmf"/><Relationship Id="rId11" Type="http://schemas.openxmlformats.org/officeDocument/2006/relationships/oleObject" Target="../embeddings/oleObject273.bin"/><Relationship Id="rId24" Type="http://schemas.openxmlformats.org/officeDocument/2006/relationships/image" Target="../media/image320.wmf"/><Relationship Id="rId5" Type="http://schemas.openxmlformats.org/officeDocument/2006/relationships/oleObject" Target="../embeddings/oleObject270.bin"/><Relationship Id="rId15" Type="http://schemas.openxmlformats.org/officeDocument/2006/relationships/oleObject" Target="../embeddings/oleObject275.bin"/><Relationship Id="rId23" Type="http://schemas.openxmlformats.org/officeDocument/2006/relationships/oleObject" Target="../embeddings/oleObject279.bin"/><Relationship Id="rId28" Type="http://schemas.openxmlformats.org/officeDocument/2006/relationships/image" Target="../media/image340.wmf"/><Relationship Id="rId10" Type="http://schemas.openxmlformats.org/officeDocument/2006/relationships/image" Target="../media/image327.wmf"/><Relationship Id="rId19" Type="http://schemas.openxmlformats.org/officeDocument/2006/relationships/oleObject" Target="../embeddings/oleObject277.bin"/><Relationship Id="rId4" Type="http://schemas.openxmlformats.org/officeDocument/2006/relationships/image" Target="../media/image326.wmf"/><Relationship Id="rId9" Type="http://schemas.openxmlformats.org/officeDocument/2006/relationships/oleObject" Target="../embeddings/oleObject272.bin"/><Relationship Id="rId14" Type="http://schemas.openxmlformats.org/officeDocument/2006/relationships/image" Target="../media/image338.wmf"/><Relationship Id="rId22" Type="http://schemas.openxmlformats.org/officeDocument/2006/relationships/image" Target="../media/image330.wmf"/><Relationship Id="rId27" Type="http://schemas.openxmlformats.org/officeDocument/2006/relationships/oleObject" Target="../embeddings/oleObject281.bin"/><Relationship Id="rId30" Type="http://schemas.openxmlformats.org/officeDocument/2006/relationships/image" Target="../media/image341.wmf"/></Relationships>
</file>

<file path=ppt/slides/_rels/slide77.xml.rels><?xml version="1.0" encoding="UTF-8" standalone="yes"?>
<Relationships xmlns="http://schemas.openxmlformats.org/package/2006/relationships"><Relationship Id="rId2" Type="http://schemas.openxmlformats.org/officeDocument/2006/relationships/image" Target="../media/image342.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317.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8" Type="http://schemas.openxmlformats.org/officeDocument/2006/relationships/image" Target="../media/image345.wmf"/><Relationship Id="rId13" Type="http://schemas.openxmlformats.org/officeDocument/2006/relationships/oleObject" Target="../embeddings/oleObject288.bin"/><Relationship Id="rId3" Type="http://schemas.openxmlformats.org/officeDocument/2006/relationships/oleObject" Target="../embeddings/oleObject283.bin"/><Relationship Id="rId7" Type="http://schemas.openxmlformats.org/officeDocument/2006/relationships/oleObject" Target="../embeddings/oleObject285.bin"/><Relationship Id="rId12" Type="http://schemas.openxmlformats.org/officeDocument/2006/relationships/image" Target="../media/image347.wmf"/><Relationship Id="rId2" Type="http://schemas.openxmlformats.org/officeDocument/2006/relationships/slideLayout" Target="../slideLayouts/slideLayout7.xml"/><Relationship Id="rId1" Type="http://schemas.openxmlformats.org/officeDocument/2006/relationships/vmlDrawing" Target="../drawings/vmlDrawing49.vml"/><Relationship Id="rId6" Type="http://schemas.openxmlformats.org/officeDocument/2006/relationships/image" Target="../media/image344.wmf"/><Relationship Id="rId11" Type="http://schemas.openxmlformats.org/officeDocument/2006/relationships/oleObject" Target="../embeddings/oleObject287.bin"/><Relationship Id="rId5" Type="http://schemas.openxmlformats.org/officeDocument/2006/relationships/oleObject" Target="../embeddings/oleObject284.bin"/><Relationship Id="rId15" Type="http://schemas.openxmlformats.org/officeDocument/2006/relationships/image" Target="../media/image349.png"/><Relationship Id="rId10" Type="http://schemas.openxmlformats.org/officeDocument/2006/relationships/image" Target="../media/image346.wmf"/><Relationship Id="rId4" Type="http://schemas.openxmlformats.org/officeDocument/2006/relationships/image" Target="../media/image343.wmf"/><Relationship Id="rId9" Type="http://schemas.openxmlformats.org/officeDocument/2006/relationships/oleObject" Target="../embeddings/oleObject286.bin"/><Relationship Id="rId14" Type="http://schemas.openxmlformats.org/officeDocument/2006/relationships/image" Target="../media/image348.wmf"/></Relationships>
</file>

<file path=ppt/slides/_rels/slide80.xml.rels><?xml version="1.0" encoding="UTF-8" standalone="yes"?>
<Relationships xmlns="http://schemas.openxmlformats.org/package/2006/relationships"><Relationship Id="rId8" Type="http://schemas.openxmlformats.org/officeDocument/2006/relationships/image" Target="../media/image345.wmf"/><Relationship Id="rId13" Type="http://schemas.openxmlformats.org/officeDocument/2006/relationships/oleObject" Target="../embeddings/oleObject288.bin"/><Relationship Id="rId18" Type="http://schemas.openxmlformats.org/officeDocument/2006/relationships/image" Target="../media/image351.wmf"/><Relationship Id="rId3" Type="http://schemas.openxmlformats.org/officeDocument/2006/relationships/oleObject" Target="../embeddings/oleObject283.bin"/><Relationship Id="rId21" Type="http://schemas.openxmlformats.org/officeDocument/2006/relationships/oleObject" Target="../embeddings/oleObject292.bin"/><Relationship Id="rId7" Type="http://schemas.openxmlformats.org/officeDocument/2006/relationships/oleObject" Target="../embeddings/oleObject285.bin"/><Relationship Id="rId12" Type="http://schemas.openxmlformats.org/officeDocument/2006/relationships/image" Target="../media/image347.wmf"/><Relationship Id="rId17" Type="http://schemas.openxmlformats.org/officeDocument/2006/relationships/oleObject" Target="../embeddings/oleObject290.bin"/><Relationship Id="rId2" Type="http://schemas.openxmlformats.org/officeDocument/2006/relationships/slideLayout" Target="../slideLayouts/slideLayout7.xml"/><Relationship Id="rId16" Type="http://schemas.openxmlformats.org/officeDocument/2006/relationships/image" Target="../media/image350.wmf"/><Relationship Id="rId20" Type="http://schemas.openxmlformats.org/officeDocument/2006/relationships/image" Target="../media/image352.wmf"/><Relationship Id="rId1" Type="http://schemas.openxmlformats.org/officeDocument/2006/relationships/vmlDrawing" Target="../drawings/vmlDrawing50.vml"/><Relationship Id="rId6" Type="http://schemas.openxmlformats.org/officeDocument/2006/relationships/image" Target="../media/image344.wmf"/><Relationship Id="rId11" Type="http://schemas.openxmlformats.org/officeDocument/2006/relationships/oleObject" Target="../embeddings/oleObject287.bin"/><Relationship Id="rId24" Type="http://schemas.openxmlformats.org/officeDocument/2006/relationships/image" Target="../media/image354.wmf"/><Relationship Id="rId5" Type="http://schemas.openxmlformats.org/officeDocument/2006/relationships/oleObject" Target="../embeddings/oleObject284.bin"/><Relationship Id="rId15" Type="http://schemas.openxmlformats.org/officeDocument/2006/relationships/oleObject" Target="../embeddings/oleObject289.bin"/><Relationship Id="rId23" Type="http://schemas.openxmlformats.org/officeDocument/2006/relationships/oleObject" Target="../embeddings/oleObject293.bin"/><Relationship Id="rId10" Type="http://schemas.openxmlformats.org/officeDocument/2006/relationships/image" Target="../media/image346.wmf"/><Relationship Id="rId19" Type="http://schemas.openxmlformats.org/officeDocument/2006/relationships/oleObject" Target="../embeddings/oleObject291.bin"/><Relationship Id="rId4" Type="http://schemas.openxmlformats.org/officeDocument/2006/relationships/image" Target="../media/image343.wmf"/><Relationship Id="rId9" Type="http://schemas.openxmlformats.org/officeDocument/2006/relationships/oleObject" Target="../embeddings/oleObject286.bin"/><Relationship Id="rId14" Type="http://schemas.openxmlformats.org/officeDocument/2006/relationships/image" Target="../media/image348.wmf"/><Relationship Id="rId22" Type="http://schemas.openxmlformats.org/officeDocument/2006/relationships/image" Target="../media/image353.wmf"/></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294.bin"/><Relationship Id="rId2" Type="http://schemas.openxmlformats.org/officeDocument/2006/relationships/slideLayout" Target="../slideLayouts/slideLayout2.xml"/><Relationship Id="rId1" Type="http://schemas.openxmlformats.org/officeDocument/2006/relationships/vmlDrawing" Target="../drawings/vmlDrawing51.vml"/><Relationship Id="rId4" Type="http://schemas.openxmlformats.org/officeDocument/2006/relationships/image" Target="../media/image355.png"/></Relationships>
</file>

<file path=ppt/slides/_rels/slide82.xml.rels><?xml version="1.0" encoding="UTF-8" standalone="yes"?>
<Relationships xmlns="http://schemas.openxmlformats.org/package/2006/relationships"><Relationship Id="rId3" Type="http://schemas.openxmlformats.org/officeDocument/2006/relationships/image" Target="../media/image357.png"/><Relationship Id="rId2" Type="http://schemas.openxmlformats.org/officeDocument/2006/relationships/image" Target="../media/image356.jp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359.png"/><Relationship Id="rId2" Type="http://schemas.openxmlformats.org/officeDocument/2006/relationships/image" Target="../media/image358.png"/><Relationship Id="rId1" Type="http://schemas.openxmlformats.org/officeDocument/2006/relationships/slideLayout" Target="../slideLayouts/slideLayout7.xml"/><Relationship Id="rId6" Type="http://schemas.openxmlformats.org/officeDocument/2006/relationships/image" Target="../media/image362.png"/><Relationship Id="rId5" Type="http://schemas.openxmlformats.org/officeDocument/2006/relationships/image" Target="../media/image361.png"/><Relationship Id="rId4" Type="http://schemas.openxmlformats.org/officeDocument/2006/relationships/image" Target="../media/image360.png"/></Relationships>
</file>

<file path=ppt/slides/_rels/slide84.xml.rels><?xml version="1.0" encoding="UTF-8" standalone="yes"?>
<Relationships xmlns="http://schemas.openxmlformats.org/package/2006/relationships"><Relationship Id="rId8" Type="http://schemas.openxmlformats.org/officeDocument/2006/relationships/image" Target="../media/image357.png"/><Relationship Id="rId3" Type="http://schemas.openxmlformats.org/officeDocument/2006/relationships/image" Target="../media/image364.png"/><Relationship Id="rId7" Type="http://schemas.openxmlformats.org/officeDocument/2006/relationships/image" Target="../media/image368.png"/><Relationship Id="rId2" Type="http://schemas.openxmlformats.org/officeDocument/2006/relationships/image" Target="../media/image363.png"/><Relationship Id="rId1" Type="http://schemas.openxmlformats.org/officeDocument/2006/relationships/slideLayout" Target="../slideLayouts/slideLayout7.xml"/><Relationship Id="rId6" Type="http://schemas.openxmlformats.org/officeDocument/2006/relationships/image" Target="../media/image367.png"/><Relationship Id="rId5" Type="http://schemas.openxmlformats.org/officeDocument/2006/relationships/image" Target="../media/image366.png"/><Relationship Id="rId4" Type="http://schemas.openxmlformats.org/officeDocument/2006/relationships/image" Target="../media/image365.png"/></Relationships>
</file>

<file path=ppt/slides/_rels/slide85.xml.rels><?xml version="1.0" encoding="UTF-8" standalone="yes"?>
<Relationships xmlns="http://schemas.openxmlformats.org/package/2006/relationships"><Relationship Id="rId3" Type="http://schemas.openxmlformats.org/officeDocument/2006/relationships/image" Target="../media/image3600.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369.png"/></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295.bin"/><Relationship Id="rId2" Type="http://schemas.openxmlformats.org/officeDocument/2006/relationships/slideLayout" Target="../slideLayouts/slideLayout7.xml"/><Relationship Id="rId1" Type="http://schemas.openxmlformats.org/officeDocument/2006/relationships/vmlDrawing" Target="../drawings/vmlDrawing52.vml"/><Relationship Id="rId6" Type="http://schemas.openxmlformats.org/officeDocument/2006/relationships/image" Target="../media/image371.emf"/><Relationship Id="rId5" Type="http://schemas.openxmlformats.org/officeDocument/2006/relationships/oleObject" Target="../embeddings/oleObject296.bin"/><Relationship Id="rId4" Type="http://schemas.openxmlformats.org/officeDocument/2006/relationships/image" Target="../media/image370.emf"/></Relationships>
</file>

<file path=ppt/slides/_rels/slide87.xml.rels><?xml version="1.0" encoding="UTF-8" standalone="yes"?>
<Relationships xmlns="http://schemas.openxmlformats.org/package/2006/relationships"><Relationship Id="rId2" Type="http://schemas.openxmlformats.org/officeDocument/2006/relationships/image" Target="../media/image372.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8" Type="http://schemas.openxmlformats.org/officeDocument/2006/relationships/image" Target="../media/image375.wmf"/><Relationship Id="rId13" Type="http://schemas.openxmlformats.org/officeDocument/2006/relationships/oleObject" Target="../embeddings/oleObject302.bin"/><Relationship Id="rId18" Type="http://schemas.openxmlformats.org/officeDocument/2006/relationships/image" Target="../media/image380.wmf"/><Relationship Id="rId3" Type="http://schemas.openxmlformats.org/officeDocument/2006/relationships/oleObject" Target="../embeddings/oleObject297.bin"/><Relationship Id="rId21" Type="http://schemas.openxmlformats.org/officeDocument/2006/relationships/oleObject" Target="../embeddings/oleObject306.bin"/><Relationship Id="rId7" Type="http://schemas.openxmlformats.org/officeDocument/2006/relationships/oleObject" Target="../embeddings/oleObject299.bin"/><Relationship Id="rId12" Type="http://schemas.openxmlformats.org/officeDocument/2006/relationships/image" Target="../media/image377.wmf"/><Relationship Id="rId17" Type="http://schemas.openxmlformats.org/officeDocument/2006/relationships/oleObject" Target="../embeddings/oleObject304.bin"/><Relationship Id="rId2" Type="http://schemas.openxmlformats.org/officeDocument/2006/relationships/slideLayout" Target="../slideLayouts/slideLayout7.xml"/><Relationship Id="rId16" Type="http://schemas.openxmlformats.org/officeDocument/2006/relationships/image" Target="../media/image379.wmf"/><Relationship Id="rId20" Type="http://schemas.openxmlformats.org/officeDocument/2006/relationships/image" Target="../media/image381.wmf"/><Relationship Id="rId1" Type="http://schemas.openxmlformats.org/officeDocument/2006/relationships/vmlDrawing" Target="../drawings/vmlDrawing53.vml"/><Relationship Id="rId6" Type="http://schemas.openxmlformats.org/officeDocument/2006/relationships/image" Target="../media/image374.wmf"/><Relationship Id="rId11" Type="http://schemas.openxmlformats.org/officeDocument/2006/relationships/oleObject" Target="../embeddings/oleObject301.bin"/><Relationship Id="rId24" Type="http://schemas.openxmlformats.org/officeDocument/2006/relationships/image" Target="../media/image383.wmf"/><Relationship Id="rId5" Type="http://schemas.openxmlformats.org/officeDocument/2006/relationships/oleObject" Target="../embeddings/oleObject298.bin"/><Relationship Id="rId15" Type="http://schemas.openxmlformats.org/officeDocument/2006/relationships/oleObject" Target="../embeddings/oleObject303.bin"/><Relationship Id="rId23" Type="http://schemas.openxmlformats.org/officeDocument/2006/relationships/oleObject" Target="../embeddings/oleObject307.bin"/><Relationship Id="rId10" Type="http://schemas.openxmlformats.org/officeDocument/2006/relationships/image" Target="../media/image376.wmf"/><Relationship Id="rId19" Type="http://schemas.openxmlformats.org/officeDocument/2006/relationships/oleObject" Target="../embeddings/oleObject305.bin"/><Relationship Id="rId4" Type="http://schemas.openxmlformats.org/officeDocument/2006/relationships/image" Target="../media/image373.wmf"/><Relationship Id="rId9" Type="http://schemas.openxmlformats.org/officeDocument/2006/relationships/oleObject" Target="../embeddings/oleObject300.bin"/><Relationship Id="rId14" Type="http://schemas.openxmlformats.org/officeDocument/2006/relationships/image" Target="../media/image378.wmf"/><Relationship Id="rId22" Type="http://schemas.openxmlformats.org/officeDocument/2006/relationships/image" Target="../media/image382.wmf"/></Relationships>
</file>

<file path=ppt/slides/_rels/slide89.xml.rels><?xml version="1.0" encoding="UTF-8" standalone="yes"?>
<Relationships xmlns="http://schemas.openxmlformats.org/package/2006/relationships"><Relationship Id="rId8" Type="http://schemas.openxmlformats.org/officeDocument/2006/relationships/image" Target="../media/image386.wmf"/><Relationship Id="rId13" Type="http://schemas.openxmlformats.org/officeDocument/2006/relationships/image" Target="../media/image389.png"/><Relationship Id="rId3" Type="http://schemas.openxmlformats.org/officeDocument/2006/relationships/oleObject" Target="../embeddings/oleObject308.bin"/><Relationship Id="rId7" Type="http://schemas.openxmlformats.org/officeDocument/2006/relationships/oleObject" Target="../embeddings/oleObject310.bin"/><Relationship Id="rId12" Type="http://schemas.openxmlformats.org/officeDocument/2006/relationships/image" Target="../media/image388.wmf"/><Relationship Id="rId2" Type="http://schemas.openxmlformats.org/officeDocument/2006/relationships/slideLayout" Target="../slideLayouts/slideLayout7.xml"/><Relationship Id="rId1" Type="http://schemas.openxmlformats.org/officeDocument/2006/relationships/vmlDrawing" Target="../drawings/vmlDrawing54.vml"/><Relationship Id="rId6" Type="http://schemas.openxmlformats.org/officeDocument/2006/relationships/image" Target="../media/image385.wmf"/><Relationship Id="rId11" Type="http://schemas.openxmlformats.org/officeDocument/2006/relationships/oleObject" Target="../embeddings/oleObject312.bin"/><Relationship Id="rId5" Type="http://schemas.openxmlformats.org/officeDocument/2006/relationships/oleObject" Target="../embeddings/oleObject309.bin"/><Relationship Id="rId10" Type="http://schemas.openxmlformats.org/officeDocument/2006/relationships/image" Target="../media/image387.wmf"/><Relationship Id="rId4" Type="http://schemas.openxmlformats.org/officeDocument/2006/relationships/image" Target="../media/image384.wmf"/><Relationship Id="rId9" Type="http://schemas.openxmlformats.org/officeDocument/2006/relationships/oleObject" Target="../embeddings/oleObject311.bin"/></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8" Type="http://schemas.openxmlformats.org/officeDocument/2006/relationships/image" Target="../media/image392.wmf"/><Relationship Id="rId3" Type="http://schemas.openxmlformats.org/officeDocument/2006/relationships/oleObject" Target="../embeddings/oleObject313.bin"/><Relationship Id="rId7" Type="http://schemas.openxmlformats.org/officeDocument/2006/relationships/oleObject" Target="../embeddings/oleObject315.bin"/><Relationship Id="rId2" Type="http://schemas.openxmlformats.org/officeDocument/2006/relationships/slideLayout" Target="../slideLayouts/slideLayout7.xml"/><Relationship Id="rId1" Type="http://schemas.openxmlformats.org/officeDocument/2006/relationships/vmlDrawing" Target="../drawings/vmlDrawing55.vml"/><Relationship Id="rId6" Type="http://schemas.openxmlformats.org/officeDocument/2006/relationships/image" Target="../media/image391.wmf"/><Relationship Id="rId5" Type="http://schemas.openxmlformats.org/officeDocument/2006/relationships/oleObject" Target="../embeddings/oleObject314.bin"/><Relationship Id="rId4" Type="http://schemas.openxmlformats.org/officeDocument/2006/relationships/image" Target="../media/image390.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7" name="Text Box 17"/>
          <p:cNvSpPr txBox="1">
            <a:spLocks noChangeArrowheads="1"/>
          </p:cNvSpPr>
          <p:nvPr/>
        </p:nvSpPr>
        <p:spPr bwMode="auto">
          <a:xfrm>
            <a:off x="228600" y="1223963"/>
            <a:ext cx="34798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3000">
                <a:solidFill>
                  <a:srgbClr val="FF3300"/>
                </a:solidFill>
                <a:ea typeface="楷体_GB2312"/>
              </a:rPr>
              <a:t>1</a:t>
            </a:r>
            <a:r>
              <a:rPr lang="zh-CN" altLang="en-US" sz="3000">
                <a:solidFill>
                  <a:srgbClr val="FF3300"/>
                </a:solidFill>
                <a:ea typeface="楷体_GB2312"/>
              </a:rPr>
              <a:t>、什么是电磁学</a:t>
            </a:r>
            <a:endParaRPr lang="zh-CN" altLang="en-US" sz="3000" b="0">
              <a:ea typeface="楷体_GB2312"/>
            </a:endParaRPr>
          </a:p>
        </p:txBody>
      </p:sp>
      <p:sp>
        <p:nvSpPr>
          <p:cNvPr id="5138" name="Text Box 18"/>
          <p:cNvSpPr txBox="1">
            <a:spLocks noChangeArrowheads="1"/>
          </p:cNvSpPr>
          <p:nvPr/>
        </p:nvSpPr>
        <p:spPr bwMode="auto">
          <a:xfrm>
            <a:off x="395288" y="1673225"/>
            <a:ext cx="8748712" cy="1189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latin typeface="楷体_GB2312"/>
                <a:ea typeface="楷体_GB2312"/>
              </a:rPr>
              <a:t>电磁运动是物质的一种基本运动形式。是研究电荷和电流产生电场和磁场的规律。</a:t>
            </a:r>
            <a:r>
              <a:rPr lang="en-US" altLang="zh-CN" sz="2800">
                <a:latin typeface="楷体_GB2312"/>
                <a:ea typeface="楷体_GB2312"/>
              </a:rPr>
              <a:t>(</a:t>
            </a:r>
            <a:r>
              <a:rPr lang="zh-CN" altLang="en-US" sz="2000">
                <a:latin typeface="楷体_GB2312"/>
                <a:ea typeface="楷体_GB2312"/>
              </a:rPr>
              <a:t>物质运动形式归纳为七类</a:t>
            </a:r>
            <a:r>
              <a:rPr lang="en-US" altLang="zh-CN" sz="2000">
                <a:latin typeface="楷体_GB2312"/>
                <a:ea typeface="楷体_GB2312"/>
              </a:rPr>
              <a:t>:</a:t>
            </a:r>
            <a:r>
              <a:rPr lang="zh-CN" altLang="en-US" sz="2000">
                <a:latin typeface="楷体_GB2312"/>
                <a:ea typeface="楷体_GB2312"/>
              </a:rPr>
              <a:t>机械运动、热运动、</a:t>
            </a:r>
            <a:r>
              <a:rPr lang="zh-CN" altLang="en-US" sz="2000">
                <a:solidFill>
                  <a:srgbClr val="FF3300"/>
                </a:solidFill>
                <a:latin typeface="楷体_GB2312"/>
                <a:ea typeface="楷体_GB2312"/>
              </a:rPr>
              <a:t>电磁运动</a:t>
            </a:r>
            <a:r>
              <a:rPr lang="zh-CN" altLang="en-US" sz="2000">
                <a:latin typeface="楷体_GB2312"/>
                <a:ea typeface="楷体_GB2312"/>
              </a:rPr>
              <a:t>、化学运动、原子运动、生命运动和思维运动 </a:t>
            </a:r>
            <a:r>
              <a:rPr lang="en-US" altLang="zh-CN" sz="2000">
                <a:latin typeface="楷体_GB2312"/>
                <a:ea typeface="楷体_GB2312"/>
              </a:rPr>
              <a:t>)</a:t>
            </a:r>
          </a:p>
        </p:txBody>
      </p:sp>
      <p:sp>
        <p:nvSpPr>
          <p:cNvPr id="5139" name="Text Box 19"/>
          <p:cNvSpPr txBox="1">
            <a:spLocks noChangeArrowheads="1"/>
          </p:cNvSpPr>
          <p:nvPr/>
        </p:nvSpPr>
        <p:spPr bwMode="auto">
          <a:xfrm>
            <a:off x="323850" y="2859088"/>
            <a:ext cx="6261100" cy="200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3000">
                <a:solidFill>
                  <a:srgbClr val="FF3300"/>
                </a:solidFill>
                <a:latin typeface="楷体_GB2312"/>
                <a:ea typeface="楷体_GB2312"/>
              </a:rPr>
              <a:t>2</a:t>
            </a:r>
            <a:r>
              <a:rPr lang="zh-CN" altLang="en-US" sz="3000">
                <a:solidFill>
                  <a:srgbClr val="FF3300"/>
                </a:solidFill>
                <a:latin typeface="楷体_GB2312"/>
                <a:ea typeface="楷体_GB2312"/>
              </a:rPr>
              <a:t>、电磁学的主要内容</a:t>
            </a:r>
          </a:p>
          <a:p>
            <a:pPr lvl="2" eaLnBrk="1" hangingPunct="1">
              <a:spcBef>
                <a:spcPct val="0"/>
              </a:spcBef>
            </a:pPr>
            <a:r>
              <a:rPr lang="zh-CN" altLang="en-US">
                <a:latin typeface="楷体_GB2312"/>
                <a:ea typeface="楷体_GB2312"/>
              </a:rPr>
              <a:t>电荷、电流产生电场和磁场的规律； </a:t>
            </a:r>
          </a:p>
          <a:p>
            <a:pPr lvl="2" eaLnBrk="1" hangingPunct="1">
              <a:spcBef>
                <a:spcPct val="0"/>
              </a:spcBef>
            </a:pPr>
            <a:r>
              <a:rPr lang="zh-CN" altLang="en-US">
                <a:latin typeface="楷体_GB2312"/>
                <a:ea typeface="楷体_GB2312"/>
              </a:rPr>
              <a:t>电场和磁场的相互作用； </a:t>
            </a:r>
          </a:p>
          <a:p>
            <a:pPr lvl="2" eaLnBrk="1" hangingPunct="1">
              <a:spcBef>
                <a:spcPct val="0"/>
              </a:spcBef>
            </a:pPr>
            <a:r>
              <a:rPr lang="zh-CN" altLang="en-US">
                <a:latin typeface="楷体_GB2312"/>
                <a:ea typeface="楷体_GB2312"/>
              </a:rPr>
              <a:t>电磁场对电流、电荷的作用； </a:t>
            </a:r>
          </a:p>
          <a:p>
            <a:pPr lvl="2" eaLnBrk="1" hangingPunct="1">
              <a:spcBef>
                <a:spcPct val="0"/>
              </a:spcBef>
            </a:pPr>
            <a:r>
              <a:rPr lang="zh-CN" altLang="en-US">
                <a:latin typeface="楷体_GB2312"/>
                <a:ea typeface="楷体_GB2312"/>
              </a:rPr>
              <a:t>电磁场中物质的各种性质。 </a:t>
            </a:r>
          </a:p>
        </p:txBody>
      </p:sp>
      <p:sp>
        <p:nvSpPr>
          <p:cNvPr id="5140" name="Text Box 20"/>
          <p:cNvSpPr txBox="1">
            <a:spLocks noChangeArrowheads="1"/>
          </p:cNvSpPr>
          <p:nvPr/>
        </p:nvSpPr>
        <p:spPr bwMode="auto">
          <a:xfrm>
            <a:off x="476250" y="4800600"/>
            <a:ext cx="8077200" cy="200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3000">
                <a:solidFill>
                  <a:srgbClr val="FF3300"/>
                </a:solidFill>
                <a:latin typeface="楷体_GB2312"/>
                <a:ea typeface="楷体_GB2312"/>
              </a:rPr>
              <a:t>3</a:t>
            </a:r>
            <a:r>
              <a:rPr lang="zh-CN" altLang="en-US" sz="3000">
                <a:solidFill>
                  <a:srgbClr val="FF3300"/>
                </a:solidFill>
                <a:latin typeface="楷体_GB2312"/>
                <a:ea typeface="楷体_GB2312"/>
              </a:rPr>
              <a:t>、学习电磁学的意义</a:t>
            </a:r>
            <a:endParaRPr lang="zh-CN" altLang="en-US" sz="3000">
              <a:latin typeface="楷体_GB2312"/>
              <a:ea typeface="楷体_GB2312"/>
            </a:endParaRPr>
          </a:p>
          <a:p>
            <a:pPr lvl="1" eaLnBrk="1" hangingPunct="1">
              <a:spcBef>
                <a:spcPct val="0"/>
              </a:spcBef>
              <a:buFontTx/>
              <a:buChar char="•"/>
            </a:pPr>
            <a:r>
              <a:rPr lang="zh-CN" altLang="en-US" sz="2400">
                <a:latin typeface="楷体_GB2312"/>
                <a:ea typeface="楷体_GB2312"/>
              </a:rPr>
              <a:t>在现代物理学中的地位是非常重要的。</a:t>
            </a:r>
          </a:p>
          <a:p>
            <a:pPr lvl="1" eaLnBrk="1" hangingPunct="1">
              <a:spcBef>
                <a:spcPct val="0"/>
              </a:spcBef>
              <a:buFontTx/>
              <a:buChar char="•"/>
            </a:pPr>
            <a:r>
              <a:rPr lang="zh-CN" altLang="en-US" sz="2400">
                <a:latin typeface="楷体_GB2312"/>
                <a:ea typeface="楷体_GB2312"/>
              </a:rPr>
              <a:t>深入认识物质结构。</a:t>
            </a:r>
          </a:p>
          <a:p>
            <a:pPr lvl="1" eaLnBrk="1" hangingPunct="1">
              <a:spcBef>
                <a:spcPct val="0"/>
              </a:spcBef>
              <a:buFontTx/>
              <a:buChar char="•"/>
            </a:pPr>
            <a:r>
              <a:rPr lang="zh-CN" altLang="en-US" sz="2400">
                <a:latin typeface="楷体_GB2312"/>
                <a:ea typeface="楷体_GB2312"/>
              </a:rPr>
              <a:t>是学习电工学、无线电电子学、现代通讯技术、自动控制、计算机技术等学科的基础。</a:t>
            </a:r>
          </a:p>
        </p:txBody>
      </p:sp>
      <p:sp>
        <p:nvSpPr>
          <p:cNvPr id="5143" name="Rectangle 23"/>
          <p:cNvSpPr>
            <a:spLocks noChangeArrowheads="1"/>
          </p:cNvSpPr>
          <p:nvPr/>
        </p:nvSpPr>
        <p:spPr bwMode="auto">
          <a:xfrm>
            <a:off x="468313" y="136525"/>
            <a:ext cx="8135937" cy="1060450"/>
          </a:xfrm>
          <a:prstGeom prst="rect">
            <a:avLst/>
          </a:prstGeom>
          <a:gradFill rotWithShape="0">
            <a:gsLst>
              <a:gs pos="0">
                <a:srgbClr val="996633"/>
              </a:gs>
              <a:gs pos="50000">
                <a:srgbClr val="FFFFFF"/>
              </a:gs>
              <a:gs pos="100000">
                <a:srgbClr val="996633"/>
              </a:gs>
            </a:gsLst>
            <a:lin ang="5400000" scaled="1"/>
          </a:gradFill>
          <a:ln w="9525">
            <a:solidFill>
              <a:schemeClr val="tx1"/>
            </a:solidFill>
            <a:miter lim="800000"/>
            <a:headEnd/>
            <a:tailEnd/>
          </a:ln>
          <a:effectLst>
            <a:outerShdw dist="162639" dir="19280412" algn="ctr" rotWithShape="0">
              <a:srgbClr val="CBFB6B"/>
            </a:outerShdw>
          </a:effectLst>
        </p:spPr>
        <p:txBody>
          <a:bodyPr lIns="92075" tIns="46038" rIns="92075" bIns="46038"/>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zh-CN" altLang="en-US" sz="2800">
                <a:solidFill>
                  <a:schemeClr val="hlink"/>
                </a:solidFill>
                <a:ea typeface="楷体_GB2312"/>
              </a:rPr>
              <a:t>第三部分  电场和磁场</a:t>
            </a:r>
          </a:p>
          <a:p>
            <a:pPr algn="ctr">
              <a:spcBef>
                <a:spcPct val="0"/>
              </a:spcBef>
              <a:buFontTx/>
              <a:buNone/>
            </a:pPr>
            <a:r>
              <a:rPr lang="en-US" altLang="zh-CN" sz="2800">
                <a:solidFill>
                  <a:schemeClr val="hlink"/>
                </a:solidFill>
                <a:ea typeface="楷体_GB2312"/>
              </a:rPr>
              <a:t>Electric field and magnetic field</a:t>
            </a:r>
          </a:p>
        </p:txBody>
      </p:sp>
    </p:spTree>
    <p:extLst>
      <p:ext uri="{BB962C8B-B14F-4D97-AF65-F5344CB8AC3E}">
        <p14:creationId xmlns:p14="http://schemas.microsoft.com/office/powerpoint/2010/main" val="4258712035"/>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43">
                                            <p:bg/>
                                          </p:spTgt>
                                        </p:tgtEl>
                                        <p:attrNameLst>
                                          <p:attrName>style.visibility</p:attrName>
                                        </p:attrNameLst>
                                      </p:cBhvr>
                                      <p:to>
                                        <p:strVal val="visible"/>
                                      </p:to>
                                    </p:set>
                                    <p:animEffect transition="in" filter="wipe(left)">
                                      <p:cBhvr>
                                        <p:cTn id="7" dur="75"/>
                                        <p:tgtEl>
                                          <p:spTgt spid="5143">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5143">
                                            <p:txEl>
                                              <p:pRg st="0" end="0"/>
                                            </p:txEl>
                                          </p:spTgt>
                                        </p:tgtEl>
                                        <p:attrNameLst>
                                          <p:attrName>style.visibility</p:attrName>
                                        </p:attrNameLst>
                                      </p:cBhvr>
                                      <p:to>
                                        <p:strVal val="visible"/>
                                      </p:to>
                                    </p:set>
                                    <p:animEffect transition="in" filter="wipe(left)">
                                      <p:cBhvr>
                                        <p:cTn id="12" dur="75"/>
                                        <p:tgtEl>
                                          <p:spTgt spid="514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5143">
                                            <p:txEl>
                                              <p:pRg st="1" end="1"/>
                                            </p:txEl>
                                          </p:spTgt>
                                        </p:tgtEl>
                                        <p:attrNameLst>
                                          <p:attrName>style.visibility</p:attrName>
                                        </p:attrNameLst>
                                      </p:cBhvr>
                                      <p:to>
                                        <p:strVal val="visible"/>
                                      </p:to>
                                    </p:set>
                                    <p:animEffect transition="in" filter="wipe(left)">
                                      <p:cBhvr>
                                        <p:cTn id="17" dur="75"/>
                                        <p:tgtEl>
                                          <p:spTgt spid="514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5137">
                                            <p:txEl>
                                              <p:pRg st="0" end="0"/>
                                            </p:txEl>
                                          </p:spTgt>
                                        </p:tgtEl>
                                        <p:attrNameLst>
                                          <p:attrName>style.visibility</p:attrName>
                                        </p:attrNameLst>
                                      </p:cBhvr>
                                      <p:to>
                                        <p:strVal val="visible"/>
                                      </p:to>
                                    </p:set>
                                    <p:animEffect transition="in" filter="wipe(left)">
                                      <p:cBhvr>
                                        <p:cTn id="22" dur="75"/>
                                        <p:tgtEl>
                                          <p:spTgt spid="5137">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5138">
                                            <p:txEl>
                                              <p:pRg st="0" end="0"/>
                                            </p:txEl>
                                          </p:spTgt>
                                        </p:tgtEl>
                                        <p:attrNameLst>
                                          <p:attrName>style.visibility</p:attrName>
                                        </p:attrNameLst>
                                      </p:cBhvr>
                                      <p:to>
                                        <p:strVal val="visible"/>
                                      </p:to>
                                    </p:set>
                                    <p:animEffect transition="in" filter="wipe(left)">
                                      <p:cBhvr>
                                        <p:cTn id="27" dur="75"/>
                                        <p:tgtEl>
                                          <p:spTgt spid="5138">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lt">
                                    <p:tmPct val="100000"/>
                                  </p:iterate>
                                  <p:childTnLst>
                                    <p:set>
                                      <p:cBhvr>
                                        <p:cTn id="31" dur="1" fill="hold">
                                          <p:stCondLst>
                                            <p:cond delay="0"/>
                                          </p:stCondLst>
                                        </p:cTn>
                                        <p:tgtEl>
                                          <p:spTgt spid="5139">
                                            <p:txEl>
                                              <p:pRg st="0" end="0"/>
                                            </p:txEl>
                                          </p:spTgt>
                                        </p:tgtEl>
                                        <p:attrNameLst>
                                          <p:attrName>style.visibility</p:attrName>
                                        </p:attrNameLst>
                                      </p:cBhvr>
                                      <p:to>
                                        <p:strVal val="visible"/>
                                      </p:to>
                                    </p:set>
                                    <p:animEffect transition="in" filter="wipe(left)">
                                      <p:cBhvr>
                                        <p:cTn id="32" dur="75"/>
                                        <p:tgtEl>
                                          <p:spTgt spid="5139">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iterate type="lt">
                                    <p:tmPct val="100000"/>
                                  </p:iterate>
                                  <p:childTnLst>
                                    <p:set>
                                      <p:cBhvr>
                                        <p:cTn id="36" dur="1" fill="hold">
                                          <p:stCondLst>
                                            <p:cond delay="0"/>
                                          </p:stCondLst>
                                        </p:cTn>
                                        <p:tgtEl>
                                          <p:spTgt spid="5139">
                                            <p:txEl>
                                              <p:pRg st="1" end="1"/>
                                            </p:txEl>
                                          </p:spTgt>
                                        </p:tgtEl>
                                        <p:attrNameLst>
                                          <p:attrName>style.visibility</p:attrName>
                                        </p:attrNameLst>
                                      </p:cBhvr>
                                      <p:to>
                                        <p:strVal val="visible"/>
                                      </p:to>
                                    </p:set>
                                    <p:animEffect transition="in" filter="wipe(left)">
                                      <p:cBhvr>
                                        <p:cTn id="37" dur="75"/>
                                        <p:tgtEl>
                                          <p:spTgt spid="5139">
                                            <p:txEl>
                                              <p:pRg st="1" end="1"/>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lt">
                                    <p:tmPct val="100000"/>
                                  </p:iterate>
                                  <p:childTnLst>
                                    <p:set>
                                      <p:cBhvr>
                                        <p:cTn id="41" dur="1" fill="hold">
                                          <p:stCondLst>
                                            <p:cond delay="0"/>
                                          </p:stCondLst>
                                        </p:cTn>
                                        <p:tgtEl>
                                          <p:spTgt spid="5139">
                                            <p:txEl>
                                              <p:pRg st="2" end="2"/>
                                            </p:txEl>
                                          </p:spTgt>
                                        </p:tgtEl>
                                        <p:attrNameLst>
                                          <p:attrName>style.visibility</p:attrName>
                                        </p:attrNameLst>
                                      </p:cBhvr>
                                      <p:to>
                                        <p:strVal val="visible"/>
                                      </p:to>
                                    </p:set>
                                    <p:animEffect transition="in" filter="wipe(left)">
                                      <p:cBhvr>
                                        <p:cTn id="42" dur="75"/>
                                        <p:tgtEl>
                                          <p:spTgt spid="5139">
                                            <p:txEl>
                                              <p:pRg st="2" end="2"/>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iterate type="lt">
                                    <p:tmPct val="100000"/>
                                  </p:iterate>
                                  <p:childTnLst>
                                    <p:set>
                                      <p:cBhvr>
                                        <p:cTn id="46" dur="1" fill="hold">
                                          <p:stCondLst>
                                            <p:cond delay="0"/>
                                          </p:stCondLst>
                                        </p:cTn>
                                        <p:tgtEl>
                                          <p:spTgt spid="5139">
                                            <p:txEl>
                                              <p:pRg st="3" end="3"/>
                                            </p:txEl>
                                          </p:spTgt>
                                        </p:tgtEl>
                                        <p:attrNameLst>
                                          <p:attrName>style.visibility</p:attrName>
                                        </p:attrNameLst>
                                      </p:cBhvr>
                                      <p:to>
                                        <p:strVal val="visible"/>
                                      </p:to>
                                    </p:set>
                                    <p:animEffect transition="in" filter="wipe(left)">
                                      <p:cBhvr>
                                        <p:cTn id="47" dur="75"/>
                                        <p:tgtEl>
                                          <p:spTgt spid="5139">
                                            <p:txEl>
                                              <p:pRg st="3" end="3"/>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iterate type="lt">
                                    <p:tmPct val="100000"/>
                                  </p:iterate>
                                  <p:childTnLst>
                                    <p:set>
                                      <p:cBhvr>
                                        <p:cTn id="51" dur="1" fill="hold">
                                          <p:stCondLst>
                                            <p:cond delay="0"/>
                                          </p:stCondLst>
                                        </p:cTn>
                                        <p:tgtEl>
                                          <p:spTgt spid="5139">
                                            <p:txEl>
                                              <p:pRg st="4" end="4"/>
                                            </p:txEl>
                                          </p:spTgt>
                                        </p:tgtEl>
                                        <p:attrNameLst>
                                          <p:attrName>style.visibility</p:attrName>
                                        </p:attrNameLst>
                                      </p:cBhvr>
                                      <p:to>
                                        <p:strVal val="visible"/>
                                      </p:to>
                                    </p:set>
                                    <p:animEffect transition="in" filter="wipe(left)">
                                      <p:cBhvr>
                                        <p:cTn id="52" dur="75"/>
                                        <p:tgtEl>
                                          <p:spTgt spid="5139">
                                            <p:txEl>
                                              <p:pRg st="4" end="4"/>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iterate type="lt">
                                    <p:tmPct val="100000"/>
                                  </p:iterate>
                                  <p:childTnLst>
                                    <p:set>
                                      <p:cBhvr>
                                        <p:cTn id="56" dur="1" fill="hold">
                                          <p:stCondLst>
                                            <p:cond delay="0"/>
                                          </p:stCondLst>
                                        </p:cTn>
                                        <p:tgtEl>
                                          <p:spTgt spid="5140">
                                            <p:txEl>
                                              <p:pRg st="0" end="0"/>
                                            </p:txEl>
                                          </p:spTgt>
                                        </p:tgtEl>
                                        <p:attrNameLst>
                                          <p:attrName>style.visibility</p:attrName>
                                        </p:attrNameLst>
                                      </p:cBhvr>
                                      <p:to>
                                        <p:strVal val="visible"/>
                                      </p:to>
                                    </p:set>
                                    <p:animEffect transition="in" filter="wipe(left)">
                                      <p:cBhvr>
                                        <p:cTn id="57" dur="75"/>
                                        <p:tgtEl>
                                          <p:spTgt spid="5140">
                                            <p:txEl>
                                              <p:pRg st="0" end="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iterate type="lt">
                                    <p:tmPct val="100000"/>
                                  </p:iterate>
                                  <p:childTnLst>
                                    <p:set>
                                      <p:cBhvr>
                                        <p:cTn id="61" dur="1" fill="hold">
                                          <p:stCondLst>
                                            <p:cond delay="0"/>
                                          </p:stCondLst>
                                        </p:cTn>
                                        <p:tgtEl>
                                          <p:spTgt spid="5140">
                                            <p:txEl>
                                              <p:pRg st="1" end="1"/>
                                            </p:txEl>
                                          </p:spTgt>
                                        </p:tgtEl>
                                        <p:attrNameLst>
                                          <p:attrName>style.visibility</p:attrName>
                                        </p:attrNameLst>
                                      </p:cBhvr>
                                      <p:to>
                                        <p:strVal val="visible"/>
                                      </p:to>
                                    </p:set>
                                    <p:animEffect transition="in" filter="wipe(left)">
                                      <p:cBhvr>
                                        <p:cTn id="62" dur="75"/>
                                        <p:tgtEl>
                                          <p:spTgt spid="5140">
                                            <p:txEl>
                                              <p:pRg st="1" end="1"/>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iterate type="lt">
                                    <p:tmPct val="100000"/>
                                  </p:iterate>
                                  <p:childTnLst>
                                    <p:set>
                                      <p:cBhvr>
                                        <p:cTn id="66" dur="1" fill="hold">
                                          <p:stCondLst>
                                            <p:cond delay="0"/>
                                          </p:stCondLst>
                                        </p:cTn>
                                        <p:tgtEl>
                                          <p:spTgt spid="5140">
                                            <p:txEl>
                                              <p:pRg st="2" end="2"/>
                                            </p:txEl>
                                          </p:spTgt>
                                        </p:tgtEl>
                                        <p:attrNameLst>
                                          <p:attrName>style.visibility</p:attrName>
                                        </p:attrNameLst>
                                      </p:cBhvr>
                                      <p:to>
                                        <p:strVal val="visible"/>
                                      </p:to>
                                    </p:set>
                                    <p:animEffect transition="in" filter="wipe(left)">
                                      <p:cBhvr>
                                        <p:cTn id="67" dur="75"/>
                                        <p:tgtEl>
                                          <p:spTgt spid="5140">
                                            <p:txEl>
                                              <p:pRg st="2" end="2"/>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iterate type="lt">
                                    <p:tmPct val="100000"/>
                                  </p:iterate>
                                  <p:childTnLst>
                                    <p:set>
                                      <p:cBhvr>
                                        <p:cTn id="71" dur="1" fill="hold">
                                          <p:stCondLst>
                                            <p:cond delay="0"/>
                                          </p:stCondLst>
                                        </p:cTn>
                                        <p:tgtEl>
                                          <p:spTgt spid="5140">
                                            <p:txEl>
                                              <p:pRg st="3" end="3"/>
                                            </p:txEl>
                                          </p:spTgt>
                                        </p:tgtEl>
                                        <p:attrNameLst>
                                          <p:attrName>style.visibility</p:attrName>
                                        </p:attrNameLst>
                                      </p:cBhvr>
                                      <p:to>
                                        <p:strVal val="visible"/>
                                      </p:to>
                                    </p:set>
                                    <p:animEffect transition="in" filter="wipe(left)">
                                      <p:cBhvr>
                                        <p:cTn id="72" dur="75"/>
                                        <p:tgtEl>
                                          <p:spTgt spid="514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uild="p" autoUpdateAnimBg="0"/>
      <p:bldP spid="5138" grpId="0" build="p" autoUpdateAnimBg="0"/>
      <p:bldP spid="5139" grpId="0" build="p" bldLvl="3" autoUpdateAnimBg="0"/>
      <p:bldP spid="5140" grpId="0" build="p" bldLvl="2" autoUpdateAnimBg="0"/>
      <p:bldP spid="5143" grpId="0" build="p" animBg="1"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4" name="Text Box 4"/>
          <p:cNvSpPr>
            <a:spLocks noGrp="1" noChangeArrowheads="1"/>
          </p:cNvSpPr>
          <p:nvPr>
            <p:ph type="title"/>
          </p:nvPr>
        </p:nvSpPr>
        <p:spPr>
          <a:xfrm>
            <a:off x="323850" y="44450"/>
            <a:ext cx="8424863" cy="1143000"/>
          </a:xfrm>
          <a:gradFill rotWithShape="0">
            <a:gsLst>
              <a:gs pos="0">
                <a:srgbClr val="996633"/>
              </a:gs>
              <a:gs pos="50000">
                <a:srgbClr val="FFFFFF"/>
              </a:gs>
              <a:gs pos="100000">
                <a:srgbClr val="996633"/>
              </a:gs>
            </a:gsLst>
            <a:lin ang="5400000" scaled="1"/>
          </a:gradFill>
          <a:ln>
            <a:solidFill>
              <a:schemeClr val="tx1"/>
            </a:solidFill>
            <a:miter lim="800000"/>
            <a:headEnd/>
            <a:tailEnd/>
          </a:ln>
          <a:effectLst>
            <a:outerShdw dist="162639" dir="19280412" algn="ctr" rotWithShape="0">
              <a:srgbClr val="CBFB6B"/>
            </a:outerShdw>
          </a:effectLst>
        </p:spPr>
        <p:txBody>
          <a:bodyPr/>
          <a:lstStyle/>
          <a:p>
            <a:r>
              <a:rPr lang="zh-CN" altLang="en-US" b="1"/>
              <a:t>本篇的主要内容</a:t>
            </a:r>
          </a:p>
        </p:txBody>
      </p:sp>
      <p:sp>
        <p:nvSpPr>
          <p:cNvPr id="128007" name="Rectangle 7"/>
          <p:cNvSpPr>
            <a:spLocks noRot="1" noChangeArrowheads="1"/>
          </p:cNvSpPr>
          <p:nvPr/>
        </p:nvSpPr>
        <p:spPr bwMode="auto">
          <a:xfrm>
            <a:off x="1371600" y="1484313"/>
            <a:ext cx="6400800" cy="1368425"/>
          </a:xfrm>
          <a:prstGeom prst="rect">
            <a:avLst/>
          </a:prstGeom>
          <a:gradFill rotWithShape="0">
            <a:gsLst>
              <a:gs pos="0">
                <a:srgbClr val="83A1FF"/>
              </a:gs>
              <a:gs pos="50000">
                <a:srgbClr val="FFFFFF"/>
              </a:gs>
              <a:gs pos="100000">
                <a:srgbClr val="83A1FF"/>
              </a:gs>
            </a:gsLst>
            <a:lin ang="5400000" scaled="1"/>
          </a:gradFill>
          <a:ln w="57150">
            <a:solidFill>
              <a:srgbClr val="FF9900"/>
            </a:solidFill>
            <a:miter lim="800000"/>
            <a:headEnd/>
            <a:tailEnd/>
          </a:ln>
          <a:effectLst>
            <a:outerShdw dist="107763" dir="13500000" algn="ctr" rotWithShape="0">
              <a:schemeClr val="bg2"/>
            </a:outerShdw>
          </a:effec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80000"/>
              </a:lnSpc>
              <a:spcBef>
                <a:spcPct val="0"/>
              </a:spcBef>
              <a:buFontTx/>
              <a:buNone/>
            </a:pPr>
            <a:r>
              <a:rPr kumimoji="0" lang="en-US" altLang="zh-CN" sz="3000">
                <a:latin typeface="华文细黑" panose="02010600040101010101" pitchFamily="2" charset="-122"/>
                <a:ea typeface="华文细黑" panose="02010600040101010101" pitchFamily="2" charset="-122"/>
              </a:rPr>
              <a:t>  </a:t>
            </a:r>
            <a:r>
              <a:rPr kumimoji="0" lang="zh-CN" altLang="en-US" sz="3000">
                <a:latin typeface="华文细黑" panose="02010600040101010101" pitchFamily="2" charset="-122"/>
                <a:ea typeface="华文细黑" panose="02010600040101010101" pitchFamily="2" charset="-122"/>
              </a:rPr>
              <a:t>第七章   静止电荷的静电场 </a:t>
            </a:r>
          </a:p>
          <a:p>
            <a:pPr>
              <a:lnSpc>
                <a:spcPct val="80000"/>
              </a:lnSpc>
              <a:spcBef>
                <a:spcPct val="0"/>
              </a:spcBef>
              <a:buFontTx/>
              <a:buNone/>
            </a:pPr>
            <a:r>
              <a:rPr kumimoji="0" lang="zh-CN" altLang="en-US" sz="3000">
                <a:latin typeface="华文细黑" panose="02010600040101010101" pitchFamily="2" charset="-122"/>
                <a:ea typeface="华文细黑" panose="02010600040101010101" pitchFamily="2" charset="-122"/>
              </a:rPr>
              <a:t>                               </a:t>
            </a:r>
            <a:endParaRPr kumimoji="0" lang="en-US" altLang="zh-CN" sz="3000">
              <a:solidFill>
                <a:srgbClr val="A50021"/>
              </a:solidFill>
              <a:ea typeface="华文细黑" panose="02010600040101010101" pitchFamily="2" charset="-122"/>
            </a:endParaRPr>
          </a:p>
        </p:txBody>
      </p:sp>
      <p:sp>
        <p:nvSpPr>
          <p:cNvPr id="128009" name="Rectangle 9"/>
          <p:cNvSpPr>
            <a:spLocks noRot="1" noChangeArrowheads="1"/>
          </p:cNvSpPr>
          <p:nvPr/>
        </p:nvSpPr>
        <p:spPr bwMode="auto">
          <a:xfrm>
            <a:off x="1371600" y="3357563"/>
            <a:ext cx="6400800" cy="1368425"/>
          </a:xfrm>
          <a:prstGeom prst="rect">
            <a:avLst/>
          </a:prstGeom>
          <a:gradFill rotWithShape="0">
            <a:gsLst>
              <a:gs pos="0">
                <a:srgbClr val="83A1FF"/>
              </a:gs>
              <a:gs pos="50000">
                <a:srgbClr val="FFFFFF"/>
              </a:gs>
              <a:gs pos="100000">
                <a:srgbClr val="83A1FF"/>
              </a:gs>
            </a:gsLst>
            <a:lin ang="5400000" scaled="1"/>
          </a:gradFill>
          <a:ln w="57150">
            <a:solidFill>
              <a:srgbClr val="FF9900"/>
            </a:solidFill>
            <a:miter lim="800000"/>
            <a:headEnd/>
            <a:tailEnd/>
          </a:ln>
          <a:effectLst>
            <a:outerShdw dist="107763" dir="13500000" algn="ctr" rotWithShape="0">
              <a:schemeClr val="bg2"/>
            </a:outerShdw>
          </a:effec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spcBef>
                <a:spcPct val="0"/>
              </a:spcBef>
              <a:buFontTx/>
              <a:buNone/>
            </a:pPr>
            <a:r>
              <a:rPr kumimoji="0" lang="en-US" altLang="zh-CN" sz="3000">
                <a:latin typeface="华文细黑" panose="02010600040101010101" pitchFamily="2" charset="-122"/>
                <a:ea typeface="华文细黑" panose="02010600040101010101" pitchFamily="2" charset="-122"/>
              </a:rPr>
              <a:t>  </a:t>
            </a:r>
            <a:r>
              <a:rPr kumimoji="0" lang="zh-CN" altLang="en-US" sz="3000">
                <a:latin typeface="华文细黑" panose="02010600040101010101" pitchFamily="2" charset="-122"/>
                <a:ea typeface="华文细黑" panose="02010600040101010101" pitchFamily="2" charset="-122"/>
              </a:rPr>
              <a:t>第八章    稳恒电流的磁场</a:t>
            </a:r>
          </a:p>
        </p:txBody>
      </p:sp>
      <p:sp>
        <p:nvSpPr>
          <p:cNvPr id="128010" name="Rectangle 10"/>
          <p:cNvSpPr>
            <a:spLocks noRot="1" noChangeArrowheads="1"/>
          </p:cNvSpPr>
          <p:nvPr/>
        </p:nvSpPr>
        <p:spPr bwMode="auto">
          <a:xfrm>
            <a:off x="1371600" y="5111750"/>
            <a:ext cx="6400800" cy="1368425"/>
          </a:xfrm>
          <a:prstGeom prst="rect">
            <a:avLst/>
          </a:prstGeom>
          <a:gradFill rotWithShape="0">
            <a:gsLst>
              <a:gs pos="0">
                <a:srgbClr val="83A1FF"/>
              </a:gs>
              <a:gs pos="50000">
                <a:srgbClr val="FFFFFF"/>
              </a:gs>
              <a:gs pos="100000">
                <a:srgbClr val="83A1FF"/>
              </a:gs>
            </a:gsLst>
            <a:lin ang="5400000" scaled="1"/>
          </a:gradFill>
          <a:ln w="57150">
            <a:solidFill>
              <a:srgbClr val="FF9900"/>
            </a:solidFill>
            <a:miter lim="800000"/>
            <a:headEnd/>
            <a:tailEnd/>
          </a:ln>
          <a:effectLst>
            <a:outerShdw dist="107763" dir="13500000" algn="ctr" rotWithShape="0">
              <a:schemeClr val="bg2"/>
            </a:outerShdw>
          </a:effec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spcBef>
                <a:spcPct val="0"/>
              </a:spcBef>
              <a:buFontTx/>
              <a:buNone/>
            </a:pPr>
            <a:r>
              <a:rPr kumimoji="0" lang="en-US" altLang="zh-CN" sz="3000">
                <a:latin typeface="华文细黑" panose="02010600040101010101" pitchFamily="2" charset="-122"/>
                <a:ea typeface="华文细黑" panose="02010600040101010101" pitchFamily="2" charset="-122"/>
              </a:rPr>
              <a:t>  </a:t>
            </a:r>
            <a:r>
              <a:rPr kumimoji="0" lang="zh-CN" altLang="en-US" sz="3000">
                <a:latin typeface="华文细黑" panose="02010600040101010101" pitchFamily="2" charset="-122"/>
                <a:ea typeface="华文细黑" panose="02010600040101010101" pitchFamily="2" charset="-122"/>
              </a:rPr>
              <a:t>第九章   电 磁 感 应 电磁场理论</a:t>
            </a:r>
          </a:p>
        </p:txBody>
      </p:sp>
    </p:spTree>
    <p:extLst>
      <p:ext uri="{BB962C8B-B14F-4D97-AF65-F5344CB8AC3E}">
        <p14:creationId xmlns:p14="http://schemas.microsoft.com/office/powerpoint/2010/main" val="4066255033"/>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8004"/>
                                        </p:tgtEl>
                                        <p:attrNameLst>
                                          <p:attrName>style.visibility</p:attrName>
                                        </p:attrNameLst>
                                      </p:cBhvr>
                                      <p:to>
                                        <p:strVal val="visible"/>
                                      </p:to>
                                    </p:set>
                                    <p:animEffect transition="in" filter="wipe(left)">
                                      <p:cBhvr>
                                        <p:cTn id="7" dur="500"/>
                                        <p:tgtEl>
                                          <p:spTgt spid="1280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128007"/>
                                        </p:tgtEl>
                                        <p:attrNameLst>
                                          <p:attrName>style.visibility</p:attrName>
                                        </p:attrNameLst>
                                      </p:cBhvr>
                                      <p:to>
                                        <p:strVal val="visible"/>
                                      </p:to>
                                    </p:set>
                                    <p:animEffect transition="in" filter="slide(fromLeft)">
                                      <p:cBhvr>
                                        <p:cTn id="12" dur="500"/>
                                        <p:tgtEl>
                                          <p:spTgt spid="1280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128009"/>
                                        </p:tgtEl>
                                        <p:attrNameLst>
                                          <p:attrName>style.visibility</p:attrName>
                                        </p:attrNameLst>
                                      </p:cBhvr>
                                      <p:to>
                                        <p:strVal val="visible"/>
                                      </p:to>
                                    </p:set>
                                    <p:animEffect transition="in" filter="slide(fromLeft)">
                                      <p:cBhvr>
                                        <p:cTn id="17" dur="500"/>
                                        <p:tgtEl>
                                          <p:spTgt spid="12800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128010"/>
                                        </p:tgtEl>
                                        <p:attrNameLst>
                                          <p:attrName>style.visibility</p:attrName>
                                        </p:attrNameLst>
                                      </p:cBhvr>
                                      <p:to>
                                        <p:strVal val="visible"/>
                                      </p:to>
                                    </p:set>
                                    <p:animEffect transition="in" filter="slide(fromLeft)">
                                      <p:cBhvr>
                                        <p:cTn id="22" dur="500"/>
                                        <p:tgtEl>
                                          <p:spTgt spid="1280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4" grpId="0" animBg="1" autoUpdateAnimBg="0"/>
      <p:bldP spid="128007" grpId="0" animBg="1" autoUpdateAnimBg="0"/>
      <p:bldP spid="128009" grpId="0" animBg="1" autoUpdateAnimBg="0"/>
      <p:bldP spid="128010" grpId="0" animBg="1"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A04CA2C-CE67-4E32-9F2B-069727B3B3CB}" type="slidenum">
              <a:rPr lang="zh-TW" altLang="en-US" sz="1400" smtClean="0">
                <a:ea typeface="楷体_GB2312"/>
              </a:rPr>
              <a:pPr>
                <a:spcBef>
                  <a:spcPct val="0"/>
                </a:spcBef>
                <a:buFontTx/>
                <a:buNone/>
              </a:pPr>
              <a:t>3</a:t>
            </a:fld>
            <a:endParaRPr lang="en-US" altLang="zh-TW" sz="1400">
              <a:ea typeface="楷体_GB2312"/>
            </a:endParaRPr>
          </a:p>
        </p:txBody>
      </p:sp>
      <p:sp>
        <p:nvSpPr>
          <p:cNvPr id="5122" name="Rectangle 2"/>
          <p:cNvSpPr>
            <a:spLocks noGrp="1" noChangeArrowheads="1"/>
          </p:cNvSpPr>
          <p:nvPr>
            <p:ph type="title"/>
          </p:nvPr>
        </p:nvSpPr>
        <p:spPr>
          <a:xfrm>
            <a:off x="685800" y="115888"/>
            <a:ext cx="7772400" cy="1143000"/>
          </a:xfrm>
        </p:spPr>
        <p:txBody>
          <a:bodyPr/>
          <a:lstStyle/>
          <a:p>
            <a:r>
              <a:rPr lang="en-US" altLang="zh-TW">
                <a:latin typeface="Arial" panose="020B0604020202020204" pitchFamily="34" charset="0"/>
              </a:rPr>
              <a:t>Electricity and Magnetism, Some History</a:t>
            </a:r>
          </a:p>
        </p:txBody>
      </p:sp>
      <p:sp>
        <p:nvSpPr>
          <p:cNvPr id="5123" name="Rectangle 3"/>
          <p:cNvSpPr>
            <a:spLocks noGrp="1" noChangeArrowheads="1"/>
          </p:cNvSpPr>
          <p:nvPr>
            <p:ph type="body" idx="1"/>
          </p:nvPr>
        </p:nvSpPr>
        <p:spPr>
          <a:xfrm>
            <a:off x="-36513" y="1412875"/>
            <a:ext cx="5057776" cy="4454525"/>
          </a:xfrm>
        </p:spPr>
        <p:txBody>
          <a:bodyPr/>
          <a:lstStyle/>
          <a:p>
            <a:r>
              <a:rPr lang="en-US" altLang="zh-TW" sz="2800">
                <a:latin typeface="Arial" panose="020B0604020202020204" pitchFamily="34" charset="0"/>
              </a:rPr>
              <a:t>Many applications</a:t>
            </a:r>
          </a:p>
          <a:p>
            <a:pPr lvl="1"/>
            <a:r>
              <a:rPr lang="en-US" altLang="zh-TW" sz="2400">
                <a:latin typeface="Arial" panose="020B0604020202020204" pitchFamily="34" charset="0"/>
              </a:rPr>
              <a:t>Macroscopic and microscopic</a:t>
            </a:r>
          </a:p>
          <a:p>
            <a:r>
              <a:rPr lang="en-US" altLang="zh-TW" sz="2800">
                <a:latin typeface="Arial" panose="020B0604020202020204" pitchFamily="34" charset="0"/>
              </a:rPr>
              <a:t>Chinese</a:t>
            </a:r>
          </a:p>
          <a:p>
            <a:pPr lvl="1"/>
            <a:r>
              <a:rPr lang="en-US" altLang="zh-TW" sz="2400">
                <a:latin typeface="Arial" panose="020B0604020202020204" pitchFamily="34" charset="0"/>
              </a:rPr>
              <a:t>Documents suggest that magnetism was observed as early as 2000 BC</a:t>
            </a:r>
          </a:p>
          <a:p>
            <a:r>
              <a:rPr lang="en-US" altLang="zh-TW" sz="2800">
                <a:latin typeface="Arial" panose="020B0604020202020204" pitchFamily="34" charset="0"/>
              </a:rPr>
              <a:t>Greeks</a:t>
            </a:r>
          </a:p>
          <a:p>
            <a:pPr lvl="1"/>
            <a:r>
              <a:rPr lang="en-US" altLang="zh-TW" sz="2400">
                <a:latin typeface="Arial" panose="020B0604020202020204" pitchFamily="34" charset="0"/>
              </a:rPr>
              <a:t>Electrical and magnetic phenomena as early as 700 BC</a:t>
            </a:r>
          </a:p>
          <a:p>
            <a:pPr lvl="1"/>
            <a:r>
              <a:rPr lang="en-US" altLang="zh-TW" sz="2400">
                <a:latin typeface="Arial" panose="020B0604020202020204" pitchFamily="34" charset="0"/>
              </a:rPr>
              <a:t>Experiments with amber and magnetite(</a:t>
            </a:r>
            <a:r>
              <a:rPr lang="zh-CN" altLang="en-US" sz="2400">
                <a:latin typeface="Arial" panose="020B0604020202020204" pitchFamily="34" charset="0"/>
              </a:rPr>
              <a:t>琥珀和磁铁矿</a:t>
            </a:r>
            <a:r>
              <a:rPr lang="en-US" altLang="zh-TW" sz="2400">
                <a:latin typeface="Arial" panose="020B0604020202020204" pitchFamily="34" charset="0"/>
              </a:rPr>
              <a:t>)</a:t>
            </a:r>
          </a:p>
        </p:txBody>
      </p:sp>
      <p:pic>
        <p:nvPicPr>
          <p:cNvPr id="7" name="Picture 4" descr="PH0073H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263" y="1463675"/>
            <a:ext cx="4122737" cy="53943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73736" name="Picture 1032" descr="http://imgsrc.baidu.com/baike/pic/item/a0ca99d667475f3c07088be9.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363" y="5273675"/>
            <a:ext cx="2111375"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9549909"/>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23">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2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123">
                                            <p:txEl>
                                              <p:pRg st="4" end="4"/>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123">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23">
                                            <p:txEl>
                                              <p:pRg st="6" end="6"/>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737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P spid="512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D4C8ECF-7954-4F02-B331-1F0D552194EF}" type="slidenum">
              <a:rPr lang="zh-TW" altLang="en-US" sz="1400" smtClean="0">
                <a:ea typeface="楷体_GB2312"/>
              </a:rPr>
              <a:pPr>
                <a:spcBef>
                  <a:spcPct val="0"/>
                </a:spcBef>
                <a:buFontTx/>
                <a:buNone/>
              </a:pPr>
              <a:t>4</a:t>
            </a:fld>
            <a:endParaRPr lang="en-US" altLang="zh-TW" sz="1400">
              <a:ea typeface="楷体_GB2312"/>
            </a:endParaRPr>
          </a:p>
        </p:txBody>
      </p:sp>
      <p:sp>
        <p:nvSpPr>
          <p:cNvPr id="7171" name="Rectangle 2"/>
          <p:cNvSpPr>
            <a:spLocks noGrp="1" noChangeArrowheads="1"/>
          </p:cNvSpPr>
          <p:nvPr>
            <p:ph type="title"/>
          </p:nvPr>
        </p:nvSpPr>
        <p:spPr>
          <a:xfrm>
            <a:off x="685800" y="260350"/>
            <a:ext cx="7772400" cy="1143000"/>
          </a:xfrm>
        </p:spPr>
        <p:txBody>
          <a:bodyPr/>
          <a:lstStyle/>
          <a:p>
            <a:r>
              <a:rPr lang="en-US" altLang="zh-TW">
                <a:latin typeface="Arial" panose="020B0604020202020204" pitchFamily="34" charset="0"/>
              </a:rPr>
              <a:t>Electricity and Magnetism,  Some History, 2</a:t>
            </a:r>
          </a:p>
        </p:txBody>
      </p:sp>
      <p:sp>
        <p:nvSpPr>
          <p:cNvPr id="7172" name="Rectangle 3"/>
          <p:cNvSpPr>
            <a:spLocks noGrp="1" noChangeArrowheads="1"/>
          </p:cNvSpPr>
          <p:nvPr>
            <p:ph type="body" idx="1"/>
          </p:nvPr>
        </p:nvSpPr>
        <p:spPr>
          <a:xfrm>
            <a:off x="0" y="1568450"/>
            <a:ext cx="8893175" cy="4114800"/>
          </a:xfrm>
        </p:spPr>
        <p:txBody>
          <a:bodyPr/>
          <a:lstStyle/>
          <a:p>
            <a:r>
              <a:rPr lang="en-US" altLang="zh-TW" sz="2000" b="1">
                <a:latin typeface="Arial" panose="020B0604020202020204" pitchFamily="34" charset="0"/>
              </a:rPr>
              <a:t>1600</a:t>
            </a:r>
          </a:p>
          <a:p>
            <a:pPr lvl="1"/>
            <a:r>
              <a:rPr lang="en-US" altLang="zh-TW" sz="2000" b="1">
                <a:latin typeface="Arial" panose="020B0604020202020204" pitchFamily="34" charset="0"/>
              </a:rPr>
              <a:t>William Gilbert showed electrification effects were not confined to just amber</a:t>
            </a:r>
          </a:p>
          <a:p>
            <a:pPr lvl="1"/>
            <a:r>
              <a:rPr lang="en-US" altLang="zh-TW" sz="2000" b="1">
                <a:latin typeface="Arial" panose="020B0604020202020204" pitchFamily="34" charset="0"/>
              </a:rPr>
              <a:t>The electrification effects were a general phenomen</a:t>
            </a:r>
          </a:p>
          <a:p>
            <a:pPr lvl="1"/>
            <a:r>
              <a:rPr lang="zh-CN" altLang="en-US" sz="2000" b="1"/>
              <a:t>威廉</a:t>
            </a:r>
            <a:r>
              <a:rPr lang="en-US" altLang="zh-CN" sz="2000" b="1"/>
              <a:t>·</a:t>
            </a:r>
            <a:r>
              <a:rPr lang="zh-CN" altLang="en-US" sz="2000" b="1"/>
              <a:t>吉尔伯特，公元</a:t>
            </a:r>
            <a:r>
              <a:rPr lang="en-US" altLang="zh-CN" sz="2000" b="1"/>
              <a:t>1540</a:t>
            </a:r>
            <a:r>
              <a:rPr lang="zh-CN" altLang="en-US" sz="2000" b="1"/>
              <a:t>年－</a:t>
            </a:r>
            <a:r>
              <a:rPr lang="en-US" altLang="zh-CN" sz="2000" b="1"/>
              <a:t>1605</a:t>
            </a:r>
            <a:r>
              <a:rPr lang="zh-CN" altLang="en-US" sz="2000" b="1"/>
              <a:t>年），英国伊丽莎白女王的御医、英国皇家科学院物理学家。主要在电学和磁力学方面有很大贡献</a:t>
            </a:r>
            <a:r>
              <a:rPr lang="en-US" altLang="zh-CN" sz="2000" b="1"/>
              <a:t>,</a:t>
            </a:r>
            <a:r>
              <a:rPr lang="zh-CN" altLang="en-US" sz="2000" b="1"/>
              <a:t> </a:t>
            </a:r>
            <a:r>
              <a:rPr lang="en-US" altLang="zh-CN" sz="2000" b="1"/>
              <a:t>1600</a:t>
            </a:r>
            <a:r>
              <a:rPr lang="zh-CN" altLang="en-US" sz="2000" b="1"/>
              <a:t>年出版了</a:t>
            </a:r>
            <a:r>
              <a:rPr lang="en-US" altLang="zh-CN" sz="2000" b="1"/>
              <a:t>《</a:t>
            </a:r>
            <a:r>
              <a:rPr lang="zh-CN" altLang="en-US" sz="2000" b="1"/>
              <a:t>磁石论</a:t>
            </a:r>
            <a:r>
              <a:rPr lang="en-US" altLang="zh-CN" sz="2000" b="1"/>
              <a:t>》</a:t>
            </a:r>
            <a:r>
              <a:rPr lang="zh-CN" altLang="en-US" sz="2000" b="1"/>
              <a:t>是物理学史上第一部系统阐述磁学的科学专著。</a:t>
            </a:r>
            <a:r>
              <a:rPr lang="zh-CN" altLang="en-US" sz="2000" b="1">
                <a:hlinkClick r:id="rId3" action="ppaction://hlinkfile"/>
              </a:rPr>
              <a:t>伽利略</a:t>
            </a:r>
            <a:r>
              <a:rPr lang="zh-CN" altLang="en-US" sz="2000" b="1"/>
              <a:t>称它“伟大到令人妒忌的程度”</a:t>
            </a:r>
            <a:endParaRPr lang="en-US" altLang="zh-TW" sz="2000" b="1">
              <a:latin typeface="Arial" panose="020B0604020202020204" pitchFamily="34" charset="0"/>
            </a:endParaRPr>
          </a:p>
          <a:p>
            <a:r>
              <a:rPr lang="en-US" altLang="zh-TW" sz="2000" b="1">
                <a:latin typeface="Arial" panose="020B0604020202020204" pitchFamily="34" charset="0"/>
              </a:rPr>
              <a:t>1785</a:t>
            </a:r>
          </a:p>
          <a:p>
            <a:pPr lvl="1"/>
            <a:r>
              <a:rPr lang="en-US" altLang="zh-TW" sz="2000" b="1">
                <a:latin typeface="Arial" panose="020B0604020202020204" pitchFamily="34" charset="0"/>
              </a:rPr>
              <a:t>Charles Coulomb confirmed inverse square law form for electric forces</a:t>
            </a:r>
          </a:p>
          <a:p>
            <a:pPr lvl="1"/>
            <a:endParaRPr lang="en-US" altLang="zh-TW" sz="2000" b="1">
              <a:latin typeface="Arial" panose="020B0604020202020204" pitchFamily="34" charset="0"/>
            </a:endParaRPr>
          </a:p>
          <a:p>
            <a:pPr>
              <a:lnSpc>
                <a:spcPct val="90000"/>
              </a:lnSpc>
            </a:pPr>
            <a:r>
              <a:rPr lang="en-US" altLang="zh-TW" sz="2000" b="1">
                <a:latin typeface="Arial" panose="020B0604020202020204" pitchFamily="34" charset="0"/>
              </a:rPr>
              <a:t>1819</a:t>
            </a:r>
          </a:p>
          <a:p>
            <a:pPr lvl="1">
              <a:lnSpc>
                <a:spcPct val="90000"/>
              </a:lnSpc>
            </a:pPr>
            <a:r>
              <a:rPr lang="en-US" altLang="zh-TW" sz="2000" b="1">
                <a:latin typeface="Arial" panose="020B0604020202020204" pitchFamily="34" charset="0"/>
              </a:rPr>
              <a:t>Hans Oersted found a compass needle deflected when near a wire carrying an electric current</a:t>
            </a:r>
          </a:p>
          <a:p>
            <a:pPr lvl="1"/>
            <a:endParaRPr lang="en-US" altLang="zh-TW" sz="2000" b="1">
              <a:latin typeface="Arial" panose="020B0604020202020204" pitchFamily="34" charset="0"/>
            </a:endParaRPr>
          </a:p>
          <a:p>
            <a:pPr lvl="1"/>
            <a:endParaRPr lang="en-US" altLang="zh-TW" sz="2000" b="1">
              <a:latin typeface="Arial" panose="020B0604020202020204" pitchFamily="34" charset="0"/>
            </a:endParaRPr>
          </a:p>
        </p:txBody>
      </p:sp>
    </p:spTree>
    <p:extLst>
      <p:ext uri="{BB962C8B-B14F-4D97-AF65-F5344CB8AC3E}">
        <p14:creationId xmlns:p14="http://schemas.microsoft.com/office/powerpoint/2010/main" val="1044532166"/>
      </p:ext>
    </p:extLst>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7C219BB-6445-4BC8-86CC-972DE9EF539A}" type="slidenum">
              <a:rPr lang="zh-TW" altLang="en-US" sz="1400" smtClean="0">
                <a:ea typeface="楷体_GB2312"/>
              </a:rPr>
              <a:pPr>
                <a:spcBef>
                  <a:spcPct val="0"/>
                </a:spcBef>
                <a:buFontTx/>
                <a:buNone/>
              </a:pPr>
              <a:t>5</a:t>
            </a:fld>
            <a:endParaRPr lang="en-US" altLang="zh-TW" sz="1400">
              <a:ea typeface="楷体_GB2312"/>
            </a:endParaRPr>
          </a:p>
        </p:txBody>
      </p:sp>
      <p:sp>
        <p:nvSpPr>
          <p:cNvPr id="9219" name="Rectangle 2"/>
          <p:cNvSpPr>
            <a:spLocks noGrp="1" noChangeArrowheads="1"/>
          </p:cNvSpPr>
          <p:nvPr>
            <p:ph type="title"/>
          </p:nvPr>
        </p:nvSpPr>
        <p:spPr/>
        <p:txBody>
          <a:bodyPr/>
          <a:lstStyle/>
          <a:p>
            <a:r>
              <a:rPr lang="en-US" altLang="zh-TW">
                <a:latin typeface="Arial" panose="020B0604020202020204" pitchFamily="34" charset="0"/>
              </a:rPr>
              <a:t>Electricity and Magnetism,  Some History, 3</a:t>
            </a:r>
          </a:p>
        </p:txBody>
      </p:sp>
      <p:sp>
        <p:nvSpPr>
          <p:cNvPr id="9220" name="Rectangle 3"/>
          <p:cNvSpPr>
            <a:spLocks noGrp="1" noChangeArrowheads="1"/>
          </p:cNvSpPr>
          <p:nvPr>
            <p:ph type="body" idx="1"/>
          </p:nvPr>
        </p:nvSpPr>
        <p:spPr>
          <a:xfrm>
            <a:off x="685800" y="1981200"/>
            <a:ext cx="7989888" cy="4327525"/>
          </a:xfrm>
        </p:spPr>
        <p:txBody>
          <a:bodyPr/>
          <a:lstStyle/>
          <a:p>
            <a:pPr>
              <a:lnSpc>
                <a:spcPct val="90000"/>
              </a:lnSpc>
            </a:pPr>
            <a:r>
              <a:rPr lang="en-US" altLang="zh-TW" sz="2300" b="1">
                <a:latin typeface="Arial" panose="020B0604020202020204" pitchFamily="34" charset="0"/>
              </a:rPr>
              <a:t>1831</a:t>
            </a:r>
          </a:p>
          <a:p>
            <a:pPr lvl="1">
              <a:lnSpc>
                <a:spcPct val="90000"/>
              </a:lnSpc>
            </a:pPr>
            <a:r>
              <a:rPr lang="en-US" altLang="zh-TW" sz="2300" b="1">
                <a:latin typeface="Arial" panose="020B0604020202020204" pitchFamily="34" charset="0"/>
              </a:rPr>
              <a:t>Michael Faraday and Joseph Henry showed that when a wire is moved near a magnet, an electric current is produced in the wire</a:t>
            </a:r>
          </a:p>
          <a:p>
            <a:pPr>
              <a:lnSpc>
                <a:spcPct val="90000"/>
              </a:lnSpc>
            </a:pPr>
            <a:r>
              <a:rPr lang="en-US" altLang="zh-TW" sz="2300" b="1">
                <a:latin typeface="Arial" panose="020B0604020202020204" pitchFamily="34" charset="0"/>
              </a:rPr>
              <a:t>1873</a:t>
            </a:r>
          </a:p>
          <a:p>
            <a:pPr lvl="1" algn="just">
              <a:lnSpc>
                <a:spcPct val="90000"/>
              </a:lnSpc>
            </a:pPr>
            <a:r>
              <a:rPr lang="en-US" altLang="zh-TW" sz="2300" b="1">
                <a:latin typeface="Arial" panose="020B0604020202020204" pitchFamily="34" charset="0"/>
              </a:rPr>
              <a:t>James Clerk Maxwell used observations and other experimental facts as a basis for formulating the laws of electromagnetism</a:t>
            </a:r>
          </a:p>
          <a:p>
            <a:pPr lvl="2">
              <a:lnSpc>
                <a:spcPct val="90000"/>
              </a:lnSpc>
            </a:pPr>
            <a:r>
              <a:rPr lang="en-US" altLang="zh-TW" sz="2300" b="1">
                <a:latin typeface="Arial" panose="020B0604020202020204" pitchFamily="34" charset="0"/>
              </a:rPr>
              <a:t>Unified electricity and magnetism</a:t>
            </a:r>
          </a:p>
          <a:p>
            <a:pPr>
              <a:lnSpc>
                <a:spcPct val="90000"/>
              </a:lnSpc>
            </a:pPr>
            <a:r>
              <a:rPr lang="en-US" altLang="zh-TW" sz="2300" b="1">
                <a:latin typeface="Arial" panose="020B0604020202020204" pitchFamily="34" charset="0"/>
              </a:rPr>
              <a:t>1888</a:t>
            </a:r>
          </a:p>
          <a:p>
            <a:pPr lvl="1">
              <a:lnSpc>
                <a:spcPct val="90000"/>
              </a:lnSpc>
            </a:pPr>
            <a:r>
              <a:rPr lang="en-US" altLang="zh-TW" sz="2300" b="1">
                <a:latin typeface="Arial" panose="020B0604020202020204" pitchFamily="34" charset="0"/>
              </a:rPr>
              <a:t>Heinrich Hertz verified Maxwell’s predictions</a:t>
            </a:r>
          </a:p>
          <a:p>
            <a:pPr lvl="1">
              <a:lnSpc>
                <a:spcPct val="90000"/>
              </a:lnSpc>
            </a:pPr>
            <a:r>
              <a:rPr lang="en-US" altLang="zh-TW" sz="2300" b="1">
                <a:latin typeface="Arial" panose="020B0604020202020204" pitchFamily="34" charset="0"/>
              </a:rPr>
              <a:t>He produced electromagnetic waves</a:t>
            </a:r>
          </a:p>
          <a:p>
            <a:pPr lvl="1">
              <a:lnSpc>
                <a:spcPct val="90000"/>
              </a:lnSpc>
            </a:pPr>
            <a:endParaRPr lang="en-US" altLang="zh-TW" sz="2300" b="1">
              <a:latin typeface="Arial" panose="020B0604020202020204" pitchFamily="34" charset="0"/>
            </a:endParaRPr>
          </a:p>
        </p:txBody>
      </p:sp>
    </p:spTree>
    <p:extLst>
      <p:ext uri="{BB962C8B-B14F-4D97-AF65-F5344CB8AC3E}">
        <p14:creationId xmlns:p14="http://schemas.microsoft.com/office/powerpoint/2010/main" val="981862818"/>
      </p:ext>
    </p:extLst>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64" descr="53ae4fa7aa69df94d14358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2263" y="260350"/>
            <a:ext cx="1231900" cy="200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Rectangle 63"/>
          <p:cNvSpPr>
            <a:spLocks noChangeArrowheads="1"/>
          </p:cNvSpPr>
          <p:nvPr/>
        </p:nvSpPr>
        <p:spPr bwMode="auto">
          <a:xfrm>
            <a:off x="488950" y="8678863"/>
            <a:ext cx="563563"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FF3300"/>
                </a:solidFill>
                <a:ea typeface="楷体_GB2312"/>
              </a:rPr>
              <a:t>　 </a:t>
            </a:r>
            <a:endParaRPr lang="zh-CN" altLang="en-US" sz="2400" b="0">
              <a:ea typeface="楷体_GB2312"/>
            </a:endParaRPr>
          </a:p>
        </p:txBody>
      </p:sp>
      <p:pic>
        <p:nvPicPr>
          <p:cNvPr id="11268" name="Picture 38" descr="zhinanyu"/>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08175" y="620713"/>
            <a:ext cx="2376488" cy="1208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0" name="Picture 68" descr="指南针司南">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99313" y="404813"/>
            <a:ext cx="1944687" cy="160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1" name="Picture 70" descr="2006011111143883e0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19700" y="260350"/>
            <a:ext cx="1944688"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2" name="Picture 71" descr="23b46a09816767ce3bc7638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2208213"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2">
            <a:extLst>
              <a:ext uri="{FF2B5EF4-FFF2-40B4-BE49-F238E27FC236}">
                <a16:creationId xmlns:a16="http://schemas.microsoft.com/office/drawing/2014/main" id="{6F29D6FD-A2F6-44B1-B034-1B56ECC59F8D}"/>
              </a:ext>
            </a:extLst>
          </p:cNvPr>
          <p:cNvSpPr txBox="1">
            <a:spLocks/>
          </p:cNvSpPr>
          <p:nvPr/>
        </p:nvSpPr>
        <p:spPr>
          <a:xfrm>
            <a:off x="251520" y="2965995"/>
            <a:ext cx="8784976" cy="3695350"/>
          </a:xfrm>
          <a:prstGeom prst="rect">
            <a:avLst/>
          </a:prstGeom>
        </p:spPr>
        <p:txBody>
          <a:bodyPr>
            <a:no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lnSpc>
                <a:spcPct val="120000"/>
              </a:lnSpc>
              <a:buNone/>
            </a:pPr>
            <a:r>
              <a:rPr lang="zh-CN" altLang="en-US" sz="2000" kern="0">
                <a:latin typeface="微软雅黑" panose="020B0503020204020204" pitchFamily="34" charset="-122"/>
                <a:ea typeface="微软雅黑" panose="020B0503020204020204" pitchFamily="34" charset="-122"/>
              </a:rPr>
              <a:t>● 司南（商周，</a:t>
            </a:r>
            <a:r>
              <a:rPr lang="zh-CN" altLang="en-US" sz="2000" b="0">
                <a:latin typeface="微软雅黑" panose="020B0503020204020204" pitchFamily="34" charset="-122"/>
                <a:ea typeface="微软雅黑" panose="020B0503020204020204" pitchFamily="34" charset="-122"/>
              </a:rPr>
              <a:t>约公元前</a:t>
            </a:r>
            <a:r>
              <a:rPr lang="en-US" altLang="zh-CN" sz="2000" b="0">
                <a:latin typeface="微软雅黑" panose="020B0503020204020204" pitchFamily="34" charset="-122"/>
                <a:ea typeface="微软雅黑" panose="020B0503020204020204" pitchFamily="34" charset="-122"/>
              </a:rPr>
              <a:t>1600—</a:t>
            </a:r>
            <a:r>
              <a:rPr lang="zh-CN" altLang="en-US" sz="2000" b="0">
                <a:latin typeface="微软雅黑" panose="020B0503020204020204" pitchFamily="34" charset="-122"/>
                <a:ea typeface="微软雅黑" panose="020B0503020204020204" pitchFamily="34" charset="-122"/>
              </a:rPr>
              <a:t>公元前</a:t>
            </a:r>
            <a:r>
              <a:rPr lang="en-US" altLang="zh-CN" sz="2000" b="0">
                <a:latin typeface="微软雅黑" panose="020B0503020204020204" pitchFamily="34" charset="-122"/>
                <a:ea typeface="微软雅黑" panose="020B0503020204020204" pitchFamily="34" charset="-122"/>
              </a:rPr>
              <a:t>256</a:t>
            </a:r>
            <a:r>
              <a:rPr lang="zh-CN" altLang="en-US" sz="2000" b="0">
                <a:latin typeface="微软雅黑" panose="020B0503020204020204" pitchFamily="34" charset="-122"/>
                <a:ea typeface="微软雅黑" panose="020B0503020204020204" pitchFamily="34" charset="-122"/>
              </a:rPr>
              <a:t>年</a:t>
            </a:r>
            <a:r>
              <a:rPr lang="zh-CN" altLang="en-US" sz="2000" kern="0">
                <a:latin typeface="微软雅黑" panose="020B0503020204020204" pitchFamily="34" charset="-122"/>
                <a:ea typeface="微软雅黑" panose="020B0503020204020204" pitchFamily="34" charset="-122"/>
              </a:rPr>
              <a:t>）</a:t>
            </a:r>
          </a:p>
          <a:p>
            <a:pPr marL="0" indent="0">
              <a:lnSpc>
                <a:spcPct val="120000"/>
              </a:lnSpc>
              <a:buNone/>
            </a:pPr>
            <a:r>
              <a:rPr lang="zh-CN" altLang="en-US" sz="2000" kern="0">
                <a:latin typeface="微软雅黑" panose="020B0503020204020204" pitchFamily="34" charset="-122"/>
                <a:ea typeface="微软雅黑" panose="020B0503020204020204" pitchFamily="34" charset="-122"/>
              </a:rPr>
              <a:t>  </a:t>
            </a:r>
            <a:r>
              <a:rPr lang="en-US" altLang="zh-CN" sz="2000" kern="0">
                <a:latin typeface="微软雅黑" panose="020B0503020204020204" pitchFamily="34" charset="-122"/>
                <a:ea typeface="微软雅黑" panose="020B0503020204020204" pitchFamily="34" charset="-122"/>
              </a:rPr>
              <a:t>- </a:t>
            </a:r>
            <a:r>
              <a:rPr lang="zh-CN" altLang="en-US" sz="2000" kern="0">
                <a:latin typeface="微软雅黑" panose="020B0503020204020204" pitchFamily="34" charset="-122"/>
                <a:ea typeface="微软雅黑" panose="020B0503020204020204" pitchFamily="34" charset="-122"/>
              </a:rPr>
              <a:t>最早的磁性指向器，由天然磁石制成磁勺，</a:t>
            </a:r>
            <a:r>
              <a:rPr lang="en-US" altLang="zh-CN" sz="2000" kern="0">
                <a:latin typeface="微软雅黑" panose="020B0503020204020204" pitchFamily="34" charset="-122"/>
                <a:ea typeface="微软雅黑" panose="020B0503020204020204" pitchFamily="34" charset="-122"/>
              </a:rPr>
              <a:t> </a:t>
            </a:r>
            <a:r>
              <a:rPr lang="zh-CN" altLang="en-US" sz="2000" kern="0">
                <a:latin typeface="微软雅黑" panose="020B0503020204020204" pitchFamily="34" charset="-122"/>
                <a:ea typeface="微软雅黑" panose="020B0503020204020204" pitchFamily="34" charset="-122"/>
              </a:rPr>
              <a:t>静止时勺尾指向南方</a:t>
            </a:r>
          </a:p>
          <a:p>
            <a:pPr marL="0" indent="0">
              <a:lnSpc>
                <a:spcPct val="120000"/>
              </a:lnSpc>
              <a:buNone/>
            </a:pPr>
            <a:r>
              <a:rPr lang="zh-CN" altLang="en-US" sz="2000" kern="0">
                <a:latin typeface="微软雅黑" panose="020B0503020204020204" pitchFamily="34" charset="-122"/>
                <a:ea typeface="微软雅黑" panose="020B0503020204020204" pitchFamily="34" charset="-122"/>
              </a:rPr>
              <a:t>● 指南鱼（北宋</a:t>
            </a:r>
            <a:r>
              <a:rPr lang="zh-CN" altLang="en-US" sz="2000" b="0">
                <a:latin typeface="微软雅黑" panose="020B0503020204020204" pitchFamily="34" charset="-122"/>
                <a:ea typeface="微软雅黑" panose="020B0503020204020204" pitchFamily="34" charset="-122"/>
              </a:rPr>
              <a:t>开国（</a:t>
            </a:r>
            <a:r>
              <a:rPr lang="en-US" altLang="zh-CN" sz="2000" b="0">
                <a:latin typeface="微软雅黑" panose="020B0503020204020204" pitchFamily="34" charset="-122"/>
                <a:ea typeface="微软雅黑" panose="020B0503020204020204" pitchFamily="34" charset="-122"/>
              </a:rPr>
              <a:t>960</a:t>
            </a:r>
            <a:r>
              <a:rPr lang="zh-CN" altLang="en-US" sz="2000" b="0">
                <a:latin typeface="微软雅黑" panose="020B0503020204020204" pitchFamily="34" charset="-122"/>
                <a:ea typeface="微软雅黑" panose="020B0503020204020204" pitchFamily="34" charset="-122"/>
              </a:rPr>
              <a:t>年</a:t>
            </a:r>
            <a:r>
              <a:rPr lang="zh-CN" altLang="en-US" sz="2000" kern="0">
                <a:latin typeface="微软雅黑" panose="020B0503020204020204" pitchFamily="34" charset="-122"/>
                <a:ea typeface="微软雅黑" panose="020B0503020204020204" pitchFamily="34" charset="-122"/>
              </a:rPr>
              <a:t>）</a:t>
            </a:r>
          </a:p>
          <a:p>
            <a:pPr marL="0" indent="0">
              <a:lnSpc>
                <a:spcPct val="120000"/>
              </a:lnSpc>
              <a:buNone/>
            </a:pPr>
            <a:r>
              <a:rPr lang="zh-CN" altLang="en-US" sz="2000" kern="0">
                <a:latin typeface="微软雅黑" panose="020B0503020204020204" pitchFamily="34" charset="-122"/>
                <a:ea typeface="微软雅黑" panose="020B0503020204020204" pitchFamily="34" charset="-122"/>
              </a:rPr>
              <a:t>  </a:t>
            </a:r>
            <a:r>
              <a:rPr lang="en-US" altLang="zh-CN" sz="2000" kern="0">
                <a:latin typeface="微软雅黑" panose="020B0503020204020204" pitchFamily="34" charset="-122"/>
                <a:ea typeface="微软雅黑" panose="020B0503020204020204" pitchFamily="34" charset="-122"/>
              </a:rPr>
              <a:t>- </a:t>
            </a:r>
            <a:r>
              <a:rPr lang="zh-CN" altLang="en-US" sz="2000" kern="0">
                <a:latin typeface="微软雅黑" panose="020B0503020204020204" pitchFamily="34" charset="-122"/>
                <a:ea typeface="微软雅黑" panose="020B0503020204020204" pitchFamily="34" charset="-122"/>
              </a:rPr>
              <a:t>薄铁叶加热退火后磁化，浮于水面即可指南，</a:t>
            </a:r>
            <a:r>
              <a:rPr lang="zh-CN" altLang="en-US" sz="2000">
                <a:latin typeface="微软雅黑" panose="020B0503020204020204" pitchFamily="34" charset="-122"/>
                <a:ea typeface="微软雅黑" panose="020B0503020204020204" pitchFamily="34" charset="-122"/>
              </a:rPr>
              <a:t>北宋初曾公亮</a:t>
            </a:r>
            <a:r>
              <a:rPr lang="en-US" altLang="zh-CN" sz="2000" kern="0">
                <a:latin typeface="微软雅黑" panose="020B0503020204020204" pitchFamily="34" charset="-122"/>
                <a:ea typeface="微软雅黑" panose="020B0503020204020204" pitchFamily="34" charset="-122"/>
              </a:rPr>
              <a:t>《</a:t>
            </a:r>
            <a:r>
              <a:rPr lang="zh-CN" altLang="en-US" sz="2000" kern="0">
                <a:latin typeface="微软雅黑" panose="020B0503020204020204" pitchFamily="34" charset="-122"/>
                <a:ea typeface="微软雅黑" panose="020B0503020204020204" pitchFamily="34" charset="-122"/>
              </a:rPr>
              <a:t>武经总要</a:t>
            </a:r>
            <a:r>
              <a:rPr lang="en-US" altLang="zh-CN" sz="2000" kern="0">
                <a:latin typeface="微软雅黑" panose="020B0503020204020204" pitchFamily="34" charset="-122"/>
                <a:ea typeface="微软雅黑" panose="020B0503020204020204" pitchFamily="34" charset="-122"/>
              </a:rPr>
              <a:t>》</a:t>
            </a:r>
            <a:r>
              <a:rPr lang="zh-CN" altLang="en-US" sz="2000" kern="0">
                <a:latin typeface="微软雅黑" panose="020B0503020204020204" pitchFamily="34" charset="-122"/>
                <a:ea typeface="微软雅黑" panose="020B0503020204020204" pitchFamily="34" charset="-122"/>
              </a:rPr>
              <a:t>和</a:t>
            </a:r>
            <a:r>
              <a:rPr lang="zh-CN" altLang="en-US" sz="2000">
                <a:latin typeface="微软雅黑" panose="020B0503020204020204" pitchFamily="34" charset="-122"/>
                <a:ea typeface="微软雅黑" panose="020B0503020204020204" pitchFamily="34" charset="-122"/>
              </a:rPr>
              <a:t>沈括</a:t>
            </a:r>
            <a:r>
              <a:rPr lang="en-US" altLang="zh-CN" sz="2000" kern="0">
                <a:latin typeface="微软雅黑" panose="020B0503020204020204" pitchFamily="34" charset="-122"/>
                <a:ea typeface="微软雅黑" panose="020B0503020204020204" pitchFamily="34" charset="-122"/>
              </a:rPr>
              <a:t>《</a:t>
            </a:r>
            <a:r>
              <a:rPr lang="zh-CN" altLang="en-US" sz="2000" kern="0">
                <a:latin typeface="微软雅黑" panose="020B0503020204020204" pitchFamily="34" charset="-122"/>
                <a:ea typeface="微软雅黑" panose="020B0503020204020204" pitchFamily="34" charset="-122"/>
              </a:rPr>
              <a:t>梦溪笔谈</a:t>
            </a:r>
            <a:r>
              <a:rPr lang="en-US" altLang="zh-CN" sz="2000" kern="0">
                <a:latin typeface="微软雅黑" panose="020B0503020204020204" pitchFamily="34" charset="-122"/>
                <a:ea typeface="微软雅黑" panose="020B0503020204020204" pitchFamily="34" charset="-122"/>
              </a:rPr>
              <a:t>》</a:t>
            </a:r>
            <a:r>
              <a:rPr lang="zh-CN" altLang="en-US" sz="2000" kern="0">
                <a:latin typeface="微软雅黑" panose="020B0503020204020204" pitchFamily="34" charset="-122"/>
                <a:ea typeface="微软雅黑" panose="020B0503020204020204" pitchFamily="34" charset="-122"/>
              </a:rPr>
              <a:t>均有记载</a:t>
            </a:r>
          </a:p>
          <a:p>
            <a:pPr marL="0" indent="0">
              <a:lnSpc>
                <a:spcPct val="120000"/>
              </a:lnSpc>
              <a:buNone/>
            </a:pPr>
            <a:r>
              <a:rPr lang="zh-CN" altLang="en-US" sz="2000" kern="0">
                <a:latin typeface="微软雅黑" panose="020B0503020204020204" pitchFamily="34" charset="-122"/>
                <a:ea typeface="微软雅黑" panose="020B0503020204020204" pitchFamily="34" charset="-122"/>
              </a:rPr>
              <a:t>● 指南针（北宋）</a:t>
            </a:r>
          </a:p>
          <a:p>
            <a:pPr marL="0" indent="0">
              <a:lnSpc>
                <a:spcPct val="120000"/>
              </a:lnSpc>
              <a:buNone/>
            </a:pPr>
            <a:r>
              <a:rPr lang="zh-CN" altLang="en-US" sz="2000" kern="0">
                <a:latin typeface="微软雅黑" panose="020B0503020204020204" pitchFamily="34" charset="-122"/>
                <a:ea typeface="微软雅黑" panose="020B0503020204020204" pitchFamily="34" charset="-122"/>
              </a:rPr>
              <a:t>  </a:t>
            </a:r>
            <a:r>
              <a:rPr lang="en-US" altLang="zh-CN" sz="2000" kern="0">
                <a:latin typeface="微软雅黑" panose="020B0503020204020204" pitchFamily="34" charset="-122"/>
                <a:ea typeface="微软雅黑" panose="020B0503020204020204" pitchFamily="34" charset="-122"/>
              </a:rPr>
              <a:t>- </a:t>
            </a:r>
            <a:r>
              <a:rPr lang="zh-CN" altLang="en-US" sz="2000" kern="0">
                <a:latin typeface="微软雅黑" panose="020B0503020204020204" pitchFamily="34" charset="-122"/>
                <a:ea typeface="微软雅黑" panose="020B0503020204020204" pitchFamily="34" charset="-122"/>
              </a:rPr>
              <a:t>沈括：“以磁石磨针锋，则能指南”，</a:t>
            </a:r>
            <a:r>
              <a:rPr lang="en-US" altLang="zh-CN" sz="2000" kern="0">
                <a:latin typeface="微软雅黑" panose="020B0503020204020204" pitchFamily="34" charset="-122"/>
                <a:ea typeface="微软雅黑" panose="020B0503020204020204" pitchFamily="34" charset="-122"/>
              </a:rPr>
              <a:t> </a:t>
            </a:r>
            <a:r>
              <a:rPr lang="zh-CN" altLang="en-US" sz="2000" kern="0">
                <a:latin typeface="微软雅黑" panose="020B0503020204020204" pitchFamily="34" charset="-122"/>
                <a:ea typeface="微软雅黑" panose="020B0503020204020204" pitchFamily="34" charset="-122"/>
              </a:rPr>
              <a:t>钢针磁化后可稳定指向南北</a:t>
            </a:r>
          </a:p>
          <a:p>
            <a:pPr marL="0" indent="0">
              <a:lnSpc>
                <a:spcPct val="120000"/>
              </a:lnSpc>
              <a:buNone/>
            </a:pPr>
            <a:r>
              <a:rPr lang="zh-CN" altLang="en-US" sz="2000" kern="0">
                <a:latin typeface="微软雅黑" panose="020B0503020204020204" pitchFamily="34" charset="-122"/>
                <a:ea typeface="微软雅黑" panose="020B0503020204020204" pitchFamily="34" charset="-122"/>
              </a:rPr>
              <a:t>● 航海罗盘（南宋</a:t>
            </a:r>
            <a:r>
              <a:rPr lang="en-US" altLang="zh-CN" sz="2000" b="0">
                <a:latin typeface="微软雅黑" panose="020B0503020204020204" pitchFamily="34" charset="-122"/>
                <a:ea typeface="微软雅黑" panose="020B0503020204020204" pitchFamily="34" charset="-122"/>
              </a:rPr>
              <a:t>1279</a:t>
            </a:r>
            <a:r>
              <a:rPr lang="zh-CN" altLang="en-US" sz="2000" kern="0">
                <a:latin typeface="微软雅黑" panose="020B0503020204020204" pitchFamily="34" charset="-122"/>
                <a:ea typeface="微软雅黑" panose="020B0503020204020204" pitchFamily="34" charset="-122"/>
              </a:rPr>
              <a:t>）</a:t>
            </a:r>
          </a:p>
          <a:p>
            <a:pPr marL="0" indent="0">
              <a:lnSpc>
                <a:spcPct val="120000"/>
              </a:lnSpc>
              <a:buNone/>
            </a:pPr>
            <a:r>
              <a:rPr lang="zh-CN" altLang="en-US" sz="2000" kern="0">
                <a:latin typeface="微软雅黑" panose="020B0503020204020204" pitchFamily="34" charset="-122"/>
                <a:ea typeface="微软雅黑" panose="020B0503020204020204" pitchFamily="34" charset="-122"/>
              </a:rPr>
              <a:t>  </a:t>
            </a:r>
            <a:r>
              <a:rPr lang="en-US" altLang="zh-CN" sz="2000" kern="0">
                <a:latin typeface="微软雅黑" panose="020B0503020204020204" pitchFamily="34" charset="-122"/>
                <a:ea typeface="微软雅黑" panose="020B0503020204020204" pitchFamily="34" charset="-122"/>
              </a:rPr>
              <a:t>- </a:t>
            </a:r>
            <a:r>
              <a:rPr lang="zh-CN" altLang="en-US" sz="2000" kern="0">
                <a:latin typeface="微软雅黑" panose="020B0503020204020204" pitchFamily="34" charset="-122"/>
                <a:ea typeface="微软雅黑" panose="020B0503020204020204" pitchFamily="34" charset="-122"/>
              </a:rPr>
              <a:t>磁针安装在刻有方位的罗盘上，</a:t>
            </a:r>
            <a:r>
              <a:rPr lang="en-US" altLang="zh-CN" sz="2000" kern="0">
                <a:latin typeface="微软雅黑" panose="020B0503020204020204" pitchFamily="34" charset="-122"/>
                <a:ea typeface="微软雅黑" panose="020B0503020204020204" pitchFamily="34" charset="-122"/>
              </a:rPr>
              <a:t>《</a:t>
            </a:r>
            <a:r>
              <a:rPr lang="zh-CN" altLang="en-US" sz="2000" kern="0">
                <a:latin typeface="微软雅黑" panose="020B0503020204020204" pitchFamily="34" charset="-122"/>
                <a:ea typeface="微软雅黑" panose="020B0503020204020204" pitchFamily="34" charset="-122"/>
              </a:rPr>
              <a:t>萍洲可谈</a:t>
            </a:r>
            <a:r>
              <a:rPr lang="en-US" altLang="zh-CN" sz="2000" kern="0">
                <a:latin typeface="微软雅黑" panose="020B0503020204020204" pitchFamily="34" charset="-122"/>
                <a:ea typeface="微软雅黑" panose="020B0503020204020204" pitchFamily="34" charset="-122"/>
              </a:rPr>
              <a:t>》</a:t>
            </a:r>
            <a:r>
              <a:rPr lang="zh-CN" altLang="en-US" sz="2000" kern="0">
                <a:latin typeface="微软雅黑" panose="020B0503020204020204" pitchFamily="34" charset="-122"/>
                <a:ea typeface="微软雅黑" panose="020B0503020204020204" pitchFamily="34" charset="-122"/>
              </a:rPr>
              <a:t>首次明确记载其用于航海。</a:t>
            </a:r>
          </a:p>
          <a:p>
            <a:pPr>
              <a:lnSpc>
                <a:spcPct val="120000"/>
              </a:lnSpc>
            </a:pPr>
            <a:endParaRPr lang="zh-CN" altLang="en-US" sz="2000" kern="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E0411526-FED4-4488-B120-5B064A3C7545}"/>
              </a:ext>
            </a:extLst>
          </p:cNvPr>
          <p:cNvSpPr/>
          <p:nvPr/>
        </p:nvSpPr>
        <p:spPr>
          <a:xfrm>
            <a:off x="251520" y="2303203"/>
            <a:ext cx="8784976" cy="477054"/>
          </a:xfrm>
          <a:prstGeom prst="rect">
            <a:avLst/>
          </a:prstGeom>
        </p:spPr>
        <p:txBody>
          <a:bodyPr wrap="square">
            <a:spAutoFit/>
          </a:bodyPr>
          <a:lstStyle/>
          <a:p>
            <a:pPr eaLnBrk="1" hangingPunct="1"/>
            <a:r>
              <a:rPr lang="zh-CN" altLang="en-US" sz="2500" b="0"/>
              <a:t>指南针的发展：司南</a:t>
            </a:r>
            <a:r>
              <a:rPr lang="en-US" altLang="zh-CN" sz="2500" b="0"/>
              <a:t>——</a:t>
            </a:r>
            <a:r>
              <a:rPr lang="zh-CN" altLang="en-US" sz="2500" b="0"/>
              <a:t>指南鱼</a:t>
            </a:r>
            <a:r>
              <a:rPr lang="en-US" altLang="zh-CN" sz="2500" b="0"/>
              <a:t>——</a:t>
            </a:r>
            <a:r>
              <a:rPr lang="zh-CN" altLang="en-US" sz="2500" b="0"/>
              <a:t>指南针</a:t>
            </a:r>
            <a:r>
              <a:rPr lang="en-US" altLang="zh-CN" sz="2500" b="0"/>
              <a:t>——</a:t>
            </a:r>
            <a:r>
              <a:rPr lang="zh-CN" altLang="en-US" sz="2500" b="0"/>
              <a:t>罗盘</a:t>
            </a:r>
          </a:p>
        </p:txBody>
      </p:sp>
    </p:spTree>
    <p:extLst>
      <p:ext uri="{BB962C8B-B14F-4D97-AF65-F5344CB8AC3E}">
        <p14:creationId xmlns:p14="http://schemas.microsoft.com/office/powerpoint/2010/main" val="2029487981"/>
      </p:ext>
    </p:extLst>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4" descr="04P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775" y="0"/>
            <a:ext cx="5064125"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4" descr="23p6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4250" y="0"/>
            <a:ext cx="4457700" cy="676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20" name="Text Box 2"/>
          <p:cNvSpPr txBox="1">
            <a:spLocks noChangeArrowheads="1"/>
          </p:cNvSpPr>
          <p:nvPr/>
        </p:nvSpPr>
        <p:spPr bwMode="auto">
          <a:xfrm>
            <a:off x="139700" y="982663"/>
            <a:ext cx="57975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00FF00"/>
                </a:solidFill>
                <a:ea typeface="楷体_GB2312"/>
              </a:rPr>
              <a:t>§7-1</a:t>
            </a:r>
            <a:r>
              <a:rPr lang="zh-CN" altLang="en-US" sz="2800">
                <a:solidFill>
                  <a:srgbClr val="00FF00"/>
                </a:solidFill>
                <a:ea typeface="楷体_GB2312"/>
              </a:rPr>
              <a:t>电荷 库仑定律</a:t>
            </a:r>
          </a:p>
        </p:txBody>
      </p:sp>
      <p:sp>
        <p:nvSpPr>
          <p:cNvPr id="9221" name="Text Box 3"/>
          <p:cNvSpPr txBox="1">
            <a:spLocks noChangeArrowheads="1"/>
          </p:cNvSpPr>
          <p:nvPr/>
        </p:nvSpPr>
        <p:spPr bwMode="auto">
          <a:xfrm>
            <a:off x="112713" y="1487488"/>
            <a:ext cx="47529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00FF00"/>
                </a:solidFill>
                <a:ea typeface="楷体_GB2312"/>
              </a:rPr>
              <a:t>§7-2 </a:t>
            </a:r>
            <a:r>
              <a:rPr lang="zh-CN" altLang="en-US" sz="2800">
                <a:solidFill>
                  <a:srgbClr val="00FF00"/>
                </a:solidFill>
                <a:ea typeface="楷体_GB2312"/>
              </a:rPr>
              <a:t>静电场  电场强度</a:t>
            </a:r>
          </a:p>
        </p:txBody>
      </p:sp>
      <p:sp>
        <p:nvSpPr>
          <p:cNvPr id="9222" name="Text Box 4"/>
          <p:cNvSpPr txBox="1">
            <a:spLocks noChangeArrowheads="1"/>
          </p:cNvSpPr>
          <p:nvPr/>
        </p:nvSpPr>
        <p:spPr bwMode="auto">
          <a:xfrm>
            <a:off x="112713" y="1931988"/>
            <a:ext cx="4572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FF0000"/>
                </a:solidFill>
                <a:ea typeface="楷体_GB2312"/>
              </a:rPr>
              <a:t>§7-3 </a:t>
            </a:r>
            <a:r>
              <a:rPr lang="zh-CN" altLang="en-US" sz="2800">
                <a:solidFill>
                  <a:srgbClr val="00FF00"/>
                </a:solidFill>
                <a:ea typeface="楷体_GB2312"/>
              </a:rPr>
              <a:t>静电场的高斯定理</a:t>
            </a:r>
          </a:p>
        </p:txBody>
      </p:sp>
      <p:sp>
        <p:nvSpPr>
          <p:cNvPr id="9223" name="Text Box 5"/>
          <p:cNvSpPr txBox="1">
            <a:spLocks noChangeArrowheads="1"/>
          </p:cNvSpPr>
          <p:nvPr/>
        </p:nvSpPr>
        <p:spPr bwMode="auto">
          <a:xfrm>
            <a:off x="112713" y="2493963"/>
            <a:ext cx="65881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00FF00"/>
                </a:solidFill>
                <a:ea typeface="楷体_GB2312"/>
              </a:rPr>
              <a:t>§7-4 </a:t>
            </a:r>
            <a:r>
              <a:rPr lang="zh-CN" altLang="en-US" sz="2800">
                <a:solidFill>
                  <a:srgbClr val="00FF00"/>
                </a:solidFill>
                <a:ea typeface="楷体_GB2312"/>
              </a:rPr>
              <a:t>静电场的环路定理  电势</a:t>
            </a:r>
          </a:p>
        </p:txBody>
      </p:sp>
      <p:sp>
        <p:nvSpPr>
          <p:cNvPr id="9224" name="Text Box 6"/>
          <p:cNvSpPr txBox="1">
            <a:spLocks noChangeArrowheads="1"/>
          </p:cNvSpPr>
          <p:nvPr/>
        </p:nvSpPr>
        <p:spPr bwMode="auto">
          <a:xfrm>
            <a:off x="112713" y="3013075"/>
            <a:ext cx="62277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00FF00"/>
                </a:solidFill>
                <a:ea typeface="楷体_GB2312"/>
              </a:rPr>
              <a:t>§7-5 </a:t>
            </a:r>
            <a:r>
              <a:rPr lang="zh-CN" altLang="en-US" sz="2800">
                <a:solidFill>
                  <a:srgbClr val="00FF00"/>
                </a:solidFill>
                <a:ea typeface="楷体_GB2312"/>
              </a:rPr>
              <a:t>电场强度与电势梯度的关系</a:t>
            </a:r>
          </a:p>
        </p:txBody>
      </p:sp>
      <p:sp>
        <p:nvSpPr>
          <p:cNvPr id="9225" name="Text Box 7"/>
          <p:cNvSpPr txBox="1">
            <a:spLocks noChangeArrowheads="1"/>
          </p:cNvSpPr>
          <p:nvPr/>
        </p:nvSpPr>
        <p:spPr bwMode="auto">
          <a:xfrm>
            <a:off x="112713" y="3589338"/>
            <a:ext cx="4572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FF0000"/>
                </a:solidFill>
                <a:ea typeface="楷体_GB2312"/>
              </a:rPr>
              <a:t>§7-6 </a:t>
            </a:r>
            <a:r>
              <a:rPr lang="zh-CN" altLang="en-US" sz="2800">
                <a:solidFill>
                  <a:srgbClr val="00FF00"/>
                </a:solidFill>
                <a:ea typeface="楷体_GB2312"/>
              </a:rPr>
              <a:t>静电场中的导体</a:t>
            </a:r>
          </a:p>
        </p:txBody>
      </p:sp>
      <p:sp>
        <p:nvSpPr>
          <p:cNvPr id="9226" name="Text Box 8"/>
          <p:cNvSpPr txBox="1">
            <a:spLocks noChangeArrowheads="1"/>
          </p:cNvSpPr>
          <p:nvPr/>
        </p:nvSpPr>
        <p:spPr bwMode="auto">
          <a:xfrm>
            <a:off x="112713" y="4165600"/>
            <a:ext cx="40671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FF0000"/>
                </a:solidFill>
                <a:ea typeface="楷体_GB2312"/>
              </a:rPr>
              <a:t>§7-7 </a:t>
            </a:r>
            <a:r>
              <a:rPr lang="zh-CN" altLang="en-US" sz="2800">
                <a:solidFill>
                  <a:srgbClr val="00FF00"/>
                </a:solidFill>
                <a:ea typeface="楷体_GB2312"/>
              </a:rPr>
              <a:t>电容器的电容</a:t>
            </a:r>
          </a:p>
        </p:txBody>
      </p:sp>
      <p:sp>
        <p:nvSpPr>
          <p:cNvPr id="9227" name="Text Box 9"/>
          <p:cNvSpPr txBox="1">
            <a:spLocks noChangeArrowheads="1"/>
          </p:cNvSpPr>
          <p:nvPr/>
        </p:nvSpPr>
        <p:spPr bwMode="auto">
          <a:xfrm>
            <a:off x="104775" y="4740275"/>
            <a:ext cx="5724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FF0000"/>
                </a:solidFill>
                <a:ea typeface="楷体_GB2312"/>
              </a:rPr>
              <a:t>§7-8 </a:t>
            </a:r>
            <a:r>
              <a:rPr lang="zh-CN" altLang="en-US" sz="2800">
                <a:solidFill>
                  <a:srgbClr val="00FF00"/>
                </a:solidFill>
                <a:ea typeface="楷体_GB2312"/>
              </a:rPr>
              <a:t>静电场中的电介质</a:t>
            </a:r>
          </a:p>
        </p:txBody>
      </p:sp>
      <p:sp>
        <p:nvSpPr>
          <p:cNvPr id="9228" name="Text Box 10"/>
          <p:cNvSpPr txBox="1">
            <a:spLocks noChangeArrowheads="1"/>
          </p:cNvSpPr>
          <p:nvPr/>
        </p:nvSpPr>
        <p:spPr bwMode="auto">
          <a:xfrm>
            <a:off x="50800" y="5429250"/>
            <a:ext cx="64436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FF0000"/>
                </a:solidFill>
                <a:ea typeface="楷体_GB2312"/>
              </a:rPr>
              <a:t>§7-9 </a:t>
            </a:r>
            <a:r>
              <a:rPr lang="zh-CN" altLang="en-US" sz="2800">
                <a:solidFill>
                  <a:srgbClr val="00FF00"/>
                </a:solidFill>
                <a:ea typeface="楷体_GB2312"/>
              </a:rPr>
              <a:t>有电介质时的高斯定理  电位移</a:t>
            </a:r>
          </a:p>
        </p:txBody>
      </p:sp>
      <p:sp>
        <p:nvSpPr>
          <p:cNvPr id="9229" name="Text Box 11"/>
          <p:cNvSpPr txBox="1">
            <a:spLocks noChangeArrowheads="1"/>
          </p:cNvSpPr>
          <p:nvPr/>
        </p:nvSpPr>
        <p:spPr bwMode="auto">
          <a:xfrm>
            <a:off x="36513" y="6005513"/>
            <a:ext cx="42116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00FF00"/>
                </a:solidFill>
                <a:ea typeface="楷体_GB2312"/>
              </a:rPr>
              <a:t>§7-10 </a:t>
            </a:r>
            <a:r>
              <a:rPr lang="zh-CN" altLang="en-US" sz="2800">
                <a:solidFill>
                  <a:srgbClr val="00FF00"/>
                </a:solidFill>
                <a:ea typeface="楷体_GB2312"/>
              </a:rPr>
              <a:t>静电场的能量</a:t>
            </a:r>
          </a:p>
        </p:txBody>
      </p:sp>
      <p:sp>
        <p:nvSpPr>
          <p:cNvPr id="9230" name="Text Box 12"/>
          <p:cNvSpPr txBox="1">
            <a:spLocks noChangeArrowheads="1"/>
          </p:cNvSpPr>
          <p:nvPr/>
        </p:nvSpPr>
        <p:spPr bwMode="auto">
          <a:xfrm>
            <a:off x="1804988" y="204788"/>
            <a:ext cx="581818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zh-CN" altLang="en-US">
                <a:solidFill>
                  <a:srgbClr val="00FF00"/>
                </a:solidFill>
                <a:ea typeface="楷体_GB2312"/>
              </a:rPr>
              <a:t>第七章   静止电荷的电场</a:t>
            </a:r>
          </a:p>
        </p:txBody>
      </p:sp>
    </p:spTree>
    <p:extLst>
      <p:ext uri="{BB962C8B-B14F-4D97-AF65-F5344CB8AC3E}">
        <p14:creationId xmlns:p14="http://schemas.microsoft.com/office/powerpoint/2010/main" val="2936365850"/>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2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2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2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2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2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2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2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2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2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p:bldP spid="9221" grpId="0"/>
      <p:bldP spid="9222" grpId="0"/>
      <p:bldP spid="9223" grpId="0"/>
      <p:bldP spid="9224" grpId="0"/>
      <p:bldP spid="9225" grpId="0"/>
      <p:bldP spid="9226" grpId="0"/>
      <p:bldP spid="9227" grpId="0"/>
      <p:bldP spid="9228" grpId="0"/>
      <p:bldP spid="9229" grpId="0"/>
      <p:bldP spid="923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AutoShape 2"/>
          <p:cNvSpPr>
            <a:spLocks noChangeArrowheads="1"/>
          </p:cNvSpPr>
          <p:nvPr/>
        </p:nvSpPr>
        <p:spPr bwMode="auto">
          <a:xfrm>
            <a:off x="739775" y="304800"/>
            <a:ext cx="7432675" cy="838200"/>
          </a:xfrm>
          <a:prstGeom prst="bevel">
            <a:avLst>
              <a:gd name="adj" fmla="val 12500"/>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zh-CN" altLang="en-US" sz="3600">
                <a:solidFill>
                  <a:srgbClr val="FF3300"/>
                </a:solidFill>
                <a:ea typeface="楷体_GB2312"/>
              </a:rPr>
              <a:t>第</a:t>
            </a:r>
            <a:r>
              <a:rPr lang="en-US" altLang="zh-CN" sz="3600">
                <a:solidFill>
                  <a:srgbClr val="FF3300"/>
                </a:solidFill>
                <a:ea typeface="楷体_GB2312"/>
              </a:rPr>
              <a:t>7</a:t>
            </a:r>
            <a:r>
              <a:rPr lang="zh-CN" altLang="en-US" sz="3600">
                <a:solidFill>
                  <a:srgbClr val="FF3300"/>
                </a:solidFill>
                <a:ea typeface="楷体_GB2312"/>
              </a:rPr>
              <a:t>章 静止电荷的电场（静电场）</a:t>
            </a:r>
          </a:p>
        </p:txBody>
      </p:sp>
      <p:sp>
        <p:nvSpPr>
          <p:cNvPr id="120844" name="Rectangle 12"/>
          <p:cNvSpPr>
            <a:spLocks noChangeArrowheads="1"/>
          </p:cNvSpPr>
          <p:nvPr/>
        </p:nvSpPr>
        <p:spPr bwMode="auto">
          <a:xfrm>
            <a:off x="323850" y="1447800"/>
            <a:ext cx="8743950" cy="529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eaLnBrk="1" hangingPunct="1">
              <a:spcBef>
                <a:spcPts val="300"/>
              </a:spcBef>
              <a:defRPr/>
            </a:pPr>
            <a:r>
              <a:rPr lang="en-US" altLang="zh-CN" sz="2400" dirty="0">
                <a:solidFill>
                  <a:srgbClr val="FF0000"/>
                </a:solidFill>
                <a:ea typeface="宋体" charset="-122"/>
                <a:cs typeface="+mn-cs"/>
              </a:rPr>
              <a:t>      </a:t>
            </a:r>
            <a:r>
              <a:rPr lang="zh-CN" altLang="en-US" sz="2400" dirty="0">
                <a:solidFill>
                  <a:srgbClr val="FF0000"/>
                </a:solidFill>
                <a:ea typeface="宋体" charset="-122"/>
                <a:cs typeface="+mn-cs"/>
              </a:rPr>
              <a:t>出发点：</a:t>
            </a:r>
            <a:r>
              <a:rPr lang="zh-CN" altLang="en-US" sz="2400" dirty="0">
                <a:solidFill>
                  <a:srgbClr val="030409"/>
                </a:solidFill>
                <a:ea typeface="宋体" charset="-122"/>
                <a:cs typeface="+mn-cs"/>
              </a:rPr>
              <a:t>带电体在其周围空间产生一种特殊的物质 ～</a:t>
            </a:r>
            <a:r>
              <a:rPr lang="zh-CN" altLang="en-US" sz="2400" dirty="0">
                <a:solidFill>
                  <a:schemeClr val="tx1"/>
                </a:solidFill>
                <a:ea typeface="宋体" charset="-122"/>
                <a:cs typeface="+mn-cs"/>
              </a:rPr>
              <a:t> </a:t>
            </a:r>
            <a:r>
              <a:rPr lang="zh-CN" altLang="en-US" sz="2400" dirty="0">
                <a:solidFill>
                  <a:srgbClr val="FF0000"/>
                </a:solidFill>
                <a:ea typeface="宋体" charset="-122"/>
                <a:cs typeface="+mn-cs"/>
              </a:rPr>
              <a:t>场</a:t>
            </a:r>
            <a:r>
              <a:rPr lang="zh-CN" altLang="en-US" sz="2400" dirty="0">
                <a:solidFill>
                  <a:schemeClr val="tx1"/>
                </a:solidFill>
                <a:ea typeface="宋体" charset="-122"/>
                <a:cs typeface="+mn-cs"/>
              </a:rPr>
              <a:t>。</a:t>
            </a:r>
          </a:p>
          <a:p>
            <a:pPr marL="342900" indent="-342900" eaLnBrk="1" hangingPunct="1">
              <a:spcBef>
                <a:spcPct val="20000"/>
              </a:spcBef>
              <a:defRPr/>
            </a:pPr>
            <a:r>
              <a:rPr lang="zh-CN" altLang="en-US" sz="2400" dirty="0">
                <a:solidFill>
                  <a:srgbClr val="FF0000"/>
                </a:solidFill>
                <a:ea typeface="宋体" charset="-122"/>
                <a:cs typeface="+mn-cs"/>
              </a:rPr>
              <a:t>      条    件：</a:t>
            </a:r>
            <a:r>
              <a:rPr lang="zh-CN" altLang="en-US" sz="2400" dirty="0">
                <a:solidFill>
                  <a:srgbClr val="030409"/>
                </a:solidFill>
                <a:ea typeface="宋体" charset="-122"/>
                <a:cs typeface="+mn-cs"/>
              </a:rPr>
              <a:t>相对于观察者静止的带电体在真空中激发的电  </a:t>
            </a:r>
          </a:p>
          <a:p>
            <a:pPr marL="342900" indent="-342900" eaLnBrk="1" hangingPunct="1">
              <a:spcBef>
                <a:spcPct val="20000"/>
              </a:spcBef>
              <a:defRPr/>
            </a:pPr>
            <a:r>
              <a:rPr lang="zh-CN" altLang="en-US" sz="2400" dirty="0">
                <a:solidFill>
                  <a:srgbClr val="030409"/>
                </a:solidFill>
                <a:ea typeface="宋体" charset="-122"/>
                <a:cs typeface="+mn-cs"/>
              </a:rPr>
              <a:t>                        场 ～</a:t>
            </a:r>
            <a:r>
              <a:rPr lang="zh-CN" altLang="en-US" sz="2400" dirty="0">
                <a:solidFill>
                  <a:srgbClr val="FF0000"/>
                </a:solidFill>
                <a:ea typeface="宋体" charset="-122"/>
                <a:cs typeface="+mn-cs"/>
              </a:rPr>
              <a:t>静电场。</a:t>
            </a:r>
          </a:p>
          <a:p>
            <a:pPr marL="342900" indent="-342900" eaLnBrk="1" hangingPunct="1">
              <a:spcBef>
                <a:spcPts val="300"/>
              </a:spcBef>
              <a:defRPr/>
            </a:pPr>
            <a:r>
              <a:rPr lang="zh-CN" altLang="en-US" sz="2400" dirty="0">
                <a:solidFill>
                  <a:srgbClr val="FF0000"/>
                </a:solidFill>
                <a:ea typeface="宋体" charset="-122"/>
                <a:cs typeface="+mn-cs"/>
              </a:rPr>
              <a:t>      研究方法：</a:t>
            </a:r>
            <a:r>
              <a:rPr lang="zh-CN" altLang="en-US" sz="2400" dirty="0">
                <a:solidFill>
                  <a:srgbClr val="030409"/>
                </a:solidFill>
                <a:ea typeface="宋体" charset="-122"/>
                <a:cs typeface="+mn-cs"/>
              </a:rPr>
              <a:t>由静电学的基本定律</a:t>
            </a:r>
            <a:r>
              <a:rPr lang="en-US" altLang="zh-CN" sz="2400" dirty="0">
                <a:solidFill>
                  <a:srgbClr val="030409"/>
                </a:solidFill>
                <a:latin typeface="宋体" charset="-122"/>
                <a:ea typeface="宋体" charset="-122"/>
                <a:cs typeface="+mn-cs"/>
              </a:rPr>
              <a:t>(</a:t>
            </a:r>
            <a:r>
              <a:rPr lang="zh-CN" altLang="en-US" sz="2400" dirty="0">
                <a:solidFill>
                  <a:srgbClr val="030409"/>
                </a:solidFill>
                <a:ea typeface="宋体" charset="-122"/>
                <a:cs typeface="+mn-cs"/>
              </a:rPr>
              <a:t>库仑定律</a:t>
            </a:r>
            <a:r>
              <a:rPr lang="en-US" altLang="zh-CN" sz="2400" dirty="0">
                <a:solidFill>
                  <a:srgbClr val="030409"/>
                </a:solidFill>
                <a:latin typeface="宋体" charset="-122"/>
                <a:ea typeface="宋体" charset="-122"/>
                <a:cs typeface="+mn-cs"/>
              </a:rPr>
              <a:t>)</a:t>
            </a:r>
            <a:r>
              <a:rPr lang="zh-CN" altLang="en-US" sz="2400" dirty="0">
                <a:solidFill>
                  <a:srgbClr val="030409"/>
                </a:solidFill>
                <a:ea typeface="宋体" charset="-122"/>
                <a:cs typeface="+mn-cs"/>
              </a:rPr>
              <a:t>出发，引出静 </a:t>
            </a:r>
          </a:p>
          <a:p>
            <a:pPr marL="342900" indent="-342900" eaLnBrk="1" hangingPunct="1">
              <a:spcBef>
                <a:spcPts val="300"/>
              </a:spcBef>
              <a:defRPr/>
            </a:pPr>
            <a:r>
              <a:rPr lang="zh-CN" altLang="en-US" sz="2400" dirty="0">
                <a:solidFill>
                  <a:srgbClr val="030409"/>
                </a:solidFill>
                <a:ea typeface="宋体" charset="-122"/>
                <a:cs typeface="+mn-cs"/>
              </a:rPr>
              <a:t>                           电学的各个基本概念和定理，如电场强度、电</a:t>
            </a:r>
          </a:p>
          <a:p>
            <a:pPr marL="342900" indent="-342900" eaLnBrk="1" hangingPunct="1">
              <a:spcBef>
                <a:spcPts val="300"/>
              </a:spcBef>
              <a:defRPr/>
            </a:pPr>
            <a:r>
              <a:rPr lang="zh-CN" altLang="en-US" sz="2400" dirty="0">
                <a:solidFill>
                  <a:srgbClr val="030409"/>
                </a:solidFill>
                <a:ea typeface="宋体" charset="-122"/>
                <a:cs typeface="+mn-cs"/>
              </a:rPr>
              <a:t>                           势、高斯定理和环路定理等。</a:t>
            </a:r>
          </a:p>
          <a:p>
            <a:pPr eaLnBrk="1" hangingPunct="1">
              <a:spcBef>
                <a:spcPct val="20000"/>
              </a:spcBef>
              <a:defRPr/>
            </a:pPr>
            <a:r>
              <a:rPr lang="zh-CN" altLang="en-US" sz="2800" dirty="0">
                <a:solidFill>
                  <a:srgbClr val="FF0000"/>
                </a:solidFill>
                <a:ea typeface="宋体" charset="-122"/>
                <a:cs typeface="+mn-cs"/>
              </a:rPr>
              <a:t>    </a:t>
            </a:r>
            <a:r>
              <a:rPr lang="zh-CN" altLang="en-US" sz="2400" dirty="0">
                <a:solidFill>
                  <a:srgbClr val="FF0000"/>
                </a:solidFill>
                <a:ea typeface="宋体" charset="-122"/>
                <a:cs typeface="+mn-cs"/>
              </a:rPr>
              <a:t> 重点：</a:t>
            </a:r>
            <a:r>
              <a:rPr lang="zh-CN" altLang="en-US" sz="2300" dirty="0">
                <a:solidFill>
                  <a:schemeClr val="tx1"/>
                </a:solidFill>
                <a:ea typeface="楷体_GB2312" pitchFamily="49" charset="-122"/>
                <a:cs typeface="+mn-cs"/>
              </a:rPr>
              <a:t>静电场的电场强度和电势的概念；电场强度的叠加原理和电势叠加原理；电势与电场强度的积分关系</a:t>
            </a:r>
          </a:p>
          <a:p>
            <a:pPr eaLnBrk="1" hangingPunct="1">
              <a:spcBef>
                <a:spcPct val="20000"/>
              </a:spcBef>
              <a:defRPr/>
            </a:pPr>
            <a:r>
              <a:rPr lang="zh-CN" altLang="en-US" sz="2400" dirty="0">
                <a:ea typeface="楷体_GB2312" pitchFamily="49" charset="-122"/>
                <a:cs typeface="+mn-cs"/>
              </a:rPr>
              <a:t>       难点：</a:t>
            </a:r>
            <a:r>
              <a:rPr lang="zh-CN" altLang="en-US" sz="2300" dirty="0">
                <a:solidFill>
                  <a:schemeClr val="tx1"/>
                </a:solidFill>
                <a:ea typeface="楷体_GB2312" pitchFamily="49" charset="-122"/>
                <a:cs typeface="+mn-cs"/>
              </a:rPr>
              <a:t>电势与电场强度的计算 ；掌握静电平衡状态下导体的电场特征及各点电势的计算， 能分析导体上各点的电荷分布情况； 理解有电介质时静电场的高斯定理，并能将其熟练运用于求均匀电介质中的电场强度和电势； 理解电容器电容的概念，并能用电容的定义计算电容器各种连接结构的电容。</a:t>
            </a:r>
          </a:p>
          <a:p>
            <a:pPr marL="342900" indent="-342900" eaLnBrk="1" hangingPunct="1">
              <a:spcBef>
                <a:spcPts val="300"/>
              </a:spcBef>
              <a:defRPr/>
            </a:pPr>
            <a:endParaRPr lang="en-US" altLang="zh-CN" sz="2300" dirty="0">
              <a:solidFill>
                <a:schemeClr val="tx1"/>
              </a:solidFill>
              <a:ea typeface="楷体_GB2312" pitchFamily="49" charset="-122"/>
              <a:cs typeface="+mn-cs"/>
            </a:endParaRPr>
          </a:p>
          <a:p>
            <a:pPr marL="342900" indent="-342900" eaLnBrk="1" hangingPunct="1">
              <a:spcBef>
                <a:spcPts val="300"/>
              </a:spcBef>
              <a:defRPr/>
            </a:pPr>
            <a:endParaRPr lang="zh-CN" altLang="en-US" sz="2800" dirty="0">
              <a:solidFill>
                <a:srgbClr val="FF0000"/>
              </a:solidFill>
              <a:ea typeface="宋体" charset="-122"/>
              <a:cs typeface="+mn-cs"/>
            </a:endParaRPr>
          </a:p>
        </p:txBody>
      </p:sp>
    </p:spTree>
    <p:extLst>
      <p:ext uri="{BB962C8B-B14F-4D97-AF65-F5344CB8AC3E}">
        <p14:creationId xmlns:p14="http://schemas.microsoft.com/office/powerpoint/2010/main" val="3360399419"/>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0844">
                                            <p:txEl>
                                              <p:pRg st="0" end="0"/>
                                            </p:txEl>
                                          </p:spTgt>
                                        </p:tgtEl>
                                        <p:attrNameLst>
                                          <p:attrName>style.visibility</p:attrName>
                                        </p:attrNameLst>
                                      </p:cBhvr>
                                      <p:to>
                                        <p:strVal val="visible"/>
                                      </p:to>
                                    </p:set>
                                    <p:animEffect transition="in" filter="wipe(left)">
                                      <p:cBhvr>
                                        <p:cTn id="7" dur="500"/>
                                        <p:tgtEl>
                                          <p:spTgt spid="12084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0844">
                                            <p:txEl>
                                              <p:pRg st="1" end="1"/>
                                            </p:txEl>
                                          </p:spTgt>
                                        </p:tgtEl>
                                        <p:attrNameLst>
                                          <p:attrName>style.visibility</p:attrName>
                                        </p:attrNameLst>
                                      </p:cBhvr>
                                      <p:to>
                                        <p:strVal val="visible"/>
                                      </p:to>
                                    </p:set>
                                    <p:animEffect transition="in" filter="wipe(left)">
                                      <p:cBhvr>
                                        <p:cTn id="12" dur="500"/>
                                        <p:tgtEl>
                                          <p:spTgt spid="12084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0844">
                                            <p:txEl>
                                              <p:pRg st="2" end="2"/>
                                            </p:txEl>
                                          </p:spTgt>
                                        </p:tgtEl>
                                        <p:attrNameLst>
                                          <p:attrName>style.visibility</p:attrName>
                                        </p:attrNameLst>
                                      </p:cBhvr>
                                      <p:to>
                                        <p:strVal val="visible"/>
                                      </p:to>
                                    </p:set>
                                    <p:animEffect transition="in" filter="wipe(left)">
                                      <p:cBhvr>
                                        <p:cTn id="17" dur="500"/>
                                        <p:tgtEl>
                                          <p:spTgt spid="12084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0844">
                                            <p:txEl>
                                              <p:pRg st="3" end="3"/>
                                            </p:txEl>
                                          </p:spTgt>
                                        </p:tgtEl>
                                        <p:attrNameLst>
                                          <p:attrName>style.visibility</p:attrName>
                                        </p:attrNameLst>
                                      </p:cBhvr>
                                      <p:to>
                                        <p:strVal val="visible"/>
                                      </p:to>
                                    </p:set>
                                    <p:animEffect transition="in" filter="wipe(left)">
                                      <p:cBhvr>
                                        <p:cTn id="22" dur="500"/>
                                        <p:tgtEl>
                                          <p:spTgt spid="12084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0844">
                                            <p:txEl>
                                              <p:pRg st="4" end="4"/>
                                            </p:txEl>
                                          </p:spTgt>
                                        </p:tgtEl>
                                        <p:attrNameLst>
                                          <p:attrName>style.visibility</p:attrName>
                                        </p:attrNameLst>
                                      </p:cBhvr>
                                      <p:to>
                                        <p:strVal val="visible"/>
                                      </p:to>
                                    </p:set>
                                    <p:animEffect transition="in" filter="wipe(left)">
                                      <p:cBhvr>
                                        <p:cTn id="27" dur="500"/>
                                        <p:tgtEl>
                                          <p:spTgt spid="120844">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0844">
                                            <p:txEl>
                                              <p:pRg st="5" end="5"/>
                                            </p:txEl>
                                          </p:spTgt>
                                        </p:tgtEl>
                                        <p:attrNameLst>
                                          <p:attrName>style.visibility</p:attrName>
                                        </p:attrNameLst>
                                      </p:cBhvr>
                                      <p:to>
                                        <p:strVal val="visible"/>
                                      </p:to>
                                    </p:set>
                                    <p:animEffect transition="in" filter="wipe(left)">
                                      <p:cBhvr>
                                        <p:cTn id="32" dur="500"/>
                                        <p:tgtEl>
                                          <p:spTgt spid="120844">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0844">
                                            <p:txEl>
                                              <p:pRg st="6" end="6"/>
                                            </p:txEl>
                                          </p:spTgt>
                                        </p:tgtEl>
                                        <p:attrNameLst>
                                          <p:attrName>style.visibility</p:attrName>
                                        </p:attrNameLst>
                                      </p:cBhvr>
                                      <p:to>
                                        <p:strVal val="visible"/>
                                      </p:to>
                                    </p:set>
                                    <p:animEffect transition="in" filter="wipe(left)">
                                      <p:cBhvr>
                                        <p:cTn id="37" dur="500"/>
                                        <p:tgtEl>
                                          <p:spTgt spid="120844">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20844">
                                            <p:txEl>
                                              <p:pRg st="7" end="7"/>
                                            </p:txEl>
                                          </p:spTgt>
                                        </p:tgtEl>
                                        <p:attrNameLst>
                                          <p:attrName>style.visibility</p:attrName>
                                        </p:attrNameLst>
                                      </p:cBhvr>
                                      <p:to>
                                        <p:strVal val="visible"/>
                                      </p:to>
                                    </p:set>
                                    <p:animEffect transition="in" filter="wipe(left)">
                                      <p:cBhvr>
                                        <p:cTn id="42" dur="500"/>
                                        <p:tgtEl>
                                          <p:spTgt spid="12084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44"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78B34DB0-581B-4F3F-90A0-F7BDA5DEBCA9}"/>
              </a:ext>
            </a:extLst>
          </p:cNvPr>
          <p:cNvPicPr>
            <a:picLocks noChangeAspect="1"/>
          </p:cNvPicPr>
          <p:nvPr/>
        </p:nvPicPr>
        <p:blipFill>
          <a:blip r:embed="rId2"/>
          <a:stretch>
            <a:fillRect/>
          </a:stretch>
        </p:blipFill>
        <p:spPr>
          <a:xfrm>
            <a:off x="235093" y="2659454"/>
            <a:ext cx="7020272" cy="4040607"/>
          </a:xfrm>
          <a:prstGeom prst="rect">
            <a:avLst/>
          </a:prstGeom>
        </p:spPr>
      </p:pic>
      <p:sp>
        <p:nvSpPr>
          <p:cNvPr id="120844" name="Rectangle 12"/>
          <p:cNvSpPr>
            <a:spLocks noChangeArrowheads="1"/>
          </p:cNvSpPr>
          <p:nvPr/>
        </p:nvSpPr>
        <p:spPr bwMode="auto">
          <a:xfrm>
            <a:off x="107950" y="10663"/>
            <a:ext cx="8743950" cy="275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ts val="300"/>
              </a:spcBef>
              <a:buFontTx/>
              <a:buNone/>
            </a:pPr>
            <a:r>
              <a:rPr lang="zh-CN" altLang="en-US" sz="2800">
                <a:solidFill>
                  <a:srgbClr val="FF0000"/>
                </a:solidFill>
                <a:ea typeface="楷体_GB2312"/>
              </a:rPr>
              <a:t>真空中的静电场部分</a:t>
            </a:r>
            <a:endParaRPr lang="en-US" altLang="zh-CN" sz="2800">
              <a:solidFill>
                <a:srgbClr val="FF0000"/>
              </a:solidFill>
              <a:ea typeface="楷体_GB2312"/>
            </a:endParaRPr>
          </a:p>
          <a:p>
            <a:pPr eaLnBrk="1" hangingPunct="1">
              <a:spcBef>
                <a:spcPts val="300"/>
              </a:spcBef>
              <a:buFontTx/>
              <a:buNone/>
            </a:pPr>
            <a:r>
              <a:rPr lang="zh-CN" altLang="en-US" sz="2800">
                <a:solidFill>
                  <a:srgbClr val="FF0000"/>
                </a:solidFill>
                <a:ea typeface="楷体_GB2312"/>
              </a:rPr>
              <a:t>主要内容：</a:t>
            </a:r>
          </a:p>
          <a:p>
            <a:pPr eaLnBrk="1" hangingPunct="1">
              <a:spcBef>
                <a:spcPts val="300"/>
              </a:spcBef>
              <a:buFontTx/>
              <a:buNone/>
            </a:pPr>
            <a:r>
              <a:rPr lang="zh-CN" altLang="en-US" sz="2800">
                <a:solidFill>
                  <a:schemeClr val="hlink"/>
                </a:solidFill>
                <a:ea typeface="楷体_GB2312"/>
              </a:rPr>
              <a:t> 一、 两个概念</a:t>
            </a:r>
            <a:r>
              <a:rPr lang="en-US" altLang="zh-CN" sz="2800">
                <a:solidFill>
                  <a:schemeClr val="hlink"/>
                </a:solidFill>
                <a:latin typeface="宋体" panose="02010600030101010101" pitchFamily="2" charset="-122"/>
                <a:ea typeface="楷体_GB2312"/>
              </a:rPr>
              <a:t>(</a:t>
            </a:r>
            <a:r>
              <a:rPr lang="zh-CN" altLang="en-US" sz="2800">
                <a:solidFill>
                  <a:schemeClr val="hlink"/>
                </a:solidFill>
                <a:ea typeface="楷体_GB2312"/>
              </a:rPr>
              <a:t>描述电场性质的两个基本物理量</a:t>
            </a:r>
            <a:r>
              <a:rPr lang="en-US" altLang="zh-CN" sz="2800">
                <a:solidFill>
                  <a:schemeClr val="hlink"/>
                </a:solidFill>
                <a:latin typeface="宋体" panose="02010600030101010101" pitchFamily="2" charset="-122"/>
                <a:ea typeface="楷体_GB2312"/>
              </a:rPr>
              <a:t>)</a:t>
            </a:r>
          </a:p>
          <a:p>
            <a:pPr eaLnBrk="1" hangingPunct="1">
              <a:spcBef>
                <a:spcPts val="300"/>
              </a:spcBef>
              <a:buFontTx/>
              <a:buNone/>
            </a:pPr>
            <a:r>
              <a:rPr lang="en-US" altLang="zh-CN" sz="2400">
                <a:solidFill>
                  <a:srgbClr val="030409"/>
                </a:solidFill>
                <a:ea typeface="楷体_GB2312"/>
              </a:rPr>
              <a:t>     1. </a:t>
            </a:r>
            <a:r>
              <a:rPr lang="zh-CN" altLang="en-US" sz="2400">
                <a:solidFill>
                  <a:srgbClr val="030409"/>
                </a:solidFill>
                <a:ea typeface="楷体_GB2312"/>
              </a:rPr>
              <a:t>从力的角度出发给出表征静电场性质的</a:t>
            </a:r>
            <a:r>
              <a:rPr lang="zh-CN" altLang="en-US" sz="2400">
                <a:solidFill>
                  <a:srgbClr val="FF0000"/>
                </a:solidFill>
                <a:ea typeface="楷体_GB2312"/>
              </a:rPr>
              <a:t>电场强度</a:t>
            </a:r>
            <a:r>
              <a:rPr lang="en-US" altLang="zh-CN" sz="2400">
                <a:solidFill>
                  <a:srgbClr val="FF0000"/>
                </a:solidFill>
                <a:ea typeface="楷体_GB2312"/>
              </a:rPr>
              <a:t>E</a:t>
            </a:r>
            <a:r>
              <a:rPr lang="en-US" altLang="zh-CN" sz="2400">
                <a:solidFill>
                  <a:srgbClr val="030409"/>
                </a:solidFill>
                <a:latin typeface="宋体" panose="02010600030101010101" pitchFamily="2" charset="-122"/>
                <a:ea typeface="楷体_GB2312"/>
              </a:rPr>
              <a:t>(</a:t>
            </a:r>
            <a:r>
              <a:rPr lang="zh-CN" altLang="en-US" sz="2400">
                <a:solidFill>
                  <a:srgbClr val="030409"/>
                </a:solidFill>
                <a:ea typeface="楷体_GB2312"/>
              </a:rPr>
              <a:t>矢量</a:t>
            </a:r>
            <a:r>
              <a:rPr lang="en-US" altLang="zh-CN" sz="2400">
                <a:solidFill>
                  <a:srgbClr val="030409"/>
                </a:solidFill>
                <a:ea typeface="楷体_GB2312"/>
              </a:rPr>
              <a:t>)</a:t>
            </a:r>
            <a:r>
              <a:rPr lang="zh-CN" altLang="en-US" sz="2400">
                <a:solidFill>
                  <a:srgbClr val="030409"/>
                </a:solidFill>
                <a:ea typeface="楷体_GB2312"/>
              </a:rPr>
              <a:t>。</a:t>
            </a:r>
          </a:p>
          <a:p>
            <a:pPr eaLnBrk="1" hangingPunct="1">
              <a:buFontTx/>
              <a:buNone/>
            </a:pPr>
            <a:r>
              <a:rPr lang="zh-CN" altLang="en-US" sz="2400">
                <a:ea typeface="楷体_GB2312"/>
              </a:rPr>
              <a:t>     </a:t>
            </a:r>
            <a:r>
              <a:rPr lang="en-US" altLang="zh-CN" sz="2400">
                <a:ea typeface="楷体_GB2312"/>
              </a:rPr>
              <a:t>2</a:t>
            </a:r>
            <a:r>
              <a:rPr lang="en-US" altLang="zh-CN" sz="2400">
                <a:solidFill>
                  <a:srgbClr val="030409"/>
                </a:solidFill>
                <a:ea typeface="楷体_GB2312"/>
              </a:rPr>
              <a:t>. </a:t>
            </a:r>
            <a:r>
              <a:rPr lang="zh-CN" altLang="en-US" sz="2400">
                <a:solidFill>
                  <a:srgbClr val="030409"/>
                </a:solidFill>
                <a:ea typeface="楷体_GB2312"/>
              </a:rPr>
              <a:t>从能量的角度出发给出表征静电场性质的</a:t>
            </a:r>
            <a:r>
              <a:rPr lang="zh-CN" altLang="en-US" sz="2400">
                <a:solidFill>
                  <a:srgbClr val="FF0000"/>
                </a:solidFill>
                <a:ea typeface="楷体_GB2312"/>
              </a:rPr>
              <a:t>电势 </a:t>
            </a:r>
            <a:r>
              <a:rPr lang="en-US" altLang="zh-CN" sz="2400">
                <a:solidFill>
                  <a:srgbClr val="FF0000"/>
                </a:solidFill>
                <a:ea typeface="楷体_GB2312"/>
              </a:rPr>
              <a:t>V</a:t>
            </a:r>
            <a:r>
              <a:rPr lang="en-US" altLang="zh-CN" sz="2400">
                <a:solidFill>
                  <a:srgbClr val="030409"/>
                </a:solidFill>
                <a:latin typeface="宋体" panose="02010600030101010101" pitchFamily="2" charset="-122"/>
                <a:ea typeface="楷体_GB2312"/>
              </a:rPr>
              <a:t>(</a:t>
            </a:r>
            <a:r>
              <a:rPr lang="zh-CN" altLang="en-US" sz="2400">
                <a:solidFill>
                  <a:srgbClr val="030409"/>
                </a:solidFill>
                <a:ea typeface="楷体_GB2312"/>
              </a:rPr>
              <a:t>标量</a:t>
            </a:r>
            <a:r>
              <a:rPr lang="en-US" altLang="zh-CN" sz="2400">
                <a:solidFill>
                  <a:srgbClr val="030409"/>
                </a:solidFill>
                <a:latin typeface="宋体" panose="02010600030101010101" pitchFamily="2" charset="-122"/>
                <a:ea typeface="楷体_GB2312"/>
              </a:rPr>
              <a:t>)</a:t>
            </a:r>
            <a:r>
              <a:rPr lang="zh-CN" altLang="en-US" sz="2400">
                <a:solidFill>
                  <a:srgbClr val="030409"/>
                </a:solidFill>
                <a:ea typeface="楷体_GB2312"/>
              </a:rPr>
              <a:t>。</a:t>
            </a:r>
          </a:p>
          <a:p>
            <a:pPr eaLnBrk="1" hangingPunct="1">
              <a:spcBef>
                <a:spcPts val="400"/>
              </a:spcBef>
            </a:pPr>
            <a:endParaRPr lang="en-US" altLang="zh-CN" sz="2400">
              <a:ea typeface="楷体_GB2312"/>
            </a:endParaRPr>
          </a:p>
        </p:txBody>
      </p:sp>
      <p:pic>
        <p:nvPicPr>
          <p:cNvPr id="10" name="图片 9">
            <a:extLst>
              <a:ext uri="{FF2B5EF4-FFF2-40B4-BE49-F238E27FC236}">
                <a16:creationId xmlns:a16="http://schemas.microsoft.com/office/drawing/2014/main" id="{CF7B132D-FE7A-4BBB-B2E6-719FCF98102E}"/>
              </a:ext>
            </a:extLst>
          </p:cNvPr>
          <p:cNvPicPr>
            <a:picLocks noChangeAspect="1"/>
          </p:cNvPicPr>
          <p:nvPr/>
        </p:nvPicPr>
        <p:blipFill>
          <a:blip r:embed="rId3"/>
          <a:stretch>
            <a:fillRect/>
          </a:stretch>
        </p:blipFill>
        <p:spPr>
          <a:xfrm>
            <a:off x="1403648" y="2351603"/>
            <a:ext cx="1368152" cy="664941"/>
          </a:xfrm>
          <a:prstGeom prst="rect">
            <a:avLst/>
          </a:prstGeom>
          <a:ln>
            <a:solidFill>
              <a:srgbClr val="FF0000"/>
            </a:solidFill>
          </a:ln>
        </p:spPr>
      </p:pic>
      <p:pic>
        <p:nvPicPr>
          <p:cNvPr id="13" name="图片 12">
            <a:extLst>
              <a:ext uri="{FF2B5EF4-FFF2-40B4-BE49-F238E27FC236}">
                <a16:creationId xmlns:a16="http://schemas.microsoft.com/office/drawing/2014/main" id="{36618497-97C1-4386-BD0E-48E7A12B1A4A}"/>
              </a:ext>
            </a:extLst>
          </p:cNvPr>
          <p:cNvPicPr>
            <a:picLocks noChangeAspect="1"/>
          </p:cNvPicPr>
          <p:nvPr/>
        </p:nvPicPr>
        <p:blipFill>
          <a:blip r:embed="rId4"/>
          <a:stretch>
            <a:fillRect/>
          </a:stretch>
        </p:blipFill>
        <p:spPr>
          <a:xfrm>
            <a:off x="2914560" y="2387897"/>
            <a:ext cx="1531578" cy="592352"/>
          </a:xfrm>
          <a:prstGeom prst="rect">
            <a:avLst/>
          </a:prstGeom>
          <a:ln>
            <a:solidFill>
              <a:srgbClr val="FF0000"/>
            </a:solidFill>
          </a:ln>
        </p:spPr>
      </p:pic>
      <p:sp>
        <p:nvSpPr>
          <p:cNvPr id="16" name="矩形 15">
            <a:extLst>
              <a:ext uri="{FF2B5EF4-FFF2-40B4-BE49-F238E27FC236}">
                <a16:creationId xmlns:a16="http://schemas.microsoft.com/office/drawing/2014/main" id="{89B181DA-CBA3-44A0-B19A-8E3FDA9F2953}"/>
              </a:ext>
            </a:extLst>
          </p:cNvPr>
          <p:cNvSpPr/>
          <p:nvPr/>
        </p:nvSpPr>
        <p:spPr>
          <a:xfrm>
            <a:off x="6906551" y="2741554"/>
            <a:ext cx="697627" cy="400110"/>
          </a:xfrm>
          <a:prstGeom prst="rect">
            <a:avLst/>
          </a:prstGeom>
        </p:spPr>
        <p:txBody>
          <a:bodyPr wrap="none">
            <a:spAutoFit/>
          </a:bodyPr>
          <a:lstStyle/>
          <a:p>
            <a:r>
              <a:rPr lang="zh-CN" altLang="en-US" sz="2000">
                <a:solidFill>
                  <a:srgbClr val="FF0000"/>
                </a:solidFill>
              </a:rPr>
              <a:t>有源</a:t>
            </a:r>
          </a:p>
        </p:txBody>
      </p:sp>
      <p:sp>
        <p:nvSpPr>
          <p:cNvPr id="17" name="矩形 16">
            <a:extLst>
              <a:ext uri="{FF2B5EF4-FFF2-40B4-BE49-F238E27FC236}">
                <a16:creationId xmlns:a16="http://schemas.microsoft.com/office/drawing/2014/main" id="{58E2707F-0C92-412C-A6A6-3287F67D4F66}"/>
              </a:ext>
            </a:extLst>
          </p:cNvPr>
          <p:cNvSpPr/>
          <p:nvPr/>
        </p:nvSpPr>
        <p:spPr>
          <a:xfrm>
            <a:off x="3331535" y="6146708"/>
            <a:ext cx="697627" cy="400110"/>
          </a:xfrm>
          <a:prstGeom prst="rect">
            <a:avLst/>
          </a:prstGeom>
        </p:spPr>
        <p:txBody>
          <a:bodyPr wrap="none">
            <a:spAutoFit/>
          </a:bodyPr>
          <a:lstStyle/>
          <a:p>
            <a:r>
              <a:rPr lang="zh-CN" altLang="en-US" sz="2000">
                <a:solidFill>
                  <a:srgbClr val="FF0000"/>
                </a:solidFill>
              </a:rPr>
              <a:t>无旋</a:t>
            </a:r>
          </a:p>
        </p:txBody>
      </p:sp>
      <p:pic>
        <p:nvPicPr>
          <p:cNvPr id="19" name="图片 18">
            <a:extLst>
              <a:ext uri="{FF2B5EF4-FFF2-40B4-BE49-F238E27FC236}">
                <a16:creationId xmlns:a16="http://schemas.microsoft.com/office/drawing/2014/main" id="{2324E183-24E1-4388-A7F0-66DC1C951832}"/>
              </a:ext>
            </a:extLst>
          </p:cNvPr>
          <p:cNvPicPr>
            <a:picLocks noChangeAspect="1"/>
          </p:cNvPicPr>
          <p:nvPr/>
        </p:nvPicPr>
        <p:blipFill>
          <a:blip r:embed="rId5"/>
          <a:stretch>
            <a:fillRect/>
          </a:stretch>
        </p:blipFill>
        <p:spPr>
          <a:xfrm>
            <a:off x="5720504" y="5954581"/>
            <a:ext cx="1709267" cy="384254"/>
          </a:xfrm>
          <a:prstGeom prst="rect">
            <a:avLst/>
          </a:prstGeom>
          <a:ln>
            <a:solidFill>
              <a:srgbClr val="FF0000"/>
            </a:solidFill>
          </a:ln>
        </p:spPr>
      </p:pic>
      <p:sp>
        <p:nvSpPr>
          <p:cNvPr id="20" name="矩形 19">
            <a:extLst>
              <a:ext uri="{FF2B5EF4-FFF2-40B4-BE49-F238E27FC236}">
                <a16:creationId xmlns:a16="http://schemas.microsoft.com/office/drawing/2014/main" id="{5386F851-D567-47B2-99EE-D9A7165F4EE1}"/>
              </a:ext>
            </a:extLst>
          </p:cNvPr>
          <p:cNvSpPr/>
          <p:nvPr/>
        </p:nvSpPr>
        <p:spPr>
          <a:xfrm>
            <a:off x="7460078" y="5985126"/>
            <a:ext cx="1479517" cy="323165"/>
          </a:xfrm>
          <a:prstGeom prst="rect">
            <a:avLst/>
          </a:prstGeom>
        </p:spPr>
        <p:txBody>
          <a:bodyPr wrap="square">
            <a:spAutoFit/>
          </a:bodyPr>
          <a:lstStyle/>
          <a:p>
            <a:r>
              <a:rPr lang="en-US" altLang="zh-CN" sz="1500">
                <a:solidFill>
                  <a:schemeClr val="folHlink"/>
                </a:solidFill>
                <a:latin typeface="Arial" panose="020B0604020202020204" pitchFamily="34" charset="0"/>
              </a:rPr>
              <a:t>+</a:t>
            </a:r>
            <a:r>
              <a:rPr lang="zh-CN" altLang="en-US" sz="1500">
                <a:solidFill>
                  <a:schemeClr val="folHlink"/>
                </a:solidFill>
                <a:latin typeface="Arial" panose="020B0604020202020204" pitchFamily="34" charset="0"/>
              </a:rPr>
              <a:t>电势叠加原理 </a:t>
            </a:r>
            <a:endParaRPr lang="zh-CN" altLang="en-US" sz="1500"/>
          </a:p>
        </p:txBody>
      </p:sp>
    </p:spTree>
    <p:extLst>
      <p:ext uri="{BB962C8B-B14F-4D97-AF65-F5344CB8AC3E}">
        <p14:creationId xmlns:p14="http://schemas.microsoft.com/office/powerpoint/2010/main" val="2253303317"/>
      </p:ext>
    </p:extLst>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44" name="Rectangle 12"/>
          <p:cNvSpPr>
            <a:spLocks noChangeArrowheads="1"/>
          </p:cNvSpPr>
          <p:nvPr/>
        </p:nvSpPr>
        <p:spPr bwMode="auto">
          <a:xfrm>
            <a:off x="107950" y="332656"/>
            <a:ext cx="8743950" cy="1232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ts val="300"/>
              </a:spcBef>
              <a:buFontTx/>
              <a:buNone/>
            </a:pPr>
            <a:r>
              <a:rPr lang="zh-CN" altLang="en-US" sz="2800">
                <a:solidFill>
                  <a:srgbClr val="FF0000"/>
                </a:solidFill>
                <a:ea typeface="楷体_GB2312"/>
              </a:rPr>
              <a:t>真空中的静电场部分</a:t>
            </a:r>
            <a:endParaRPr lang="en-US" altLang="zh-CN" sz="2800">
              <a:solidFill>
                <a:srgbClr val="FF0000"/>
              </a:solidFill>
              <a:ea typeface="楷体_GB2312"/>
            </a:endParaRPr>
          </a:p>
          <a:p>
            <a:pPr eaLnBrk="1" hangingPunct="1">
              <a:spcBef>
                <a:spcPts val="300"/>
              </a:spcBef>
              <a:buFontTx/>
              <a:buNone/>
            </a:pPr>
            <a:r>
              <a:rPr lang="zh-CN" altLang="en-US" sz="2800">
                <a:solidFill>
                  <a:srgbClr val="FF0000"/>
                </a:solidFill>
                <a:ea typeface="楷体_GB2312"/>
              </a:rPr>
              <a:t>主要内容：</a:t>
            </a:r>
          </a:p>
          <a:p>
            <a:pPr eaLnBrk="1" hangingPunct="1">
              <a:spcBef>
                <a:spcPts val="300"/>
              </a:spcBef>
              <a:buFontTx/>
              <a:buNone/>
            </a:pPr>
            <a:r>
              <a:rPr lang="zh-CN" altLang="en-US" sz="2800">
                <a:solidFill>
                  <a:schemeClr val="hlink"/>
                </a:solidFill>
                <a:ea typeface="楷体_GB2312"/>
              </a:rPr>
              <a:t> </a:t>
            </a:r>
            <a:endParaRPr lang="en-US" altLang="zh-CN" sz="2400">
              <a:ea typeface="楷体_GB2312"/>
            </a:endParaRPr>
          </a:p>
        </p:txBody>
      </p:sp>
      <p:sp>
        <p:nvSpPr>
          <p:cNvPr id="4" name="Rectangle 5"/>
          <p:cNvSpPr>
            <a:spLocks noChangeArrowheads="1"/>
          </p:cNvSpPr>
          <p:nvPr/>
        </p:nvSpPr>
        <p:spPr bwMode="auto">
          <a:xfrm>
            <a:off x="317500" y="1772816"/>
            <a:ext cx="8534400" cy="45166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rgbClr val="A50021"/>
              </a:buClr>
              <a:buSzPct val="75000"/>
              <a:buFont typeface="Wingdings" panose="05000000000000000000" pitchFamily="2" charset="2"/>
              <a:buNone/>
            </a:pPr>
            <a:r>
              <a:rPr lang="zh-CN" altLang="en-US" sz="2500">
                <a:solidFill>
                  <a:schemeClr val="hlink"/>
                </a:solidFill>
                <a:ea typeface="楷体_GB2312"/>
              </a:rPr>
              <a:t>二、 一个定律  两个定理</a:t>
            </a:r>
          </a:p>
          <a:p>
            <a:pPr eaLnBrk="1" hangingPunct="1">
              <a:spcBef>
                <a:spcPct val="50000"/>
              </a:spcBef>
              <a:buClr>
                <a:srgbClr val="A50021"/>
              </a:buClr>
              <a:buSzPct val="75000"/>
              <a:buFont typeface="Wingdings" panose="05000000000000000000" pitchFamily="2" charset="2"/>
              <a:buNone/>
            </a:pPr>
            <a:r>
              <a:rPr lang="zh-CN" altLang="en-US" sz="2500">
                <a:ea typeface="楷体_GB2312"/>
              </a:rPr>
              <a:t>    </a:t>
            </a:r>
            <a:r>
              <a:rPr lang="en-US" altLang="zh-CN" sz="2500">
                <a:ea typeface="楷体_GB2312"/>
              </a:rPr>
              <a:t>1. </a:t>
            </a:r>
            <a:r>
              <a:rPr lang="zh-CN" altLang="en-US" sz="2500">
                <a:solidFill>
                  <a:srgbClr val="FF0000"/>
                </a:solidFill>
                <a:ea typeface="楷体_GB2312"/>
              </a:rPr>
              <a:t>库仑定律</a:t>
            </a:r>
            <a:r>
              <a:rPr lang="zh-CN" altLang="en-US" sz="2500" b="0">
                <a:ea typeface="楷体_GB2312"/>
              </a:rPr>
              <a:t>；</a:t>
            </a:r>
            <a:r>
              <a:rPr lang="en-US" altLang="zh-CN" sz="2500">
                <a:ea typeface="楷体_GB2312"/>
              </a:rPr>
              <a:t>2. </a:t>
            </a:r>
            <a:r>
              <a:rPr lang="zh-CN" altLang="en-US" sz="2500">
                <a:solidFill>
                  <a:srgbClr val="FF0000"/>
                </a:solidFill>
                <a:ea typeface="楷体_GB2312"/>
              </a:rPr>
              <a:t>高斯定理</a:t>
            </a:r>
            <a:r>
              <a:rPr lang="zh-CN" altLang="en-US" sz="2500" b="0">
                <a:ea typeface="楷体_GB2312"/>
              </a:rPr>
              <a:t>；</a:t>
            </a:r>
            <a:r>
              <a:rPr lang="en-US" altLang="zh-CN" sz="2500">
                <a:ea typeface="楷体_GB2312"/>
              </a:rPr>
              <a:t>3. </a:t>
            </a:r>
            <a:r>
              <a:rPr lang="zh-CN" altLang="en-US" sz="2500">
                <a:solidFill>
                  <a:srgbClr val="FF0000"/>
                </a:solidFill>
                <a:ea typeface="楷体_GB2312"/>
              </a:rPr>
              <a:t>环路定理</a:t>
            </a:r>
            <a:r>
              <a:rPr lang="zh-CN" altLang="en-US" sz="2500" b="0">
                <a:ea typeface="楷体_GB2312"/>
              </a:rPr>
              <a:t>。</a:t>
            </a:r>
          </a:p>
          <a:p>
            <a:pPr eaLnBrk="1" hangingPunct="1">
              <a:spcBef>
                <a:spcPct val="50000"/>
              </a:spcBef>
              <a:buClr>
                <a:srgbClr val="A50021"/>
              </a:buClr>
              <a:buSzPct val="75000"/>
              <a:buFont typeface="Wingdings" panose="05000000000000000000" pitchFamily="2" charset="2"/>
              <a:buNone/>
            </a:pPr>
            <a:r>
              <a:rPr lang="zh-CN" altLang="en-US" sz="2500">
                <a:solidFill>
                  <a:srgbClr val="030409"/>
                </a:solidFill>
                <a:ea typeface="楷体_GB2312"/>
              </a:rPr>
              <a:t>    高斯定理和环路定理是描述静电场性质的两个基本定理，分别揭示静电场性质的一个侧面</a:t>
            </a:r>
            <a:r>
              <a:rPr lang="en-US" altLang="zh-CN" sz="2500">
                <a:solidFill>
                  <a:srgbClr val="030409"/>
                </a:solidFill>
                <a:latin typeface="宋体" panose="02010600030101010101" pitchFamily="2" charset="-122"/>
                <a:ea typeface="楷体_GB2312"/>
              </a:rPr>
              <a:t>(</a:t>
            </a:r>
            <a:r>
              <a:rPr lang="zh-CN" altLang="en-US" sz="2500">
                <a:solidFill>
                  <a:srgbClr val="030409"/>
                </a:solidFill>
                <a:ea typeface="楷体_GB2312"/>
              </a:rPr>
              <a:t>有源、无旋</a:t>
            </a:r>
            <a:r>
              <a:rPr lang="en-US" altLang="zh-CN" sz="2500">
                <a:solidFill>
                  <a:srgbClr val="030409"/>
                </a:solidFill>
                <a:latin typeface="宋体" panose="02010600030101010101" pitchFamily="2" charset="-122"/>
                <a:ea typeface="楷体_GB2312"/>
              </a:rPr>
              <a:t>)</a:t>
            </a:r>
            <a:r>
              <a:rPr lang="zh-CN" altLang="en-US" sz="2500">
                <a:solidFill>
                  <a:srgbClr val="030409"/>
                </a:solidFill>
                <a:ea typeface="楷体_GB2312"/>
              </a:rPr>
              <a:t>，是麦克斯韦电磁理论的四个基本方程中的两个</a:t>
            </a:r>
            <a:r>
              <a:rPr lang="en-US" altLang="zh-CN" sz="2500">
                <a:solidFill>
                  <a:srgbClr val="030409"/>
                </a:solidFill>
                <a:latin typeface="宋体" panose="02010600030101010101" pitchFamily="2" charset="-122"/>
                <a:ea typeface="楷体_GB2312"/>
              </a:rPr>
              <a:t>(</a:t>
            </a:r>
            <a:r>
              <a:rPr lang="zh-CN" altLang="en-US" sz="2500">
                <a:solidFill>
                  <a:srgbClr val="030409"/>
                </a:solidFill>
                <a:ea typeface="楷体_GB2312"/>
              </a:rPr>
              <a:t>真空情况下</a:t>
            </a:r>
            <a:r>
              <a:rPr lang="en-US" altLang="zh-CN" sz="2500">
                <a:solidFill>
                  <a:srgbClr val="030409"/>
                </a:solidFill>
                <a:latin typeface="宋体" panose="02010600030101010101" pitchFamily="2" charset="-122"/>
                <a:ea typeface="楷体_GB2312"/>
              </a:rPr>
              <a:t>)</a:t>
            </a:r>
            <a:r>
              <a:rPr lang="zh-CN" altLang="en-US" sz="2500">
                <a:solidFill>
                  <a:srgbClr val="030409"/>
                </a:solidFill>
                <a:ea typeface="楷体_GB2312"/>
              </a:rPr>
              <a:t>。</a:t>
            </a:r>
          </a:p>
          <a:p>
            <a:pPr eaLnBrk="1" hangingPunct="1">
              <a:spcBef>
                <a:spcPct val="50000"/>
              </a:spcBef>
              <a:buClr>
                <a:srgbClr val="A50021"/>
              </a:buClr>
              <a:buSzPct val="75000"/>
              <a:buFont typeface="Wingdings" panose="05000000000000000000" pitchFamily="2" charset="2"/>
              <a:buNone/>
            </a:pPr>
            <a:r>
              <a:rPr lang="zh-CN" altLang="en-US" sz="2500">
                <a:solidFill>
                  <a:schemeClr val="hlink"/>
                </a:solidFill>
                <a:ea typeface="楷体_GB2312"/>
              </a:rPr>
              <a:t>三、 三种求电场强度、两种求电势的方法</a:t>
            </a:r>
          </a:p>
          <a:p>
            <a:pPr eaLnBrk="1" hangingPunct="1">
              <a:spcBef>
                <a:spcPct val="50000"/>
              </a:spcBef>
              <a:buClr>
                <a:srgbClr val="A50021"/>
              </a:buClr>
              <a:buSzPct val="75000"/>
              <a:buFont typeface="Wingdings" panose="05000000000000000000" pitchFamily="2" charset="2"/>
              <a:buNone/>
            </a:pPr>
            <a:r>
              <a:rPr lang="en-US" altLang="zh-CN" sz="2500">
                <a:solidFill>
                  <a:srgbClr val="FF3300"/>
                </a:solidFill>
                <a:ea typeface="楷体_GB2312"/>
              </a:rPr>
              <a:t>A</a:t>
            </a:r>
            <a:r>
              <a:rPr lang="en-US" altLang="zh-CN" sz="2500">
                <a:solidFill>
                  <a:srgbClr val="FF3300"/>
                </a:solidFill>
                <a:latin typeface="宋体" panose="02010600030101010101" pitchFamily="2" charset="-122"/>
                <a:ea typeface="楷体_GB2312"/>
              </a:rPr>
              <a:t>)</a:t>
            </a:r>
            <a:r>
              <a:rPr lang="zh-CN" altLang="en-US" sz="2500">
                <a:solidFill>
                  <a:srgbClr val="FF3300"/>
                </a:solidFill>
                <a:ea typeface="楷体_GB2312"/>
              </a:rPr>
              <a:t>电场强度的计算</a:t>
            </a:r>
          </a:p>
          <a:p>
            <a:pPr eaLnBrk="1" hangingPunct="1">
              <a:spcBef>
                <a:spcPct val="50000"/>
              </a:spcBef>
              <a:buClr>
                <a:srgbClr val="A50021"/>
              </a:buClr>
              <a:buSzPct val="75000"/>
              <a:buFont typeface="Wingdings" panose="05000000000000000000" pitchFamily="2" charset="2"/>
              <a:buNone/>
            </a:pPr>
            <a:r>
              <a:rPr lang="en-US" altLang="zh-CN" sz="2500">
                <a:solidFill>
                  <a:srgbClr val="030409"/>
                </a:solidFill>
                <a:ea typeface="楷体_GB2312"/>
              </a:rPr>
              <a:t>1. </a:t>
            </a:r>
            <a:r>
              <a:rPr lang="zh-CN" altLang="en-US" sz="2500">
                <a:solidFill>
                  <a:srgbClr val="030409"/>
                </a:solidFill>
                <a:ea typeface="楷体_GB2312"/>
              </a:rPr>
              <a:t>根据场强迭加原理，由点电荷的场强公式迭加求场强</a:t>
            </a:r>
            <a:r>
              <a:rPr lang="en-US" altLang="zh-CN" sz="2500">
                <a:solidFill>
                  <a:srgbClr val="030409"/>
                </a:solidFill>
                <a:latin typeface="宋体" panose="02010600030101010101" pitchFamily="2" charset="-122"/>
                <a:ea typeface="楷体_GB2312"/>
              </a:rPr>
              <a:t>(</a:t>
            </a:r>
            <a:r>
              <a:rPr lang="zh-CN" altLang="en-US" sz="2500">
                <a:solidFill>
                  <a:srgbClr val="030409"/>
                </a:solidFill>
                <a:ea typeface="楷体_GB2312"/>
              </a:rPr>
              <a:t>矢量和</a:t>
            </a:r>
            <a:r>
              <a:rPr lang="en-US" altLang="zh-CN" sz="2500">
                <a:solidFill>
                  <a:srgbClr val="030409"/>
                </a:solidFill>
                <a:latin typeface="宋体" panose="02010600030101010101" pitchFamily="2" charset="-122"/>
                <a:ea typeface="楷体_GB2312"/>
              </a:rPr>
              <a:t>)</a:t>
            </a:r>
            <a:r>
              <a:rPr lang="zh-CN" altLang="en-US" sz="2500">
                <a:solidFill>
                  <a:srgbClr val="030409"/>
                </a:solidFill>
                <a:ea typeface="楷体_GB2312"/>
              </a:rPr>
              <a:t>。</a:t>
            </a:r>
          </a:p>
        </p:txBody>
      </p:sp>
    </p:spTree>
    <p:extLst>
      <p:ext uri="{BB962C8B-B14F-4D97-AF65-F5344CB8AC3E}">
        <p14:creationId xmlns:p14="http://schemas.microsoft.com/office/powerpoint/2010/main" val="1537490389"/>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0844">
                                            <p:txEl>
                                              <p:pRg st="0" end="0"/>
                                            </p:txEl>
                                          </p:spTgt>
                                        </p:tgtEl>
                                        <p:attrNameLst>
                                          <p:attrName>style.visibility</p:attrName>
                                        </p:attrNameLst>
                                      </p:cBhvr>
                                      <p:to>
                                        <p:strVal val="visible"/>
                                      </p:to>
                                    </p:set>
                                    <p:animEffect transition="in" filter="wipe(left)">
                                      <p:cBhvr>
                                        <p:cTn id="7" dur="500"/>
                                        <p:tgtEl>
                                          <p:spTgt spid="12084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0844">
                                            <p:txEl>
                                              <p:pRg st="1" end="1"/>
                                            </p:txEl>
                                          </p:spTgt>
                                        </p:tgtEl>
                                        <p:attrNameLst>
                                          <p:attrName>style.visibility</p:attrName>
                                        </p:attrNameLst>
                                      </p:cBhvr>
                                      <p:to>
                                        <p:strVal val="visible"/>
                                      </p:to>
                                    </p:set>
                                    <p:animEffect transition="in" filter="wipe(left)">
                                      <p:cBhvr>
                                        <p:cTn id="12" dur="500"/>
                                        <p:tgtEl>
                                          <p:spTgt spid="12084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0844">
                                            <p:txEl>
                                              <p:pRg st="2" end="2"/>
                                            </p:txEl>
                                          </p:spTgt>
                                        </p:tgtEl>
                                        <p:attrNameLst>
                                          <p:attrName>style.visibility</p:attrName>
                                        </p:attrNameLst>
                                      </p:cBhvr>
                                      <p:to>
                                        <p:strVal val="visible"/>
                                      </p:to>
                                    </p:set>
                                    <p:animEffect transition="in" filter="wipe(left)">
                                      <p:cBhvr>
                                        <p:cTn id="17" dur="500"/>
                                        <p:tgtEl>
                                          <p:spTgt spid="12084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5"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1000" fill="hold"/>
                                        <p:tgtEl>
                                          <p:spTgt spid="4"/>
                                        </p:tgtEl>
                                        <p:attrNameLst>
                                          <p:attrName>ppt_w</p:attrName>
                                        </p:attrNameLst>
                                      </p:cBhvr>
                                      <p:tavLst>
                                        <p:tav tm="0">
                                          <p:val>
                                            <p:strVal val="#ppt_w*0.70"/>
                                          </p:val>
                                        </p:tav>
                                        <p:tav tm="100000">
                                          <p:val>
                                            <p:strVal val="#ppt_w"/>
                                          </p:val>
                                        </p:tav>
                                      </p:tavLst>
                                    </p:anim>
                                    <p:anim calcmode="lin" valueType="num">
                                      <p:cBhvr>
                                        <p:cTn id="23" dur="1000" fill="hold"/>
                                        <p:tgtEl>
                                          <p:spTgt spid="4"/>
                                        </p:tgtEl>
                                        <p:attrNameLst>
                                          <p:attrName>ppt_h</p:attrName>
                                        </p:attrNameLst>
                                      </p:cBhvr>
                                      <p:tavLst>
                                        <p:tav tm="0">
                                          <p:val>
                                            <p:strVal val="#ppt_h"/>
                                          </p:val>
                                        </p:tav>
                                        <p:tav tm="100000">
                                          <p:val>
                                            <p:strVal val="#ppt_h"/>
                                          </p:val>
                                        </p:tav>
                                      </p:tavLst>
                                    </p:anim>
                                    <p:animEffect transition="in" filter="fade">
                                      <p:cBhvr>
                                        <p:cTn id="24"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44" grpId="0" build="p" autoUpdateAnimBg="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2" name="Rectangle 4"/>
          <p:cNvSpPr>
            <a:spLocks noChangeArrowheads="1"/>
          </p:cNvSpPr>
          <p:nvPr/>
        </p:nvSpPr>
        <p:spPr bwMode="auto">
          <a:xfrm>
            <a:off x="149225" y="188913"/>
            <a:ext cx="9145588" cy="256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400">
                <a:solidFill>
                  <a:srgbClr val="030409"/>
                </a:solidFill>
                <a:ea typeface="楷体_GB2312"/>
              </a:rPr>
              <a:t>  2. </a:t>
            </a:r>
            <a:r>
              <a:rPr lang="zh-CN" altLang="en-US" sz="2400">
                <a:solidFill>
                  <a:srgbClr val="030409"/>
                </a:solidFill>
                <a:ea typeface="楷体_GB2312"/>
              </a:rPr>
              <a:t>用高斯定理求场强。</a:t>
            </a:r>
          </a:p>
          <a:p>
            <a:pPr eaLnBrk="1" hangingPunct="1">
              <a:buFontTx/>
              <a:buNone/>
            </a:pPr>
            <a:r>
              <a:rPr lang="zh-CN" altLang="en-US" sz="2400">
                <a:solidFill>
                  <a:srgbClr val="030409"/>
                </a:solidFill>
                <a:ea typeface="楷体_GB2312"/>
              </a:rPr>
              <a:t>  </a:t>
            </a:r>
            <a:r>
              <a:rPr lang="en-US" altLang="zh-CN" sz="2400">
                <a:solidFill>
                  <a:srgbClr val="030409"/>
                </a:solidFill>
                <a:ea typeface="楷体_GB2312"/>
              </a:rPr>
              <a:t>3. </a:t>
            </a:r>
            <a:r>
              <a:rPr lang="zh-CN" altLang="en-US" sz="2400">
                <a:solidFill>
                  <a:srgbClr val="030409"/>
                </a:solidFill>
                <a:ea typeface="楷体_GB2312"/>
              </a:rPr>
              <a:t>用场强与电势</a:t>
            </a:r>
            <a:r>
              <a:rPr lang="en-US" altLang="zh-CN" sz="2400" i="1">
                <a:solidFill>
                  <a:srgbClr val="030409"/>
                </a:solidFill>
                <a:ea typeface="楷体_GB2312"/>
              </a:rPr>
              <a:t>V</a:t>
            </a:r>
            <a:r>
              <a:rPr lang="zh-CN" altLang="en-US" sz="2400">
                <a:solidFill>
                  <a:srgbClr val="030409"/>
                </a:solidFill>
                <a:ea typeface="楷体_GB2312"/>
              </a:rPr>
              <a:t>的关系求场强。</a:t>
            </a:r>
          </a:p>
          <a:p>
            <a:pPr eaLnBrk="1" hangingPunct="1">
              <a:spcBef>
                <a:spcPts val="300"/>
              </a:spcBef>
              <a:buFontTx/>
              <a:buNone/>
            </a:pPr>
            <a:r>
              <a:rPr lang="zh-CN" altLang="en-US" sz="2400">
                <a:solidFill>
                  <a:srgbClr val="FF3300"/>
                </a:solidFill>
                <a:ea typeface="楷体_GB2312"/>
              </a:rPr>
              <a:t>  </a:t>
            </a:r>
            <a:r>
              <a:rPr lang="en-US" altLang="zh-CN" sz="2400">
                <a:solidFill>
                  <a:srgbClr val="FF3300"/>
                </a:solidFill>
                <a:ea typeface="楷体_GB2312"/>
              </a:rPr>
              <a:t>B</a:t>
            </a:r>
            <a:r>
              <a:rPr lang="en-US" altLang="zh-CN" sz="2400">
                <a:solidFill>
                  <a:srgbClr val="FF3300"/>
                </a:solidFill>
                <a:latin typeface="宋体" panose="02010600030101010101" pitchFamily="2" charset="-122"/>
                <a:ea typeface="楷体_GB2312"/>
              </a:rPr>
              <a:t>)</a:t>
            </a:r>
            <a:r>
              <a:rPr lang="zh-CN" altLang="en-US" sz="2400">
                <a:solidFill>
                  <a:srgbClr val="FF3300"/>
                </a:solidFill>
                <a:ea typeface="楷体_GB2312"/>
              </a:rPr>
              <a:t>电势的计算</a:t>
            </a:r>
          </a:p>
          <a:p>
            <a:pPr eaLnBrk="1" hangingPunct="1">
              <a:spcBef>
                <a:spcPts val="300"/>
              </a:spcBef>
              <a:buFontTx/>
              <a:buAutoNum type="arabicPeriod"/>
            </a:pPr>
            <a:r>
              <a:rPr lang="zh-CN" altLang="en-US" sz="2400">
                <a:solidFill>
                  <a:srgbClr val="030409"/>
                </a:solidFill>
                <a:ea typeface="楷体_GB2312"/>
              </a:rPr>
              <a:t>电势迭加原理：根据点电荷的电势公式迭加求电势</a:t>
            </a:r>
            <a:r>
              <a:rPr lang="en-US" altLang="zh-CN" sz="2400">
                <a:solidFill>
                  <a:srgbClr val="030409"/>
                </a:solidFill>
                <a:latin typeface="宋体" panose="02010600030101010101" pitchFamily="2" charset="-122"/>
                <a:ea typeface="楷体_GB2312"/>
              </a:rPr>
              <a:t>(</a:t>
            </a:r>
            <a:r>
              <a:rPr lang="zh-CN" altLang="en-US" sz="2400">
                <a:solidFill>
                  <a:srgbClr val="030409"/>
                </a:solidFill>
                <a:ea typeface="楷体_GB2312"/>
              </a:rPr>
              <a:t>标量和</a:t>
            </a:r>
            <a:r>
              <a:rPr lang="en-US" altLang="zh-CN" sz="2400">
                <a:solidFill>
                  <a:srgbClr val="030409"/>
                </a:solidFill>
                <a:latin typeface="宋体" panose="02010600030101010101" pitchFamily="2" charset="-122"/>
                <a:ea typeface="楷体_GB2312"/>
              </a:rPr>
              <a:t>)</a:t>
            </a:r>
            <a:r>
              <a:rPr lang="zh-CN" altLang="en-US" sz="2400">
                <a:solidFill>
                  <a:srgbClr val="030409"/>
                </a:solidFill>
                <a:ea typeface="楷体_GB2312"/>
              </a:rPr>
              <a:t>。</a:t>
            </a:r>
          </a:p>
          <a:p>
            <a:pPr eaLnBrk="1" hangingPunct="1">
              <a:buFontTx/>
              <a:buNone/>
            </a:pPr>
            <a:r>
              <a:rPr lang="en-US" altLang="zh-CN" sz="2400">
                <a:solidFill>
                  <a:srgbClr val="030409"/>
                </a:solidFill>
                <a:ea typeface="楷体_GB2312"/>
              </a:rPr>
              <a:t>2.     </a:t>
            </a:r>
            <a:r>
              <a:rPr lang="zh-CN" altLang="en-US" sz="2400">
                <a:solidFill>
                  <a:srgbClr val="030409"/>
                </a:solidFill>
                <a:ea typeface="楷体_GB2312"/>
              </a:rPr>
              <a:t>根据电势的定义求电场中</a:t>
            </a:r>
            <a:r>
              <a:rPr lang="en-US" altLang="zh-CN" sz="2400">
                <a:solidFill>
                  <a:srgbClr val="030409"/>
                </a:solidFill>
                <a:ea typeface="楷体_GB2312"/>
              </a:rPr>
              <a:t>P</a:t>
            </a:r>
            <a:r>
              <a:rPr lang="zh-CN" altLang="en-US" sz="2400">
                <a:solidFill>
                  <a:srgbClr val="030409"/>
                </a:solidFill>
                <a:ea typeface="楷体_GB2312"/>
              </a:rPr>
              <a:t>点的电势。</a:t>
            </a:r>
            <a:endParaRPr lang="zh-CN" altLang="en-US" sz="3600" b="0">
              <a:ea typeface="楷体_GB2312"/>
            </a:endParaRPr>
          </a:p>
        </p:txBody>
      </p:sp>
      <p:sp>
        <p:nvSpPr>
          <p:cNvPr id="4" name="Rectangle 12"/>
          <p:cNvSpPr>
            <a:spLocks noChangeArrowheads="1"/>
          </p:cNvSpPr>
          <p:nvPr/>
        </p:nvSpPr>
        <p:spPr bwMode="auto">
          <a:xfrm>
            <a:off x="149225" y="2390943"/>
            <a:ext cx="8743950"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ts val="300"/>
              </a:spcBef>
              <a:buFontTx/>
              <a:buNone/>
            </a:pPr>
            <a:r>
              <a:rPr lang="zh-CN" altLang="en-US" sz="2800">
                <a:solidFill>
                  <a:srgbClr val="FF0000"/>
                </a:solidFill>
                <a:ea typeface="楷体_GB2312"/>
              </a:rPr>
              <a:t>导体和电介质中的电场部分</a:t>
            </a:r>
            <a:endParaRPr lang="en-US" altLang="zh-CN" sz="2800">
              <a:solidFill>
                <a:srgbClr val="FF0000"/>
              </a:solidFill>
              <a:ea typeface="楷体_GB2312"/>
            </a:endParaRPr>
          </a:p>
          <a:p>
            <a:pPr eaLnBrk="1" hangingPunct="1">
              <a:spcBef>
                <a:spcPts val="300"/>
              </a:spcBef>
              <a:buFontTx/>
              <a:buNone/>
            </a:pPr>
            <a:r>
              <a:rPr lang="zh-CN" altLang="en-US" sz="2800">
                <a:solidFill>
                  <a:srgbClr val="FF0000"/>
                </a:solidFill>
                <a:ea typeface="楷体_GB2312"/>
              </a:rPr>
              <a:t>主要内容：</a:t>
            </a:r>
          </a:p>
          <a:p>
            <a:pPr eaLnBrk="1" hangingPunct="1">
              <a:spcBef>
                <a:spcPts val="300"/>
              </a:spcBef>
              <a:buFontTx/>
              <a:buNone/>
            </a:pPr>
            <a:r>
              <a:rPr lang="en-US" altLang="zh-CN" sz="2400">
                <a:solidFill>
                  <a:srgbClr val="030409"/>
                </a:solidFill>
                <a:ea typeface="楷体_GB2312"/>
              </a:rPr>
              <a:t>     1. </a:t>
            </a:r>
            <a:r>
              <a:rPr lang="zh-CN" altLang="en-US" sz="2400">
                <a:solidFill>
                  <a:srgbClr val="030409"/>
                </a:solidFill>
                <a:ea typeface="楷体_GB2312"/>
              </a:rPr>
              <a:t>导体的静电平衡条件</a:t>
            </a:r>
            <a:endParaRPr lang="en-US" altLang="zh-CN" sz="2400">
              <a:solidFill>
                <a:srgbClr val="030409"/>
              </a:solidFill>
              <a:ea typeface="楷体_GB2312"/>
            </a:endParaRPr>
          </a:p>
          <a:p>
            <a:pPr eaLnBrk="1" hangingPunct="1">
              <a:spcBef>
                <a:spcPts val="300"/>
              </a:spcBef>
              <a:buFontTx/>
              <a:buNone/>
            </a:pPr>
            <a:r>
              <a:rPr lang="en-US" altLang="zh-CN" sz="2400">
                <a:ea typeface="楷体_GB2312"/>
              </a:rPr>
              <a:t>     2</a:t>
            </a:r>
            <a:r>
              <a:rPr lang="en-US" altLang="zh-CN" sz="2400">
                <a:solidFill>
                  <a:srgbClr val="030409"/>
                </a:solidFill>
                <a:ea typeface="楷体_GB2312"/>
              </a:rPr>
              <a:t>. </a:t>
            </a:r>
            <a:r>
              <a:rPr lang="zh-CN" altLang="en-US" sz="2400">
                <a:solidFill>
                  <a:srgbClr val="030409"/>
                </a:solidFill>
                <a:ea typeface="楷体_GB2312"/>
              </a:rPr>
              <a:t>静电平衡条件下电荷的分布</a:t>
            </a:r>
            <a:endParaRPr lang="en-US" altLang="zh-CN" sz="2400">
              <a:solidFill>
                <a:srgbClr val="030409"/>
              </a:solidFill>
              <a:ea typeface="楷体_GB2312"/>
            </a:endParaRPr>
          </a:p>
          <a:p>
            <a:pPr eaLnBrk="1" hangingPunct="1">
              <a:spcBef>
                <a:spcPts val="300"/>
              </a:spcBef>
              <a:buFontTx/>
              <a:buNone/>
            </a:pPr>
            <a:r>
              <a:rPr lang="en-US" altLang="zh-CN" sz="2400">
                <a:solidFill>
                  <a:srgbClr val="030409"/>
                </a:solidFill>
                <a:ea typeface="楷体_GB2312"/>
              </a:rPr>
              <a:t>     3.</a:t>
            </a:r>
            <a:r>
              <a:rPr lang="zh-CN" altLang="en-US" sz="2400">
                <a:solidFill>
                  <a:srgbClr val="030409"/>
                </a:solidFill>
                <a:ea typeface="楷体_GB2312"/>
              </a:rPr>
              <a:t>描述电介质的三个物理量：电极化强度，电位移矢量，电  </a:t>
            </a:r>
            <a:endParaRPr lang="en-US" altLang="zh-CN" sz="2400">
              <a:solidFill>
                <a:srgbClr val="030409"/>
              </a:solidFill>
              <a:ea typeface="楷体_GB2312"/>
            </a:endParaRPr>
          </a:p>
          <a:p>
            <a:pPr eaLnBrk="1" hangingPunct="1">
              <a:spcBef>
                <a:spcPts val="300"/>
              </a:spcBef>
              <a:buFontTx/>
              <a:buNone/>
            </a:pPr>
            <a:r>
              <a:rPr lang="zh-CN" altLang="en-US" sz="2400">
                <a:solidFill>
                  <a:srgbClr val="030409"/>
                </a:solidFill>
                <a:ea typeface="楷体_GB2312"/>
              </a:rPr>
              <a:t>   </a:t>
            </a:r>
            <a:r>
              <a:rPr lang="en-US" altLang="zh-CN" sz="2400">
                <a:solidFill>
                  <a:srgbClr val="030409"/>
                </a:solidFill>
                <a:ea typeface="楷体_GB2312"/>
              </a:rPr>
              <a:t>      </a:t>
            </a:r>
            <a:r>
              <a:rPr lang="zh-CN" altLang="en-US" sz="2400">
                <a:solidFill>
                  <a:srgbClr val="030409"/>
                </a:solidFill>
                <a:ea typeface="楷体_GB2312"/>
              </a:rPr>
              <a:t>场强度</a:t>
            </a:r>
            <a:endParaRPr lang="en-US" altLang="zh-CN" sz="2400">
              <a:solidFill>
                <a:srgbClr val="030409"/>
              </a:solidFill>
              <a:ea typeface="楷体_GB2312"/>
            </a:endParaRPr>
          </a:p>
          <a:p>
            <a:pPr eaLnBrk="1" hangingPunct="1">
              <a:spcBef>
                <a:spcPts val="300"/>
              </a:spcBef>
              <a:buFontTx/>
              <a:buNone/>
            </a:pPr>
            <a:r>
              <a:rPr lang="en-US" altLang="zh-CN" sz="2400">
                <a:solidFill>
                  <a:srgbClr val="030409"/>
                </a:solidFill>
                <a:ea typeface="楷体_GB2312"/>
              </a:rPr>
              <a:t>      4.</a:t>
            </a:r>
            <a:r>
              <a:rPr lang="zh-CN" altLang="en-US" sz="2400">
                <a:solidFill>
                  <a:srgbClr val="030409"/>
                </a:solidFill>
                <a:ea typeface="楷体_GB2312"/>
              </a:rPr>
              <a:t>有电介质情况下的高斯定理</a:t>
            </a:r>
            <a:endParaRPr lang="en-US" altLang="zh-CN" sz="2400">
              <a:solidFill>
                <a:srgbClr val="030409"/>
              </a:solidFill>
              <a:ea typeface="楷体_GB2312"/>
            </a:endParaRPr>
          </a:p>
          <a:p>
            <a:pPr eaLnBrk="1" hangingPunct="1">
              <a:spcBef>
                <a:spcPts val="300"/>
              </a:spcBef>
              <a:buFontTx/>
              <a:buNone/>
            </a:pPr>
            <a:r>
              <a:rPr lang="en-US" altLang="zh-CN" sz="2400">
                <a:solidFill>
                  <a:srgbClr val="030409"/>
                </a:solidFill>
                <a:ea typeface="楷体_GB2312"/>
              </a:rPr>
              <a:t>      5.</a:t>
            </a:r>
            <a:r>
              <a:rPr lang="zh-CN" altLang="en-US" sz="2400">
                <a:solidFill>
                  <a:srgbClr val="030409"/>
                </a:solidFill>
                <a:ea typeface="楷体_GB2312"/>
              </a:rPr>
              <a:t>电容器的电容。</a:t>
            </a:r>
            <a:endParaRPr lang="en-US" altLang="zh-CN" sz="2400">
              <a:ea typeface="楷体_GB2312"/>
            </a:endParaRPr>
          </a:p>
        </p:txBody>
      </p:sp>
      <p:graphicFrame>
        <p:nvGraphicFramePr>
          <p:cNvPr id="2" name="对象 1">
            <a:extLst>
              <a:ext uri="{FF2B5EF4-FFF2-40B4-BE49-F238E27FC236}">
                <a16:creationId xmlns:a16="http://schemas.microsoft.com/office/drawing/2014/main" id="{03D61058-CDE3-4E36-92D8-8EAC549E8EBD}"/>
              </a:ext>
            </a:extLst>
          </p:cNvPr>
          <p:cNvGraphicFramePr>
            <a:graphicFrameLocks noChangeAspect="1"/>
          </p:cNvGraphicFramePr>
          <p:nvPr>
            <p:extLst>
              <p:ext uri="{D42A27DB-BD31-4B8C-83A1-F6EECF244321}">
                <p14:modId xmlns:p14="http://schemas.microsoft.com/office/powerpoint/2010/main" val="308556646"/>
              </p:ext>
            </p:extLst>
          </p:nvPr>
        </p:nvGraphicFramePr>
        <p:xfrm>
          <a:off x="5364088" y="90775"/>
          <a:ext cx="2736304" cy="694695"/>
        </p:xfrm>
        <a:graphic>
          <a:graphicData uri="http://schemas.openxmlformats.org/presentationml/2006/ole">
            <mc:AlternateContent xmlns:mc="http://schemas.openxmlformats.org/markup-compatibility/2006">
              <mc:Choice xmlns:v="urn:schemas-microsoft-com:vml" Requires="v">
                <p:oleObj spid="_x0000_s236549" name="Equation" r:id="rId3" imgW="4602583" imgH="1168962" progId="Equation.DSMT4">
                  <p:embed/>
                </p:oleObj>
              </mc:Choice>
              <mc:Fallback>
                <p:oleObj name="Equation" r:id="rId3" imgW="4602583" imgH="1168962" progId="Equation.DSMT4">
                  <p:embed/>
                  <p:pic>
                    <p:nvPicPr>
                      <p:cNvPr id="0" name=""/>
                      <p:cNvPicPr/>
                      <p:nvPr/>
                    </p:nvPicPr>
                    <p:blipFill>
                      <a:blip r:embed="rId4"/>
                      <a:stretch>
                        <a:fillRect/>
                      </a:stretch>
                    </p:blipFill>
                    <p:spPr>
                      <a:xfrm>
                        <a:off x="5364088" y="90775"/>
                        <a:ext cx="2736304" cy="694695"/>
                      </a:xfrm>
                      <a:prstGeom prst="rect">
                        <a:avLst/>
                      </a:prstGeom>
                    </p:spPr>
                  </p:pic>
                </p:oleObj>
              </mc:Fallback>
            </mc:AlternateContent>
          </a:graphicData>
        </a:graphic>
      </p:graphicFrame>
      <p:pic>
        <p:nvPicPr>
          <p:cNvPr id="6" name="图片 5">
            <a:extLst>
              <a:ext uri="{FF2B5EF4-FFF2-40B4-BE49-F238E27FC236}">
                <a16:creationId xmlns:a16="http://schemas.microsoft.com/office/drawing/2014/main" id="{E54D7FAA-A01F-4338-A5E2-C0C69FC8C6DC}"/>
              </a:ext>
            </a:extLst>
          </p:cNvPr>
          <p:cNvPicPr>
            <a:picLocks noChangeAspect="1"/>
          </p:cNvPicPr>
          <p:nvPr/>
        </p:nvPicPr>
        <p:blipFill>
          <a:blip r:embed="rId5"/>
          <a:stretch>
            <a:fillRect/>
          </a:stretch>
        </p:blipFill>
        <p:spPr>
          <a:xfrm>
            <a:off x="4932040" y="5093857"/>
            <a:ext cx="1800200" cy="432557"/>
          </a:xfrm>
          <a:prstGeom prst="rect">
            <a:avLst/>
          </a:prstGeom>
        </p:spPr>
      </p:pic>
      <p:pic>
        <p:nvPicPr>
          <p:cNvPr id="8" name="图片 7">
            <a:extLst>
              <a:ext uri="{FF2B5EF4-FFF2-40B4-BE49-F238E27FC236}">
                <a16:creationId xmlns:a16="http://schemas.microsoft.com/office/drawing/2014/main" id="{F80A8BAE-9971-48DA-BC57-F40528484635}"/>
              </a:ext>
            </a:extLst>
          </p:cNvPr>
          <p:cNvPicPr>
            <a:picLocks noChangeAspect="1"/>
          </p:cNvPicPr>
          <p:nvPr/>
        </p:nvPicPr>
        <p:blipFill>
          <a:blip r:embed="rId6"/>
          <a:stretch>
            <a:fillRect/>
          </a:stretch>
        </p:blipFill>
        <p:spPr>
          <a:xfrm>
            <a:off x="5569384" y="4812424"/>
            <a:ext cx="3574616" cy="281433"/>
          </a:xfrm>
          <a:prstGeom prst="rect">
            <a:avLst/>
          </a:prstGeom>
        </p:spPr>
      </p:pic>
      <p:graphicFrame>
        <p:nvGraphicFramePr>
          <p:cNvPr id="9" name="对象 8">
            <a:extLst>
              <a:ext uri="{FF2B5EF4-FFF2-40B4-BE49-F238E27FC236}">
                <a16:creationId xmlns:a16="http://schemas.microsoft.com/office/drawing/2014/main" id="{8A4417EF-3A1C-4097-A7B8-1DF923C2AA9E}"/>
              </a:ext>
            </a:extLst>
          </p:cNvPr>
          <p:cNvGraphicFramePr>
            <a:graphicFrameLocks noChangeAspect="1"/>
          </p:cNvGraphicFramePr>
          <p:nvPr>
            <p:extLst>
              <p:ext uri="{D42A27DB-BD31-4B8C-83A1-F6EECF244321}">
                <p14:modId xmlns:p14="http://schemas.microsoft.com/office/powerpoint/2010/main" val="276432504"/>
              </p:ext>
            </p:extLst>
          </p:nvPr>
        </p:nvGraphicFramePr>
        <p:xfrm>
          <a:off x="4179565" y="6061887"/>
          <a:ext cx="1504950" cy="555625"/>
        </p:xfrm>
        <a:graphic>
          <a:graphicData uri="http://schemas.openxmlformats.org/presentationml/2006/ole">
            <mc:AlternateContent xmlns:mc="http://schemas.openxmlformats.org/markup-compatibility/2006">
              <mc:Choice xmlns:v="urn:schemas-microsoft-com:vml" Requires="v">
                <p:oleObj spid="_x0000_s236550" name="Equation" r:id="rId7" imgW="1504192" imgH="556220" progId="Equation.DSMT4">
                  <p:embed/>
                </p:oleObj>
              </mc:Choice>
              <mc:Fallback>
                <p:oleObj name="Equation" r:id="rId7" imgW="1504192" imgH="556220" progId="Equation.DSMT4">
                  <p:embed/>
                  <p:pic>
                    <p:nvPicPr>
                      <p:cNvPr id="0" name=""/>
                      <p:cNvPicPr/>
                      <p:nvPr/>
                    </p:nvPicPr>
                    <p:blipFill>
                      <a:blip r:embed="rId8"/>
                      <a:stretch>
                        <a:fillRect/>
                      </a:stretch>
                    </p:blipFill>
                    <p:spPr>
                      <a:xfrm>
                        <a:off x="4179565" y="6061887"/>
                        <a:ext cx="1504950" cy="555625"/>
                      </a:xfrm>
                      <a:prstGeom prst="rect">
                        <a:avLst/>
                      </a:prstGeom>
                    </p:spPr>
                  </p:pic>
                </p:oleObj>
              </mc:Fallback>
            </mc:AlternateContent>
          </a:graphicData>
        </a:graphic>
      </p:graphicFrame>
      <p:pic>
        <p:nvPicPr>
          <p:cNvPr id="11" name="图片 10">
            <a:extLst>
              <a:ext uri="{FF2B5EF4-FFF2-40B4-BE49-F238E27FC236}">
                <a16:creationId xmlns:a16="http://schemas.microsoft.com/office/drawing/2014/main" id="{778E567A-EE51-4D83-82D1-A0F7F1D50F39}"/>
              </a:ext>
            </a:extLst>
          </p:cNvPr>
          <p:cNvPicPr>
            <a:picLocks noChangeAspect="1"/>
          </p:cNvPicPr>
          <p:nvPr/>
        </p:nvPicPr>
        <p:blipFill>
          <a:blip r:embed="rId9"/>
          <a:stretch>
            <a:fillRect/>
          </a:stretch>
        </p:blipFill>
        <p:spPr>
          <a:xfrm>
            <a:off x="2314378" y="5980308"/>
            <a:ext cx="800100" cy="838200"/>
          </a:xfrm>
          <a:prstGeom prst="rect">
            <a:avLst/>
          </a:prstGeom>
        </p:spPr>
      </p:pic>
      <p:pic>
        <p:nvPicPr>
          <p:cNvPr id="13" name="图片 12">
            <a:extLst>
              <a:ext uri="{FF2B5EF4-FFF2-40B4-BE49-F238E27FC236}">
                <a16:creationId xmlns:a16="http://schemas.microsoft.com/office/drawing/2014/main" id="{B4F976B8-7D39-40F4-A1E0-D660D12B938D}"/>
              </a:ext>
            </a:extLst>
          </p:cNvPr>
          <p:cNvPicPr>
            <a:picLocks noChangeAspect="1"/>
          </p:cNvPicPr>
          <p:nvPr/>
        </p:nvPicPr>
        <p:blipFill>
          <a:blip r:embed="rId10"/>
          <a:stretch>
            <a:fillRect/>
          </a:stretch>
        </p:blipFill>
        <p:spPr>
          <a:xfrm>
            <a:off x="467544" y="5830887"/>
            <a:ext cx="1727746" cy="1017627"/>
          </a:xfrm>
          <a:prstGeom prst="rect">
            <a:avLst/>
          </a:prstGeom>
        </p:spPr>
      </p:pic>
      <p:sp>
        <p:nvSpPr>
          <p:cNvPr id="14" name="箭头: 下 13">
            <a:extLst>
              <a:ext uri="{FF2B5EF4-FFF2-40B4-BE49-F238E27FC236}">
                <a16:creationId xmlns:a16="http://schemas.microsoft.com/office/drawing/2014/main" id="{225F9236-0258-4BC2-BD1A-086422E7E7D9}"/>
              </a:ext>
            </a:extLst>
          </p:cNvPr>
          <p:cNvSpPr/>
          <p:nvPr/>
        </p:nvSpPr>
        <p:spPr bwMode="auto">
          <a:xfrm>
            <a:off x="5076056" y="4488030"/>
            <a:ext cx="242503" cy="465138"/>
          </a:xfrm>
          <a:prstGeom prst="downArrow">
            <a:avLst/>
          </a:prstGeom>
          <a:solidFill>
            <a:srgbClr val="FFFF66"/>
          </a:solidFill>
          <a:ln w="12700"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20000"/>
              </a:spcBef>
              <a:spcAft>
                <a:spcPct val="0"/>
              </a:spcAft>
              <a:buClrTx/>
              <a:buSzTx/>
              <a:buFontTx/>
              <a:buNone/>
              <a:tabLst/>
            </a:pPr>
            <a:endParaRPr kumimoji="1" lang="zh-CN" altLang="en-US" sz="3600" b="1" i="0" u="none" strike="noStrike" cap="none" normalizeH="0" baseline="0">
              <a:ln>
                <a:noFill/>
              </a:ln>
              <a:solidFill>
                <a:srgbClr val="FF3300"/>
              </a:solidFill>
              <a:effectLst/>
              <a:latin typeface="Times New Roman" pitchFamily="18" charset="0"/>
              <a:ea typeface="楷体_GB2312" pitchFamily="49" charset="-122"/>
            </a:endParaRPr>
          </a:p>
        </p:txBody>
      </p:sp>
      <p:sp>
        <p:nvSpPr>
          <p:cNvPr id="15" name="箭头: 下 14">
            <a:extLst>
              <a:ext uri="{FF2B5EF4-FFF2-40B4-BE49-F238E27FC236}">
                <a16:creationId xmlns:a16="http://schemas.microsoft.com/office/drawing/2014/main" id="{27D894C1-7E59-4A88-8428-2FB7049C81C9}"/>
              </a:ext>
            </a:extLst>
          </p:cNvPr>
          <p:cNvSpPr/>
          <p:nvPr/>
        </p:nvSpPr>
        <p:spPr bwMode="auto">
          <a:xfrm>
            <a:off x="6948264" y="4527411"/>
            <a:ext cx="242503" cy="269741"/>
          </a:xfrm>
          <a:prstGeom prst="downArrow">
            <a:avLst/>
          </a:prstGeom>
          <a:solidFill>
            <a:srgbClr val="FFFF66"/>
          </a:solidFill>
          <a:ln w="12700"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20000"/>
              </a:spcBef>
              <a:spcAft>
                <a:spcPct val="0"/>
              </a:spcAft>
              <a:buClrTx/>
              <a:buSzTx/>
              <a:buFontTx/>
              <a:buNone/>
              <a:tabLst/>
            </a:pPr>
            <a:endParaRPr kumimoji="1" lang="zh-CN" altLang="en-US" sz="3600" b="1" i="0" u="none" strike="noStrike" cap="none" normalizeH="0" baseline="0">
              <a:ln>
                <a:noFill/>
              </a:ln>
              <a:solidFill>
                <a:srgbClr val="FF3300"/>
              </a:solidFill>
              <a:effectLst/>
              <a:latin typeface="Times New Roman" pitchFamily="18" charset="0"/>
              <a:ea typeface="楷体_GB2312" pitchFamily="49" charset="-122"/>
            </a:endParaRPr>
          </a:p>
        </p:txBody>
      </p:sp>
      <p:sp>
        <p:nvSpPr>
          <p:cNvPr id="16" name="箭头: 下 15">
            <a:extLst>
              <a:ext uri="{FF2B5EF4-FFF2-40B4-BE49-F238E27FC236}">
                <a16:creationId xmlns:a16="http://schemas.microsoft.com/office/drawing/2014/main" id="{557EA8F0-80D9-4A6E-8A31-D93F1C7531F2}"/>
              </a:ext>
            </a:extLst>
          </p:cNvPr>
          <p:cNvSpPr/>
          <p:nvPr/>
        </p:nvSpPr>
        <p:spPr bwMode="auto">
          <a:xfrm>
            <a:off x="4139952" y="5373216"/>
            <a:ext cx="305992" cy="541965"/>
          </a:xfrm>
          <a:prstGeom prst="downArrow">
            <a:avLst/>
          </a:prstGeom>
          <a:solidFill>
            <a:srgbClr val="FFFF66"/>
          </a:solidFill>
          <a:ln w="12700"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20000"/>
              </a:spcBef>
              <a:spcAft>
                <a:spcPct val="0"/>
              </a:spcAft>
              <a:buClrTx/>
              <a:buSzTx/>
              <a:buFontTx/>
              <a:buNone/>
              <a:tabLst/>
            </a:pPr>
            <a:endParaRPr kumimoji="1" lang="zh-CN" altLang="en-US" sz="3600" b="1" i="0" u="none" strike="noStrike" cap="none" normalizeH="0" baseline="0">
              <a:ln>
                <a:noFill/>
              </a:ln>
              <a:solidFill>
                <a:srgbClr val="FF3300"/>
              </a:solidFill>
              <a:effectLst/>
              <a:latin typeface="Times New Roman" pitchFamily="18" charset="0"/>
              <a:ea typeface="楷体_GB2312" pitchFamily="49" charset="-122"/>
            </a:endParaRPr>
          </a:p>
        </p:txBody>
      </p:sp>
      <p:sp>
        <p:nvSpPr>
          <p:cNvPr id="17" name="箭头: 下 16">
            <a:extLst>
              <a:ext uri="{FF2B5EF4-FFF2-40B4-BE49-F238E27FC236}">
                <a16:creationId xmlns:a16="http://schemas.microsoft.com/office/drawing/2014/main" id="{021E8549-B700-4701-9F07-B3BA664BDF55}"/>
              </a:ext>
            </a:extLst>
          </p:cNvPr>
          <p:cNvSpPr/>
          <p:nvPr/>
        </p:nvSpPr>
        <p:spPr bwMode="auto">
          <a:xfrm>
            <a:off x="2513609" y="5777953"/>
            <a:ext cx="186183" cy="387351"/>
          </a:xfrm>
          <a:prstGeom prst="downArrow">
            <a:avLst/>
          </a:prstGeom>
          <a:solidFill>
            <a:srgbClr val="FFFF66"/>
          </a:solidFill>
          <a:ln w="12700"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20000"/>
              </a:spcBef>
              <a:spcAft>
                <a:spcPct val="0"/>
              </a:spcAft>
              <a:buClrTx/>
              <a:buSzTx/>
              <a:buFontTx/>
              <a:buNone/>
              <a:tabLst/>
            </a:pPr>
            <a:endParaRPr kumimoji="1" lang="zh-CN" altLang="en-US" sz="3600" b="1" i="0" u="none" strike="noStrike" cap="none" normalizeH="0" baseline="0">
              <a:ln>
                <a:noFill/>
              </a:ln>
              <a:solidFill>
                <a:srgbClr val="FF3300"/>
              </a:solidFill>
              <a:effectLst/>
              <a:latin typeface="Times New Roman" pitchFamily="18" charset="0"/>
              <a:ea typeface="楷体_GB2312" pitchFamily="49" charset="-122"/>
            </a:endParaRPr>
          </a:p>
        </p:txBody>
      </p:sp>
    </p:spTree>
    <p:extLst>
      <p:ext uri="{BB962C8B-B14F-4D97-AF65-F5344CB8AC3E}">
        <p14:creationId xmlns:p14="http://schemas.microsoft.com/office/powerpoint/2010/main" val="3019517005"/>
      </p:ext>
    </p:extLst>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395288" y="0"/>
            <a:ext cx="83534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FF3300"/>
                </a:solidFill>
                <a:ea typeface="楷体_GB2312"/>
              </a:rPr>
              <a:t>7</a:t>
            </a:r>
            <a:r>
              <a:rPr lang="zh-CN" altLang="en-US" sz="2800">
                <a:solidFill>
                  <a:srgbClr val="FF3300"/>
                </a:solidFill>
                <a:ea typeface="楷体_GB2312"/>
              </a:rPr>
              <a:t>－</a:t>
            </a:r>
            <a:r>
              <a:rPr lang="en-US" altLang="zh-CN" sz="2800">
                <a:solidFill>
                  <a:srgbClr val="FF3300"/>
                </a:solidFill>
                <a:ea typeface="楷体_GB2312"/>
              </a:rPr>
              <a:t>1</a:t>
            </a:r>
            <a:r>
              <a:rPr lang="zh-CN" altLang="en-US" sz="2800">
                <a:solidFill>
                  <a:srgbClr val="FF3300"/>
                </a:solidFill>
                <a:ea typeface="楷体_GB2312"/>
              </a:rPr>
              <a:t>电荷  库仑定律</a:t>
            </a:r>
          </a:p>
        </p:txBody>
      </p:sp>
      <p:sp>
        <p:nvSpPr>
          <p:cNvPr id="16387" name="Text Box 4"/>
          <p:cNvSpPr txBox="1">
            <a:spLocks noChangeArrowheads="1"/>
          </p:cNvSpPr>
          <p:nvPr/>
        </p:nvSpPr>
        <p:spPr bwMode="auto">
          <a:xfrm>
            <a:off x="76200" y="838200"/>
            <a:ext cx="3810000" cy="579438"/>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type="none" w="sm" len="sm"/>
                <a:tailEnd type="none" w="sm" len="sm"/>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a:solidFill>
                  <a:schemeClr val="folHlink"/>
                </a:solidFill>
                <a:latin typeface="Arial" panose="020B0604020202020204" pitchFamily="34" charset="0"/>
                <a:ea typeface="楷体_GB2312"/>
              </a:rPr>
              <a:t>一、电荷的量子化</a:t>
            </a:r>
          </a:p>
        </p:txBody>
      </p:sp>
      <p:sp>
        <p:nvSpPr>
          <p:cNvPr id="16388" name="Text Box 5"/>
          <p:cNvSpPr txBox="1">
            <a:spLocks noChangeArrowheads="1"/>
          </p:cNvSpPr>
          <p:nvPr/>
        </p:nvSpPr>
        <p:spPr bwMode="auto">
          <a:xfrm>
            <a:off x="381000" y="1371600"/>
            <a:ext cx="23193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3333FF"/>
                </a:solidFill>
                <a:ea typeface="楷体_GB2312"/>
              </a:rPr>
              <a:t>1</a:t>
            </a:r>
            <a:r>
              <a:rPr lang="zh-CN" altLang="en-US" sz="2800">
                <a:solidFill>
                  <a:srgbClr val="3333FF"/>
                </a:solidFill>
                <a:ea typeface="楷体_GB2312"/>
              </a:rPr>
              <a:t>、电荷</a:t>
            </a:r>
            <a:endParaRPr lang="zh-CN" altLang="en-US" sz="2800">
              <a:ea typeface="楷体_GB2312"/>
            </a:endParaRPr>
          </a:p>
        </p:txBody>
      </p:sp>
      <p:sp>
        <p:nvSpPr>
          <p:cNvPr id="16389" name="Text Box 6"/>
          <p:cNvSpPr txBox="1">
            <a:spLocks noChangeArrowheads="1"/>
          </p:cNvSpPr>
          <p:nvPr/>
        </p:nvSpPr>
        <p:spPr bwMode="auto">
          <a:xfrm>
            <a:off x="609600" y="1828800"/>
            <a:ext cx="5181600" cy="1979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FF3300"/>
                </a:solidFill>
                <a:ea typeface="楷体_GB2312"/>
              </a:rPr>
              <a:t>摩擦起电</a:t>
            </a:r>
            <a:r>
              <a:rPr lang="zh-CN" altLang="en-US" sz="2800">
                <a:ea typeface="楷体_GB2312"/>
              </a:rPr>
              <a:t>：</a:t>
            </a:r>
            <a:r>
              <a:rPr lang="zh-CN" altLang="en-US" sz="2400">
                <a:ea typeface="楷体_GB2312"/>
              </a:rPr>
              <a:t>用木块摩擦过的琥珀能吸引碎草等轻小物体的现象。许多物体经过毛皮或丝绸等摩擦后，都能够吸引轻小的物体。人们</a:t>
            </a:r>
            <a:r>
              <a:rPr lang="zh-CN" altLang="en-US" sz="2400">
                <a:solidFill>
                  <a:srgbClr val="FF3300"/>
                </a:solidFill>
                <a:ea typeface="楷体_GB2312"/>
              </a:rPr>
              <a:t>就说它们带了电</a:t>
            </a:r>
            <a:r>
              <a:rPr lang="zh-CN" altLang="en-US" sz="2400">
                <a:ea typeface="楷体_GB2312"/>
              </a:rPr>
              <a:t>，或者</a:t>
            </a:r>
            <a:r>
              <a:rPr lang="zh-CN" altLang="en-US" sz="2400">
                <a:solidFill>
                  <a:srgbClr val="FF3300"/>
                </a:solidFill>
                <a:ea typeface="楷体_GB2312"/>
              </a:rPr>
              <a:t>说它们有了电荷</a:t>
            </a:r>
            <a:r>
              <a:rPr lang="zh-CN" altLang="en-US" sz="2400">
                <a:ea typeface="楷体_GB2312"/>
              </a:rPr>
              <a:t>。</a:t>
            </a:r>
            <a:endParaRPr lang="zh-CN" altLang="en-US" sz="2800">
              <a:ea typeface="楷体_GB2312"/>
            </a:endParaRPr>
          </a:p>
        </p:txBody>
      </p:sp>
      <p:graphicFrame>
        <p:nvGraphicFramePr>
          <p:cNvPr id="16390" name="Object 9"/>
          <p:cNvGraphicFramePr>
            <a:graphicFrameLocks noChangeAspect="1"/>
          </p:cNvGraphicFramePr>
          <p:nvPr/>
        </p:nvGraphicFramePr>
        <p:xfrm>
          <a:off x="1371600" y="3910013"/>
          <a:ext cx="2895600" cy="1347787"/>
        </p:xfrm>
        <a:graphic>
          <a:graphicData uri="http://schemas.openxmlformats.org/presentationml/2006/ole">
            <mc:AlternateContent xmlns:mc="http://schemas.openxmlformats.org/markup-compatibility/2006">
              <mc:Choice xmlns:v="urn:schemas-microsoft-com:vml" Requires="v">
                <p:oleObj spid="_x0000_s136297" name="公式" r:id="rId4" imgW="1473200" imgH="685800" progId="Equation.3">
                  <p:embed/>
                </p:oleObj>
              </mc:Choice>
              <mc:Fallback>
                <p:oleObj name="公式" r:id="rId4" imgW="1473200" imgH="685800" progId="Equation.3">
                  <p:embed/>
                  <p:pic>
                    <p:nvPicPr>
                      <p:cNvPr id="1639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3910013"/>
                        <a:ext cx="2895600" cy="1347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91" name="Text Box 10"/>
          <p:cNvSpPr txBox="1">
            <a:spLocks noChangeArrowheads="1"/>
          </p:cNvSpPr>
          <p:nvPr/>
        </p:nvSpPr>
        <p:spPr bwMode="auto">
          <a:xfrm>
            <a:off x="0" y="5305425"/>
            <a:ext cx="6629400"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当物质处于电中性时，质子数＝电子数</a:t>
            </a:r>
          </a:p>
          <a:p>
            <a:pPr eaLnBrk="1" hangingPunct="1">
              <a:spcBef>
                <a:spcPct val="0"/>
              </a:spcBef>
              <a:buFontTx/>
              <a:buNone/>
            </a:pPr>
            <a:r>
              <a:rPr lang="zh-CN" altLang="en-US" sz="2400">
                <a:ea typeface="楷体_GB2312"/>
              </a:rPr>
              <a:t>当物质的电子过多或过少时，物质就带有电荷</a:t>
            </a:r>
          </a:p>
          <a:p>
            <a:pPr eaLnBrk="1" hangingPunct="1">
              <a:spcBef>
                <a:spcPct val="0"/>
              </a:spcBef>
              <a:buFontTx/>
              <a:buNone/>
            </a:pPr>
            <a:r>
              <a:rPr lang="zh-CN" altLang="en-US" sz="2400">
                <a:ea typeface="楷体_GB2312"/>
              </a:rPr>
              <a:t>    电子过多时</a:t>
            </a:r>
            <a:r>
              <a:rPr lang="en-US" altLang="zh-CN" sz="2400">
                <a:ea typeface="楷体_GB2312"/>
              </a:rPr>
              <a:t>——</a:t>
            </a:r>
            <a:r>
              <a:rPr lang="zh-CN" altLang="en-US" sz="2400">
                <a:ea typeface="楷体_GB2312"/>
              </a:rPr>
              <a:t>物体带负电</a:t>
            </a:r>
          </a:p>
          <a:p>
            <a:pPr eaLnBrk="1" hangingPunct="1">
              <a:spcBef>
                <a:spcPct val="0"/>
              </a:spcBef>
              <a:buFontTx/>
              <a:buNone/>
            </a:pPr>
            <a:r>
              <a:rPr lang="zh-CN" altLang="en-US" sz="2400">
                <a:ea typeface="楷体_GB2312"/>
              </a:rPr>
              <a:t>    电子过少时</a:t>
            </a:r>
            <a:r>
              <a:rPr lang="en-US" altLang="zh-CN" sz="2400">
                <a:ea typeface="楷体_GB2312"/>
              </a:rPr>
              <a:t>——</a:t>
            </a:r>
            <a:r>
              <a:rPr lang="zh-CN" altLang="en-US" sz="2400">
                <a:ea typeface="楷体_GB2312"/>
              </a:rPr>
              <a:t>物体带正电</a:t>
            </a:r>
          </a:p>
        </p:txBody>
      </p:sp>
      <p:sp>
        <p:nvSpPr>
          <p:cNvPr id="16392" name="Text Box 11"/>
          <p:cNvSpPr txBox="1">
            <a:spLocks noChangeArrowheads="1"/>
          </p:cNvSpPr>
          <p:nvPr/>
        </p:nvSpPr>
        <p:spPr bwMode="auto">
          <a:xfrm>
            <a:off x="6324600" y="5105400"/>
            <a:ext cx="2743200" cy="1562100"/>
          </a:xfrm>
          <a:prstGeom prst="rect">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FF3300"/>
                </a:solidFill>
                <a:ea typeface="楷体_GB2312"/>
              </a:rPr>
              <a:t>电量的定义：</a:t>
            </a:r>
            <a:endParaRPr lang="zh-CN" altLang="en-US" sz="2400">
              <a:ea typeface="楷体_GB2312"/>
            </a:endParaRPr>
          </a:p>
          <a:p>
            <a:pPr eaLnBrk="1" hangingPunct="1">
              <a:spcBef>
                <a:spcPct val="0"/>
              </a:spcBef>
              <a:buFontTx/>
              <a:buNone/>
            </a:pPr>
            <a:r>
              <a:rPr lang="zh-CN" altLang="en-US" sz="2400">
                <a:ea typeface="楷体_GB2312"/>
              </a:rPr>
              <a:t>物体所带电荷的多少叫作电量。</a:t>
            </a:r>
          </a:p>
          <a:p>
            <a:pPr eaLnBrk="1" hangingPunct="1">
              <a:spcBef>
                <a:spcPct val="0"/>
              </a:spcBef>
              <a:buFontTx/>
              <a:buNone/>
            </a:pPr>
            <a:r>
              <a:rPr lang="zh-CN" altLang="en-US" sz="2400">
                <a:ea typeface="楷体_GB2312"/>
              </a:rPr>
              <a:t>单位：库仑</a:t>
            </a:r>
            <a:r>
              <a:rPr lang="en-US" altLang="zh-CN" sz="2400">
                <a:ea typeface="楷体_GB2312"/>
              </a:rPr>
              <a:t>(C)</a:t>
            </a:r>
            <a:endParaRPr lang="en-US" altLang="zh-CN" sz="3600">
              <a:solidFill>
                <a:srgbClr val="FF3300"/>
              </a:solidFill>
              <a:ea typeface="楷体_GB2312"/>
            </a:endParaRPr>
          </a:p>
        </p:txBody>
      </p:sp>
      <p:grpSp>
        <p:nvGrpSpPr>
          <p:cNvPr id="16393" name="Group 15"/>
          <p:cNvGrpSpPr>
            <a:grpSpLocks/>
          </p:cNvGrpSpPr>
          <p:nvPr/>
        </p:nvGrpSpPr>
        <p:grpSpPr bwMode="auto">
          <a:xfrm>
            <a:off x="5580063" y="981075"/>
            <a:ext cx="3551237" cy="3963988"/>
            <a:chOff x="3239" y="618"/>
            <a:chExt cx="2237" cy="2497"/>
          </a:xfrm>
        </p:grpSpPr>
        <p:sp>
          <p:nvSpPr>
            <p:cNvPr id="16395" name="Rectangle 13"/>
            <p:cNvSpPr>
              <a:spLocks noChangeArrowheads="1"/>
            </p:cNvSpPr>
            <p:nvPr/>
          </p:nvSpPr>
          <p:spPr bwMode="auto">
            <a:xfrm>
              <a:off x="3239" y="1206"/>
              <a:ext cx="2237" cy="1909"/>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a:ea typeface="楷体_GB2312"/>
                </a:rPr>
                <a:t>  </a:t>
              </a:r>
              <a:r>
                <a:rPr lang="en-US" altLang="zh-CN" sz="9700">
                  <a:ea typeface="楷体_GB2312"/>
                </a:rPr>
                <a:t> </a:t>
              </a:r>
              <a:r>
                <a:rPr lang="en-US" altLang="zh-CN" sz="2400">
                  <a:ea typeface="楷体_GB2312"/>
                </a:rPr>
                <a:t>         </a:t>
              </a:r>
              <a:br>
                <a:rPr lang="en-US" altLang="zh-CN" sz="2400">
                  <a:ea typeface="楷体_GB2312"/>
                </a:rPr>
              </a:br>
              <a:br>
                <a:rPr lang="en-US" altLang="zh-CN" sz="2400">
                  <a:ea typeface="楷体_GB2312"/>
                </a:rPr>
              </a:br>
              <a:r>
                <a:rPr lang="zh-CN" altLang="en-US" sz="2400">
                  <a:solidFill>
                    <a:srgbClr val="0066FF"/>
                  </a:solidFill>
                  <a:ea typeface="楷体_GB2312"/>
                </a:rPr>
                <a:t>检验电荷用的金箔检验器</a:t>
              </a:r>
              <a:br>
                <a:rPr lang="zh-CN" altLang="en-US" sz="2400">
                  <a:solidFill>
                    <a:srgbClr val="0066FF"/>
                  </a:solidFill>
                  <a:ea typeface="楷体_GB2312"/>
                </a:rPr>
              </a:br>
              <a:br>
                <a:rPr lang="zh-CN" altLang="en-US" sz="2400">
                  <a:solidFill>
                    <a:srgbClr val="0066FF"/>
                  </a:solidFill>
                  <a:ea typeface="楷体_GB2312"/>
                </a:rPr>
              </a:br>
              <a:r>
                <a:rPr lang="en-US" altLang="zh-CN" sz="2400">
                  <a:solidFill>
                    <a:srgbClr val="0066FF"/>
                  </a:solidFill>
                  <a:ea typeface="楷体_GB2312"/>
                </a:rPr>
                <a:t>(</a:t>
              </a:r>
              <a:r>
                <a:rPr lang="zh-CN" altLang="en-US" sz="2400">
                  <a:solidFill>
                    <a:srgbClr val="0066FF"/>
                  </a:solidFill>
                  <a:ea typeface="楷体_GB2312"/>
                </a:rPr>
                <a:t>公元 </a:t>
              </a:r>
              <a:r>
                <a:rPr lang="en-US" altLang="zh-CN" sz="2400">
                  <a:solidFill>
                    <a:srgbClr val="0066FF"/>
                  </a:solidFill>
                  <a:ea typeface="楷体_GB2312"/>
                </a:rPr>
                <a:t>1895 </a:t>
              </a:r>
              <a:r>
                <a:rPr lang="zh-CN" altLang="en-US" sz="2400">
                  <a:solidFill>
                    <a:srgbClr val="0066FF"/>
                  </a:solidFill>
                  <a:ea typeface="楷体_GB2312"/>
                </a:rPr>
                <a:t>年</a:t>
              </a:r>
              <a:r>
                <a:rPr lang="en-US" altLang="zh-CN" sz="2400">
                  <a:solidFill>
                    <a:srgbClr val="0066FF"/>
                  </a:solidFill>
                  <a:ea typeface="楷体_GB2312"/>
                </a:rPr>
                <a:t>)</a:t>
              </a:r>
              <a:r>
                <a:rPr lang="en-US" altLang="zh-CN" sz="2400">
                  <a:solidFill>
                    <a:srgbClr val="FF3300"/>
                  </a:solidFill>
                  <a:ea typeface="楷体_GB2312"/>
                </a:rPr>
                <a:t> </a:t>
              </a:r>
              <a:endParaRPr lang="en-US" altLang="zh-CN" sz="2400">
                <a:ea typeface="楷体_GB2312"/>
              </a:endParaRPr>
            </a:p>
          </p:txBody>
        </p:sp>
        <p:pic>
          <p:nvPicPr>
            <p:cNvPr id="16396" name="Picture 14" descr="sec100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32" y="618"/>
              <a:ext cx="830" cy="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6394" name="Picture 6" descr="23-02"/>
          <p:cNvSpPr>
            <a:spLocks noChangeAspect="1" noChangeArrowheads="1"/>
          </p:cNvSpPr>
          <p:nvPr/>
        </p:nvSpPr>
        <p:spPr bwMode="auto">
          <a:xfrm>
            <a:off x="5676900" y="93663"/>
            <a:ext cx="1905000" cy="2068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Tree>
    <p:extLst>
      <p:ext uri="{BB962C8B-B14F-4D97-AF65-F5344CB8AC3E}">
        <p14:creationId xmlns:p14="http://schemas.microsoft.com/office/powerpoint/2010/main" val="1750769032"/>
      </p:ext>
    </p:extLst>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973138" y="-100013"/>
            <a:ext cx="6551612" cy="647701"/>
          </a:xfrm>
        </p:spPr>
        <p:txBody>
          <a:bodyPr/>
          <a:lstStyle/>
          <a:p>
            <a:r>
              <a:rPr lang="en-US" altLang="zh-CN" sz="3000" b="1"/>
              <a:t>Conductors</a:t>
            </a:r>
          </a:p>
        </p:txBody>
      </p:sp>
      <p:sp>
        <p:nvSpPr>
          <p:cNvPr id="18435" name="Rectangle 3"/>
          <p:cNvSpPr>
            <a:spLocks noGrp="1" noChangeArrowheads="1"/>
          </p:cNvSpPr>
          <p:nvPr>
            <p:ph type="body" idx="1"/>
          </p:nvPr>
        </p:nvSpPr>
        <p:spPr>
          <a:xfrm>
            <a:off x="250825" y="619125"/>
            <a:ext cx="8642350" cy="2808288"/>
          </a:xfrm>
        </p:spPr>
        <p:txBody>
          <a:bodyPr/>
          <a:lstStyle/>
          <a:p>
            <a:pPr>
              <a:lnSpc>
                <a:spcPct val="90000"/>
              </a:lnSpc>
            </a:pPr>
            <a:r>
              <a:rPr lang="en-US" altLang="zh-CN" sz="2000"/>
              <a:t>Electrical conductors are materials in which some of the electrons are free electrons </a:t>
            </a:r>
          </a:p>
          <a:p>
            <a:pPr lvl="1">
              <a:lnSpc>
                <a:spcPct val="90000"/>
              </a:lnSpc>
            </a:pPr>
            <a:r>
              <a:rPr lang="en-US" altLang="zh-CN" sz="2000"/>
              <a:t>Free electrons are not bound to the atoms</a:t>
            </a:r>
          </a:p>
          <a:p>
            <a:pPr lvl="1">
              <a:lnSpc>
                <a:spcPct val="90000"/>
              </a:lnSpc>
            </a:pPr>
            <a:r>
              <a:rPr lang="en-US" altLang="zh-CN" sz="2000"/>
              <a:t>These electrons can move relatively freely through the material</a:t>
            </a:r>
          </a:p>
          <a:p>
            <a:pPr lvl="1">
              <a:lnSpc>
                <a:spcPct val="90000"/>
              </a:lnSpc>
            </a:pPr>
            <a:r>
              <a:rPr lang="en-US" altLang="zh-CN" sz="2000"/>
              <a:t>Examples of good conductors include </a:t>
            </a:r>
            <a:r>
              <a:rPr lang="en-US" altLang="zh-CN" sz="2000">
                <a:solidFill>
                  <a:srgbClr val="FF0000"/>
                </a:solidFill>
              </a:rPr>
              <a:t>copper, aluminum and silver</a:t>
            </a:r>
          </a:p>
          <a:p>
            <a:pPr lvl="1">
              <a:lnSpc>
                <a:spcPct val="90000"/>
              </a:lnSpc>
            </a:pPr>
            <a:r>
              <a:rPr lang="en-US" altLang="zh-CN" sz="2000"/>
              <a:t>When a good conductor is </a:t>
            </a:r>
            <a:r>
              <a:rPr lang="en-US" altLang="zh-CN" sz="2000">
                <a:solidFill>
                  <a:srgbClr val="FF0000"/>
                </a:solidFill>
              </a:rPr>
              <a:t>charged in a small region</a:t>
            </a:r>
            <a:r>
              <a:rPr lang="en-US" altLang="zh-CN" sz="2000"/>
              <a:t>, the charge readily distributes itself over the entire surface of the material</a:t>
            </a:r>
          </a:p>
        </p:txBody>
      </p:sp>
      <p:sp>
        <p:nvSpPr>
          <p:cNvPr id="18436" name="Rectangle 2"/>
          <p:cNvSpPr txBox="1">
            <a:spLocks noChangeArrowheads="1"/>
          </p:cNvSpPr>
          <p:nvPr/>
        </p:nvSpPr>
        <p:spPr bwMode="auto">
          <a:xfrm>
            <a:off x="685800" y="2708275"/>
            <a:ext cx="777240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3000">
                <a:solidFill>
                  <a:schemeClr val="tx2"/>
                </a:solidFill>
                <a:ea typeface="楷体_GB2312"/>
              </a:rPr>
              <a:t>Insulators</a:t>
            </a:r>
          </a:p>
        </p:txBody>
      </p:sp>
      <p:sp>
        <p:nvSpPr>
          <p:cNvPr id="18437" name="Rectangle 3"/>
          <p:cNvSpPr txBox="1">
            <a:spLocks noChangeArrowheads="1"/>
          </p:cNvSpPr>
          <p:nvPr/>
        </p:nvSpPr>
        <p:spPr bwMode="auto">
          <a:xfrm>
            <a:off x="179388" y="3284538"/>
            <a:ext cx="8929687" cy="252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en-US" altLang="zh-CN" sz="2000" b="0">
                <a:ea typeface="楷体_GB2312"/>
              </a:rPr>
              <a:t>Electrical insulators are materials in which all of the electrons are bound to atoms </a:t>
            </a:r>
          </a:p>
          <a:p>
            <a:pPr lvl="1"/>
            <a:r>
              <a:rPr lang="en-US" altLang="zh-CN" sz="2000" b="0">
                <a:ea typeface="楷体_GB2312"/>
              </a:rPr>
              <a:t>These electrons can not move relatively freely through the material</a:t>
            </a:r>
          </a:p>
          <a:p>
            <a:pPr lvl="1"/>
            <a:r>
              <a:rPr lang="en-US" altLang="zh-CN" sz="2000" b="0">
                <a:ea typeface="楷体_GB2312"/>
              </a:rPr>
              <a:t>Examples of good insulators include </a:t>
            </a:r>
            <a:r>
              <a:rPr lang="en-US" altLang="zh-CN" sz="2000" b="0">
                <a:solidFill>
                  <a:srgbClr val="FF0000"/>
                </a:solidFill>
                <a:ea typeface="楷体_GB2312"/>
              </a:rPr>
              <a:t>glass, rubber and wood</a:t>
            </a:r>
          </a:p>
          <a:p>
            <a:pPr lvl="1"/>
            <a:r>
              <a:rPr lang="en-US" altLang="zh-CN" sz="2000" b="0">
                <a:ea typeface="楷体_GB2312"/>
              </a:rPr>
              <a:t>When a good insulator is charged in a small region</a:t>
            </a:r>
            <a:r>
              <a:rPr lang="en-US" altLang="zh-CN" sz="2000" b="0">
                <a:solidFill>
                  <a:srgbClr val="FF0000"/>
                </a:solidFill>
                <a:ea typeface="楷体_GB2312"/>
              </a:rPr>
              <a:t>, the charge is unable to move</a:t>
            </a:r>
            <a:r>
              <a:rPr lang="en-US" altLang="zh-CN" sz="2000" b="0">
                <a:ea typeface="楷体_GB2312"/>
              </a:rPr>
              <a:t> to other regions of the material</a:t>
            </a:r>
          </a:p>
        </p:txBody>
      </p:sp>
      <p:sp>
        <p:nvSpPr>
          <p:cNvPr id="18438" name="Rectangle 2"/>
          <p:cNvSpPr txBox="1">
            <a:spLocks noChangeArrowheads="1"/>
          </p:cNvSpPr>
          <p:nvPr/>
        </p:nvSpPr>
        <p:spPr bwMode="auto">
          <a:xfrm>
            <a:off x="685800" y="4652963"/>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3000">
                <a:solidFill>
                  <a:schemeClr val="tx2"/>
                </a:solidFill>
                <a:ea typeface="楷体_GB2312"/>
              </a:rPr>
              <a:t>Semiconductors</a:t>
            </a:r>
          </a:p>
        </p:txBody>
      </p:sp>
      <p:sp>
        <p:nvSpPr>
          <p:cNvPr id="18439" name="Rectangle 3"/>
          <p:cNvSpPr txBox="1">
            <a:spLocks noChangeArrowheads="1"/>
          </p:cNvSpPr>
          <p:nvPr/>
        </p:nvSpPr>
        <p:spPr bwMode="auto">
          <a:xfrm>
            <a:off x="296863" y="5373688"/>
            <a:ext cx="8739187"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en-US" altLang="zh-CN" sz="2000" b="0">
                <a:ea typeface="楷体_GB2312"/>
              </a:rPr>
              <a:t>The electrical properties of semiconductors are somewhere between those of insulators and conductors</a:t>
            </a:r>
          </a:p>
          <a:p>
            <a:r>
              <a:rPr lang="en-US" altLang="zh-CN" sz="2000" b="0">
                <a:ea typeface="楷体_GB2312"/>
              </a:rPr>
              <a:t>Examples of semiconductor materials include </a:t>
            </a:r>
            <a:r>
              <a:rPr lang="en-US" altLang="zh-CN" sz="2000" b="0">
                <a:solidFill>
                  <a:srgbClr val="FF0000"/>
                </a:solidFill>
                <a:ea typeface="楷体_GB2312"/>
              </a:rPr>
              <a:t>silicon and germanium</a:t>
            </a:r>
          </a:p>
        </p:txBody>
      </p:sp>
    </p:spTree>
    <p:extLst>
      <p:ext uri="{BB962C8B-B14F-4D97-AF65-F5344CB8AC3E}">
        <p14:creationId xmlns:p14="http://schemas.microsoft.com/office/powerpoint/2010/main" val="197928261"/>
      </p:ext>
    </p:extLst>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ext Box 2"/>
          <p:cNvSpPr txBox="1">
            <a:spLocks noChangeArrowheads="1"/>
          </p:cNvSpPr>
          <p:nvPr/>
        </p:nvSpPr>
        <p:spPr bwMode="auto">
          <a:xfrm>
            <a:off x="228600" y="152400"/>
            <a:ext cx="4648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3333FF"/>
                </a:solidFill>
                <a:ea typeface="楷体_GB2312"/>
              </a:rPr>
              <a:t>2</a:t>
            </a:r>
            <a:r>
              <a:rPr lang="zh-CN" altLang="en-US" sz="2800">
                <a:solidFill>
                  <a:srgbClr val="3333FF"/>
                </a:solidFill>
                <a:ea typeface="楷体_GB2312"/>
              </a:rPr>
              <a:t>、</a:t>
            </a:r>
            <a:r>
              <a:rPr lang="zh-CN" altLang="en-US" sz="2800">
                <a:solidFill>
                  <a:srgbClr val="0000FF"/>
                </a:solidFill>
                <a:ea typeface="楷体_GB2312"/>
              </a:rPr>
              <a:t>电荷量子化</a:t>
            </a:r>
            <a:endParaRPr lang="zh-CN" altLang="en-US" sz="2800">
              <a:solidFill>
                <a:srgbClr val="3333FF"/>
              </a:solidFill>
              <a:ea typeface="楷体_GB2312"/>
            </a:endParaRPr>
          </a:p>
        </p:txBody>
      </p:sp>
      <p:pic>
        <p:nvPicPr>
          <p:cNvPr id="101388" name="Picture 12" descr="image0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2463800"/>
            <a:ext cx="7850187" cy="42052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101391" name="Group 15"/>
          <p:cNvGrpSpPr>
            <a:grpSpLocks/>
          </p:cNvGrpSpPr>
          <p:nvPr/>
        </p:nvGrpSpPr>
        <p:grpSpPr bwMode="auto">
          <a:xfrm>
            <a:off x="304800" y="908050"/>
            <a:ext cx="8534400" cy="4038600"/>
            <a:chOff x="192" y="432"/>
            <a:chExt cx="5376" cy="2544"/>
          </a:xfrm>
        </p:grpSpPr>
        <p:sp>
          <p:nvSpPr>
            <p:cNvPr id="20493" name="Text Box 3"/>
            <p:cNvSpPr txBox="1">
              <a:spLocks noChangeArrowheads="1"/>
            </p:cNvSpPr>
            <p:nvPr/>
          </p:nvSpPr>
          <p:spPr bwMode="auto">
            <a:xfrm>
              <a:off x="288" y="432"/>
              <a:ext cx="5280" cy="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a:ea typeface="楷体_GB2312"/>
                </a:rPr>
                <a:t>1913</a:t>
              </a:r>
              <a:r>
                <a:rPr lang="zh-CN" altLang="en-US" sz="2400">
                  <a:ea typeface="楷体_GB2312"/>
                </a:rPr>
                <a:t>年，密立根用液滴法从实验中测出所有电子都具有相同的电荷，而且带电体的电荷是电子电荷的整数倍。</a:t>
              </a:r>
            </a:p>
            <a:p>
              <a:pPr eaLnBrk="1" hangingPunct="1">
                <a:spcBef>
                  <a:spcPct val="0"/>
                </a:spcBef>
                <a:buFontTx/>
                <a:buNone/>
              </a:pPr>
              <a:r>
                <a:rPr lang="zh-CN" altLang="en-US" sz="2400">
                  <a:ea typeface="楷体_GB2312"/>
                </a:rPr>
                <a:t>        电子电量        </a:t>
              </a:r>
              <a:r>
                <a:rPr lang="en-US" altLang="zh-CN" sz="2400" i="1">
                  <a:ea typeface="楷体_GB2312"/>
                </a:rPr>
                <a:t>e</a:t>
              </a:r>
              <a:endParaRPr lang="en-US" altLang="zh-CN" sz="2400">
                <a:ea typeface="楷体_GB2312"/>
              </a:endParaRPr>
            </a:p>
            <a:p>
              <a:pPr eaLnBrk="1" hangingPunct="1">
                <a:spcBef>
                  <a:spcPct val="0"/>
                </a:spcBef>
                <a:buFontTx/>
                <a:buNone/>
              </a:pPr>
              <a:r>
                <a:rPr lang="en-US" altLang="zh-CN" sz="2400">
                  <a:ea typeface="楷体_GB2312"/>
                </a:rPr>
                <a:t>        </a:t>
              </a:r>
              <a:r>
                <a:rPr lang="zh-CN" altLang="en-US" sz="2400">
                  <a:ea typeface="楷体_GB2312"/>
                </a:rPr>
                <a:t>带电体电量    </a:t>
              </a:r>
              <a:r>
                <a:rPr lang="en-US" altLang="zh-CN" sz="2400" i="1">
                  <a:ea typeface="楷体_GB2312"/>
                </a:rPr>
                <a:t>q=ne,  n</a:t>
              </a:r>
              <a:r>
                <a:rPr lang="en-US" altLang="zh-CN" sz="2400">
                  <a:ea typeface="楷体_GB2312"/>
                </a:rPr>
                <a:t>=1,2,3,...</a:t>
              </a:r>
            </a:p>
          </p:txBody>
        </p:sp>
        <p:sp>
          <p:nvSpPr>
            <p:cNvPr id="20494" name="Text Box 4"/>
            <p:cNvSpPr txBox="1">
              <a:spLocks noChangeArrowheads="1"/>
            </p:cNvSpPr>
            <p:nvPr/>
          </p:nvSpPr>
          <p:spPr bwMode="auto">
            <a:xfrm>
              <a:off x="192" y="1642"/>
              <a:ext cx="5241" cy="51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电荷的这种只能取离散的、不连续的量值的性质，叫作</a:t>
              </a:r>
              <a:r>
                <a:rPr lang="zh-CN" altLang="en-US" sz="2400">
                  <a:solidFill>
                    <a:srgbClr val="FF3300"/>
                  </a:solidFill>
                  <a:ea typeface="楷体_GB2312"/>
                </a:rPr>
                <a:t>电荷的量子化</a:t>
              </a:r>
              <a:r>
                <a:rPr lang="zh-CN" altLang="en-US" sz="2400">
                  <a:ea typeface="楷体_GB2312"/>
                </a:rPr>
                <a:t>。电子的电荷</a:t>
              </a:r>
              <a:r>
                <a:rPr lang="en-US" altLang="zh-CN" sz="2400" i="1">
                  <a:ea typeface="楷体_GB2312"/>
                </a:rPr>
                <a:t>e</a:t>
              </a:r>
              <a:r>
                <a:rPr lang="zh-CN" altLang="en-US" sz="2400">
                  <a:ea typeface="楷体_GB2312"/>
                </a:rPr>
                <a:t>称为</a:t>
              </a:r>
              <a:r>
                <a:rPr lang="zh-CN" altLang="en-US" sz="2400">
                  <a:solidFill>
                    <a:srgbClr val="FF3300"/>
                  </a:solidFill>
                  <a:ea typeface="楷体_GB2312"/>
                </a:rPr>
                <a:t>基元电荷</a:t>
              </a:r>
              <a:r>
                <a:rPr lang="zh-CN" altLang="en-US" sz="2400">
                  <a:ea typeface="楷体_GB2312"/>
                </a:rPr>
                <a:t>，或</a:t>
              </a:r>
              <a:r>
                <a:rPr lang="zh-CN" altLang="en-US" sz="2400">
                  <a:solidFill>
                    <a:srgbClr val="FF3300"/>
                  </a:solidFill>
                  <a:ea typeface="楷体_GB2312"/>
                </a:rPr>
                <a:t>电荷的量子</a:t>
              </a:r>
              <a:r>
                <a:rPr lang="zh-CN" altLang="en-US" sz="2400">
                  <a:ea typeface="楷体_GB2312"/>
                </a:rPr>
                <a:t>。</a:t>
              </a:r>
              <a:endParaRPr lang="zh-CN" altLang="en-US" sz="3600">
                <a:solidFill>
                  <a:srgbClr val="FF3300"/>
                </a:solidFill>
                <a:ea typeface="楷体_GB2312"/>
              </a:endParaRPr>
            </a:p>
          </p:txBody>
        </p:sp>
        <p:sp>
          <p:nvSpPr>
            <p:cNvPr id="20495" name="Text Box 5"/>
            <p:cNvSpPr txBox="1">
              <a:spLocks noChangeArrowheads="1"/>
            </p:cNvSpPr>
            <p:nvPr/>
          </p:nvSpPr>
          <p:spPr bwMode="auto">
            <a:xfrm>
              <a:off x="336" y="2160"/>
              <a:ext cx="1662"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400">
                  <a:ea typeface="楷体_GB2312"/>
                </a:rPr>
                <a:t>1986</a:t>
              </a:r>
              <a:r>
                <a:rPr lang="zh-CN" altLang="en-US" sz="2400">
                  <a:ea typeface="楷体_GB2312"/>
                </a:rPr>
                <a:t>年国际推荐值</a:t>
              </a:r>
            </a:p>
          </p:txBody>
        </p:sp>
        <p:graphicFrame>
          <p:nvGraphicFramePr>
            <p:cNvPr id="20496" name="Object 6"/>
            <p:cNvGraphicFramePr>
              <a:graphicFrameLocks noChangeAspect="1"/>
            </p:cNvGraphicFramePr>
            <p:nvPr/>
          </p:nvGraphicFramePr>
          <p:xfrm>
            <a:off x="2304" y="2093"/>
            <a:ext cx="2981" cy="355"/>
          </p:xfrm>
          <a:graphic>
            <a:graphicData uri="http://schemas.openxmlformats.org/presentationml/2006/ole">
              <mc:AlternateContent xmlns:mc="http://schemas.openxmlformats.org/markup-compatibility/2006">
                <mc:Choice xmlns:v="urn:schemas-microsoft-com:vml" Requires="v">
                  <p:oleObj spid="_x0000_s137430" name="公式" r:id="rId5" imgW="1917700" imgH="228600" progId="Equation.3">
                    <p:embed/>
                  </p:oleObj>
                </mc:Choice>
                <mc:Fallback>
                  <p:oleObj name="公式" r:id="rId5" imgW="1917700" imgH="228600" progId="Equation.3">
                    <p:embed/>
                    <p:pic>
                      <p:nvPicPr>
                        <p:cNvPr id="20496"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04" y="2093"/>
                          <a:ext cx="2981" cy="35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497" name="Text Box 7"/>
            <p:cNvSpPr txBox="1">
              <a:spLocks noChangeArrowheads="1"/>
            </p:cNvSpPr>
            <p:nvPr/>
          </p:nvSpPr>
          <p:spPr bwMode="auto">
            <a:xfrm>
              <a:off x="432" y="2640"/>
              <a:ext cx="696"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近似值</a:t>
              </a:r>
            </a:p>
          </p:txBody>
        </p:sp>
        <p:graphicFrame>
          <p:nvGraphicFramePr>
            <p:cNvPr id="20498" name="Object 8"/>
            <p:cNvGraphicFramePr>
              <a:graphicFrameLocks noChangeAspect="1"/>
            </p:cNvGraphicFramePr>
            <p:nvPr/>
          </p:nvGraphicFramePr>
          <p:xfrm>
            <a:off x="2352" y="2683"/>
            <a:ext cx="1680" cy="293"/>
          </p:xfrm>
          <a:graphic>
            <a:graphicData uri="http://schemas.openxmlformats.org/presentationml/2006/ole">
              <mc:AlternateContent xmlns:mc="http://schemas.openxmlformats.org/markup-compatibility/2006">
                <mc:Choice xmlns:v="urn:schemas-microsoft-com:vml" Requires="v">
                  <p:oleObj spid="_x0000_s137431" name="公式" r:id="rId7" imgW="1155700" imgH="203200" progId="Equation.3">
                    <p:embed/>
                  </p:oleObj>
                </mc:Choice>
                <mc:Fallback>
                  <p:oleObj name="公式" r:id="rId7" imgW="1155700" imgH="203200" progId="Equation.3">
                    <p:embed/>
                    <p:pic>
                      <p:nvPicPr>
                        <p:cNvPr id="20498"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52" y="2683"/>
                          <a:ext cx="1680" cy="293"/>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01397" name="Group 21"/>
          <p:cNvGrpSpPr>
            <a:grpSpLocks/>
          </p:cNvGrpSpPr>
          <p:nvPr/>
        </p:nvGrpSpPr>
        <p:grpSpPr bwMode="auto">
          <a:xfrm>
            <a:off x="4067175" y="44450"/>
            <a:ext cx="5113338" cy="3097213"/>
            <a:chOff x="345" y="845"/>
            <a:chExt cx="4259" cy="2313"/>
          </a:xfrm>
        </p:grpSpPr>
        <p:sp>
          <p:nvSpPr>
            <p:cNvPr id="20487" name="Rectangle 22"/>
            <p:cNvSpPr>
              <a:spLocks noChangeArrowheads="1"/>
            </p:cNvSpPr>
            <p:nvPr/>
          </p:nvSpPr>
          <p:spPr bwMode="auto">
            <a:xfrm>
              <a:off x="345" y="1706"/>
              <a:ext cx="4259" cy="94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br>
                <a:rPr lang="en-US" altLang="zh-CN" sz="2400" b="0">
                  <a:ea typeface="楷体_GB2312"/>
                </a:rPr>
              </a:br>
              <a:r>
                <a:rPr lang="zh-CN" altLang="en-US" sz="2400" b="0">
                  <a:ea typeface="楷体_GB2312"/>
                </a:rPr>
                <a:t>由于 ，                  </a:t>
              </a:r>
            </a:p>
            <a:p>
              <a:pPr eaLnBrk="1" hangingPunct="1">
                <a:buFontTx/>
                <a:buNone/>
              </a:pPr>
              <a:r>
                <a:rPr lang="zh-CN" altLang="en-US" sz="2400" b="0">
                  <a:ea typeface="楷体_GB2312"/>
                </a:rPr>
                <a:t> </a:t>
              </a:r>
              <a:r>
                <a:rPr lang="zh-CN" altLang="en-US" sz="2000" b="0">
                  <a:ea typeface="楷体_GB2312"/>
                </a:rPr>
                <a:t>，则由上式可得油滴所带电荷的大小为</a:t>
              </a:r>
              <a:r>
                <a:rPr lang="zh-CN" altLang="en-US" sz="2400">
                  <a:solidFill>
                    <a:srgbClr val="FF3300"/>
                  </a:solidFill>
                  <a:ea typeface="楷体_GB2312"/>
                </a:rPr>
                <a:t> </a:t>
              </a:r>
            </a:p>
          </p:txBody>
        </p:sp>
        <p:pic>
          <p:nvPicPr>
            <p:cNvPr id="20488" name="Picture 23" descr="equation10-6-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0" y="1298"/>
              <a:ext cx="2828" cy="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9" name="Picture 24" descr="equation10-6-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36" y="1930"/>
              <a:ext cx="780"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0" name="Picture 25" descr="equation10-6-2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82" y="1933"/>
              <a:ext cx="1045"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1" name="Picture 26" descr="equation10-6-2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29" y="2554"/>
              <a:ext cx="1281" cy="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2" name="Picture 27" descr="equation10-6-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01" y="845"/>
              <a:ext cx="1593"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矩形 2">
            <a:extLst>
              <a:ext uri="{FF2B5EF4-FFF2-40B4-BE49-F238E27FC236}">
                <a16:creationId xmlns:a16="http://schemas.microsoft.com/office/drawing/2014/main" id="{1CC7D7FE-77F5-47D6-8272-32E4450A558E}"/>
              </a:ext>
            </a:extLst>
          </p:cNvPr>
          <p:cNvSpPr/>
          <p:nvPr/>
        </p:nvSpPr>
        <p:spPr>
          <a:xfrm>
            <a:off x="533400" y="6314531"/>
            <a:ext cx="9433049" cy="400110"/>
          </a:xfrm>
          <a:prstGeom prst="rect">
            <a:avLst/>
          </a:prstGeom>
        </p:spPr>
        <p:txBody>
          <a:bodyPr wrap="square">
            <a:spAutoFit/>
          </a:bodyPr>
          <a:lstStyle/>
          <a:p>
            <a:r>
              <a:rPr lang="zh-CN" altLang="en-US" sz="2000" b="0">
                <a:solidFill>
                  <a:srgbClr val="222222"/>
                </a:solidFill>
                <a:latin typeface="arial" panose="020B0604020202020204" pitchFamily="34" charset="0"/>
              </a:rPr>
              <a:t>密立根因为这一杰出成就在</a:t>
            </a:r>
            <a:r>
              <a:rPr lang="en-US" altLang="zh-CN" sz="2000" b="0">
                <a:solidFill>
                  <a:srgbClr val="222222"/>
                </a:solidFill>
                <a:latin typeface="arial" panose="020B0604020202020204" pitchFamily="34" charset="0"/>
              </a:rPr>
              <a:t>1923</a:t>
            </a:r>
            <a:r>
              <a:rPr lang="zh-CN" altLang="en-US" sz="2000" b="0">
                <a:solidFill>
                  <a:srgbClr val="222222"/>
                </a:solidFill>
                <a:latin typeface="arial" panose="020B0604020202020204" pitchFamily="34" charset="0"/>
              </a:rPr>
              <a:t>年获得了诺贝尔物理学奖。</a:t>
            </a:r>
            <a:endParaRPr lang="zh-CN" altLang="en-US" sz="2000"/>
          </a:p>
        </p:txBody>
      </p:sp>
      <p:sp>
        <p:nvSpPr>
          <p:cNvPr id="2" name="矩形 1"/>
          <p:cNvSpPr>
            <a:spLocks noChangeArrowheads="1"/>
          </p:cNvSpPr>
          <p:nvPr/>
        </p:nvSpPr>
        <p:spPr bwMode="auto">
          <a:xfrm>
            <a:off x="535259" y="5590903"/>
            <a:ext cx="8305800" cy="1200150"/>
          </a:xfrm>
          <a:prstGeom prst="rect">
            <a:avLst/>
          </a:prstGeom>
          <a:solidFill>
            <a:srgbClr val="FFFF00"/>
          </a:solidFill>
          <a:ln w="9525">
            <a:solidFill>
              <a:srgbClr val="000000"/>
            </a:solidFill>
            <a:miter lim="800000"/>
            <a:headEnd/>
            <a:tailEnd/>
          </a:ln>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3600">
                <a:ea typeface="楷体_GB2312"/>
              </a:rPr>
              <a:t>     量子化是微观体系的基本特征，能量、动量、角动量等都是量子化的</a:t>
            </a:r>
            <a:endParaRPr lang="zh-CN" altLang="en-US" sz="3600">
              <a:solidFill>
                <a:srgbClr val="FF3300"/>
              </a:solidFill>
              <a:ea typeface="楷体_GB2312"/>
            </a:endParaRPr>
          </a:p>
        </p:txBody>
      </p:sp>
    </p:spTree>
    <p:extLst>
      <p:ext uri="{BB962C8B-B14F-4D97-AF65-F5344CB8AC3E}">
        <p14:creationId xmlns:p14="http://schemas.microsoft.com/office/powerpoint/2010/main" val="1539236543"/>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101378">
                                            <p:txEl>
                                              <p:pRg st="0" end="0"/>
                                            </p:txEl>
                                          </p:spTgt>
                                        </p:tgtEl>
                                        <p:attrNameLst>
                                          <p:attrName>style.visibility</p:attrName>
                                        </p:attrNameLst>
                                      </p:cBhvr>
                                      <p:to>
                                        <p:strVal val="visible"/>
                                      </p:to>
                                    </p:set>
                                    <p:animEffect transition="in" filter="wipe(left)">
                                      <p:cBhvr>
                                        <p:cTn id="7" dur="75"/>
                                        <p:tgtEl>
                                          <p:spTgt spid="10137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01391"/>
                                        </p:tgtEl>
                                        <p:attrNameLst>
                                          <p:attrName>style.visibility</p:attrName>
                                        </p:attrNameLst>
                                      </p:cBhvr>
                                      <p:to>
                                        <p:strVal val="visible"/>
                                      </p:to>
                                    </p:set>
                                    <p:animEffect transition="in" filter="wipe(down)">
                                      <p:cBhvr>
                                        <p:cTn id="12" dur="500"/>
                                        <p:tgtEl>
                                          <p:spTgt spid="1013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xit" presetSubtype="16" fill="hold" nodeType="clickEffect">
                                  <p:stCondLst>
                                    <p:cond delay="0"/>
                                  </p:stCondLst>
                                  <p:childTnLst>
                                    <p:animEffect transition="out" filter="diamond(in)">
                                      <p:cBhvr>
                                        <p:cTn id="16" dur="2000"/>
                                        <p:tgtEl>
                                          <p:spTgt spid="101391"/>
                                        </p:tgtEl>
                                      </p:cBhvr>
                                    </p:animEffect>
                                    <p:set>
                                      <p:cBhvr>
                                        <p:cTn id="17" dur="1" fill="hold">
                                          <p:stCondLst>
                                            <p:cond delay="1999"/>
                                          </p:stCondLst>
                                        </p:cTn>
                                        <p:tgtEl>
                                          <p:spTgt spid="101391"/>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101388"/>
                                        </p:tgtEl>
                                        <p:attrNameLst>
                                          <p:attrName>style.visibility</p:attrName>
                                        </p:attrNameLst>
                                      </p:cBhvr>
                                      <p:to>
                                        <p:strVal val="visible"/>
                                      </p:to>
                                    </p:set>
                                    <p:animEffect transition="in" filter="wipe(down)">
                                      <p:cBhvr>
                                        <p:cTn id="22" dur="500"/>
                                        <p:tgtEl>
                                          <p:spTgt spid="10138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101397"/>
                                        </p:tgtEl>
                                        <p:attrNameLst>
                                          <p:attrName>style.visibility</p:attrName>
                                        </p:attrNameLst>
                                      </p:cBhvr>
                                      <p:to>
                                        <p:strVal val="visible"/>
                                      </p:to>
                                    </p:set>
                                    <p:animEffect transition="in" filter="wipe(down)">
                                      <p:cBhvr>
                                        <p:cTn id="27" dur="500"/>
                                        <p:tgtEl>
                                          <p:spTgt spid="10139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build="p" autoUpdateAnimBg="0"/>
      <p:bldP spid="3" grpId="0"/>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8" name="Text Box 4"/>
          <p:cNvSpPr txBox="1">
            <a:spLocks noChangeArrowheads="1"/>
          </p:cNvSpPr>
          <p:nvPr/>
        </p:nvSpPr>
        <p:spPr bwMode="auto">
          <a:xfrm>
            <a:off x="107950" y="2549525"/>
            <a:ext cx="4648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3333FF"/>
                </a:solidFill>
                <a:ea typeface="楷体_GB2312"/>
              </a:rPr>
              <a:t>4</a:t>
            </a:r>
            <a:r>
              <a:rPr lang="zh-CN" altLang="en-US" sz="2800">
                <a:solidFill>
                  <a:srgbClr val="3333FF"/>
                </a:solidFill>
                <a:ea typeface="楷体_GB2312"/>
              </a:rPr>
              <a:t>、分数</a:t>
            </a:r>
            <a:r>
              <a:rPr lang="zh-CN" altLang="en-US" sz="2800">
                <a:solidFill>
                  <a:srgbClr val="0000FF"/>
                </a:solidFill>
                <a:ea typeface="楷体_GB2312"/>
              </a:rPr>
              <a:t>电荷</a:t>
            </a:r>
            <a:endParaRPr lang="zh-CN" altLang="en-US" sz="2800">
              <a:solidFill>
                <a:srgbClr val="3333FF"/>
              </a:solidFill>
              <a:ea typeface="楷体_GB2312"/>
            </a:endParaRPr>
          </a:p>
        </p:txBody>
      </p:sp>
      <p:sp>
        <p:nvSpPr>
          <p:cNvPr id="129029" name="Text Box 5"/>
          <p:cNvSpPr txBox="1">
            <a:spLocks noChangeArrowheads="1"/>
          </p:cNvSpPr>
          <p:nvPr/>
        </p:nvSpPr>
        <p:spPr bwMode="auto">
          <a:xfrm>
            <a:off x="152400" y="5226050"/>
            <a:ext cx="50673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3333FF"/>
                </a:solidFill>
                <a:ea typeface="楷体_GB2312"/>
              </a:rPr>
              <a:t>5</a:t>
            </a:r>
            <a:r>
              <a:rPr lang="zh-CN" altLang="en-US" sz="2800">
                <a:solidFill>
                  <a:srgbClr val="3333FF"/>
                </a:solidFill>
                <a:ea typeface="楷体_GB2312"/>
              </a:rPr>
              <a:t>、电荷的相对论不变性：</a:t>
            </a:r>
            <a:endParaRPr lang="zh-CN" altLang="en-US" sz="2800">
              <a:ea typeface="楷体_GB2312"/>
            </a:endParaRPr>
          </a:p>
        </p:txBody>
      </p:sp>
      <p:sp>
        <p:nvSpPr>
          <p:cNvPr id="129030" name="Text Box 6"/>
          <p:cNvSpPr txBox="1">
            <a:spLocks noChangeArrowheads="1"/>
          </p:cNvSpPr>
          <p:nvPr/>
        </p:nvSpPr>
        <p:spPr bwMode="auto">
          <a:xfrm>
            <a:off x="838200" y="5775325"/>
            <a:ext cx="7696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在不同的参照系内观察，同一个带电粒子的电量不变。电荷的这一性质叫做</a:t>
            </a:r>
            <a:r>
              <a:rPr lang="zh-CN" altLang="en-US" sz="2400">
                <a:solidFill>
                  <a:srgbClr val="FF3300"/>
                </a:solidFill>
                <a:ea typeface="楷体_GB2312"/>
              </a:rPr>
              <a:t>电荷的相对论不变性</a:t>
            </a:r>
            <a:r>
              <a:rPr lang="zh-CN" altLang="en-US" sz="2400">
                <a:ea typeface="楷体_GB2312"/>
              </a:rPr>
              <a:t>。</a:t>
            </a:r>
          </a:p>
        </p:txBody>
      </p:sp>
      <p:sp>
        <p:nvSpPr>
          <p:cNvPr id="129032" name="Text Box 8"/>
          <p:cNvSpPr txBox="1">
            <a:spLocks noChangeArrowheads="1"/>
          </p:cNvSpPr>
          <p:nvPr/>
        </p:nvSpPr>
        <p:spPr bwMode="auto">
          <a:xfrm>
            <a:off x="323850" y="3065463"/>
            <a:ext cx="85915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87350" indent="371475">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 typeface="Wingdings" panose="05000000000000000000" pitchFamily="2" charset="2"/>
              <a:buNone/>
            </a:pPr>
            <a:r>
              <a:rPr kumimoji="0" lang="zh-CN" altLang="en-US" sz="2000">
                <a:ea typeface="楷体_GB2312"/>
              </a:rPr>
              <a:t>分数电荷：</a:t>
            </a:r>
            <a:r>
              <a:rPr kumimoji="0" lang="en-US" altLang="zh-CN" sz="2000">
                <a:ea typeface="楷体_GB2312"/>
              </a:rPr>
              <a:t>1964</a:t>
            </a:r>
            <a:r>
              <a:rPr kumimoji="0" lang="zh-CN" altLang="en-US" sz="2000">
                <a:ea typeface="楷体_GB2312"/>
              </a:rPr>
              <a:t>年</a:t>
            </a:r>
            <a:r>
              <a:rPr kumimoji="0" lang="en-US" altLang="zh-CN" sz="2000">
                <a:ea typeface="楷体_GB2312"/>
              </a:rPr>
              <a:t>Gell-Mann</a:t>
            </a:r>
            <a:r>
              <a:rPr kumimoji="0" lang="zh-CN" altLang="en-US" sz="2000">
                <a:ea typeface="楷体_GB2312"/>
              </a:rPr>
              <a:t>指出基本粒子是由</a:t>
            </a:r>
            <a:r>
              <a:rPr kumimoji="0" lang="en-US" altLang="zh-CN" sz="2000">
                <a:ea typeface="楷体_GB2312"/>
              </a:rPr>
              <a:t>Quark</a:t>
            </a:r>
            <a:r>
              <a:rPr kumimoji="0" lang="zh-CN" altLang="en-US" sz="2000">
                <a:ea typeface="楷体_GB2312"/>
              </a:rPr>
              <a:t>构成的</a:t>
            </a:r>
            <a:r>
              <a:rPr kumimoji="0" lang="en-US" altLang="zh-CN" sz="2000">
                <a:ea typeface="楷体_GB2312"/>
              </a:rPr>
              <a:t>——</a:t>
            </a:r>
            <a:br>
              <a:rPr kumimoji="0" lang="en-US" altLang="zh-CN" sz="2000">
                <a:ea typeface="楷体_GB2312"/>
              </a:rPr>
            </a:br>
            <a:r>
              <a:rPr kumimoji="0" lang="en-US" altLang="zh-CN" sz="2000">
                <a:ea typeface="楷体_GB2312"/>
              </a:rPr>
              <a:t>      Quark</a:t>
            </a:r>
            <a:r>
              <a:rPr kumimoji="0" lang="zh-CN" altLang="en-US" sz="2000">
                <a:ea typeface="楷体_GB2312"/>
              </a:rPr>
              <a:t>模型。</a:t>
            </a:r>
            <a:r>
              <a:rPr kumimoji="0" lang="en-US" altLang="zh-CN" sz="2000">
                <a:ea typeface="楷体_GB2312"/>
              </a:rPr>
              <a:t>Quark</a:t>
            </a:r>
            <a:r>
              <a:rPr kumimoji="0" lang="zh-CN" altLang="en-US" sz="2000">
                <a:ea typeface="楷体_GB2312"/>
              </a:rPr>
              <a:t>的电荷量为：</a:t>
            </a:r>
            <a:endParaRPr kumimoji="0" lang="zh-CN" altLang="en-US" sz="2000">
              <a:solidFill>
                <a:srgbClr val="993300"/>
              </a:solidFill>
              <a:ea typeface="楷体_GB2312"/>
            </a:endParaRPr>
          </a:p>
        </p:txBody>
      </p:sp>
      <p:graphicFrame>
        <p:nvGraphicFramePr>
          <p:cNvPr id="129033" name="Object 9"/>
          <p:cNvGraphicFramePr>
            <a:graphicFrameLocks noChangeAspect="1"/>
          </p:cNvGraphicFramePr>
          <p:nvPr/>
        </p:nvGraphicFramePr>
        <p:xfrm>
          <a:off x="5940425" y="3429000"/>
          <a:ext cx="1150938" cy="638175"/>
        </p:xfrm>
        <a:graphic>
          <a:graphicData uri="http://schemas.openxmlformats.org/presentationml/2006/ole">
            <mc:AlternateContent xmlns:mc="http://schemas.openxmlformats.org/markup-compatibility/2006">
              <mc:Choice xmlns:v="urn:schemas-microsoft-com:vml" Requires="v">
                <p:oleObj spid="_x0000_s138344" name="Equation" r:id="rId3" imgW="710891" imgH="393529" progId="Equation.3">
                  <p:embed/>
                </p:oleObj>
              </mc:Choice>
              <mc:Fallback>
                <p:oleObj name="Equation" r:id="rId3" imgW="710891" imgH="393529" progId="Equation.3">
                  <p:embed/>
                  <p:pic>
                    <p:nvPicPr>
                      <p:cNvPr id="129033"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0425" y="3429000"/>
                        <a:ext cx="1150938" cy="638175"/>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9034" name="Text Box 10"/>
          <p:cNvSpPr txBox="1">
            <a:spLocks noChangeArrowheads="1"/>
          </p:cNvSpPr>
          <p:nvPr/>
        </p:nvSpPr>
        <p:spPr bwMode="auto">
          <a:xfrm>
            <a:off x="381000" y="4006850"/>
            <a:ext cx="84582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000">
                <a:ea typeface="楷体_GB2312"/>
              </a:rPr>
              <a:t>        1995</a:t>
            </a:r>
            <a:r>
              <a:rPr kumimoji="0" lang="zh-CN" altLang="en-US" sz="2000">
                <a:ea typeface="楷体_GB2312"/>
              </a:rPr>
              <a:t>年</a:t>
            </a:r>
            <a:r>
              <a:rPr kumimoji="0" lang="en-US" altLang="zh-CN" sz="2000">
                <a:ea typeface="楷体_GB2312"/>
              </a:rPr>
              <a:t>Quark</a:t>
            </a:r>
            <a:r>
              <a:rPr kumimoji="0" lang="zh-CN" altLang="en-US" sz="2000">
                <a:ea typeface="楷体_GB2312"/>
              </a:rPr>
              <a:t>的发现证实了分数电荷的存在。</a:t>
            </a:r>
          </a:p>
          <a:p>
            <a:pPr>
              <a:spcBef>
                <a:spcPct val="0"/>
              </a:spcBef>
              <a:buFontTx/>
              <a:buNone/>
            </a:pPr>
            <a:r>
              <a:rPr kumimoji="0" lang="zh-CN" altLang="en-US" sz="2000">
                <a:ea typeface="楷体_GB2312"/>
              </a:rPr>
              <a:t>        </a:t>
            </a:r>
            <a:r>
              <a:rPr lang="en-US" altLang="zh-CN" sz="2000">
                <a:ea typeface="楷体_GB2312"/>
              </a:rPr>
              <a:t>1998</a:t>
            </a:r>
            <a:r>
              <a:rPr lang="zh-CN" altLang="en-US" sz="2000">
                <a:ea typeface="楷体_GB2312"/>
              </a:rPr>
              <a:t>年诺贝尔物理奖授予</a:t>
            </a:r>
            <a:r>
              <a:rPr lang="en-US" altLang="zh-CN" sz="2000">
                <a:ea typeface="楷体_GB2312"/>
              </a:rPr>
              <a:t>Horst Stomer,  </a:t>
            </a:r>
            <a:r>
              <a:rPr lang="zh-CN" altLang="en-US" sz="2000">
                <a:ea typeface="楷体_GB2312"/>
              </a:rPr>
              <a:t>崔琦和</a:t>
            </a:r>
            <a:r>
              <a:rPr lang="en-US" altLang="zh-CN" sz="2000">
                <a:ea typeface="楷体_GB2312"/>
              </a:rPr>
              <a:t>Robert Laughlin, </a:t>
            </a:r>
            <a:r>
              <a:rPr lang="zh-CN" altLang="en-US" sz="2000">
                <a:ea typeface="楷体_GB2312"/>
              </a:rPr>
              <a:t>以表彰他们发现分数量子霍尔效应及对这一新的量子液体的深刻理解</a:t>
            </a:r>
            <a:r>
              <a:rPr lang="en-US" altLang="zh-CN" sz="2000">
                <a:ea typeface="楷体_GB2312"/>
              </a:rPr>
              <a:t>.</a:t>
            </a:r>
          </a:p>
        </p:txBody>
      </p:sp>
      <p:sp>
        <p:nvSpPr>
          <p:cNvPr id="129035" name="Text Box 11"/>
          <p:cNvSpPr txBox="1">
            <a:spLocks noChangeArrowheads="1"/>
          </p:cNvSpPr>
          <p:nvPr/>
        </p:nvSpPr>
        <p:spPr bwMode="auto">
          <a:xfrm>
            <a:off x="7938" y="242888"/>
            <a:ext cx="8907462"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3333FF"/>
                </a:solidFill>
                <a:ea typeface="楷体_GB2312"/>
              </a:rPr>
              <a:t>3</a:t>
            </a:r>
            <a:r>
              <a:rPr lang="zh-CN" altLang="en-US" sz="2800">
                <a:solidFill>
                  <a:srgbClr val="3333FF"/>
                </a:solidFill>
                <a:ea typeface="楷体_GB2312"/>
              </a:rPr>
              <a:t>、点电荷</a:t>
            </a:r>
            <a:r>
              <a:rPr lang="en-US" altLang="zh-CN" sz="2800">
                <a:solidFill>
                  <a:srgbClr val="3333FF"/>
                </a:solidFill>
                <a:ea typeface="楷体_GB2312"/>
              </a:rPr>
              <a:t>(</a:t>
            </a:r>
            <a:r>
              <a:rPr lang="en-US" altLang="zh-CN" sz="2000">
                <a:solidFill>
                  <a:srgbClr val="FF3300"/>
                </a:solidFill>
                <a:ea typeface="楷体_GB2312"/>
              </a:rPr>
              <a:t>refers to a particle of zero size that carries an electric charge)</a:t>
            </a:r>
          </a:p>
          <a:p>
            <a:pPr eaLnBrk="1" hangingPunct="1">
              <a:spcBef>
                <a:spcPct val="0"/>
              </a:spcBef>
              <a:buFontTx/>
              <a:buNone/>
            </a:pPr>
            <a:endParaRPr lang="en-US" altLang="zh-CN" sz="2800">
              <a:ea typeface="楷体_GB2312"/>
            </a:endParaRPr>
          </a:p>
        </p:txBody>
      </p:sp>
      <p:sp>
        <p:nvSpPr>
          <p:cNvPr id="129036" name="Text Box 12"/>
          <p:cNvSpPr txBox="1">
            <a:spLocks noChangeArrowheads="1"/>
          </p:cNvSpPr>
          <p:nvPr/>
        </p:nvSpPr>
        <p:spPr bwMode="auto">
          <a:xfrm>
            <a:off x="323850" y="908050"/>
            <a:ext cx="4608513"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030409"/>
                </a:solidFill>
                <a:ea typeface="楷体_GB2312"/>
              </a:rPr>
              <a:t>保持带电体电量的空间几何点</a:t>
            </a:r>
            <a:r>
              <a:rPr lang="en-US" altLang="zh-CN" sz="2400">
                <a:solidFill>
                  <a:srgbClr val="030409"/>
                </a:solidFill>
                <a:ea typeface="楷体_GB2312"/>
              </a:rPr>
              <a:t>(</a:t>
            </a:r>
            <a:r>
              <a:rPr lang="zh-CN" altLang="en-US" sz="2400">
                <a:solidFill>
                  <a:srgbClr val="030409"/>
                </a:solidFill>
                <a:ea typeface="楷体_GB2312"/>
              </a:rPr>
              <a:t>理想物理模型</a:t>
            </a:r>
            <a:r>
              <a:rPr lang="en-US" altLang="zh-CN" sz="2400">
                <a:solidFill>
                  <a:srgbClr val="030409"/>
                </a:solidFill>
                <a:ea typeface="楷体_GB2312"/>
              </a:rPr>
              <a:t>)</a:t>
            </a:r>
            <a:r>
              <a:rPr lang="zh-CN" altLang="en-US" sz="2400">
                <a:solidFill>
                  <a:srgbClr val="030409"/>
                </a:solidFill>
                <a:ea typeface="楷体_GB2312"/>
              </a:rPr>
              <a:t>。当带电体本身的线度</a:t>
            </a:r>
            <a:r>
              <a:rPr lang="en-US" altLang="zh-CN" sz="2400">
                <a:solidFill>
                  <a:srgbClr val="030409"/>
                </a:solidFill>
                <a:ea typeface="楷体_GB2312"/>
              </a:rPr>
              <a:t>d</a:t>
            </a:r>
            <a:r>
              <a:rPr lang="zh-CN" altLang="en-US" sz="2400">
                <a:solidFill>
                  <a:srgbClr val="030409"/>
                </a:solidFill>
                <a:ea typeface="楷体_GB2312"/>
              </a:rPr>
              <a:t>远小于它到研究点</a:t>
            </a:r>
            <a:r>
              <a:rPr lang="en-US" altLang="zh-CN" sz="2400">
                <a:solidFill>
                  <a:srgbClr val="030409"/>
                </a:solidFill>
                <a:ea typeface="楷体_GB2312"/>
              </a:rPr>
              <a:t>p</a:t>
            </a:r>
            <a:r>
              <a:rPr lang="zh-CN" altLang="en-US" sz="2400">
                <a:solidFill>
                  <a:srgbClr val="030409"/>
                </a:solidFill>
                <a:ea typeface="楷体_GB2312"/>
              </a:rPr>
              <a:t>的距离</a:t>
            </a:r>
            <a:r>
              <a:rPr lang="en-US" altLang="zh-CN" sz="2400">
                <a:solidFill>
                  <a:srgbClr val="030409"/>
                </a:solidFill>
                <a:ea typeface="楷体_GB2312"/>
              </a:rPr>
              <a:t>r</a:t>
            </a:r>
            <a:r>
              <a:rPr lang="zh-CN" altLang="en-US" sz="2400">
                <a:solidFill>
                  <a:srgbClr val="030409"/>
                </a:solidFill>
                <a:ea typeface="楷体_GB2312"/>
              </a:rPr>
              <a:t>时，可将其看成点电荷。</a:t>
            </a:r>
          </a:p>
        </p:txBody>
      </p:sp>
      <p:pic>
        <p:nvPicPr>
          <p:cNvPr id="11" name="Picture 9" descr="23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6688" y="771525"/>
            <a:ext cx="2182812" cy="230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8491824"/>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iterate type="lt">
                                    <p:tmPct val="100000"/>
                                  </p:iterate>
                                  <p:childTnLst>
                                    <p:set>
                                      <p:cBhvr>
                                        <p:cTn id="6" dur="1" fill="hold">
                                          <p:stCondLst>
                                            <p:cond delay="0"/>
                                          </p:stCondLst>
                                        </p:cTn>
                                        <p:tgtEl>
                                          <p:spTgt spid="129035">
                                            <p:txEl>
                                              <p:pRg st="0" end="0"/>
                                            </p:txEl>
                                          </p:spTgt>
                                        </p:tgtEl>
                                        <p:attrNameLst>
                                          <p:attrName>style.visibility</p:attrName>
                                        </p:attrNameLst>
                                      </p:cBhvr>
                                      <p:to>
                                        <p:strVal val="visible"/>
                                      </p:to>
                                    </p:set>
                                    <p:animEffect transition="in" filter="wipe(left)">
                                      <p:cBhvr>
                                        <p:cTn id="7" dur="75"/>
                                        <p:tgtEl>
                                          <p:spTgt spid="1290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iterate type="lt">
                                    <p:tmPct val="100000"/>
                                  </p:iterate>
                                  <p:childTnLst>
                                    <p:set>
                                      <p:cBhvr>
                                        <p:cTn id="11" dur="1" fill="hold">
                                          <p:stCondLst>
                                            <p:cond delay="0"/>
                                          </p:stCondLst>
                                        </p:cTn>
                                        <p:tgtEl>
                                          <p:spTgt spid="129036">
                                            <p:txEl>
                                              <p:pRg st="0" end="0"/>
                                            </p:txEl>
                                          </p:spTgt>
                                        </p:tgtEl>
                                        <p:attrNameLst>
                                          <p:attrName>style.visibility</p:attrName>
                                        </p:attrNameLst>
                                      </p:cBhvr>
                                      <p:to>
                                        <p:strVal val="visible"/>
                                      </p:to>
                                    </p:set>
                                    <p:animEffect transition="in" filter="wipe(left)">
                                      <p:cBhvr>
                                        <p:cTn id="12" dur="75"/>
                                        <p:tgtEl>
                                          <p:spTgt spid="12903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iterate type="lt">
                                    <p:tmPct val="100000"/>
                                  </p:iterate>
                                  <p:childTnLst>
                                    <p:set>
                                      <p:cBhvr>
                                        <p:cTn id="20" dur="1" fill="hold">
                                          <p:stCondLst>
                                            <p:cond delay="0"/>
                                          </p:stCondLst>
                                        </p:cTn>
                                        <p:tgtEl>
                                          <p:spTgt spid="129028">
                                            <p:txEl>
                                              <p:pRg st="0" end="0"/>
                                            </p:txEl>
                                          </p:spTgt>
                                        </p:tgtEl>
                                        <p:attrNameLst>
                                          <p:attrName>style.visibility</p:attrName>
                                        </p:attrNameLst>
                                      </p:cBhvr>
                                      <p:to>
                                        <p:strVal val="visible"/>
                                      </p:to>
                                    </p:set>
                                    <p:animEffect transition="in" filter="wipe(left)">
                                      <p:cBhvr>
                                        <p:cTn id="21" dur="75"/>
                                        <p:tgtEl>
                                          <p:spTgt spid="129028">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129032"/>
                                        </p:tgtEl>
                                        <p:attrNameLst>
                                          <p:attrName>style.visibility</p:attrName>
                                        </p:attrNameLst>
                                      </p:cBhvr>
                                      <p:to>
                                        <p:strVal val="visible"/>
                                      </p:to>
                                    </p:set>
                                    <p:animEffect transition="in" filter="box(in)">
                                      <p:cBhvr>
                                        <p:cTn id="26" dur="500"/>
                                        <p:tgtEl>
                                          <p:spTgt spid="12903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 presetClass="entr" presetSubtype="32" fill="hold" nodeType="clickEffect">
                                  <p:stCondLst>
                                    <p:cond delay="0"/>
                                  </p:stCondLst>
                                  <p:childTnLst>
                                    <p:set>
                                      <p:cBhvr>
                                        <p:cTn id="30" dur="1" fill="hold">
                                          <p:stCondLst>
                                            <p:cond delay="0"/>
                                          </p:stCondLst>
                                        </p:cTn>
                                        <p:tgtEl>
                                          <p:spTgt spid="129033"/>
                                        </p:tgtEl>
                                        <p:attrNameLst>
                                          <p:attrName>style.visibility</p:attrName>
                                        </p:attrNameLst>
                                      </p:cBhvr>
                                      <p:to>
                                        <p:strVal val="visible"/>
                                      </p:to>
                                    </p:set>
                                    <p:animEffect transition="in" filter="box(out)">
                                      <p:cBhvr>
                                        <p:cTn id="31" dur="500"/>
                                        <p:tgtEl>
                                          <p:spTgt spid="12903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129034"/>
                                        </p:tgtEl>
                                        <p:attrNameLst>
                                          <p:attrName>style.visibility</p:attrName>
                                        </p:attrNameLst>
                                      </p:cBhvr>
                                      <p:to>
                                        <p:strVal val="visible"/>
                                      </p:to>
                                    </p:set>
                                    <p:animEffect transition="in" filter="box(out)">
                                      <p:cBhvr>
                                        <p:cTn id="36" dur="500"/>
                                        <p:tgtEl>
                                          <p:spTgt spid="12903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iterate type="lt">
                                    <p:tmPct val="100000"/>
                                  </p:iterate>
                                  <p:childTnLst>
                                    <p:set>
                                      <p:cBhvr>
                                        <p:cTn id="40" dur="1" fill="hold">
                                          <p:stCondLst>
                                            <p:cond delay="0"/>
                                          </p:stCondLst>
                                        </p:cTn>
                                        <p:tgtEl>
                                          <p:spTgt spid="129029">
                                            <p:txEl>
                                              <p:pRg st="0" end="0"/>
                                            </p:txEl>
                                          </p:spTgt>
                                        </p:tgtEl>
                                        <p:attrNameLst>
                                          <p:attrName>style.visibility</p:attrName>
                                        </p:attrNameLst>
                                      </p:cBhvr>
                                      <p:to>
                                        <p:strVal val="visible"/>
                                      </p:to>
                                    </p:set>
                                    <p:animEffect transition="in" filter="wipe(left)">
                                      <p:cBhvr>
                                        <p:cTn id="41" dur="75"/>
                                        <p:tgtEl>
                                          <p:spTgt spid="129029">
                                            <p:txEl>
                                              <p:pRg st="0" end="0"/>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iterate type="lt">
                                    <p:tmPct val="100000"/>
                                  </p:iterate>
                                  <p:childTnLst>
                                    <p:set>
                                      <p:cBhvr>
                                        <p:cTn id="45" dur="1" fill="hold">
                                          <p:stCondLst>
                                            <p:cond delay="0"/>
                                          </p:stCondLst>
                                        </p:cTn>
                                        <p:tgtEl>
                                          <p:spTgt spid="129030">
                                            <p:txEl>
                                              <p:pRg st="0" end="0"/>
                                            </p:txEl>
                                          </p:spTgt>
                                        </p:tgtEl>
                                        <p:attrNameLst>
                                          <p:attrName>style.visibility</p:attrName>
                                        </p:attrNameLst>
                                      </p:cBhvr>
                                      <p:to>
                                        <p:strVal val="visible"/>
                                      </p:to>
                                    </p:set>
                                    <p:animEffect transition="in" filter="wipe(left)">
                                      <p:cBhvr>
                                        <p:cTn id="46" dur="75"/>
                                        <p:tgtEl>
                                          <p:spTgt spid="1290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8" grpId="0" build="p" autoUpdateAnimBg="0"/>
      <p:bldP spid="129029" grpId="0" build="p" autoUpdateAnimBg="0"/>
      <p:bldP spid="129030" grpId="0" build="p" autoUpdateAnimBg="0"/>
      <p:bldP spid="129032" grpId="0" autoUpdateAnimBg="0"/>
      <p:bldP spid="129034"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23850" y="333375"/>
            <a:ext cx="8569325" cy="1143000"/>
          </a:xfrm>
        </p:spPr>
        <p:txBody>
          <a:bodyPr/>
          <a:lstStyle/>
          <a:p>
            <a:r>
              <a:rPr lang="zh-CN" altLang="en-US" b="1">
                <a:solidFill>
                  <a:srgbClr val="FF0000"/>
                </a:solidFill>
              </a:rPr>
              <a:t>使物体带电的方法</a:t>
            </a:r>
            <a:br>
              <a:rPr lang="en-US" altLang="zh-CN" b="1">
                <a:solidFill>
                  <a:srgbClr val="FF0000"/>
                </a:solidFill>
              </a:rPr>
            </a:br>
            <a:r>
              <a:rPr lang="en-US" altLang="zh-CN"/>
              <a:t>Charging by Induction</a:t>
            </a:r>
            <a:endParaRPr lang="en-US" altLang="zh-CN" sz="2400" b="1">
              <a:solidFill>
                <a:srgbClr val="FF0000"/>
              </a:solidFill>
            </a:endParaRPr>
          </a:p>
        </p:txBody>
      </p:sp>
      <p:sp>
        <p:nvSpPr>
          <p:cNvPr id="22531" name="Rectangle 3"/>
          <p:cNvSpPr>
            <a:spLocks noGrp="1" noChangeArrowheads="1"/>
          </p:cNvSpPr>
          <p:nvPr>
            <p:ph type="body" sz="half" idx="1"/>
          </p:nvPr>
        </p:nvSpPr>
        <p:spPr>
          <a:xfrm>
            <a:off x="323850" y="1755775"/>
            <a:ext cx="6264275" cy="4625975"/>
          </a:xfrm>
        </p:spPr>
        <p:txBody>
          <a:bodyPr/>
          <a:lstStyle/>
          <a:p>
            <a:r>
              <a:rPr lang="en-US" altLang="zh-CN" sz="2600"/>
              <a:t>Charging by induction requires no contact with the object inducing the charge</a:t>
            </a:r>
          </a:p>
          <a:p>
            <a:r>
              <a:rPr lang="en-US" altLang="zh-CN" sz="2600"/>
              <a:t>Assume we start with a neutral metallic sphere </a:t>
            </a:r>
          </a:p>
          <a:p>
            <a:pPr lvl="1"/>
            <a:r>
              <a:rPr lang="en-US" altLang="zh-CN" sz="2200"/>
              <a:t>The sphere has the same number of positive and negative charges</a:t>
            </a:r>
          </a:p>
        </p:txBody>
      </p:sp>
      <p:pic>
        <p:nvPicPr>
          <p:cNvPr id="145410" name="Picture 2" descr="E:\Serway7ed\Vol II\Media\Image_Library\chapter23\23CO.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263" y="869950"/>
            <a:ext cx="5916612" cy="598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3" descr="E:\Serway7ed\Vol II\Media\Image_Library\chapter23\2303.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5825" y="692150"/>
            <a:ext cx="1817688" cy="576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descr="23-03"/>
          <p:cNvSpPr>
            <a:spLocks noGrp="1" noChangeAspect="1" noChangeArrowheads="1"/>
          </p:cNvSpPr>
          <p:nvPr isPhoto="1"/>
        </p:nvSpPr>
        <p:spPr bwMode="auto">
          <a:xfrm>
            <a:off x="423863" y="869950"/>
            <a:ext cx="6045200" cy="6094413"/>
          </a:xfrm>
          <a:prstGeom prst="rect">
            <a:avLst/>
          </a:prstGeom>
          <a:blipFill dpi="0" rotWithShape="1">
            <a:blip r:embed="rId5"/>
            <a:srcRect/>
            <a:stretch>
              <a:fillRect/>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Tree>
    <p:extLst>
      <p:ext uri="{BB962C8B-B14F-4D97-AF65-F5344CB8AC3E}">
        <p14:creationId xmlns:p14="http://schemas.microsoft.com/office/powerpoint/2010/main" val="1722193577"/>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54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a:t>Charge Rearrangement in  Insulators</a:t>
            </a:r>
          </a:p>
        </p:txBody>
      </p:sp>
      <p:pic>
        <p:nvPicPr>
          <p:cNvPr id="24582" name="Picture 6" descr="23-05a"/>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411413" y="2041525"/>
            <a:ext cx="3394075" cy="441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579" name="Rectangle 3"/>
          <p:cNvSpPr>
            <a:spLocks noGrp="1" noChangeArrowheads="1"/>
          </p:cNvSpPr>
          <p:nvPr>
            <p:ph type="body" sz="half" idx="1"/>
          </p:nvPr>
        </p:nvSpPr>
        <p:spPr>
          <a:xfrm>
            <a:off x="179388" y="1981200"/>
            <a:ext cx="3168650" cy="4114800"/>
          </a:xfrm>
        </p:spPr>
        <p:txBody>
          <a:bodyPr/>
          <a:lstStyle/>
          <a:p>
            <a:r>
              <a:rPr lang="en-US" altLang="zh-CN" sz="2600"/>
              <a:t>A process similar to induction can take place in insulators</a:t>
            </a:r>
          </a:p>
          <a:p>
            <a:r>
              <a:rPr lang="en-US" altLang="zh-CN" sz="2600"/>
              <a:t>The charges within the molecules of the material are rearranged</a:t>
            </a:r>
          </a:p>
        </p:txBody>
      </p:sp>
      <p:pic>
        <p:nvPicPr>
          <p:cNvPr id="146434" name="Picture 2" descr="E:\Serway7ed\Vol II\Media\Image_Library\chapter23\2304b.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10213" y="2708275"/>
            <a:ext cx="3525837" cy="307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60775496"/>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57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57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58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64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p:bldP spid="24579"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539750" y="4437063"/>
            <a:ext cx="7993063" cy="1614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3333FF"/>
                </a:solidFill>
                <a:ea typeface="楷体_GB2312"/>
              </a:rPr>
              <a:t>说明：</a:t>
            </a:r>
          </a:p>
          <a:p>
            <a:pPr eaLnBrk="1" hangingPunct="1">
              <a:spcBef>
                <a:spcPct val="0"/>
              </a:spcBef>
              <a:buFontTx/>
              <a:buNone/>
            </a:pPr>
            <a:r>
              <a:rPr lang="zh-CN" altLang="en-US" sz="2400">
                <a:ea typeface="楷体_GB2312"/>
              </a:rPr>
              <a:t>所谓孤立系统，就是指它与外界没有电荷的交换。</a:t>
            </a:r>
            <a:endParaRPr lang="zh-CN" altLang="en-US" sz="2400">
              <a:solidFill>
                <a:srgbClr val="0000FF"/>
              </a:solidFill>
              <a:ea typeface="楷体_GB2312"/>
            </a:endParaRPr>
          </a:p>
          <a:p>
            <a:pPr eaLnBrk="1" hangingPunct="1">
              <a:spcBef>
                <a:spcPct val="0"/>
              </a:spcBef>
              <a:buFontTx/>
              <a:buNone/>
            </a:pPr>
            <a:r>
              <a:rPr lang="zh-CN" altLang="en-US" sz="2400">
                <a:ea typeface="楷体_GB2312"/>
              </a:rPr>
              <a:t>电荷守恒定律适用于一切宏观和微观过程</a:t>
            </a:r>
            <a:r>
              <a:rPr lang="en-US" altLang="zh-CN" sz="2400">
                <a:ea typeface="楷体_GB2312"/>
              </a:rPr>
              <a:t>( </a:t>
            </a:r>
            <a:r>
              <a:rPr lang="zh-CN" altLang="en-US" sz="2400">
                <a:ea typeface="楷体_GB2312"/>
              </a:rPr>
              <a:t>例如核反应和基本粒子过程 </a:t>
            </a:r>
            <a:r>
              <a:rPr lang="en-US" altLang="zh-CN" sz="2400">
                <a:ea typeface="楷体_GB2312"/>
              </a:rPr>
              <a:t>)</a:t>
            </a:r>
            <a:r>
              <a:rPr lang="zh-CN" altLang="en-US" sz="2400">
                <a:ea typeface="楷体_GB2312"/>
              </a:rPr>
              <a:t>，是物理学中普遍的基本定律之一。</a:t>
            </a:r>
          </a:p>
        </p:txBody>
      </p:sp>
      <p:sp>
        <p:nvSpPr>
          <p:cNvPr id="80900" name="Text Box 4"/>
          <p:cNvSpPr txBox="1">
            <a:spLocks noChangeArrowheads="1"/>
          </p:cNvSpPr>
          <p:nvPr/>
        </p:nvSpPr>
        <p:spPr bwMode="auto">
          <a:xfrm>
            <a:off x="0" y="188913"/>
            <a:ext cx="9144000" cy="579437"/>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type="none" w="sm" len="sm"/>
                <a:tailEnd type="none" w="sm" len="sm"/>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zh-CN" sz="3000">
                <a:solidFill>
                  <a:schemeClr val="folHlink"/>
                </a:solidFill>
                <a:latin typeface="Arial" panose="020B0604020202020204" pitchFamily="34" charset="0"/>
                <a:ea typeface="楷体_GB2312"/>
              </a:rPr>
              <a:t>二、</a:t>
            </a:r>
            <a:r>
              <a:rPr lang="zh-CN" altLang="en-US" sz="3000">
                <a:solidFill>
                  <a:schemeClr val="folHlink"/>
                </a:solidFill>
                <a:latin typeface="Arial" panose="020B0604020202020204" pitchFamily="34" charset="0"/>
                <a:ea typeface="楷体_GB2312"/>
              </a:rPr>
              <a:t>电荷守恒定律</a:t>
            </a:r>
            <a:r>
              <a:rPr lang="en-US" altLang="zh-CN" sz="3000">
                <a:solidFill>
                  <a:schemeClr val="folHlink"/>
                </a:solidFill>
                <a:latin typeface="Arial" panose="020B0604020202020204" pitchFamily="34" charset="0"/>
                <a:ea typeface="楷体_GB2312"/>
              </a:rPr>
              <a:t>(Conservation law of charge)</a:t>
            </a:r>
          </a:p>
        </p:txBody>
      </p:sp>
      <p:sp>
        <p:nvSpPr>
          <p:cNvPr id="80901" name="Text Box 5"/>
          <p:cNvSpPr txBox="1">
            <a:spLocks noChangeArrowheads="1"/>
          </p:cNvSpPr>
          <p:nvPr/>
        </p:nvSpPr>
        <p:spPr bwMode="auto">
          <a:xfrm>
            <a:off x="395288" y="981075"/>
            <a:ext cx="8497887" cy="3379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3333FF"/>
                </a:solidFill>
                <a:ea typeface="楷体_GB2312"/>
              </a:rPr>
              <a:t>内容：</a:t>
            </a:r>
          </a:p>
          <a:p>
            <a:pPr eaLnBrk="1" hangingPunct="1">
              <a:spcBef>
                <a:spcPct val="0"/>
              </a:spcBef>
              <a:buFontTx/>
              <a:buNone/>
            </a:pPr>
            <a:endParaRPr lang="zh-CN" altLang="en-US" sz="2400">
              <a:ea typeface="楷体_GB2312"/>
            </a:endParaRPr>
          </a:p>
          <a:p>
            <a:pPr lvl="1" eaLnBrk="1" hangingPunct="1">
              <a:spcBef>
                <a:spcPct val="0"/>
              </a:spcBef>
              <a:buFontTx/>
              <a:buNone/>
            </a:pPr>
            <a:r>
              <a:rPr lang="zh-CN" altLang="en-US" sz="2400">
                <a:ea typeface="楷体_GB2312"/>
              </a:rPr>
              <a:t>由摩擦起电和其他起电过程的大量实验事实表明，一切起电过程其实都是使物体上正、负电荷分离或转移的过程，在这种过程中，电荷既不能消灭，也不能创生，只能使原有的电荷重新分布。由此就可以总结出</a:t>
            </a:r>
            <a:r>
              <a:rPr lang="zh-CN" altLang="en-US" sz="2400">
                <a:solidFill>
                  <a:srgbClr val="FF3300"/>
                </a:solidFill>
                <a:ea typeface="楷体_GB2312"/>
              </a:rPr>
              <a:t>电荷守恒定律：在孤立系统中，不管系统中的电荷如何迁移，系统的电荷的代数和保持不变。</a:t>
            </a:r>
          </a:p>
          <a:p>
            <a:pPr lvl="1" eaLnBrk="1" hangingPunct="1">
              <a:spcBef>
                <a:spcPct val="0"/>
              </a:spcBef>
              <a:buFontTx/>
              <a:buNone/>
            </a:pPr>
            <a:endParaRPr lang="en-US" altLang="zh-CN" sz="2000">
              <a:ea typeface="楷体_GB2312"/>
            </a:endParaRPr>
          </a:p>
        </p:txBody>
      </p:sp>
    </p:spTree>
    <p:extLst>
      <p:ext uri="{BB962C8B-B14F-4D97-AF65-F5344CB8AC3E}">
        <p14:creationId xmlns:p14="http://schemas.microsoft.com/office/powerpoint/2010/main" val="1374238445"/>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0900">
                                            <p:bg/>
                                          </p:spTgt>
                                        </p:tgtEl>
                                        <p:attrNameLst>
                                          <p:attrName>style.visibility</p:attrName>
                                        </p:attrNameLst>
                                      </p:cBhvr>
                                      <p:to>
                                        <p:strVal val="visible"/>
                                      </p:to>
                                    </p:set>
                                    <p:animEffect transition="in" filter="wipe(left)">
                                      <p:cBhvr>
                                        <p:cTn id="7" dur="75"/>
                                        <p:tgtEl>
                                          <p:spTgt spid="80900">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80900">
                                            <p:txEl>
                                              <p:pRg st="0" end="0"/>
                                            </p:txEl>
                                          </p:spTgt>
                                        </p:tgtEl>
                                        <p:attrNameLst>
                                          <p:attrName>style.visibility</p:attrName>
                                        </p:attrNameLst>
                                      </p:cBhvr>
                                      <p:to>
                                        <p:strVal val="visible"/>
                                      </p:to>
                                    </p:set>
                                    <p:animEffect transition="in" filter="wipe(left)">
                                      <p:cBhvr>
                                        <p:cTn id="12" dur="75"/>
                                        <p:tgtEl>
                                          <p:spTgt spid="8090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80901">
                                            <p:txEl>
                                              <p:pRg st="0" end="0"/>
                                            </p:txEl>
                                          </p:spTgt>
                                        </p:tgtEl>
                                        <p:attrNameLst>
                                          <p:attrName>style.visibility</p:attrName>
                                        </p:attrNameLst>
                                      </p:cBhvr>
                                      <p:to>
                                        <p:strVal val="visible"/>
                                      </p:to>
                                    </p:set>
                                    <p:animEffect transition="in" filter="wipe(left)">
                                      <p:cBhvr>
                                        <p:cTn id="17" dur="75"/>
                                        <p:tgtEl>
                                          <p:spTgt spid="80901">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80901">
                                            <p:txEl>
                                              <p:pRg st="2" end="2"/>
                                            </p:txEl>
                                          </p:spTgt>
                                        </p:tgtEl>
                                        <p:attrNameLst>
                                          <p:attrName>style.visibility</p:attrName>
                                        </p:attrNameLst>
                                      </p:cBhvr>
                                      <p:to>
                                        <p:strVal val="visible"/>
                                      </p:to>
                                    </p:set>
                                    <p:animEffect transition="in" filter="wipe(left)">
                                      <p:cBhvr>
                                        <p:cTn id="22" dur="75"/>
                                        <p:tgtEl>
                                          <p:spTgt spid="80901">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80898">
                                            <p:txEl>
                                              <p:pRg st="0" end="0"/>
                                            </p:txEl>
                                          </p:spTgt>
                                        </p:tgtEl>
                                        <p:attrNameLst>
                                          <p:attrName>style.visibility</p:attrName>
                                        </p:attrNameLst>
                                      </p:cBhvr>
                                      <p:to>
                                        <p:strVal val="visible"/>
                                      </p:to>
                                    </p:set>
                                    <p:animEffect transition="in" filter="wipe(left)">
                                      <p:cBhvr>
                                        <p:cTn id="27" dur="75"/>
                                        <p:tgtEl>
                                          <p:spTgt spid="80898">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lt">
                                    <p:tmPct val="100000"/>
                                  </p:iterate>
                                  <p:childTnLst>
                                    <p:set>
                                      <p:cBhvr>
                                        <p:cTn id="31" dur="1" fill="hold">
                                          <p:stCondLst>
                                            <p:cond delay="0"/>
                                          </p:stCondLst>
                                        </p:cTn>
                                        <p:tgtEl>
                                          <p:spTgt spid="80898">
                                            <p:txEl>
                                              <p:pRg st="1" end="1"/>
                                            </p:txEl>
                                          </p:spTgt>
                                        </p:tgtEl>
                                        <p:attrNameLst>
                                          <p:attrName>style.visibility</p:attrName>
                                        </p:attrNameLst>
                                      </p:cBhvr>
                                      <p:to>
                                        <p:strVal val="visible"/>
                                      </p:to>
                                    </p:set>
                                    <p:animEffect transition="in" filter="wipe(left)">
                                      <p:cBhvr>
                                        <p:cTn id="32" dur="75"/>
                                        <p:tgtEl>
                                          <p:spTgt spid="80898">
                                            <p:txEl>
                                              <p:pRg st="1" end="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iterate type="lt">
                                    <p:tmPct val="100000"/>
                                  </p:iterate>
                                  <p:childTnLst>
                                    <p:set>
                                      <p:cBhvr>
                                        <p:cTn id="36" dur="1" fill="hold">
                                          <p:stCondLst>
                                            <p:cond delay="0"/>
                                          </p:stCondLst>
                                        </p:cTn>
                                        <p:tgtEl>
                                          <p:spTgt spid="80898">
                                            <p:txEl>
                                              <p:pRg st="2" end="2"/>
                                            </p:txEl>
                                          </p:spTgt>
                                        </p:tgtEl>
                                        <p:attrNameLst>
                                          <p:attrName>style.visibility</p:attrName>
                                        </p:attrNameLst>
                                      </p:cBhvr>
                                      <p:to>
                                        <p:strVal val="visible"/>
                                      </p:to>
                                    </p:set>
                                    <p:animEffect transition="in" filter="wipe(left)">
                                      <p:cBhvr>
                                        <p:cTn id="37" dur="75"/>
                                        <p:tgtEl>
                                          <p:spTgt spid="8089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build="p" autoUpdateAnimBg="0"/>
      <p:bldP spid="80900" grpId="0" build="p" animBg="1" autoUpdateAnimBg="0"/>
      <p:bldP spid="80901" grpId="0" build="p" bldLvl="2"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ext Box 2"/>
          <p:cNvSpPr txBox="1">
            <a:spLocks noChangeArrowheads="1"/>
          </p:cNvSpPr>
          <p:nvPr/>
        </p:nvSpPr>
        <p:spPr bwMode="auto">
          <a:xfrm>
            <a:off x="2698750" y="152400"/>
            <a:ext cx="40830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3600">
                <a:solidFill>
                  <a:srgbClr val="FF3300"/>
                </a:solidFill>
                <a:ea typeface="楷体_GB2312"/>
              </a:rPr>
              <a:t>三、 库仑定律</a:t>
            </a:r>
            <a:endParaRPr lang="zh-CN" altLang="en-US" sz="2800">
              <a:ea typeface="楷体_GB2312"/>
            </a:endParaRPr>
          </a:p>
        </p:txBody>
      </p:sp>
      <p:sp>
        <p:nvSpPr>
          <p:cNvPr id="117764" name="Text Box 4"/>
          <p:cNvSpPr txBox="1">
            <a:spLocks noChangeArrowheads="1"/>
          </p:cNvSpPr>
          <p:nvPr/>
        </p:nvSpPr>
        <p:spPr bwMode="auto">
          <a:xfrm>
            <a:off x="76200" y="549275"/>
            <a:ext cx="8794750" cy="5794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a:solidFill>
                  <a:srgbClr val="FF3300"/>
                </a:solidFill>
                <a:ea typeface="楷体_GB2312"/>
              </a:rPr>
              <a:t>库仑  </a:t>
            </a:r>
            <a:r>
              <a:rPr lang="en-US" altLang="zh-CN">
                <a:solidFill>
                  <a:srgbClr val="FF3300"/>
                </a:solidFill>
                <a:ea typeface="楷体_GB2312"/>
              </a:rPr>
              <a:t>(Charlse-Augustin de Coulomb 1736 ~1806)</a:t>
            </a:r>
          </a:p>
        </p:txBody>
      </p:sp>
      <p:pic>
        <p:nvPicPr>
          <p:cNvPr id="10" name="Picture 6" descr="23-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2588" y="1125538"/>
            <a:ext cx="2617787" cy="4410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7765" name="Text Box 5"/>
          <p:cNvSpPr txBox="1">
            <a:spLocks noChangeArrowheads="1"/>
          </p:cNvSpPr>
          <p:nvPr/>
        </p:nvSpPr>
        <p:spPr bwMode="auto">
          <a:xfrm>
            <a:off x="2987675" y="1196975"/>
            <a:ext cx="3935413" cy="34798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200">
                <a:solidFill>
                  <a:srgbClr val="FF3300"/>
                </a:solidFill>
                <a:ea typeface="楷体_GB2312"/>
              </a:rPr>
              <a:t>法国物理学家</a:t>
            </a:r>
          </a:p>
          <a:p>
            <a:pPr eaLnBrk="1" hangingPunct="1">
              <a:spcBef>
                <a:spcPct val="0"/>
              </a:spcBef>
              <a:buFontTx/>
              <a:buNone/>
            </a:pPr>
            <a:r>
              <a:rPr lang="en-US" altLang="zh-CN" sz="2200">
                <a:ea typeface="楷体_GB2312"/>
              </a:rPr>
              <a:t>1773</a:t>
            </a:r>
            <a:r>
              <a:rPr lang="zh-CN" altLang="en-US" sz="2200">
                <a:ea typeface="楷体_GB2312"/>
              </a:rPr>
              <a:t>年提出的计算物体上应力和应变分布情况的方法，是结构工程的理论基础。</a:t>
            </a:r>
            <a:r>
              <a:rPr lang="en-US" altLang="zh-CN" sz="2200">
                <a:ea typeface="楷体_GB2312"/>
              </a:rPr>
              <a:t>1779</a:t>
            </a:r>
            <a:r>
              <a:rPr lang="zh-CN" altLang="en-US" sz="2200">
                <a:ea typeface="楷体_GB2312"/>
              </a:rPr>
              <a:t>年对摩擦力进行分析，提出有关润滑剂的科学理论。</a:t>
            </a:r>
            <a:r>
              <a:rPr lang="en-US" altLang="zh-CN" sz="2200">
                <a:ea typeface="楷体_GB2312"/>
              </a:rPr>
              <a:t>1785~1789</a:t>
            </a:r>
            <a:r>
              <a:rPr lang="zh-CN" altLang="en-US" sz="2200">
                <a:ea typeface="楷体_GB2312"/>
              </a:rPr>
              <a:t>年，用扭秤测量静电力和磁力，导出著名的库仑定律。他还通过对滚动和滑动摩擦的实验研究，得出摩擦定律。</a:t>
            </a:r>
            <a:endParaRPr lang="zh-CN" altLang="en-US" sz="2200">
              <a:solidFill>
                <a:srgbClr val="FF3300"/>
              </a:solidFill>
              <a:ea typeface="楷体_GB2312"/>
            </a:endParaRPr>
          </a:p>
        </p:txBody>
      </p:sp>
      <p:sp>
        <p:nvSpPr>
          <p:cNvPr id="117766" name="Line 6"/>
          <p:cNvSpPr>
            <a:spLocks noChangeShapeType="1"/>
          </p:cNvSpPr>
          <p:nvPr/>
        </p:nvSpPr>
        <p:spPr bwMode="auto">
          <a:xfrm>
            <a:off x="0" y="1125538"/>
            <a:ext cx="9144000" cy="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pic>
        <p:nvPicPr>
          <p:cNvPr id="8" name="Picture 7" descr="23p64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447800"/>
            <a:ext cx="197485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4"/>
          <p:cNvSpPr txBox="1">
            <a:spLocks noChangeArrowheads="1"/>
          </p:cNvSpPr>
          <p:nvPr/>
        </p:nvSpPr>
        <p:spPr bwMode="auto">
          <a:xfrm>
            <a:off x="107950" y="4573588"/>
            <a:ext cx="8763000" cy="260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pPr>
            <a:r>
              <a:rPr lang="en-US" altLang="zh-CN" sz="2000">
                <a:ea typeface="楷体_GB2312"/>
              </a:rPr>
              <a:t>French physicist</a:t>
            </a:r>
          </a:p>
          <a:p>
            <a:pPr>
              <a:lnSpc>
                <a:spcPct val="90000"/>
              </a:lnSpc>
            </a:pPr>
            <a:r>
              <a:rPr lang="en-US" altLang="zh-CN" sz="2000">
                <a:ea typeface="楷体_GB2312"/>
              </a:rPr>
              <a:t>Major contributions were in areas of electrostatics and magnetism</a:t>
            </a:r>
          </a:p>
          <a:p>
            <a:pPr>
              <a:lnSpc>
                <a:spcPct val="90000"/>
              </a:lnSpc>
            </a:pPr>
            <a:r>
              <a:rPr lang="en-US" altLang="zh-CN" sz="2000">
                <a:ea typeface="楷体_GB2312"/>
              </a:rPr>
              <a:t>Also investigated in areas of</a:t>
            </a:r>
          </a:p>
          <a:p>
            <a:pPr lvl="1">
              <a:lnSpc>
                <a:spcPct val="90000"/>
              </a:lnSpc>
            </a:pPr>
            <a:r>
              <a:rPr lang="en-US" altLang="zh-CN" sz="2000">
                <a:ea typeface="楷体_GB2312"/>
              </a:rPr>
              <a:t>Strengths of materials</a:t>
            </a:r>
          </a:p>
          <a:p>
            <a:pPr lvl="1">
              <a:lnSpc>
                <a:spcPct val="90000"/>
              </a:lnSpc>
            </a:pPr>
            <a:r>
              <a:rPr lang="en-US" altLang="zh-CN" sz="2000">
                <a:ea typeface="楷体_GB2312"/>
              </a:rPr>
              <a:t>Structural mechanics</a:t>
            </a:r>
          </a:p>
          <a:p>
            <a:pPr lvl="1">
              <a:lnSpc>
                <a:spcPct val="90000"/>
              </a:lnSpc>
            </a:pPr>
            <a:r>
              <a:rPr lang="en-US" altLang="zh-CN" sz="2000">
                <a:ea typeface="楷体_GB2312"/>
              </a:rPr>
              <a:t>Ergonomics</a:t>
            </a:r>
            <a:r>
              <a:rPr lang="zh-CN" altLang="en-US" sz="2000">
                <a:ea typeface="楷体_GB2312"/>
              </a:rPr>
              <a:t>（</a:t>
            </a:r>
            <a:r>
              <a:rPr lang="zh-CN" altLang="en-US" sz="2000">
                <a:solidFill>
                  <a:srgbClr val="FF3300"/>
                </a:solidFill>
                <a:ea typeface="楷体_GB2312"/>
              </a:rPr>
              <a:t>工效学着重研究如何使设计的机器、工具、成套设备的操作方法和作业环境更适应操作人员的要求）</a:t>
            </a:r>
            <a:endParaRPr lang="en-US" altLang="zh-CN" sz="2000">
              <a:ea typeface="楷体_GB2312"/>
            </a:endParaRPr>
          </a:p>
        </p:txBody>
      </p:sp>
    </p:spTree>
    <p:extLst>
      <p:ext uri="{BB962C8B-B14F-4D97-AF65-F5344CB8AC3E}">
        <p14:creationId xmlns:p14="http://schemas.microsoft.com/office/powerpoint/2010/main" val="1812927572"/>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7762"/>
                                        </p:tgtEl>
                                        <p:attrNameLst>
                                          <p:attrName>style.visibility</p:attrName>
                                        </p:attrNameLst>
                                      </p:cBhvr>
                                      <p:to>
                                        <p:strVal val="visible"/>
                                      </p:to>
                                    </p:set>
                                    <p:animEffect transition="in" filter="wipe(left)">
                                      <p:cBhvr>
                                        <p:cTn id="7" dur="500"/>
                                        <p:tgtEl>
                                          <p:spTgt spid="1177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7764"/>
                                        </p:tgtEl>
                                        <p:attrNameLst>
                                          <p:attrName>style.visibility</p:attrName>
                                        </p:attrNameLst>
                                      </p:cBhvr>
                                      <p:to>
                                        <p:strVal val="visible"/>
                                      </p:to>
                                    </p:set>
                                    <p:animEffect transition="in" filter="wipe(left)">
                                      <p:cBhvr>
                                        <p:cTn id="12" dur="500"/>
                                        <p:tgtEl>
                                          <p:spTgt spid="1177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17766"/>
                                        </p:tgtEl>
                                        <p:attrNameLst>
                                          <p:attrName>style.visibility</p:attrName>
                                        </p:attrNameLst>
                                      </p:cBhvr>
                                      <p:to>
                                        <p:strVal val="visible"/>
                                      </p:to>
                                    </p:set>
                                    <p:animEffect transition="in" filter="wipe(left)">
                                      <p:cBhvr>
                                        <p:cTn id="17" dur="500"/>
                                        <p:tgtEl>
                                          <p:spTgt spid="11776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iterate type="lt">
                                    <p:tmPct val="100000"/>
                                  </p:iterate>
                                  <p:childTnLst>
                                    <p:set>
                                      <p:cBhvr>
                                        <p:cTn id="25" dur="1" fill="hold">
                                          <p:stCondLst>
                                            <p:cond delay="0"/>
                                          </p:stCondLst>
                                        </p:cTn>
                                        <p:tgtEl>
                                          <p:spTgt spid="117765">
                                            <p:txEl>
                                              <p:pRg st="0" end="0"/>
                                            </p:txEl>
                                          </p:spTgt>
                                        </p:tgtEl>
                                        <p:attrNameLst>
                                          <p:attrName>style.visibility</p:attrName>
                                        </p:attrNameLst>
                                      </p:cBhvr>
                                      <p:to>
                                        <p:strVal val="visible"/>
                                      </p:to>
                                    </p:set>
                                    <p:animEffect transition="in" filter="wipe(left)">
                                      <p:cBhvr>
                                        <p:cTn id="26" dur="75"/>
                                        <p:tgtEl>
                                          <p:spTgt spid="117765">
                                            <p:txEl>
                                              <p:pRg st="0" end="0"/>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iterate type="lt">
                                    <p:tmPct val="100000"/>
                                  </p:iterate>
                                  <p:childTnLst>
                                    <p:set>
                                      <p:cBhvr>
                                        <p:cTn id="30" dur="1" fill="hold">
                                          <p:stCondLst>
                                            <p:cond delay="0"/>
                                          </p:stCondLst>
                                        </p:cTn>
                                        <p:tgtEl>
                                          <p:spTgt spid="117765">
                                            <p:txEl>
                                              <p:pRg st="1" end="1"/>
                                            </p:txEl>
                                          </p:spTgt>
                                        </p:tgtEl>
                                        <p:attrNameLst>
                                          <p:attrName>style.visibility</p:attrName>
                                        </p:attrNameLst>
                                      </p:cBhvr>
                                      <p:to>
                                        <p:strVal val="visible"/>
                                      </p:to>
                                    </p:set>
                                    <p:animEffect transition="in" filter="wipe(left)">
                                      <p:cBhvr>
                                        <p:cTn id="31" dur="75"/>
                                        <p:tgtEl>
                                          <p:spTgt spid="117765">
                                            <p:txEl>
                                              <p:pRg st="1" end="1"/>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2" grpId="0" autoUpdateAnimBg="0"/>
      <p:bldP spid="117764" grpId="0" autoUpdateAnimBg="0"/>
      <p:bldP spid="117765" grpId="0" build="p" autoUpdateAnimBg="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03" name="Object 3"/>
          <p:cNvGraphicFramePr>
            <a:graphicFrameLocks noChangeAspect="1"/>
          </p:cNvGraphicFramePr>
          <p:nvPr/>
        </p:nvGraphicFramePr>
        <p:xfrm>
          <a:off x="649288" y="2257425"/>
          <a:ext cx="2725737" cy="1320800"/>
        </p:xfrm>
        <a:graphic>
          <a:graphicData uri="http://schemas.openxmlformats.org/presentationml/2006/ole">
            <mc:AlternateContent xmlns:mc="http://schemas.openxmlformats.org/markup-compatibility/2006">
              <mc:Choice xmlns:v="urn:schemas-microsoft-com:vml" Requires="v">
                <p:oleObj spid="_x0000_s139572" name="Equation" r:id="rId4" imgW="914400" imgH="444500" progId="Equation.DSMT4">
                  <p:embed/>
                </p:oleObj>
              </mc:Choice>
              <mc:Fallback>
                <p:oleObj name="Equation" r:id="rId4" imgW="914400" imgH="444500" progId="Equation.DSMT4">
                  <p:embed/>
                  <p:pic>
                    <p:nvPicPr>
                      <p:cNvPr id="102403"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9288" y="2257425"/>
                        <a:ext cx="2725737"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05" name="Text Box 5"/>
          <p:cNvSpPr txBox="1">
            <a:spLocks noChangeArrowheads="1"/>
          </p:cNvSpPr>
          <p:nvPr/>
        </p:nvSpPr>
        <p:spPr bwMode="auto">
          <a:xfrm>
            <a:off x="304800" y="152400"/>
            <a:ext cx="27543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3333FF"/>
                </a:solidFill>
                <a:ea typeface="楷体_GB2312"/>
              </a:rPr>
              <a:t>库仑定律内容</a:t>
            </a:r>
            <a:endParaRPr lang="zh-CN" altLang="en-US" sz="2400">
              <a:ea typeface="楷体_GB2312"/>
            </a:endParaRPr>
          </a:p>
        </p:txBody>
      </p:sp>
      <p:sp>
        <p:nvSpPr>
          <p:cNvPr id="102406" name="Text Box 6"/>
          <p:cNvSpPr txBox="1">
            <a:spLocks noChangeArrowheads="1"/>
          </p:cNvSpPr>
          <p:nvPr/>
        </p:nvSpPr>
        <p:spPr bwMode="auto">
          <a:xfrm>
            <a:off x="609600" y="685800"/>
            <a:ext cx="7848600"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FF3300"/>
                </a:solidFill>
                <a:ea typeface="楷体_GB2312"/>
              </a:rPr>
              <a:t>     两个静止的点电荷之间的相互作用力，其大小与点电荷电量的乘积成正比，与两点电荷之间距离的平方成反比，作用力在两点电荷之间的连线上，同号电荷互相排斥，异号电荷互相吸引。</a:t>
            </a:r>
          </a:p>
        </p:txBody>
      </p:sp>
      <p:graphicFrame>
        <p:nvGraphicFramePr>
          <p:cNvPr id="102420" name="Object 20"/>
          <p:cNvGraphicFramePr>
            <a:graphicFrameLocks noChangeAspect="1"/>
          </p:cNvGraphicFramePr>
          <p:nvPr/>
        </p:nvGraphicFramePr>
        <p:xfrm>
          <a:off x="1217613" y="3649663"/>
          <a:ext cx="1944687" cy="692150"/>
        </p:xfrm>
        <a:graphic>
          <a:graphicData uri="http://schemas.openxmlformats.org/presentationml/2006/ole">
            <mc:AlternateContent xmlns:mc="http://schemas.openxmlformats.org/markup-compatibility/2006">
              <mc:Choice xmlns:v="urn:schemas-microsoft-com:vml" Requires="v">
                <p:oleObj spid="_x0000_s139573" name="Equation" r:id="rId6" imgW="711200" imgH="228600" progId="Equation.DSMT4">
                  <p:embed/>
                </p:oleObj>
              </mc:Choice>
              <mc:Fallback>
                <p:oleObj name="Equation" r:id="rId6" imgW="711200" imgH="228600" progId="Equation.DSMT4">
                  <p:embed/>
                  <p:pic>
                    <p:nvPicPr>
                      <p:cNvPr id="10242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17613" y="3649663"/>
                        <a:ext cx="1944687"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21" name="Text Box 21"/>
          <p:cNvSpPr txBox="1">
            <a:spLocks noChangeArrowheads="1"/>
          </p:cNvSpPr>
          <p:nvPr/>
        </p:nvSpPr>
        <p:spPr bwMode="auto">
          <a:xfrm>
            <a:off x="1025525" y="4437063"/>
            <a:ext cx="29178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ea typeface="楷体_GB2312"/>
              </a:rPr>
              <a:t>表示单位矢量</a:t>
            </a:r>
          </a:p>
        </p:txBody>
      </p:sp>
      <p:graphicFrame>
        <p:nvGraphicFramePr>
          <p:cNvPr id="102422" name="Object 22"/>
          <p:cNvGraphicFramePr>
            <a:graphicFrameLocks noChangeAspect="1"/>
          </p:cNvGraphicFramePr>
          <p:nvPr/>
        </p:nvGraphicFramePr>
        <p:xfrm>
          <a:off x="5002213" y="4508500"/>
          <a:ext cx="2489200" cy="620713"/>
        </p:xfrm>
        <a:graphic>
          <a:graphicData uri="http://schemas.openxmlformats.org/presentationml/2006/ole">
            <mc:AlternateContent xmlns:mc="http://schemas.openxmlformats.org/markup-compatibility/2006">
              <mc:Choice xmlns:v="urn:schemas-microsoft-com:vml" Requires="v">
                <p:oleObj spid="_x0000_s139574" name="Equation" r:id="rId8" imgW="1727200" imgH="431800" progId="Equation.DSMT4">
                  <p:embed/>
                </p:oleObj>
              </mc:Choice>
              <mc:Fallback>
                <p:oleObj name="Equation" r:id="rId8" imgW="1727200" imgH="431800" progId="Equation.DSMT4">
                  <p:embed/>
                  <p:pic>
                    <p:nvPicPr>
                      <p:cNvPr id="102422" name="Object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02213" y="4508500"/>
                        <a:ext cx="2489200" cy="620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23" name="Text Box 23"/>
          <p:cNvSpPr txBox="1">
            <a:spLocks noChangeArrowheads="1"/>
          </p:cNvSpPr>
          <p:nvPr/>
        </p:nvSpPr>
        <p:spPr bwMode="auto">
          <a:xfrm>
            <a:off x="7477125" y="4402138"/>
            <a:ext cx="166687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是国际单位制中的比例系数</a:t>
            </a:r>
          </a:p>
        </p:txBody>
      </p:sp>
      <p:grpSp>
        <p:nvGrpSpPr>
          <p:cNvPr id="102494" name="Group 94"/>
          <p:cNvGrpSpPr>
            <a:grpSpLocks/>
          </p:cNvGrpSpPr>
          <p:nvPr/>
        </p:nvGrpSpPr>
        <p:grpSpPr bwMode="auto">
          <a:xfrm>
            <a:off x="871538" y="5013325"/>
            <a:ext cx="4132262" cy="1408113"/>
            <a:chOff x="385" y="3249"/>
            <a:chExt cx="2885" cy="887"/>
          </a:xfrm>
        </p:grpSpPr>
        <p:grpSp>
          <p:nvGrpSpPr>
            <p:cNvPr id="28698" name="Group 74"/>
            <p:cNvGrpSpPr>
              <a:grpSpLocks/>
            </p:cNvGrpSpPr>
            <p:nvPr/>
          </p:nvGrpSpPr>
          <p:grpSpPr bwMode="auto">
            <a:xfrm>
              <a:off x="385" y="3475"/>
              <a:ext cx="1217" cy="661"/>
              <a:chOff x="385" y="3475"/>
              <a:chExt cx="1217" cy="661"/>
            </a:xfrm>
          </p:grpSpPr>
          <p:grpSp>
            <p:nvGrpSpPr>
              <p:cNvPr id="28715" name="Group 38"/>
              <p:cNvGrpSpPr>
                <a:grpSpLocks/>
              </p:cNvGrpSpPr>
              <p:nvPr/>
            </p:nvGrpSpPr>
            <p:grpSpPr bwMode="auto">
              <a:xfrm>
                <a:off x="423" y="3566"/>
                <a:ext cx="482" cy="404"/>
                <a:chOff x="619" y="3566"/>
                <a:chExt cx="482" cy="404"/>
              </a:xfrm>
            </p:grpSpPr>
            <p:sp>
              <p:nvSpPr>
                <p:cNvPr id="28725" name="Line 31"/>
                <p:cNvSpPr>
                  <a:spLocks noChangeShapeType="1"/>
                </p:cNvSpPr>
                <p:nvPr/>
              </p:nvSpPr>
              <p:spPr bwMode="auto">
                <a:xfrm flipH="1" flipV="1">
                  <a:off x="619" y="3788"/>
                  <a:ext cx="220" cy="5"/>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8726" name="Oval 37"/>
                <p:cNvSpPr>
                  <a:spLocks noChangeArrowheads="1"/>
                </p:cNvSpPr>
                <p:nvPr/>
              </p:nvSpPr>
              <p:spPr bwMode="auto">
                <a:xfrm>
                  <a:off x="839" y="3702"/>
                  <a:ext cx="181" cy="182"/>
                </a:xfrm>
                <a:prstGeom prst="ellipse">
                  <a:avLst/>
                </a:prstGeom>
                <a:solidFill>
                  <a:srgbClr val="FFFF66"/>
                </a:solidFill>
                <a:ln w="12700">
                  <a:solidFill>
                    <a:srgbClr val="FF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28727" name="Rectangle 36"/>
                <p:cNvSpPr>
                  <a:spLocks noChangeArrowheads="1"/>
                </p:cNvSpPr>
                <p:nvPr/>
              </p:nvSpPr>
              <p:spPr bwMode="auto">
                <a:xfrm>
                  <a:off x="793" y="3566"/>
                  <a:ext cx="308" cy="4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a:solidFill>
                        <a:srgbClr val="FF3300"/>
                      </a:solidFill>
                      <a:ea typeface="楷体_GB2312"/>
                    </a:rPr>
                    <a:t>+</a:t>
                  </a:r>
                </a:p>
              </p:txBody>
            </p:sp>
          </p:grpSp>
          <p:grpSp>
            <p:nvGrpSpPr>
              <p:cNvPr id="28716" name="Group 59"/>
              <p:cNvGrpSpPr>
                <a:grpSpLocks/>
              </p:cNvGrpSpPr>
              <p:nvPr/>
            </p:nvGrpSpPr>
            <p:grpSpPr bwMode="auto">
              <a:xfrm>
                <a:off x="1141" y="3566"/>
                <a:ext cx="461" cy="404"/>
                <a:chOff x="1141" y="3566"/>
                <a:chExt cx="461" cy="404"/>
              </a:xfrm>
            </p:grpSpPr>
            <p:sp>
              <p:nvSpPr>
                <p:cNvPr id="28722" name="Line 40"/>
                <p:cNvSpPr>
                  <a:spLocks noChangeShapeType="1"/>
                </p:cNvSpPr>
                <p:nvPr/>
              </p:nvSpPr>
              <p:spPr bwMode="auto">
                <a:xfrm flipH="1">
                  <a:off x="1383" y="3793"/>
                  <a:ext cx="219" cy="0"/>
                </a:xfrm>
                <a:prstGeom prst="line">
                  <a:avLst/>
                </a:prstGeom>
                <a:noFill/>
                <a:ln w="381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8723" name="Oval 41"/>
                <p:cNvSpPr>
                  <a:spLocks noChangeArrowheads="1"/>
                </p:cNvSpPr>
                <p:nvPr/>
              </p:nvSpPr>
              <p:spPr bwMode="auto">
                <a:xfrm>
                  <a:off x="1187" y="3702"/>
                  <a:ext cx="181" cy="182"/>
                </a:xfrm>
                <a:prstGeom prst="ellipse">
                  <a:avLst/>
                </a:prstGeom>
                <a:solidFill>
                  <a:srgbClr val="FFFF66"/>
                </a:solidFill>
                <a:ln w="12700">
                  <a:solidFill>
                    <a:srgbClr val="FF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28724" name="Rectangle 42"/>
                <p:cNvSpPr>
                  <a:spLocks noChangeArrowheads="1"/>
                </p:cNvSpPr>
                <p:nvPr/>
              </p:nvSpPr>
              <p:spPr bwMode="auto">
                <a:xfrm>
                  <a:off x="1141" y="3566"/>
                  <a:ext cx="308" cy="4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a:solidFill>
                        <a:srgbClr val="FF3300"/>
                      </a:solidFill>
                      <a:ea typeface="楷体_GB2312"/>
                    </a:rPr>
                    <a:t>+</a:t>
                  </a:r>
                </a:p>
              </p:txBody>
            </p:sp>
          </p:grpSp>
          <p:sp>
            <p:nvSpPr>
              <p:cNvPr id="28717" name="Text Box 68"/>
              <p:cNvSpPr txBox="1">
                <a:spLocks noChangeArrowheads="1"/>
              </p:cNvSpPr>
              <p:nvPr/>
            </p:nvSpPr>
            <p:spPr bwMode="auto">
              <a:xfrm>
                <a:off x="385" y="3834"/>
                <a:ext cx="484" cy="29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500">
                    <a:solidFill>
                      <a:srgbClr val="FF3300"/>
                    </a:solidFill>
                    <a:ea typeface="楷体_GB2312"/>
                  </a:rPr>
                  <a:t>－</a:t>
                </a:r>
                <a:r>
                  <a:rPr lang="en-US" altLang="zh-CN" sz="2500">
                    <a:solidFill>
                      <a:srgbClr val="FF3300"/>
                    </a:solidFill>
                    <a:ea typeface="楷体_GB2312"/>
                  </a:rPr>
                  <a:t>F</a:t>
                </a:r>
              </a:p>
            </p:txBody>
          </p:sp>
          <p:sp>
            <p:nvSpPr>
              <p:cNvPr id="28718" name="Text Box 69"/>
              <p:cNvSpPr txBox="1">
                <a:spLocks noChangeArrowheads="1"/>
              </p:cNvSpPr>
              <p:nvPr/>
            </p:nvSpPr>
            <p:spPr bwMode="auto">
              <a:xfrm>
                <a:off x="1263" y="3838"/>
                <a:ext cx="262" cy="29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500">
                    <a:solidFill>
                      <a:srgbClr val="FF3300"/>
                    </a:solidFill>
                    <a:ea typeface="楷体_GB2312"/>
                  </a:rPr>
                  <a:t>F</a:t>
                </a:r>
              </a:p>
            </p:txBody>
          </p:sp>
          <p:sp>
            <p:nvSpPr>
              <p:cNvPr id="28719" name="Line 70"/>
              <p:cNvSpPr>
                <a:spLocks noChangeShapeType="1"/>
              </p:cNvSpPr>
              <p:nvPr/>
            </p:nvSpPr>
            <p:spPr bwMode="auto">
              <a:xfrm>
                <a:off x="748" y="3475"/>
                <a:ext cx="0" cy="227"/>
              </a:xfrm>
              <a:prstGeom prst="line">
                <a:avLst/>
              </a:prstGeom>
              <a:noFill/>
              <a:ln w="127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8720" name="Line 71"/>
              <p:cNvSpPr>
                <a:spLocks noChangeShapeType="1"/>
              </p:cNvSpPr>
              <p:nvPr/>
            </p:nvSpPr>
            <p:spPr bwMode="auto">
              <a:xfrm>
                <a:off x="1292" y="3475"/>
                <a:ext cx="0" cy="227"/>
              </a:xfrm>
              <a:prstGeom prst="line">
                <a:avLst/>
              </a:prstGeom>
              <a:noFill/>
              <a:ln w="127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8721" name="Line 72"/>
              <p:cNvSpPr>
                <a:spLocks noChangeShapeType="1"/>
              </p:cNvSpPr>
              <p:nvPr/>
            </p:nvSpPr>
            <p:spPr bwMode="auto">
              <a:xfrm>
                <a:off x="748" y="3521"/>
                <a:ext cx="544" cy="0"/>
              </a:xfrm>
              <a:prstGeom prst="line">
                <a:avLst/>
              </a:prstGeom>
              <a:noFill/>
              <a:ln w="12700">
                <a:solidFill>
                  <a:srgbClr val="FF00FF"/>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sp>
          <p:nvSpPr>
            <p:cNvPr id="28699" name="Text Box 73"/>
            <p:cNvSpPr txBox="1">
              <a:spLocks noChangeArrowheads="1"/>
            </p:cNvSpPr>
            <p:nvPr/>
          </p:nvSpPr>
          <p:spPr bwMode="auto">
            <a:xfrm>
              <a:off x="914" y="3258"/>
              <a:ext cx="268" cy="4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a:solidFill>
                    <a:srgbClr val="FF3300"/>
                  </a:solidFill>
                  <a:ea typeface="楷体_GB2312"/>
                </a:rPr>
                <a:t>r</a:t>
              </a:r>
            </a:p>
          </p:txBody>
        </p:sp>
        <p:grpSp>
          <p:nvGrpSpPr>
            <p:cNvPr id="28700" name="Group 75"/>
            <p:cNvGrpSpPr>
              <a:grpSpLocks/>
            </p:cNvGrpSpPr>
            <p:nvPr/>
          </p:nvGrpSpPr>
          <p:grpSpPr bwMode="auto">
            <a:xfrm>
              <a:off x="2018" y="3475"/>
              <a:ext cx="1252" cy="661"/>
              <a:chOff x="385" y="3475"/>
              <a:chExt cx="1252" cy="661"/>
            </a:xfrm>
          </p:grpSpPr>
          <p:grpSp>
            <p:nvGrpSpPr>
              <p:cNvPr id="28702" name="Group 76"/>
              <p:cNvGrpSpPr>
                <a:grpSpLocks/>
              </p:cNvGrpSpPr>
              <p:nvPr/>
            </p:nvGrpSpPr>
            <p:grpSpPr bwMode="auto">
              <a:xfrm>
                <a:off x="423" y="3639"/>
                <a:ext cx="522" cy="298"/>
                <a:chOff x="619" y="3639"/>
                <a:chExt cx="522" cy="298"/>
              </a:xfrm>
            </p:grpSpPr>
            <p:sp>
              <p:nvSpPr>
                <p:cNvPr id="28712" name="Line 77"/>
                <p:cNvSpPr>
                  <a:spLocks noChangeShapeType="1"/>
                </p:cNvSpPr>
                <p:nvPr/>
              </p:nvSpPr>
              <p:spPr bwMode="auto">
                <a:xfrm flipH="1">
                  <a:off x="619" y="3793"/>
                  <a:ext cx="22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8713" name="Oval 78"/>
                <p:cNvSpPr>
                  <a:spLocks noChangeArrowheads="1"/>
                </p:cNvSpPr>
                <p:nvPr/>
              </p:nvSpPr>
              <p:spPr bwMode="auto">
                <a:xfrm>
                  <a:off x="839" y="3702"/>
                  <a:ext cx="181" cy="182"/>
                </a:xfrm>
                <a:prstGeom prst="ellipse">
                  <a:avLst/>
                </a:prstGeom>
                <a:solidFill>
                  <a:srgbClr val="FFFF66"/>
                </a:solidFill>
                <a:ln w="12700">
                  <a:solidFill>
                    <a:srgbClr val="FF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28714" name="Rectangle 79"/>
                <p:cNvSpPr>
                  <a:spLocks noChangeArrowheads="1"/>
                </p:cNvSpPr>
                <p:nvPr/>
              </p:nvSpPr>
              <p:spPr bwMode="auto">
                <a:xfrm>
                  <a:off x="793" y="3639"/>
                  <a:ext cx="348" cy="29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500" b="0">
                      <a:solidFill>
                        <a:srgbClr val="FF3300"/>
                      </a:solidFill>
                      <a:ea typeface="楷体_GB2312"/>
                    </a:rPr>
                    <a:t>－</a:t>
                  </a:r>
                </a:p>
              </p:txBody>
            </p:sp>
          </p:grpSp>
          <p:grpSp>
            <p:nvGrpSpPr>
              <p:cNvPr id="28703" name="Group 80"/>
              <p:cNvGrpSpPr>
                <a:grpSpLocks/>
              </p:cNvGrpSpPr>
              <p:nvPr/>
            </p:nvGrpSpPr>
            <p:grpSpPr bwMode="auto">
              <a:xfrm>
                <a:off x="1141" y="3639"/>
                <a:ext cx="496" cy="298"/>
                <a:chOff x="1141" y="3639"/>
                <a:chExt cx="496" cy="298"/>
              </a:xfrm>
            </p:grpSpPr>
            <p:sp>
              <p:nvSpPr>
                <p:cNvPr id="28709" name="Line 81"/>
                <p:cNvSpPr>
                  <a:spLocks noChangeShapeType="1"/>
                </p:cNvSpPr>
                <p:nvPr/>
              </p:nvSpPr>
              <p:spPr bwMode="auto">
                <a:xfrm flipH="1" flipV="1">
                  <a:off x="1418" y="3793"/>
                  <a:ext cx="219" cy="0"/>
                </a:xfrm>
                <a:prstGeom prst="line">
                  <a:avLst/>
                </a:prstGeom>
                <a:noFill/>
                <a:ln w="381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8710" name="Oval 82"/>
                <p:cNvSpPr>
                  <a:spLocks noChangeArrowheads="1"/>
                </p:cNvSpPr>
                <p:nvPr/>
              </p:nvSpPr>
              <p:spPr bwMode="auto">
                <a:xfrm>
                  <a:off x="1187" y="3702"/>
                  <a:ext cx="181" cy="182"/>
                </a:xfrm>
                <a:prstGeom prst="ellipse">
                  <a:avLst/>
                </a:prstGeom>
                <a:solidFill>
                  <a:srgbClr val="FFFF66"/>
                </a:solidFill>
                <a:ln w="12700">
                  <a:solidFill>
                    <a:srgbClr val="FF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28711" name="Rectangle 83"/>
                <p:cNvSpPr>
                  <a:spLocks noChangeArrowheads="1"/>
                </p:cNvSpPr>
                <p:nvPr/>
              </p:nvSpPr>
              <p:spPr bwMode="auto">
                <a:xfrm>
                  <a:off x="1141" y="3639"/>
                  <a:ext cx="349" cy="29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500">
                      <a:solidFill>
                        <a:srgbClr val="FF3300"/>
                      </a:solidFill>
                      <a:ea typeface="楷体_GB2312"/>
                    </a:rPr>
                    <a:t>－</a:t>
                  </a:r>
                </a:p>
              </p:txBody>
            </p:sp>
          </p:grpSp>
          <p:sp>
            <p:nvSpPr>
              <p:cNvPr id="28704" name="Text Box 84"/>
              <p:cNvSpPr txBox="1">
                <a:spLocks noChangeArrowheads="1"/>
              </p:cNvSpPr>
              <p:nvPr/>
            </p:nvSpPr>
            <p:spPr bwMode="auto">
              <a:xfrm>
                <a:off x="385" y="3834"/>
                <a:ext cx="484" cy="29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500">
                    <a:solidFill>
                      <a:srgbClr val="FF3300"/>
                    </a:solidFill>
                    <a:ea typeface="楷体_GB2312"/>
                  </a:rPr>
                  <a:t>－</a:t>
                </a:r>
                <a:r>
                  <a:rPr lang="en-US" altLang="zh-CN" sz="2500">
                    <a:solidFill>
                      <a:srgbClr val="FF3300"/>
                    </a:solidFill>
                    <a:ea typeface="楷体_GB2312"/>
                  </a:rPr>
                  <a:t>F</a:t>
                </a:r>
              </a:p>
            </p:txBody>
          </p:sp>
          <p:sp>
            <p:nvSpPr>
              <p:cNvPr id="28705" name="Text Box 85"/>
              <p:cNvSpPr txBox="1">
                <a:spLocks noChangeArrowheads="1"/>
              </p:cNvSpPr>
              <p:nvPr/>
            </p:nvSpPr>
            <p:spPr bwMode="auto">
              <a:xfrm>
                <a:off x="1263" y="3838"/>
                <a:ext cx="262" cy="29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500">
                    <a:solidFill>
                      <a:srgbClr val="FF3300"/>
                    </a:solidFill>
                    <a:ea typeface="楷体_GB2312"/>
                  </a:rPr>
                  <a:t>F</a:t>
                </a:r>
              </a:p>
            </p:txBody>
          </p:sp>
          <p:sp>
            <p:nvSpPr>
              <p:cNvPr id="28706" name="Line 86"/>
              <p:cNvSpPr>
                <a:spLocks noChangeShapeType="1"/>
              </p:cNvSpPr>
              <p:nvPr/>
            </p:nvSpPr>
            <p:spPr bwMode="auto">
              <a:xfrm>
                <a:off x="748" y="3475"/>
                <a:ext cx="0" cy="227"/>
              </a:xfrm>
              <a:prstGeom prst="line">
                <a:avLst/>
              </a:prstGeom>
              <a:noFill/>
              <a:ln w="127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8707" name="Line 87"/>
              <p:cNvSpPr>
                <a:spLocks noChangeShapeType="1"/>
              </p:cNvSpPr>
              <p:nvPr/>
            </p:nvSpPr>
            <p:spPr bwMode="auto">
              <a:xfrm>
                <a:off x="1292" y="3475"/>
                <a:ext cx="0" cy="227"/>
              </a:xfrm>
              <a:prstGeom prst="line">
                <a:avLst/>
              </a:prstGeom>
              <a:noFill/>
              <a:ln w="127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8708" name="Line 88"/>
              <p:cNvSpPr>
                <a:spLocks noChangeShapeType="1"/>
              </p:cNvSpPr>
              <p:nvPr/>
            </p:nvSpPr>
            <p:spPr bwMode="auto">
              <a:xfrm>
                <a:off x="748" y="3521"/>
                <a:ext cx="544" cy="0"/>
              </a:xfrm>
              <a:prstGeom prst="line">
                <a:avLst/>
              </a:prstGeom>
              <a:noFill/>
              <a:ln w="12700">
                <a:solidFill>
                  <a:srgbClr val="FF00FF"/>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sp>
          <p:nvSpPr>
            <p:cNvPr id="28701" name="Text Box 89"/>
            <p:cNvSpPr txBox="1">
              <a:spLocks noChangeArrowheads="1"/>
            </p:cNvSpPr>
            <p:nvPr/>
          </p:nvSpPr>
          <p:spPr bwMode="auto">
            <a:xfrm>
              <a:off x="2548" y="3249"/>
              <a:ext cx="268" cy="4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a:solidFill>
                    <a:srgbClr val="FF3300"/>
                  </a:solidFill>
                  <a:ea typeface="楷体_GB2312"/>
                </a:rPr>
                <a:t>r</a:t>
              </a:r>
            </a:p>
          </p:txBody>
        </p:sp>
      </p:grpSp>
      <p:grpSp>
        <p:nvGrpSpPr>
          <p:cNvPr id="102493" name="Group 93"/>
          <p:cNvGrpSpPr>
            <a:grpSpLocks/>
          </p:cNvGrpSpPr>
          <p:nvPr/>
        </p:nvGrpSpPr>
        <p:grpSpPr bwMode="auto">
          <a:xfrm>
            <a:off x="5867400" y="5229225"/>
            <a:ext cx="2203450" cy="1257300"/>
            <a:chOff x="3696" y="3480"/>
            <a:chExt cx="1388" cy="792"/>
          </a:xfrm>
        </p:grpSpPr>
        <p:grpSp>
          <p:nvGrpSpPr>
            <p:cNvPr id="28687" name="Group 51"/>
            <p:cNvGrpSpPr>
              <a:grpSpLocks/>
            </p:cNvGrpSpPr>
            <p:nvPr/>
          </p:nvGrpSpPr>
          <p:grpSpPr bwMode="auto">
            <a:xfrm>
              <a:off x="4377" y="3775"/>
              <a:ext cx="707" cy="298"/>
              <a:chOff x="400" y="3639"/>
              <a:chExt cx="707" cy="298"/>
            </a:xfrm>
          </p:grpSpPr>
          <p:sp>
            <p:nvSpPr>
              <p:cNvPr id="28695" name="Line 52"/>
              <p:cNvSpPr>
                <a:spLocks noChangeShapeType="1"/>
              </p:cNvSpPr>
              <p:nvPr/>
            </p:nvSpPr>
            <p:spPr bwMode="auto">
              <a:xfrm flipH="1">
                <a:off x="400" y="3793"/>
                <a:ext cx="439"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8696" name="Oval 53"/>
              <p:cNvSpPr>
                <a:spLocks noChangeArrowheads="1"/>
              </p:cNvSpPr>
              <p:nvPr/>
            </p:nvSpPr>
            <p:spPr bwMode="auto">
              <a:xfrm>
                <a:off x="839" y="3702"/>
                <a:ext cx="181" cy="182"/>
              </a:xfrm>
              <a:prstGeom prst="ellipse">
                <a:avLst/>
              </a:prstGeom>
              <a:solidFill>
                <a:srgbClr val="FFFF66"/>
              </a:solidFill>
              <a:ln w="12700">
                <a:solidFill>
                  <a:srgbClr val="FF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28697" name="Rectangle 54"/>
              <p:cNvSpPr>
                <a:spLocks noChangeArrowheads="1"/>
              </p:cNvSpPr>
              <p:nvPr/>
            </p:nvSpPr>
            <p:spPr bwMode="auto">
              <a:xfrm>
                <a:off x="793" y="3639"/>
                <a:ext cx="314" cy="29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500">
                    <a:solidFill>
                      <a:srgbClr val="FF3300"/>
                    </a:solidFill>
                    <a:ea typeface="楷体_GB2312"/>
                  </a:rPr>
                  <a:t>－</a:t>
                </a:r>
              </a:p>
            </p:txBody>
          </p:sp>
        </p:grpSp>
        <p:grpSp>
          <p:nvGrpSpPr>
            <p:cNvPr id="28688" name="Group 64"/>
            <p:cNvGrpSpPr>
              <a:grpSpLocks/>
            </p:cNvGrpSpPr>
            <p:nvPr/>
          </p:nvGrpSpPr>
          <p:grpSpPr bwMode="auto">
            <a:xfrm>
              <a:off x="3696" y="3702"/>
              <a:ext cx="681" cy="404"/>
              <a:chOff x="1141" y="3566"/>
              <a:chExt cx="681" cy="404"/>
            </a:xfrm>
          </p:grpSpPr>
          <p:sp>
            <p:nvSpPr>
              <p:cNvPr id="28692" name="Line 65"/>
              <p:cNvSpPr>
                <a:spLocks noChangeShapeType="1"/>
              </p:cNvSpPr>
              <p:nvPr/>
            </p:nvSpPr>
            <p:spPr bwMode="auto">
              <a:xfrm flipH="1">
                <a:off x="1383" y="3793"/>
                <a:ext cx="439" cy="0"/>
              </a:xfrm>
              <a:prstGeom prst="line">
                <a:avLst/>
              </a:prstGeom>
              <a:noFill/>
              <a:ln w="381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8693" name="Oval 66"/>
              <p:cNvSpPr>
                <a:spLocks noChangeArrowheads="1"/>
              </p:cNvSpPr>
              <p:nvPr/>
            </p:nvSpPr>
            <p:spPr bwMode="auto">
              <a:xfrm>
                <a:off x="1187" y="3702"/>
                <a:ext cx="181" cy="182"/>
              </a:xfrm>
              <a:prstGeom prst="ellipse">
                <a:avLst/>
              </a:prstGeom>
              <a:solidFill>
                <a:srgbClr val="FFFF66"/>
              </a:solidFill>
              <a:ln w="12700">
                <a:solidFill>
                  <a:srgbClr val="FF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28694" name="Rectangle 67"/>
              <p:cNvSpPr>
                <a:spLocks noChangeArrowheads="1"/>
              </p:cNvSpPr>
              <p:nvPr/>
            </p:nvSpPr>
            <p:spPr bwMode="auto">
              <a:xfrm>
                <a:off x="1141" y="3566"/>
                <a:ext cx="278" cy="4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a:solidFill>
                      <a:srgbClr val="FF3300"/>
                    </a:solidFill>
                    <a:ea typeface="楷体_GB2312"/>
                  </a:rPr>
                  <a:t>+</a:t>
                </a:r>
              </a:p>
            </p:txBody>
          </p:sp>
        </p:grpSp>
        <p:sp>
          <p:nvSpPr>
            <p:cNvPr id="28689" name="Text Box 90"/>
            <p:cNvSpPr txBox="1">
              <a:spLocks noChangeArrowheads="1"/>
            </p:cNvSpPr>
            <p:nvPr/>
          </p:nvSpPr>
          <p:spPr bwMode="auto">
            <a:xfrm>
              <a:off x="4271" y="3480"/>
              <a:ext cx="242" cy="4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a:solidFill>
                    <a:srgbClr val="FF3300"/>
                  </a:solidFill>
                  <a:ea typeface="楷体_GB2312"/>
                </a:rPr>
                <a:t>r</a:t>
              </a:r>
            </a:p>
          </p:txBody>
        </p:sp>
        <p:sp>
          <p:nvSpPr>
            <p:cNvPr id="28690" name="Rectangle 91"/>
            <p:cNvSpPr>
              <a:spLocks noChangeArrowheads="1"/>
            </p:cNvSpPr>
            <p:nvPr/>
          </p:nvSpPr>
          <p:spPr bwMode="auto">
            <a:xfrm>
              <a:off x="4005" y="3974"/>
              <a:ext cx="236" cy="29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500">
                  <a:solidFill>
                    <a:srgbClr val="FF3300"/>
                  </a:solidFill>
                  <a:ea typeface="楷体_GB2312"/>
                </a:rPr>
                <a:t>F</a:t>
              </a:r>
            </a:p>
          </p:txBody>
        </p:sp>
        <p:sp>
          <p:nvSpPr>
            <p:cNvPr id="28691" name="Rectangle 92"/>
            <p:cNvSpPr>
              <a:spLocks noChangeArrowheads="1"/>
            </p:cNvSpPr>
            <p:nvPr/>
          </p:nvSpPr>
          <p:spPr bwMode="auto">
            <a:xfrm>
              <a:off x="4468" y="3974"/>
              <a:ext cx="436" cy="29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500">
                  <a:solidFill>
                    <a:srgbClr val="FF3300"/>
                  </a:solidFill>
                  <a:ea typeface="楷体_GB2312"/>
                </a:rPr>
                <a:t>－</a:t>
              </a:r>
              <a:r>
                <a:rPr lang="en-US" altLang="zh-CN" sz="2500">
                  <a:solidFill>
                    <a:srgbClr val="FF3300"/>
                  </a:solidFill>
                  <a:ea typeface="楷体_GB2312"/>
                </a:rPr>
                <a:t>F</a:t>
              </a:r>
            </a:p>
          </p:txBody>
        </p:sp>
      </p:grpSp>
      <p:sp>
        <p:nvSpPr>
          <p:cNvPr id="102495" name="Text Box 95"/>
          <p:cNvSpPr txBox="1">
            <a:spLocks noChangeArrowheads="1"/>
          </p:cNvSpPr>
          <p:nvPr/>
        </p:nvSpPr>
        <p:spPr bwMode="auto">
          <a:xfrm>
            <a:off x="1692275" y="6400800"/>
            <a:ext cx="71278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200">
                <a:solidFill>
                  <a:srgbClr val="FF3300"/>
                </a:solidFill>
                <a:ea typeface="楷体_GB2312"/>
              </a:rPr>
              <a:t>同号电荷互相排斥，                     异号电荷互相吸引。</a:t>
            </a:r>
          </a:p>
          <a:p>
            <a:pPr eaLnBrk="1" hangingPunct="1">
              <a:spcBef>
                <a:spcPct val="0"/>
              </a:spcBef>
              <a:buFontTx/>
              <a:buNone/>
            </a:pPr>
            <a:endParaRPr lang="en-US" altLang="zh-CN" sz="2200">
              <a:ea typeface="楷体_GB2312"/>
            </a:endParaRPr>
          </a:p>
        </p:txBody>
      </p:sp>
      <p:sp>
        <p:nvSpPr>
          <p:cNvPr id="28684" name="Line 100"/>
          <p:cNvSpPr>
            <a:spLocks noChangeShapeType="1"/>
          </p:cNvSpPr>
          <p:nvPr/>
        </p:nvSpPr>
        <p:spPr bwMode="auto">
          <a:xfrm>
            <a:off x="2916238" y="4941888"/>
            <a:ext cx="0" cy="143986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8685" name="Line 101"/>
          <p:cNvSpPr>
            <a:spLocks noChangeShapeType="1"/>
          </p:cNvSpPr>
          <p:nvPr/>
        </p:nvSpPr>
        <p:spPr bwMode="auto">
          <a:xfrm>
            <a:off x="5580063" y="5084763"/>
            <a:ext cx="0" cy="143986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pic>
        <p:nvPicPr>
          <p:cNvPr id="2" name="图片 1">
            <a:extLst>
              <a:ext uri="{FF2B5EF4-FFF2-40B4-BE49-F238E27FC236}">
                <a16:creationId xmlns:a16="http://schemas.microsoft.com/office/drawing/2014/main" id="{5F85417F-B627-4E2B-8188-73F6B58EC53D}"/>
              </a:ext>
            </a:extLst>
          </p:cNvPr>
          <p:cNvPicPr>
            <a:picLocks noChangeAspect="1"/>
          </p:cNvPicPr>
          <p:nvPr/>
        </p:nvPicPr>
        <p:blipFill>
          <a:blip r:embed="rId10"/>
          <a:stretch>
            <a:fillRect/>
          </a:stretch>
        </p:blipFill>
        <p:spPr>
          <a:xfrm>
            <a:off x="5635564" y="2122488"/>
            <a:ext cx="2486025" cy="2085975"/>
          </a:xfrm>
          <a:prstGeom prst="rect">
            <a:avLst/>
          </a:prstGeom>
        </p:spPr>
      </p:pic>
    </p:spTree>
    <p:extLst>
      <p:ext uri="{BB962C8B-B14F-4D97-AF65-F5344CB8AC3E}">
        <p14:creationId xmlns:p14="http://schemas.microsoft.com/office/powerpoint/2010/main" val="2406037051"/>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05"/>
                                        </p:tgtEl>
                                        <p:attrNameLst>
                                          <p:attrName>style.visibility</p:attrName>
                                        </p:attrNameLst>
                                      </p:cBhvr>
                                      <p:to>
                                        <p:strVal val="visible"/>
                                      </p:to>
                                    </p:set>
                                    <p:animEffect transition="in" filter="wipe(left)">
                                      <p:cBhvr>
                                        <p:cTn id="7" dur="500"/>
                                        <p:tgtEl>
                                          <p:spTgt spid="1024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102406">
                                            <p:txEl>
                                              <p:pRg st="0" end="0"/>
                                            </p:txEl>
                                          </p:spTgt>
                                        </p:tgtEl>
                                        <p:attrNameLst>
                                          <p:attrName>style.visibility</p:attrName>
                                        </p:attrNameLst>
                                      </p:cBhvr>
                                      <p:to>
                                        <p:strVal val="visible"/>
                                      </p:to>
                                    </p:set>
                                    <p:animEffect transition="in" filter="wipe(left)">
                                      <p:cBhvr>
                                        <p:cTn id="12" dur="75"/>
                                        <p:tgtEl>
                                          <p:spTgt spid="10240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403"/>
                                        </p:tgtEl>
                                        <p:attrNameLst>
                                          <p:attrName>style.visibility</p:attrName>
                                        </p:attrNameLst>
                                      </p:cBhvr>
                                      <p:to>
                                        <p:strVal val="visible"/>
                                      </p:to>
                                    </p:set>
                                    <p:animEffect transition="in" filter="wipe(left)">
                                      <p:cBhvr>
                                        <p:cTn id="17" dur="500"/>
                                        <p:tgtEl>
                                          <p:spTgt spid="10240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420"/>
                                        </p:tgtEl>
                                        <p:attrNameLst>
                                          <p:attrName>style.visibility</p:attrName>
                                        </p:attrNameLst>
                                      </p:cBhvr>
                                      <p:to>
                                        <p:strVal val="visible"/>
                                      </p:to>
                                    </p:set>
                                    <p:animEffect transition="in" filter="wipe(left)">
                                      <p:cBhvr>
                                        <p:cTn id="22" dur="500"/>
                                        <p:tgtEl>
                                          <p:spTgt spid="1024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2421"/>
                                        </p:tgtEl>
                                        <p:attrNameLst>
                                          <p:attrName>style.visibility</p:attrName>
                                        </p:attrNameLst>
                                      </p:cBhvr>
                                      <p:to>
                                        <p:strVal val="visible"/>
                                      </p:to>
                                    </p:set>
                                    <p:animEffect transition="in" filter="wipe(left)">
                                      <p:cBhvr>
                                        <p:cTn id="27" dur="500"/>
                                        <p:tgtEl>
                                          <p:spTgt spid="10242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02422"/>
                                        </p:tgtEl>
                                        <p:attrNameLst>
                                          <p:attrName>style.visibility</p:attrName>
                                        </p:attrNameLst>
                                      </p:cBhvr>
                                      <p:to>
                                        <p:strVal val="visible"/>
                                      </p:to>
                                    </p:set>
                                    <p:animEffect transition="in" filter="wipe(left)">
                                      <p:cBhvr>
                                        <p:cTn id="32" dur="500"/>
                                        <p:tgtEl>
                                          <p:spTgt spid="102422"/>
                                        </p:tgtEl>
                                      </p:cBhvr>
                                    </p:animEffect>
                                  </p:childTnLst>
                                </p:cTn>
                              </p:par>
                            </p:childTnLst>
                          </p:cTn>
                        </p:par>
                        <p:par>
                          <p:cTn id="33" fill="hold" nodeType="afterGroup">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102423"/>
                                        </p:tgtEl>
                                        <p:attrNameLst>
                                          <p:attrName>style.visibility</p:attrName>
                                        </p:attrNameLst>
                                      </p:cBhvr>
                                      <p:to>
                                        <p:strVal val="visible"/>
                                      </p:to>
                                    </p:set>
                                    <p:animEffect transition="in" filter="wipe(left)">
                                      <p:cBhvr>
                                        <p:cTn id="36" dur="500"/>
                                        <p:tgtEl>
                                          <p:spTgt spid="102423"/>
                                        </p:tgtEl>
                                      </p:cBhvr>
                                    </p:animEffect>
                                  </p:childTnLst>
                                </p:cTn>
                              </p:par>
                            </p:childTnLst>
                          </p:cTn>
                        </p:par>
                        <p:par>
                          <p:cTn id="37" fill="hold" nodeType="afterGroup">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102495"/>
                                        </p:tgtEl>
                                        <p:attrNameLst>
                                          <p:attrName>style.visibility</p:attrName>
                                        </p:attrNameLst>
                                      </p:cBhvr>
                                      <p:to>
                                        <p:strVal val="visible"/>
                                      </p:to>
                                    </p:set>
                                    <p:animEffect transition="in" filter="wipe(left)">
                                      <p:cBhvr>
                                        <p:cTn id="40" dur="500"/>
                                        <p:tgtEl>
                                          <p:spTgt spid="10249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10249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2493"/>
                                        </p:tgtEl>
                                        <p:attrNameLst>
                                          <p:attrName>style.visibility</p:attrName>
                                        </p:attrNameLst>
                                      </p:cBhvr>
                                      <p:to>
                                        <p:strVal val="visible"/>
                                      </p:to>
                                    </p:set>
                                  </p:childTnLst>
                                </p:cTn>
                              </p:par>
                              <p:par>
                                <p:cTn id="47" presetID="1" presetClass="entr" presetSubtype="0" fill="hold" grpId="1" nodeType="withEffect">
                                  <p:stCondLst>
                                    <p:cond delay="0"/>
                                  </p:stCondLst>
                                  <p:childTnLst>
                                    <p:set>
                                      <p:cBhvr>
                                        <p:cTn id="48" dur="1" fill="hold">
                                          <p:stCondLst>
                                            <p:cond delay="0"/>
                                          </p:stCondLst>
                                        </p:cTn>
                                        <p:tgtEl>
                                          <p:spTgt spid="1024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5" grpId="0" autoUpdateAnimBg="0"/>
      <p:bldP spid="102406" grpId="0" build="p" autoUpdateAnimBg="0"/>
      <p:bldP spid="102421" grpId="0" autoUpdateAnimBg="0"/>
      <p:bldP spid="102423" grpId="0" autoUpdateAnimBg="0"/>
      <p:bldP spid="102495" grpId="0" autoUpdateAnimBg="0"/>
      <p:bldP spid="102495"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973" name="Object 5"/>
          <p:cNvGraphicFramePr>
            <a:graphicFrameLocks noChangeAspect="1"/>
          </p:cNvGraphicFramePr>
          <p:nvPr/>
        </p:nvGraphicFramePr>
        <p:xfrm>
          <a:off x="838200" y="381000"/>
          <a:ext cx="4724400" cy="654050"/>
        </p:xfrm>
        <a:graphic>
          <a:graphicData uri="http://schemas.openxmlformats.org/presentationml/2006/ole">
            <mc:AlternateContent xmlns:mc="http://schemas.openxmlformats.org/markup-compatibility/2006">
              <mc:Choice xmlns:v="urn:schemas-microsoft-com:vml" Requires="v">
                <p:oleObj spid="_x0000_s210734" name="公式" r:id="rId3" imgW="1739900" imgH="241300" progId="Equation.3">
                  <p:embed/>
                </p:oleObj>
              </mc:Choice>
              <mc:Fallback>
                <p:oleObj name="公式" r:id="rId3" imgW="1739900" imgH="241300" progId="Equation.3">
                  <p:embed/>
                  <p:pic>
                    <p:nvPicPr>
                      <p:cNvPr id="83973"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381000"/>
                        <a:ext cx="4724400"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3976" name="Object 8"/>
          <p:cNvGraphicFramePr>
            <a:graphicFrameLocks noChangeAspect="1"/>
          </p:cNvGraphicFramePr>
          <p:nvPr/>
        </p:nvGraphicFramePr>
        <p:xfrm>
          <a:off x="1800225" y="1063625"/>
          <a:ext cx="3128963" cy="1204913"/>
        </p:xfrm>
        <a:graphic>
          <a:graphicData uri="http://schemas.openxmlformats.org/presentationml/2006/ole">
            <mc:AlternateContent xmlns:mc="http://schemas.openxmlformats.org/markup-compatibility/2006">
              <mc:Choice xmlns:v="urn:schemas-microsoft-com:vml" Requires="v">
                <p:oleObj spid="_x0000_s210735" name="公式" r:id="rId5" imgW="1117600" imgH="431800" progId="Equation.3">
                  <p:embed/>
                </p:oleObj>
              </mc:Choice>
              <mc:Fallback>
                <p:oleObj name="公式" r:id="rId5" imgW="1117600" imgH="431800" progId="Equation.3">
                  <p:embed/>
                  <p:pic>
                    <p:nvPicPr>
                      <p:cNvPr id="83976"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00225" y="1063625"/>
                        <a:ext cx="3128963" cy="1204913"/>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3977" name="Text Box 9"/>
          <p:cNvSpPr txBox="1">
            <a:spLocks noChangeArrowheads="1"/>
          </p:cNvSpPr>
          <p:nvPr/>
        </p:nvSpPr>
        <p:spPr bwMode="auto">
          <a:xfrm>
            <a:off x="107950" y="3213100"/>
            <a:ext cx="61214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r>
              <a:rPr lang="zh-CN" altLang="en-US" sz="2400">
                <a:ea typeface="楷体_GB2312"/>
              </a:rPr>
              <a:t>实验表明，库仑力满足线性叠加原理，</a:t>
            </a:r>
          </a:p>
          <a:p>
            <a:pPr eaLnBrk="1" hangingPunct="1">
              <a:spcBef>
                <a:spcPct val="0"/>
              </a:spcBef>
              <a:buFontTx/>
              <a:buNone/>
            </a:pPr>
            <a:r>
              <a:rPr lang="zh-CN" altLang="en-US" sz="2400">
                <a:ea typeface="楷体_GB2312"/>
              </a:rPr>
              <a:t>即不因第三者的存在而改变两者之间</a:t>
            </a:r>
          </a:p>
          <a:p>
            <a:pPr eaLnBrk="1" hangingPunct="1">
              <a:spcBef>
                <a:spcPct val="0"/>
              </a:spcBef>
              <a:buFontTx/>
              <a:buNone/>
            </a:pPr>
            <a:r>
              <a:rPr lang="zh-CN" altLang="en-US" sz="2400">
                <a:ea typeface="楷体_GB2312"/>
              </a:rPr>
              <a:t>的相互作用。</a:t>
            </a:r>
          </a:p>
        </p:txBody>
      </p:sp>
      <p:sp>
        <p:nvSpPr>
          <p:cNvPr id="83978" name="Text Box 10"/>
          <p:cNvSpPr txBox="1">
            <a:spLocks noChangeArrowheads="1"/>
          </p:cNvSpPr>
          <p:nvPr/>
        </p:nvSpPr>
        <p:spPr bwMode="auto">
          <a:xfrm>
            <a:off x="381000" y="4546600"/>
            <a:ext cx="34131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ea typeface="楷体_GB2312"/>
              </a:rPr>
              <a:t>库仑力的叠加原理：</a:t>
            </a:r>
          </a:p>
        </p:txBody>
      </p:sp>
      <p:graphicFrame>
        <p:nvGraphicFramePr>
          <p:cNvPr id="83979" name="Object 11"/>
          <p:cNvGraphicFramePr>
            <a:graphicFrameLocks noChangeAspect="1"/>
          </p:cNvGraphicFramePr>
          <p:nvPr/>
        </p:nvGraphicFramePr>
        <p:xfrm>
          <a:off x="539750" y="5156200"/>
          <a:ext cx="5246688" cy="1244600"/>
        </p:xfrm>
        <a:graphic>
          <a:graphicData uri="http://schemas.openxmlformats.org/presentationml/2006/ole">
            <mc:AlternateContent xmlns:mc="http://schemas.openxmlformats.org/markup-compatibility/2006">
              <mc:Choice xmlns:v="urn:schemas-microsoft-com:vml" Requires="v">
                <p:oleObj spid="_x0000_s210736" name="Equation" r:id="rId7" imgW="1866090" imgH="444307" progId="Equation.3">
                  <p:embed/>
                </p:oleObj>
              </mc:Choice>
              <mc:Fallback>
                <p:oleObj name="Equation" r:id="rId7" imgW="1866090" imgH="444307" progId="Equation.3">
                  <p:embed/>
                  <p:pic>
                    <p:nvPicPr>
                      <p:cNvPr id="83979"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9750" y="5156200"/>
                        <a:ext cx="5246688" cy="1244600"/>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4013" name="Group 45"/>
          <p:cNvGrpSpPr>
            <a:grpSpLocks/>
          </p:cNvGrpSpPr>
          <p:nvPr/>
        </p:nvGrpSpPr>
        <p:grpSpPr bwMode="auto">
          <a:xfrm>
            <a:off x="6378575" y="2708275"/>
            <a:ext cx="2459038" cy="3759200"/>
            <a:chOff x="4019" y="1815"/>
            <a:chExt cx="1549" cy="2368"/>
          </a:xfrm>
        </p:grpSpPr>
        <p:sp>
          <p:nvSpPr>
            <p:cNvPr id="29716" name="Line 12"/>
            <p:cNvSpPr>
              <a:spLocks noChangeShapeType="1"/>
            </p:cNvSpPr>
            <p:nvPr/>
          </p:nvSpPr>
          <p:spPr bwMode="auto">
            <a:xfrm flipV="1">
              <a:off x="4262" y="2592"/>
              <a:ext cx="864" cy="528"/>
            </a:xfrm>
            <a:prstGeom prst="line">
              <a:avLst/>
            </a:prstGeom>
            <a:noFill/>
            <a:ln w="41275" cap="sq">
              <a:solidFill>
                <a:schemeClr val="tx1"/>
              </a:solidFill>
              <a:round/>
              <a:headEnd type="none" w="sm" len="sm"/>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7" name="Line 13"/>
            <p:cNvSpPr>
              <a:spLocks noChangeShapeType="1"/>
            </p:cNvSpPr>
            <p:nvPr/>
          </p:nvSpPr>
          <p:spPr bwMode="auto">
            <a:xfrm flipH="1" flipV="1">
              <a:off x="5126" y="2640"/>
              <a:ext cx="144" cy="1104"/>
            </a:xfrm>
            <a:prstGeom prst="line">
              <a:avLst/>
            </a:prstGeom>
            <a:noFill/>
            <a:ln w="41275" cap="sq">
              <a:solidFill>
                <a:srgbClr val="0000FF"/>
              </a:solidFill>
              <a:round/>
              <a:headEnd type="none" w="sm" len="sm"/>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8" name="Line 14"/>
            <p:cNvSpPr>
              <a:spLocks noChangeShapeType="1"/>
            </p:cNvSpPr>
            <p:nvPr/>
          </p:nvSpPr>
          <p:spPr bwMode="auto">
            <a:xfrm>
              <a:off x="4454" y="2160"/>
              <a:ext cx="624" cy="432"/>
            </a:xfrm>
            <a:prstGeom prst="line">
              <a:avLst/>
            </a:prstGeom>
            <a:noFill/>
            <a:ln w="41275" cap="sq">
              <a:solidFill>
                <a:srgbClr val="993300"/>
              </a:solidFill>
              <a:round/>
              <a:headEnd type="none" w="sm" len="sm"/>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9" name="Line 15"/>
            <p:cNvSpPr>
              <a:spLocks noChangeShapeType="1"/>
            </p:cNvSpPr>
            <p:nvPr/>
          </p:nvSpPr>
          <p:spPr bwMode="auto">
            <a:xfrm flipV="1">
              <a:off x="4875" y="2592"/>
              <a:ext cx="213" cy="1337"/>
            </a:xfrm>
            <a:prstGeom prst="line">
              <a:avLst/>
            </a:prstGeom>
            <a:noFill/>
            <a:ln w="41275" cap="sq">
              <a:solidFill>
                <a:srgbClr val="FF00FF"/>
              </a:solidFill>
              <a:round/>
              <a:headEnd type="none" w="sm" len="sm"/>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9720" name="Object 16"/>
            <p:cNvGraphicFramePr>
              <a:graphicFrameLocks noChangeAspect="1"/>
            </p:cNvGraphicFramePr>
            <p:nvPr/>
          </p:nvGraphicFramePr>
          <p:xfrm>
            <a:off x="4176" y="1815"/>
            <a:ext cx="243" cy="345"/>
          </p:xfrm>
          <a:graphic>
            <a:graphicData uri="http://schemas.openxmlformats.org/presentationml/2006/ole">
              <mc:AlternateContent xmlns:mc="http://schemas.openxmlformats.org/markup-compatibility/2006">
                <mc:Choice xmlns:v="urn:schemas-microsoft-com:vml" Requires="v">
                  <p:oleObj spid="_x0000_s210737" name="公式" r:id="rId9" imgW="152268" imgH="215713" progId="Equation.3">
                    <p:embed/>
                  </p:oleObj>
                </mc:Choice>
                <mc:Fallback>
                  <p:oleObj name="公式" r:id="rId9" imgW="152268" imgH="215713" progId="Equation.3">
                    <p:embed/>
                    <p:pic>
                      <p:nvPicPr>
                        <p:cNvPr id="2972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76" y="1815"/>
                          <a:ext cx="243"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21" name="Object 17"/>
            <p:cNvGraphicFramePr>
              <a:graphicFrameLocks noChangeAspect="1"/>
            </p:cNvGraphicFramePr>
            <p:nvPr/>
          </p:nvGraphicFramePr>
          <p:xfrm>
            <a:off x="4698" y="3838"/>
            <a:ext cx="284" cy="345"/>
          </p:xfrm>
          <a:graphic>
            <a:graphicData uri="http://schemas.openxmlformats.org/presentationml/2006/ole">
              <mc:AlternateContent xmlns:mc="http://schemas.openxmlformats.org/markup-compatibility/2006">
                <mc:Choice xmlns:v="urn:schemas-microsoft-com:vml" Requires="v">
                  <p:oleObj spid="_x0000_s210738" name="公式" r:id="rId11" imgW="177569" imgH="215619" progId="Equation.3">
                    <p:embed/>
                  </p:oleObj>
                </mc:Choice>
                <mc:Fallback>
                  <p:oleObj name="公式" r:id="rId11" imgW="177569" imgH="215619" progId="Equation.3">
                    <p:embed/>
                    <p:pic>
                      <p:nvPicPr>
                        <p:cNvPr id="29721"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98" y="3838"/>
                          <a:ext cx="284"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22" name="Object 18"/>
            <p:cNvGraphicFramePr>
              <a:graphicFrameLocks noChangeAspect="1"/>
            </p:cNvGraphicFramePr>
            <p:nvPr/>
          </p:nvGraphicFramePr>
          <p:xfrm>
            <a:off x="4019" y="3008"/>
            <a:ext cx="264" cy="368"/>
          </p:xfrm>
          <a:graphic>
            <a:graphicData uri="http://schemas.openxmlformats.org/presentationml/2006/ole">
              <mc:AlternateContent xmlns:mc="http://schemas.openxmlformats.org/markup-compatibility/2006">
                <mc:Choice xmlns:v="urn:schemas-microsoft-com:vml" Requires="v">
                  <p:oleObj spid="_x0000_s210739" name="公式" r:id="rId13" imgW="165028" imgH="228501" progId="Equation.3">
                    <p:embed/>
                  </p:oleObj>
                </mc:Choice>
                <mc:Fallback>
                  <p:oleObj name="公式" r:id="rId13" imgW="165028" imgH="228501" progId="Equation.3">
                    <p:embed/>
                    <p:pic>
                      <p:nvPicPr>
                        <p:cNvPr id="29722"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19" y="3008"/>
                          <a:ext cx="264"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23" name="Object 19"/>
            <p:cNvGraphicFramePr>
              <a:graphicFrameLocks noChangeAspect="1"/>
            </p:cNvGraphicFramePr>
            <p:nvPr/>
          </p:nvGraphicFramePr>
          <p:xfrm>
            <a:off x="5206" y="3727"/>
            <a:ext cx="284" cy="345"/>
          </p:xfrm>
          <a:graphic>
            <a:graphicData uri="http://schemas.openxmlformats.org/presentationml/2006/ole">
              <mc:AlternateContent xmlns:mc="http://schemas.openxmlformats.org/markup-compatibility/2006">
                <mc:Choice xmlns:v="urn:schemas-microsoft-com:vml" Requires="v">
                  <p:oleObj spid="_x0000_s210740" name="公式" r:id="rId15" imgW="177569" imgH="215619" progId="Equation.3">
                    <p:embed/>
                  </p:oleObj>
                </mc:Choice>
                <mc:Fallback>
                  <p:oleObj name="公式" r:id="rId15" imgW="177569" imgH="215619" progId="Equation.3">
                    <p:embed/>
                    <p:pic>
                      <p:nvPicPr>
                        <p:cNvPr id="29723"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06" y="3727"/>
                          <a:ext cx="284"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24" name="Object 20"/>
            <p:cNvGraphicFramePr>
              <a:graphicFrameLocks noChangeAspect="1"/>
            </p:cNvGraphicFramePr>
            <p:nvPr/>
          </p:nvGraphicFramePr>
          <p:xfrm>
            <a:off x="5030" y="2256"/>
            <a:ext cx="284" cy="368"/>
          </p:xfrm>
          <a:graphic>
            <a:graphicData uri="http://schemas.openxmlformats.org/presentationml/2006/ole">
              <mc:AlternateContent xmlns:mc="http://schemas.openxmlformats.org/markup-compatibility/2006">
                <mc:Choice xmlns:v="urn:schemas-microsoft-com:vml" Requires="v">
                  <p:oleObj spid="_x0000_s210741" name="公式" r:id="rId17" imgW="177646" imgH="228402" progId="Equation.3">
                    <p:embed/>
                  </p:oleObj>
                </mc:Choice>
                <mc:Fallback>
                  <p:oleObj name="公式" r:id="rId17" imgW="177646" imgH="228402" progId="Equation.3">
                    <p:embed/>
                    <p:pic>
                      <p:nvPicPr>
                        <p:cNvPr id="29724" name="Object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30" y="2256"/>
                          <a:ext cx="284"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25" name="Object 21"/>
            <p:cNvGraphicFramePr>
              <a:graphicFrameLocks noChangeAspect="1"/>
            </p:cNvGraphicFramePr>
            <p:nvPr/>
          </p:nvGraphicFramePr>
          <p:xfrm>
            <a:off x="4588" y="2008"/>
            <a:ext cx="307" cy="368"/>
          </p:xfrm>
          <a:graphic>
            <a:graphicData uri="http://schemas.openxmlformats.org/presentationml/2006/ole">
              <mc:AlternateContent xmlns:mc="http://schemas.openxmlformats.org/markup-compatibility/2006">
                <mc:Choice xmlns:v="urn:schemas-microsoft-com:vml" Requires="v">
                  <p:oleObj spid="_x0000_s210742" name="公式" r:id="rId19" imgW="190500" imgH="228600" progId="Equation.3">
                    <p:embed/>
                  </p:oleObj>
                </mc:Choice>
                <mc:Fallback>
                  <p:oleObj name="公式" r:id="rId19" imgW="190500" imgH="228600" progId="Equation.3">
                    <p:embed/>
                    <p:pic>
                      <p:nvPicPr>
                        <p:cNvPr id="29725" name="Object 2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588" y="2008"/>
                          <a:ext cx="307"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26" name="Object 22"/>
            <p:cNvGraphicFramePr>
              <a:graphicFrameLocks noChangeAspect="1"/>
            </p:cNvGraphicFramePr>
            <p:nvPr/>
          </p:nvGraphicFramePr>
          <p:xfrm>
            <a:off x="5222" y="3168"/>
            <a:ext cx="346" cy="368"/>
          </p:xfrm>
          <a:graphic>
            <a:graphicData uri="http://schemas.openxmlformats.org/presentationml/2006/ole">
              <mc:AlternateContent xmlns:mc="http://schemas.openxmlformats.org/markup-compatibility/2006">
                <mc:Choice xmlns:v="urn:schemas-microsoft-com:vml" Requires="v">
                  <p:oleObj spid="_x0000_s210743" name="公式" r:id="rId21" imgW="215806" imgH="228501" progId="Equation.3">
                    <p:embed/>
                  </p:oleObj>
                </mc:Choice>
                <mc:Fallback>
                  <p:oleObj name="公式" r:id="rId21" imgW="215806" imgH="228501" progId="Equation.3">
                    <p:embed/>
                    <p:pic>
                      <p:nvPicPr>
                        <p:cNvPr id="29726" name="Object 2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222" y="3168"/>
                          <a:ext cx="3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27" name="Object 23"/>
            <p:cNvGraphicFramePr>
              <a:graphicFrameLocks noChangeAspect="1"/>
            </p:cNvGraphicFramePr>
            <p:nvPr/>
          </p:nvGraphicFramePr>
          <p:xfrm>
            <a:off x="4502" y="3312"/>
            <a:ext cx="345" cy="368"/>
          </p:xfrm>
          <a:graphic>
            <a:graphicData uri="http://schemas.openxmlformats.org/presentationml/2006/ole">
              <mc:AlternateContent xmlns:mc="http://schemas.openxmlformats.org/markup-compatibility/2006">
                <mc:Choice xmlns:v="urn:schemas-microsoft-com:vml" Requires="v">
                  <p:oleObj spid="_x0000_s210744" name="公式" r:id="rId23" imgW="215806" imgH="228501" progId="Equation.3">
                    <p:embed/>
                  </p:oleObj>
                </mc:Choice>
                <mc:Fallback>
                  <p:oleObj name="公式" r:id="rId23" imgW="215806" imgH="228501" progId="Equation.3">
                    <p:embed/>
                    <p:pic>
                      <p:nvPicPr>
                        <p:cNvPr id="29727" name="Object 2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502" y="3312"/>
                          <a:ext cx="345"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28" name="Object 24"/>
            <p:cNvGraphicFramePr>
              <a:graphicFrameLocks noChangeAspect="1"/>
            </p:cNvGraphicFramePr>
            <p:nvPr/>
          </p:nvGraphicFramePr>
          <p:xfrm>
            <a:off x="4326" y="2560"/>
            <a:ext cx="325" cy="368"/>
          </p:xfrm>
          <a:graphic>
            <a:graphicData uri="http://schemas.openxmlformats.org/presentationml/2006/ole">
              <mc:AlternateContent xmlns:mc="http://schemas.openxmlformats.org/markup-compatibility/2006">
                <mc:Choice xmlns:v="urn:schemas-microsoft-com:vml" Requires="v">
                  <p:oleObj spid="_x0000_s210745" name="公式" r:id="rId25" imgW="203112" imgH="228501" progId="Equation.3">
                    <p:embed/>
                  </p:oleObj>
                </mc:Choice>
                <mc:Fallback>
                  <p:oleObj name="公式" r:id="rId25" imgW="203112" imgH="228501" progId="Equation.3">
                    <p:embed/>
                    <p:pic>
                      <p:nvPicPr>
                        <p:cNvPr id="29728" name="Object 2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326" y="2560"/>
                          <a:ext cx="325"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83995" name="AutoShape 27"/>
          <p:cNvSpPr>
            <a:spLocks noChangeArrowheads="1"/>
          </p:cNvSpPr>
          <p:nvPr/>
        </p:nvSpPr>
        <p:spPr bwMode="auto">
          <a:xfrm>
            <a:off x="6656388" y="115888"/>
            <a:ext cx="2163762" cy="968375"/>
          </a:xfrm>
          <a:prstGeom prst="wedgeRoundRectCallout">
            <a:avLst>
              <a:gd name="adj1" fmla="val -112245"/>
              <a:gd name="adj2" fmla="val 14648"/>
              <a:gd name="adj3" fmla="val 16667"/>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zh-CN" altLang="en-US" sz="2400">
                <a:solidFill>
                  <a:srgbClr val="0000FF"/>
                </a:solidFill>
                <a:ea typeface="楷体_GB2312"/>
              </a:rPr>
              <a:t>真空电容率</a:t>
            </a:r>
            <a:r>
              <a:rPr lang="en-US" altLang="zh-CN" sz="2400">
                <a:solidFill>
                  <a:srgbClr val="0000FF"/>
                </a:solidFill>
                <a:ea typeface="楷体_GB2312"/>
              </a:rPr>
              <a:t>or</a:t>
            </a:r>
          </a:p>
          <a:p>
            <a:pPr algn="ctr" eaLnBrk="1" hangingPunct="1">
              <a:buFontTx/>
              <a:buNone/>
            </a:pPr>
            <a:r>
              <a:rPr lang="zh-CN" altLang="en-US" sz="2400">
                <a:solidFill>
                  <a:srgbClr val="0000FF"/>
                </a:solidFill>
                <a:ea typeface="楷体_GB2312"/>
              </a:rPr>
              <a:t>真空介电常数</a:t>
            </a:r>
          </a:p>
        </p:txBody>
      </p:sp>
      <p:graphicFrame>
        <p:nvGraphicFramePr>
          <p:cNvPr id="83996" name="Object 28"/>
          <p:cNvGraphicFramePr>
            <a:graphicFrameLocks noChangeAspect="1"/>
          </p:cNvGraphicFramePr>
          <p:nvPr/>
        </p:nvGraphicFramePr>
        <p:xfrm>
          <a:off x="4114800" y="2362200"/>
          <a:ext cx="1695450" cy="565150"/>
        </p:xfrm>
        <a:graphic>
          <a:graphicData uri="http://schemas.openxmlformats.org/presentationml/2006/ole">
            <mc:AlternateContent xmlns:mc="http://schemas.openxmlformats.org/markup-compatibility/2006">
              <mc:Choice xmlns:v="urn:schemas-microsoft-com:vml" Requires="v">
                <p:oleObj spid="_x0000_s210746" name="公式" r:id="rId27" imgW="685800" imgH="228600" progId="Equation.3">
                  <p:embed/>
                </p:oleObj>
              </mc:Choice>
              <mc:Fallback>
                <p:oleObj name="公式" r:id="rId27" imgW="685800" imgH="228600" progId="Equation.3">
                  <p:embed/>
                  <p:pic>
                    <p:nvPicPr>
                      <p:cNvPr id="83996" name="Object 2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114800" y="2362200"/>
                        <a:ext cx="1695450"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3997" name="Text Box 29"/>
          <p:cNvSpPr txBox="1">
            <a:spLocks noChangeArrowheads="1"/>
          </p:cNvSpPr>
          <p:nvPr/>
        </p:nvSpPr>
        <p:spPr bwMode="auto">
          <a:xfrm>
            <a:off x="0" y="2438400"/>
            <a:ext cx="3754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r>
              <a:rPr lang="en-US" altLang="zh-CN" sz="2400">
                <a:ea typeface="楷体_GB2312"/>
              </a:rPr>
              <a:t> </a:t>
            </a:r>
            <a:r>
              <a:rPr lang="zh-CN" altLang="en-US" sz="2400">
                <a:ea typeface="楷体_GB2312"/>
              </a:rPr>
              <a:t>库仑力满足牛顿第三定律</a:t>
            </a:r>
          </a:p>
        </p:txBody>
      </p:sp>
      <p:grpSp>
        <p:nvGrpSpPr>
          <p:cNvPr id="83999" name="Group 31"/>
          <p:cNvGrpSpPr>
            <a:grpSpLocks/>
          </p:cNvGrpSpPr>
          <p:nvPr/>
        </p:nvGrpSpPr>
        <p:grpSpPr bwMode="auto">
          <a:xfrm>
            <a:off x="5580063" y="1450975"/>
            <a:ext cx="3582987" cy="1444625"/>
            <a:chOff x="3444" y="1440"/>
            <a:chExt cx="2316" cy="1043"/>
          </a:xfrm>
        </p:grpSpPr>
        <p:sp>
          <p:nvSpPr>
            <p:cNvPr id="29708" name="Line 34"/>
            <p:cNvSpPr>
              <a:spLocks noChangeShapeType="1"/>
            </p:cNvSpPr>
            <p:nvPr/>
          </p:nvSpPr>
          <p:spPr bwMode="auto">
            <a:xfrm>
              <a:off x="4197" y="1842"/>
              <a:ext cx="864" cy="288"/>
            </a:xfrm>
            <a:prstGeom prst="line">
              <a:avLst/>
            </a:prstGeom>
            <a:noFill/>
            <a:ln w="41275" cap="sq">
              <a:solidFill>
                <a:srgbClr val="0000FF"/>
              </a:solidFill>
              <a:round/>
              <a:headEnd type="arrow"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09" name="Line 35"/>
            <p:cNvSpPr>
              <a:spLocks noChangeShapeType="1"/>
            </p:cNvSpPr>
            <p:nvPr/>
          </p:nvSpPr>
          <p:spPr bwMode="auto">
            <a:xfrm>
              <a:off x="5028" y="2112"/>
              <a:ext cx="288" cy="96"/>
            </a:xfrm>
            <a:prstGeom prst="line">
              <a:avLst/>
            </a:prstGeom>
            <a:noFill/>
            <a:ln w="41275" cap="sq">
              <a:solidFill>
                <a:srgbClr val="993300"/>
              </a:solidFill>
              <a:round/>
              <a:headEnd type="none" w="sm" len="sm"/>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0" name="Line 36"/>
            <p:cNvSpPr>
              <a:spLocks noChangeShapeType="1"/>
            </p:cNvSpPr>
            <p:nvPr/>
          </p:nvSpPr>
          <p:spPr bwMode="auto">
            <a:xfrm>
              <a:off x="3876" y="1728"/>
              <a:ext cx="288" cy="96"/>
            </a:xfrm>
            <a:prstGeom prst="line">
              <a:avLst/>
            </a:prstGeom>
            <a:noFill/>
            <a:ln w="41275" cap="sq">
              <a:solidFill>
                <a:srgbClr val="993300"/>
              </a:solidFill>
              <a:round/>
              <a:headEnd type="arrow"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9711" name="Object 37"/>
            <p:cNvGraphicFramePr>
              <a:graphicFrameLocks noChangeAspect="1"/>
            </p:cNvGraphicFramePr>
            <p:nvPr/>
          </p:nvGraphicFramePr>
          <p:xfrm>
            <a:off x="4452" y="1536"/>
            <a:ext cx="286" cy="348"/>
          </p:xfrm>
          <a:graphic>
            <a:graphicData uri="http://schemas.openxmlformats.org/presentationml/2006/ole">
              <mc:AlternateContent xmlns:mc="http://schemas.openxmlformats.org/markup-compatibility/2006">
                <mc:Choice xmlns:v="urn:schemas-microsoft-com:vml" Requires="v">
                  <p:oleObj spid="_x0000_s210747" name="公式" r:id="rId29" imgW="177569" imgH="215619" progId="Equation.3">
                    <p:embed/>
                  </p:oleObj>
                </mc:Choice>
                <mc:Fallback>
                  <p:oleObj name="公式" r:id="rId29" imgW="177569" imgH="215619" progId="Equation.3">
                    <p:embed/>
                    <p:pic>
                      <p:nvPicPr>
                        <p:cNvPr id="29711" name="Object 37"/>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452" y="1536"/>
                          <a:ext cx="286"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12" name="Object 41"/>
            <p:cNvGraphicFramePr>
              <a:graphicFrameLocks noChangeAspect="1"/>
            </p:cNvGraphicFramePr>
            <p:nvPr/>
          </p:nvGraphicFramePr>
          <p:xfrm>
            <a:off x="5412" y="2112"/>
            <a:ext cx="348" cy="371"/>
          </p:xfrm>
          <a:graphic>
            <a:graphicData uri="http://schemas.openxmlformats.org/presentationml/2006/ole">
              <mc:AlternateContent xmlns:mc="http://schemas.openxmlformats.org/markup-compatibility/2006">
                <mc:Choice xmlns:v="urn:schemas-microsoft-com:vml" Requires="v">
                  <p:oleObj spid="_x0000_s210748" name="公式" r:id="rId31" imgW="215806" imgH="228501" progId="Equation.3">
                    <p:embed/>
                  </p:oleObj>
                </mc:Choice>
                <mc:Fallback>
                  <p:oleObj name="公式" r:id="rId31" imgW="215806" imgH="228501" progId="Equation.3">
                    <p:embed/>
                    <p:pic>
                      <p:nvPicPr>
                        <p:cNvPr id="29712" name="Object 41"/>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5412" y="2112"/>
                          <a:ext cx="348" cy="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13" name="Object 42"/>
            <p:cNvGraphicFramePr>
              <a:graphicFrameLocks noChangeAspect="1"/>
            </p:cNvGraphicFramePr>
            <p:nvPr/>
          </p:nvGraphicFramePr>
          <p:xfrm>
            <a:off x="3444" y="1440"/>
            <a:ext cx="348" cy="371"/>
          </p:xfrm>
          <a:graphic>
            <a:graphicData uri="http://schemas.openxmlformats.org/presentationml/2006/ole">
              <mc:AlternateContent xmlns:mc="http://schemas.openxmlformats.org/markup-compatibility/2006">
                <mc:Choice xmlns:v="urn:schemas-microsoft-com:vml" Requires="v">
                  <p:oleObj spid="_x0000_s210749" name="公式" r:id="rId33" imgW="215806" imgH="228501" progId="Equation.3">
                    <p:embed/>
                  </p:oleObj>
                </mc:Choice>
                <mc:Fallback>
                  <p:oleObj name="公式" r:id="rId33" imgW="215806" imgH="228501" progId="Equation.3">
                    <p:embed/>
                    <p:pic>
                      <p:nvPicPr>
                        <p:cNvPr id="29713" name="Object 42"/>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3444" y="1440"/>
                          <a:ext cx="348" cy="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14" name="Object 43"/>
            <p:cNvGraphicFramePr>
              <a:graphicFrameLocks noChangeAspect="1"/>
            </p:cNvGraphicFramePr>
            <p:nvPr/>
          </p:nvGraphicFramePr>
          <p:xfrm>
            <a:off x="4116" y="1488"/>
            <a:ext cx="245" cy="348"/>
          </p:xfrm>
          <a:graphic>
            <a:graphicData uri="http://schemas.openxmlformats.org/presentationml/2006/ole">
              <mc:AlternateContent xmlns:mc="http://schemas.openxmlformats.org/markup-compatibility/2006">
                <mc:Choice xmlns:v="urn:schemas-microsoft-com:vml" Requires="v">
                  <p:oleObj spid="_x0000_s210750" name="公式" r:id="rId35" imgW="152268" imgH="215713" progId="Equation.3">
                    <p:embed/>
                  </p:oleObj>
                </mc:Choice>
                <mc:Fallback>
                  <p:oleObj name="公式" r:id="rId35" imgW="152268" imgH="215713" progId="Equation.3">
                    <p:embed/>
                    <p:pic>
                      <p:nvPicPr>
                        <p:cNvPr id="29714" name="Object 43"/>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4116" y="1488"/>
                          <a:ext cx="245"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15" name="Object 44"/>
            <p:cNvGraphicFramePr>
              <a:graphicFrameLocks noChangeAspect="1"/>
            </p:cNvGraphicFramePr>
            <p:nvPr/>
          </p:nvGraphicFramePr>
          <p:xfrm>
            <a:off x="5076" y="1680"/>
            <a:ext cx="287" cy="348"/>
          </p:xfrm>
          <a:graphic>
            <a:graphicData uri="http://schemas.openxmlformats.org/presentationml/2006/ole">
              <mc:AlternateContent xmlns:mc="http://schemas.openxmlformats.org/markup-compatibility/2006">
                <mc:Choice xmlns:v="urn:schemas-microsoft-com:vml" Requires="v">
                  <p:oleObj spid="_x0000_s210751" name="公式" r:id="rId37" imgW="177569" imgH="215619" progId="Equation.3">
                    <p:embed/>
                  </p:oleObj>
                </mc:Choice>
                <mc:Fallback>
                  <p:oleObj name="公式" r:id="rId37" imgW="177569" imgH="215619" progId="Equation.3">
                    <p:embed/>
                    <p:pic>
                      <p:nvPicPr>
                        <p:cNvPr id="29715" name="Object 44"/>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5076" y="1680"/>
                          <a:ext cx="287"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extLst>
      <p:ext uri="{BB962C8B-B14F-4D97-AF65-F5344CB8AC3E}">
        <p14:creationId xmlns:p14="http://schemas.microsoft.com/office/powerpoint/2010/main" val="1510386153"/>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3973"/>
                                        </p:tgtEl>
                                        <p:attrNameLst>
                                          <p:attrName>style.visibility</p:attrName>
                                        </p:attrNameLst>
                                      </p:cBhvr>
                                      <p:to>
                                        <p:strVal val="visible"/>
                                      </p:to>
                                    </p:set>
                                    <p:animEffect transition="in" filter="wipe(left)">
                                      <p:cBhvr>
                                        <p:cTn id="7" dur="500"/>
                                        <p:tgtEl>
                                          <p:spTgt spid="839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3995"/>
                                        </p:tgtEl>
                                        <p:attrNameLst>
                                          <p:attrName>style.visibility</p:attrName>
                                        </p:attrNameLst>
                                      </p:cBhvr>
                                      <p:to>
                                        <p:strVal val="visible"/>
                                      </p:to>
                                    </p:set>
                                    <p:animEffect transition="in" filter="wipe(left)">
                                      <p:cBhvr>
                                        <p:cTn id="12" dur="500"/>
                                        <p:tgtEl>
                                          <p:spTgt spid="83995"/>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83976"/>
                                        </p:tgtEl>
                                        <p:attrNameLst>
                                          <p:attrName>style.visibility</p:attrName>
                                        </p:attrNameLst>
                                      </p:cBhvr>
                                      <p:to>
                                        <p:strVal val="visible"/>
                                      </p:to>
                                    </p:set>
                                    <p:animEffect transition="in" filter="wipe(left)">
                                      <p:cBhvr>
                                        <p:cTn id="16" dur="500"/>
                                        <p:tgtEl>
                                          <p:spTgt spid="83976"/>
                                        </p:tgtEl>
                                      </p:cBhvr>
                                    </p:animEffect>
                                  </p:childTnLst>
                                </p:cTn>
                              </p:par>
                            </p:childTnLst>
                          </p:cTn>
                        </p:par>
                        <p:par>
                          <p:cTn id="17" fill="hold" nodeType="afterGroup">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83997"/>
                                        </p:tgtEl>
                                        <p:attrNameLst>
                                          <p:attrName>style.visibility</p:attrName>
                                        </p:attrNameLst>
                                      </p:cBhvr>
                                      <p:to>
                                        <p:strVal val="visible"/>
                                      </p:to>
                                    </p:set>
                                    <p:animEffect transition="in" filter="wipe(left)">
                                      <p:cBhvr>
                                        <p:cTn id="20" dur="500"/>
                                        <p:tgtEl>
                                          <p:spTgt spid="8399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83999"/>
                                        </p:tgtEl>
                                        <p:attrNameLst>
                                          <p:attrName>style.visibility</p:attrName>
                                        </p:attrNameLst>
                                      </p:cBhvr>
                                      <p:to>
                                        <p:strVal val="visible"/>
                                      </p:to>
                                    </p:set>
                                    <p:animEffect transition="in" filter="wipe(left)">
                                      <p:cBhvr>
                                        <p:cTn id="25" dur="500"/>
                                        <p:tgtEl>
                                          <p:spTgt spid="8399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83996"/>
                                        </p:tgtEl>
                                        <p:attrNameLst>
                                          <p:attrName>style.visibility</p:attrName>
                                        </p:attrNameLst>
                                      </p:cBhvr>
                                      <p:to>
                                        <p:strVal val="visible"/>
                                      </p:to>
                                    </p:set>
                                    <p:animEffect transition="in" filter="wipe(left)">
                                      <p:cBhvr>
                                        <p:cTn id="30" dur="500"/>
                                        <p:tgtEl>
                                          <p:spTgt spid="8399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iterate type="lt">
                                    <p:tmPct val="100000"/>
                                  </p:iterate>
                                  <p:childTnLst>
                                    <p:set>
                                      <p:cBhvr>
                                        <p:cTn id="34" dur="1" fill="hold">
                                          <p:stCondLst>
                                            <p:cond delay="0"/>
                                          </p:stCondLst>
                                        </p:cTn>
                                        <p:tgtEl>
                                          <p:spTgt spid="83977">
                                            <p:txEl>
                                              <p:pRg st="0" end="0"/>
                                            </p:txEl>
                                          </p:spTgt>
                                        </p:tgtEl>
                                        <p:attrNameLst>
                                          <p:attrName>style.visibility</p:attrName>
                                        </p:attrNameLst>
                                      </p:cBhvr>
                                      <p:to>
                                        <p:strVal val="visible"/>
                                      </p:to>
                                    </p:set>
                                    <p:animEffect transition="in" filter="wipe(left)">
                                      <p:cBhvr>
                                        <p:cTn id="35" dur="75"/>
                                        <p:tgtEl>
                                          <p:spTgt spid="83977">
                                            <p:txEl>
                                              <p:pRg st="0" end="0"/>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iterate type="lt">
                                    <p:tmPct val="100000"/>
                                  </p:iterate>
                                  <p:childTnLst>
                                    <p:set>
                                      <p:cBhvr>
                                        <p:cTn id="39" dur="1" fill="hold">
                                          <p:stCondLst>
                                            <p:cond delay="0"/>
                                          </p:stCondLst>
                                        </p:cTn>
                                        <p:tgtEl>
                                          <p:spTgt spid="83977">
                                            <p:txEl>
                                              <p:pRg st="1" end="1"/>
                                            </p:txEl>
                                          </p:spTgt>
                                        </p:tgtEl>
                                        <p:attrNameLst>
                                          <p:attrName>style.visibility</p:attrName>
                                        </p:attrNameLst>
                                      </p:cBhvr>
                                      <p:to>
                                        <p:strVal val="visible"/>
                                      </p:to>
                                    </p:set>
                                    <p:animEffect transition="in" filter="wipe(left)">
                                      <p:cBhvr>
                                        <p:cTn id="40" dur="75"/>
                                        <p:tgtEl>
                                          <p:spTgt spid="83977">
                                            <p:txEl>
                                              <p:pRg st="1" end="1"/>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iterate type="lt">
                                    <p:tmPct val="100000"/>
                                  </p:iterate>
                                  <p:childTnLst>
                                    <p:set>
                                      <p:cBhvr>
                                        <p:cTn id="44" dur="1" fill="hold">
                                          <p:stCondLst>
                                            <p:cond delay="0"/>
                                          </p:stCondLst>
                                        </p:cTn>
                                        <p:tgtEl>
                                          <p:spTgt spid="83977">
                                            <p:txEl>
                                              <p:pRg st="2" end="2"/>
                                            </p:txEl>
                                          </p:spTgt>
                                        </p:tgtEl>
                                        <p:attrNameLst>
                                          <p:attrName>style.visibility</p:attrName>
                                        </p:attrNameLst>
                                      </p:cBhvr>
                                      <p:to>
                                        <p:strVal val="visible"/>
                                      </p:to>
                                    </p:set>
                                    <p:animEffect transition="in" filter="wipe(left)">
                                      <p:cBhvr>
                                        <p:cTn id="45" dur="75"/>
                                        <p:tgtEl>
                                          <p:spTgt spid="83977">
                                            <p:txEl>
                                              <p:pRg st="2" end="2"/>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83978"/>
                                        </p:tgtEl>
                                        <p:attrNameLst>
                                          <p:attrName>style.visibility</p:attrName>
                                        </p:attrNameLst>
                                      </p:cBhvr>
                                      <p:to>
                                        <p:strVal val="visible"/>
                                      </p:to>
                                    </p:set>
                                    <p:animEffect transition="in" filter="wipe(left)">
                                      <p:cBhvr>
                                        <p:cTn id="50" dur="500"/>
                                        <p:tgtEl>
                                          <p:spTgt spid="8397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nodeType="clickEffect">
                                  <p:stCondLst>
                                    <p:cond delay="0"/>
                                  </p:stCondLst>
                                  <p:childTnLst>
                                    <p:set>
                                      <p:cBhvr>
                                        <p:cTn id="54" dur="1" fill="hold">
                                          <p:stCondLst>
                                            <p:cond delay="0"/>
                                          </p:stCondLst>
                                        </p:cTn>
                                        <p:tgtEl>
                                          <p:spTgt spid="84013"/>
                                        </p:tgtEl>
                                        <p:attrNameLst>
                                          <p:attrName>style.visibility</p:attrName>
                                        </p:attrNameLst>
                                      </p:cBhvr>
                                      <p:to>
                                        <p:strVal val="visible"/>
                                      </p:to>
                                    </p:set>
                                    <p:animEffect transition="in" filter="wipe(up)">
                                      <p:cBhvr>
                                        <p:cTn id="55" dur="500"/>
                                        <p:tgtEl>
                                          <p:spTgt spid="8401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83979"/>
                                        </p:tgtEl>
                                        <p:attrNameLst>
                                          <p:attrName>style.visibility</p:attrName>
                                        </p:attrNameLst>
                                      </p:cBhvr>
                                      <p:to>
                                        <p:strVal val="visible"/>
                                      </p:to>
                                    </p:set>
                                    <p:animEffect transition="in" filter="wipe(left)">
                                      <p:cBhvr>
                                        <p:cTn id="60" dur="500"/>
                                        <p:tgtEl>
                                          <p:spTgt spid="839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7" grpId="0" build="p" autoUpdateAnimBg="0"/>
      <p:bldP spid="83978" grpId="0" autoUpdateAnimBg="0"/>
      <p:bldP spid="83995" grpId="0" animBg="1" autoUpdateAnimBg="0"/>
      <p:bldP spid="83997"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290513" y="0"/>
            <a:ext cx="8548687" cy="8334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0000FF"/>
                </a:solidFill>
                <a:ea typeface="楷体_GB2312"/>
              </a:rPr>
              <a:t>例</a:t>
            </a:r>
            <a:r>
              <a:rPr lang="en-US" altLang="zh-CN" sz="2400">
                <a:solidFill>
                  <a:srgbClr val="0000FF"/>
                </a:solidFill>
                <a:ea typeface="楷体_GB2312"/>
              </a:rPr>
              <a:t>1</a:t>
            </a:r>
            <a:r>
              <a:rPr lang="zh-CN" altLang="en-US" sz="2400">
                <a:solidFill>
                  <a:srgbClr val="0000FF"/>
                </a:solidFill>
                <a:ea typeface="楷体_GB2312"/>
              </a:rPr>
              <a:t>：</a:t>
            </a:r>
            <a:r>
              <a:rPr lang="zh-CN" altLang="en-US" sz="2400">
                <a:ea typeface="楷体_GB2312"/>
              </a:rPr>
              <a:t>在氢原子中，电子与质子之间的距离约为</a:t>
            </a:r>
            <a:r>
              <a:rPr lang="en-US" altLang="zh-CN" sz="2400">
                <a:ea typeface="楷体_GB2312"/>
              </a:rPr>
              <a:t>5.3×10</a:t>
            </a:r>
            <a:r>
              <a:rPr lang="en-US" altLang="zh-CN" sz="2400" baseline="30000">
                <a:ea typeface="楷体_GB2312"/>
              </a:rPr>
              <a:t>-11</a:t>
            </a:r>
            <a:r>
              <a:rPr lang="en-US" altLang="zh-CN" sz="2400">
                <a:ea typeface="楷体_GB2312"/>
              </a:rPr>
              <a:t>m</a:t>
            </a:r>
            <a:r>
              <a:rPr lang="zh-CN" altLang="en-US" sz="2400">
                <a:ea typeface="楷体_GB2312"/>
              </a:rPr>
              <a:t>，求它们之间的库仑力与万有引力，并比较它们的大小。</a:t>
            </a:r>
            <a:endParaRPr lang="zh-CN" altLang="en-US" sz="3600">
              <a:solidFill>
                <a:srgbClr val="FF3300"/>
              </a:solidFill>
              <a:ea typeface="楷体_GB2312"/>
            </a:endParaRPr>
          </a:p>
        </p:txBody>
      </p:sp>
      <p:sp>
        <p:nvSpPr>
          <p:cNvPr id="103427" name="Text Box 3"/>
          <p:cNvSpPr txBox="1">
            <a:spLocks noChangeArrowheads="1"/>
          </p:cNvSpPr>
          <p:nvPr/>
        </p:nvSpPr>
        <p:spPr bwMode="auto">
          <a:xfrm>
            <a:off x="74613" y="2708275"/>
            <a:ext cx="480060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解：氢原子核与电子可看作点电荷</a:t>
            </a:r>
          </a:p>
        </p:txBody>
      </p:sp>
      <p:graphicFrame>
        <p:nvGraphicFramePr>
          <p:cNvPr id="103428" name="Object 4"/>
          <p:cNvGraphicFramePr>
            <a:graphicFrameLocks noChangeAspect="1"/>
          </p:cNvGraphicFramePr>
          <p:nvPr/>
        </p:nvGraphicFramePr>
        <p:xfrm>
          <a:off x="1979613" y="3175000"/>
          <a:ext cx="5607050" cy="785813"/>
        </p:xfrm>
        <a:graphic>
          <a:graphicData uri="http://schemas.openxmlformats.org/presentationml/2006/ole">
            <mc:AlternateContent xmlns:mc="http://schemas.openxmlformats.org/markup-compatibility/2006">
              <mc:Choice xmlns:v="urn:schemas-microsoft-com:vml" Requires="v">
                <p:oleObj spid="_x0000_s141620" name="公式" r:id="rId3" imgW="3263900" imgH="457200" progId="Equation.3">
                  <p:embed/>
                </p:oleObj>
              </mc:Choice>
              <mc:Fallback>
                <p:oleObj name="公式" r:id="rId3" imgW="3263900" imgH="457200" progId="Equation.3">
                  <p:embed/>
                  <p:pic>
                    <p:nvPicPr>
                      <p:cNvPr id="10342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613" y="3175000"/>
                        <a:ext cx="5607050"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3429" name="Text Box 5"/>
          <p:cNvSpPr txBox="1">
            <a:spLocks noChangeArrowheads="1"/>
          </p:cNvSpPr>
          <p:nvPr/>
        </p:nvSpPr>
        <p:spPr bwMode="auto">
          <a:xfrm>
            <a:off x="290513" y="3848100"/>
            <a:ext cx="172085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万有引力为</a:t>
            </a:r>
          </a:p>
        </p:txBody>
      </p:sp>
      <p:graphicFrame>
        <p:nvGraphicFramePr>
          <p:cNvPr id="103430" name="Object 6"/>
          <p:cNvGraphicFramePr>
            <a:graphicFrameLocks noChangeAspect="1"/>
          </p:cNvGraphicFramePr>
          <p:nvPr/>
        </p:nvGraphicFramePr>
        <p:xfrm>
          <a:off x="1493838" y="4221163"/>
          <a:ext cx="7345362" cy="779462"/>
        </p:xfrm>
        <a:graphic>
          <a:graphicData uri="http://schemas.openxmlformats.org/presentationml/2006/ole">
            <mc:AlternateContent xmlns:mc="http://schemas.openxmlformats.org/markup-compatibility/2006">
              <mc:Choice xmlns:v="urn:schemas-microsoft-com:vml" Requires="v">
                <p:oleObj spid="_x0000_s141621" name="Equation" r:id="rId5" imgW="4178300" imgH="444500" progId="Equation.DSMT4">
                  <p:embed/>
                </p:oleObj>
              </mc:Choice>
              <mc:Fallback>
                <p:oleObj name="Equation" r:id="rId5" imgW="4178300" imgH="444500" progId="Equation.DSMT4">
                  <p:embed/>
                  <p:pic>
                    <p:nvPicPr>
                      <p:cNvPr id="10343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3838" y="4221163"/>
                        <a:ext cx="7345362"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3431" name="Text Box 7"/>
          <p:cNvSpPr txBox="1">
            <a:spLocks noChangeArrowheads="1"/>
          </p:cNvSpPr>
          <p:nvPr/>
        </p:nvSpPr>
        <p:spPr bwMode="auto">
          <a:xfrm>
            <a:off x="415925" y="5087938"/>
            <a:ext cx="140652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两值比较</a:t>
            </a:r>
          </a:p>
        </p:txBody>
      </p:sp>
      <p:graphicFrame>
        <p:nvGraphicFramePr>
          <p:cNvPr id="103432" name="Object 8"/>
          <p:cNvGraphicFramePr>
            <a:graphicFrameLocks noChangeAspect="1"/>
          </p:cNvGraphicFramePr>
          <p:nvPr/>
        </p:nvGraphicFramePr>
        <p:xfrm>
          <a:off x="304800" y="5486400"/>
          <a:ext cx="3810000" cy="1014413"/>
        </p:xfrm>
        <a:graphic>
          <a:graphicData uri="http://schemas.openxmlformats.org/presentationml/2006/ole">
            <mc:AlternateContent xmlns:mc="http://schemas.openxmlformats.org/markup-compatibility/2006">
              <mc:Choice xmlns:v="urn:schemas-microsoft-com:vml" Requires="v">
                <p:oleObj spid="_x0000_s141622" name="公式" r:id="rId7" imgW="1765300" imgH="469900" progId="Equation.3">
                  <p:embed/>
                </p:oleObj>
              </mc:Choice>
              <mc:Fallback>
                <p:oleObj name="公式" r:id="rId7" imgW="1765300" imgH="469900" progId="Equation.3">
                  <p:embed/>
                  <p:pic>
                    <p:nvPicPr>
                      <p:cNvPr id="103432"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800" y="5486400"/>
                        <a:ext cx="3810000" cy="10144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433" name="Text Box 9"/>
          <p:cNvSpPr txBox="1">
            <a:spLocks noChangeArrowheads="1"/>
          </p:cNvSpPr>
          <p:nvPr/>
        </p:nvSpPr>
        <p:spPr bwMode="auto">
          <a:xfrm>
            <a:off x="4343400" y="5105400"/>
            <a:ext cx="4648200" cy="1562100"/>
          </a:xfrm>
          <a:prstGeom prst="rect">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结论：库仑力比万有引力大得多，所以在原子中，作用在电子上的力，主要是电场力，万有引力完全可以忽略不计。</a:t>
            </a:r>
          </a:p>
        </p:txBody>
      </p:sp>
      <p:pic>
        <p:nvPicPr>
          <p:cNvPr id="30730" name="Picture 5" descr="23T01"/>
          <p:cNvPicPr>
            <a:picLocks noChangeAspect="1" noChangeArrowheads="1"/>
          </p:cNvPicPr>
          <p:nvPr/>
        </p:nvPicPr>
        <p:blipFill>
          <a:blip r:embed="rId9">
            <a:extLst>
              <a:ext uri="{28A0092B-C50C-407E-A947-70E740481C1C}">
                <a14:useLocalDpi xmlns:a14="http://schemas.microsoft.com/office/drawing/2010/main" val="0"/>
              </a:ext>
            </a:extLst>
          </a:blip>
          <a:srcRect t="13989" b="3651"/>
          <a:stretch>
            <a:fillRect/>
          </a:stretch>
        </p:blipFill>
        <p:spPr bwMode="auto">
          <a:xfrm>
            <a:off x="1389063" y="1008063"/>
            <a:ext cx="6351587" cy="177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79314311"/>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103427">
                                            <p:txEl>
                                              <p:pRg st="0" end="0"/>
                                            </p:txEl>
                                          </p:spTgt>
                                        </p:tgtEl>
                                        <p:attrNameLst>
                                          <p:attrName>style.visibility</p:attrName>
                                        </p:attrNameLst>
                                      </p:cBhvr>
                                      <p:to>
                                        <p:strVal val="visible"/>
                                      </p:to>
                                    </p:set>
                                    <p:animEffect transition="in" filter="wipe(left)">
                                      <p:cBhvr>
                                        <p:cTn id="7" dur="75"/>
                                        <p:tgtEl>
                                          <p:spTgt spid="1034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3428"/>
                                        </p:tgtEl>
                                        <p:attrNameLst>
                                          <p:attrName>style.visibility</p:attrName>
                                        </p:attrNameLst>
                                      </p:cBhvr>
                                      <p:to>
                                        <p:strVal val="visible"/>
                                      </p:to>
                                    </p:set>
                                    <p:animEffect transition="in" filter="wipe(left)">
                                      <p:cBhvr>
                                        <p:cTn id="12" dur="500"/>
                                        <p:tgtEl>
                                          <p:spTgt spid="10342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3429"/>
                                        </p:tgtEl>
                                        <p:attrNameLst>
                                          <p:attrName>style.visibility</p:attrName>
                                        </p:attrNameLst>
                                      </p:cBhvr>
                                      <p:to>
                                        <p:strVal val="visible"/>
                                      </p:to>
                                    </p:set>
                                    <p:animEffect transition="in" filter="wipe(left)">
                                      <p:cBhvr>
                                        <p:cTn id="17" dur="500"/>
                                        <p:tgtEl>
                                          <p:spTgt spid="10342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3430"/>
                                        </p:tgtEl>
                                        <p:attrNameLst>
                                          <p:attrName>style.visibility</p:attrName>
                                        </p:attrNameLst>
                                      </p:cBhvr>
                                      <p:to>
                                        <p:strVal val="visible"/>
                                      </p:to>
                                    </p:set>
                                    <p:animEffect transition="in" filter="wipe(left)">
                                      <p:cBhvr>
                                        <p:cTn id="22" dur="500"/>
                                        <p:tgtEl>
                                          <p:spTgt spid="10343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3431"/>
                                        </p:tgtEl>
                                        <p:attrNameLst>
                                          <p:attrName>style.visibility</p:attrName>
                                        </p:attrNameLst>
                                      </p:cBhvr>
                                      <p:to>
                                        <p:strVal val="visible"/>
                                      </p:to>
                                    </p:set>
                                    <p:animEffect transition="in" filter="wipe(left)">
                                      <p:cBhvr>
                                        <p:cTn id="27" dur="500"/>
                                        <p:tgtEl>
                                          <p:spTgt spid="10343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03432"/>
                                        </p:tgtEl>
                                        <p:attrNameLst>
                                          <p:attrName>style.visibility</p:attrName>
                                        </p:attrNameLst>
                                      </p:cBhvr>
                                      <p:to>
                                        <p:strVal val="visible"/>
                                      </p:to>
                                    </p:set>
                                    <p:animEffect transition="in" filter="wipe(left)">
                                      <p:cBhvr>
                                        <p:cTn id="32" dur="500"/>
                                        <p:tgtEl>
                                          <p:spTgt spid="10343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3433">
                                            <p:bg/>
                                          </p:spTgt>
                                        </p:tgtEl>
                                        <p:attrNameLst>
                                          <p:attrName>style.visibility</p:attrName>
                                        </p:attrNameLst>
                                      </p:cBhvr>
                                      <p:to>
                                        <p:strVal val="visible"/>
                                      </p:to>
                                    </p:set>
                                    <p:animEffect transition="in" filter="wipe(left)">
                                      <p:cBhvr>
                                        <p:cTn id="37" dur="75"/>
                                        <p:tgtEl>
                                          <p:spTgt spid="103433">
                                            <p:bg/>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lt">
                                    <p:tmPct val="100000"/>
                                  </p:iterate>
                                  <p:childTnLst>
                                    <p:set>
                                      <p:cBhvr>
                                        <p:cTn id="41" dur="1" fill="hold">
                                          <p:stCondLst>
                                            <p:cond delay="0"/>
                                          </p:stCondLst>
                                        </p:cTn>
                                        <p:tgtEl>
                                          <p:spTgt spid="103433">
                                            <p:txEl>
                                              <p:pRg st="0" end="0"/>
                                            </p:txEl>
                                          </p:spTgt>
                                        </p:tgtEl>
                                        <p:attrNameLst>
                                          <p:attrName>style.visibility</p:attrName>
                                        </p:attrNameLst>
                                      </p:cBhvr>
                                      <p:to>
                                        <p:strVal val="visible"/>
                                      </p:to>
                                    </p:set>
                                    <p:animEffect transition="in" filter="wipe(left)">
                                      <p:cBhvr>
                                        <p:cTn id="42" dur="75"/>
                                        <p:tgtEl>
                                          <p:spTgt spid="10343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build="p" autoUpdateAnimBg="0"/>
      <p:bldP spid="103429" grpId="0" autoUpdateAnimBg="0"/>
      <p:bldP spid="103431" grpId="0" autoUpdateAnimBg="0"/>
      <p:bldP spid="103433" grpId="0" build="p"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122238"/>
            <a:ext cx="8362950" cy="1295400"/>
          </a:xfrm>
        </p:spPr>
        <p:txBody>
          <a:bodyPr/>
          <a:lstStyle/>
          <a:p>
            <a:r>
              <a:rPr lang="en-US" altLang="zh-CN" sz="3200" dirty="0"/>
              <a:t>Superposition Principle, Example</a:t>
            </a:r>
            <a:r>
              <a:rPr lang="en-US" altLang="zh-CN" sz="3200" dirty="0">
                <a:solidFill>
                  <a:srgbClr val="FF0000"/>
                </a:solidFill>
              </a:rPr>
              <a:t> :</a:t>
            </a:r>
            <a:br>
              <a:rPr lang="en-US" altLang="zh-CN" sz="3200" dirty="0">
                <a:solidFill>
                  <a:srgbClr val="FF0000"/>
                </a:solidFill>
              </a:rPr>
            </a:br>
            <a:r>
              <a:rPr lang="en-US" altLang="zh-CN" sz="3200" dirty="0">
                <a:solidFill>
                  <a:srgbClr val="FF0000"/>
                </a:solidFill>
              </a:rPr>
              <a:t>Find the </a:t>
            </a:r>
            <a:r>
              <a:rPr lang="en-US" altLang="zh-CN" sz="3200" i="1" dirty="0">
                <a:solidFill>
                  <a:srgbClr val="FF0000"/>
                </a:solidFill>
              </a:rPr>
              <a:t>resultant force</a:t>
            </a:r>
            <a:r>
              <a:rPr lang="en-US" altLang="zh-CN" sz="3200" dirty="0">
                <a:solidFill>
                  <a:srgbClr val="FF0000"/>
                </a:solidFill>
              </a:rPr>
              <a:t> exerted on </a:t>
            </a:r>
            <a:r>
              <a:rPr lang="en-US" altLang="zh-CN" sz="3200" i="1" dirty="0">
                <a:solidFill>
                  <a:srgbClr val="FF0000"/>
                </a:solidFill>
              </a:rPr>
              <a:t>q</a:t>
            </a:r>
            <a:r>
              <a:rPr lang="en-US" altLang="zh-CN" sz="3200" baseline="-25000" dirty="0">
                <a:solidFill>
                  <a:srgbClr val="FF0000"/>
                </a:solidFill>
              </a:rPr>
              <a:t>3</a:t>
            </a:r>
            <a:r>
              <a:rPr lang="en-US" altLang="zh-CN" sz="3200" dirty="0">
                <a:solidFill>
                  <a:srgbClr val="FF0000"/>
                </a:solidFill>
              </a:rPr>
              <a:t> </a:t>
            </a:r>
            <a:endParaRPr lang="en-US" altLang="zh-CN" sz="3200" dirty="0"/>
          </a:p>
        </p:txBody>
      </p:sp>
      <p:sp>
        <p:nvSpPr>
          <p:cNvPr id="31747" name="Rectangle 3"/>
          <p:cNvSpPr>
            <a:spLocks noGrp="1" noChangeArrowheads="1"/>
          </p:cNvSpPr>
          <p:nvPr>
            <p:ph type="body" sz="half" idx="1"/>
          </p:nvPr>
        </p:nvSpPr>
        <p:spPr/>
        <p:txBody>
          <a:bodyPr/>
          <a:lstStyle/>
          <a:p>
            <a:r>
              <a:rPr lang="en-US" altLang="zh-CN" sz="2600"/>
              <a:t>The force exerted by </a:t>
            </a:r>
            <a:r>
              <a:rPr lang="en-US" altLang="zh-CN" sz="2600" i="1"/>
              <a:t>q</a:t>
            </a:r>
            <a:r>
              <a:rPr lang="en-US" altLang="zh-CN" sz="2600" baseline="-25000"/>
              <a:t>1</a:t>
            </a:r>
            <a:r>
              <a:rPr lang="en-US" altLang="zh-CN" sz="2600"/>
              <a:t> on </a:t>
            </a:r>
            <a:r>
              <a:rPr lang="en-US" altLang="zh-CN" sz="2600" i="1"/>
              <a:t>q</a:t>
            </a:r>
            <a:r>
              <a:rPr lang="en-US" altLang="zh-CN" sz="2600" baseline="-25000"/>
              <a:t>3 </a:t>
            </a:r>
            <a:r>
              <a:rPr lang="en-US" altLang="zh-CN" sz="2600"/>
              <a:t> is</a:t>
            </a:r>
          </a:p>
          <a:p>
            <a:r>
              <a:rPr lang="en-US" altLang="zh-CN" sz="2600"/>
              <a:t>The force exerted by </a:t>
            </a:r>
            <a:r>
              <a:rPr lang="en-US" altLang="zh-CN" sz="2600" i="1"/>
              <a:t>q</a:t>
            </a:r>
            <a:r>
              <a:rPr lang="en-US" altLang="zh-CN" sz="2600" baseline="-25000"/>
              <a:t>2</a:t>
            </a:r>
            <a:r>
              <a:rPr lang="en-US" altLang="zh-CN" sz="2600"/>
              <a:t> on </a:t>
            </a:r>
            <a:r>
              <a:rPr lang="en-US" altLang="zh-CN" sz="2600" i="1"/>
              <a:t>q</a:t>
            </a:r>
            <a:r>
              <a:rPr lang="en-US" altLang="zh-CN" sz="2600" baseline="-25000"/>
              <a:t>3</a:t>
            </a:r>
            <a:r>
              <a:rPr lang="en-US" altLang="zh-CN" sz="2600"/>
              <a:t> is</a:t>
            </a:r>
          </a:p>
          <a:p>
            <a:r>
              <a:rPr lang="en-US" altLang="zh-CN" sz="2600">
                <a:solidFill>
                  <a:srgbClr val="FF0000"/>
                </a:solidFill>
              </a:rPr>
              <a:t>The </a:t>
            </a:r>
            <a:r>
              <a:rPr lang="en-US" altLang="zh-CN" sz="2600" i="1">
                <a:solidFill>
                  <a:srgbClr val="FF0000"/>
                </a:solidFill>
              </a:rPr>
              <a:t>resultant force</a:t>
            </a:r>
            <a:r>
              <a:rPr lang="en-US" altLang="zh-CN" sz="2600">
                <a:solidFill>
                  <a:srgbClr val="FF0000"/>
                </a:solidFill>
              </a:rPr>
              <a:t> exerted on </a:t>
            </a:r>
            <a:r>
              <a:rPr lang="en-US" altLang="zh-CN" sz="2600" i="1">
                <a:solidFill>
                  <a:srgbClr val="FF0000"/>
                </a:solidFill>
              </a:rPr>
              <a:t>q</a:t>
            </a:r>
            <a:r>
              <a:rPr lang="en-US" altLang="zh-CN" sz="2600" baseline="-25000">
                <a:solidFill>
                  <a:srgbClr val="FF0000"/>
                </a:solidFill>
              </a:rPr>
              <a:t>3</a:t>
            </a:r>
            <a:r>
              <a:rPr lang="en-US" altLang="zh-CN" sz="2600">
                <a:solidFill>
                  <a:srgbClr val="FF0000"/>
                </a:solidFill>
              </a:rPr>
              <a:t> is the vector sum of       and</a:t>
            </a:r>
          </a:p>
        </p:txBody>
      </p:sp>
      <p:graphicFrame>
        <p:nvGraphicFramePr>
          <p:cNvPr id="31748" name="Object 9"/>
          <p:cNvGraphicFramePr>
            <a:graphicFrameLocks noChangeAspect="1"/>
          </p:cNvGraphicFramePr>
          <p:nvPr/>
        </p:nvGraphicFramePr>
        <p:xfrm>
          <a:off x="2133600" y="2133600"/>
          <a:ext cx="493713" cy="533400"/>
        </p:xfrm>
        <a:graphic>
          <a:graphicData uri="http://schemas.openxmlformats.org/presentationml/2006/ole">
            <mc:AlternateContent xmlns:mc="http://schemas.openxmlformats.org/markup-compatibility/2006">
              <mc:Choice xmlns:v="urn:schemas-microsoft-com:vml" Requires="v">
                <p:oleObj spid="_x0000_s142746" name="Equation" r:id="rId4" imgW="241195" imgH="304668" progId="Equation.DSMT4">
                  <p:embed/>
                </p:oleObj>
              </mc:Choice>
              <mc:Fallback>
                <p:oleObj name="Equation" r:id="rId4" imgW="241195" imgH="304668" progId="Equation.DSMT4">
                  <p:embed/>
                  <p:pic>
                    <p:nvPicPr>
                      <p:cNvPr id="31748"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3600" y="2133600"/>
                        <a:ext cx="49371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49" name="Object 10"/>
          <p:cNvGraphicFramePr>
            <a:graphicFrameLocks noGrp="1" noChangeAspect="1"/>
          </p:cNvGraphicFramePr>
          <p:nvPr>
            <p:ph sz="quarter" idx="3"/>
          </p:nvPr>
        </p:nvGraphicFramePr>
        <p:xfrm>
          <a:off x="2057400" y="2984500"/>
          <a:ext cx="422275" cy="506413"/>
        </p:xfrm>
        <a:graphic>
          <a:graphicData uri="http://schemas.openxmlformats.org/presentationml/2006/ole">
            <mc:AlternateContent xmlns:mc="http://schemas.openxmlformats.org/markup-compatibility/2006">
              <mc:Choice xmlns:v="urn:schemas-microsoft-com:vml" Requires="v">
                <p:oleObj spid="_x0000_s142747" name="Equation" r:id="rId6" imgW="253780" imgH="304536" progId="Equation.DSMT4">
                  <p:embed/>
                </p:oleObj>
              </mc:Choice>
              <mc:Fallback>
                <p:oleObj name="Equation" r:id="rId6" imgW="253780" imgH="304536" progId="Equation.DSMT4">
                  <p:embed/>
                  <p:pic>
                    <p:nvPicPr>
                      <p:cNvPr id="31749"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57400" y="2984500"/>
                        <a:ext cx="422275"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0" name="Object 12"/>
          <p:cNvGraphicFramePr>
            <a:graphicFrameLocks noChangeAspect="1"/>
          </p:cNvGraphicFramePr>
          <p:nvPr/>
        </p:nvGraphicFramePr>
        <p:xfrm>
          <a:off x="1835150" y="4221163"/>
          <a:ext cx="592138" cy="533400"/>
        </p:xfrm>
        <a:graphic>
          <a:graphicData uri="http://schemas.openxmlformats.org/presentationml/2006/ole">
            <mc:AlternateContent xmlns:mc="http://schemas.openxmlformats.org/markup-compatibility/2006">
              <mc:Choice xmlns:v="urn:schemas-microsoft-com:vml" Requires="v">
                <p:oleObj spid="_x0000_s142748" name="Equation" r:id="rId8" imgW="241195" imgH="304668" progId="Equation.DSMT4">
                  <p:embed/>
                </p:oleObj>
              </mc:Choice>
              <mc:Fallback>
                <p:oleObj name="Equation" r:id="rId8" imgW="241195" imgH="304668" progId="Equation.DSMT4">
                  <p:embed/>
                  <p:pic>
                    <p:nvPicPr>
                      <p:cNvPr id="3175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5150" y="4221163"/>
                        <a:ext cx="59213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51" name="Object 13"/>
          <p:cNvGraphicFramePr>
            <a:graphicFrameLocks noChangeAspect="1"/>
          </p:cNvGraphicFramePr>
          <p:nvPr/>
        </p:nvGraphicFramePr>
        <p:xfrm>
          <a:off x="3059113" y="4292600"/>
          <a:ext cx="568325" cy="533400"/>
        </p:xfrm>
        <a:graphic>
          <a:graphicData uri="http://schemas.openxmlformats.org/presentationml/2006/ole">
            <mc:AlternateContent xmlns:mc="http://schemas.openxmlformats.org/markup-compatibility/2006">
              <mc:Choice xmlns:v="urn:schemas-microsoft-com:vml" Requires="v">
                <p:oleObj spid="_x0000_s142749" name="Equation" r:id="rId9" imgW="253780" imgH="304536" progId="Equation.DSMT4">
                  <p:embed/>
                </p:oleObj>
              </mc:Choice>
              <mc:Fallback>
                <p:oleObj name="Equation" r:id="rId9" imgW="253780" imgH="304536" progId="Equation.DSMT4">
                  <p:embed/>
                  <p:pic>
                    <p:nvPicPr>
                      <p:cNvPr id="31751"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59113" y="4292600"/>
                        <a:ext cx="5683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4584" name="Picture 15" descr="2307"/>
          <p:cNvPicPr>
            <a:picLocks noChangeAspect="1" noChangeArrowheads="1"/>
          </p:cNvPicPr>
          <p:nvPr/>
        </p:nvPicPr>
        <p:blipFill>
          <a:blip r:embed="rId10"/>
          <a:srcRect/>
          <a:stretch>
            <a:fillRect/>
          </a:stretch>
        </p:blipFill>
        <p:spPr bwMode="auto">
          <a:xfrm>
            <a:off x="5003800" y="2133600"/>
            <a:ext cx="3984625" cy="3824288"/>
          </a:xfrm>
          <a:prstGeom prst="rect">
            <a:avLst/>
          </a:prstGeom>
          <a:noFill/>
          <a:ln>
            <a:noFill/>
          </a:ln>
          <a:effectLst>
            <a:outerShdw blurRad="50800" dist="50800" dir="5400000" algn="ctr" rotWithShape="0">
              <a:srgbClr val="000000">
                <a:alpha val="1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直接箭头连接符 4"/>
          <p:cNvCxnSpPr>
            <a:cxnSpLocks noChangeShapeType="1"/>
          </p:cNvCxnSpPr>
          <p:nvPr/>
        </p:nvCxnSpPr>
        <p:spPr bwMode="auto">
          <a:xfrm flipH="1" flipV="1">
            <a:off x="7740650" y="2303463"/>
            <a:ext cx="296863" cy="827087"/>
          </a:xfrm>
          <a:prstGeom prst="straightConnector1">
            <a:avLst/>
          </a:prstGeom>
          <a:noFill/>
          <a:ln w="57150" algn="ctr">
            <a:solidFill>
              <a:srgbClr val="00B0F0"/>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接箭头连接符 6"/>
          <p:cNvCxnSpPr>
            <a:cxnSpLocks noChangeShapeType="1"/>
          </p:cNvCxnSpPr>
          <p:nvPr/>
        </p:nvCxnSpPr>
        <p:spPr bwMode="auto">
          <a:xfrm flipH="1">
            <a:off x="7740650" y="2303463"/>
            <a:ext cx="1008063" cy="0"/>
          </a:xfrm>
          <a:prstGeom prst="straightConnector1">
            <a:avLst/>
          </a:prstGeom>
          <a:noFill/>
          <a:ln w="38100" algn="ctr">
            <a:solidFill>
              <a:srgbClr val="00B0F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接箭头连接符 9"/>
          <p:cNvCxnSpPr>
            <a:cxnSpLocks noChangeShapeType="1"/>
          </p:cNvCxnSpPr>
          <p:nvPr/>
        </p:nvCxnSpPr>
        <p:spPr bwMode="auto">
          <a:xfrm flipV="1">
            <a:off x="6996113" y="2303463"/>
            <a:ext cx="744537" cy="765175"/>
          </a:xfrm>
          <a:prstGeom prst="straightConnector1">
            <a:avLst/>
          </a:prstGeom>
          <a:noFill/>
          <a:ln w="38100" algn="ctr">
            <a:solidFill>
              <a:srgbClr val="00B0F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Box 12"/>
          <p:cNvSpPr txBox="1">
            <a:spLocks noChangeArrowheads="1"/>
          </p:cNvSpPr>
          <p:nvPr/>
        </p:nvSpPr>
        <p:spPr bwMode="auto">
          <a:xfrm>
            <a:off x="7367588" y="1665288"/>
            <a:ext cx="4683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a:ea typeface="楷体_GB2312"/>
              </a:rPr>
              <a:t>F</a:t>
            </a:r>
            <a:endParaRPr lang="zh-CN" altLang="en-US" sz="3600">
              <a:ea typeface="楷体_GB2312"/>
            </a:endParaRPr>
          </a:p>
        </p:txBody>
      </p:sp>
    </p:spTree>
    <p:extLst>
      <p:ext uri="{BB962C8B-B14F-4D97-AF65-F5344CB8AC3E}">
        <p14:creationId xmlns:p14="http://schemas.microsoft.com/office/powerpoint/2010/main" val="607158684"/>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774700" y="115888"/>
            <a:ext cx="7772400" cy="1143000"/>
          </a:xfrm>
        </p:spPr>
        <p:txBody>
          <a:bodyPr/>
          <a:lstStyle/>
          <a:p>
            <a:r>
              <a:rPr lang="en-US" altLang="zh-CN"/>
              <a:t>Zero Resultant Force, Example:</a:t>
            </a:r>
            <a:br>
              <a:rPr lang="en-US" altLang="zh-CN"/>
            </a:br>
            <a:r>
              <a:rPr lang="en-US" altLang="zh-CN" sz="3200">
                <a:solidFill>
                  <a:srgbClr val="FF0000"/>
                </a:solidFill>
              </a:rPr>
              <a:t>What is the </a:t>
            </a:r>
            <a:r>
              <a:rPr lang="en-US" altLang="zh-CN" sz="3200" i="1">
                <a:solidFill>
                  <a:srgbClr val="FF0000"/>
                </a:solidFill>
              </a:rPr>
              <a:t>x</a:t>
            </a:r>
            <a:r>
              <a:rPr lang="en-US" altLang="zh-CN" sz="3200">
                <a:solidFill>
                  <a:srgbClr val="FF0000"/>
                </a:solidFill>
              </a:rPr>
              <a:t> coordinate of </a:t>
            </a:r>
            <a:r>
              <a:rPr lang="en-US" altLang="zh-CN" sz="3200" i="1">
                <a:solidFill>
                  <a:srgbClr val="FF0000"/>
                </a:solidFill>
              </a:rPr>
              <a:t>q</a:t>
            </a:r>
            <a:r>
              <a:rPr lang="en-US" altLang="zh-CN" sz="3200" baseline="-25000">
                <a:solidFill>
                  <a:srgbClr val="FF0000"/>
                </a:solidFill>
              </a:rPr>
              <a:t>3 </a:t>
            </a:r>
            <a:r>
              <a:rPr lang="en-US" altLang="zh-CN" sz="3200">
                <a:solidFill>
                  <a:srgbClr val="FF0000"/>
                </a:solidFill>
              </a:rPr>
              <a:t>?</a:t>
            </a:r>
          </a:p>
        </p:txBody>
      </p:sp>
      <p:sp>
        <p:nvSpPr>
          <p:cNvPr id="33795" name="Rectangle 3"/>
          <p:cNvSpPr>
            <a:spLocks noGrp="1" noChangeArrowheads="1"/>
          </p:cNvSpPr>
          <p:nvPr>
            <p:ph type="body" sz="half" idx="1"/>
          </p:nvPr>
        </p:nvSpPr>
        <p:spPr/>
        <p:txBody>
          <a:bodyPr/>
          <a:lstStyle/>
          <a:p>
            <a:pPr>
              <a:lnSpc>
                <a:spcPct val="90000"/>
              </a:lnSpc>
            </a:pPr>
            <a:r>
              <a:rPr lang="en-US" altLang="zh-CN" sz="2600"/>
              <a:t>Where is the resultant force equal to zero?</a:t>
            </a:r>
          </a:p>
          <a:p>
            <a:pPr lvl="1">
              <a:lnSpc>
                <a:spcPct val="90000"/>
              </a:lnSpc>
            </a:pPr>
            <a:r>
              <a:rPr lang="en-US" altLang="zh-CN" sz="2200"/>
              <a:t>The magnitudes of the individual forces will be equal</a:t>
            </a:r>
          </a:p>
          <a:p>
            <a:pPr lvl="1">
              <a:lnSpc>
                <a:spcPct val="90000"/>
              </a:lnSpc>
            </a:pPr>
            <a:r>
              <a:rPr lang="en-US" altLang="zh-CN" sz="2200"/>
              <a:t>Directions will be opposite</a:t>
            </a:r>
          </a:p>
          <a:p>
            <a:pPr>
              <a:lnSpc>
                <a:spcPct val="90000"/>
              </a:lnSpc>
            </a:pPr>
            <a:r>
              <a:rPr lang="en-US" altLang="zh-CN" sz="2600"/>
              <a:t>Will result in a quadratic</a:t>
            </a:r>
          </a:p>
          <a:p>
            <a:pPr>
              <a:lnSpc>
                <a:spcPct val="90000"/>
              </a:lnSpc>
            </a:pPr>
            <a:r>
              <a:rPr lang="en-US" altLang="zh-CN" sz="2600"/>
              <a:t>Choose the root that gives the forces in opposite directions</a:t>
            </a:r>
          </a:p>
        </p:txBody>
      </p:sp>
      <p:pic>
        <p:nvPicPr>
          <p:cNvPr id="33796" name="Picture 10" descr="230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0900" y="2362200"/>
            <a:ext cx="4483100" cy="290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9594019"/>
      </p:ext>
    </p:extLst>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611188" y="0"/>
            <a:ext cx="7772400" cy="1143000"/>
          </a:xfrm>
        </p:spPr>
        <p:txBody>
          <a:bodyPr/>
          <a:lstStyle/>
          <a:p>
            <a:r>
              <a:rPr lang="en-US" altLang="zh-CN" sz="2800" b="1"/>
              <a:t>Electrical Force with Other Forces, Example:</a:t>
            </a:r>
            <a:br>
              <a:rPr lang="en-US" altLang="zh-CN" sz="2800" b="1"/>
            </a:br>
            <a:r>
              <a:rPr lang="en-US" altLang="zh-CN" sz="2800" b="1">
                <a:solidFill>
                  <a:srgbClr val="FF0000"/>
                </a:solidFill>
              </a:rPr>
              <a:t>Find the magnitude of the charge on each sphere</a:t>
            </a:r>
          </a:p>
        </p:txBody>
      </p:sp>
      <p:sp>
        <p:nvSpPr>
          <p:cNvPr id="35843" name="Rectangle 3"/>
          <p:cNvSpPr>
            <a:spLocks noGrp="1" noChangeArrowheads="1"/>
          </p:cNvSpPr>
          <p:nvPr>
            <p:ph type="body" sz="half" idx="1"/>
          </p:nvPr>
        </p:nvSpPr>
        <p:spPr>
          <a:xfrm>
            <a:off x="0" y="1125538"/>
            <a:ext cx="4349750" cy="3024187"/>
          </a:xfrm>
        </p:spPr>
        <p:txBody>
          <a:bodyPr/>
          <a:lstStyle/>
          <a:p>
            <a:r>
              <a:rPr lang="en-US" altLang="zh-CN" sz="2200" b="1"/>
              <a:t>The spheres are in equilibrium</a:t>
            </a:r>
          </a:p>
          <a:p>
            <a:r>
              <a:rPr lang="en-US" altLang="zh-CN" sz="2200" b="1"/>
              <a:t>Since they are separated, they exert a repulsive force on each other</a:t>
            </a:r>
          </a:p>
          <a:p>
            <a:pPr lvl="1"/>
            <a:r>
              <a:rPr lang="en-US" altLang="zh-CN" sz="2000" b="1">
                <a:solidFill>
                  <a:srgbClr val="FF0000"/>
                </a:solidFill>
              </a:rPr>
              <a:t>Charges are like charges</a:t>
            </a:r>
          </a:p>
          <a:p>
            <a:r>
              <a:rPr lang="en-US" altLang="zh-CN" sz="2200" b="1"/>
              <a:t>Proceed as usual with equilibrium problems, noting one force is an electrical force</a:t>
            </a:r>
          </a:p>
        </p:txBody>
      </p:sp>
      <p:pic>
        <p:nvPicPr>
          <p:cNvPr id="35844" name="Picture 6" descr="23-10a"/>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356100" y="1017588"/>
            <a:ext cx="2460625" cy="3546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Picture 9" descr="2309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9925" y="1196975"/>
            <a:ext cx="1984375" cy="318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p:cNvSpPr txBox="1">
            <a:spLocks noChangeArrowheads="1"/>
          </p:cNvSpPr>
          <p:nvPr/>
        </p:nvSpPr>
        <p:spPr bwMode="auto">
          <a:xfrm>
            <a:off x="0" y="4652963"/>
            <a:ext cx="9432925" cy="2005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pPr>
            <a:r>
              <a:rPr lang="en-US" altLang="zh-CN" sz="2600">
                <a:ea typeface="楷体_GB2312"/>
              </a:rPr>
              <a:t>The free body diagram includes the components of the tension, the electrical force, and the weight</a:t>
            </a:r>
          </a:p>
          <a:p>
            <a:pPr>
              <a:lnSpc>
                <a:spcPct val="90000"/>
              </a:lnSpc>
            </a:pPr>
            <a:r>
              <a:rPr lang="en-US" altLang="zh-CN" sz="2600">
                <a:ea typeface="楷体_GB2312"/>
              </a:rPr>
              <a:t>Solve for |</a:t>
            </a:r>
            <a:r>
              <a:rPr lang="en-US" altLang="zh-CN" sz="2600" i="1">
                <a:ea typeface="楷体_GB2312"/>
              </a:rPr>
              <a:t>q</a:t>
            </a:r>
            <a:r>
              <a:rPr lang="en-US" altLang="zh-CN" sz="2600">
                <a:ea typeface="楷体_GB2312"/>
              </a:rPr>
              <a:t>| </a:t>
            </a:r>
          </a:p>
          <a:p>
            <a:pPr>
              <a:lnSpc>
                <a:spcPct val="90000"/>
              </a:lnSpc>
            </a:pPr>
            <a:r>
              <a:rPr lang="en-US" altLang="zh-CN" sz="2600">
                <a:ea typeface="楷体_GB2312"/>
              </a:rPr>
              <a:t>You cannot determine the sign of </a:t>
            </a:r>
            <a:r>
              <a:rPr lang="en-US" altLang="zh-CN" sz="2600" i="1">
                <a:ea typeface="楷体_GB2312"/>
              </a:rPr>
              <a:t>q</a:t>
            </a:r>
            <a:r>
              <a:rPr lang="en-US" altLang="zh-CN" sz="2600">
                <a:ea typeface="楷体_GB2312"/>
              </a:rPr>
              <a:t>, only that they both have same sign</a:t>
            </a:r>
          </a:p>
        </p:txBody>
      </p:sp>
    </p:spTree>
    <p:extLst>
      <p:ext uri="{BB962C8B-B14F-4D97-AF65-F5344CB8AC3E}">
        <p14:creationId xmlns:p14="http://schemas.microsoft.com/office/powerpoint/2010/main" val="4163169949"/>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6" name="Text Box 6"/>
          <p:cNvSpPr txBox="1">
            <a:spLocks noChangeArrowheads="1"/>
          </p:cNvSpPr>
          <p:nvPr/>
        </p:nvSpPr>
        <p:spPr bwMode="auto">
          <a:xfrm>
            <a:off x="408256" y="764357"/>
            <a:ext cx="5891935" cy="905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pPr>
            <a:r>
              <a:rPr lang="en-US" altLang="zh-CN" sz="2300">
                <a:solidFill>
                  <a:srgbClr val="3333FF"/>
                </a:solidFill>
              </a:rPr>
              <a:t> </a:t>
            </a:r>
            <a:r>
              <a:rPr lang="en-US" altLang="zh-CN" sz="2300" dirty="0">
                <a:solidFill>
                  <a:srgbClr val="3333FF"/>
                </a:solidFill>
              </a:rPr>
              <a:t>DNA</a:t>
            </a:r>
            <a:r>
              <a:rPr lang="zh-CN" altLang="en-US" sz="2300" dirty="0">
                <a:solidFill>
                  <a:srgbClr val="3333FF"/>
                </a:solidFill>
              </a:rPr>
              <a:t>（脱氧核糖核酸</a:t>
            </a:r>
            <a:r>
              <a:rPr lang="en-US" altLang="zh-CN" sz="2300" dirty="0">
                <a:solidFill>
                  <a:srgbClr val="3333FF"/>
                </a:solidFill>
              </a:rPr>
              <a:t>deoxyribonucleic acid</a:t>
            </a:r>
            <a:r>
              <a:rPr lang="zh-CN" altLang="en-US" sz="2300" dirty="0">
                <a:solidFill>
                  <a:srgbClr val="3333FF"/>
                </a:solidFill>
              </a:rPr>
              <a:t>）</a:t>
            </a:r>
            <a:r>
              <a:rPr lang="zh-CN" altLang="en-US" sz="2300" dirty="0">
                <a:solidFill>
                  <a:schemeClr val="tx1"/>
                </a:solidFill>
              </a:rPr>
              <a:t>是由脱氧核糖</a:t>
            </a:r>
            <a:r>
              <a:rPr lang="en-US" altLang="zh-CN" sz="2300" dirty="0">
                <a:solidFill>
                  <a:schemeClr val="tx1"/>
                </a:solidFill>
              </a:rPr>
              <a:t>(S)</a:t>
            </a:r>
            <a:r>
              <a:rPr lang="zh-CN" altLang="en-US" sz="2300" dirty="0">
                <a:solidFill>
                  <a:schemeClr val="tx1"/>
                </a:solidFill>
              </a:rPr>
              <a:t>、磷酸盐和碱基组成。</a:t>
            </a:r>
          </a:p>
        </p:txBody>
      </p:sp>
      <p:sp>
        <p:nvSpPr>
          <p:cNvPr id="266247" name="Text Box 7"/>
          <p:cNvSpPr txBox="1">
            <a:spLocks noChangeArrowheads="1"/>
          </p:cNvSpPr>
          <p:nvPr/>
        </p:nvSpPr>
        <p:spPr bwMode="auto">
          <a:xfrm>
            <a:off x="69833" y="5303455"/>
            <a:ext cx="8353425" cy="905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en-US" sz="2300">
                <a:solidFill>
                  <a:schemeClr val="tx1"/>
                </a:solidFill>
              </a:rPr>
              <a:t>碱基的配对原则是腺嘌令</a:t>
            </a:r>
            <a:r>
              <a:rPr lang="en-US" altLang="zh-CN" sz="2300">
                <a:solidFill>
                  <a:schemeClr val="tx1"/>
                </a:solidFill>
              </a:rPr>
              <a:t>(A)</a:t>
            </a:r>
            <a:r>
              <a:rPr lang="zh-CN" altLang="en-US" sz="2300">
                <a:solidFill>
                  <a:schemeClr val="tx1"/>
                </a:solidFill>
              </a:rPr>
              <a:t>与胸腺嘧啶</a:t>
            </a:r>
            <a:r>
              <a:rPr lang="en-US" altLang="zh-CN" sz="2300">
                <a:solidFill>
                  <a:schemeClr val="tx1"/>
                </a:solidFill>
              </a:rPr>
              <a:t>(T)</a:t>
            </a:r>
            <a:r>
              <a:rPr lang="zh-CN" altLang="en-US" sz="2300">
                <a:solidFill>
                  <a:schemeClr val="tx1"/>
                </a:solidFill>
              </a:rPr>
              <a:t>，鸟嘌呤</a:t>
            </a:r>
            <a:r>
              <a:rPr lang="en-US" altLang="zh-CN" sz="2300">
                <a:solidFill>
                  <a:schemeClr val="tx1"/>
                </a:solidFill>
              </a:rPr>
              <a:t>(G)</a:t>
            </a:r>
            <a:r>
              <a:rPr lang="zh-CN" altLang="en-US" sz="2300">
                <a:solidFill>
                  <a:schemeClr val="tx1"/>
                </a:solidFill>
              </a:rPr>
              <a:t>与胞核嘧啶</a:t>
            </a:r>
            <a:r>
              <a:rPr lang="en-US" altLang="zh-CN" sz="2300">
                <a:solidFill>
                  <a:schemeClr val="tx1"/>
                </a:solidFill>
              </a:rPr>
              <a:t>(C)</a:t>
            </a:r>
            <a:r>
              <a:rPr lang="zh-CN" altLang="en-US" sz="2300">
                <a:solidFill>
                  <a:schemeClr val="tx1"/>
                </a:solidFill>
              </a:rPr>
              <a:t>，即</a:t>
            </a:r>
            <a:r>
              <a:rPr lang="en-US" altLang="zh-CN" sz="2300">
                <a:solidFill>
                  <a:schemeClr val="tx1"/>
                </a:solidFill>
              </a:rPr>
              <a:t>AT</a:t>
            </a:r>
            <a:r>
              <a:rPr lang="zh-CN" altLang="en-US" sz="2300">
                <a:solidFill>
                  <a:schemeClr val="tx1"/>
                </a:solidFill>
              </a:rPr>
              <a:t>、</a:t>
            </a:r>
            <a:r>
              <a:rPr lang="en-US" altLang="zh-CN" sz="2300">
                <a:solidFill>
                  <a:schemeClr val="tx1"/>
                </a:solidFill>
              </a:rPr>
              <a:t>TA</a:t>
            </a:r>
            <a:r>
              <a:rPr lang="zh-CN" altLang="en-US" sz="2300">
                <a:solidFill>
                  <a:schemeClr val="tx1"/>
                </a:solidFill>
              </a:rPr>
              <a:t>、</a:t>
            </a:r>
            <a:r>
              <a:rPr lang="en-US" altLang="zh-CN" sz="2300">
                <a:solidFill>
                  <a:schemeClr val="tx1"/>
                </a:solidFill>
              </a:rPr>
              <a:t>GC</a:t>
            </a:r>
            <a:r>
              <a:rPr lang="zh-CN" altLang="en-US" sz="2300">
                <a:solidFill>
                  <a:schemeClr val="tx1"/>
                </a:solidFill>
              </a:rPr>
              <a:t>、</a:t>
            </a:r>
            <a:r>
              <a:rPr lang="en-US" altLang="zh-CN" sz="2300">
                <a:solidFill>
                  <a:schemeClr val="tx1"/>
                </a:solidFill>
              </a:rPr>
              <a:t>CG</a:t>
            </a:r>
            <a:r>
              <a:rPr lang="zh-CN" altLang="en-US" sz="2300">
                <a:solidFill>
                  <a:schemeClr val="tx1"/>
                </a:solidFill>
              </a:rPr>
              <a:t>。通过氢键结合。</a:t>
            </a:r>
          </a:p>
        </p:txBody>
      </p:sp>
      <p:sp>
        <p:nvSpPr>
          <p:cNvPr id="266250" name="Text Box 10"/>
          <p:cNvSpPr txBox="1">
            <a:spLocks noChangeArrowheads="1"/>
          </p:cNvSpPr>
          <p:nvPr/>
        </p:nvSpPr>
        <p:spPr bwMode="auto">
          <a:xfrm>
            <a:off x="322759" y="115888"/>
            <a:ext cx="5113337" cy="565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sz="2800" dirty="0">
                <a:solidFill>
                  <a:schemeClr val="tx1"/>
                </a:solidFill>
              </a:rPr>
              <a:t>DNA</a:t>
            </a:r>
            <a:r>
              <a:rPr lang="zh-CN" altLang="en-US" sz="2800" dirty="0">
                <a:solidFill>
                  <a:schemeClr val="tx1"/>
                </a:solidFill>
              </a:rPr>
              <a:t>分子的静电力螺旋结构</a:t>
            </a:r>
          </a:p>
        </p:txBody>
      </p:sp>
      <p:sp>
        <p:nvSpPr>
          <p:cNvPr id="266251" name="Text Box 11"/>
          <p:cNvSpPr txBox="1">
            <a:spLocks noChangeArrowheads="1"/>
          </p:cNvSpPr>
          <p:nvPr/>
        </p:nvSpPr>
        <p:spPr bwMode="auto">
          <a:xfrm>
            <a:off x="412820" y="4344917"/>
            <a:ext cx="6228184" cy="905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pPr>
            <a:r>
              <a:rPr lang="en-US" altLang="zh-CN" sz="2300">
                <a:solidFill>
                  <a:schemeClr val="tx1"/>
                </a:solidFill>
              </a:rPr>
              <a:t> </a:t>
            </a:r>
            <a:r>
              <a:rPr lang="zh-CN" altLang="en-US" sz="2300" dirty="0">
                <a:solidFill>
                  <a:schemeClr val="tx1"/>
                </a:solidFill>
              </a:rPr>
              <a:t>两条核苷酸链通过碱基之间的静电力作用配对连接形成双螺形结构的</a:t>
            </a:r>
            <a:r>
              <a:rPr lang="en-US" altLang="zh-CN" sz="2300" dirty="0">
                <a:solidFill>
                  <a:schemeClr val="tx1"/>
                </a:solidFill>
              </a:rPr>
              <a:t>DNA</a:t>
            </a:r>
            <a:r>
              <a:rPr lang="zh-CN" altLang="en-US" sz="2300" dirty="0">
                <a:solidFill>
                  <a:schemeClr val="tx1"/>
                </a:solidFill>
              </a:rPr>
              <a:t>分子。 </a:t>
            </a:r>
          </a:p>
        </p:txBody>
      </p:sp>
      <p:sp>
        <p:nvSpPr>
          <p:cNvPr id="266252" name="Text Box 12"/>
          <p:cNvSpPr txBox="1">
            <a:spLocks noChangeArrowheads="1"/>
          </p:cNvSpPr>
          <p:nvPr/>
        </p:nvSpPr>
        <p:spPr bwMode="auto">
          <a:xfrm>
            <a:off x="303367" y="3621978"/>
            <a:ext cx="6065141" cy="4809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pPr>
            <a:r>
              <a:rPr lang="zh-CN" altLang="en-US" sz="2300">
                <a:solidFill>
                  <a:schemeClr val="tx1"/>
                </a:solidFill>
              </a:rPr>
              <a:t>脱氧核糖和磷酸盐交替连接形成多核苷酸链。</a:t>
            </a:r>
          </a:p>
        </p:txBody>
      </p:sp>
      <p:pic>
        <p:nvPicPr>
          <p:cNvPr id="266253" name="Picture 13" descr="T7-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08991" y="666145"/>
            <a:ext cx="1476375" cy="338455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0C3BB82F-67CC-4AE7-B47E-5583694890A3}"/>
              </a:ext>
            </a:extLst>
          </p:cNvPr>
          <p:cNvSpPr/>
          <p:nvPr/>
        </p:nvSpPr>
        <p:spPr>
          <a:xfrm>
            <a:off x="322759" y="1956886"/>
            <a:ext cx="6175771" cy="1508105"/>
          </a:xfrm>
          <a:prstGeom prst="rect">
            <a:avLst/>
          </a:prstGeom>
        </p:spPr>
        <p:txBody>
          <a:bodyPr wrap="square">
            <a:spAutoFit/>
          </a:bodyPr>
          <a:lstStyle/>
          <a:p>
            <a:r>
              <a:rPr lang="en-US" altLang="zh-CN" sz="2300">
                <a:solidFill>
                  <a:schemeClr val="tx1"/>
                </a:solidFill>
              </a:rPr>
              <a:t>DNA</a:t>
            </a:r>
            <a:r>
              <a:rPr lang="zh-CN" altLang="en-US" sz="2300">
                <a:solidFill>
                  <a:schemeClr val="tx1"/>
                </a:solidFill>
              </a:rPr>
              <a:t>双链的磷酸基团带有负电荷，这些电荷会相互排斥。为了中和这种排斥力，溶液中的阳离子（如</a:t>
            </a:r>
            <a:r>
              <a:rPr lang="en-US" altLang="zh-CN" sz="2300">
                <a:solidFill>
                  <a:schemeClr val="tx1"/>
                </a:solidFill>
              </a:rPr>
              <a:t>Mg²⁺</a:t>
            </a:r>
            <a:r>
              <a:rPr lang="zh-CN" altLang="en-US" sz="2300">
                <a:solidFill>
                  <a:schemeClr val="tx1"/>
                </a:solidFill>
              </a:rPr>
              <a:t>、</a:t>
            </a:r>
            <a:r>
              <a:rPr lang="en-US" altLang="zh-CN" sz="2300">
                <a:solidFill>
                  <a:schemeClr val="tx1"/>
                </a:solidFill>
              </a:rPr>
              <a:t>Na⁺</a:t>
            </a:r>
            <a:r>
              <a:rPr lang="zh-CN" altLang="en-US" sz="2300">
                <a:solidFill>
                  <a:schemeClr val="tx1"/>
                </a:solidFill>
              </a:rPr>
              <a:t>）会与磷酸骨架结合，形成离子键，从而稳定双螺旋结构</a:t>
            </a:r>
          </a:p>
        </p:txBody>
      </p:sp>
    </p:spTree>
    <p:extLst>
      <p:ext uri="{BB962C8B-B14F-4D97-AF65-F5344CB8AC3E}">
        <p14:creationId xmlns:p14="http://schemas.microsoft.com/office/powerpoint/2010/main" val="3797080413"/>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66250"/>
                                        </p:tgtEl>
                                        <p:attrNameLst>
                                          <p:attrName>style.visibility</p:attrName>
                                        </p:attrNameLst>
                                      </p:cBhvr>
                                      <p:to>
                                        <p:strVal val="visible"/>
                                      </p:to>
                                    </p:set>
                                    <p:animEffect transition="in" filter="wipe(left)">
                                      <p:cBhvr>
                                        <p:cTn id="7" dur="500"/>
                                        <p:tgtEl>
                                          <p:spTgt spid="2662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6246"/>
                                        </p:tgtEl>
                                        <p:attrNameLst>
                                          <p:attrName>style.visibility</p:attrName>
                                        </p:attrNameLst>
                                      </p:cBhvr>
                                      <p:to>
                                        <p:strVal val="visible"/>
                                      </p:to>
                                    </p:set>
                                    <p:animEffect transition="in" filter="wipe(left)">
                                      <p:cBhvr>
                                        <p:cTn id="12" dur="500"/>
                                        <p:tgtEl>
                                          <p:spTgt spid="2662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6625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66252"/>
                                        </p:tgtEl>
                                        <p:attrNameLst>
                                          <p:attrName>style.visibility</p:attrName>
                                        </p:attrNameLst>
                                      </p:cBhvr>
                                      <p:to>
                                        <p:strVal val="visible"/>
                                      </p:to>
                                    </p:set>
                                    <p:animEffect transition="in" filter="wipe(left)">
                                      <p:cBhvr>
                                        <p:cTn id="25" dur="500"/>
                                        <p:tgtEl>
                                          <p:spTgt spid="26625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66251"/>
                                        </p:tgtEl>
                                        <p:attrNameLst>
                                          <p:attrName>style.visibility</p:attrName>
                                        </p:attrNameLst>
                                      </p:cBhvr>
                                      <p:to>
                                        <p:strVal val="visible"/>
                                      </p:to>
                                    </p:set>
                                    <p:animEffect transition="in" filter="wipe(left)">
                                      <p:cBhvr>
                                        <p:cTn id="30" dur="500"/>
                                        <p:tgtEl>
                                          <p:spTgt spid="26625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66247"/>
                                        </p:tgtEl>
                                        <p:attrNameLst>
                                          <p:attrName>style.visibility</p:attrName>
                                        </p:attrNameLst>
                                      </p:cBhvr>
                                      <p:to>
                                        <p:strVal val="visible"/>
                                      </p:to>
                                    </p:set>
                                    <p:animEffect transition="in" filter="wipe(left)">
                                      <p:cBhvr>
                                        <p:cTn id="35" dur="500"/>
                                        <p:tgtEl>
                                          <p:spTgt spid="266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6" grpId="0"/>
      <p:bldP spid="266247" grpId="0"/>
      <p:bldP spid="266250" grpId="0"/>
      <p:bldP spid="266251" grpId="0"/>
      <p:bldP spid="266252" grpId="0"/>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611188" y="620713"/>
            <a:ext cx="7772400" cy="1143000"/>
          </a:xfrm>
        </p:spPr>
        <p:txBody>
          <a:bodyPr/>
          <a:lstStyle/>
          <a:p>
            <a:r>
              <a:rPr lang="en-US" altLang="zh-CN"/>
              <a:t>Introduction</a:t>
            </a:r>
          </a:p>
        </p:txBody>
      </p:sp>
      <p:sp>
        <p:nvSpPr>
          <p:cNvPr id="37891" name="Rectangle 3"/>
          <p:cNvSpPr>
            <a:spLocks noGrp="1" noChangeArrowheads="1"/>
          </p:cNvSpPr>
          <p:nvPr>
            <p:ph type="body" idx="1"/>
          </p:nvPr>
        </p:nvSpPr>
        <p:spPr>
          <a:xfrm>
            <a:off x="319088" y="1700213"/>
            <a:ext cx="8604250" cy="4321175"/>
          </a:xfrm>
        </p:spPr>
        <p:txBody>
          <a:bodyPr/>
          <a:lstStyle/>
          <a:p>
            <a:r>
              <a:rPr lang="en-US" altLang="zh-CN" sz="2400"/>
              <a:t>The electric force is a field force</a:t>
            </a:r>
          </a:p>
          <a:p>
            <a:r>
              <a:rPr lang="en-US" altLang="zh-CN" sz="2400"/>
              <a:t>Field forces can act through space</a:t>
            </a:r>
          </a:p>
          <a:p>
            <a:pPr lvl="1"/>
            <a:r>
              <a:rPr lang="en-US" altLang="zh-CN" sz="2400"/>
              <a:t>The effect is produced even with no physical contact between objects</a:t>
            </a:r>
          </a:p>
          <a:p>
            <a:r>
              <a:rPr lang="en-US" altLang="zh-CN" sz="2400"/>
              <a:t>Faraday developed the concept of a field in terms of electric fields</a:t>
            </a:r>
          </a:p>
          <a:p>
            <a:r>
              <a:rPr lang="en-US" altLang="zh-CN" sz="2400"/>
              <a:t>An </a:t>
            </a:r>
            <a:r>
              <a:rPr lang="en-US" altLang="zh-CN" sz="2400" b="1"/>
              <a:t>electric field</a:t>
            </a:r>
            <a:r>
              <a:rPr lang="en-US" altLang="zh-CN" sz="2400"/>
              <a:t> is said to exist in the region of space around a charged object</a:t>
            </a:r>
          </a:p>
          <a:p>
            <a:pPr lvl="1"/>
            <a:r>
              <a:rPr lang="en-US" altLang="zh-CN" sz="2400"/>
              <a:t>This charged object is the </a:t>
            </a:r>
            <a:r>
              <a:rPr lang="en-US" altLang="zh-CN" sz="2400" b="1"/>
              <a:t>source charge</a:t>
            </a:r>
          </a:p>
          <a:p>
            <a:r>
              <a:rPr lang="en-US" altLang="zh-CN" sz="2400"/>
              <a:t>When another charged object, the </a:t>
            </a:r>
            <a:r>
              <a:rPr lang="en-US" altLang="zh-CN" sz="2400" b="1"/>
              <a:t>test charge</a:t>
            </a:r>
            <a:r>
              <a:rPr lang="en-US" altLang="zh-CN" sz="2400"/>
              <a:t>, enters this electric field, an electric force acts on it</a:t>
            </a:r>
          </a:p>
          <a:p>
            <a:endParaRPr lang="en-US" altLang="zh-CN" sz="2400"/>
          </a:p>
        </p:txBody>
      </p:sp>
      <p:sp>
        <p:nvSpPr>
          <p:cNvPr id="37892" name="Text Box 2"/>
          <p:cNvSpPr txBox="1">
            <a:spLocks noChangeArrowheads="1"/>
          </p:cNvSpPr>
          <p:nvPr/>
        </p:nvSpPr>
        <p:spPr bwMode="auto">
          <a:xfrm>
            <a:off x="2195513" y="-26988"/>
            <a:ext cx="4851400"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3600">
                <a:solidFill>
                  <a:srgbClr val="FF3300"/>
                </a:solidFill>
                <a:ea typeface="楷体_GB2312"/>
              </a:rPr>
              <a:t>7-2 </a:t>
            </a:r>
            <a:r>
              <a:rPr lang="zh-CN" altLang="en-US" sz="3600">
                <a:solidFill>
                  <a:srgbClr val="FF3300"/>
                </a:solidFill>
                <a:ea typeface="楷体_GB2312"/>
              </a:rPr>
              <a:t>静电场   电场强度</a:t>
            </a:r>
            <a:endParaRPr lang="zh-CN" altLang="en-US" sz="2800" b="0">
              <a:ea typeface="楷体_GB2312"/>
            </a:endParaRPr>
          </a:p>
        </p:txBody>
      </p:sp>
    </p:spTree>
    <p:extLst>
      <p:ext uri="{BB962C8B-B14F-4D97-AF65-F5344CB8AC3E}">
        <p14:creationId xmlns:p14="http://schemas.microsoft.com/office/powerpoint/2010/main" val="2159106675"/>
      </p:ext>
    </p:extLst>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5030" name="Picture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6688" y="2565400"/>
            <a:ext cx="2322512"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5031" name="Group 39"/>
          <p:cNvGrpSpPr>
            <a:grpSpLocks/>
          </p:cNvGrpSpPr>
          <p:nvPr/>
        </p:nvGrpSpPr>
        <p:grpSpPr bwMode="auto">
          <a:xfrm>
            <a:off x="6948488" y="2998788"/>
            <a:ext cx="1655762" cy="1584325"/>
            <a:chOff x="4377" y="2115"/>
            <a:chExt cx="1043" cy="998"/>
          </a:xfrm>
        </p:grpSpPr>
        <p:grpSp>
          <p:nvGrpSpPr>
            <p:cNvPr id="39952" name="Group 40"/>
            <p:cNvGrpSpPr>
              <a:grpSpLocks/>
            </p:cNvGrpSpPr>
            <p:nvPr/>
          </p:nvGrpSpPr>
          <p:grpSpPr bwMode="auto">
            <a:xfrm>
              <a:off x="4377" y="2115"/>
              <a:ext cx="681" cy="681"/>
              <a:chOff x="1655" y="2024"/>
              <a:chExt cx="771" cy="817"/>
            </a:xfrm>
          </p:grpSpPr>
          <p:sp>
            <p:nvSpPr>
              <p:cNvPr id="39958" name="Oval 41"/>
              <p:cNvSpPr>
                <a:spLocks noChangeArrowheads="1"/>
              </p:cNvSpPr>
              <p:nvPr/>
            </p:nvSpPr>
            <p:spPr bwMode="auto">
              <a:xfrm>
                <a:off x="1655" y="2024"/>
                <a:ext cx="771" cy="817"/>
              </a:xfrm>
              <a:prstGeom prst="ellipse">
                <a:avLst/>
              </a:prstGeom>
              <a:solidFill>
                <a:schemeClr val="bg1">
                  <a:alpha val="0"/>
                </a:schemeClr>
              </a:solidFill>
              <a:ln w="12700">
                <a:solidFill>
                  <a:srgbClr val="FF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39959" name="Oval 42"/>
              <p:cNvSpPr>
                <a:spLocks noChangeArrowheads="1"/>
              </p:cNvSpPr>
              <p:nvPr/>
            </p:nvSpPr>
            <p:spPr bwMode="auto">
              <a:xfrm>
                <a:off x="1701" y="2070"/>
                <a:ext cx="680" cy="725"/>
              </a:xfrm>
              <a:prstGeom prst="ellipse">
                <a:avLst/>
              </a:prstGeom>
              <a:solidFill>
                <a:schemeClr val="bg1">
                  <a:alpha val="0"/>
                </a:schemeClr>
              </a:solidFill>
              <a:ln w="12700">
                <a:solidFill>
                  <a:srgbClr val="FF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39960" name="Oval 43"/>
              <p:cNvSpPr>
                <a:spLocks noChangeArrowheads="1"/>
              </p:cNvSpPr>
              <p:nvPr/>
            </p:nvSpPr>
            <p:spPr bwMode="auto">
              <a:xfrm>
                <a:off x="1746" y="2115"/>
                <a:ext cx="590" cy="635"/>
              </a:xfrm>
              <a:prstGeom prst="ellipse">
                <a:avLst/>
              </a:prstGeom>
              <a:solidFill>
                <a:schemeClr val="bg1">
                  <a:alpha val="0"/>
                </a:schemeClr>
              </a:solidFill>
              <a:ln w="12700">
                <a:solidFill>
                  <a:srgbClr val="FF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39961" name="Oval 44"/>
              <p:cNvSpPr>
                <a:spLocks noChangeArrowheads="1"/>
              </p:cNvSpPr>
              <p:nvPr/>
            </p:nvSpPr>
            <p:spPr bwMode="auto">
              <a:xfrm>
                <a:off x="1791" y="2160"/>
                <a:ext cx="499" cy="543"/>
              </a:xfrm>
              <a:prstGeom prst="ellipse">
                <a:avLst/>
              </a:prstGeom>
              <a:solidFill>
                <a:schemeClr val="bg1">
                  <a:alpha val="0"/>
                </a:schemeClr>
              </a:solidFill>
              <a:ln w="12700">
                <a:solidFill>
                  <a:srgbClr val="FF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pSp>
        <p:grpSp>
          <p:nvGrpSpPr>
            <p:cNvPr id="39953" name="Group 45"/>
            <p:cNvGrpSpPr>
              <a:grpSpLocks/>
            </p:cNvGrpSpPr>
            <p:nvPr/>
          </p:nvGrpSpPr>
          <p:grpSpPr bwMode="auto">
            <a:xfrm>
              <a:off x="4921" y="2614"/>
              <a:ext cx="499" cy="499"/>
              <a:chOff x="1655" y="2024"/>
              <a:chExt cx="771" cy="817"/>
            </a:xfrm>
          </p:grpSpPr>
          <p:sp>
            <p:nvSpPr>
              <p:cNvPr id="39954" name="Oval 46"/>
              <p:cNvSpPr>
                <a:spLocks noChangeArrowheads="1"/>
              </p:cNvSpPr>
              <p:nvPr/>
            </p:nvSpPr>
            <p:spPr bwMode="auto">
              <a:xfrm>
                <a:off x="1655" y="2024"/>
                <a:ext cx="771" cy="817"/>
              </a:xfrm>
              <a:prstGeom prst="ellipse">
                <a:avLst/>
              </a:prstGeom>
              <a:solidFill>
                <a:schemeClr val="bg1">
                  <a:alpha val="0"/>
                </a:schemeClr>
              </a:solidFill>
              <a:ln w="1270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39955" name="Oval 47"/>
              <p:cNvSpPr>
                <a:spLocks noChangeArrowheads="1"/>
              </p:cNvSpPr>
              <p:nvPr/>
            </p:nvSpPr>
            <p:spPr bwMode="auto">
              <a:xfrm>
                <a:off x="1701" y="2070"/>
                <a:ext cx="680" cy="725"/>
              </a:xfrm>
              <a:prstGeom prst="ellipse">
                <a:avLst/>
              </a:prstGeom>
              <a:solidFill>
                <a:schemeClr val="bg1">
                  <a:alpha val="0"/>
                </a:schemeClr>
              </a:solidFill>
              <a:ln w="1270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39956" name="Oval 48"/>
              <p:cNvSpPr>
                <a:spLocks noChangeArrowheads="1"/>
              </p:cNvSpPr>
              <p:nvPr/>
            </p:nvSpPr>
            <p:spPr bwMode="auto">
              <a:xfrm>
                <a:off x="1746" y="2115"/>
                <a:ext cx="590" cy="635"/>
              </a:xfrm>
              <a:prstGeom prst="ellipse">
                <a:avLst/>
              </a:prstGeom>
              <a:solidFill>
                <a:schemeClr val="bg1">
                  <a:alpha val="0"/>
                </a:schemeClr>
              </a:solidFill>
              <a:ln w="1270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39957" name="Oval 49"/>
              <p:cNvSpPr>
                <a:spLocks noChangeArrowheads="1"/>
              </p:cNvSpPr>
              <p:nvPr/>
            </p:nvSpPr>
            <p:spPr bwMode="auto">
              <a:xfrm>
                <a:off x="1791" y="2160"/>
                <a:ext cx="499" cy="543"/>
              </a:xfrm>
              <a:prstGeom prst="ellipse">
                <a:avLst/>
              </a:prstGeom>
              <a:solidFill>
                <a:schemeClr val="bg1">
                  <a:alpha val="0"/>
                </a:schemeClr>
              </a:solidFill>
              <a:ln w="1270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pSp>
      </p:grpSp>
      <p:sp>
        <p:nvSpPr>
          <p:cNvPr id="84995" name="Text Box 3"/>
          <p:cNvSpPr txBox="1">
            <a:spLocks noChangeArrowheads="1"/>
          </p:cNvSpPr>
          <p:nvPr/>
        </p:nvSpPr>
        <p:spPr bwMode="auto">
          <a:xfrm>
            <a:off x="76200" y="255588"/>
            <a:ext cx="2767013" cy="390525"/>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type="none" w="sm" len="sm"/>
                <a:tailEnd type="none" w="sm" len="sm"/>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a:solidFill>
                  <a:schemeClr val="folHlink"/>
                </a:solidFill>
                <a:latin typeface="Arial" panose="020B0604020202020204" pitchFamily="34" charset="0"/>
                <a:ea typeface="楷体_GB2312"/>
              </a:rPr>
              <a:t>一、静电场</a:t>
            </a:r>
          </a:p>
        </p:txBody>
      </p:sp>
      <p:sp>
        <p:nvSpPr>
          <p:cNvPr id="84996" name="Text Box 4"/>
          <p:cNvSpPr txBox="1">
            <a:spLocks noChangeArrowheads="1"/>
          </p:cNvSpPr>
          <p:nvPr/>
        </p:nvSpPr>
        <p:spPr bwMode="auto">
          <a:xfrm>
            <a:off x="0" y="1066800"/>
            <a:ext cx="8839200" cy="1878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FF"/>
                </a:solidFill>
                <a:ea typeface="楷体_GB2312"/>
              </a:rPr>
              <a:t> 1</a:t>
            </a:r>
            <a:r>
              <a:rPr lang="zh-CN" altLang="en-US" sz="2800">
                <a:solidFill>
                  <a:srgbClr val="0000FF"/>
                </a:solidFill>
                <a:ea typeface="楷体_GB2312"/>
              </a:rPr>
              <a:t>、电场的概念</a:t>
            </a:r>
            <a:endParaRPr lang="zh-CN" altLang="en-US" sz="2400">
              <a:ea typeface="楷体_GB2312"/>
            </a:endParaRPr>
          </a:p>
          <a:p>
            <a:pPr lvl="1" eaLnBrk="1" hangingPunct="1">
              <a:spcBef>
                <a:spcPct val="0"/>
              </a:spcBef>
              <a:buFontTx/>
              <a:buNone/>
            </a:pPr>
            <a:r>
              <a:rPr lang="zh-CN" altLang="en-US" sz="2200">
                <a:solidFill>
                  <a:srgbClr val="FF3300"/>
                </a:solidFill>
                <a:latin typeface="宋体" panose="02010600030101010101" pitchFamily="2" charset="-122"/>
                <a:ea typeface="楷体_GB2312"/>
              </a:rPr>
              <a:t>超距作用</a:t>
            </a:r>
            <a:r>
              <a:rPr lang="en-US" altLang="zh-CN" sz="2200">
                <a:solidFill>
                  <a:srgbClr val="FF3300"/>
                </a:solidFill>
                <a:latin typeface="宋体" panose="02010600030101010101" pitchFamily="2" charset="-122"/>
                <a:ea typeface="楷体_GB2312"/>
              </a:rPr>
              <a:t>:</a:t>
            </a:r>
            <a:r>
              <a:rPr lang="zh-CN" altLang="en-US" sz="2200">
                <a:latin typeface="宋体" panose="02010600030101010101" pitchFamily="2" charset="-122"/>
                <a:ea typeface="楷体_GB2312"/>
              </a:rPr>
              <a:t>一个带电体受到另一个带电体的作用是直接给与的</a:t>
            </a:r>
            <a:r>
              <a:rPr lang="en-US" altLang="zh-CN" sz="2200">
                <a:latin typeface="宋体" panose="02010600030101010101" pitchFamily="2" charset="-122"/>
                <a:ea typeface="楷体_GB2312"/>
              </a:rPr>
              <a:t>,</a:t>
            </a:r>
            <a:r>
              <a:rPr lang="zh-CN" altLang="en-US" sz="2200">
                <a:latin typeface="宋体" panose="02010600030101010101" pitchFamily="2" charset="-122"/>
                <a:ea typeface="楷体_GB2312"/>
              </a:rPr>
              <a:t>无需中间媒介和时间</a:t>
            </a:r>
            <a:r>
              <a:rPr lang="en-US" altLang="zh-CN" sz="2200">
                <a:latin typeface="宋体" panose="02010600030101010101" pitchFamily="2" charset="-122"/>
                <a:ea typeface="楷体_GB2312"/>
              </a:rPr>
              <a:t>.(</a:t>
            </a:r>
            <a:r>
              <a:rPr lang="zh-CN" altLang="en-US" sz="2200">
                <a:solidFill>
                  <a:srgbClr val="FF3300"/>
                </a:solidFill>
                <a:latin typeface="宋体" panose="02010600030101010101" pitchFamily="2" charset="-122"/>
                <a:ea typeface="楷体_GB2312"/>
              </a:rPr>
              <a:t>错误观点</a:t>
            </a:r>
            <a:r>
              <a:rPr lang="en-US" altLang="zh-CN" sz="2200">
                <a:latin typeface="宋体" panose="02010600030101010101" pitchFamily="2" charset="-122"/>
                <a:ea typeface="楷体_GB2312"/>
              </a:rPr>
              <a:t>)</a:t>
            </a:r>
          </a:p>
          <a:p>
            <a:pPr lvl="1" eaLnBrk="1" hangingPunct="1">
              <a:spcBef>
                <a:spcPct val="0"/>
              </a:spcBef>
              <a:buFontTx/>
              <a:buNone/>
            </a:pPr>
            <a:r>
              <a:rPr lang="zh-CN" altLang="en-US" sz="2200">
                <a:solidFill>
                  <a:srgbClr val="FF3300"/>
                </a:solidFill>
                <a:ea typeface="楷体_GB2312"/>
              </a:rPr>
              <a:t>近距作用</a:t>
            </a:r>
            <a:r>
              <a:rPr lang="zh-CN" altLang="en-US" sz="2200">
                <a:ea typeface="楷体_GB2312"/>
              </a:rPr>
              <a:t>电荷之间的相互作用是通过电场传递的，或者说电荷周围存在有</a:t>
            </a:r>
            <a:r>
              <a:rPr lang="zh-CN" altLang="en-US" sz="2200">
                <a:solidFill>
                  <a:srgbClr val="FF3300"/>
                </a:solidFill>
                <a:ea typeface="楷体_GB2312"/>
              </a:rPr>
              <a:t>电场</a:t>
            </a:r>
            <a:r>
              <a:rPr lang="zh-CN" altLang="en-US" sz="2200">
                <a:ea typeface="楷体_GB2312"/>
              </a:rPr>
              <a:t>。在该电场的任何带电体，都受到电场的作用力。</a:t>
            </a:r>
          </a:p>
        </p:txBody>
      </p:sp>
      <p:sp>
        <p:nvSpPr>
          <p:cNvPr id="84998" name="Text Box 6"/>
          <p:cNvSpPr txBox="1">
            <a:spLocks noChangeArrowheads="1"/>
          </p:cNvSpPr>
          <p:nvPr/>
        </p:nvSpPr>
        <p:spPr bwMode="auto">
          <a:xfrm>
            <a:off x="365125" y="3789363"/>
            <a:ext cx="3559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FF"/>
                </a:solidFill>
                <a:ea typeface="楷体_GB2312"/>
              </a:rPr>
              <a:t>2</a:t>
            </a:r>
            <a:r>
              <a:rPr lang="zh-CN" altLang="en-US" sz="2800">
                <a:solidFill>
                  <a:srgbClr val="0000FF"/>
                </a:solidFill>
                <a:ea typeface="楷体_GB2312"/>
              </a:rPr>
              <a:t>、电场的物质性</a:t>
            </a:r>
            <a:endParaRPr lang="zh-CN" altLang="en-US" sz="2400">
              <a:ea typeface="楷体_GB2312"/>
            </a:endParaRPr>
          </a:p>
        </p:txBody>
      </p:sp>
      <p:sp>
        <p:nvSpPr>
          <p:cNvPr id="84999" name="Text Box 7"/>
          <p:cNvSpPr txBox="1">
            <a:spLocks noChangeArrowheads="1"/>
          </p:cNvSpPr>
          <p:nvPr/>
        </p:nvSpPr>
        <p:spPr bwMode="auto">
          <a:xfrm>
            <a:off x="381000" y="4387850"/>
            <a:ext cx="87630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r>
              <a:rPr lang="zh-CN" altLang="en-US" sz="2400">
                <a:ea typeface="楷体_GB2312"/>
              </a:rPr>
              <a:t>给电场中的带电体施以</a:t>
            </a:r>
            <a:r>
              <a:rPr lang="zh-CN" altLang="en-US" sz="2400">
                <a:solidFill>
                  <a:srgbClr val="FF3300"/>
                </a:solidFill>
                <a:ea typeface="楷体_GB2312"/>
              </a:rPr>
              <a:t>力</a:t>
            </a:r>
            <a:r>
              <a:rPr lang="zh-CN" altLang="en-US" sz="2400">
                <a:ea typeface="楷体_GB2312"/>
              </a:rPr>
              <a:t>的作用。</a:t>
            </a:r>
          </a:p>
          <a:p>
            <a:pPr eaLnBrk="1" hangingPunct="1">
              <a:spcBef>
                <a:spcPct val="0"/>
              </a:spcBef>
            </a:pPr>
            <a:r>
              <a:rPr lang="zh-CN" altLang="en-US" sz="2400">
                <a:ea typeface="楷体_GB2312"/>
              </a:rPr>
              <a:t>当带电体在电场中移动时，电场力作功；表明电场具有</a:t>
            </a:r>
            <a:r>
              <a:rPr lang="zh-CN" altLang="en-US" sz="2400">
                <a:solidFill>
                  <a:srgbClr val="FF3300"/>
                </a:solidFill>
                <a:ea typeface="楷体_GB2312"/>
              </a:rPr>
              <a:t>能量</a:t>
            </a:r>
            <a:r>
              <a:rPr lang="zh-CN" altLang="en-US" sz="2400">
                <a:ea typeface="楷体_GB2312"/>
              </a:rPr>
              <a:t>。</a:t>
            </a:r>
          </a:p>
          <a:p>
            <a:pPr eaLnBrk="1" hangingPunct="1">
              <a:spcBef>
                <a:spcPct val="0"/>
              </a:spcBef>
            </a:pPr>
            <a:r>
              <a:rPr lang="zh-CN" altLang="en-US" sz="2400">
                <a:ea typeface="楷体_GB2312"/>
              </a:rPr>
              <a:t>变化的电场以光速在空间传播，</a:t>
            </a:r>
            <a:r>
              <a:rPr lang="zh-CN" altLang="en-US" sz="2400">
                <a:solidFill>
                  <a:srgbClr val="000000"/>
                </a:solidFill>
                <a:ea typeface="楷体_GB2312"/>
              </a:rPr>
              <a:t>表明电场具有</a:t>
            </a:r>
            <a:r>
              <a:rPr lang="zh-CN" altLang="en-US" sz="2400">
                <a:solidFill>
                  <a:srgbClr val="FF3300"/>
                </a:solidFill>
                <a:ea typeface="楷体_GB2312"/>
              </a:rPr>
              <a:t>动量。</a:t>
            </a:r>
            <a:endParaRPr lang="zh-CN" altLang="en-US" sz="2400">
              <a:solidFill>
                <a:srgbClr val="000000"/>
              </a:solidFill>
              <a:ea typeface="楷体_GB2312"/>
            </a:endParaRPr>
          </a:p>
        </p:txBody>
      </p:sp>
      <p:sp>
        <p:nvSpPr>
          <p:cNvPr id="85008" name="Text Box 16"/>
          <p:cNvSpPr txBox="1">
            <a:spLocks noChangeArrowheads="1"/>
          </p:cNvSpPr>
          <p:nvPr/>
        </p:nvSpPr>
        <p:spPr bwMode="auto">
          <a:xfrm>
            <a:off x="179388" y="5661025"/>
            <a:ext cx="8459787" cy="469900"/>
          </a:xfrm>
          <a:prstGeom prst="rect">
            <a:avLst/>
          </a:prstGeom>
          <a:solidFill>
            <a:srgbClr val="FFFF66"/>
          </a:solidFill>
          <a:ln w="12700" cap="sq">
            <a:solidFill>
              <a:srgbClr val="FF00FF"/>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0000FF"/>
                </a:solidFill>
                <a:ea typeface="楷体_GB2312"/>
              </a:rPr>
              <a:t>表明电场具有动量、质量、能量，体现了它的物质性</a:t>
            </a:r>
            <a:r>
              <a:rPr lang="en-US" altLang="zh-CN" sz="2400">
                <a:solidFill>
                  <a:srgbClr val="0000FF"/>
                </a:solidFill>
                <a:ea typeface="楷体_GB2312"/>
              </a:rPr>
              <a:t>.</a:t>
            </a:r>
            <a:endParaRPr lang="en-US" altLang="zh-CN" sz="2400" b="0">
              <a:ea typeface="楷体_GB2312"/>
            </a:endParaRPr>
          </a:p>
        </p:txBody>
      </p:sp>
      <p:sp>
        <p:nvSpPr>
          <p:cNvPr id="85011" name="Text Box 19"/>
          <p:cNvSpPr txBox="1">
            <a:spLocks noChangeArrowheads="1"/>
          </p:cNvSpPr>
          <p:nvPr/>
        </p:nvSpPr>
        <p:spPr bwMode="auto">
          <a:xfrm>
            <a:off x="381000" y="6218238"/>
            <a:ext cx="80835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FF"/>
                </a:solidFill>
                <a:ea typeface="楷体_GB2312"/>
              </a:rPr>
              <a:t>3</a:t>
            </a:r>
            <a:r>
              <a:rPr lang="zh-CN" altLang="en-US" sz="2800">
                <a:solidFill>
                  <a:srgbClr val="0000FF"/>
                </a:solidFill>
                <a:ea typeface="楷体_GB2312"/>
              </a:rPr>
              <a:t>、静电场   </a:t>
            </a:r>
            <a:r>
              <a:rPr lang="zh-CN" altLang="en-US" sz="2400">
                <a:ea typeface="楷体_GB2312"/>
              </a:rPr>
              <a:t> 相对于观察者静止电荷产生的场叫做</a:t>
            </a:r>
            <a:r>
              <a:rPr lang="zh-CN" altLang="en-US" sz="2400">
                <a:solidFill>
                  <a:srgbClr val="FF3300"/>
                </a:solidFill>
                <a:ea typeface="楷体_GB2312"/>
              </a:rPr>
              <a:t>静电场</a:t>
            </a:r>
            <a:r>
              <a:rPr lang="zh-CN" altLang="en-US" sz="2400">
                <a:ea typeface="楷体_GB2312"/>
              </a:rPr>
              <a:t>。</a:t>
            </a:r>
          </a:p>
        </p:txBody>
      </p:sp>
      <p:grpSp>
        <p:nvGrpSpPr>
          <p:cNvPr id="85026" name="Group 34"/>
          <p:cNvGrpSpPr>
            <a:grpSpLocks/>
          </p:cNvGrpSpPr>
          <p:nvPr/>
        </p:nvGrpSpPr>
        <p:grpSpPr bwMode="auto">
          <a:xfrm>
            <a:off x="2030239" y="2963469"/>
            <a:ext cx="4176713" cy="611188"/>
            <a:chOff x="2109" y="2087"/>
            <a:chExt cx="2631" cy="385"/>
          </a:xfrm>
        </p:grpSpPr>
        <p:sp>
          <p:nvSpPr>
            <p:cNvPr id="39947" name="Text Box 29"/>
            <p:cNvSpPr txBox="1">
              <a:spLocks noChangeArrowheads="1"/>
            </p:cNvSpPr>
            <p:nvPr/>
          </p:nvSpPr>
          <p:spPr bwMode="auto">
            <a:xfrm>
              <a:off x="2109" y="2091"/>
              <a:ext cx="576" cy="363"/>
            </a:xfrm>
            <a:prstGeom prst="rect">
              <a:avLst/>
            </a:prstGeom>
            <a:noFill/>
            <a:ln w="28575">
              <a:solidFill>
                <a:srgbClr val="FFCC99"/>
              </a:solidFill>
              <a:miter lim="800000"/>
              <a:headEnd/>
              <a:tailEnd/>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zh-CN" altLang="en-US" sz="2800">
                  <a:solidFill>
                    <a:srgbClr val="0066FF"/>
                  </a:solidFill>
                  <a:ea typeface="楷体_GB2312"/>
                </a:rPr>
                <a:t>电荷</a:t>
              </a:r>
            </a:p>
          </p:txBody>
        </p:sp>
        <p:sp>
          <p:nvSpPr>
            <p:cNvPr id="39948" name="Text Box 30"/>
            <p:cNvSpPr txBox="1">
              <a:spLocks noChangeArrowheads="1"/>
            </p:cNvSpPr>
            <p:nvPr/>
          </p:nvSpPr>
          <p:spPr bwMode="auto">
            <a:xfrm>
              <a:off x="4164" y="2094"/>
              <a:ext cx="576" cy="363"/>
            </a:xfrm>
            <a:prstGeom prst="rect">
              <a:avLst/>
            </a:prstGeom>
            <a:noFill/>
            <a:ln w="28575">
              <a:solidFill>
                <a:srgbClr val="FFCC99"/>
              </a:solidFill>
              <a:miter lim="800000"/>
              <a:headEnd/>
              <a:tailEnd/>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zh-CN" altLang="en-US" sz="2800">
                  <a:solidFill>
                    <a:srgbClr val="0066FF"/>
                  </a:solidFill>
                  <a:ea typeface="楷体_GB2312"/>
                </a:rPr>
                <a:t>电荷</a:t>
              </a:r>
            </a:p>
          </p:txBody>
        </p:sp>
        <p:sp>
          <p:nvSpPr>
            <p:cNvPr id="39949" name="Text Box 31"/>
            <p:cNvSpPr txBox="1">
              <a:spLocks noChangeArrowheads="1"/>
            </p:cNvSpPr>
            <p:nvPr/>
          </p:nvSpPr>
          <p:spPr bwMode="auto">
            <a:xfrm>
              <a:off x="3087" y="2087"/>
              <a:ext cx="621" cy="363"/>
            </a:xfrm>
            <a:prstGeom prst="rect">
              <a:avLst/>
            </a:prstGeom>
            <a:gradFill rotWithShape="0">
              <a:gsLst>
                <a:gs pos="0">
                  <a:srgbClr val="767647"/>
                </a:gs>
                <a:gs pos="50000">
                  <a:srgbClr val="FFFF99"/>
                </a:gs>
                <a:gs pos="100000">
                  <a:srgbClr val="767647"/>
                </a:gs>
              </a:gsLst>
              <a:lin ang="5400000" scaled="1"/>
            </a:gradFill>
            <a:ln w="57150">
              <a:solidFill>
                <a:srgbClr val="3399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zh-CN" altLang="en-US" sz="2800">
                  <a:ea typeface="楷体_GB2312"/>
                </a:rPr>
                <a:t>电场</a:t>
              </a:r>
            </a:p>
          </p:txBody>
        </p:sp>
        <p:graphicFrame>
          <p:nvGraphicFramePr>
            <p:cNvPr id="39950" name="Object 32"/>
            <p:cNvGraphicFramePr>
              <a:graphicFrameLocks noChangeAspect="1"/>
            </p:cNvGraphicFramePr>
            <p:nvPr/>
          </p:nvGraphicFramePr>
          <p:xfrm>
            <a:off x="2634" y="2180"/>
            <a:ext cx="455" cy="231"/>
          </p:xfrm>
          <a:graphic>
            <a:graphicData uri="http://schemas.openxmlformats.org/presentationml/2006/ole">
              <mc:AlternateContent xmlns:mc="http://schemas.openxmlformats.org/markup-compatibility/2006">
                <mc:Choice xmlns:v="urn:schemas-microsoft-com:vml" Requires="v">
                  <p:oleObj spid="_x0000_s143572" name="Equation" r:id="rId5" imgW="76388" imgH="0" progId="Equation.3">
                    <p:embed/>
                  </p:oleObj>
                </mc:Choice>
                <mc:Fallback>
                  <p:oleObj name="Equation" r:id="rId5" imgW="76388" imgH="0" progId="Equation.3">
                    <p:embed/>
                    <p:pic>
                      <p:nvPicPr>
                        <p:cNvPr id="39950" name="Object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34" y="2180"/>
                          <a:ext cx="455" cy="231"/>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FFCC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51" name="Object 33"/>
            <p:cNvGraphicFramePr>
              <a:graphicFrameLocks noChangeAspect="1"/>
            </p:cNvGraphicFramePr>
            <p:nvPr/>
          </p:nvGraphicFramePr>
          <p:xfrm>
            <a:off x="3652" y="2122"/>
            <a:ext cx="512" cy="350"/>
          </p:xfrm>
          <a:graphic>
            <a:graphicData uri="http://schemas.openxmlformats.org/presentationml/2006/ole">
              <mc:AlternateContent xmlns:mc="http://schemas.openxmlformats.org/markup-compatibility/2006">
                <mc:Choice xmlns:v="urn:schemas-microsoft-com:vml" Requires="v">
                  <p:oleObj spid="_x0000_s143573" name="Equation" r:id="rId7" imgW="76388" imgH="0" progId="Equation.3">
                    <p:embed/>
                  </p:oleObj>
                </mc:Choice>
                <mc:Fallback>
                  <p:oleObj name="Equation" r:id="rId7" imgW="76388" imgH="0" progId="Equation.3">
                    <p:embed/>
                    <p:pic>
                      <p:nvPicPr>
                        <p:cNvPr id="39951" name="Object 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52" y="2122"/>
                          <a:ext cx="512"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cxnSp>
        <p:nvCxnSpPr>
          <p:cNvPr id="3" name="直接箭头连接符 2">
            <a:extLst>
              <a:ext uri="{FF2B5EF4-FFF2-40B4-BE49-F238E27FC236}">
                <a16:creationId xmlns:a16="http://schemas.microsoft.com/office/drawing/2014/main" id="{CC7C1BFC-28EC-4227-BABE-26557943CFB3}"/>
              </a:ext>
            </a:extLst>
          </p:cNvPr>
          <p:cNvCxnSpPr>
            <a:cxnSpLocks/>
          </p:cNvCxnSpPr>
          <p:nvPr/>
        </p:nvCxnSpPr>
        <p:spPr bwMode="auto">
          <a:xfrm>
            <a:off x="3132138" y="3251253"/>
            <a:ext cx="361776" cy="0"/>
          </a:xfrm>
          <a:prstGeom prst="straightConnector1">
            <a:avLst/>
          </a:prstGeom>
          <a:solidFill>
            <a:srgbClr val="FFFF66"/>
          </a:solidFill>
          <a:ln w="57150" cap="flat" cmpd="sng" algn="ctr">
            <a:solidFill>
              <a:srgbClr val="FF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直接箭头连接符 4">
            <a:extLst>
              <a:ext uri="{FF2B5EF4-FFF2-40B4-BE49-F238E27FC236}">
                <a16:creationId xmlns:a16="http://schemas.microsoft.com/office/drawing/2014/main" id="{D4BD2F8F-F168-49E0-B02C-0E94996016E6}"/>
              </a:ext>
            </a:extLst>
          </p:cNvPr>
          <p:cNvCxnSpPr>
            <a:cxnSpLocks/>
          </p:cNvCxnSpPr>
          <p:nvPr/>
        </p:nvCxnSpPr>
        <p:spPr bwMode="auto">
          <a:xfrm flipH="1">
            <a:off x="4695205" y="3251253"/>
            <a:ext cx="504056" cy="0"/>
          </a:xfrm>
          <a:prstGeom prst="straightConnector1">
            <a:avLst/>
          </a:prstGeom>
          <a:solidFill>
            <a:srgbClr val="FFFF66"/>
          </a:solidFill>
          <a:ln w="57150" cap="flat" cmpd="sng" algn="ctr">
            <a:solidFill>
              <a:srgbClr val="FF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223365724"/>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4995"/>
                                        </p:tgtEl>
                                        <p:attrNameLst>
                                          <p:attrName>style.visibility</p:attrName>
                                        </p:attrNameLst>
                                      </p:cBhvr>
                                      <p:to>
                                        <p:strVal val="visible"/>
                                      </p:to>
                                    </p:set>
                                    <p:animEffect transition="in" filter="wipe(left)">
                                      <p:cBhvr>
                                        <p:cTn id="7" dur="500"/>
                                        <p:tgtEl>
                                          <p:spTgt spid="849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84996">
                                            <p:txEl>
                                              <p:pRg st="0" end="0"/>
                                            </p:txEl>
                                          </p:spTgt>
                                        </p:tgtEl>
                                        <p:attrNameLst>
                                          <p:attrName>style.visibility</p:attrName>
                                        </p:attrNameLst>
                                      </p:cBhvr>
                                      <p:to>
                                        <p:strVal val="visible"/>
                                      </p:to>
                                    </p:set>
                                    <p:animEffect transition="in" filter="wipe(left)">
                                      <p:cBhvr>
                                        <p:cTn id="12" dur="75"/>
                                        <p:tgtEl>
                                          <p:spTgt spid="8499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84996">
                                            <p:txEl>
                                              <p:pRg st="1" end="1"/>
                                            </p:txEl>
                                          </p:spTgt>
                                        </p:tgtEl>
                                        <p:attrNameLst>
                                          <p:attrName>style.visibility</p:attrName>
                                        </p:attrNameLst>
                                      </p:cBhvr>
                                      <p:to>
                                        <p:strVal val="visible"/>
                                      </p:to>
                                    </p:set>
                                    <p:animEffect transition="in" filter="wipe(left)">
                                      <p:cBhvr>
                                        <p:cTn id="17" dur="75"/>
                                        <p:tgtEl>
                                          <p:spTgt spid="8499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84996">
                                            <p:txEl>
                                              <p:pRg st="2" end="2"/>
                                            </p:txEl>
                                          </p:spTgt>
                                        </p:tgtEl>
                                        <p:attrNameLst>
                                          <p:attrName>style.visibility</p:attrName>
                                        </p:attrNameLst>
                                      </p:cBhvr>
                                      <p:to>
                                        <p:strVal val="visible"/>
                                      </p:to>
                                    </p:set>
                                    <p:animEffect transition="in" filter="wipe(left)">
                                      <p:cBhvr>
                                        <p:cTn id="22" dur="75"/>
                                        <p:tgtEl>
                                          <p:spTgt spid="84996">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85030"/>
                                        </p:tgtEl>
                                        <p:attrNameLst>
                                          <p:attrName>style.visibility</p:attrName>
                                        </p:attrNameLst>
                                      </p:cBhvr>
                                      <p:to>
                                        <p:strVal val="visible"/>
                                      </p:to>
                                    </p:set>
                                    <p:animEffect transition="in" filter="box(in)">
                                      <p:cBhvr>
                                        <p:cTn id="27" dur="500"/>
                                        <p:tgtEl>
                                          <p:spTgt spid="85030"/>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85031"/>
                                        </p:tgtEl>
                                        <p:attrNameLst>
                                          <p:attrName>style.visibility</p:attrName>
                                        </p:attrNameLst>
                                      </p:cBhvr>
                                      <p:to>
                                        <p:strVal val="visible"/>
                                      </p:to>
                                    </p:set>
                                    <p:animEffect transition="in" filter="box(in)">
                                      <p:cBhvr>
                                        <p:cTn id="32" dur="5000"/>
                                        <p:tgtEl>
                                          <p:spTgt spid="85031"/>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85026"/>
                                        </p:tgtEl>
                                        <p:attrNameLst>
                                          <p:attrName>style.visibility</p:attrName>
                                        </p:attrNameLst>
                                      </p:cBhvr>
                                      <p:to>
                                        <p:strVal val="visible"/>
                                      </p:to>
                                    </p:set>
                                    <p:animEffect transition="in" filter="fade">
                                      <p:cBhvr>
                                        <p:cTn id="43" dur="2000"/>
                                        <p:tgtEl>
                                          <p:spTgt spid="8502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84998"/>
                                        </p:tgtEl>
                                        <p:attrNameLst>
                                          <p:attrName>style.visibility</p:attrName>
                                        </p:attrNameLst>
                                      </p:cBhvr>
                                      <p:to>
                                        <p:strVal val="visible"/>
                                      </p:to>
                                    </p:set>
                                    <p:animEffect transition="in" filter="wipe(left)">
                                      <p:cBhvr>
                                        <p:cTn id="48" dur="500"/>
                                        <p:tgtEl>
                                          <p:spTgt spid="8499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iterate type="lt">
                                    <p:tmPct val="100000"/>
                                  </p:iterate>
                                  <p:childTnLst>
                                    <p:set>
                                      <p:cBhvr>
                                        <p:cTn id="52" dur="1" fill="hold">
                                          <p:stCondLst>
                                            <p:cond delay="0"/>
                                          </p:stCondLst>
                                        </p:cTn>
                                        <p:tgtEl>
                                          <p:spTgt spid="84999">
                                            <p:txEl>
                                              <p:pRg st="0" end="0"/>
                                            </p:txEl>
                                          </p:spTgt>
                                        </p:tgtEl>
                                        <p:attrNameLst>
                                          <p:attrName>style.visibility</p:attrName>
                                        </p:attrNameLst>
                                      </p:cBhvr>
                                      <p:to>
                                        <p:strVal val="visible"/>
                                      </p:to>
                                    </p:set>
                                    <p:animEffect transition="in" filter="wipe(left)">
                                      <p:cBhvr>
                                        <p:cTn id="53" dur="75"/>
                                        <p:tgtEl>
                                          <p:spTgt spid="84999">
                                            <p:txEl>
                                              <p:pRg st="0" end="0"/>
                                            </p:txEl>
                                          </p:spTgt>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iterate type="lt">
                                    <p:tmPct val="100000"/>
                                  </p:iterate>
                                  <p:childTnLst>
                                    <p:set>
                                      <p:cBhvr>
                                        <p:cTn id="57" dur="1" fill="hold">
                                          <p:stCondLst>
                                            <p:cond delay="0"/>
                                          </p:stCondLst>
                                        </p:cTn>
                                        <p:tgtEl>
                                          <p:spTgt spid="84999">
                                            <p:txEl>
                                              <p:pRg st="1" end="1"/>
                                            </p:txEl>
                                          </p:spTgt>
                                        </p:tgtEl>
                                        <p:attrNameLst>
                                          <p:attrName>style.visibility</p:attrName>
                                        </p:attrNameLst>
                                      </p:cBhvr>
                                      <p:to>
                                        <p:strVal val="visible"/>
                                      </p:to>
                                    </p:set>
                                    <p:animEffect transition="in" filter="wipe(left)">
                                      <p:cBhvr>
                                        <p:cTn id="58" dur="75"/>
                                        <p:tgtEl>
                                          <p:spTgt spid="84999">
                                            <p:txEl>
                                              <p:pRg st="1" end="1"/>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iterate type="lt">
                                    <p:tmPct val="100000"/>
                                  </p:iterate>
                                  <p:childTnLst>
                                    <p:set>
                                      <p:cBhvr>
                                        <p:cTn id="62" dur="1" fill="hold">
                                          <p:stCondLst>
                                            <p:cond delay="0"/>
                                          </p:stCondLst>
                                        </p:cTn>
                                        <p:tgtEl>
                                          <p:spTgt spid="84999">
                                            <p:txEl>
                                              <p:pRg st="2" end="2"/>
                                            </p:txEl>
                                          </p:spTgt>
                                        </p:tgtEl>
                                        <p:attrNameLst>
                                          <p:attrName>style.visibility</p:attrName>
                                        </p:attrNameLst>
                                      </p:cBhvr>
                                      <p:to>
                                        <p:strVal val="visible"/>
                                      </p:to>
                                    </p:set>
                                    <p:animEffect transition="in" filter="wipe(left)">
                                      <p:cBhvr>
                                        <p:cTn id="63" dur="75"/>
                                        <p:tgtEl>
                                          <p:spTgt spid="84999">
                                            <p:txEl>
                                              <p:pRg st="2" end="2"/>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85008"/>
                                        </p:tgtEl>
                                        <p:attrNameLst>
                                          <p:attrName>style.visibility</p:attrName>
                                        </p:attrNameLst>
                                      </p:cBhvr>
                                      <p:to>
                                        <p:strVal val="visible"/>
                                      </p:to>
                                    </p:set>
                                    <p:animEffect transition="in" filter="wipe(left)">
                                      <p:cBhvr>
                                        <p:cTn id="68" dur="500"/>
                                        <p:tgtEl>
                                          <p:spTgt spid="85008"/>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iterate type="lt">
                                    <p:tmPct val="100000"/>
                                  </p:iterate>
                                  <p:childTnLst>
                                    <p:set>
                                      <p:cBhvr>
                                        <p:cTn id="72" dur="1" fill="hold">
                                          <p:stCondLst>
                                            <p:cond delay="0"/>
                                          </p:stCondLst>
                                        </p:cTn>
                                        <p:tgtEl>
                                          <p:spTgt spid="85011">
                                            <p:txEl>
                                              <p:pRg st="0" end="0"/>
                                            </p:txEl>
                                          </p:spTgt>
                                        </p:tgtEl>
                                        <p:attrNameLst>
                                          <p:attrName>style.visibility</p:attrName>
                                        </p:attrNameLst>
                                      </p:cBhvr>
                                      <p:to>
                                        <p:strVal val="visible"/>
                                      </p:to>
                                    </p:set>
                                    <p:animEffect transition="in" filter="wipe(left)">
                                      <p:cBhvr>
                                        <p:cTn id="73" dur="75"/>
                                        <p:tgtEl>
                                          <p:spTgt spid="850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animBg="1" autoUpdateAnimBg="0"/>
      <p:bldP spid="84996" grpId="0" build="p" bldLvl="2" autoUpdateAnimBg="0"/>
      <p:bldP spid="84998" grpId="0" autoUpdateAnimBg="0"/>
      <p:bldP spid="84999" grpId="0" build="p" autoUpdateAnimBg="0"/>
      <p:bldP spid="85008" grpId="0" animBg="1" autoUpdateAnimBg="0"/>
      <p:bldP spid="85011" grpId="0" build="p" bldLvl="2"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Text Box 3"/>
          <p:cNvSpPr txBox="1">
            <a:spLocks noChangeArrowheads="1"/>
          </p:cNvSpPr>
          <p:nvPr/>
        </p:nvSpPr>
        <p:spPr bwMode="auto">
          <a:xfrm>
            <a:off x="0" y="1903413"/>
            <a:ext cx="3657600" cy="579437"/>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type="none" w="sm" len="sm"/>
                <a:tailEnd type="none" w="sm" len="sm"/>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a:solidFill>
                  <a:schemeClr val="folHlink"/>
                </a:solidFill>
                <a:latin typeface="Arial" panose="020B0604020202020204" pitchFamily="34" charset="0"/>
                <a:ea typeface="楷体_GB2312"/>
              </a:rPr>
              <a:t>二、电场强度</a:t>
            </a:r>
          </a:p>
        </p:txBody>
      </p:sp>
      <p:sp>
        <p:nvSpPr>
          <p:cNvPr id="86022" name="Text Box 6"/>
          <p:cNvSpPr txBox="1">
            <a:spLocks noChangeArrowheads="1"/>
          </p:cNvSpPr>
          <p:nvPr/>
        </p:nvSpPr>
        <p:spPr bwMode="auto">
          <a:xfrm>
            <a:off x="304800" y="2536825"/>
            <a:ext cx="8001000" cy="1614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FF"/>
                </a:solidFill>
                <a:ea typeface="楷体_GB2312"/>
              </a:rPr>
              <a:t>1</a:t>
            </a:r>
            <a:r>
              <a:rPr lang="zh-CN" altLang="en-US" sz="2800">
                <a:solidFill>
                  <a:srgbClr val="0000FF"/>
                </a:solidFill>
                <a:ea typeface="楷体_GB2312"/>
              </a:rPr>
              <a:t>、试验电荷</a:t>
            </a:r>
            <a:endParaRPr lang="zh-CN" altLang="en-US" sz="2800">
              <a:ea typeface="楷体_GB2312"/>
            </a:endParaRPr>
          </a:p>
          <a:p>
            <a:pPr lvl="2" algn="just" eaLnBrk="1" hangingPunct="1">
              <a:spcBef>
                <a:spcPct val="0"/>
              </a:spcBef>
              <a:buFontTx/>
              <a:buNone/>
            </a:pPr>
            <a:r>
              <a:rPr lang="en-US" altLang="zh-CN">
                <a:solidFill>
                  <a:srgbClr val="FF3300"/>
                </a:solidFill>
                <a:ea typeface="楷体_GB2312"/>
              </a:rPr>
              <a:t>1</a:t>
            </a:r>
            <a:r>
              <a:rPr lang="zh-CN" altLang="en-US">
                <a:solidFill>
                  <a:srgbClr val="FF3300"/>
                </a:solidFill>
                <a:ea typeface="楷体_GB2312"/>
              </a:rPr>
              <a:t>）、几何线度足够小</a:t>
            </a:r>
            <a:r>
              <a:rPr lang="zh-CN" altLang="en-US">
                <a:ea typeface="楷体_GB2312"/>
              </a:rPr>
              <a:t>，小到可以看成点电荷；</a:t>
            </a:r>
          </a:p>
          <a:p>
            <a:pPr lvl="2" algn="just" eaLnBrk="1" hangingPunct="1">
              <a:spcBef>
                <a:spcPct val="0"/>
              </a:spcBef>
              <a:buFontTx/>
              <a:buNone/>
            </a:pPr>
            <a:r>
              <a:rPr lang="en-US" altLang="zh-CN">
                <a:solidFill>
                  <a:srgbClr val="FF3300"/>
                </a:solidFill>
                <a:ea typeface="楷体_GB2312"/>
              </a:rPr>
              <a:t>2</a:t>
            </a:r>
            <a:r>
              <a:rPr lang="zh-CN" altLang="en-US">
                <a:solidFill>
                  <a:srgbClr val="FF3300"/>
                </a:solidFill>
                <a:ea typeface="楷体_GB2312"/>
              </a:rPr>
              <a:t>）、电量足够小</a:t>
            </a:r>
            <a:r>
              <a:rPr lang="zh-CN" altLang="en-US">
                <a:solidFill>
                  <a:srgbClr val="00FF00"/>
                </a:solidFill>
                <a:ea typeface="楷体_GB2312"/>
              </a:rPr>
              <a:t>，</a:t>
            </a:r>
            <a:r>
              <a:rPr lang="zh-CN" altLang="en-US">
                <a:ea typeface="楷体_GB2312"/>
              </a:rPr>
              <a:t>小到把它放入电场中后，原来的电场几乎没有什么变化。</a:t>
            </a:r>
          </a:p>
        </p:txBody>
      </p:sp>
      <p:sp>
        <p:nvSpPr>
          <p:cNvPr id="86024" name="Text Box 8"/>
          <p:cNvSpPr txBox="1">
            <a:spLocks noChangeArrowheads="1"/>
          </p:cNvSpPr>
          <p:nvPr/>
        </p:nvSpPr>
        <p:spPr bwMode="auto">
          <a:xfrm>
            <a:off x="107950" y="4221163"/>
            <a:ext cx="6769100" cy="1249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FF"/>
                </a:solidFill>
                <a:ea typeface="楷体_GB2312"/>
              </a:rPr>
              <a:t>2</a:t>
            </a:r>
            <a:r>
              <a:rPr lang="zh-CN" altLang="en-US" sz="2800">
                <a:solidFill>
                  <a:srgbClr val="0000FF"/>
                </a:solidFill>
                <a:ea typeface="楷体_GB2312"/>
              </a:rPr>
              <a:t>、实验</a:t>
            </a:r>
            <a:endParaRPr lang="zh-CN" altLang="en-US" sz="2400">
              <a:ea typeface="楷体_GB2312"/>
            </a:endParaRPr>
          </a:p>
          <a:p>
            <a:pPr lvl="2" eaLnBrk="1" hangingPunct="1">
              <a:spcBef>
                <a:spcPct val="0"/>
              </a:spcBef>
              <a:buFontTx/>
              <a:buNone/>
            </a:pPr>
            <a:r>
              <a:rPr lang="zh-CN" altLang="en-US">
                <a:ea typeface="楷体_GB2312"/>
              </a:rPr>
              <a:t>在静止的电荷</a:t>
            </a:r>
            <a:r>
              <a:rPr lang="en-US" altLang="zh-CN">
                <a:ea typeface="楷体_GB2312"/>
              </a:rPr>
              <a:t>Q</a:t>
            </a:r>
            <a:r>
              <a:rPr lang="zh-CN" altLang="en-US">
                <a:ea typeface="楷体_GB2312"/>
              </a:rPr>
              <a:t>周围的静电场中，放入试验电荷</a:t>
            </a:r>
            <a:r>
              <a:rPr lang="en-US" altLang="zh-CN" i="1">
                <a:ea typeface="楷体_GB2312"/>
              </a:rPr>
              <a:t>q</a:t>
            </a:r>
            <a:r>
              <a:rPr lang="en-US" altLang="zh-CN" baseline="-25000">
                <a:ea typeface="楷体_GB2312"/>
              </a:rPr>
              <a:t>0</a:t>
            </a:r>
            <a:r>
              <a:rPr lang="en-US" altLang="zh-CN">
                <a:ea typeface="楷体_GB2312"/>
              </a:rPr>
              <a:t> </a:t>
            </a:r>
            <a:r>
              <a:rPr lang="zh-CN" altLang="en-US">
                <a:ea typeface="楷体_GB2312"/>
              </a:rPr>
              <a:t>，讨论试验电荷</a:t>
            </a:r>
            <a:r>
              <a:rPr lang="en-US" altLang="zh-CN" i="1">
                <a:ea typeface="楷体_GB2312"/>
              </a:rPr>
              <a:t>q</a:t>
            </a:r>
            <a:r>
              <a:rPr lang="en-US" altLang="zh-CN" baseline="-25000">
                <a:ea typeface="楷体_GB2312"/>
              </a:rPr>
              <a:t>0 </a:t>
            </a:r>
            <a:r>
              <a:rPr lang="zh-CN" altLang="en-US">
                <a:ea typeface="楷体_GB2312"/>
              </a:rPr>
              <a:t>的受力情况。</a:t>
            </a:r>
          </a:p>
        </p:txBody>
      </p:sp>
      <p:graphicFrame>
        <p:nvGraphicFramePr>
          <p:cNvPr id="86035" name="Object 19"/>
          <p:cNvGraphicFramePr>
            <a:graphicFrameLocks noChangeAspect="1"/>
          </p:cNvGraphicFramePr>
          <p:nvPr/>
        </p:nvGraphicFramePr>
        <p:xfrm>
          <a:off x="468313" y="5734050"/>
          <a:ext cx="1892300" cy="917575"/>
        </p:xfrm>
        <a:graphic>
          <a:graphicData uri="http://schemas.openxmlformats.org/presentationml/2006/ole">
            <mc:AlternateContent xmlns:mc="http://schemas.openxmlformats.org/markup-compatibility/2006">
              <mc:Choice xmlns:v="urn:schemas-microsoft-com:vml" Requires="v">
                <p:oleObj spid="_x0000_s144488" name="公式" r:id="rId3" imgW="914400" imgH="444500" progId="Equation.3">
                  <p:embed/>
                </p:oleObj>
              </mc:Choice>
              <mc:Fallback>
                <p:oleObj name="公式" r:id="rId3" imgW="914400" imgH="444500" progId="Equation.3">
                  <p:embed/>
                  <p:pic>
                    <p:nvPicPr>
                      <p:cNvPr id="86035"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5734050"/>
                        <a:ext cx="1892300" cy="91757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37" name="Rectangle 21"/>
          <p:cNvSpPr>
            <a:spLocks noChangeArrowheads="1"/>
          </p:cNvSpPr>
          <p:nvPr/>
        </p:nvSpPr>
        <p:spPr bwMode="auto">
          <a:xfrm>
            <a:off x="250825" y="142875"/>
            <a:ext cx="8943975" cy="155416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chemeClr val="hlink"/>
                </a:solidFill>
                <a:ea typeface="楷体_GB2312"/>
              </a:rPr>
              <a:t>4</a:t>
            </a:r>
            <a:r>
              <a:rPr lang="zh-CN" altLang="en-US" sz="2800">
                <a:solidFill>
                  <a:schemeClr val="hlink"/>
                </a:solidFill>
                <a:ea typeface="楷体_GB2312"/>
              </a:rPr>
              <a:t>、静电场的重要对外表现</a:t>
            </a:r>
            <a:br>
              <a:rPr lang="zh-CN" altLang="en-US" sz="2800">
                <a:solidFill>
                  <a:srgbClr val="FF3300"/>
                </a:solidFill>
                <a:ea typeface="楷体_GB2312"/>
              </a:rPr>
            </a:br>
            <a:r>
              <a:rPr lang="en-US" altLang="zh-CN" sz="2200">
                <a:ea typeface="楷体_GB2312"/>
              </a:rPr>
              <a:t>(1) </a:t>
            </a:r>
            <a:r>
              <a:rPr lang="zh-CN" altLang="en-US" sz="2200">
                <a:ea typeface="楷体_GB2312"/>
              </a:rPr>
              <a:t>引入静电场中的任何带电体都要受到电场所施加的</a:t>
            </a:r>
            <a:r>
              <a:rPr lang="zh-CN" altLang="en-US" sz="2200">
                <a:solidFill>
                  <a:schemeClr val="folHlink"/>
                </a:solidFill>
                <a:ea typeface="楷体_GB2312"/>
              </a:rPr>
              <a:t>力的作用</a:t>
            </a:r>
            <a:r>
              <a:rPr lang="zh-CN" altLang="en-US" sz="2200">
                <a:ea typeface="楷体_GB2312"/>
              </a:rPr>
              <a:t>，库仑力实际上就是这种电场力。</a:t>
            </a:r>
            <a:br>
              <a:rPr lang="zh-CN" altLang="en-US" sz="2200">
                <a:ea typeface="楷体_GB2312"/>
              </a:rPr>
            </a:br>
            <a:r>
              <a:rPr lang="en-US" altLang="zh-CN" sz="2200">
                <a:ea typeface="楷体_GB2312"/>
              </a:rPr>
              <a:t>(2) </a:t>
            </a:r>
            <a:r>
              <a:rPr lang="zh-CN" altLang="en-US" sz="2200">
                <a:ea typeface="楷体_GB2312"/>
              </a:rPr>
              <a:t>当引入静电场中的带电体在电场中移动时，</a:t>
            </a:r>
            <a:r>
              <a:rPr lang="zh-CN" altLang="en-US" sz="2200">
                <a:solidFill>
                  <a:schemeClr val="folHlink"/>
                </a:solidFill>
                <a:ea typeface="楷体_GB2312"/>
              </a:rPr>
              <a:t>电场力就对它作功</a:t>
            </a:r>
            <a:r>
              <a:rPr lang="zh-CN" altLang="en-US" sz="2200">
                <a:ea typeface="楷体_GB2312"/>
              </a:rPr>
              <a:t>。</a:t>
            </a:r>
            <a:r>
              <a:rPr lang="zh-CN" altLang="en-US" sz="2400">
                <a:solidFill>
                  <a:srgbClr val="FF3300"/>
                </a:solidFill>
                <a:ea typeface="楷体_GB2312"/>
              </a:rPr>
              <a:t> </a:t>
            </a:r>
          </a:p>
        </p:txBody>
      </p:sp>
      <p:sp>
        <p:nvSpPr>
          <p:cNvPr id="86039" name="Text Box 23"/>
          <p:cNvSpPr txBox="1">
            <a:spLocks noChangeArrowheads="1"/>
          </p:cNvSpPr>
          <p:nvPr/>
        </p:nvSpPr>
        <p:spPr bwMode="auto">
          <a:xfrm>
            <a:off x="2700338" y="5729288"/>
            <a:ext cx="6408737" cy="939800"/>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
                <a:srgbClr val="66FF33"/>
              </a:buClr>
              <a:buFontTx/>
              <a:buNone/>
            </a:pPr>
            <a:r>
              <a:rPr lang="en-US" altLang="zh-CN" sz="2800">
                <a:solidFill>
                  <a:srgbClr val="FF3300"/>
                </a:solidFill>
                <a:latin typeface="楷体_GB2312"/>
                <a:ea typeface="楷体_GB2312"/>
              </a:rPr>
              <a:t>1</a:t>
            </a:r>
            <a:r>
              <a:rPr lang="zh-CN" altLang="en-US" sz="2800">
                <a:solidFill>
                  <a:srgbClr val="FF3300"/>
                </a:solidFill>
                <a:latin typeface="楷体_GB2312"/>
                <a:ea typeface="楷体_GB2312"/>
              </a:rPr>
              <a:t>、不同场点受力大小、方向一般不同。</a:t>
            </a:r>
          </a:p>
          <a:p>
            <a:pPr>
              <a:spcBef>
                <a:spcPct val="0"/>
              </a:spcBef>
              <a:spcAft>
                <a:spcPct val="40000"/>
              </a:spcAft>
              <a:buClr>
                <a:srgbClr val="66FF33"/>
              </a:buClr>
              <a:buFontTx/>
              <a:buNone/>
            </a:pPr>
            <a:r>
              <a:rPr lang="en-US" altLang="zh-CN" sz="2800">
                <a:solidFill>
                  <a:srgbClr val="FF3300"/>
                </a:solidFill>
                <a:latin typeface="楷体_GB2312"/>
                <a:ea typeface="楷体_GB2312"/>
              </a:rPr>
              <a:t>2</a:t>
            </a:r>
            <a:r>
              <a:rPr lang="zh-CN" altLang="en-US" sz="2800">
                <a:solidFill>
                  <a:srgbClr val="FF3300"/>
                </a:solidFill>
                <a:latin typeface="楷体_GB2312"/>
                <a:ea typeface="楷体_GB2312"/>
              </a:rPr>
              <a:t>、同一场点</a:t>
            </a:r>
            <a:r>
              <a:rPr lang="en-US" altLang="zh-CN" sz="2800">
                <a:solidFill>
                  <a:srgbClr val="FF3300"/>
                </a:solidFill>
                <a:latin typeface="楷体_GB2312"/>
                <a:ea typeface="楷体_GB2312"/>
              </a:rPr>
              <a:t>F </a:t>
            </a:r>
            <a:r>
              <a:rPr lang="zh-CN" altLang="en-US" sz="2800">
                <a:solidFill>
                  <a:srgbClr val="FF3300"/>
                </a:solidFill>
                <a:latin typeface="楷体_GB2312"/>
                <a:ea typeface="楷体_GB2312"/>
              </a:rPr>
              <a:t>随</a:t>
            </a:r>
            <a:r>
              <a:rPr lang="en-US" altLang="zh-CN" sz="2800">
                <a:solidFill>
                  <a:srgbClr val="FF3300"/>
                </a:solidFill>
                <a:latin typeface="楷体_GB2312"/>
                <a:ea typeface="楷体_GB2312"/>
              </a:rPr>
              <a:t>q</a:t>
            </a:r>
            <a:r>
              <a:rPr lang="en-US" altLang="zh-CN" sz="2800" baseline="-25000">
                <a:solidFill>
                  <a:srgbClr val="FF3300"/>
                </a:solidFill>
                <a:latin typeface="楷体_GB2312"/>
                <a:ea typeface="楷体_GB2312"/>
              </a:rPr>
              <a:t>0 </a:t>
            </a:r>
            <a:r>
              <a:rPr lang="zh-CN" altLang="en-US" sz="2800">
                <a:solidFill>
                  <a:srgbClr val="FF3300"/>
                </a:solidFill>
                <a:latin typeface="楷体_GB2312"/>
                <a:ea typeface="楷体_GB2312"/>
              </a:rPr>
              <a:t>增大，但比值确定。</a:t>
            </a:r>
          </a:p>
        </p:txBody>
      </p:sp>
      <p:pic>
        <p:nvPicPr>
          <p:cNvPr id="15" name="Picture 6" descr="23-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91338" y="3987800"/>
            <a:ext cx="2006600" cy="1470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900168053"/>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6037"/>
                                        </p:tgtEl>
                                        <p:attrNameLst>
                                          <p:attrName>style.visibility</p:attrName>
                                        </p:attrNameLst>
                                      </p:cBhvr>
                                      <p:to>
                                        <p:strVal val="visible"/>
                                      </p:to>
                                    </p:set>
                                    <p:animEffect transition="in" filter="wipe(down)">
                                      <p:cBhvr>
                                        <p:cTn id="7" dur="500"/>
                                        <p:tgtEl>
                                          <p:spTgt spid="860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6019"/>
                                        </p:tgtEl>
                                        <p:attrNameLst>
                                          <p:attrName>style.visibility</p:attrName>
                                        </p:attrNameLst>
                                      </p:cBhvr>
                                      <p:to>
                                        <p:strVal val="visible"/>
                                      </p:to>
                                    </p:set>
                                    <p:animEffect transition="in" filter="wipe(left)">
                                      <p:cBhvr>
                                        <p:cTn id="12" dur="500"/>
                                        <p:tgtEl>
                                          <p:spTgt spid="860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86022">
                                            <p:txEl>
                                              <p:pRg st="0" end="0"/>
                                            </p:txEl>
                                          </p:spTgt>
                                        </p:tgtEl>
                                        <p:attrNameLst>
                                          <p:attrName>style.visibility</p:attrName>
                                        </p:attrNameLst>
                                      </p:cBhvr>
                                      <p:to>
                                        <p:strVal val="visible"/>
                                      </p:to>
                                    </p:set>
                                    <p:animEffect transition="in" filter="wipe(left)">
                                      <p:cBhvr>
                                        <p:cTn id="17" dur="75"/>
                                        <p:tgtEl>
                                          <p:spTgt spid="86022">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86022">
                                            <p:txEl>
                                              <p:pRg st="1" end="1"/>
                                            </p:txEl>
                                          </p:spTgt>
                                        </p:tgtEl>
                                        <p:attrNameLst>
                                          <p:attrName>style.visibility</p:attrName>
                                        </p:attrNameLst>
                                      </p:cBhvr>
                                      <p:to>
                                        <p:strVal val="visible"/>
                                      </p:to>
                                    </p:set>
                                    <p:animEffect transition="in" filter="wipe(left)">
                                      <p:cBhvr>
                                        <p:cTn id="22" dur="75"/>
                                        <p:tgtEl>
                                          <p:spTgt spid="86022">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86022">
                                            <p:txEl>
                                              <p:pRg st="2" end="2"/>
                                            </p:txEl>
                                          </p:spTgt>
                                        </p:tgtEl>
                                        <p:attrNameLst>
                                          <p:attrName>style.visibility</p:attrName>
                                        </p:attrNameLst>
                                      </p:cBhvr>
                                      <p:to>
                                        <p:strVal val="visible"/>
                                      </p:to>
                                    </p:set>
                                    <p:animEffect transition="in" filter="wipe(left)">
                                      <p:cBhvr>
                                        <p:cTn id="27" dur="75"/>
                                        <p:tgtEl>
                                          <p:spTgt spid="86022">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iterate type="lt">
                                    <p:tmPct val="100000"/>
                                  </p:iterate>
                                  <p:childTnLst>
                                    <p:set>
                                      <p:cBhvr>
                                        <p:cTn id="35" dur="1" fill="hold">
                                          <p:stCondLst>
                                            <p:cond delay="0"/>
                                          </p:stCondLst>
                                        </p:cTn>
                                        <p:tgtEl>
                                          <p:spTgt spid="86024">
                                            <p:txEl>
                                              <p:pRg st="0" end="0"/>
                                            </p:txEl>
                                          </p:spTgt>
                                        </p:tgtEl>
                                        <p:attrNameLst>
                                          <p:attrName>style.visibility</p:attrName>
                                        </p:attrNameLst>
                                      </p:cBhvr>
                                      <p:to>
                                        <p:strVal val="visible"/>
                                      </p:to>
                                    </p:set>
                                    <p:animEffect transition="in" filter="wipe(left)">
                                      <p:cBhvr>
                                        <p:cTn id="36" dur="75"/>
                                        <p:tgtEl>
                                          <p:spTgt spid="86024">
                                            <p:txEl>
                                              <p:pRg st="0" end="0"/>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iterate type="lt">
                                    <p:tmPct val="100000"/>
                                  </p:iterate>
                                  <p:childTnLst>
                                    <p:set>
                                      <p:cBhvr>
                                        <p:cTn id="40" dur="1" fill="hold">
                                          <p:stCondLst>
                                            <p:cond delay="0"/>
                                          </p:stCondLst>
                                        </p:cTn>
                                        <p:tgtEl>
                                          <p:spTgt spid="86024">
                                            <p:txEl>
                                              <p:pRg st="1" end="1"/>
                                            </p:txEl>
                                          </p:spTgt>
                                        </p:tgtEl>
                                        <p:attrNameLst>
                                          <p:attrName>style.visibility</p:attrName>
                                        </p:attrNameLst>
                                      </p:cBhvr>
                                      <p:to>
                                        <p:strVal val="visible"/>
                                      </p:to>
                                    </p:set>
                                    <p:animEffect transition="in" filter="wipe(left)">
                                      <p:cBhvr>
                                        <p:cTn id="41" dur="75"/>
                                        <p:tgtEl>
                                          <p:spTgt spid="86024">
                                            <p:txEl>
                                              <p:pRg st="1" end="1"/>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86035"/>
                                        </p:tgtEl>
                                        <p:attrNameLst>
                                          <p:attrName>style.visibility</p:attrName>
                                        </p:attrNameLst>
                                      </p:cBhvr>
                                      <p:to>
                                        <p:strVal val="visible"/>
                                      </p:to>
                                    </p:set>
                                    <p:animEffect transition="in" filter="wipe(left)">
                                      <p:cBhvr>
                                        <p:cTn id="46" dur="500"/>
                                        <p:tgtEl>
                                          <p:spTgt spid="8603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86039">
                                            <p:bg/>
                                          </p:spTgt>
                                        </p:tgtEl>
                                        <p:attrNameLst>
                                          <p:attrName>style.visibility</p:attrName>
                                        </p:attrNameLst>
                                      </p:cBhvr>
                                      <p:to>
                                        <p:strVal val="visible"/>
                                      </p:to>
                                    </p:set>
                                    <p:animEffect transition="in" filter="wipe(left)">
                                      <p:cBhvr>
                                        <p:cTn id="51" dur="500"/>
                                        <p:tgtEl>
                                          <p:spTgt spid="86039">
                                            <p:bg/>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86039">
                                            <p:txEl>
                                              <p:pRg st="0" end="0"/>
                                            </p:txEl>
                                          </p:spTgt>
                                        </p:tgtEl>
                                        <p:attrNameLst>
                                          <p:attrName>style.visibility</p:attrName>
                                        </p:attrNameLst>
                                      </p:cBhvr>
                                      <p:to>
                                        <p:strVal val="visible"/>
                                      </p:to>
                                    </p:set>
                                    <p:animEffect transition="in" filter="wipe(left)">
                                      <p:cBhvr>
                                        <p:cTn id="56" dur="500"/>
                                        <p:tgtEl>
                                          <p:spTgt spid="86039">
                                            <p:txEl>
                                              <p:pRg st="0" end="0"/>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86039">
                                            <p:txEl>
                                              <p:pRg st="1" end="1"/>
                                            </p:txEl>
                                          </p:spTgt>
                                        </p:tgtEl>
                                        <p:attrNameLst>
                                          <p:attrName>style.visibility</p:attrName>
                                        </p:attrNameLst>
                                      </p:cBhvr>
                                      <p:to>
                                        <p:strVal val="visible"/>
                                      </p:to>
                                    </p:set>
                                    <p:animEffect transition="in" filter="wipe(left)">
                                      <p:cBhvr>
                                        <p:cTn id="61" dur="500"/>
                                        <p:tgtEl>
                                          <p:spTgt spid="860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animBg="1" autoUpdateAnimBg="0"/>
      <p:bldP spid="86022" grpId="0" build="p" bldLvl="3" autoUpdateAnimBg="0"/>
      <p:bldP spid="86024" grpId="0" build="p" bldLvl="3" autoUpdateAnimBg="0"/>
      <p:bldP spid="86037" grpId="0"/>
      <p:bldP spid="86039" grpId="0" build="p"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 Box 2"/>
          <p:cNvSpPr txBox="1">
            <a:spLocks noChangeArrowheads="1"/>
          </p:cNvSpPr>
          <p:nvPr/>
        </p:nvSpPr>
        <p:spPr bwMode="auto">
          <a:xfrm>
            <a:off x="152400" y="152400"/>
            <a:ext cx="8686800" cy="16875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0000FF"/>
                </a:solidFill>
                <a:ea typeface="楷体_GB2312"/>
              </a:rPr>
              <a:t>3</a:t>
            </a:r>
            <a:r>
              <a:rPr lang="zh-CN" altLang="en-US" sz="2800">
                <a:solidFill>
                  <a:srgbClr val="0000FF"/>
                </a:solidFill>
                <a:ea typeface="楷体_GB2312"/>
              </a:rPr>
              <a:t>、电场强度</a:t>
            </a:r>
          </a:p>
          <a:p>
            <a:pPr lvl="1" eaLnBrk="1" hangingPunct="1">
              <a:buFontTx/>
              <a:buNone/>
            </a:pPr>
            <a:r>
              <a:rPr lang="zh-CN" altLang="en-US" sz="2400">
                <a:ea typeface="楷体_GB2312"/>
              </a:rPr>
              <a:t>试验电荷将受到源电荷的作用力与试验电荷电量的比值</a:t>
            </a:r>
            <a:r>
              <a:rPr lang="en-US" altLang="zh-CN" sz="2400" i="1">
                <a:ea typeface="楷体_GB2312"/>
              </a:rPr>
              <a:t>F/q</a:t>
            </a:r>
            <a:r>
              <a:rPr lang="en-US" altLang="zh-CN" sz="2400" baseline="-25000">
                <a:ea typeface="楷体_GB2312"/>
              </a:rPr>
              <a:t>0 </a:t>
            </a:r>
            <a:r>
              <a:rPr lang="zh-CN" altLang="en-US" sz="2400">
                <a:ea typeface="楷体_GB2312"/>
              </a:rPr>
              <a:t>则与试验电荷无关，可以反映电场本身的性质，用这个物理量作为描写电场的场量，称为</a:t>
            </a:r>
            <a:r>
              <a:rPr lang="zh-CN" altLang="en-US" sz="2400">
                <a:solidFill>
                  <a:srgbClr val="FF3300"/>
                </a:solidFill>
                <a:ea typeface="楷体_GB2312"/>
              </a:rPr>
              <a:t>电场强度</a:t>
            </a:r>
            <a:r>
              <a:rPr lang="zh-CN" altLang="en-US" sz="2400">
                <a:ea typeface="楷体_GB2312"/>
              </a:rPr>
              <a:t>（简称场强）。</a:t>
            </a:r>
          </a:p>
        </p:txBody>
      </p:sp>
      <p:graphicFrame>
        <p:nvGraphicFramePr>
          <p:cNvPr id="105475" name="Object 3"/>
          <p:cNvGraphicFramePr>
            <a:graphicFrameLocks noChangeAspect="1"/>
          </p:cNvGraphicFramePr>
          <p:nvPr/>
        </p:nvGraphicFramePr>
        <p:xfrm>
          <a:off x="2484438" y="1844675"/>
          <a:ext cx="1066800" cy="1014413"/>
        </p:xfrm>
        <a:graphic>
          <a:graphicData uri="http://schemas.openxmlformats.org/presentationml/2006/ole">
            <mc:AlternateContent xmlns:mc="http://schemas.openxmlformats.org/markup-compatibility/2006">
              <mc:Choice xmlns:v="urn:schemas-microsoft-com:vml" Requires="v">
                <p:oleObj spid="_x0000_s145614" name="公式" r:id="rId3" imgW="482600" imgH="457200" progId="Equation.3">
                  <p:embed/>
                </p:oleObj>
              </mc:Choice>
              <mc:Fallback>
                <p:oleObj name="公式" r:id="rId3" imgW="482600" imgH="457200" progId="Equation.3">
                  <p:embed/>
                  <p:pic>
                    <p:nvPicPr>
                      <p:cNvPr id="10547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1844675"/>
                        <a:ext cx="1066800" cy="1014413"/>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5476" name="Text Box 4"/>
          <p:cNvSpPr txBox="1">
            <a:spLocks noChangeArrowheads="1"/>
          </p:cNvSpPr>
          <p:nvPr/>
        </p:nvSpPr>
        <p:spPr bwMode="auto">
          <a:xfrm>
            <a:off x="107950" y="3240088"/>
            <a:ext cx="5867400" cy="19177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a:solidFill>
                  <a:srgbClr val="FF3300"/>
                </a:solidFill>
                <a:ea typeface="楷体_GB2312"/>
              </a:rPr>
              <a:t>   </a:t>
            </a:r>
            <a:r>
              <a:rPr lang="zh-CN" altLang="en-US" sz="2400">
                <a:solidFill>
                  <a:srgbClr val="FF3300"/>
                </a:solidFill>
                <a:ea typeface="楷体_GB2312"/>
              </a:rPr>
              <a:t>电场中某点的电场强度在数值上等于位于该点的单位正试验电荷所受的电场力</a:t>
            </a:r>
            <a:r>
              <a:rPr lang="zh-CN" altLang="en-US" sz="2400">
                <a:ea typeface="楷体_GB2312"/>
              </a:rPr>
              <a:t>。</a:t>
            </a:r>
          </a:p>
          <a:p>
            <a:pPr eaLnBrk="1" hangingPunct="1">
              <a:spcBef>
                <a:spcPct val="0"/>
              </a:spcBef>
              <a:buFontTx/>
              <a:buNone/>
            </a:pPr>
            <a:r>
              <a:rPr lang="zh-CN" altLang="en-US" sz="2400">
                <a:ea typeface="楷体_GB2312"/>
              </a:rPr>
              <a:t>   其方向与</a:t>
            </a:r>
            <a:r>
              <a:rPr lang="zh-CN" altLang="en-US" sz="2400">
                <a:solidFill>
                  <a:srgbClr val="FF3300"/>
                </a:solidFill>
                <a:ea typeface="楷体_GB2312"/>
              </a:rPr>
              <a:t>正电荷</a:t>
            </a:r>
            <a:r>
              <a:rPr lang="zh-CN" altLang="en-US" sz="2400">
                <a:ea typeface="楷体_GB2312"/>
              </a:rPr>
              <a:t>在该点所受电场力的方向</a:t>
            </a:r>
            <a:r>
              <a:rPr lang="zh-CN" altLang="en-US" sz="2400">
                <a:solidFill>
                  <a:srgbClr val="FF3300"/>
                </a:solidFill>
                <a:ea typeface="楷体_GB2312"/>
              </a:rPr>
              <a:t>一致</a:t>
            </a:r>
            <a:r>
              <a:rPr lang="zh-CN" altLang="en-US" sz="2400">
                <a:ea typeface="楷体_GB2312"/>
              </a:rPr>
              <a:t>；与</a:t>
            </a:r>
            <a:r>
              <a:rPr lang="zh-CN" altLang="en-US" sz="2400">
                <a:solidFill>
                  <a:srgbClr val="FF3300"/>
                </a:solidFill>
                <a:ea typeface="楷体_GB2312"/>
              </a:rPr>
              <a:t>负电荷</a:t>
            </a:r>
            <a:r>
              <a:rPr lang="zh-CN" altLang="en-US" sz="2400">
                <a:ea typeface="楷体_GB2312"/>
              </a:rPr>
              <a:t>在该点所受电场力的方向</a:t>
            </a:r>
            <a:r>
              <a:rPr lang="zh-CN" altLang="en-US" sz="2400">
                <a:solidFill>
                  <a:srgbClr val="FF3300"/>
                </a:solidFill>
                <a:ea typeface="楷体_GB2312"/>
              </a:rPr>
              <a:t>相反</a:t>
            </a:r>
            <a:r>
              <a:rPr lang="zh-CN" altLang="en-US" sz="2400">
                <a:ea typeface="楷体_GB2312"/>
              </a:rPr>
              <a:t>。</a:t>
            </a:r>
          </a:p>
        </p:txBody>
      </p:sp>
      <p:sp>
        <p:nvSpPr>
          <p:cNvPr id="105477" name="Text Box 5"/>
          <p:cNvSpPr txBox="1">
            <a:spLocks noChangeArrowheads="1"/>
          </p:cNvSpPr>
          <p:nvPr/>
        </p:nvSpPr>
        <p:spPr bwMode="auto">
          <a:xfrm>
            <a:off x="609600" y="5105400"/>
            <a:ext cx="3170238"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单位：</a:t>
            </a:r>
            <a:r>
              <a:rPr lang="en-US" altLang="zh-CN" sz="2400">
                <a:ea typeface="楷体_GB2312"/>
              </a:rPr>
              <a:t>N.C</a:t>
            </a:r>
            <a:r>
              <a:rPr lang="en-US" altLang="zh-CN" sz="2400" baseline="30000">
                <a:ea typeface="楷体_GB2312"/>
              </a:rPr>
              <a:t>-1</a:t>
            </a:r>
            <a:r>
              <a:rPr lang="zh-CN" altLang="en-US" sz="2400">
                <a:ea typeface="楷体_GB2312"/>
              </a:rPr>
              <a:t>或</a:t>
            </a:r>
            <a:r>
              <a:rPr lang="en-US" altLang="zh-CN" sz="2400">
                <a:ea typeface="楷体_GB2312"/>
              </a:rPr>
              <a:t>V.m</a:t>
            </a:r>
            <a:r>
              <a:rPr lang="en-US" altLang="zh-CN" sz="2400" baseline="30000">
                <a:ea typeface="楷体_GB2312"/>
              </a:rPr>
              <a:t>-1</a:t>
            </a:r>
            <a:endParaRPr lang="en-US" altLang="zh-CN" sz="3600">
              <a:solidFill>
                <a:srgbClr val="FF3300"/>
              </a:solidFill>
              <a:ea typeface="楷体_GB2312"/>
            </a:endParaRPr>
          </a:p>
        </p:txBody>
      </p:sp>
      <p:sp>
        <p:nvSpPr>
          <p:cNvPr id="105479" name="Text Box 7"/>
          <p:cNvSpPr txBox="1">
            <a:spLocks noChangeArrowheads="1"/>
          </p:cNvSpPr>
          <p:nvPr/>
        </p:nvSpPr>
        <p:spPr bwMode="auto">
          <a:xfrm>
            <a:off x="152400" y="5562600"/>
            <a:ext cx="5486400" cy="1196975"/>
          </a:xfrm>
          <a:prstGeom prst="rect">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电场强度是电场的属性，与试验电荷的存在与否无关，并不因无试验电荷而不存在，只是由试验电荷反映。</a:t>
            </a:r>
          </a:p>
        </p:txBody>
      </p:sp>
      <p:sp>
        <p:nvSpPr>
          <p:cNvPr id="105484" name="Line 12"/>
          <p:cNvSpPr>
            <a:spLocks noChangeShapeType="1"/>
          </p:cNvSpPr>
          <p:nvPr/>
        </p:nvSpPr>
        <p:spPr bwMode="auto">
          <a:xfrm>
            <a:off x="6019800" y="2667000"/>
            <a:ext cx="0" cy="419100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5486" name="Text Box 14"/>
          <p:cNvSpPr txBox="1">
            <a:spLocks noChangeArrowheads="1"/>
          </p:cNvSpPr>
          <p:nvPr/>
        </p:nvSpPr>
        <p:spPr bwMode="auto">
          <a:xfrm>
            <a:off x="6248400" y="3048000"/>
            <a:ext cx="2514600" cy="8223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电荷</a:t>
            </a:r>
            <a:r>
              <a:rPr lang="en-US" altLang="zh-CN" sz="2400" i="1">
                <a:ea typeface="楷体_GB2312"/>
              </a:rPr>
              <a:t>q</a:t>
            </a:r>
            <a:r>
              <a:rPr lang="zh-CN" altLang="en-US" sz="2400">
                <a:ea typeface="楷体_GB2312"/>
              </a:rPr>
              <a:t>在电场</a:t>
            </a:r>
            <a:r>
              <a:rPr lang="en-US" altLang="zh-CN" sz="2400" i="1">
                <a:ea typeface="楷体_GB2312"/>
              </a:rPr>
              <a:t>E</a:t>
            </a:r>
            <a:r>
              <a:rPr lang="zh-CN" altLang="en-US" sz="2400">
                <a:ea typeface="楷体_GB2312"/>
              </a:rPr>
              <a:t>中的电场力</a:t>
            </a:r>
            <a:endParaRPr lang="zh-CN" altLang="en-US" sz="3600">
              <a:solidFill>
                <a:srgbClr val="FF3300"/>
              </a:solidFill>
              <a:ea typeface="楷体_GB2312"/>
            </a:endParaRPr>
          </a:p>
        </p:txBody>
      </p:sp>
      <p:graphicFrame>
        <p:nvGraphicFramePr>
          <p:cNvPr id="105487" name="Object 15"/>
          <p:cNvGraphicFramePr>
            <a:graphicFrameLocks noChangeAspect="1"/>
          </p:cNvGraphicFramePr>
          <p:nvPr/>
        </p:nvGraphicFramePr>
        <p:xfrm>
          <a:off x="6934200" y="3886200"/>
          <a:ext cx="1524000" cy="706438"/>
        </p:xfrm>
        <a:graphic>
          <a:graphicData uri="http://schemas.openxmlformats.org/presentationml/2006/ole">
            <mc:AlternateContent xmlns:mc="http://schemas.openxmlformats.org/markup-compatibility/2006">
              <mc:Choice xmlns:v="urn:schemas-microsoft-com:vml" Requires="v">
                <p:oleObj spid="_x0000_s145615" name="公式" r:id="rId5" imgW="495085" imgH="228501" progId="Equation.3">
                  <p:embed/>
                </p:oleObj>
              </mc:Choice>
              <mc:Fallback>
                <p:oleObj name="公式" r:id="rId5" imgW="495085" imgH="228501" progId="Equation.3">
                  <p:embed/>
                  <p:pic>
                    <p:nvPicPr>
                      <p:cNvPr id="105487"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34200" y="3886200"/>
                        <a:ext cx="1524000" cy="706438"/>
                      </a:xfrm>
                      <a:prstGeom prst="rect">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5488" name="Text Box 16"/>
          <p:cNvSpPr txBox="1">
            <a:spLocks noChangeArrowheads="1"/>
          </p:cNvSpPr>
          <p:nvPr/>
        </p:nvSpPr>
        <p:spPr bwMode="auto">
          <a:xfrm>
            <a:off x="6057900" y="4572000"/>
            <a:ext cx="2781300" cy="22828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当</a:t>
            </a:r>
            <a:r>
              <a:rPr lang="en-US" altLang="zh-CN" sz="2400" i="1">
                <a:ea typeface="楷体_GB2312"/>
              </a:rPr>
              <a:t>q</a:t>
            </a:r>
            <a:r>
              <a:rPr lang="en-US" altLang="zh-CN" sz="2400">
                <a:ea typeface="楷体_GB2312"/>
              </a:rPr>
              <a:t>&gt;0</a:t>
            </a:r>
            <a:r>
              <a:rPr lang="zh-CN" altLang="en-US" sz="2400">
                <a:ea typeface="楷体_GB2312"/>
              </a:rPr>
              <a:t>时，电场力方向与电场强度方向相同；</a:t>
            </a:r>
          </a:p>
          <a:p>
            <a:pPr eaLnBrk="1" hangingPunct="1">
              <a:spcBef>
                <a:spcPct val="0"/>
              </a:spcBef>
              <a:buFontTx/>
              <a:buNone/>
            </a:pPr>
            <a:r>
              <a:rPr lang="zh-CN" altLang="en-US" sz="2400">
                <a:ea typeface="楷体_GB2312"/>
              </a:rPr>
              <a:t>当</a:t>
            </a:r>
            <a:r>
              <a:rPr lang="en-US" altLang="zh-CN" sz="2400" i="1">
                <a:ea typeface="楷体_GB2312"/>
              </a:rPr>
              <a:t>q</a:t>
            </a:r>
            <a:r>
              <a:rPr lang="en-US" altLang="zh-CN" sz="2400">
                <a:ea typeface="楷体_GB2312"/>
              </a:rPr>
              <a:t>&lt;0</a:t>
            </a:r>
            <a:r>
              <a:rPr lang="zh-CN" altLang="en-US" sz="2400">
                <a:ea typeface="楷体_GB2312"/>
              </a:rPr>
              <a:t>时，电场力方向与电场强度方向相反。</a:t>
            </a:r>
            <a:endParaRPr lang="zh-CN" altLang="en-US" sz="3600">
              <a:solidFill>
                <a:srgbClr val="FF3300"/>
              </a:solidFill>
              <a:ea typeface="楷体_GB2312"/>
            </a:endParaRPr>
          </a:p>
        </p:txBody>
      </p:sp>
      <p:pic>
        <p:nvPicPr>
          <p:cNvPr id="105490" name="Picture 18" descr="image0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950" y="-42863"/>
            <a:ext cx="8496494" cy="3092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85" name="Text Box 13"/>
          <p:cNvSpPr txBox="1">
            <a:spLocks noChangeArrowheads="1"/>
          </p:cNvSpPr>
          <p:nvPr/>
        </p:nvSpPr>
        <p:spPr bwMode="auto">
          <a:xfrm>
            <a:off x="6083300" y="2520950"/>
            <a:ext cx="2376488"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0000FF"/>
                </a:solidFill>
                <a:ea typeface="楷体_GB2312"/>
              </a:rPr>
              <a:t>4</a:t>
            </a:r>
            <a:r>
              <a:rPr lang="zh-CN" altLang="en-US" sz="2800">
                <a:solidFill>
                  <a:srgbClr val="0000FF"/>
                </a:solidFill>
                <a:ea typeface="楷体_GB2312"/>
              </a:rPr>
              <a:t>、电场力</a:t>
            </a:r>
            <a:endParaRPr lang="zh-CN" altLang="en-US" sz="3600">
              <a:solidFill>
                <a:srgbClr val="FF3300"/>
              </a:solidFill>
              <a:ea typeface="楷体_GB2312"/>
            </a:endParaRPr>
          </a:p>
        </p:txBody>
      </p:sp>
    </p:spTree>
    <p:extLst>
      <p:ext uri="{BB962C8B-B14F-4D97-AF65-F5344CB8AC3E}">
        <p14:creationId xmlns:p14="http://schemas.microsoft.com/office/powerpoint/2010/main" val="2491319541"/>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105474">
                                            <p:txEl>
                                              <p:pRg st="0" end="0"/>
                                            </p:txEl>
                                          </p:spTgt>
                                        </p:tgtEl>
                                        <p:attrNameLst>
                                          <p:attrName>style.visibility</p:attrName>
                                        </p:attrNameLst>
                                      </p:cBhvr>
                                      <p:to>
                                        <p:strVal val="visible"/>
                                      </p:to>
                                    </p:set>
                                    <p:animEffect transition="in" filter="wipe(left)">
                                      <p:cBhvr>
                                        <p:cTn id="7" dur="75"/>
                                        <p:tgtEl>
                                          <p:spTgt spid="10547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105474">
                                            <p:txEl>
                                              <p:pRg st="1" end="1"/>
                                            </p:txEl>
                                          </p:spTgt>
                                        </p:tgtEl>
                                        <p:attrNameLst>
                                          <p:attrName>style.visibility</p:attrName>
                                        </p:attrNameLst>
                                      </p:cBhvr>
                                      <p:to>
                                        <p:strVal val="visible"/>
                                      </p:to>
                                    </p:set>
                                    <p:animEffect transition="in" filter="wipe(left)">
                                      <p:cBhvr>
                                        <p:cTn id="12" dur="75"/>
                                        <p:tgtEl>
                                          <p:spTgt spid="10547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5475"/>
                                        </p:tgtEl>
                                        <p:attrNameLst>
                                          <p:attrName>style.visibility</p:attrName>
                                        </p:attrNameLst>
                                      </p:cBhvr>
                                      <p:to>
                                        <p:strVal val="visible"/>
                                      </p:to>
                                    </p:set>
                                    <p:animEffect transition="in" filter="wipe(left)">
                                      <p:cBhvr>
                                        <p:cTn id="17" dur="500"/>
                                        <p:tgtEl>
                                          <p:spTgt spid="1054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105476">
                                            <p:txEl>
                                              <p:pRg st="0" end="0"/>
                                            </p:txEl>
                                          </p:spTgt>
                                        </p:tgtEl>
                                        <p:attrNameLst>
                                          <p:attrName>style.visibility</p:attrName>
                                        </p:attrNameLst>
                                      </p:cBhvr>
                                      <p:to>
                                        <p:strVal val="visible"/>
                                      </p:to>
                                    </p:set>
                                    <p:animEffect transition="in" filter="wipe(left)">
                                      <p:cBhvr>
                                        <p:cTn id="22" dur="75"/>
                                        <p:tgtEl>
                                          <p:spTgt spid="105476">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105476">
                                            <p:txEl>
                                              <p:pRg st="1" end="1"/>
                                            </p:txEl>
                                          </p:spTgt>
                                        </p:tgtEl>
                                        <p:attrNameLst>
                                          <p:attrName>style.visibility</p:attrName>
                                        </p:attrNameLst>
                                      </p:cBhvr>
                                      <p:to>
                                        <p:strVal val="visible"/>
                                      </p:to>
                                    </p:set>
                                    <p:animEffect transition="in" filter="wipe(left)">
                                      <p:cBhvr>
                                        <p:cTn id="27" dur="75"/>
                                        <p:tgtEl>
                                          <p:spTgt spid="105476">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105490"/>
                                        </p:tgtEl>
                                        <p:attrNameLst>
                                          <p:attrName>style.visibility</p:attrName>
                                        </p:attrNameLst>
                                      </p:cBhvr>
                                      <p:to>
                                        <p:strVal val="visible"/>
                                      </p:to>
                                    </p:set>
                                    <p:animEffect transition="in" filter="wipe(down)">
                                      <p:cBhvr>
                                        <p:cTn id="32" dur="500"/>
                                        <p:tgtEl>
                                          <p:spTgt spid="10549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5477">
                                            <p:txEl>
                                              <p:pRg st="0" end="0"/>
                                            </p:txEl>
                                          </p:spTgt>
                                        </p:tgtEl>
                                        <p:attrNameLst>
                                          <p:attrName>style.visibility</p:attrName>
                                        </p:attrNameLst>
                                      </p:cBhvr>
                                      <p:to>
                                        <p:strVal val="visible"/>
                                      </p:to>
                                    </p:set>
                                    <p:animEffect transition="in" filter="wipe(left)">
                                      <p:cBhvr>
                                        <p:cTn id="37" dur="500"/>
                                        <p:tgtEl>
                                          <p:spTgt spid="105477">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5479">
                                            <p:bg/>
                                          </p:spTgt>
                                        </p:tgtEl>
                                        <p:attrNameLst>
                                          <p:attrName>style.visibility</p:attrName>
                                        </p:attrNameLst>
                                      </p:cBhvr>
                                      <p:to>
                                        <p:strVal val="visible"/>
                                      </p:to>
                                    </p:set>
                                    <p:animEffect transition="in" filter="wipe(left)">
                                      <p:cBhvr>
                                        <p:cTn id="42" dur="75"/>
                                        <p:tgtEl>
                                          <p:spTgt spid="105479">
                                            <p:bg/>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iterate type="lt">
                                    <p:tmPct val="100000"/>
                                  </p:iterate>
                                  <p:childTnLst>
                                    <p:set>
                                      <p:cBhvr>
                                        <p:cTn id="46" dur="1" fill="hold">
                                          <p:stCondLst>
                                            <p:cond delay="0"/>
                                          </p:stCondLst>
                                        </p:cTn>
                                        <p:tgtEl>
                                          <p:spTgt spid="105479">
                                            <p:txEl>
                                              <p:pRg st="0" end="0"/>
                                            </p:txEl>
                                          </p:spTgt>
                                        </p:tgtEl>
                                        <p:attrNameLst>
                                          <p:attrName>style.visibility</p:attrName>
                                        </p:attrNameLst>
                                      </p:cBhvr>
                                      <p:to>
                                        <p:strVal val="visible"/>
                                      </p:to>
                                    </p:set>
                                    <p:animEffect transition="in" filter="wipe(left)">
                                      <p:cBhvr>
                                        <p:cTn id="47" dur="75"/>
                                        <p:tgtEl>
                                          <p:spTgt spid="105479">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105484"/>
                                        </p:tgtEl>
                                        <p:attrNameLst>
                                          <p:attrName>style.visibility</p:attrName>
                                        </p:attrNameLst>
                                      </p:cBhvr>
                                      <p:to>
                                        <p:strVal val="visible"/>
                                      </p:to>
                                    </p:set>
                                    <p:animEffect transition="in" filter="wipe(up)">
                                      <p:cBhvr>
                                        <p:cTn id="52" dur="500"/>
                                        <p:tgtEl>
                                          <p:spTgt spid="10548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05485"/>
                                        </p:tgtEl>
                                        <p:attrNameLst>
                                          <p:attrName>style.visibility</p:attrName>
                                        </p:attrNameLst>
                                      </p:cBhvr>
                                      <p:to>
                                        <p:strVal val="visible"/>
                                      </p:to>
                                    </p:set>
                                    <p:animEffect transition="in" filter="wipe(left)">
                                      <p:cBhvr>
                                        <p:cTn id="57" dur="500"/>
                                        <p:tgtEl>
                                          <p:spTgt spid="10548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05486"/>
                                        </p:tgtEl>
                                        <p:attrNameLst>
                                          <p:attrName>style.visibility</p:attrName>
                                        </p:attrNameLst>
                                      </p:cBhvr>
                                      <p:to>
                                        <p:strVal val="visible"/>
                                      </p:to>
                                    </p:set>
                                    <p:animEffect transition="in" filter="wipe(left)">
                                      <p:cBhvr>
                                        <p:cTn id="62" dur="500"/>
                                        <p:tgtEl>
                                          <p:spTgt spid="10548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105487"/>
                                        </p:tgtEl>
                                        <p:attrNameLst>
                                          <p:attrName>style.visibility</p:attrName>
                                        </p:attrNameLst>
                                      </p:cBhvr>
                                      <p:to>
                                        <p:strVal val="visible"/>
                                      </p:to>
                                    </p:set>
                                    <p:animEffect transition="in" filter="wipe(left)">
                                      <p:cBhvr>
                                        <p:cTn id="67" dur="500"/>
                                        <p:tgtEl>
                                          <p:spTgt spid="10548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iterate type="lt">
                                    <p:tmPct val="100000"/>
                                  </p:iterate>
                                  <p:childTnLst>
                                    <p:set>
                                      <p:cBhvr>
                                        <p:cTn id="71" dur="1" fill="hold">
                                          <p:stCondLst>
                                            <p:cond delay="0"/>
                                          </p:stCondLst>
                                        </p:cTn>
                                        <p:tgtEl>
                                          <p:spTgt spid="105488">
                                            <p:txEl>
                                              <p:pRg st="0" end="0"/>
                                            </p:txEl>
                                          </p:spTgt>
                                        </p:tgtEl>
                                        <p:attrNameLst>
                                          <p:attrName>style.visibility</p:attrName>
                                        </p:attrNameLst>
                                      </p:cBhvr>
                                      <p:to>
                                        <p:strVal val="visible"/>
                                      </p:to>
                                    </p:set>
                                    <p:animEffect transition="in" filter="wipe(left)">
                                      <p:cBhvr>
                                        <p:cTn id="72" dur="75"/>
                                        <p:tgtEl>
                                          <p:spTgt spid="105488">
                                            <p:txEl>
                                              <p:pRg st="0" end="0"/>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iterate type="lt">
                                    <p:tmPct val="100000"/>
                                  </p:iterate>
                                  <p:childTnLst>
                                    <p:set>
                                      <p:cBhvr>
                                        <p:cTn id="76" dur="1" fill="hold">
                                          <p:stCondLst>
                                            <p:cond delay="0"/>
                                          </p:stCondLst>
                                        </p:cTn>
                                        <p:tgtEl>
                                          <p:spTgt spid="105488">
                                            <p:txEl>
                                              <p:pRg st="1" end="1"/>
                                            </p:txEl>
                                          </p:spTgt>
                                        </p:tgtEl>
                                        <p:attrNameLst>
                                          <p:attrName>style.visibility</p:attrName>
                                        </p:attrNameLst>
                                      </p:cBhvr>
                                      <p:to>
                                        <p:strVal val="visible"/>
                                      </p:to>
                                    </p:set>
                                    <p:animEffect transition="in" filter="wipe(left)">
                                      <p:cBhvr>
                                        <p:cTn id="77" dur="75"/>
                                        <p:tgtEl>
                                          <p:spTgt spid="10548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4" grpId="0" build="p" bldLvl="2" autoUpdateAnimBg="0"/>
      <p:bldP spid="105476" grpId="0" build="p" autoUpdateAnimBg="0"/>
      <p:bldP spid="105477" grpId="0" build="p" autoUpdateAnimBg="0"/>
      <p:bldP spid="105479" grpId="0" build="p" animBg="1" autoUpdateAnimBg="0"/>
      <p:bldP spid="105486" grpId="0" autoUpdateAnimBg="0"/>
      <p:bldP spid="105488" grpId="0" build="p" autoUpdateAnimBg="0"/>
      <p:bldP spid="105485"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2"/>
          <p:cNvSpPr txBox="1">
            <a:spLocks noChangeArrowheads="1"/>
          </p:cNvSpPr>
          <p:nvPr/>
        </p:nvSpPr>
        <p:spPr bwMode="auto">
          <a:xfrm>
            <a:off x="76200" y="106363"/>
            <a:ext cx="5105400" cy="579437"/>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a:solidFill>
                  <a:schemeClr val="folHlink"/>
                </a:solidFill>
                <a:latin typeface="Arial" panose="020B0604020202020204" pitchFamily="34" charset="0"/>
                <a:ea typeface="楷体_GB2312"/>
              </a:rPr>
              <a:t>三、点电荷电场强度</a:t>
            </a:r>
          </a:p>
        </p:txBody>
      </p:sp>
      <p:sp>
        <p:nvSpPr>
          <p:cNvPr id="107523" name="Text Box 3"/>
          <p:cNvSpPr txBox="1">
            <a:spLocks noChangeArrowheads="1"/>
          </p:cNvSpPr>
          <p:nvPr/>
        </p:nvSpPr>
        <p:spPr bwMode="auto">
          <a:xfrm>
            <a:off x="438150" y="803275"/>
            <a:ext cx="8526463" cy="8334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         在真空中，点电荷</a:t>
            </a:r>
            <a:r>
              <a:rPr lang="en-US" altLang="zh-CN" sz="2400" i="1">
                <a:ea typeface="楷体_GB2312"/>
              </a:rPr>
              <a:t>Q </a:t>
            </a:r>
            <a:r>
              <a:rPr lang="zh-CN" altLang="en-US" sz="2400">
                <a:ea typeface="楷体_GB2312"/>
              </a:rPr>
              <a:t>放在坐标原点，试验电荷放在</a:t>
            </a:r>
            <a:r>
              <a:rPr lang="en-US" altLang="zh-CN" sz="2400" i="1">
                <a:ea typeface="楷体_GB2312"/>
              </a:rPr>
              <a:t>r </a:t>
            </a:r>
            <a:r>
              <a:rPr lang="zh-CN" altLang="en-US" sz="2400">
                <a:ea typeface="楷体_GB2312"/>
              </a:rPr>
              <a:t>处，由库仑定律可知试验电荷受到的</a:t>
            </a:r>
            <a:r>
              <a:rPr lang="zh-CN" altLang="en-US" sz="2400">
                <a:solidFill>
                  <a:srgbClr val="0000FF"/>
                </a:solidFill>
                <a:ea typeface="楷体_GB2312"/>
              </a:rPr>
              <a:t>电场力</a:t>
            </a:r>
            <a:r>
              <a:rPr lang="zh-CN" altLang="en-US" sz="2400">
                <a:ea typeface="楷体_GB2312"/>
              </a:rPr>
              <a:t>为</a:t>
            </a:r>
            <a:endParaRPr lang="zh-CN" altLang="en-US" sz="3600">
              <a:solidFill>
                <a:srgbClr val="FF3300"/>
              </a:solidFill>
              <a:ea typeface="楷体_GB2312"/>
            </a:endParaRPr>
          </a:p>
        </p:txBody>
      </p:sp>
      <p:graphicFrame>
        <p:nvGraphicFramePr>
          <p:cNvPr id="107524" name="Object 4"/>
          <p:cNvGraphicFramePr>
            <a:graphicFrameLocks noChangeAspect="1"/>
          </p:cNvGraphicFramePr>
          <p:nvPr/>
        </p:nvGraphicFramePr>
        <p:xfrm>
          <a:off x="2616200" y="1600200"/>
          <a:ext cx="2017713" cy="990600"/>
        </p:xfrm>
        <a:graphic>
          <a:graphicData uri="http://schemas.openxmlformats.org/presentationml/2006/ole">
            <mc:AlternateContent xmlns:mc="http://schemas.openxmlformats.org/markup-compatibility/2006">
              <mc:Choice xmlns:v="urn:schemas-microsoft-com:vml" Requires="v">
                <p:oleObj spid="_x0000_s147250" name="Equation" r:id="rId3" imgW="901309" imgH="444307" progId="Equation.DSMT4">
                  <p:embed/>
                </p:oleObj>
              </mc:Choice>
              <mc:Fallback>
                <p:oleObj name="Equation" r:id="rId3" imgW="901309" imgH="444307" progId="Equation.DSMT4">
                  <p:embed/>
                  <p:pic>
                    <p:nvPicPr>
                      <p:cNvPr id="10752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6200" y="1600200"/>
                        <a:ext cx="2017713" cy="9906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7525" name="Text Box 5"/>
          <p:cNvSpPr txBox="1">
            <a:spLocks noChangeArrowheads="1"/>
          </p:cNvSpPr>
          <p:nvPr/>
        </p:nvSpPr>
        <p:spPr bwMode="auto">
          <a:xfrm>
            <a:off x="395288" y="2420938"/>
            <a:ext cx="2879725" cy="5191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800">
                <a:solidFill>
                  <a:srgbClr val="0000FF"/>
                </a:solidFill>
                <a:ea typeface="楷体_GB2312"/>
              </a:rPr>
              <a:t>点电荷场强公式</a:t>
            </a:r>
            <a:endParaRPr lang="zh-CN" altLang="en-US" sz="2400">
              <a:ea typeface="楷体_GB2312"/>
            </a:endParaRPr>
          </a:p>
        </p:txBody>
      </p:sp>
      <p:sp>
        <p:nvSpPr>
          <p:cNvPr id="107528" name="Text Box 8"/>
          <p:cNvSpPr txBox="1">
            <a:spLocks noChangeArrowheads="1"/>
          </p:cNvSpPr>
          <p:nvPr/>
        </p:nvSpPr>
        <p:spPr bwMode="auto">
          <a:xfrm>
            <a:off x="6011863" y="4581525"/>
            <a:ext cx="2947987" cy="19796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FF"/>
                </a:solidFill>
                <a:ea typeface="楷体_GB2312"/>
              </a:rPr>
              <a:t>说明：</a:t>
            </a:r>
            <a:endParaRPr lang="zh-CN" altLang="en-US" sz="2400">
              <a:ea typeface="楷体_GB2312"/>
            </a:endParaRPr>
          </a:p>
          <a:p>
            <a:pPr lvl="1" eaLnBrk="1" hangingPunct="1">
              <a:spcBef>
                <a:spcPct val="0"/>
              </a:spcBef>
              <a:buFontTx/>
              <a:buNone/>
            </a:pPr>
            <a:r>
              <a:rPr lang="en-US" altLang="zh-CN" sz="2400">
                <a:ea typeface="楷体_GB2312"/>
              </a:rPr>
              <a:t>(1)</a:t>
            </a:r>
            <a:r>
              <a:rPr lang="zh-CN" altLang="en-US" sz="2400">
                <a:ea typeface="楷体_GB2312"/>
              </a:rPr>
              <a:t>点电荷电场</a:t>
            </a:r>
            <a:r>
              <a:rPr lang="zh-CN" altLang="en-US" sz="2400">
                <a:solidFill>
                  <a:srgbClr val="FF3300"/>
                </a:solidFill>
                <a:ea typeface="楷体_GB2312"/>
              </a:rPr>
              <a:t>是非均匀电场</a:t>
            </a:r>
            <a:r>
              <a:rPr lang="zh-CN" altLang="en-US" sz="2400">
                <a:ea typeface="楷体_GB2312"/>
              </a:rPr>
              <a:t>；</a:t>
            </a:r>
          </a:p>
          <a:p>
            <a:pPr lvl="1" eaLnBrk="1" hangingPunct="1">
              <a:spcBef>
                <a:spcPct val="0"/>
              </a:spcBef>
              <a:buFontTx/>
              <a:buNone/>
            </a:pPr>
            <a:r>
              <a:rPr lang="en-US" altLang="zh-CN" sz="2400">
                <a:ea typeface="楷体_GB2312"/>
              </a:rPr>
              <a:t>(2)</a:t>
            </a:r>
            <a:r>
              <a:rPr lang="zh-CN" altLang="en-US" sz="2400">
                <a:ea typeface="楷体_GB2312"/>
              </a:rPr>
              <a:t>点电荷电场具有</a:t>
            </a:r>
            <a:r>
              <a:rPr lang="zh-CN" altLang="en-US" sz="2400">
                <a:solidFill>
                  <a:srgbClr val="FF3300"/>
                </a:solidFill>
                <a:ea typeface="楷体_GB2312"/>
              </a:rPr>
              <a:t>球对称性</a:t>
            </a:r>
            <a:r>
              <a:rPr lang="zh-CN" altLang="en-US" sz="2400">
                <a:ea typeface="楷体_GB2312"/>
              </a:rPr>
              <a:t>。</a:t>
            </a:r>
            <a:endParaRPr lang="zh-CN" altLang="en-US" sz="3600">
              <a:solidFill>
                <a:srgbClr val="FF3300"/>
              </a:solidFill>
              <a:ea typeface="楷体_GB2312"/>
            </a:endParaRPr>
          </a:p>
        </p:txBody>
      </p:sp>
      <p:grpSp>
        <p:nvGrpSpPr>
          <p:cNvPr id="107539" name="Group 19"/>
          <p:cNvGrpSpPr>
            <a:grpSpLocks/>
          </p:cNvGrpSpPr>
          <p:nvPr/>
        </p:nvGrpSpPr>
        <p:grpSpPr bwMode="auto">
          <a:xfrm>
            <a:off x="539750" y="4437063"/>
            <a:ext cx="2438400" cy="2362200"/>
            <a:chOff x="3936" y="864"/>
            <a:chExt cx="1536" cy="1488"/>
          </a:xfrm>
        </p:grpSpPr>
        <p:sp>
          <p:nvSpPr>
            <p:cNvPr id="43037" name="Oval 9"/>
            <p:cNvSpPr>
              <a:spLocks noChangeArrowheads="1"/>
            </p:cNvSpPr>
            <p:nvPr/>
          </p:nvSpPr>
          <p:spPr bwMode="auto">
            <a:xfrm>
              <a:off x="4416" y="1376"/>
              <a:ext cx="576" cy="554"/>
            </a:xfrm>
            <a:prstGeom prst="ellipse">
              <a:avLst/>
            </a:prstGeom>
            <a:solidFill>
              <a:srgbClr val="FFFF66"/>
            </a:solidFill>
            <a:ln w="9525">
              <a:solidFill>
                <a:srgbClr val="FF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3600">
                  <a:solidFill>
                    <a:srgbClr val="FF3300"/>
                  </a:solidFill>
                  <a:ea typeface="楷体_GB2312"/>
                </a:rPr>
                <a:t>+</a:t>
              </a:r>
            </a:p>
          </p:txBody>
        </p:sp>
        <p:sp>
          <p:nvSpPr>
            <p:cNvPr id="43038" name="Line 11"/>
            <p:cNvSpPr>
              <a:spLocks noChangeShapeType="1"/>
            </p:cNvSpPr>
            <p:nvPr/>
          </p:nvSpPr>
          <p:spPr bwMode="auto">
            <a:xfrm>
              <a:off x="4704" y="1920"/>
              <a:ext cx="0" cy="432"/>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43039" name="Line 12"/>
            <p:cNvSpPr>
              <a:spLocks noChangeShapeType="1"/>
            </p:cNvSpPr>
            <p:nvPr/>
          </p:nvSpPr>
          <p:spPr bwMode="auto">
            <a:xfrm flipV="1">
              <a:off x="4704" y="864"/>
              <a:ext cx="0" cy="528"/>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43040" name="Line 13"/>
            <p:cNvSpPr>
              <a:spLocks noChangeShapeType="1"/>
            </p:cNvSpPr>
            <p:nvPr/>
          </p:nvSpPr>
          <p:spPr bwMode="auto">
            <a:xfrm>
              <a:off x="4992" y="1632"/>
              <a:ext cx="48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43041" name="Line 14"/>
            <p:cNvSpPr>
              <a:spLocks noChangeShapeType="1"/>
            </p:cNvSpPr>
            <p:nvPr/>
          </p:nvSpPr>
          <p:spPr bwMode="auto">
            <a:xfrm flipH="1">
              <a:off x="3936" y="1680"/>
              <a:ext cx="48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43042" name="Line 15"/>
            <p:cNvSpPr>
              <a:spLocks noChangeShapeType="1"/>
            </p:cNvSpPr>
            <p:nvPr/>
          </p:nvSpPr>
          <p:spPr bwMode="auto">
            <a:xfrm>
              <a:off x="4896" y="1872"/>
              <a:ext cx="288" cy="288"/>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43043" name="Line 16"/>
            <p:cNvSpPr>
              <a:spLocks noChangeShapeType="1"/>
            </p:cNvSpPr>
            <p:nvPr/>
          </p:nvSpPr>
          <p:spPr bwMode="auto">
            <a:xfrm flipH="1">
              <a:off x="4176" y="1872"/>
              <a:ext cx="336" cy="336"/>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43044" name="Line 17"/>
            <p:cNvSpPr>
              <a:spLocks noChangeShapeType="1"/>
            </p:cNvSpPr>
            <p:nvPr/>
          </p:nvSpPr>
          <p:spPr bwMode="auto">
            <a:xfrm flipH="1" flipV="1">
              <a:off x="4224" y="1152"/>
              <a:ext cx="288" cy="288"/>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43045" name="Line 18"/>
            <p:cNvSpPr>
              <a:spLocks noChangeShapeType="1"/>
            </p:cNvSpPr>
            <p:nvPr/>
          </p:nvSpPr>
          <p:spPr bwMode="auto">
            <a:xfrm flipV="1">
              <a:off x="4896" y="1152"/>
              <a:ext cx="288" cy="288"/>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pSp>
      <p:grpSp>
        <p:nvGrpSpPr>
          <p:cNvPr id="107550" name="Group 30"/>
          <p:cNvGrpSpPr>
            <a:grpSpLocks/>
          </p:cNvGrpSpPr>
          <p:nvPr/>
        </p:nvGrpSpPr>
        <p:grpSpPr bwMode="auto">
          <a:xfrm>
            <a:off x="3132138" y="4365625"/>
            <a:ext cx="2438400" cy="2362200"/>
            <a:chOff x="3888" y="2544"/>
            <a:chExt cx="1536" cy="1488"/>
          </a:xfrm>
        </p:grpSpPr>
        <p:sp>
          <p:nvSpPr>
            <p:cNvPr id="43028" name="Oval 21"/>
            <p:cNvSpPr>
              <a:spLocks noChangeArrowheads="1"/>
            </p:cNvSpPr>
            <p:nvPr/>
          </p:nvSpPr>
          <p:spPr bwMode="auto">
            <a:xfrm>
              <a:off x="4368" y="3056"/>
              <a:ext cx="576" cy="554"/>
            </a:xfrm>
            <a:prstGeom prst="ellipse">
              <a:avLst/>
            </a:prstGeom>
            <a:solidFill>
              <a:srgbClr val="FFFF66"/>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3600">
                  <a:solidFill>
                    <a:srgbClr val="FF3300"/>
                  </a:solidFill>
                  <a:ea typeface="楷体_GB2312"/>
                </a:rPr>
                <a:t>-</a:t>
              </a:r>
            </a:p>
          </p:txBody>
        </p:sp>
        <p:sp>
          <p:nvSpPr>
            <p:cNvPr id="43029" name="Line 22"/>
            <p:cNvSpPr>
              <a:spLocks noChangeShapeType="1"/>
            </p:cNvSpPr>
            <p:nvPr/>
          </p:nvSpPr>
          <p:spPr bwMode="auto">
            <a:xfrm>
              <a:off x="4656" y="3600"/>
              <a:ext cx="0" cy="432"/>
            </a:xfrm>
            <a:prstGeom prst="line">
              <a:avLst/>
            </a:prstGeom>
            <a:noFill/>
            <a:ln w="38100">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43030" name="Line 23"/>
            <p:cNvSpPr>
              <a:spLocks noChangeShapeType="1"/>
            </p:cNvSpPr>
            <p:nvPr/>
          </p:nvSpPr>
          <p:spPr bwMode="auto">
            <a:xfrm flipV="1">
              <a:off x="4656" y="2544"/>
              <a:ext cx="0" cy="528"/>
            </a:xfrm>
            <a:prstGeom prst="line">
              <a:avLst/>
            </a:prstGeom>
            <a:noFill/>
            <a:ln w="38100">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43031" name="Line 24"/>
            <p:cNvSpPr>
              <a:spLocks noChangeShapeType="1"/>
            </p:cNvSpPr>
            <p:nvPr/>
          </p:nvSpPr>
          <p:spPr bwMode="auto">
            <a:xfrm>
              <a:off x="4944" y="3312"/>
              <a:ext cx="480" cy="0"/>
            </a:xfrm>
            <a:prstGeom prst="line">
              <a:avLst/>
            </a:prstGeom>
            <a:noFill/>
            <a:ln w="38100">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43032" name="Line 25"/>
            <p:cNvSpPr>
              <a:spLocks noChangeShapeType="1"/>
            </p:cNvSpPr>
            <p:nvPr/>
          </p:nvSpPr>
          <p:spPr bwMode="auto">
            <a:xfrm flipH="1">
              <a:off x="3888" y="3360"/>
              <a:ext cx="480" cy="0"/>
            </a:xfrm>
            <a:prstGeom prst="line">
              <a:avLst/>
            </a:prstGeom>
            <a:noFill/>
            <a:ln w="38100">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43033" name="Line 26"/>
            <p:cNvSpPr>
              <a:spLocks noChangeShapeType="1"/>
            </p:cNvSpPr>
            <p:nvPr/>
          </p:nvSpPr>
          <p:spPr bwMode="auto">
            <a:xfrm>
              <a:off x="4848" y="3552"/>
              <a:ext cx="288" cy="288"/>
            </a:xfrm>
            <a:prstGeom prst="line">
              <a:avLst/>
            </a:prstGeom>
            <a:noFill/>
            <a:ln w="38100">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43034" name="Line 27"/>
            <p:cNvSpPr>
              <a:spLocks noChangeShapeType="1"/>
            </p:cNvSpPr>
            <p:nvPr/>
          </p:nvSpPr>
          <p:spPr bwMode="auto">
            <a:xfrm flipH="1">
              <a:off x="4128" y="3552"/>
              <a:ext cx="336" cy="336"/>
            </a:xfrm>
            <a:prstGeom prst="line">
              <a:avLst/>
            </a:prstGeom>
            <a:noFill/>
            <a:ln w="38100">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43035" name="Line 28"/>
            <p:cNvSpPr>
              <a:spLocks noChangeShapeType="1"/>
            </p:cNvSpPr>
            <p:nvPr/>
          </p:nvSpPr>
          <p:spPr bwMode="auto">
            <a:xfrm flipH="1" flipV="1">
              <a:off x="4176" y="2832"/>
              <a:ext cx="288" cy="288"/>
            </a:xfrm>
            <a:prstGeom prst="line">
              <a:avLst/>
            </a:prstGeom>
            <a:noFill/>
            <a:ln w="38100">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43036" name="Line 29"/>
            <p:cNvSpPr>
              <a:spLocks noChangeShapeType="1"/>
            </p:cNvSpPr>
            <p:nvPr/>
          </p:nvSpPr>
          <p:spPr bwMode="auto">
            <a:xfrm flipV="1">
              <a:off x="4848" y="2832"/>
              <a:ext cx="288" cy="288"/>
            </a:xfrm>
            <a:prstGeom prst="line">
              <a:avLst/>
            </a:prstGeom>
            <a:noFill/>
            <a:ln w="38100">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pSp>
      <p:grpSp>
        <p:nvGrpSpPr>
          <p:cNvPr id="107555" name="Group 35"/>
          <p:cNvGrpSpPr>
            <a:grpSpLocks/>
          </p:cNvGrpSpPr>
          <p:nvPr/>
        </p:nvGrpSpPr>
        <p:grpSpPr bwMode="auto">
          <a:xfrm>
            <a:off x="438150" y="4033838"/>
            <a:ext cx="7851775" cy="590550"/>
            <a:chOff x="711" y="2677"/>
            <a:chExt cx="4946" cy="372"/>
          </a:xfrm>
        </p:grpSpPr>
        <p:sp>
          <p:nvSpPr>
            <p:cNvPr id="43025" name="Text Box 7"/>
            <p:cNvSpPr txBox="1">
              <a:spLocks noChangeArrowheads="1"/>
            </p:cNvSpPr>
            <p:nvPr/>
          </p:nvSpPr>
          <p:spPr bwMode="auto">
            <a:xfrm>
              <a:off x="711" y="2714"/>
              <a:ext cx="4946"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i="1">
                  <a:ea typeface="楷体_GB2312"/>
                </a:rPr>
                <a:t>Q</a:t>
              </a:r>
              <a:r>
                <a:rPr lang="en-US" altLang="zh-CN" sz="2400">
                  <a:ea typeface="楷体_GB2312"/>
                </a:rPr>
                <a:t>&gt;0</a:t>
              </a:r>
              <a:r>
                <a:rPr lang="zh-CN" altLang="en-US" sz="2400">
                  <a:ea typeface="楷体_GB2312"/>
                </a:rPr>
                <a:t>，</a:t>
              </a:r>
              <a:r>
                <a:rPr lang="zh-CN" altLang="zh-CN" sz="2400">
                  <a:ea typeface="楷体_GB2312"/>
                </a:rPr>
                <a:t>电场强度</a:t>
              </a:r>
              <a:r>
                <a:rPr lang="en-US" altLang="zh-CN" sz="2400" i="1">
                  <a:ea typeface="楷体_GB2312"/>
                </a:rPr>
                <a:t>E</a:t>
              </a:r>
              <a:r>
                <a:rPr lang="zh-CN" altLang="en-US" sz="2400">
                  <a:ea typeface="楷体_GB2312"/>
                </a:rPr>
                <a:t>与     同向    </a:t>
              </a:r>
              <a:r>
                <a:rPr lang="en-US" altLang="zh-CN" sz="2400" i="1">
                  <a:ea typeface="楷体_GB2312"/>
                </a:rPr>
                <a:t>Q</a:t>
              </a:r>
              <a:r>
                <a:rPr lang="en-US" altLang="zh-CN" sz="2400">
                  <a:ea typeface="楷体_GB2312"/>
                </a:rPr>
                <a:t>&lt;0</a:t>
              </a:r>
              <a:r>
                <a:rPr lang="zh-CN" altLang="en-US" sz="2400">
                  <a:ea typeface="楷体_GB2312"/>
                </a:rPr>
                <a:t>，</a:t>
              </a:r>
              <a:r>
                <a:rPr lang="zh-CN" altLang="zh-CN" sz="2400">
                  <a:ea typeface="楷体_GB2312"/>
                </a:rPr>
                <a:t>电场强度</a:t>
              </a:r>
              <a:r>
                <a:rPr lang="en-US" altLang="zh-CN" sz="2400" i="1">
                  <a:ea typeface="楷体_GB2312"/>
                </a:rPr>
                <a:t>E</a:t>
              </a:r>
              <a:r>
                <a:rPr lang="zh-CN" altLang="en-US" sz="2400">
                  <a:ea typeface="楷体_GB2312"/>
                </a:rPr>
                <a:t>与    反向。</a:t>
              </a:r>
            </a:p>
          </p:txBody>
        </p:sp>
        <p:graphicFrame>
          <p:nvGraphicFramePr>
            <p:cNvPr id="43026" name="Object 31"/>
            <p:cNvGraphicFramePr>
              <a:graphicFrameLocks noChangeAspect="1"/>
            </p:cNvGraphicFramePr>
            <p:nvPr/>
          </p:nvGraphicFramePr>
          <p:xfrm>
            <a:off x="2381" y="2677"/>
            <a:ext cx="218" cy="326"/>
          </p:xfrm>
          <a:graphic>
            <a:graphicData uri="http://schemas.openxmlformats.org/presentationml/2006/ole">
              <mc:AlternateContent xmlns:mc="http://schemas.openxmlformats.org/markup-compatibility/2006">
                <mc:Choice xmlns:v="urn:schemas-microsoft-com:vml" Requires="v">
                  <p:oleObj spid="_x0000_s147251" name="Equation" r:id="rId5" imgW="152334" imgH="228501" progId="Equation.DSMT4">
                    <p:embed/>
                  </p:oleObj>
                </mc:Choice>
                <mc:Fallback>
                  <p:oleObj name="Equation" r:id="rId5" imgW="152334" imgH="228501" progId="Equation.DSMT4">
                    <p:embed/>
                    <p:pic>
                      <p:nvPicPr>
                        <p:cNvPr id="43026" name="Object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81" y="2677"/>
                          <a:ext cx="218"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27" name="Object 33"/>
            <p:cNvGraphicFramePr>
              <a:graphicFrameLocks noChangeAspect="1"/>
            </p:cNvGraphicFramePr>
            <p:nvPr/>
          </p:nvGraphicFramePr>
          <p:xfrm>
            <a:off x="4830" y="2722"/>
            <a:ext cx="219" cy="327"/>
          </p:xfrm>
          <a:graphic>
            <a:graphicData uri="http://schemas.openxmlformats.org/presentationml/2006/ole">
              <mc:AlternateContent xmlns:mc="http://schemas.openxmlformats.org/markup-compatibility/2006">
                <mc:Choice xmlns:v="urn:schemas-microsoft-com:vml" Requires="v">
                  <p:oleObj spid="_x0000_s147252" name="Equation" r:id="rId7" imgW="152334" imgH="228501" progId="Equation.DSMT4">
                    <p:embed/>
                  </p:oleObj>
                </mc:Choice>
                <mc:Fallback>
                  <p:oleObj name="Equation" r:id="rId7" imgW="152334" imgH="228501" progId="Equation.DSMT4">
                    <p:embed/>
                    <p:pic>
                      <p:nvPicPr>
                        <p:cNvPr id="43027" name="Object 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30" y="2722"/>
                          <a:ext cx="21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3018" name="Line 15"/>
          <p:cNvSpPr>
            <a:spLocks noChangeShapeType="1"/>
          </p:cNvSpPr>
          <p:nvPr/>
        </p:nvSpPr>
        <p:spPr bwMode="auto">
          <a:xfrm flipV="1">
            <a:off x="7737475" y="2420938"/>
            <a:ext cx="938213" cy="1071562"/>
          </a:xfrm>
          <a:prstGeom prst="line">
            <a:avLst/>
          </a:prstGeom>
          <a:noFill/>
          <a:ln w="41275" cap="sq">
            <a:solidFill>
              <a:srgbClr val="FF00FF"/>
            </a:solidFill>
            <a:round/>
            <a:headEnd type="none" w="sm" len="sm"/>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3019" name="Object 17"/>
          <p:cNvGraphicFramePr>
            <a:graphicFrameLocks noChangeAspect="1"/>
          </p:cNvGraphicFramePr>
          <p:nvPr/>
        </p:nvGraphicFramePr>
        <p:xfrm>
          <a:off x="7292975" y="3357563"/>
          <a:ext cx="385763" cy="515937"/>
        </p:xfrm>
        <a:graphic>
          <a:graphicData uri="http://schemas.openxmlformats.org/presentationml/2006/ole">
            <mc:AlternateContent xmlns:mc="http://schemas.openxmlformats.org/markup-compatibility/2006">
              <mc:Choice xmlns:v="urn:schemas-microsoft-com:vml" Requires="v">
                <p:oleObj spid="_x0000_s147253" name="公式" r:id="rId9" imgW="152268" imgH="203024" progId="Equation.3">
                  <p:embed/>
                </p:oleObj>
              </mc:Choice>
              <mc:Fallback>
                <p:oleObj name="公式" r:id="rId9" imgW="152268" imgH="203024" progId="Equation.3">
                  <p:embed/>
                  <p:pic>
                    <p:nvPicPr>
                      <p:cNvPr id="43019"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92975" y="3357563"/>
                        <a:ext cx="385763"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20" name="Object 20"/>
          <p:cNvGraphicFramePr>
            <a:graphicFrameLocks noChangeAspect="1"/>
          </p:cNvGraphicFramePr>
          <p:nvPr/>
        </p:nvGraphicFramePr>
        <p:xfrm>
          <a:off x="8686800" y="1789113"/>
          <a:ext cx="450850" cy="584200"/>
        </p:xfrm>
        <a:graphic>
          <a:graphicData uri="http://schemas.openxmlformats.org/presentationml/2006/ole">
            <mc:AlternateContent xmlns:mc="http://schemas.openxmlformats.org/markup-compatibility/2006">
              <mc:Choice xmlns:v="urn:schemas-microsoft-com:vml" Requires="v">
                <p:oleObj spid="_x0000_s147254" name="公式" r:id="rId11" imgW="177646" imgH="228402" progId="Equation.3">
                  <p:embed/>
                </p:oleObj>
              </mc:Choice>
              <mc:Fallback>
                <p:oleObj name="公式" r:id="rId11" imgW="177646" imgH="228402" progId="Equation.3">
                  <p:embed/>
                  <p:pic>
                    <p:nvPicPr>
                      <p:cNvPr id="4302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686800" y="1789113"/>
                        <a:ext cx="4508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21" name="Object 23"/>
          <p:cNvGraphicFramePr>
            <a:graphicFrameLocks noChangeAspect="1"/>
          </p:cNvGraphicFramePr>
          <p:nvPr/>
        </p:nvGraphicFramePr>
        <p:xfrm>
          <a:off x="7772400" y="2744788"/>
          <a:ext cx="322263" cy="388937"/>
        </p:xfrm>
        <a:graphic>
          <a:graphicData uri="http://schemas.openxmlformats.org/presentationml/2006/ole">
            <mc:AlternateContent xmlns:mc="http://schemas.openxmlformats.org/markup-compatibility/2006">
              <mc:Choice xmlns:v="urn:schemas-microsoft-com:vml" Requires="v">
                <p:oleObj spid="_x0000_s147255" name="公式" r:id="rId13" imgW="126835" imgH="152202" progId="Equation.3">
                  <p:embed/>
                </p:oleObj>
              </mc:Choice>
              <mc:Fallback>
                <p:oleObj name="公式" r:id="rId13" imgW="126835" imgH="152202" progId="Equation.3">
                  <p:embed/>
                  <p:pic>
                    <p:nvPicPr>
                      <p:cNvPr id="43021" name="Object 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2400" y="2744788"/>
                        <a:ext cx="322263" cy="38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 name="组合 2"/>
          <p:cNvGrpSpPr>
            <a:grpSpLocks/>
          </p:cNvGrpSpPr>
          <p:nvPr/>
        </p:nvGrpSpPr>
        <p:grpSpPr bwMode="auto">
          <a:xfrm>
            <a:off x="3798888" y="2780928"/>
            <a:ext cx="2732087" cy="1056908"/>
            <a:chOff x="3798888" y="2780556"/>
            <a:chExt cx="2732087" cy="1057275"/>
          </a:xfrm>
        </p:grpSpPr>
        <p:graphicFrame>
          <p:nvGraphicFramePr>
            <p:cNvPr id="43023" name="Object 6"/>
            <p:cNvGraphicFramePr>
              <a:graphicFrameLocks noChangeAspect="1"/>
            </p:cNvGraphicFramePr>
            <p:nvPr>
              <p:extLst>
                <p:ext uri="{D42A27DB-BD31-4B8C-83A1-F6EECF244321}">
                  <p14:modId xmlns:p14="http://schemas.microsoft.com/office/powerpoint/2010/main" val="1765010596"/>
                </p:ext>
              </p:extLst>
            </p:nvPr>
          </p:nvGraphicFramePr>
          <p:xfrm>
            <a:off x="3798888" y="2780556"/>
            <a:ext cx="2732087" cy="1057275"/>
          </p:xfrm>
          <a:graphic>
            <a:graphicData uri="http://schemas.openxmlformats.org/presentationml/2006/ole">
              <mc:AlternateContent xmlns:mc="http://schemas.openxmlformats.org/markup-compatibility/2006">
                <mc:Choice xmlns:v="urn:schemas-microsoft-com:vml" Requires="v">
                  <p:oleObj spid="_x0000_s147256" name="Equation" r:id="rId15" imgW="1181100" imgH="457200" progId="Equation.DSMT4">
                    <p:embed/>
                  </p:oleObj>
                </mc:Choice>
                <mc:Fallback>
                  <p:oleObj name="Equation" r:id="rId15" imgW="1181100" imgH="457200" progId="Equation.DSMT4">
                    <p:embed/>
                    <p:pic>
                      <p:nvPicPr>
                        <p:cNvPr id="43023" name="Object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98888" y="2780556"/>
                          <a:ext cx="2732087" cy="105727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24" name="对象 1"/>
            <p:cNvGraphicFramePr>
              <a:graphicFrameLocks noChangeAspect="1"/>
            </p:cNvGraphicFramePr>
            <p:nvPr/>
          </p:nvGraphicFramePr>
          <p:xfrm>
            <a:off x="3811588" y="2780928"/>
            <a:ext cx="1066800" cy="1014413"/>
          </p:xfrm>
          <a:graphic>
            <a:graphicData uri="http://schemas.openxmlformats.org/presentationml/2006/ole">
              <mc:AlternateContent xmlns:mc="http://schemas.openxmlformats.org/markup-compatibility/2006">
                <mc:Choice xmlns:v="urn:schemas-microsoft-com:vml" Requires="v">
                  <p:oleObj spid="_x0000_s147257" name="公式" r:id="rId17" imgW="482600" imgH="457200" progId="Equation.3">
                    <p:embed/>
                  </p:oleObj>
                </mc:Choice>
                <mc:Fallback>
                  <p:oleObj name="公式" r:id="rId17" imgW="482600" imgH="457200" progId="Equation.3">
                    <p:embed/>
                    <p:pic>
                      <p:nvPicPr>
                        <p:cNvPr id="43024" name="对象 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811588" y="2780928"/>
                          <a:ext cx="1066800" cy="1014413"/>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extLst>
      <p:ext uri="{BB962C8B-B14F-4D97-AF65-F5344CB8AC3E}">
        <p14:creationId xmlns:p14="http://schemas.microsoft.com/office/powerpoint/2010/main" val="3436227448"/>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7522"/>
                                        </p:tgtEl>
                                        <p:attrNameLst>
                                          <p:attrName>style.visibility</p:attrName>
                                        </p:attrNameLst>
                                      </p:cBhvr>
                                      <p:to>
                                        <p:strVal val="visible"/>
                                      </p:to>
                                    </p:set>
                                    <p:animEffect transition="in" filter="wipe(left)">
                                      <p:cBhvr>
                                        <p:cTn id="7" dur="500"/>
                                        <p:tgtEl>
                                          <p:spTgt spid="1075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107523">
                                            <p:txEl>
                                              <p:pRg st="0" end="0"/>
                                            </p:txEl>
                                          </p:spTgt>
                                        </p:tgtEl>
                                        <p:attrNameLst>
                                          <p:attrName>style.visibility</p:attrName>
                                        </p:attrNameLst>
                                      </p:cBhvr>
                                      <p:to>
                                        <p:strVal val="visible"/>
                                      </p:to>
                                    </p:set>
                                    <p:animEffect transition="in" filter="wipe(left)">
                                      <p:cBhvr>
                                        <p:cTn id="12" dur="75"/>
                                        <p:tgtEl>
                                          <p:spTgt spid="10752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7524"/>
                                        </p:tgtEl>
                                        <p:attrNameLst>
                                          <p:attrName>style.visibility</p:attrName>
                                        </p:attrNameLst>
                                      </p:cBhvr>
                                      <p:to>
                                        <p:strVal val="visible"/>
                                      </p:to>
                                    </p:set>
                                    <p:animEffect transition="in" filter="wipe(left)">
                                      <p:cBhvr>
                                        <p:cTn id="17" dur="500"/>
                                        <p:tgtEl>
                                          <p:spTgt spid="1075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7525"/>
                                        </p:tgtEl>
                                        <p:attrNameLst>
                                          <p:attrName>style.visibility</p:attrName>
                                        </p:attrNameLst>
                                      </p:cBhvr>
                                      <p:to>
                                        <p:strVal val="visible"/>
                                      </p:to>
                                    </p:set>
                                    <p:animEffect transition="in" filter="wipe(left)">
                                      <p:cBhvr>
                                        <p:cTn id="22" dur="500"/>
                                        <p:tgtEl>
                                          <p:spTgt spid="10752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8" presetClass="entr" presetSubtype="16" fill="hold" nodeType="clickEffect">
                                  <p:stCondLst>
                                    <p:cond delay="0"/>
                                  </p:stCondLst>
                                  <p:childTnLst>
                                    <p:set>
                                      <p:cBhvr>
                                        <p:cTn id="30" dur="1" fill="hold">
                                          <p:stCondLst>
                                            <p:cond delay="0"/>
                                          </p:stCondLst>
                                        </p:cTn>
                                        <p:tgtEl>
                                          <p:spTgt spid="107555"/>
                                        </p:tgtEl>
                                        <p:attrNameLst>
                                          <p:attrName>style.visibility</p:attrName>
                                        </p:attrNameLst>
                                      </p:cBhvr>
                                      <p:to>
                                        <p:strVal val="visible"/>
                                      </p:to>
                                    </p:set>
                                    <p:animEffect transition="in" filter="diamond(in)">
                                      <p:cBhvr>
                                        <p:cTn id="31" dur="2000"/>
                                        <p:tgtEl>
                                          <p:spTgt spid="10755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107539"/>
                                        </p:tgtEl>
                                        <p:attrNameLst>
                                          <p:attrName>style.visibility</p:attrName>
                                        </p:attrNameLst>
                                      </p:cBhvr>
                                      <p:to>
                                        <p:strVal val="visible"/>
                                      </p:to>
                                    </p:set>
                                    <p:animEffect transition="in" filter="wipe(left)">
                                      <p:cBhvr>
                                        <p:cTn id="36" dur="500"/>
                                        <p:tgtEl>
                                          <p:spTgt spid="10753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07550"/>
                                        </p:tgtEl>
                                        <p:attrNameLst>
                                          <p:attrName>style.visibility</p:attrName>
                                        </p:attrNameLst>
                                      </p:cBhvr>
                                      <p:to>
                                        <p:strVal val="visible"/>
                                      </p:to>
                                    </p:set>
                                    <p:animEffect transition="in" filter="wipe(left)">
                                      <p:cBhvr>
                                        <p:cTn id="41" dur="500"/>
                                        <p:tgtEl>
                                          <p:spTgt spid="10755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075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2" grpId="0" animBg="1" autoUpdateAnimBg="0"/>
      <p:bldP spid="107523" grpId="0" build="p" autoUpdateAnimBg="0"/>
      <p:bldP spid="107525" grpId="0" autoUpdateAnimBg="0"/>
      <p:bldP spid="10752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79" name="Picture 39" descr="image03"/>
          <p:cNvPicPr>
            <a:picLocks noChangeAspect="1" noChangeArrowheads="1"/>
          </p:cNvPicPr>
          <p:nvPr/>
        </p:nvPicPr>
        <p:blipFill>
          <a:blip r:embed="rId3">
            <a:lum bright="-42000" contrast="60000"/>
            <a:extLst>
              <a:ext uri="{28A0092B-C50C-407E-A947-70E740481C1C}">
                <a14:useLocalDpi xmlns:a14="http://schemas.microsoft.com/office/drawing/2010/main" val="0"/>
              </a:ext>
            </a:extLst>
          </a:blip>
          <a:srcRect/>
          <a:stretch>
            <a:fillRect/>
          </a:stretch>
        </p:blipFill>
        <p:spPr bwMode="auto">
          <a:xfrm>
            <a:off x="3851275" y="2565400"/>
            <a:ext cx="5292725" cy="3087688"/>
          </a:xfrm>
          <a:prstGeom prst="rect">
            <a:avLst/>
          </a:prstGeom>
          <a:solidFill>
            <a:schemeClr val="accent1"/>
          </a:solidFill>
          <a:ln w="9525">
            <a:solidFill>
              <a:srgbClr val="FF3300"/>
            </a:solidFill>
            <a:miter lim="800000"/>
            <a:headEnd/>
            <a:tailEnd/>
          </a:ln>
        </p:spPr>
      </p:pic>
      <p:sp>
        <p:nvSpPr>
          <p:cNvPr id="87052" name="Text Box 12"/>
          <p:cNvSpPr txBox="1">
            <a:spLocks noChangeArrowheads="1"/>
          </p:cNvSpPr>
          <p:nvPr/>
        </p:nvSpPr>
        <p:spPr bwMode="auto">
          <a:xfrm>
            <a:off x="76200" y="152400"/>
            <a:ext cx="4572000" cy="579438"/>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type="none" w="sm" len="sm"/>
                <a:tailEnd type="none" w="sm" len="sm"/>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a:solidFill>
                  <a:schemeClr val="folHlink"/>
                </a:solidFill>
                <a:latin typeface="Arial" panose="020B0604020202020204" pitchFamily="34" charset="0"/>
                <a:ea typeface="楷体_GB2312"/>
              </a:rPr>
              <a:t>四、电场强度叠加原理</a:t>
            </a:r>
          </a:p>
        </p:txBody>
      </p:sp>
      <p:sp>
        <p:nvSpPr>
          <p:cNvPr id="87057" name="Text Box 17"/>
          <p:cNvSpPr txBox="1">
            <a:spLocks noChangeArrowheads="1"/>
          </p:cNvSpPr>
          <p:nvPr/>
        </p:nvSpPr>
        <p:spPr bwMode="auto">
          <a:xfrm>
            <a:off x="228600" y="685800"/>
            <a:ext cx="32639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FF"/>
                </a:solidFill>
                <a:ea typeface="楷体_GB2312"/>
              </a:rPr>
              <a:t>1</a:t>
            </a:r>
            <a:r>
              <a:rPr lang="zh-CN" altLang="en-US" sz="2800">
                <a:solidFill>
                  <a:srgbClr val="0000FF"/>
                </a:solidFill>
                <a:ea typeface="楷体_GB2312"/>
              </a:rPr>
              <a:t>、电荷离散分布</a:t>
            </a:r>
            <a:endParaRPr lang="zh-CN" altLang="en-US" sz="2800">
              <a:ea typeface="楷体_GB2312"/>
            </a:endParaRPr>
          </a:p>
        </p:txBody>
      </p:sp>
      <p:sp>
        <p:nvSpPr>
          <p:cNvPr id="87058" name="Text Box 18"/>
          <p:cNvSpPr txBox="1">
            <a:spLocks noChangeArrowheads="1"/>
          </p:cNvSpPr>
          <p:nvPr/>
        </p:nvSpPr>
        <p:spPr bwMode="auto">
          <a:xfrm>
            <a:off x="457200" y="1260475"/>
            <a:ext cx="8015288" cy="8223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在点电荷系</a:t>
            </a:r>
            <a:r>
              <a:rPr lang="en-US" altLang="zh-CN" sz="2400" i="1">
                <a:ea typeface="楷体_GB2312"/>
              </a:rPr>
              <a:t>q</a:t>
            </a:r>
            <a:r>
              <a:rPr lang="en-US" altLang="zh-CN" sz="2400" baseline="-25000">
                <a:ea typeface="楷体_GB2312"/>
              </a:rPr>
              <a:t>1</a:t>
            </a:r>
            <a:r>
              <a:rPr lang="en-US" altLang="zh-CN" sz="2400">
                <a:ea typeface="楷体_GB2312"/>
              </a:rPr>
              <a:t>,</a:t>
            </a:r>
            <a:r>
              <a:rPr lang="en-US" altLang="zh-CN" sz="2400" i="1">
                <a:ea typeface="楷体_GB2312"/>
              </a:rPr>
              <a:t>q</a:t>
            </a:r>
            <a:r>
              <a:rPr lang="en-US" altLang="zh-CN" sz="2400" baseline="-25000">
                <a:ea typeface="楷体_GB2312"/>
              </a:rPr>
              <a:t>2</a:t>
            </a:r>
            <a:r>
              <a:rPr lang="en-US" altLang="zh-CN" sz="2400">
                <a:ea typeface="楷体_GB2312"/>
              </a:rPr>
              <a:t>,…,q</a:t>
            </a:r>
            <a:r>
              <a:rPr lang="en-US" altLang="zh-CN" sz="2400" baseline="-25000">
                <a:ea typeface="楷体_GB2312"/>
              </a:rPr>
              <a:t>n </a:t>
            </a:r>
            <a:r>
              <a:rPr lang="zh-CN" altLang="en-US" sz="2400">
                <a:ea typeface="楷体_GB2312"/>
              </a:rPr>
              <a:t>的电场中，在</a:t>
            </a:r>
            <a:r>
              <a:rPr lang="en-US" altLang="zh-CN" sz="2400">
                <a:ea typeface="楷体_GB2312"/>
              </a:rPr>
              <a:t>P</a:t>
            </a:r>
            <a:r>
              <a:rPr lang="zh-CN" altLang="en-US" sz="2400">
                <a:ea typeface="楷体_GB2312"/>
              </a:rPr>
              <a:t>点放一试验电荷</a:t>
            </a:r>
            <a:r>
              <a:rPr lang="en-US" altLang="zh-CN" sz="2400" i="1">
                <a:ea typeface="楷体_GB2312"/>
              </a:rPr>
              <a:t>q</a:t>
            </a:r>
            <a:r>
              <a:rPr lang="en-US" altLang="zh-CN" sz="2400" baseline="-25000">
                <a:ea typeface="楷体_GB2312"/>
              </a:rPr>
              <a:t>0</a:t>
            </a:r>
            <a:r>
              <a:rPr lang="zh-CN" altLang="en-US" sz="2400">
                <a:ea typeface="楷体_GB2312"/>
              </a:rPr>
              <a:t>，根据库仑力的叠加原理，可知试验电荷受到的作用力为</a:t>
            </a:r>
          </a:p>
        </p:txBody>
      </p:sp>
      <p:graphicFrame>
        <p:nvGraphicFramePr>
          <p:cNvPr id="87059" name="Object 19"/>
          <p:cNvGraphicFramePr>
            <a:graphicFrameLocks noChangeAspect="1"/>
          </p:cNvGraphicFramePr>
          <p:nvPr/>
        </p:nvGraphicFramePr>
        <p:xfrm>
          <a:off x="128588" y="2016125"/>
          <a:ext cx="3343275" cy="954088"/>
        </p:xfrm>
        <a:graphic>
          <a:graphicData uri="http://schemas.openxmlformats.org/presentationml/2006/ole">
            <mc:AlternateContent xmlns:mc="http://schemas.openxmlformats.org/markup-compatibility/2006">
              <mc:Choice xmlns:v="urn:schemas-microsoft-com:vml" Requires="v">
                <p:oleObj spid="_x0000_s147764" name="Equation" r:id="rId4" imgW="1548728" imgH="444307" progId="Equation.DSMT4">
                  <p:embed/>
                </p:oleObj>
              </mc:Choice>
              <mc:Fallback>
                <p:oleObj name="Equation" r:id="rId4" imgW="1548728" imgH="444307" progId="Equation.DSMT4">
                  <p:embed/>
                  <p:pic>
                    <p:nvPicPr>
                      <p:cNvPr id="87059"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588" y="2016125"/>
                        <a:ext cx="3343275" cy="9540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7060" name="Text Box 20"/>
          <p:cNvSpPr txBox="1">
            <a:spLocks noChangeArrowheads="1"/>
          </p:cNvSpPr>
          <p:nvPr/>
        </p:nvSpPr>
        <p:spPr bwMode="auto">
          <a:xfrm>
            <a:off x="609600" y="2895600"/>
            <a:ext cx="2201863"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400">
                <a:ea typeface="楷体_GB2312"/>
              </a:rPr>
              <a:t>P</a:t>
            </a:r>
            <a:r>
              <a:rPr lang="zh-CN" altLang="en-US" sz="2400">
                <a:ea typeface="楷体_GB2312"/>
              </a:rPr>
              <a:t>点的电场强度</a:t>
            </a:r>
          </a:p>
        </p:txBody>
      </p:sp>
      <p:graphicFrame>
        <p:nvGraphicFramePr>
          <p:cNvPr id="87062" name="Object 22"/>
          <p:cNvGraphicFramePr>
            <a:graphicFrameLocks noChangeAspect="1"/>
          </p:cNvGraphicFramePr>
          <p:nvPr/>
        </p:nvGraphicFramePr>
        <p:xfrm>
          <a:off x="180975" y="3451225"/>
          <a:ext cx="3308350" cy="985838"/>
        </p:xfrm>
        <a:graphic>
          <a:graphicData uri="http://schemas.openxmlformats.org/presentationml/2006/ole">
            <mc:AlternateContent xmlns:mc="http://schemas.openxmlformats.org/markup-compatibility/2006">
              <mc:Choice xmlns:v="urn:schemas-microsoft-com:vml" Requires="v">
                <p:oleObj spid="_x0000_s147765" name="Equation" r:id="rId6" imgW="1574800" imgH="469900" progId="Equation.DSMT4">
                  <p:embed/>
                </p:oleObj>
              </mc:Choice>
              <mc:Fallback>
                <p:oleObj name="Equation" r:id="rId6" imgW="1574800" imgH="469900" progId="Equation.DSMT4">
                  <p:embed/>
                  <p:pic>
                    <p:nvPicPr>
                      <p:cNvPr id="87062" name="Object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0975" y="3451225"/>
                        <a:ext cx="3308350" cy="9858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7063" name="Object 23"/>
          <p:cNvGraphicFramePr>
            <a:graphicFrameLocks noChangeAspect="1"/>
          </p:cNvGraphicFramePr>
          <p:nvPr/>
        </p:nvGraphicFramePr>
        <p:xfrm>
          <a:off x="1331913" y="4848225"/>
          <a:ext cx="1530350" cy="596900"/>
        </p:xfrm>
        <a:graphic>
          <a:graphicData uri="http://schemas.openxmlformats.org/presentationml/2006/ole">
            <mc:AlternateContent xmlns:mc="http://schemas.openxmlformats.org/markup-compatibility/2006">
              <mc:Choice xmlns:v="urn:schemas-microsoft-com:vml" Requires="v">
                <p:oleObj spid="_x0000_s147766" name="公式" r:id="rId8" imgW="647419" imgH="253890" progId="Equation.3">
                  <p:embed/>
                </p:oleObj>
              </mc:Choice>
              <mc:Fallback>
                <p:oleObj name="公式" r:id="rId8" imgW="647419" imgH="253890" progId="Equation.3">
                  <p:embed/>
                  <p:pic>
                    <p:nvPicPr>
                      <p:cNvPr id="87063" name="Object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31913" y="4848225"/>
                        <a:ext cx="1530350" cy="596900"/>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7064" name="Text Box 24"/>
          <p:cNvSpPr txBox="1">
            <a:spLocks noChangeArrowheads="1"/>
          </p:cNvSpPr>
          <p:nvPr/>
        </p:nvSpPr>
        <p:spPr bwMode="auto">
          <a:xfrm>
            <a:off x="457200" y="5562600"/>
            <a:ext cx="8534400" cy="9461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800">
                <a:solidFill>
                  <a:srgbClr val="FF3300"/>
                </a:solidFill>
                <a:ea typeface="楷体_GB2312"/>
              </a:rPr>
              <a:t>点电荷系电场中某点的场强等于各个点电荷单独存在时在该点的场强的矢量和。</a:t>
            </a:r>
            <a:r>
              <a:rPr lang="zh-CN" altLang="en-US" sz="2400">
                <a:ea typeface="楷体_GB2312"/>
              </a:rPr>
              <a:t>这就是电场强度的叠加原理。</a:t>
            </a:r>
            <a:endParaRPr lang="zh-CN" altLang="en-US" sz="2400" b="0">
              <a:ea typeface="楷体_GB2312"/>
            </a:endParaRPr>
          </a:p>
        </p:txBody>
      </p:sp>
      <p:sp>
        <p:nvSpPr>
          <p:cNvPr id="87080" name="Text Box 40"/>
          <p:cNvSpPr txBox="1">
            <a:spLocks noChangeArrowheads="1"/>
          </p:cNvSpPr>
          <p:nvPr/>
        </p:nvSpPr>
        <p:spPr bwMode="auto">
          <a:xfrm>
            <a:off x="5345113" y="2724150"/>
            <a:ext cx="460375" cy="6413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a:ea typeface="楷体_GB2312"/>
              </a:rPr>
              <a:t>P</a:t>
            </a:r>
          </a:p>
        </p:txBody>
      </p:sp>
      <p:sp>
        <p:nvSpPr>
          <p:cNvPr id="87081" name="Text Box 41"/>
          <p:cNvSpPr txBox="1">
            <a:spLocks noChangeArrowheads="1"/>
          </p:cNvSpPr>
          <p:nvPr/>
        </p:nvSpPr>
        <p:spPr bwMode="auto">
          <a:xfrm>
            <a:off x="7740650" y="2708275"/>
            <a:ext cx="460375" cy="6413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a:ea typeface="楷体_GB2312"/>
              </a:rPr>
              <a:t>P</a:t>
            </a:r>
          </a:p>
        </p:txBody>
      </p:sp>
    </p:spTree>
    <p:extLst>
      <p:ext uri="{BB962C8B-B14F-4D97-AF65-F5344CB8AC3E}">
        <p14:creationId xmlns:p14="http://schemas.microsoft.com/office/powerpoint/2010/main" val="2688510756"/>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052"/>
                                        </p:tgtEl>
                                        <p:attrNameLst>
                                          <p:attrName>style.visibility</p:attrName>
                                        </p:attrNameLst>
                                      </p:cBhvr>
                                      <p:to>
                                        <p:strVal val="visible"/>
                                      </p:to>
                                    </p:set>
                                    <p:animEffect transition="in" filter="wipe(left)">
                                      <p:cBhvr>
                                        <p:cTn id="7" dur="500"/>
                                        <p:tgtEl>
                                          <p:spTgt spid="870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7057"/>
                                        </p:tgtEl>
                                        <p:attrNameLst>
                                          <p:attrName>style.visibility</p:attrName>
                                        </p:attrNameLst>
                                      </p:cBhvr>
                                      <p:to>
                                        <p:strVal val="visible"/>
                                      </p:to>
                                    </p:set>
                                    <p:animEffect transition="in" filter="wipe(left)">
                                      <p:cBhvr>
                                        <p:cTn id="12" dur="500"/>
                                        <p:tgtEl>
                                          <p:spTgt spid="870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87058">
                                            <p:txEl>
                                              <p:pRg st="0" end="0"/>
                                            </p:txEl>
                                          </p:spTgt>
                                        </p:tgtEl>
                                        <p:attrNameLst>
                                          <p:attrName>style.visibility</p:attrName>
                                        </p:attrNameLst>
                                      </p:cBhvr>
                                      <p:to>
                                        <p:strVal val="visible"/>
                                      </p:to>
                                    </p:set>
                                    <p:animEffect transition="in" filter="wipe(left)">
                                      <p:cBhvr>
                                        <p:cTn id="17" dur="75"/>
                                        <p:tgtEl>
                                          <p:spTgt spid="87058">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7080"/>
                                        </p:tgtEl>
                                        <p:attrNameLst>
                                          <p:attrName>style.visibility</p:attrName>
                                        </p:attrNameLst>
                                      </p:cBhvr>
                                      <p:to>
                                        <p:strVal val="visible"/>
                                      </p:to>
                                    </p:set>
                                    <p:animEffect transition="in" filter="blinds(horizontal)">
                                      <p:cBhvr>
                                        <p:cTn id="22" dur="500"/>
                                        <p:tgtEl>
                                          <p:spTgt spid="87080"/>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87081"/>
                                        </p:tgtEl>
                                        <p:attrNameLst>
                                          <p:attrName>style.visibility</p:attrName>
                                        </p:attrNameLst>
                                      </p:cBhvr>
                                      <p:to>
                                        <p:strVal val="visible"/>
                                      </p:to>
                                    </p:set>
                                    <p:animEffect transition="in" filter="blinds(horizontal)">
                                      <p:cBhvr>
                                        <p:cTn id="25" dur="500"/>
                                        <p:tgtEl>
                                          <p:spTgt spid="8708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4" fill="hold" nodeType="clickEffect">
                                  <p:stCondLst>
                                    <p:cond delay="0"/>
                                  </p:stCondLst>
                                  <p:childTnLst>
                                    <p:set>
                                      <p:cBhvr>
                                        <p:cTn id="29" dur="1" fill="hold">
                                          <p:stCondLst>
                                            <p:cond delay="0"/>
                                          </p:stCondLst>
                                        </p:cTn>
                                        <p:tgtEl>
                                          <p:spTgt spid="87079"/>
                                        </p:tgtEl>
                                        <p:attrNameLst>
                                          <p:attrName>style.visibility</p:attrName>
                                        </p:attrNameLst>
                                      </p:cBhvr>
                                      <p:to>
                                        <p:strVal val="visible"/>
                                      </p:to>
                                    </p:set>
                                    <p:animEffect transition="in" filter="wipe(down)">
                                      <p:cBhvr>
                                        <p:cTn id="30" dur="500"/>
                                        <p:tgtEl>
                                          <p:spTgt spid="8707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87059"/>
                                        </p:tgtEl>
                                        <p:attrNameLst>
                                          <p:attrName>style.visibility</p:attrName>
                                        </p:attrNameLst>
                                      </p:cBhvr>
                                      <p:to>
                                        <p:strVal val="visible"/>
                                      </p:to>
                                    </p:set>
                                    <p:animEffect transition="in" filter="wipe(left)">
                                      <p:cBhvr>
                                        <p:cTn id="35" dur="500"/>
                                        <p:tgtEl>
                                          <p:spTgt spid="8705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87060"/>
                                        </p:tgtEl>
                                        <p:attrNameLst>
                                          <p:attrName>style.visibility</p:attrName>
                                        </p:attrNameLst>
                                      </p:cBhvr>
                                      <p:to>
                                        <p:strVal val="visible"/>
                                      </p:to>
                                    </p:set>
                                    <p:animEffect transition="in" filter="wipe(left)">
                                      <p:cBhvr>
                                        <p:cTn id="40" dur="500"/>
                                        <p:tgtEl>
                                          <p:spTgt spid="8706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87062"/>
                                        </p:tgtEl>
                                        <p:attrNameLst>
                                          <p:attrName>style.visibility</p:attrName>
                                        </p:attrNameLst>
                                      </p:cBhvr>
                                      <p:to>
                                        <p:strVal val="visible"/>
                                      </p:to>
                                    </p:set>
                                    <p:animEffect transition="in" filter="wipe(left)">
                                      <p:cBhvr>
                                        <p:cTn id="45" dur="500"/>
                                        <p:tgtEl>
                                          <p:spTgt spid="8706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87063"/>
                                        </p:tgtEl>
                                        <p:attrNameLst>
                                          <p:attrName>style.visibility</p:attrName>
                                        </p:attrNameLst>
                                      </p:cBhvr>
                                      <p:to>
                                        <p:strVal val="visible"/>
                                      </p:to>
                                    </p:set>
                                    <p:animEffect transition="in" filter="wipe(left)">
                                      <p:cBhvr>
                                        <p:cTn id="50" dur="500"/>
                                        <p:tgtEl>
                                          <p:spTgt spid="87063"/>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iterate type="lt">
                                    <p:tmPct val="100000"/>
                                  </p:iterate>
                                  <p:childTnLst>
                                    <p:set>
                                      <p:cBhvr>
                                        <p:cTn id="54" dur="1" fill="hold">
                                          <p:stCondLst>
                                            <p:cond delay="0"/>
                                          </p:stCondLst>
                                        </p:cTn>
                                        <p:tgtEl>
                                          <p:spTgt spid="87064">
                                            <p:txEl>
                                              <p:pRg st="0" end="0"/>
                                            </p:txEl>
                                          </p:spTgt>
                                        </p:tgtEl>
                                        <p:attrNameLst>
                                          <p:attrName>style.visibility</p:attrName>
                                        </p:attrNameLst>
                                      </p:cBhvr>
                                      <p:to>
                                        <p:strVal val="visible"/>
                                      </p:to>
                                    </p:set>
                                    <p:animEffect transition="in" filter="wipe(left)">
                                      <p:cBhvr>
                                        <p:cTn id="55" dur="75"/>
                                        <p:tgtEl>
                                          <p:spTgt spid="8706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52" grpId="0" animBg="1" autoUpdateAnimBg="0"/>
      <p:bldP spid="87057" grpId="0" autoUpdateAnimBg="0"/>
      <p:bldP spid="87058" grpId="0" build="p" autoUpdateAnimBg="0"/>
      <p:bldP spid="87060" grpId="0" autoUpdateAnimBg="0"/>
      <p:bldP spid="87064" grpId="0" build="p" autoUpdateAnimBg="0"/>
      <p:bldP spid="87080" grpId="0"/>
      <p:bldP spid="8708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2"/>
          <p:cNvSpPr txBox="1">
            <a:spLocks noChangeArrowheads="1"/>
          </p:cNvSpPr>
          <p:nvPr/>
        </p:nvSpPr>
        <p:spPr bwMode="auto">
          <a:xfrm>
            <a:off x="214313" y="142875"/>
            <a:ext cx="3494087"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0000FF"/>
                </a:solidFill>
                <a:ea typeface="楷体_GB2312"/>
              </a:rPr>
              <a:t>2</a:t>
            </a:r>
            <a:r>
              <a:rPr lang="zh-CN" altLang="en-US" sz="2800">
                <a:solidFill>
                  <a:srgbClr val="0000FF"/>
                </a:solidFill>
                <a:ea typeface="楷体_GB2312"/>
              </a:rPr>
              <a:t>、电荷连续分布</a:t>
            </a:r>
          </a:p>
        </p:txBody>
      </p:sp>
      <p:sp>
        <p:nvSpPr>
          <p:cNvPr id="108556" name="Text Box 12"/>
          <p:cNvSpPr txBox="1">
            <a:spLocks noChangeArrowheads="1"/>
          </p:cNvSpPr>
          <p:nvPr/>
        </p:nvSpPr>
        <p:spPr bwMode="auto">
          <a:xfrm>
            <a:off x="914400" y="685800"/>
            <a:ext cx="4186238"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将带电区域分成许多电荷元</a:t>
            </a:r>
            <a:r>
              <a:rPr lang="en-US" altLang="zh-CN" sz="2400">
                <a:ea typeface="楷体_GB2312"/>
              </a:rPr>
              <a:t>d</a:t>
            </a:r>
            <a:r>
              <a:rPr lang="en-US" altLang="zh-CN" sz="2400" i="1">
                <a:ea typeface="楷体_GB2312"/>
              </a:rPr>
              <a:t>q</a:t>
            </a:r>
            <a:endParaRPr lang="en-US" altLang="zh-CN" sz="2400">
              <a:ea typeface="楷体_GB2312"/>
            </a:endParaRPr>
          </a:p>
        </p:txBody>
      </p:sp>
      <p:graphicFrame>
        <p:nvGraphicFramePr>
          <p:cNvPr id="108557" name="Object 13"/>
          <p:cNvGraphicFramePr>
            <a:graphicFrameLocks noChangeAspect="1"/>
          </p:cNvGraphicFramePr>
          <p:nvPr/>
        </p:nvGraphicFramePr>
        <p:xfrm>
          <a:off x="1728788" y="1216025"/>
          <a:ext cx="2538412" cy="766763"/>
        </p:xfrm>
        <a:graphic>
          <a:graphicData uri="http://schemas.openxmlformats.org/presentationml/2006/ole">
            <mc:AlternateContent xmlns:mc="http://schemas.openxmlformats.org/markup-compatibility/2006">
              <mc:Choice xmlns:v="urn:schemas-microsoft-com:vml" Requires="v">
                <p:oleObj spid="_x0000_s149196" name="Equation" r:id="rId3" imgW="1422400" imgH="431800" progId="Equation.DSMT4">
                  <p:embed/>
                </p:oleObj>
              </mc:Choice>
              <mc:Fallback>
                <p:oleObj name="Equation" r:id="rId3" imgW="1422400" imgH="431800" progId="Equation.DSMT4">
                  <p:embed/>
                  <p:pic>
                    <p:nvPicPr>
                      <p:cNvPr id="108557"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8788" y="1216025"/>
                        <a:ext cx="2538412" cy="766763"/>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558" name="Text Box 14"/>
          <p:cNvSpPr txBox="1">
            <a:spLocks noChangeArrowheads="1"/>
          </p:cNvSpPr>
          <p:nvPr/>
        </p:nvSpPr>
        <p:spPr bwMode="auto">
          <a:xfrm>
            <a:off x="914400" y="2133600"/>
            <a:ext cx="3186113"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电荷体分布，</a:t>
            </a:r>
            <a:r>
              <a:rPr lang="en-US" altLang="zh-CN" sz="2400">
                <a:ea typeface="楷体_GB2312"/>
              </a:rPr>
              <a:t>d</a:t>
            </a:r>
            <a:r>
              <a:rPr lang="en-US" altLang="zh-CN" sz="2400" i="1">
                <a:ea typeface="楷体_GB2312"/>
              </a:rPr>
              <a:t>q</a:t>
            </a:r>
            <a:r>
              <a:rPr lang="en-US" altLang="zh-CN" sz="2400">
                <a:ea typeface="楷体_GB2312"/>
              </a:rPr>
              <a:t>=ρd</a:t>
            </a:r>
            <a:r>
              <a:rPr lang="en-US" altLang="zh-CN" sz="2400" i="1">
                <a:ea typeface="楷体_GB2312"/>
              </a:rPr>
              <a:t>V</a:t>
            </a:r>
            <a:endParaRPr lang="en-US" altLang="zh-CN" sz="2400">
              <a:ea typeface="楷体_GB2312"/>
            </a:endParaRPr>
          </a:p>
        </p:txBody>
      </p:sp>
      <p:graphicFrame>
        <p:nvGraphicFramePr>
          <p:cNvPr id="108559" name="Object 15"/>
          <p:cNvGraphicFramePr>
            <a:graphicFrameLocks noChangeAspect="1"/>
          </p:cNvGraphicFramePr>
          <p:nvPr/>
        </p:nvGraphicFramePr>
        <p:xfrm>
          <a:off x="1789113" y="2611438"/>
          <a:ext cx="2455862" cy="965200"/>
        </p:xfrm>
        <a:graphic>
          <a:graphicData uri="http://schemas.openxmlformats.org/presentationml/2006/ole">
            <mc:AlternateContent xmlns:mc="http://schemas.openxmlformats.org/markup-compatibility/2006">
              <mc:Choice xmlns:v="urn:schemas-microsoft-com:vml" Requires="v">
                <p:oleObj spid="_x0000_s149197" name="Equation" r:id="rId5" imgW="1155700" imgH="457200" progId="Equation.DSMT4">
                  <p:embed/>
                </p:oleObj>
              </mc:Choice>
              <mc:Fallback>
                <p:oleObj name="Equation" r:id="rId5" imgW="1155700" imgH="457200" progId="Equation.DSMT4">
                  <p:embed/>
                  <p:pic>
                    <p:nvPicPr>
                      <p:cNvPr id="108559"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89113" y="2611438"/>
                        <a:ext cx="2455862" cy="965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560" name="Text Box 16"/>
          <p:cNvSpPr txBox="1">
            <a:spLocks noChangeArrowheads="1"/>
          </p:cNvSpPr>
          <p:nvPr/>
        </p:nvSpPr>
        <p:spPr bwMode="auto">
          <a:xfrm>
            <a:off x="990600" y="3657600"/>
            <a:ext cx="315912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电荷面分布，</a:t>
            </a:r>
            <a:r>
              <a:rPr lang="en-US" altLang="zh-CN" sz="2400">
                <a:ea typeface="楷体_GB2312"/>
              </a:rPr>
              <a:t>d</a:t>
            </a:r>
            <a:r>
              <a:rPr lang="en-US" altLang="zh-CN" sz="2400" i="1">
                <a:ea typeface="楷体_GB2312"/>
              </a:rPr>
              <a:t>q</a:t>
            </a:r>
            <a:r>
              <a:rPr lang="en-US" altLang="zh-CN" sz="2400">
                <a:ea typeface="楷体_GB2312"/>
              </a:rPr>
              <a:t>=σd</a:t>
            </a:r>
            <a:r>
              <a:rPr lang="en-US" altLang="zh-CN" sz="2400" i="1">
                <a:ea typeface="楷体_GB2312"/>
              </a:rPr>
              <a:t>S</a:t>
            </a:r>
            <a:endParaRPr lang="en-US" altLang="zh-CN" sz="2400">
              <a:ea typeface="楷体_GB2312"/>
            </a:endParaRPr>
          </a:p>
        </p:txBody>
      </p:sp>
      <p:graphicFrame>
        <p:nvGraphicFramePr>
          <p:cNvPr id="108562" name="Object 18"/>
          <p:cNvGraphicFramePr>
            <a:graphicFrameLocks noChangeAspect="1"/>
          </p:cNvGraphicFramePr>
          <p:nvPr/>
        </p:nvGraphicFramePr>
        <p:xfrm>
          <a:off x="1943100" y="4122738"/>
          <a:ext cx="2266950" cy="968375"/>
        </p:xfrm>
        <a:graphic>
          <a:graphicData uri="http://schemas.openxmlformats.org/presentationml/2006/ole">
            <mc:AlternateContent xmlns:mc="http://schemas.openxmlformats.org/markup-compatibility/2006">
              <mc:Choice xmlns:v="urn:schemas-microsoft-com:vml" Requires="v">
                <p:oleObj spid="_x0000_s149198" name="Equation" r:id="rId7" imgW="1066800" imgH="457200" progId="Equation.DSMT4">
                  <p:embed/>
                </p:oleObj>
              </mc:Choice>
              <mc:Fallback>
                <p:oleObj name="Equation" r:id="rId7" imgW="1066800" imgH="457200" progId="Equation.DSMT4">
                  <p:embed/>
                  <p:pic>
                    <p:nvPicPr>
                      <p:cNvPr id="108562"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43100" y="4122738"/>
                        <a:ext cx="2266950" cy="9683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563" name="Text Box 19"/>
          <p:cNvSpPr txBox="1">
            <a:spLocks noChangeArrowheads="1"/>
          </p:cNvSpPr>
          <p:nvPr/>
        </p:nvSpPr>
        <p:spPr bwMode="auto">
          <a:xfrm>
            <a:off x="1128713" y="5146675"/>
            <a:ext cx="306705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电荷线分布，</a:t>
            </a:r>
            <a:r>
              <a:rPr lang="en-US" altLang="zh-CN" sz="2400">
                <a:ea typeface="楷体_GB2312"/>
              </a:rPr>
              <a:t>d</a:t>
            </a:r>
            <a:r>
              <a:rPr lang="en-US" altLang="zh-CN" sz="2400" i="1">
                <a:ea typeface="楷体_GB2312"/>
              </a:rPr>
              <a:t>q</a:t>
            </a:r>
            <a:r>
              <a:rPr lang="en-US" altLang="zh-CN" sz="2400">
                <a:ea typeface="楷体_GB2312"/>
              </a:rPr>
              <a:t>=λd</a:t>
            </a:r>
            <a:r>
              <a:rPr lang="en-US" altLang="zh-CN" sz="2400" i="1">
                <a:ea typeface="楷体_GB2312"/>
              </a:rPr>
              <a:t>l</a:t>
            </a:r>
            <a:endParaRPr lang="en-US" altLang="zh-CN" sz="2400">
              <a:ea typeface="楷体_GB2312"/>
            </a:endParaRPr>
          </a:p>
        </p:txBody>
      </p:sp>
      <p:graphicFrame>
        <p:nvGraphicFramePr>
          <p:cNvPr id="108564" name="Object 20"/>
          <p:cNvGraphicFramePr>
            <a:graphicFrameLocks noChangeAspect="1"/>
          </p:cNvGraphicFramePr>
          <p:nvPr/>
        </p:nvGraphicFramePr>
        <p:xfrm>
          <a:off x="1116013" y="5661025"/>
          <a:ext cx="2076450" cy="939800"/>
        </p:xfrm>
        <a:graphic>
          <a:graphicData uri="http://schemas.openxmlformats.org/presentationml/2006/ole">
            <mc:AlternateContent xmlns:mc="http://schemas.openxmlformats.org/markup-compatibility/2006">
              <mc:Choice xmlns:v="urn:schemas-microsoft-com:vml" Requires="v">
                <p:oleObj spid="_x0000_s149199" name="Equation" r:id="rId9" imgW="977476" imgH="444307" progId="Equation.DSMT4">
                  <p:embed/>
                </p:oleObj>
              </mc:Choice>
              <mc:Fallback>
                <p:oleObj name="Equation" r:id="rId9" imgW="977476" imgH="444307" progId="Equation.DSMT4">
                  <p:embed/>
                  <p:pic>
                    <p:nvPicPr>
                      <p:cNvPr id="108564"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16013" y="5661025"/>
                        <a:ext cx="2076450" cy="9398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565" name="Text Box 21"/>
          <p:cNvSpPr txBox="1">
            <a:spLocks noChangeArrowheads="1"/>
          </p:cNvSpPr>
          <p:nvPr/>
        </p:nvSpPr>
        <p:spPr bwMode="auto">
          <a:xfrm>
            <a:off x="7543800" y="3124200"/>
            <a:ext cx="160020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体密度</a:t>
            </a:r>
          </a:p>
        </p:txBody>
      </p:sp>
      <p:graphicFrame>
        <p:nvGraphicFramePr>
          <p:cNvPr id="108566" name="Object 22"/>
          <p:cNvGraphicFramePr>
            <a:graphicFrameLocks noChangeAspect="1"/>
          </p:cNvGraphicFramePr>
          <p:nvPr/>
        </p:nvGraphicFramePr>
        <p:xfrm>
          <a:off x="5880100" y="5334000"/>
          <a:ext cx="1039813" cy="828675"/>
        </p:xfrm>
        <a:graphic>
          <a:graphicData uri="http://schemas.openxmlformats.org/presentationml/2006/ole">
            <mc:AlternateContent xmlns:mc="http://schemas.openxmlformats.org/markup-compatibility/2006">
              <mc:Choice xmlns:v="urn:schemas-microsoft-com:vml" Requires="v">
                <p:oleObj spid="_x0000_s149200" name="公式" r:id="rId11" imgW="507780" imgH="406224" progId="Equation.3">
                  <p:embed/>
                </p:oleObj>
              </mc:Choice>
              <mc:Fallback>
                <p:oleObj name="公式" r:id="rId11" imgW="507780" imgH="406224" progId="Equation.3">
                  <p:embed/>
                  <p:pic>
                    <p:nvPicPr>
                      <p:cNvPr id="108566" name="Object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80100" y="5334000"/>
                        <a:ext cx="1039813" cy="8286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567" name="Text Box 23"/>
          <p:cNvSpPr txBox="1">
            <a:spLocks noChangeArrowheads="1"/>
          </p:cNvSpPr>
          <p:nvPr/>
        </p:nvSpPr>
        <p:spPr bwMode="auto">
          <a:xfrm>
            <a:off x="7467600" y="4267200"/>
            <a:ext cx="139700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面密度</a:t>
            </a:r>
          </a:p>
        </p:txBody>
      </p:sp>
      <p:graphicFrame>
        <p:nvGraphicFramePr>
          <p:cNvPr id="108568" name="Object 24"/>
          <p:cNvGraphicFramePr>
            <a:graphicFrameLocks noChangeAspect="1"/>
          </p:cNvGraphicFramePr>
          <p:nvPr/>
        </p:nvGraphicFramePr>
        <p:xfrm>
          <a:off x="5943600" y="4191000"/>
          <a:ext cx="1039813" cy="828675"/>
        </p:xfrm>
        <a:graphic>
          <a:graphicData uri="http://schemas.openxmlformats.org/presentationml/2006/ole">
            <mc:AlternateContent xmlns:mc="http://schemas.openxmlformats.org/markup-compatibility/2006">
              <mc:Choice xmlns:v="urn:schemas-microsoft-com:vml" Requires="v">
                <p:oleObj spid="_x0000_s149201" name="公式" r:id="rId13" imgW="507780" imgH="406224" progId="Equation.3">
                  <p:embed/>
                </p:oleObj>
              </mc:Choice>
              <mc:Fallback>
                <p:oleObj name="公式" r:id="rId13" imgW="507780" imgH="406224" progId="Equation.3">
                  <p:embed/>
                  <p:pic>
                    <p:nvPicPr>
                      <p:cNvPr id="108568" name="Object 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43600" y="4191000"/>
                        <a:ext cx="1039813" cy="8286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569" name="Text Box 25"/>
          <p:cNvSpPr txBox="1">
            <a:spLocks noChangeArrowheads="1"/>
          </p:cNvSpPr>
          <p:nvPr/>
        </p:nvSpPr>
        <p:spPr bwMode="auto">
          <a:xfrm>
            <a:off x="7543800" y="5562600"/>
            <a:ext cx="1420813"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线密度</a:t>
            </a:r>
          </a:p>
        </p:txBody>
      </p:sp>
      <p:graphicFrame>
        <p:nvGraphicFramePr>
          <p:cNvPr id="108570" name="Object 26"/>
          <p:cNvGraphicFramePr>
            <a:graphicFrameLocks noChangeAspect="1"/>
          </p:cNvGraphicFramePr>
          <p:nvPr/>
        </p:nvGraphicFramePr>
        <p:xfrm>
          <a:off x="5867400" y="2819400"/>
          <a:ext cx="1066800" cy="828675"/>
        </p:xfrm>
        <a:graphic>
          <a:graphicData uri="http://schemas.openxmlformats.org/presentationml/2006/ole">
            <mc:AlternateContent xmlns:mc="http://schemas.openxmlformats.org/markup-compatibility/2006">
              <mc:Choice xmlns:v="urn:schemas-microsoft-com:vml" Requires="v">
                <p:oleObj spid="_x0000_s149202" name="公式" r:id="rId15" imgW="520474" imgH="406224" progId="Equation.3">
                  <p:embed/>
                </p:oleObj>
              </mc:Choice>
              <mc:Fallback>
                <p:oleObj name="公式" r:id="rId15" imgW="520474" imgH="406224" progId="Equation.3">
                  <p:embed/>
                  <p:pic>
                    <p:nvPicPr>
                      <p:cNvPr id="108570" name="Object 2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867400" y="2819400"/>
                        <a:ext cx="1066800" cy="8286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579" name="Text Box 35"/>
          <p:cNvSpPr txBox="1">
            <a:spLocks noChangeArrowheads="1"/>
          </p:cNvSpPr>
          <p:nvPr/>
        </p:nvSpPr>
        <p:spPr bwMode="auto">
          <a:xfrm>
            <a:off x="3671888" y="6237288"/>
            <a:ext cx="5472112" cy="3968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a:solidFill>
                  <a:schemeClr val="folHlink"/>
                </a:solidFill>
                <a:ea typeface="楷体_GB2312"/>
              </a:rPr>
              <a:t>在实际计算中，将三种情况均化成一重积分</a:t>
            </a:r>
          </a:p>
        </p:txBody>
      </p:sp>
      <p:pic>
        <p:nvPicPr>
          <p:cNvPr id="28" name="Picture 9" descr="231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770563" y="158750"/>
            <a:ext cx="2573337" cy="271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46756616"/>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8546"/>
                                        </p:tgtEl>
                                        <p:attrNameLst>
                                          <p:attrName>style.visibility</p:attrName>
                                        </p:attrNameLst>
                                      </p:cBhvr>
                                      <p:to>
                                        <p:strVal val="visible"/>
                                      </p:to>
                                    </p:set>
                                    <p:animEffect transition="in" filter="wipe(left)">
                                      <p:cBhvr>
                                        <p:cTn id="7" dur="500"/>
                                        <p:tgtEl>
                                          <p:spTgt spid="1085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8556"/>
                                        </p:tgtEl>
                                        <p:attrNameLst>
                                          <p:attrName>style.visibility</p:attrName>
                                        </p:attrNameLst>
                                      </p:cBhvr>
                                      <p:to>
                                        <p:strVal val="visible"/>
                                      </p:to>
                                    </p:set>
                                    <p:animEffect transition="in" filter="wipe(left)">
                                      <p:cBhvr>
                                        <p:cTn id="16" dur="500"/>
                                        <p:tgtEl>
                                          <p:spTgt spid="10855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08557"/>
                                        </p:tgtEl>
                                        <p:attrNameLst>
                                          <p:attrName>style.visibility</p:attrName>
                                        </p:attrNameLst>
                                      </p:cBhvr>
                                      <p:to>
                                        <p:strVal val="visible"/>
                                      </p:to>
                                    </p:set>
                                    <p:animEffect transition="in" filter="wipe(left)">
                                      <p:cBhvr>
                                        <p:cTn id="21" dur="500"/>
                                        <p:tgtEl>
                                          <p:spTgt spid="10855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8558"/>
                                        </p:tgtEl>
                                        <p:attrNameLst>
                                          <p:attrName>style.visibility</p:attrName>
                                        </p:attrNameLst>
                                      </p:cBhvr>
                                      <p:to>
                                        <p:strVal val="visible"/>
                                      </p:to>
                                    </p:set>
                                    <p:animEffect transition="in" filter="wipe(left)">
                                      <p:cBhvr>
                                        <p:cTn id="26" dur="500"/>
                                        <p:tgtEl>
                                          <p:spTgt spid="10855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08559"/>
                                        </p:tgtEl>
                                        <p:attrNameLst>
                                          <p:attrName>style.visibility</p:attrName>
                                        </p:attrNameLst>
                                      </p:cBhvr>
                                      <p:to>
                                        <p:strVal val="visible"/>
                                      </p:to>
                                    </p:set>
                                    <p:animEffect transition="in" filter="wipe(left)">
                                      <p:cBhvr>
                                        <p:cTn id="31" dur="500"/>
                                        <p:tgtEl>
                                          <p:spTgt spid="10855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108570"/>
                                        </p:tgtEl>
                                        <p:attrNameLst>
                                          <p:attrName>style.visibility</p:attrName>
                                        </p:attrNameLst>
                                      </p:cBhvr>
                                      <p:to>
                                        <p:strVal val="visible"/>
                                      </p:to>
                                    </p:set>
                                    <p:animEffect transition="in" filter="wipe(left)">
                                      <p:cBhvr>
                                        <p:cTn id="36" dur="500"/>
                                        <p:tgtEl>
                                          <p:spTgt spid="10857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08565"/>
                                        </p:tgtEl>
                                        <p:attrNameLst>
                                          <p:attrName>style.visibility</p:attrName>
                                        </p:attrNameLst>
                                      </p:cBhvr>
                                      <p:to>
                                        <p:strVal val="visible"/>
                                      </p:to>
                                    </p:set>
                                    <p:animEffect transition="in" filter="wipe(left)">
                                      <p:cBhvr>
                                        <p:cTn id="41" dur="500"/>
                                        <p:tgtEl>
                                          <p:spTgt spid="10856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08560"/>
                                        </p:tgtEl>
                                        <p:attrNameLst>
                                          <p:attrName>style.visibility</p:attrName>
                                        </p:attrNameLst>
                                      </p:cBhvr>
                                      <p:to>
                                        <p:strVal val="visible"/>
                                      </p:to>
                                    </p:set>
                                    <p:animEffect transition="in" filter="wipe(left)">
                                      <p:cBhvr>
                                        <p:cTn id="46" dur="500"/>
                                        <p:tgtEl>
                                          <p:spTgt spid="108560"/>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108562"/>
                                        </p:tgtEl>
                                        <p:attrNameLst>
                                          <p:attrName>style.visibility</p:attrName>
                                        </p:attrNameLst>
                                      </p:cBhvr>
                                      <p:to>
                                        <p:strVal val="visible"/>
                                      </p:to>
                                    </p:set>
                                    <p:animEffect transition="in" filter="wipe(left)">
                                      <p:cBhvr>
                                        <p:cTn id="51" dur="500"/>
                                        <p:tgtEl>
                                          <p:spTgt spid="10856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108568"/>
                                        </p:tgtEl>
                                        <p:attrNameLst>
                                          <p:attrName>style.visibility</p:attrName>
                                        </p:attrNameLst>
                                      </p:cBhvr>
                                      <p:to>
                                        <p:strVal val="visible"/>
                                      </p:to>
                                    </p:set>
                                    <p:animEffect transition="in" filter="wipe(left)">
                                      <p:cBhvr>
                                        <p:cTn id="56" dur="500"/>
                                        <p:tgtEl>
                                          <p:spTgt spid="108568"/>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08567"/>
                                        </p:tgtEl>
                                        <p:attrNameLst>
                                          <p:attrName>style.visibility</p:attrName>
                                        </p:attrNameLst>
                                      </p:cBhvr>
                                      <p:to>
                                        <p:strVal val="visible"/>
                                      </p:to>
                                    </p:set>
                                    <p:animEffect transition="in" filter="wipe(left)">
                                      <p:cBhvr>
                                        <p:cTn id="61" dur="500"/>
                                        <p:tgtEl>
                                          <p:spTgt spid="108567"/>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08563"/>
                                        </p:tgtEl>
                                        <p:attrNameLst>
                                          <p:attrName>style.visibility</p:attrName>
                                        </p:attrNameLst>
                                      </p:cBhvr>
                                      <p:to>
                                        <p:strVal val="visible"/>
                                      </p:to>
                                    </p:set>
                                    <p:animEffect transition="in" filter="wipe(left)">
                                      <p:cBhvr>
                                        <p:cTn id="66" dur="500"/>
                                        <p:tgtEl>
                                          <p:spTgt spid="108563"/>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108564"/>
                                        </p:tgtEl>
                                        <p:attrNameLst>
                                          <p:attrName>style.visibility</p:attrName>
                                        </p:attrNameLst>
                                      </p:cBhvr>
                                      <p:to>
                                        <p:strVal val="visible"/>
                                      </p:to>
                                    </p:set>
                                    <p:animEffect transition="in" filter="wipe(left)">
                                      <p:cBhvr>
                                        <p:cTn id="71" dur="500"/>
                                        <p:tgtEl>
                                          <p:spTgt spid="108564"/>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108566"/>
                                        </p:tgtEl>
                                        <p:attrNameLst>
                                          <p:attrName>style.visibility</p:attrName>
                                        </p:attrNameLst>
                                      </p:cBhvr>
                                      <p:to>
                                        <p:strVal val="visible"/>
                                      </p:to>
                                    </p:set>
                                    <p:animEffect transition="in" filter="wipe(left)">
                                      <p:cBhvr>
                                        <p:cTn id="76" dur="500"/>
                                        <p:tgtEl>
                                          <p:spTgt spid="108566"/>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08569"/>
                                        </p:tgtEl>
                                        <p:attrNameLst>
                                          <p:attrName>style.visibility</p:attrName>
                                        </p:attrNameLst>
                                      </p:cBhvr>
                                      <p:to>
                                        <p:strVal val="visible"/>
                                      </p:to>
                                    </p:set>
                                    <p:animEffect transition="in" filter="wipe(left)">
                                      <p:cBhvr>
                                        <p:cTn id="81" dur="500"/>
                                        <p:tgtEl>
                                          <p:spTgt spid="108569"/>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108579"/>
                                        </p:tgtEl>
                                        <p:attrNameLst>
                                          <p:attrName>style.visibility</p:attrName>
                                        </p:attrNameLst>
                                      </p:cBhvr>
                                      <p:to>
                                        <p:strVal val="visible"/>
                                      </p:to>
                                    </p:set>
                                    <p:animEffect transition="in" filter="wipe(left)">
                                      <p:cBhvr>
                                        <p:cTn id="86" dur="500"/>
                                        <p:tgtEl>
                                          <p:spTgt spid="108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6" grpId="0" autoUpdateAnimBg="0"/>
      <p:bldP spid="108556" grpId="0" autoUpdateAnimBg="0"/>
      <p:bldP spid="108558" grpId="0" autoUpdateAnimBg="0"/>
      <p:bldP spid="108560" grpId="0" autoUpdateAnimBg="0"/>
      <p:bldP spid="108563" grpId="0" autoUpdateAnimBg="0"/>
      <p:bldP spid="108565" grpId="0" autoUpdateAnimBg="0"/>
      <p:bldP spid="108567" grpId="0" autoUpdateAnimBg="0"/>
      <p:bldP spid="108569" grpId="0" autoUpdateAnimBg="0"/>
      <p:bldP spid="108579"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225425" y="76200"/>
            <a:ext cx="4275138"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0000FF"/>
                </a:solidFill>
                <a:ea typeface="楷体_GB2312"/>
              </a:rPr>
              <a:t>3</a:t>
            </a:r>
            <a:r>
              <a:rPr lang="zh-CN" altLang="en-US" sz="2800">
                <a:solidFill>
                  <a:srgbClr val="0000FF"/>
                </a:solidFill>
                <a:ea typeface="楷体_GB2312"/>
              </a:rPr>
              <a:t>、电场强度的计算方法</a:t>
            </a:r>
            <a:endParaRPr lang="zh-CN" altLang="en-US" sz="3600">
              <a:solidFill>
                <a:srgbClr val="FF3300"/>
              </a:solidFill>
              <a:ea typeface="楷体_GB2312"/>
            </a:endParaRPr>
          </a:p>
        </p:txBody>
      </p:sp>
      <p:sp>
        <p:nvSpPr>
          <p:cNvPr id="46083" name="Text Box 3"/>
          <p:cNvSpPr txBox="1">
            <a:spLocks noChangeArrowheads="1"/>
          </p:cNvSpPr>
          <p:nvPr/>
        </p:nvSpPr>
        <p:spPr bwMode="auto">
          <a:xfrm>
            <a:off x="820738" y="811213"/>
            <a:ext cx="152082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离散型</a:t>
            </a:r>
          </a:p>
        </p:txBody>
      </p:sp>
      <p:graphicFrame>
        <p:nvGraphicFramePr>
          <p:cNvPr id="46084" name="Object 4"/>
          <p:cNvGraphicFramePr>
            <a:graphicFrameLocks noChangeAspect="1"/>
          </p:cNvGraphicFramePr>
          <p:nvPr/>
        </p:nvGraphicFramePr>
        <p:xfrm>
          <a:off x="2544763" y="609600"/>
          <a:ext cx="3541712" cy="1020763"/>
        </p:xfrm>
        <a:graphic>
          <a:graphicData uri="http://schemas.openxmlformats.org/presentationml/2006/ole">
            <mc:AlternateContent xmlns:mc="http://schemas.openxmlformats.org/markup-compatibility/2006">
              <mc:Choice xmlns:v="urn:schemas-microsoft-com:vml" Requires="v">
                <p:oleObj spid="_x0000_s149710" name="Equation" r:id="rId3" imgW="1536033" imgH="444307" progId="Equation.DSMT4">
                  <p:embed/>
                </p:oleObj>
              </mc:Choice>
              <mc:Fallback>
                <p:oleObj name="Equation" r:id="rId3" imgW="1536033" imgH="444307" progId="Equation.DSMT4">
                  <p:embed/>
                  <p:pic>
                    <p:nvPicPr>
                      <p:cNvPr id="4608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4763" y="609600"/>
                        <a:ext cx="3541712" cy="102076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085" name="Text Box 5"/>
          <p:cNvSpPr txBox="1">
            <a:spLocks noChangeArrowheads="1"/>
          </p:cNvSpPr>
          <p:nvPr/>
        </p:nvSpPr>
        <p:spPr bwMode="auto">
          <a:xfrm>
            <a:off x="468313" y="2349500"/>
            <a:ext cx="1512887"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连续型</a:t>
            </a:r>
          </a:p>
        </p:txBody>
      </p:sp>
      <p:sp>
        <p:nvSpPr>
          <p:cNvPr id="46086" name="Text Box 7"/>
          <p:cNvSpPr txBox="1">
            <a:spLocks noChangeArrowheads="1"/>
          </p:cNvSpPr>
          <p:nvPr/>
        </p:nvSpPr>
        <p:spPr bwMode="auto">
          <a:xfrm>
            <a:off x="468313" y="3549650"/>
            <a:ext cx="8610600" cy="29035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buFontTx/>
              <a:buNone/>
            </a:pPr>
            <a:r>
              <a:rPr lang="zh-CN" altLang="en-US" sz="2400">
                <a:ea typeface="楷体_GB2312"/>
              </a:rPr>
              <a:t>计算的步骤大致如下：</a:t>
            </a:r>
          </a:p>
          <a:p>
            <a:pPr lvl="1" eaLnBrk="1" hangingPunct="1">
              <a:lnSpc>
                <a:spcPct val="110000"/>
              </a:lnSpc>
              <a:spcBef>
                <a:spcPct val="0"/>
              </a:spcBef>
              <a:buFontTx/>
              <a:buChar char="•"/>
            </a:pPr>
            <a:r>
              <a:rPr lang="zh-CN" altLang="en-US" sz="2400">
                <a:ea typeface="楷体_GB2312"/>
              </a:rPr>
              <a:t>任取电荷元</a:t>
            </a:r>
            <a:r>
              <a:rPr lang="en-US" altLang="zh-CN" sz="2400">
                <a:ea typeface="楷体_GB2312"/>
              </a:rPr>
              <a:t>d</a:t>
            </a:r>
            <a:r>
              <a:rPr lang="en-US" altLang="zh-CN" sz="2400" i="1">
                <a:ea typeface="楷体_GB2312"/>
              </a:rPr>
              <a:t>q</a:t>
            </a:r>
            <a:r>
              <a:rPr lang="zh-CN" altLang="en-US" sz="2400">
                <a:ea typeface="楷体_GB2312"/>
              </a:rPr>
              <a:t>，写出</a:t>
            </a:r>
            <a:r>
              <a:rPr lang="en-US" altLang="zh-CN" sz="2400">
                <a:ea typeface="楷体_GB2312"/>
              </a:rPr>
              <a:t>d</a:t>
            </a:r>
            <a:r>
              <a:rPr lang="en-US" altLang="zh-CN" sz="2400" i="1">
                <a:ea typeface="楷体_GB2312"/>
              </a:rPr>
              <a:t>q</a:t>
            </a:r>
            <a:r>
              <a:rPr lang="zh-CN" altLang="en-US" sz="2400">
                <a:ea typeface="楷体_GB2312"/>
              </a:rPr>
              <a:t>在待求点的场强的表达式；</a:t>
            </a:r>
          </a:p>
          <a:p>
            <a:pPr lvl="1" eaLnBrk="1" hangingPunct="1">
              <a:lnSpc>
                <a:spcPct val="110000"/>
              </a:lnSpc>
              <a:spcBef>
                <a:spcPct val="0"/>
              </a:spcBef>
              <a:buFontTx/>
              <a:buChar char="•"/>
            </a:pPr>
            <a:r>
              <a:rPr lang="zh-CN" altLang="en-US" sz="2400">
                <a:ea typeface="楷体_GB2312"/>
              </a:rPr>
              <a:t>选取适当的坐标系，将场强的表达式分解为标量表示式；</a:t>
            </a:r>
          </a:p>
          <a:p>
            <a:pPr lvl="1" eaLnBrk="1" hangingPunct="1">
              <a:lnSpc>
                <a:spcPct val="110000"/>
              </a:lnSpc>
              <a:spcBef>
                <a:spcPct val="0"/>
              </a:spcBef>
              <a:buFontTx/>
              <a:buChar char="•"/>
            </a:pPr>
            <a:r>
              <a:rPr lang="zh-CN" altLang="en-US" sz="2400">
                <a:ea typeface="楷体_GB2312"/>
              </a:rPr>
              <a:t>进行积分计算；</a:t>
            </a:r>
          </a:p>
          <a:p>
            <a:pPr lvl="1" eaLnBrk="1" hangingPunct="1">
              <a:lnSpc>
                <a:spcPct val="110000"/>
              </a:lnSpc>
              <a:spcBef>
                <a:spcPct val="0"/>
              </a:spcBef>
              <a:buFontTx/>
              <a:buChar char="•"/>
            </a:pPr>
            <a:r>
              <a:rPr lang="zh-CN" altLang="en-US" sz="2400">
                <a:ea typeface="楷体_GB2312"/>
              </a:rPr>
              <a:t>写出总的电场强度的矢量表达式，或求出电场强度的大小和方向；</a:t>
            </a:r>
          </a:p>
          <a:p>
            <a:pPr eaLnBrk="1" hangingPunct="1">
              <a:lnSpc>
                <a:spcPct val="110000"/>
              </a:lnSpc>
              <a:spcBef>
                <a:spcPct val="0"/>
              </a:spcBef>
              <a:buFontTx/>
              <a:buNone/>
            </a:pPr>
            <a:r>
              <a:rPr lang="zh-CN" altLang="en-US" sz="2400">
                <a:ea typeface="楷体_GB2312"/>
              </a:rPr>
              <a:t>在计算过程中，要根据对称性来简化计算过程。</a:t>
            </a:r>
            <a:endParaRPr lang="zh-CN" altLang="en-US" sz="3600">
              <a:solidFill>
                <a:srgbClr val="FF3300"/>
              </a:solidFill>
              <a:ea typeface="楷体_GB2312"/>
            </a:endParaRPr>
          </a:p>
        </p:txBody>
      </p:sp>
      <p:grpSp>
        <p:nvGrpSpPr>
          <p:cNvPr id="46087" name="Group 12"/>
          <p:cNvGrpSpPr>
            <a:grpSpLocks/>
          </p:cNvGrpSpPr>
          <p:nvPr/>
        </p:nvGrpSpPr>
        <p:grpSpPr bwMode="auto">
          <a:xfrm>
            <a:off x="5508625" y="1941513"/>
            <a:ext cx="3325813" cy="1439862"/>
            <a:chOff x="3470" y="1223"/>
            <a:chExt cx="2095" cy="907"/>
          </a:xfrm>
        </p:grpSpPr>
        <p:sp>
          <p:nvSpPr>
            <p:cNvPr id="46089" name="Text Box 8"/>
            <p:cNvSpPr txBox="1">
              <a:spLocks noChangeArrowheads="1"/>
            </p:cNvSpPr>
            <p:nvPr/>
          </p:nvSpPr>
          <p:spPr bwMode="auto">
            <a:xfrm>
              <a:off x="3560" y="1223"/>
              <a:ext cx="2005"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电荷体分布，</a:t>
              </a:r>
              <a:r>
                <a:rPr lang="en-US" altLang="zh-CN" sz="2400">
                  <a:ea typeface="楷体_GB2312"/>
                </a:rPr>
                <a:t>d</a:t>
              </a:r>
              <a:r>
                <a:rPr lang="en-US" altLang="zh-CN" sz="2400" i="1">
                  <a:ea typeface="楷体_GB2312"/>
                </a:rPr>
                <a:t>q</a:t>
              </a:r>
              <a:r>
                <a:rPr lang="en-US" altLang="zh-CN" sz="2400">
                  <a:ea typeface="楷体_GB2312"/>
                </a:rPr>
                <a:t>=ρd</a:t>
              </a:r>
              <a:r>
                <a:rPr lang="en-US" altLang="zh-CN" sz="2400" i="1">
                  <a:ea typeface="楷体_GB2312"/>
                </a:rPr>
                <a:t>V</a:t>
              </a:r>
              <a:endParaRPr lang="en-US" altLang="zh-CN" sz="2400">
                <a:ea typeface="楷体_GB2312"/>
              </a:endParaRPr>
            </a:p>
          </p:txBody>
        </p:sp>
        <p:sp>
          <p:nvSpPr>
            <p:cNvPr id="46090" name="Text Box 9"/>
            <p:cNvSpPr txBox="1">
              <a:spLocks noChangeArrowheads="1"/>
            </p:cNvSpPr>
            <p:nvPr/>
          </p:nvSpPr>
          <p:spPr bwMode="auto">
            <a:xfrm>
              <a:off x="3560" y="1570"/>
              <a:ext cx="1984"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电荷面分布，</a:t>
              </a:r>
              <a:r>
                <a:rPr lang="en-US" altLang="zh-CN" sz="2400">
                  <a:ea typeface="楷体_GB2312"/>
                </a:rPr>
                <a:t>d</a:t>
              </a:r>
              <a:r>
                <a:rPr lang="en-US" altLang="zh-CN" sz="2400" i="1">
                  <a:ea typeface="楷体_GB2312"/>
                </a:rPr>
                <a:t>q</a:t>
              </a:r>
              <a:r>
                <a:rPr lang="en-US" altLang="zh-CN" sz="2400">
                  <a:ea typeface="楷体_GB2312"/>
                </a:rPr>
                <a:t>=σd</a:t>
              </a:r>
              <a:r>
                <a:rPr lang="en-US" altLang="zh-CN" sz="2400" i="1">
                  <a:ea typeface="楷体_GB2312"/>
                </a:rPr>
                <a:t>S</a:t>
              </a:r>
              <a:endParaRPr lang="en-US" altLang="zh-CN" sz="2400">
                <a:ea typeface="楷体_GB2312"/>
              </a:endParaRPr>
            </a:p>
          </p:txBody>
        </p:sp>
        <p:sp>
          <p:nvSpPr>
            <p:cNvPr id="46091" name="Text Box 10"/>
            <p:cNvSpPr txBox="1">
              <a:spLocks noChangeArrowheads="1"/>
            </p:cNvSpPr>
            <p:nvPr/>
          </p:nvSpPr>
          <p:spPr bwMode="auto">
            <a:xfrm>
              <a:off x="3560" y="1842"/>
              <a:ext cx="1930"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电荷线分布，</a:t>
              </a:r>
              <a:r>
                <a:rPr lang="en-US" altLang="zh-CN" sz="2400">
                  <a:ea typeface="楷体_GB2312"/>
                </a:rPr>
                <a:t>d</a:t>
              </a:r>
              <a:r>
                <a:rPr lang="en-US" altLang="zh-CN" sz="2400" i="1">
                  <a:ea typeface="楷体_GB2312"/>
                </a:rPr>
                <a:t>q</a:t>
              </a:r>
              <a:r>
                <a:rPr lang="en-US" altLang="zh-CN" sz="2400">
                  <a:ea typeface="楷体_GB2312"/>
                </a:rPr>
                <a:t>=λd</a:t>
              </a:r>
              <a:r>
                <a:rPr lang="en-US" altLang="zh-CN" sz="2400" i="1">
                  <a:ea typeface="楷体_GB2312"/>
                </a:rPr>
                <a:t>l</a:t>
              </a:r>
              <a:endParaRPr lang="en-US" altLang="zh-CN" sz="2400">
                <a:ea typeface="楷体_GB2312"/>
              </a:endParaRPr>
            </a:p>
          </p:txBody>
        </p:sp>
        <p:sp>
          <p:nvSpPr>
            <p:cNvPr id="46092" name="AutoShape 11"/>
            <p:cNvSpPr>
              <a:spLocks/>
            </p:cNvSpPr>
            <p:nvPr/>
          </p:nvSpPr>
          <p:spPr bwMode="auto">
            <a:xfrm>
              <a:off x="3470" y="1314"/>
              <a:ext cx="90" cy="771"/>
            </a:xfrm>
            <a:prstGeom prst="leftBrace">
              <a:avLst>
                <a:gd name="adj1" fmla="val 71389"/>
                <a:gd name="adj2" fmla="val 50000"/>
              </a:avLst>
            </a:prstGeom>
            <a:noFill/>
            <a:ln w="38100">
              <a:solidFill>
                <a:srgbClr val="FF00FF"/>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pSp>
      <p:graphicFrame>
        <p:nvGraphicFramePr>
          <p:cNvPr id="46088" name="对象 3"/>
          <p:cNvGraphicFramePr>
            <a:graphicFrameLocks noChangeAspect="1"/>
          </p:cNvGraphicFramePr>
          <p:nvPr/>
        </p:nvGraphicFramePr>
        <p:xfrm>
          <a:off x="1908175" y="2232025"/>
          <a:ext cx="2519363" cy="765175"/>
        </p:xfrm>
        <a:graphic>
          <a:graphicData uri="http://schemas.openxmlformats.org/presentationml/2006/ole">
            <mc:AlternateContent xmlns:mc="http://schemas.openxmlformats.org/markup-compatibility/2006">
              <mc:Choice xmlns:v="urn:schemas-microsoft-com:vml" Requires="v">
                <p:oleObj spid="_x0000_s149711" name="Equation" r:id="rId5" imgW="1422400" imgH="431800" progId="Equation.DSMT4">
                  <p:embed/>
                </p:oleObj>
              </mc:Choice>
              <mc:Fallback>
                <p:oleObj name="Equation" r:id="rId5" imgW="1422400" imgH="431800" progId="Equation.DSMT4">
                  <p:embed/>
                  <p:pic>
                    <p:nvPicPr>
                      <p:cNvPr id="46088" name="对象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8175" y="2232025"/>
                        <a:ext cx="2519363" cy="7651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3" name="Picture 9" descr="231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161311" y="215463"/>
            <a:ext cx="1465733" cy="154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1123098"/>
      </p:ext>
    </p:extLst>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a:spLocks noChangeArrowheads="1"/>
          </p:cNvSpPr>
          <p:nvPr/>
        </p:nvSpPr>
        <p:spPr bwMode="auto">
          <a:xfrm>
            <a:off x="76200" y="152400"/>
            <a:ext cx="4724400" cy="579438"/>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type="none" w="sm" len="sm"/>
                <a:tailEnd type="none" w="sm" len="sm"/>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a:solidFill>
                  <a:schemeClr val="folHlink"/>
                </a:solidFill>
                <a:latin typeface="Arial" panose="020B0604020202020204" pitchFamily="34" charset="0"/>
                <a:ea typeface="楷体_GB2312"/>
              </a:rPr>
              <a:t>五、电偶极子的电场强度</a:t>
            </a:r>
          </a:p>
        </p:txBody>
      </p:sp>
      <p:sp>
        <p:nvSpPr>
          <p:cNvPr id="47107" name="Text Box 4"/>
          <p:cNvSpPr txBox="1">
            <a:spLocks noChangeArrowheads="1"/>
          </p:cNvSpPr>
          <p:nvPr/>
        </p:nvSpPr>
        <p:spPr bwMode="auto">
          <a:xfrm>
            <a:off x="533400" y="736600"/>
            <a:ext cx="7458075" cy="1614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0000FF"/>
                </a:solidFill>
                <a:ea typeface="楷体_GB2312"/>
              </a:rPr>
              <a:t>1</a:t>
            </a:r>
            <a:r>
              <a:rPr lang="zh-CN" altLang="en-US" sz="2800">
                <a:solidFill>
                  <a:srgbClr val="0000FF"/>
                </a:solidFill>
                <a:ea typeface="楷体_GB2312"/>
              </a:rPr>
              <a:t>、基本概念：</a:t>
            </a:r>
          </a:p>
          <a:p>
            <a:pPr eaLnBrk="1" hangingPunct="1">
              <a:spcBef>
                <a:spcPct val="0"/>
              </a:spcBef>
              <a:buFontTx/>
              <a:buNone/>
            </a:pPr>
            <a:endParaRPr lang="zh-CN" altLang="en-US" sz="2400">
              <a:ea typeface="楷体_GB2312"/>
            </a:endParaRPr>
          </a:p>
          <a:p>
            <a:pPr lvl="1" eaLnBrk="1" hangingPunct="1">
              <a:spcBef>
                <a:spcPct val="0"/>
              </a:spcBef>
              <a:buFontTx/>
              <a:buNone/>
            </a:pPr>
            <a:r>
              <a:rPr lang="zh-CN" altLang="en-US" sz="2400">
                <a:solidFill>
                  <a:srgbClr val="FF3300"/>
                </a:solidFill>
                <a:ea typeface="楷体_GB2312"/>
              </a:rPr>
              <a:t>电偶极子：</a:t>
            </a:r>
            <a:r>
              <a:rPr lang="zh-CN" altLang="en-US" sz="2400">
                <a:ea typeface="楷体_GB2312"/>
              </a:rPr>
              <a:t>等量异号电荷</a:t>
            </a:r>
            <a:r>
              <a:rPr lang="en-US" altLang="zh-CN" sz="2400">
                <a:ea typeface="楷体_GB2312"/>
              </a:rPr>
              <a:t>+</a:t>
            </a:r>
            <a:r>
              <a:rPr lang="en-US" altLang="zh-CN" sz="2400" i="1">
                <a:ea typeface="楷体_GB2312"/>
              </a:rPr>
              <a:t>q</a:t>
            </a:r>
            <a:r>
              <a:rPr lang="zh-CN" altLang="en-US" sz="2400">
                <a:ea typeface="楷体_GB2312"/>
              </a:rPr>
              <a:t>、</a:t>
            </a:r>
            <a:r>
              <a:rPr lang="en-US" altLang="zh-CN" sz="2400">
                <a:ea typeface="楷体_GB2312"/>
              </a:rPr>
              <a:t>-</a:t>
            </a:r>
            <a:r>
              <a:rPr lang="en-US" altLang="zh-CN" sz="2400" i="1">
                <a:ea typeface="楷体_GB2312"/>
              </a:rPr>
              <a:t>q</a:t>
            </a:r>
            <a:r>
              <a:rPr lang="zh-CN" altLang="en-US" sz="2400">
                <a:ea typeface="楷体_GB2312"/>
              </a:rPr>
              <a:t>，相距为</a:t>
            </a:r>
            <a:r>
              <a:rPr lang="en-US" altLang="zh-CN" sz="2400" i="1">
                <a:ea typeface="楷体_GB2312"/>
              </a:rPr>
              <a:t>l</a:t>
            </a:r>
            <a:r>
              <a:rPr lang="zh-CN" altLang="en-US" sz="2400">
                <a:ea typeface="楷体_GB2312"/>
              </a:rPr>
              <a:t>，它相对于求场点很小，称该带电体系为</a:t>
            </a:r>
            <a:r>
              <a:rPr lang="zh-CN" altLang="en-US" sz="2400">
                <a:solidFill>
                  <a:srgbClr val="0000FF"/>
                </a:solidFill>
                <a:ea typeface="楷体_GB2312"/>
              </a:rPr>
              <a:t>电偶极子</a:t>
            </a:r>
            <a:r>
              <a:rPr lang="zh-CN" altLang="en-US" sz="2400">
                <a:ea typeface="楷体_GB2312"/>
              </a:rPr>
              <a:t>。</a:t>
            </a:r>
            <a:endParaRPr lang="zh-CN" altLang="en-US" sz="2400">
              <a:solidFill>
                <a:srgbClr val="0000FF"/>
              </a:solidFill>
              <a:ea typeface="楷体_GB2312"/>
            </a:endParaRPr>
          </a:p>
        </p:txBody>
      </p:sp>
      <p:graphicFrame>
        <p:nvGraphicFramePr>
          <p:cNvPr id="47108" name="Object 45"/>
          <p:cNvGraphicFramePr>
            <a:graphicFrameLocks noChangeAspect="1"/>
          </p:cNvGraphicFramePr>
          <p:nvPr/>
        </p:nvGraphicFramePr>
        <p:xfrm>
          <a:off x="2987675" y="4059238"/>
          <a:ext cx="1406525" cy="765175"/>
        </p:xfrm>
        <a:graphic>
          <a:graphicData uri="http://schemas.openxmlformats.org/presentationml/2006/ole">
            <mc:AlternateContent xmlns:mc="http://schemas.openxmlformats.org/markup-compatibility/2006">
              <mc:Choice xmlns:v="urn:schemas-microsoft-com:vml" Requires="v">
                <p:oleObj spid="_x0000_s150836" name="Equation" r:id="rId3" imgW="444307" imgH="241195" progId="Equation.DSMT4">
                  <p:embed/>
                </p:oleObj>
              </mc:Choice>
              <mc:Fallback>
                <p:oleObj name="Equation" r:id="rId3" imgW="444307" imgH="241195" progId="Equation.DSMT4">
                  <p:embed/>
                  <p:pic>
                    <p:nvPicPr>
                      <p:cNvPr id="47108" name="Object 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675" y="4059238"/>
                        <a:ext cx="1406525" cy="76517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7109" name="Group 108"/>
          <p:cNvGrpSpPr>
            <a:grpSpLocks/>
          </p:cNvGrpSpPr>
          <p:nvPr/>
        </p:nvGrpSpPr>
        <p:grpSpPr bwMode="auto">
          <a:xfrm>
            <a:off x="6400800" y="2349500"/>
            <a:ext cx="1905000" cy="1216025"/>
            <a:chOff x="4032" y="1480"/>
            <a:chExt cx="1200" cy="766"/>
          </a:xfrm>
        </p:grpSpPr>
        <p:sp>
          <p:nvSpPr>
            <p:cNvPr id="47112" name="Oval 74"/>
            <p:cNvSpPr>
              <a:spLocks noChangeArrowheads="1"/>
            </p:cNvSpPr>
            <p:nvPr/>
          </p:nvSpPr>
          <p:spPr bwMode="auto">
            <a:xfrm>
              <a:off x="4080" y="1744"/>
              <a:ext cx="144" cy="144"/>
            </a:xfrm>
            <a:prstGeom prst="ellipse">
              <a:avLst/>
            </a:prstGeom>
            <a:solidFill>
              <a:srgbClr val="00CCFF"/>
            </a:solidFill>
            <a:ln w="1905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47113" name="Oval 75"/>
            <p:cNvSpPr>
              <a:spLocks noChangeArrowheads="1"/>
            </p:cNvSpPr>
            <p:nvPr/>
          </p:nvSpPr>
          <p:spPr bwMode="auto">
            <a:xfrm>
              <a:off x="5088" y="1728"/>
              <a:ext cx="144" cy="144"/>
            </a:xfrm>
            <a:prstGeom prst="ellipse">
              <a:avLst/>
            </a:prstGeom>
            <a:solidFill>
              <a:srgbClr val="FF0000"/>
            </a:solidFill>
            <a:ln w="1905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aphicFrame>
          <p:nvGraphicFramePr>
            <p:cNvPr id="47114" name="Object 79"/>
            <p:cNvGraphicFramePr>
              <a:graphicFrameLocks noChangeAspect="1"/>
            </p:cNvGraphicFramePr>
            <p:nvPr/>
          </p:nvGraphicFramePr>
          <p:xfrm>
            <a:off x="4800" y="1920"/>
            <a:ext cx="432" cy="318"/>
          </p:xfrm>
          <a:graphic>
            <a:graphicData uri="http://schemas.openxmlformats.org/presentationml/2006/ole">
              <mc:AlternateContent xmlns:mc="http://schemas.openxmlformats.org/markup-compatibility/2006">
                <mc:Choice xmlns:v="urn:schemas-microsoft-com:vml" Requires="v">
                  <p:oleObj spid="_x0000_s150837" name="公式" r:id="rId5" imgW="241091" imgH="177646" progId="Equation.3">
                    <p:embed/>
                  </p:oleObj>
                </mc:Choice>
                <mc:Fallback>
                  <p:oleObj name="公式" r:id="rId5" imgW="241091" imgH="177646" progId="Equation.3">
                    <p:embed/>
                    <p:pic>
                      <p:nvPicPr>
                        <p:cNvPr id="47114" name="Object 7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 y="1920"/>
                          <a:ext cx="432" cy="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115" name="Object 80"/>
            <p:cNvGraphicFramePr>
              <a:graphicFrameLocks noChangeAspect="1"/>
            </p:cNvGraphicFramePr>
            <p:nvPr/>
          </p:nvGraphicFramePr>
          <p:xfrm>
            <a:off x="4032" y="1968"/>
            <a:ext cx="407" cy="278"/>
          </p:xfrm>
          <a:graphic>
            <a:graphicData uri="http://schemas.openxmlformats.org/presentationml/2006/ole">
              <mc:AlternateContent xmlns:mc="http://schemas.openxmlformats.org/markup-compatibility/2006">
                <mc:Choice xmlns:v="urn:schemas-microsoft-com:vml" Requires="v">
                  <p:oleObj spid="_x0000_s150838" name="公式" r:id="rId7" imgW="241091" imgH="164957" progId="Equation.3">
                    <p:embed/>
                  </p:oleObj>
                </mc:Choice>
                <mc:Fallback>
                  <p:oleObj name="公式" r:id="rId7" imgW="241091" imgH="164957" progId="Equation.3">
                    <p:embed/>
                    <p:pic>
                      <p:nvPicPr>
                        <p:cNvPr id="47115" name="Object 8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32" y="1968"/>
                          <a:ext cx="407"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116" name="Text Box 105"/>
            <p:cNvSpPr txBox="1">
              <a:spLocks noChangeArrowheads="1"/>
            </p:cNvSpPr>
            <p:nvPr/>
          </p:nvSpPr>
          <p:spPr bwMode="auto">
            <a:xfrm>
              <a:off x="4512" y="1480"/>
              <a:ext cx="195" cy="409"/>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i="1">
                  <a:solidFill>
                    <a:srgbClr val="FF3300"/>
                  </a:solidFill>
                  <a:ea typeface="楷体_GB2312"/>
                </a:rPr>
                <a:t>l</a:t>
              </a:r>
            </a:p>
          </p:txBody>
        </p:sp>
        <p:sp>
          <p:nvSpPr>
            <p:cNvPr id="47117" name="Line 107"/>
            <p:cNvSpPr>
              <a:spLocks noChangeShapeType="1"/>
            </p:cNvSpPr>
            <p:nvPr/>
          </p:nvSpPr>
          <p:spPr bwMode="auto">
            <a:xfrm>
              <a:off x="4176" y="1824"/>
              <a:ext cx="960" cy="0"/>
            </a:xfrm>
            <a:prstGeom prst="line">
              <a:avLst/>
            </a:prstGeom>
            <a:noFill/>
            <a:ln w="38100">
              <a:solidFill>
                <a:srgbClr val="FF00FF"/>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pSp>
      <p:sp>
        <p:nvSpPr>
          <p:cNvPr id="47110" name="Text Box 109"/>
          <p:cNvSpPr txBox="1">
            <a:spLocks noChangeArrowheads="1"/>
          </p:cNvSpPr>
          <p:nvPr/>
        </p:nvSpPr>
        <p:spPr bwMode="auto">
          <a:xfrm>
            <a:off x="1052513" y="4059238"/>
            <a:ext cx="2439987"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solidFill>
                  <a:srgbClr val="0000FF"/>
                </a:solidFill>
                <a:ea typeface="楷体_GB2312"/>
              </a:rPr>
              <a:t>电偶极矩：</a:t>
            </a:r>
          </a:p>
        </p:txBody>
      </p:sp>
      <p:sp>
        <p:nvSpPr>
          <p:cNvPr id="47111" name="Text Box 110"/>
          <p:cNvSpPr txBox="1">
            <a:spLocks noChangeArrowheads="1"/>
          </p:cNvSpPr>
          <p:nvPr/>
        </p:nvSpPr>
        <p:spPr bwMode="auto">
          <a:xfrm>
            <a:off x="1052513" y="2759075"/>
            <a:ext cx="4662487" cy="8334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FF3300"/>
                </a:solidFill>
                <a:ea typeface="楷体_GB2312"/>
              </a:rPr>
              <a:t>电偶极子的轴：</a:t>
            </a:r>
            <a:r>
              <a:rPr lang="zh-CN" altLang="en-US" sz="2400">
                <a:ea typeface="楷体_GB2312"/>
              </a:rPr>
              <a:t>从</a:t>
            </a:r>
            <a:r>
              <a:rPr lang="en-US" altLang="zh-CN" sz="2400">
                <a:ea typeface="楷体_GB2312"/>
              </a:rPr>
              <a:t>-</a:t>
            </a:r>
            <a:r>
              <a:rPr lang="en-US" altLang="zh-CN" sz="2400" i="1">
                <a:ea typeface="楷体_GB2312"/>
              </a:rPr>
              <a:t>q </a:t>
            </a:r>
            <a:r>
              <a:rPr lang="zh-CN" altLang="en-US" sz="2400">
                <a:ea typeface="楷体_GB2312"/>
              </a:rPr>
              <a:t>指向</a:t>
            </a:r>
            <a:r>
              <a:rPr lang="en-US" altLang="zh-CN" sz="2400">
                <a:ea typeface="楷体_GB2312"/>
              </a:rPr>
              <a:t>+</a:t>
            </a:r>
            <a:r>
              <a:rPr lang="en-US" altLang="zh-CN" sz="2400" i="1">
                <a:ea typeface="楷体_GB2312"/>
              </a:rPr>
              <a:t>q </a:t>
            </a:r>
            <a:r>
              <a:rPr lang="zh-CN" altLang="en-US" sz="2400">
                <a:ea typeface="楷体_GB2312"/>
              </a:rPr>
              <a:t>的矢量</a:t>
            </a:r>
            <a:r>
              <a:rPr lang="en-US" altLang="zh-CN" sz="2400" i="1">
                <a:solidFill>
                  <a:srgbClr val="FF0000"/>
                </a:solidFill>
                <a:ea typeface="楷体_GB2312"/>
              </a:rPr>
              <a:t>l</a:t>
            </a:r>
            <a:r>
              <a:rPr lang="zh-CN" altLang="en-US" sz="2400">
                <a:solidFill>
                  <a:srgbClr val="0000FF"/>
                </a:solidFill>
                <a:ea typeface="楷体_GB2312"/>
              </a:rPr>
              <a:t>称为电偶极子的轴</a:t>
            </a:r>
          </a:p>
        </p:txBody>
      </p:sp>
    </p:spTree>
    <p:extLst>
      <p:ext uri="{BB962C8B-B14F-4D97-AF65-F5344CB8AC3E}">
        <p14:creationId xmlns:p14="http://schemas.microsoft.com/office/powerpoint/2010/main" val="3387594409"/>
      </p:ext>
    </p:extLst>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ext Box 2"/>
          <p:cNvSpPr txBox="1">
            <a:spLocks noChangeArrowheads="1"/>
          </p:cNvSpPr>
          <p:nvPr/>
        </p:nvSpPr>
        <p:spPr bwMode="auto">
          <a:xfrm>
            <a:off x="152400" y="152400"/>
            <a:ext cx="7848600" cy="52546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800">
                <a:solidFill>
                  <a:srgbClr val="0000FF"/>
                </a:solidFill>
                <a:ea typeface="楷体_GB2312"/>
              </a:rPr>
              <a:t>例题</a:t>
            </a:r>
            <a:r>
              <a:rPr lang="en-US" altLang="zh-CN" sz="2800">
                <a:solidFill>
                  <a:srgbClr val="0000FF"/>
                </a:solidFill>
                <a:ea typeface="楷体_GB2312"/>
              </a:rPr>
              <a:t>1</a:t>
            </a:r>
            <a:r>
              <a:rPr lang="zh-CN" altLang="en-US" sz="2800">
                <a:solidFill>
                  <a:srgbClr val="0000FF"/>
                </a:solidFill>
                <a:ea typeface="楷体_GB2312"/>
              </a:rPr>
              <a:t>、电偶极子轴线延长线上一点的电场强度</a:t>
            </a:r>
            <a:endParaRPr lang="zh-CN" altLang="en-US" sz="2400" b="0">
              <a:ea typeface="楷体_GB2312"/>
            </a:endParaRPr>
          </a:p>
        </p:txBody>
      </p:sp>
      <p:grpSp>
        <p:nvGrpSpPr>
          <p:cNvPr id="111650" name="Group 34"/>
          <p:cNvGrpSpPr>
            <a:grpSpLocks/>
          </p:cNvGrpSpPr>
          <p:nvPr/>
        </p:nvGrpSpPr>
        <p:grpSpPr bwMode="auto">
          <a:xfrm>
            <a:off x="4211638" y="620713"/>
            <a:ext cx="4800600" cy="1828800"/>
            <a:chOff x="2688" y="384"/>
            <a:chExt cx="3024" cy="1152"/>
          </a:xfrm>
        </p:grpSpPr>
        <p:sp>
          <p:nvSpPr>
            <p:cNvPr id="48140" name="Rectangle 33"/>
            <p:cNvSpPr>
              <a:spLocks noChangeArrowheads="1"/>
            </p:cNvSpPr>
            <p:nvPr/>
          </p:nvSpPr>
          <p:spPr bwMode="auto">
            <a:xfrm>
              <a:off x="2688" y="384"/>
              <a:ext cx="3024" cy="1152"/>
            </a:xfrm>
            <a:prstGeom prst="rect">
              <a:avLst/>
            </a:prstGeom>
            <a:solidFill>
              <a:srgbClr val="FFFF66"/>
            </a:solidFill>
            <a:ln w="127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pSp>
          <p:nvGrpSpPr>
            <p:cNvPr id="48141" name="Group 27"/>
            <p:cNvGrpSpPr>
              <a:grpSpLocks/>
            </p:cNvGrpSpPr>
            <p:nvPr/>
          </p:nvGrpSpPr>
          <p:grpSpPr bwMode="auto">
            <a:xfrm>
              <a:off x="2736" y="432"/>
              <a:ext cx="2880" cy="1056"/>
              <a:chOff x="2736" y="432"/>
              <a:chExt cx="2880" cy="1056"/>
            </a:xfrm>
          </p:grpSpPr>
          <p:graphicFrame>
            <p:nvGraphicFramePr>
              <p:cNvPr id="48142" name="Object 4"/>
              <p:cNvGraphicFramePr>
                <a:graphicFrameLocks noChangeAspect="1"/>
              </p:cNvGraphicFramePr>
              <p:nvPr/>
            </p:nvGraphicFramePr>
            <p:xfrm>
              <a:off x="5184" y="432"/>
              <a:ext cx="337" cy="384"/>
            </p:xfrm>
            <a:graphic>
              <a:graphicData uri="http://schemas.openxmlformats.org/presentationml/2006/ole">
                <mc:AlternateContent xmlns:mc="http://schemas.openxmlformats.org/markup-compatibility/2006">
                  <mc:Choice xmlns:v="urn:schemas-microsoft-com:vml" Requires="v">
                    <p:oleObj spid="_x0000_s152574" name="公式" r:id="rId4" imgW="203112" imgH="228501" progId="Equation.3">
                      <p:embed/>
                    </p:oleObj>
                  </mc:Choice>
                  <mc:Fallback>
                    <p:oleObj name="公式" r:id="rId4" imgW="203112" imgH="228501" progId="Equation.3">
                      <p:embed/>
                      <p:pic>
                        <p:nvPicPr>
                          <p:cNvPr id="4814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4" y="432"/>
                            <a:ext cx="337"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43" name="Oval 5"/>
              <p:cNvSpPr>
                <a:spLocks noChangeArrowheads="1"/>
              </p:cNvSpPr>
              <p:nvPr/>
            </p:nvSpPr>
            <p:spPr bwMode="auto">
              <a:xfrm>
                <a:off x="2784" y="784"/>
                <a:ext cx="144" cy="144"/>
              </a:xfrm>
              <a:prstGeom prst="ellipse">
                <a:avLst/>
              </a:prstGeom>
              <a:solidFill>
                <a:srgbClr val="00CCFF"/>
              </a:solidFill>
              <a:ln w="1905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48144" name="Oval 6"/>
              <p:cNvSpPr>
                <a:spLocks noChangeArrowheads="1"/>
              </p:cNvSpPr>
              <p:nvPr/>
            </p:nvSpPr>
            <p:spPr bwMode="auto">
              <a:xfrm>
                <a:off x="3792" y="768"/>
                <a:ext cx="144" cy="144"/>
              </a:xfrm>
              <a:prstGeom prst="ellipse">
                <a:avLst/>
              </a:prstGeom>
              <a:solidFill>
                <a:srgbClr val="FF0000"/>
              </a:solidFill>
              <a:ln w="1905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aphicFrame>
            <p:nvGraphicFramePr>
              <p:cNvPr id="48145" name="Object 7"/>
              <p:cNvGraphicFramePr>
                <a:graphicFrameLocks noChangeAspect="1"/>
              </p:cNvGraphicFramePr>
              <p:nvPr/>
            </p:nvGraphicFramePr>
            <p:xfrm>
              <a:off x="3696" y="480"/>
              <a:ext cx="432" cy="318"/>
            </p:xfrm>
            <a:graphic>
              <a:graphicData uri="http://schemas.openxmlformats.org/presentationml/2006/ole">
                <mc:AlternateContent xmlns:mc="http://schemas.openxmlformats.org/markup-compatibility/2006">
                  <mc:Choice xmlns:v="urn:schemas-microsoft-com:vml" Requires="v">
                    <p:oleObj spid="_x0000_s152575" name="公式" r:id="rId6" imgW="241091" imgH="177646" progId="Equation.3">
                      <p:embed/>
                    </p:oleObj>
                  </mc:Choice>
                  <mc:Fallback>
                    <p:oleObj name="公式" r:id="rId6" imgW="241091" imgH="177646" progId="Equation.3">
                      <p:embed/>
                      <p:pic>
                        <p:nvPicPr>
                          <p:cNvPr id="48145"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96" y="480"/>
                            <a:ext cx="432" cy="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46" name="Object 8"/>
              <p:cNvGraphicFramePr>
                <a:graphicFrameLocks noChangeAspect="1"/>
              </p:cNvGraphicFramePr>
              <p:nvPr/>
            </p:nvGraphicFramePr>
            <p:xfrm>
              <a:off x="2736" y="528"/>
              <a:ext cx="407" cy="278"/>
            </p:xfrm>
            <a:graphic>
              <a:graphicData uri="http://schemas.openxmlformats.org/presentationml/2006/ole">
                <mc:AlternateContent xmlns:mc="http://schemas.openxmlformats.org/markup-compatibility/2006">
                  <mc:Choice xmlns:v="urn:schemas-microsoft-com:vml" Requires="v">
                    <p:oleObj spid="_x0000_s237568" name="公式" r:id="rId8" imgW="241091" imgH="164957" progId="Equation.3">
                      <p:embed/>
                    </p:oleObj>
                  </mc:Choice>
                  <mc:Fallback>
                    <p:oleObj name="公式" r:id="rId8" imgW="241091" imgH="164957" progId="Equation.3">
                      <p:embed/>
                      <p:pic>
                        <p:nvPicPr>
                          <p:cNvPr id="48146"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36" y="528"/>
                            <a:ext cx="407"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47" name="Object 9"/>
              <p:cNvGraphicFramePr>
                <a:graphicFrameLocks noChangeAspect="1"/>
              </p:cNvGraphicFramePr>
              <p:nvPr/>
            </p:nvGraphicFramePr>
            <p:xfrm>
              <a:off x="4320" y="480"/>
              <a:ext cx="329" cy="370"/>
            </p:xfrm>
            <a:graphic>
              <a:graphicData uri="http://schemas.openxmlformats.org/presentationml/2006/ole">
                <mc:AlternateContent xmlns:mc="http://schemas.openxmlformats.org/markup-compatibility/2006">
                  <mc:Choice xmlns:v="urn:schemas-microsoft-com:vml" Requires="v">
                    <p:oleObj spid="_x0000_s237569" name="公式" r:id="rId10" imgW="215806" imgH="228501" progId="Equation.3">
                      <p:embed/>
                    </p:oleObj>
                  </mc:Choice>
                  <mc:Fallback>
                    <p:oleObj name="公式" r:id="rId10" imgW="215806" imgH="228501" progId="Equation.3">
                      <p:embed/>
                      <p:pic>
                        <p:nvPicPr>
                          <p:cNvPr id="48147"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20" y="480"/>
                            <a:ext cx="329" cy="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48" name="Freeform 10"/>
              <p:cNvSpPr>
                <a:spLocks/>
              </p:cNvSpPr>
              <p:nvPr/>
            </p:nvSpPr>
            <p:spPr bwMode="auto">
              <a:xfrm>
                <a:off x="4800" y="864"/>
                <a:ext cx="791" cy="1"/>
              </a:xfrm>
              <a:custGeom>
                <a:avLst/>
                <a:gdLst>
                  <a:gd name="T0" fmla="*/ 0 w 791"/>
                  <a:gd name="T1" fmla="*/ 0 h 1"/>
                  <a:gd name="T2" fmla="*/ 791 w 791"/>
                  <a:gd name="T3" fmla="*/ 1 h 1"/>
                  <a:gd name="T4" fmla="*/ 0 60000 65536"/>
                  <a:gd name="T5" fmla="*/ 0 60000 65536"/>
                </a:gdLst>
                <a:ahLst/>
                <a:cxnLst>
                  <a:cxn ang="T4">
                    <a:pos x="T0" y="T1"/>
                  </a:cxn>
                  <a:cxn ang="T5">
                    <a:pos x="T2" y="T3"/>
                  </a:cxn>
                </a:cxnLst>
                <a:rect l="0" t="0" r="r" b="b"/>
                <a:pathLst>
                  <a:path w="791" h="1">
                    <a:moveTo>
                      <a:pt x="0" y="0"/>
                    </a:moveTo>
                    <a:lnTo>
                      <a:pt x="791" y="1"/>
                    </a:lnTo>
                  </a:path>
                </a:pathLst>
              </a:custGeom>
              <a:noFill/>
              <a:ln w="44450" cap="sq" cmpd="sng">
                <a:solidFill>
                  <a:schemeClr val="tx1"/>
                </a:solidFill>
                <a:prstDash val="solid"/>
                <a:round/>
                <a:headEnd type="none" w="sm" len="sm"/>
                <a:tailEnd type="arrow"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9" name="Freeform 11"/>
              <p:cNvSpPr>
                <a:spLocks/>
              </p:cNvSpPr>
              <p:nvPr/>
            </p:nvSpPr>
            <p:spPr bwMode="auto">
              <a:xfrm>
                <a:off x="4464" y="864"/>
                <a:ext cx="337" cy="1"/>
              </a:xfrm>
              <a:custGeom>
                <a:avLst/>
                <a:gdLst>
                  <a:gd name="T0" fmla="*/ 337 w 337"/>
                  <a:gd name="T1" fmla="*/ 1 h 1"/>
                  <a:gd name="T2" fmla="*/ 0 w 337"/>
                  <a:gd name="T3" fmla="*/ 0 h 1"/>
                  <a:gd name="T4" fmla="*/ 0 60000 65536"/>
                  <a:gd name="T5" fmla="*/ 0 60000 65536"/>
                </a:gdLst>
                <a:ahLst/>
                <a:cxnLst>
                  <a:cxn ang="T4">
                    <a:pos x="T0" y="T1"/>
                  </a:cxn>
                  <a:cxn ang="T5">
                    <a:pos x="T2" y="T3"/>
                  </a:cxn>
                </a:cxnLst>
                <a:rect l="0" t="0" r="r" b="b"/>
                <a:pathLst>
                  <a:path w="337" h="1">
                    <a:moveTo>
                      <a:pt x="337" y="1"/>
                    </a:moveTo>
                    <a:lnTo>
                      <a:pt x="0" y="0"/>
                    </a:lnTo>
                  </a:path>
                </a:pathLst>
              </a:custGeom>
              <a:noFill/>
              <a:ln w="44450" cap="sq" cmpd="sng">
                <a:solidFill>
                  <a:schemeClr val="tx1"/>
                </a:solidFill>
                <a:prstDash val="solid"/>
                <a:round/>
                <a:headEnd type="none" w="sm" len="sm"/>
                <a:tailEnd type="arrow"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8150" name="Group 12"/>
              <p:cNvGrpSpPr>
                <a:grpSpLocks/>
              </p:cNvGrpSpPr>
              <p:nvPr/>
            </p:nvGrpSpPr>
            <p:grpSpPr bwMode="auto">
              <a:xfrm>
                <a:off x="4704" y="480"/>
                <a:ext cx="343" cy="432"/>
                <a:chOff x="4564" y="1773"/>
                <a:chExt cx="343" cy="432"/>
              </a:xfrm>
            </p:grpSpPr>
            <p:graphicFrame>
              <p:nvGraphicFramePr>
                <p:cNvPr id="48161" name="Object 13"/>
                <p:cNvGraphicFramePr>
                  <a:graphicFrameLocks noChangeAspect="1"/>
                </p:cNvGraphicFramePr>
                <p:nvPr/>
              </p:nvGraphicFramePr>
              <p:xfrm>
                <a:off x="4564" y="1773"/>
                <a:ext cx="343" cy="341"/>
              </p:xfrm>
              <a:graphic>
                <a:graphicData uri="http://schemas.openxmlformats.org/presentationml/2006/ole">
                  <mc:AlternateContent xmlns:mc="http://schemas.openxmlformats.org/markup-compatibility/2006">
                    <mc:Choice xmlns:v="urn:schemas-microsoft-com:vml" Requires="v">
                      <p:oleObj spid="_x0000_s237570" name="公式" r:id="rId12" imgW="164885" imgH="164885" progId="Equation.3">
                        <p:embed/>
                      </p:oleObj>
                    </mc:Choice>
                    <mc:Fallback>
                      <p:oleObj name="公式" r:id="rId12" imgW="164885" imgH="164885" progId="Equation.3">
                        <p:embed/>
                        <p:pic>
                          <p:nvPicPr>
                            <p:cNvPr id="48161"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64" y="1773"/>
                              <a:ext cx="343"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62" name="Oval 14"/>
                <p:cNvSpPr>
                  <a:spLocks noChangeArrowheads="1"/>
                </p:cNvSpPr>
                <p:nvPr/>
              </p:nvSpPr>
              <p:spPr bwMode="auto">
                <a:xfrm>
                  <a:off x="4625" y="2083"/>
                  <a:ext cx="122" cy="122"/>
                </a:xfrm>
                <a:prstGeom prst="ellipse">
                  <a:avLst/>
                </a:prstGeom>
                <a:solidFill>
                  <a:srgbClr val="FF99CC"/>
                </a:solidFill>
                <a:ln w="19050" cap="sq">
                  <a:solidFill>
                    <a:srgbClr val="FFFF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pSp>
          <p:sp>
            <p:nvSpPr>
              <p:cNvPr id="48151" name="Line 15"/>
              <p:cNvSpPr>
                <a:spLocks noChangeShapeType="1"/>
              </p:cNvSpPr>
              <p:nvPr/>
            </p:nvSpPr>
            <p:spPr bwMode="auto">
              <a:xfrm>
                <a:off x="2880" y="864"/>
                <a:ext cx="2736"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48152" name="Text Box 16"/>
              <p:cNvSpPr txBox="1">
                <a:spLocks noChangeArrowheads="1"/>
              </p:cNvSpPr>
              <p:nvPr/>
            </p:nvSpPr>
            <p:spPr bwMode="auto">
              <a:xfrm>
                <a:off x="3255" y="528"/>
                <a:ext cx="288"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FF3300"/>
                    </a:solidFill>
                    <a:ea typeface="楷体_GB2312"/>
                  </a:rPr>
                  <a:t>O</a:t>
                </a:r>
                <a:endParaRPr lang="en-US" altLang="zh-CN" sz="3600">
                  <a:solidFill>
                    <a:srgbClr val="FF3300"/>
                  </a:solidFill>
                  <a:ea typeface="楷体_GB2312"/>
                </a:endParaRPr>
              </a:p>
            </p:txBody>
          </p:sp>
          <p:sp>
            <p:nvSpPr>
              <p:cNvPr id="48153" name="Line 17"/>
              <p:cNvSpPr>
                <a:spLocks noChangeShapeType="1"/>
              </p:cNvSpPr>
              <p:nvPr/>
            </p:nvSpPr>
            <p:spPr bwMode="auto">
              <a:xfrm>
                <a:off x="3360" y="1104"/>
                <a:ext cx="0" cy="336"/>
              </a:xfrm>
              <a:prstGeom prst="line">
                <a:avLst/>
              </a:prstGeom>
              <a:noFill/>
              <a:ln w="127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48154" name="Line 18"/>
              <p:cNvSpPr>
                <a:spLocks noChangeShapeType="1"/>
              </p:cNvSpPr>
              <p:nvPr/>
            </p:nvSpPr>
            <p:spPr bwMode="auto">
              <a:xfrm>
                <a:off x="4848" y="912"/>
                <a:ext cx="0" cy="576"/>
              </a:xfrm>
              <a:prstGeom prst="line">
                <a:avLst/>
              </a:prstGeom>
              <a:noFill/>
              <a:ln w="127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48155" name="Line 19"/>
              <p:cNvSpPr>
                <a:spLocks noChangeShapeType="1"/>
              </p:cNvSpPr>
              <p:nvPr/>
            </p:nvSpPr>
            <p:spPr bwMode="auto">
              <a:xfrm>
                <a:off x="3360" y="1296"/>
                <a:ext cx="1488" cy="0"/>
              </a:xfrm>
              <a:prstGeom prst="line">
                <a:avLst/>
              </a:prstGeom>
              <a:noFill/>
              <a:ln w="12700">
                <a:solidFill>
                  <a:srgbClr val="FF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48156" name="Text Box 20"/>
              <p:cNvSpPr txBox="1">
                <a:spLocks noChangeArrowheads="1"/>
              </p:cNvSpPr>
              <p:nvPr/>
            </p:nvSpPr>
            <p:spPr bwMode="auto">
              <a:xfrm>
                <a:off x="3975" y="960"/>
                <a:ext cx="258" cy="4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i="1">
                    <a:solidFill>
                      <a:srgbClr val="FF3300"/>
                    </a:solidFill>
                    <a:ea typeface="楷体_GB2312"/>
                  </a:rPr>
                  <a:t>x</a:t>
                </a:r>
                <a:endParaRPr lang="en-US" altLang="zh-CN" sz="3600">
                  <a:solidFill>
                    <a:srgbClr val="FF3300"/>
                  </a:solidFill>
                  <a:ea typeface="楷体_GB2312"/>
                </a:endParaRPr>
              </a:p>
            </p:txBody>
          </p:sp>
          <p:sp>
            <p:nvSpPr>
              <p:cNvPr id="48157" name="Line 21"/>
              <p:cNvSpPr>
                <a:spLocks noChangeShapeType="1"/>
              </p:cNvSpPr>
              <p:nvPr/>
            </p:nvSpPr>
            <p:spPr bwMode="auto">
              <a:xfrm>
                <a:off x="2832" y="959"/>
                <a:ext cx="0" cy="241"/>
              </a:xfrm>
              <a:prstGeom prst="line">
                <a:avLst/>
              </a:prstGeom>
              <a:noFill/>
              <a:ln w="127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48158" name="Line 22"/>
              <p:cNvSpPr>
                <a:spLocks noChangeShapeType="1"/>
              </p:cNvSpPr>
              <p:nvPr/>
            </p:nvSpPr>
            <p:spPr bwMode="auto">
              <a:xfrm>
                <a:off x="3840" y="960"/>
                <a:ext cx="0" cy="240"/>
              </a:xfrm>
              <a:prstGeom prst="line">
                <a:avLst/>
              </a:prstGeom>
              <a:noFill/>
              <a:ln w="127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48159" name="Line 23"/>
              <p:cNvSpPr>
                <a:spLocks noChangeShapeType="1"/>
              </p:cNvSpPr>
              <p:nvPr/>
            </p:nvSpPr>
            <p:spPr bwMode="auto">
              <a:xfrm>
                <a:off x="2832" y="1028"/>
                <a:ext cx="1008" cy="0"/>
              </a:xfrm>
              <a:prstGeom prst="line">
                <a:avLst/>
              </a:prstGeom>
              <a:noFill/>
              <a:ln w="12700">
                <a:solidFill>
                  <a:srgbClr val="FF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48160" name="Text Box 24"/>
              <p:cNvSpPr txBox="1">
                <a:spLocks noChangeArrowheads="1"/>
              </p:cNvSpPr>
              <p:nvPr/>
            </p:nvSpPr>
            <p:spPr bwMode="auto">
              <a:xfrm>
                <a:off x="3024" y="960"/>
                <a:ext cx="195" cy="409"/>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i="1">
                    <a:solidFill>
                      <a:srgbClr val="FF3300"/>
                    </a:solidFill>
                    <a:ea typeface="楷体_GB2312"/>
                  </a:rPr>
                  <a:t>l</a:t>
                </a:r>
                <a:endParaRPr lang="en-US" altLang="zh-CN" sz="3600">
                  <a:solidFill>
                    <a:srgbClr val="FF3300"/>
                  </a:solidFill>
                  <a:ea typeface="楷体_GB2312"/>
                </a:endParaRPr>
              </a:p>
            </p:txBody>
          </p:sp>
        </p:grpSp>
      </p:grpSp>
      <p:graphicFrame>
        <p:nvGraphicFramePr>
          <p:cNvPr id="111641" name="Object 25"/>
          <p:cNvGraphicFramePr>
            <a:graphicFrameLocks noChangeAspect="1"/>
          </p:cNvGraphicFramePr>
          <p:nvPr/>
        </p:nvGraphicFramePr>
        <p:xfrm>
          <a:off x="493713" y="874713"/>
          <a:ext cx="3033712" cy="922337"/>
        </p:xfrm>
        <a:graphic>
          <a:graphicData uri="http://schemas.openxmlformats.org/presentationml/2006/ole">
            <mc:AlternateContent xmlns:mc="http://schemas.openxmlformats.org/markup-compatibility/2006">
              <mc:Choice xmlns:v="urn:schemas-microsoft-com:vml" Requires="v">
                <p:oleObj spid="_x0000_s237571" name="Equation" r:id="rId14" imgW="1549400" imgH="469900" progId="Equation.3">
                  <p:embed/>
                </p:oleObj>
              </mc:Choice>
              <mc:Fallback>
                <p:oleObj name="Equation" r:id="rId14" imgW="1549400" imgH="469900" progId="Equation.3">
                  <p:embed/>
                  <p:pic>
                    <p:nvPicPr>
                      <p:cNvPr id="111641" name="Object 2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93713" y="874713"/>
                        <a:ext cx="3033712" cy="92233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1642" name="Object 26"/>
          <p:cNvGraphicFramePr>
            <a:graphicFrameLocks noChangeAspect="1"/>
          </p:cNvGraphicFramePr>
          <p:nvPr/>
        </p:nvGraphicFramePr>
        <p:xfrm>
          <a:off x="557213" y="1941513"/>
          <a:ext cx="3019425" cy="900112"/>
        </p:xfrm>
        <a:graphic>
          <a:graphicData uri="http://schemas.openxmlformats.org/presentationml/2006/ole">
            <mc:AlternateContent xmlns:mc="http://schemas.openxmlformats.org/markup-compatibility/2006">
              <mc:Choice xmlns:v="urn:schemas-microsoft-com:vml" Requires="v">
                <p:oleObj spid="_x0000_s237572" name="Equation" r:id="rId16" imgW="1574800" imgH="469900" progId="Equation.DSMT4">
                  <p:embed/>
                </p:oleObj>
              </mc:Choice>
              <mc:Fallback>
                <p:oleObj name="Equation" r:id="rId16" imgW="1574800" imgH="469900" progId="Equation.DSMT4">
                  <p:embed/>
                  <p:pic>
                    <p:nvPicPr>
                      <p:cNvPr id="111642" name="Object 2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57213" y="1941513"/>
                        <a:ext cx="3019425" cy="9001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1644" name="Object 28"/>
          <p:cNvGraphicFramePr>
            <a:graphicFrameLocks noChangeAspect="1"/>
          </p:cNvGraphicFramePr>
          <p:nvPr/>
        </p:nvGraphicFramePr>
        <p:xfrm>
          <a:off x="30163" y="2867025"/>
          <a:ext cx="4545012" cy="849313"/>
        </p:xfrm>
        <a:graphic>
          <a:graphicData uri="http://schemas.openxmlformats.org/presentationml/2006/ole">
            <mc:AlternateContent xmlns:mc="http://schemas.openxmlformats.org/markup-compatibility/2006">
              <mc:Choice xmlns:v="urn:schemas-microsoft-com:vml" Requires="v">
                <p:oleObj spid="_x0000_s237573" name="Equation" r:id="rId18" imgW="2997200" imgH="558800" progId="Equation.DSMT4">
                  <p:embed/>
                </p:oleObj>
              </mc:Choice>
              <mc:Fallback>
                <p:oleObj name="Equation" r:id="rId18" imgW="2997200" imgH="558800" progId="Equation.DSMT4">
                  <p:embed/>
                  <p:pic>
                    <p:nvPicPr>
                      <p:cNvPr id="111644" name="Object 2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0163" y="2867025"/>
                        <a:ext cx="4545012" cy="8493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1645" name="Object 29"/>
          <p:cNvGraphicFramePr>
            <a:graphicFrameLocks noChangeAspect="1"/>
          </p:cNvGraphicFramePr>
          <p:nvPr/>
        </p:nvGraphicFramePr>
        <p:xfrm>
          <a:off x="436563" y="3875088"/>
          <a:ext cx="3636962" cy="1373187"/>
        </p:xfrm>
        <a:graphic>
          <a:graphicData uri="http://schemas.openxmlformats.org/presentationml/2006/ole">
            <mc:AlternateContent xmlns:mc="http://schemas.openxmlformats.org/markup-compatibility/2006">
              <mc:Choice xmlns:v="urn:schemas-microsoft-com:vml" Requires="v">
                <p:oleObj spid="_x0000_s237574" name="Equation" r:id="rId20" imgW="1675673" imgH="634725" progId="Equation.DSMT4">
                  <p:embed/>
                </p:oleObj>
              </mc:Choice>
              <mc:Fallback>
                <p:oleObj name="Equation" r:id="rId20" imgW="1675673" imgH="634725" progId="Equation.DSMT4">
                  <p:embed/>
                  <p:pic>
                    <p:nvPicPr>
                      <p:cNvPr id="111645" name="Object 2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36563" y="3875088"/>
                        <a:ext cx="3636962" cy="1373187"/>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1646" name="Text Box 30"/>
          <p:cNvSpPr txBox="1">
            <a:spLocks noChangeArrowheads="1"/>
          </p:cNvSpPr>
          <p:nvPr/>
        </p:nvSpPr>
        <p:spPr bwMode="auto">
          <a:xfrm>
            <a:off x="228600" y="5257800"/>
            <a:ext cx="4271963" cy="463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当</a:t>
            </a:r>
            <a:r>
              <a:rPr lang="en-US" altLang="zh-CN" sz="2400" i="1">
                <a:ea typeface="楷体_GB2312"/>
              </a:rPr>
              <a:t>x</a:t>
            </a:r>
            <a:r>
              <a:rPr lang="en-US" altLang="zh-CN" sz="2400">
                <a:ea typeface="楷体_GB2312"/>
              </a:rPr>
              <a:t>&gt;&gt;</a:t>
            </a:r>
            <a:r>
              <a:rPr lang="en-US" altLang="zh-CN" sz="2400" i="1">
                <a:ea typeface="楷体_GB2312"/>
              </a:rPr>
              <a:t>l</a:t>
            </a:r>
            <a:r>
              <a:rPr lang="zh-CN" altLang="en-US" sz="2400">
                <a:ea typeface="楷体_GB2312"/>
              </a:rPr>
              <a:t>时，</a:t>
            </a:r>
            <a:r>
              <a:rPr lang="en-US" altLang="zh-CN" sz="2400" i="1">
                <a:ea typeface="楷体_GB2312"/>
              </a:rPr>
              <a:t>x</a:t>
            </a:r>
            <a:r>
              <a:rPr lang="en-US" altLang="zh-CN" sz="2400" baseline="30000">
                <a:ea typeface="楷体_GB2312"/>
              </a:rPr>
              <a:t>2</a:t>
            </a:r>
            <a:r>
              <a:rPr lang="en-US" altLang="zh-CN" sz="2400">
                <a:ea typeface="楷体_GB2312"/>
              </a:rPr>
              <a:t>- </a:t>
            </a:r>
            <a:r>
              <a:rPr lang="en-US" altLang="zh-CN" sz="2400" i="1">
                <a:ea typeface="楷体_GB2312"/>
              </a:rPr>
              <a:t>l</a:t>
            </a:r>
            <a:r>
              <a:rPr lang="en-US" altLang="zh-CN" sz="2400" baseline="30000">
                <a:ea typeface="楷体_GB2312"/>
              </a:rPr>
              <a:t>2</a:t>
            </a:r>
            <a:r>
              <a:rPr lang="en-US" altLang="zh-CN" sz="2400">
                <a:ea typeface="楷体_GB2312"/>
              </a:rPr>
              <a:t>/4≈ </a:t>
            </a:r>
            <a:r>
              <a:rPr lang="en-US" altLang="zh-CN" sz="2400" i="1">
                <a:ea typeface="楷体_GB2312"/>
              </a:rPr>
              <a:t>x</a:t>
            </a:r>
            <a:r>
              <a:rPr lang="en-US" altLang="zh-CN" sz="2400" baseline="30000">
                <a:ea typeface="楷体_GB2312"/>
              </a:rPr>
              <a:t>2</a:t>
            </a:r>
          </a:p>
        </p:txBody>
      </p:sp>
      <p:graphicFrame>
        <p:nvGraphicFramePr>
          <p:cNvPr id="111647" name="Object 31"/>
          <p:cNvGraphicFramePr>
            <a:graphicFrameLocks noChangeAspect="1"/>
          </p:cNvGraphicFramePr>
          <p:nvPr/>
        </p:nvGraphicFramePr>
        <p:xfrm>
          <a:off x="447675" y="5827713"/>
          <a:ext cx="3705225" cy="958850"/>
        </p:xfrm>
        <a:graphic>
          <a:graphicData uri="http://schemas.openxmlformats.org/presentationml/2006/ole">
            <mc:AlternateContent xmlns:mc="http://schemas.openxmlformats.org/markup-compatibility/2006">
              <mc:Choice xmlns:v="urn:schemas-microsoft-com:vml" Requires="v">
                <p:oleObj spid="_x0000_s237575" name="Equation" r:id="rId22" imgW="1663700" imgH="431800" progId="Equation.DSMT4">
                  <p:embed/>
                </p:oleObj>
              </mc:Choice>
              <mc:Fallback>
                <p:oleObj name="Equation" r:id="rId22" imgW="1663700" imgH="431800" progId="Equation.DSMT4">
                  <p:embed/>
                  <p:pic>
                    <p:nvPicPr>
                      <p:cNvPr id="111647" name="Object 3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47675" y="5827713"/>
                        <a:ext cx="3705225" cy="958850"/>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1648" name="Text Box 32"/>
          <p:cNvSpPr txBox="1">
            <a:spLocks noChangeArrowheads="1"/>
          </p:cNvSpPr>
          <p:nvPr/>
        </p:nvSpPr>
        <p:spPr bwMode="auto">
          <a:xfrm>
            <a:off x="4967288" y="2992438"/>
            <a:ext cx="4213225" cy="37877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dirty="0">
                <a:ea typeface="楷体_GB2312"/>
              </a:rPr>
              <a:t>若</a:t>
            </a:r>
            <a:r>
              <a:rPr lang="en-US" altLang="zh-CN" sz="2000" i="1" dirty="0">
                <a:ea typeface="楷体_GB2312"/>
              </a:rPr>
              <a:t>l</a:t>
            </a:r>
            <a:r>
              <a:rPr lang="en-US" altLang="zh-CN" sz="2000" dirty="0">
                <a:ea typeface="楷体_GB2312"/>
              </a:rPr>
              <a:t>=0</a:t>
            </a:r>
            <a:r>
              <a:rPr lang="zh-CN" altLang="en-US" sz="2000" dirty="0">
                <a:ea typeface="楷体_GB2312"/>
              </a:rPr>
              <a:t>，则</a:t>
            </a:r>
            <a:r>
              <a:rPr lang="en-US" altLang="zh-CN" sz="2000" dirty="0">
                <a:ea typeface="楷体_GB2312"/>
              </a:rPr>
              <a:t>E</a:t>
            </a:r>
            <a:r>
              <a:rPr lang="en-US" altLang="zh-CN" sz="2000" baseline="-25000" dirty="0">
                <a:ea typeface="楷体_GB2312"/>
              </a:rPr>
              <a:t>A</a:t>
            </a:r>
            <a:r>
              <a:rPr lang="en-US" altLang="zh-CN" sz="2000" dirty="0">
                <a:ea typeface="楷体_GB2312"/>
              </a:rPr>
              <a:t>=0</a:t>
            </a:r>
            <a:r>
              <a:rPr lang="zh-CN" altLang="en-US" sz="2000" dirty="0">
                <a:ea typeface="楷体_GB2312"/>
              </a:rPr>
              <a:t>。这则</a:t>
            </a:r>
            <a:r>
              <a:rPr lang="en-US" altLang="zh-CN" sz="2000" dirty="0">
                <a:ea typeface="楷体_GB2312"/>
              </a:rPr>
              <a:t>-q </a:t>
            </a:r>
            <a:r>
              <a:rPr lang="zh-CN" altLang="en-US" sz="2000" dirty="0">
                <a:ea typeface="楷体_GB2312"/>
              </a:rPr>
              <a:t>与</a:t>
            </a:r>
            <a:r>
              <a:rPr lang="en-US" altLang="zh-CN" sz="2000" dirty="0">
                <a:ea typeface="楷体_GB2312"/>
              </a:rPr>
              <a:t>+q</a:t>
            </a:r>
            <a:r>
              <a:rPr lang="zh-CN" altLang="en-US" sz="2000" dirty="0">
                <a:ea typeface="楷体_GB2312"/>
              </a:rPr>
              <a:t>将重合在一起，场强为零，就是</a:t>
            </a:r>
            <a:r>
              <a:rPr lang="zh-CN" altLang="en-US" sz="2000" dirty="0">
                <a:solidFill>
                  <a:srgbClr val="FF0000"/>
                </a:solidFill>
                <a:ea typeface="楷体_GB2312"/>
              </a:rPr>
              <a:t>电中和</a:t>
            </a:r>
            <a:r>
              <a:rPr lang="zh-CN" altLang="en-US" sz="2000" dirty="0">
                <a:ea typeface="楷体_GB2312"/>
              </a:rPr>
              <a:t>的意义。所谓等量异种电荷的中和，并不是说这些电荷不激发电场了，而是指它们聚集在一起，对外所激发的电场相互抵消</a:t>
            </a:r>
            <a:r>
              <a:rPr lang="zh-CN" altLang="en-US" sz="2000" dirty="0">
                <a:solidFill>
                  <a:srgbClr val="FF3300"/>
                </a:solidFill>
                <a:ea typeface="楷体_GB2312"/>
              </a:rPr>
              <a:t>。 </a:t>
            </a:r>
            <a:endParaRPr lang="zh-CN" altLang="en-US" sz="2000" dirty="0">
              <a:ea typeface="楷体_GB2312"/>
            </a:endParaRPr>
          </a:p>
          <a:p>
            <a:pPr eaLnBrk="1" hangingPunct="1">
              <a:spcBef>
                <a:spcPct val="0"/>
              </a:spcBef>
              <a:buFontTx/>
              <a:buNone/>
            </a:pPr>
            <a:r>
              <a:rPr lang="zh-CN" altLang="en-US" sz="2000" dirty="0">
                <a:ea typeface="楷体_GB2312"/>
              </a:rPr>
              <a:t>在电偶极子轴线</a:t>
            </a:r>
            <a:r>
              <a:rPr lang="zh-CN" altLang="en-US" sz="2000" dirty="0">
                <a:solidFill>
                  <a:srgbClr val="FF0000"/>
                </a:solidFill>
                <a:ea typeface="楷体_GB2312"/>
              </a:rPr>
              <a:t>延长线上</a:t>
            </a:r>
            <a:r>
              <a:rPr lang="zh-CN" altLang="en-US" sz="2000" dirty="0">
                <a:ea typeface="楷体_GB2312"/>
              </a:rPr>
              <a:t>任意点的电场强度的大小与电偶极子的电偶极矩大小成正比，与电偶极子中心到该点的距离的三次方成反比；电场强度的方向与电偶极矩的方向相同。</a:t>
            </a:r>
          </a:p>
        </p:txBody>
      </p:sp>
      <p:sp>
        <p:nvSpPr>
          <p:cNvPr id="48139" name="Oval 35"/>
          <p:cNvSpPr>
            <a:spLocks noChangeArrowheads="1"/>
          </p:cNvSpPr>
          <p:nvPr/>
        </p:nvSpPr>
        <p:spPr bwMode="auto">
          <a:xfrm>
            <a:off x="5219700" y="1341438"/>
            <a:ext cx="73025" cy="71437"/>
          </a:xfrm>
          <a:prstGeom prst="ellipse">
            <a:avLst/>
          </a:prstGeom>
          <a:solidFill>
            <a:schemeClr val="tx1"/>
          </a:solidFill>
          <a:ln w="12700">
            <a:solidFill>
              <a:srgbClr val="FF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Tree>
    <p:extLst>
      <p:ext uri="{BB962C8B-B14F-4D97-AF65-F5344CB8AC3E}">
        <p14:creationId xmlns:p14="http://schemas.microsoft.com/office/powerpoint/2010/main" val="1724599156"/>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1618"/>
                                        </p:tgtEl>
                                        <p:attrNameLst>
                                          <p:attrName>style.visibility</p:attrName>
                                        </p:attrNameLst>
                                      </p:cBhvr>
                                      <p:to>
                                        <p:strVal val="visible"/>
                                      </p:to>
                                    </p:set>
                                    <p:animEffect transition="in" filter="wipe(left)">
                                      <p:cBhvr>
                                        <p:cTn id="7" dur="500"/>
                                        <p:tgtEl>
                                          <p:spTgt spid="1116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11650"/>
                                        </p:tgtEl>
                                        <p:attrNameLst>
                                          <p:attrName>style.visibility</p:attrName>
                                        </p:attrNameLst>
                                      </p:cBhvr>
                                      <p:to>
                                        <p:strVal val="visible"/>
                                      </p:to>
                                    </p:set>
                                    <p:animEffect transition="in" filter="dissolve">
                                      <p:cBhvr>
                                        <p:cTn id="12" dur="500"/>
                                        <p:tgtEl>
                                          <p:spTgt spid="1116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11641"/>
                                        </p:tgtEl>
                                        <p:attrNameLst>
                                          <p:attrName>style.visibility</p:attrName>
                                        </p:attrNameLst>
                                      </p:cBhvr>
                                      <p:to>
                                        <p:strVal val="visible"/>
                                      </p:to>
                                    </p:set>
                                    <p:animEffect transition="in" filter="wipe(left)">
                                      <p:cBhvr>
                                        <p:cTn id="17" dur="500"/>
                                        <p:tgtEl>
                                          <p:spTgt spid="11164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11642"/>
                                        </p:tgtEl>
                                        <p:attrNameLst>
                                          <p:attrName>style.visibility</p:attrName>
                                        </p:attrNameLst>
                                      </p:cBhvr>
                                      <p:to>
                                        <p:strVal val="visible"/>
                                      </p:to>
                                    </p:set>
                                    <p:animEffect transition="in" filter="wipe(left)">
                                      <p:cBhvr>
                                        <p:cTn id="22" dur="500"/>
                                        <p:tgtEl>
                                          <p:spTgt spid="1116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11644"/>
                                        </p:tgtEl>
                                        <p:attrNameLst>
                                          <p:attrName>style.visibility</p:attrName>
                                        </p:attrNameLst>
                                      </p:cBhvr>
                                      <p:to>
                                        <p:strVal val="visible"/>
                                      </p:to>
                                    </p:set>
                                    <p:animEffect transition="in" filter="wipe(left)">
                                      <p:cBhvr>
                                        <p:cTn id="27" dur="500"/>
                                        <p:tgtEl>
                                          <p:spTgt spid="11164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11645"/>
                                        </p:tgtEl>
                                        <p:attrNameLst>
                                          <p:attrName>style.visibility</p:attrName>
                                        </p:attrNameLst>
                                      </p:cBhvr>
                                      <p:to>
                                        <p:strVal val="visible"/>
                                      </p:to>
                                    </p:set>
                                    <p:animEffect transition="in" filter="wipe(left)">
                                      <p:cBhvr>
                                        <p:cTn id="32" dur="500"/>
                                        <p:tgtEl>
                                          <p:spTgt spid="11164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1646"/>
                                        </p:tgtEl>
                                        <p:attrNameLst>
                                          <p:attrName>style.visibility</p:attrName>
                                        </p:attrNameLst>
                                      </p:cBhvr>
                                      <p:to>
                                        <p:strVal val="visible"/>
                                      </p:to>
                                    </p:set>
                                    <p:animEffect transition="in" filter="wipe(left)">
                                      <p:cBhvr>
                                        <p:cTn id="37" dur="500"/>
                                        <p:tgtEl>
                                          <p:spTgt spid="11164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11647"/>
                                        </p:tgtEl>
                                        <p:attrNameLst>
                                          <p:attrName>style.visibility</p:attrName>
                                        </p:attrNameLst>
                                      </p:cBhvr>
                                      <p:to>
                                        <p:strVal val="visible"/>
                                      </p:to>
                                    </p:set>
                                    <p:animEffect transition="in" filter="wipe(left)">
                                      <p:cBhvr>
                                        <p:cTn id="42" dur="500"/>
                                        <p:tgtEl>
                                          <p:spTgt spid="11164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iterate type="lt">
                                    <p:tmPct val="100000"/>
                                  </p:iterate>
                                  <p:childTnLst>
                                    <p:set>
                                      <p:cBhvr>
                                        <p:cTn id="46" dur="1" fill="hold">
                                          <p:stCondLst>
                                            <p:cond delay="0"/>
                                          </p:stCondLst>
                                        </p:cTn>
                                        <p:tgtEl>
                                          <p:spTgt spid="111648">
                                            <p:txEl>
                                              <p:pRg st="0" end="0"/>
                                            </p:txEl>
                                          </p:spTgt>
                                        </p:tgtEl>
                                        <p:attrNameLst>
                                          <p:attrName>style.visibility</p:attrName>
                                        </p:attrNameLst>
                                      </p:cBhvr>
                                      <p:to>
                                        <p:strVal val="visible"/>
                                      </p:to>
                                    </p:set>
                                    <p:animEffect transition="in" filter="wipe(left)">
                                      <p:cBhvr>
                                        <p:cTn id="47" dur="75"/>
                                        <p:tgtEl>
                                          <p:spTgt spid="111648">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iterate type="lt">
                                    <p:tmPct val="100000"/>
                                  </p:iterate>
                                  <p:childTnLst>
                                    <p:set>
                                      <p:cBhvr>
                                        <p:cTn id="51" dur="1" fill="hold">
                                          <p:stCondLst>
                                            <p:cond delay="0"/>
                                          </p:stCondLst>
                                        </p:cTn>
                                        <p:tgtEl>
                                          <p:spTgt spid="111648">
                                            <p:txEl>
                                              <p:pRg st="1" end="1"/>
                                            </p:txEl>
                                          </p:spTgt>
                                        </p:tgtEl>
                                        <p:attrNameLst>
                                          <p:attrName>style.visibility</p:attrName>
                                        </p:attrNameLst>
                                      </p:cBhvr>
                                      <p:to>
                                        <p:strVal val="visible"/>
                                      </p:to>
                                    </p:set>
                                    <p:animEffect transition="in" filter="wipe(left)">
                                      <p:cBhvr>
                                        <p:cTn id="52" dur="75"/>
                                        <p:tgtEl>
                                          <p:spTgt spid="11164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8" grpId="0" autoUpdateAnimBg="0"/>
      <p:bldP spid="111646" grpId="0" autoUpdateAnimBg="0"/>
      <p:bldP spid="111648"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912" name="Text Box 56"/>
          <p:cNvSpPr txBox="1">
            <a:spLocks noChangeArrowheads="1"/>
          </p:cNvSpPr>
          <p:nvPr/>
        </p:nvSpPr>
        <p:spPr bwMode="auto">
          <a:xfrm>
            <a:off x="304800" y="765175"/>
            <a:ext cx="838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3600">
                <a:solidFill>
                  <a:srgbClr val="FF3300"/>
                </a:solidFill>
                <a:ea typeface="楷体_GB2312"/>
              </a:rPr>
              <a:t>解：</a:t>
            </a:r>
          </a:p>
        </p:txBody>
      </p:sp>
      <p:graphicFrame>
        <p:nvGraphicFramePr>
          <p:cNvPr id="121913" name="Object 57"/>
          <p:cNvGraphicFramePr>
            <a:graphicFrameLocks noChangeAspect="1"/>
          </p:cNvGraphicFramePr>
          <p:nvPr/>
        </p:nvGraphicFramePr>
        <p:xfrm>
          <a:off x="76200" y="1820863"/>
          <a:ext cx="514350" cy="614362"/>
        </p:xfrm>
        <a:graphic>
          <a:graphicData uri="http://schemas.openxmlformats.org/presentationml/2006/ole">
            <mc:AlternateContent xmlns:mc="http://schemas.openxmlformats.org/markup-compatibility/2006">
              <mc:Choice xmlns:v="urn:schemas-microsoft-com:vml" Requires="v">
                <p:oleObj spid="_x0000_s224021" name="Equation" r:id="rId3" imgW="190500" imgH="228600" progId="Equation.3">
                  <p:embed/>
                </p:oleObj>
              </mc:Choice>
              <mc:Fallback>
                <p:oleObj name="Equation" r:id="rId3" imgW="190500" imgH="228600" progId="Equation.3">
                  <p:embed/>
                  <p:pic>
                    <p:nvPicPr>
                      <p:cNvPr id="121913" name="Object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1820863"/>
                        <a:ext cx="514350" cy="614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1914" name="Object 58"/>
          <p:cNvGraphicFramePr>
            <a:graphicFrameLocks noChangeAspect="1"/>
          </p:cNvGraphicFramePr>
          <p:nvPr/>
        </p:nvGraphicFramePr>
        <p:xfrm>
          <a:off x="3581400" y="1820863"/>
          <a:ext cx="1981200" cy="531812"/>
        </p:xfrm>
        <a:graphic>
          <a:graphicData uri="http://schemas.openxmlformats.org/presentationml/2006/ole">
            <mc:AlternateContent xmlns:mc="http://schemas.openxmlformats.org/markup-compatibility/2006">
              <mc:Choice xmlns:v="urn:schemas-microsoft-com:vml" Requires="v">
                <p:oleObj spid="_x0000_s224022" name="Equation" r:id="rId5" imgW="837836" imgH="203112" progId="Equation.3">
                  <p:embed/>
                </p:oleObj>
              </mc:Choice>
              <mc:Fallback>
                <p:oleObj name="Equation" r:id="rId5" imgW="837836" imgH="203112" progId="Equation.3">
                  <p:embed/>
                  <p:pic>
                    <p:nvPicPr>
                      <p:cNvPr id="121914" name="Object 5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1400" y="1820863"/>
                        <a:ext cx="1981200"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1915" name="Object 59"/>
          <p:cNvGraphicFramePr>
            <a:graphicFrameLocks noChangeAspect="1"/>
          </p:cNvGraphicFramePr>
          <p:nvPr/>
        </p:nvGraphicFramePr>
        <p:xfrm>
          <a:off x="1038225" y="765175"/>
          <a:ext cx="2238375" cy="657225"/>
        </p:xfrm>
        <a:graphic>
          <a:graphicData uri="http://schemas.openxmlformats.org/presentationml/2006/ole">
            <mc:AlternateContent xmlns:mc="http://schemas.openxmlformats.org/markup-compatibility/2006">
              <mc:Choice xmlns:v="urn:schemas-microsoft-com:vml" Requires="v">
                <p:oleObj spid="_x0000_s224023" name="Equation" r:id="rId7" imgW="812447" imgH="241195" progId="Equation.3">
                  <p:embed/>
                </p:oleObj>
              </mc:Choice>
              <mc:Fallback>
                <p:oleObj name="Equation" r:id="rId7" imgW="812447" imgH="241195" progId="Equation.3">
                  <p:embed/>
                  <p:pic>
                    <p:nvPicPr>
                      <p:cNvPr id="121915" name="Object 5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38225" y="765175"/>
                        <a:ext cx="2238375" cy="657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916" name="Rectangle 60"/>
          <p:cNvSpPr>
            <a:spLocks noChangeArrowheads="1"/>
          </p:cNvSpPr>
          <p:nvPr/>
        </p:nvSpPr>
        <p:spPr bwMode="auto">
          <a:xfrm>
            <a:off x="3048000" y="779463"/>
            <a:ext cx="3467616"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3000">
                <a:solidFill>
                  <a:schemeClr val="tx2"/>
                </a:solidFill>
                <a:ea typeface="楷体_GB2312"/>
              </a:rPr>
              <a:t>  由对称性分析</a:t>
            </a:r>
            <a:r>
              <a:rPr lang="en-US" altLang="zh-CN" sz="3000" i="1">
                <a:solidFill>
                  <a:schemeClr val="tx2"/>
                </a:solidFill>
                <a:ea typeface="楷体_GB2312"/>
              </a:rPr>
              <a:t>E</a:t>
            </a:r>
            <a:r>
              <a:rPr lang="en-US" altLang="zh-CN" sz="3000" b="0" i="1" baseline="-25000">
                <a:solidFill>
                  <a:schemeClr val="tx2"/>
                </a:solidFill>
                <a:ea typeface="楷体_GB2312"/>
              </a:rPr>
              <a:t>y</a:t>
            </a:r>
            <a:r>
              <a:rPr lang="en-US" altLang="zh-CN" sz="3000">
                <a:solidFill>
                  <a:schemeClr val="tx2"/>
                </a:solidFill>
                <a:ea typeface="楷体_GB2312"/>
              </a:rPr>
              <a:t>=</a:t>
            </a:r>
            <a:r>
              <a:rPr lang="en-US" altLang="zh-CN" sz="3000" b="0">
                <a:solidFill>
                  <a:schemeClr val="tx2"/>
                </a:solidFill>
                <a:ea typeface="楷体_GB2312"/>
              </a:rPr>
              <a:t>0</a:t>
            </a:r>
          </a:p>
        </p:txBody>
      </p:sp>
      <p:graphicFrame>
        <p:nvGraphicFramePr>
          <p:cNvPr id="121917" name="Object 61"/>
          <p:cNvGraphicFramePr>
            <a:graphicFrameLocks noChangeAspect="1"/>
          </p:cNvGraphicFramePr>
          <p:nvPr/>
        </p:nvGraphicFramePr>
        <p:xfrm>
          <a:off x="2362200" y="1782763"/>
          <a:ext cx="1219200" cy="723900"/>
        </p:xfrm>
        <a:graphic>
          <a:graphicData uri="http://schemas.openxmlformats.org/presentationml/2006/ole">
            <mc:AlternateContent xmlns:mc="http://schemas.openxmlformats.org/markup-compatibility/2006">
              <mc:Choice xmlns:v="urn:schemas-microsoft-com:vml" Requires="v">
                <p:oleObj spid="_x0000_s224024" name="Equation" r:id="rId9" imgW="406224" imgH="241195" progId="Equation.3">
                  <p:embed/>
                </p:oleObj>
              </mc:Choice>
              <mc:Fallback>
                <p:oleObj name="Equation" r:id="rId9" imgW="406224" imgH="241195" progId="Equation.3">
                  <p:embed/>
                  <p:pic>
                    <p:nvPicPr>
                      <p:cNvPr id="121917" name="Object 6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62200" y="1782763"/>
                        <a:ext cx="121920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1918" name="Object 62"/>
          <p:cNvGraphicFramePr>
            <a:graphicFrameLocks noChangeAspect="1"/>
          </p:cNvGraphicFramePr>
          <p:nvPr/>
        </p:nvGraphicFramePr>
        <p:xfrm>
          <a:off x="533400" y="1773238"/>
          <a:ext cx="1981200" cy="738187"/>
        </p:xfrm>
        <a:graphic>
          <a:graphicData uri="http://schemas.openxmlformats.org/presentationml/2006/ole">
            <mc:AlternateContent xmlns:mc="http://schemas.openxmlformats.org/markup-compatibility/2006">
              <mc:Choice xmlns:v="urn:schemas-microsoft-com:vml" Requires="v">
                <p:oleObj spid="_x0000_s224025" name="Equation" r:id="rId11" imgW="647700" imgH="241300" progId="Equation.3">
                  <p:embed/>
                </p:oleObj>
              </mc:Choice>
              <mc:Fallback>
                <p:oleObj name="Equation" r:id="rId11" imgW="647700" imgH="241300" progId="Equation.3">
                  <p:embed/>
                  <p:pic>
                    <p:nvPicPr>
                      <p:cNvPr id="121918" name="Object 6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3400" y="1773238"/>
                        <a:ext cx="1981200" cy="738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185" name="Object 3"/>
          <p:cNvGraphicFramePr>
            <a:graphicFrameLocks noChangeAspect="1"/>
          </p:cNvGraphicFramePr>
          <p:nvPr/>
        </p:nvGraphicFramePr>
        <p:xfrm>
          <a:off x="5957888" y="4405313"/>
          <a:ext cx="454025" cy="295275"/>
        </p:xfrm>
        <a:graphic>
          <a:graphicData uri="http://schemas.openxmlformats.org/presentationml/2006/ole">
            <mc:AlternateContent xmlns:mc="http://schemas.openxmlformats.org/markup-compatibility/2006">
              <mc:Choice xmlns:v="urn:schemas-microsoft-com:vml" Requires="v">
                <p:oleObj spid="_x0000_s224026" name="公式" r:id="rId13" imgW="622030" imgH="368140" progId="Equation.3">
                  <p:embed/>
                </p:oleObj>
              </mc:Choice>
              <mc:Fallback>
                <p:oleObj name="公式" r:id="rId13" imgW="622030" imgH="368140" progId="Equation.3">
                  <p:embed/>
                  <p:pic>
                    <p:nvPicPr>
                      <p:cNvPr id="50185" name="Object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57888" y="4405313"/>
                        <a:ext cx="454025"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6" name="Object 4"/>
          <p:cNvGraphicFramePr>
            <a:graphicFrameLocks noChangeAspect="1"/>
          </p:cNvGraphicFramePr>
          <p:nvPr/>
        </p:nvGraphicFramePr>
        <p:xfrm>
          <a:off x="8521700" y="4465638"/>
          <a:ext cx="461963" cy="306387"/>
        </p:xfrm>
        <a:graphic>
          <a:graphicData uri="http://schemas.openxmlformats.org/presentationml/2006/ole">
            <mc:AlternateContent xmlns:mc="http://schemas.openxmlformats.org/markup-compatibility/2006">
              <mc:Choice xmlns:v="urn:schemas-microsoft-com:vml" Requires="v">
                <p:oleObj spid="_x0000_s224027" name="公式" r:id="rId15" imgW="634725" imgH="380835" progId="Equation.3">
                  <p:embed/>
                </p:oleObj>
              </mc:Choice>
              <mc:Fallback>
                <p:oleObj name="公式" r:id="rId15" imgW="634725" imgH="380835" progId="Equation.3">
                  <p:embed/>
                  <p:pic>
                    <p:nvPicPr>
                      <p:cNvPr id="50186" name="Object 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521700" y="4465638"/>
                        <a:ext cx="461963"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0187" name="Group 5"/>
          <p:cNvGrpSpPr>
            <a:grpSpLocks/>
          </p:cNvGrpSpPr>
          <p:nvPr/>
        </p:nvGrpSpPr>
        <p:grpSpPr bwMode="auto">
          <a:xfrm>
            <a:off x="6348413" y="3987800"/>
            <a:ext cx="2228850" cy="246063"/>
            <a:chOff x="3312" y="2979"/>
            <a:chExt cx="1921" cy="194"/>
          </a:xfrm>
        </p:grpSpPr>
        <p:grpSp>
          <p:nvGrpSpPr>
            <p:cNvPr id="50243" name="Group 6"/>
            <p:cNvGrpSpPr>
              <a:grpSpLocks/>
            </p:cNvGrpSpPr>
            <p:nvPr/>
          </p:nvGrpSpPr>
          <p:grpSpPr bwMode="auto">
            <a:xfrm>
              <a:off x="5040" y="2980"/>
              <a:ext cx="193" cy="193"/>
              <a:chOff x="1152" y="1296"/>
              <a:chExt cx="193" cy="193"/>
            </a:xfrm>
          </p:grpSpPr>
          <p:sp>
            <p:nvSpPr>
              <p:cNvPr id="50248" name="Oval 7"/>
              <p:cNvSpPr>
                <a:spLocks noChangeArrowheads="1"/>
              </p:cNvSpPr>
              <p:nvPr/>
            </p:nvSpPr>
            <p:spPr bwMode="auto">
              <a:xfrm>
                <a:off x="1152" y="1296"/>
                <a:ext cx="193" cy="193"/>
              </a:xfrm>
              <a:prstGeom prst="ellipse">
                <a:avLst/>
              </a:prstGeom>
              <a:gradFill rotWithShape="0">
                <a:gsLst>
                  <a:gs pos="0">
                    <a:srgbClr val="FF6600"/>
                  </a:gs>
                  <a:gs pos="100000">
                    <a:srgbClr val="762F00"/>
                  </a:gs>
                </a:gsLst>
                <a:path path="shape">
                  <a:fillToRect l="50000" t="50000" r="50000" b="50000"/>
                </a:path>
              </a:gra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50249" name="Line 8"/>
              <p:cNvSpPr>
                <a:spLocks noChangeShapeType="1"/>
              </p:cNvSpPr>
              <p:nvPr/>
            </p:nvSpPr>
            <p:spPr bwMode="auto">
              <a:xfrm>
                <a:off x="1152" y="1398"/>
                <a:ext cx="193"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50" name="Line 9"/>
              <p:cNvSpPr>
                <a:spLocks noChangeShapeType="1"/>
              </p:cNvSpPr>
              <p:nvPr/>
            </p:nvSpPr>
            <p:spPr bwMode="auto">
              <a:xfrm>
                <a:off x="1248" y="1296"/>
                <a:ext cx="0" cy="192"/>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0244" name="Group 10"/>
            <p:cNvGrpSpPr>
              <a:grpSpLocks/>
            </p:cNvGrpSpPr>
            <p:nvPr/>
          </p:nvGrpSpPr>
          <p:grpSpPr bwMode="auto">
            <a:xfrm>
              <a:off x="3312" y="2979"/>
              <a:ext cx="193" cy="193"/>
              <a:chOff x="1728" y="1036"/>
              <a:chExt cx="193" cy="193"/>
            </a:xfrm>
          </p:grpSpPr>
          <p:sp>
            <p:nvSpPr>
              <p:cNvPr id="121867" name="Oval 11"/>
              <p:cNvSpPr>
                <a:spLocks noChangeArrowheads="1"/>
              </p:cNvSpPr>
              <p:nvPr/>
            </p:nvSpPr>
            <p:spPr bwMode="auto">
              <a:xfrm>
                <a:off x="1728" y="1036"/>
                <a:ext cx="193" cy="193"/>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spcBef>
                    <a:spcPct val="20000"/>
                  </a:spcBef>
                  <a:defRPr/>
                </a:pPr>
                <a:endParaRPr lang="zh-CN" altLang="en-US">
                  <a:ea typeface="楷体_GB2312" pitchFamily="49" charset="-122"/>
                  <a:cs typeface="+mn-cs"/>
                </a:endParaRPr>
              </a:p>
            </p:txBody>
          </p:sp>
          <p:sp>
            <p:nvSpPr>
              <p:cNvPr id="50247" name="Line 12"/>
              <p:cNvSpPr>
                <a:spLocks noChangeShapeType="1"/>
              </p:cNvSpPr>
              <p:nvPr/>
            </p:nvSpPr>
            <p:spPr bwMode="auto">
              <a:xfrm>
                <a:off x="1728" y="1138"/>
                <a:ext cx="193"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0245" name="Line 13"/>
            <p:cNvSpPr>
              <a:spLocks noChangeShapeType="1"/>
            </p:cNvSpPr>
            <p:nvPr/>
          </p:nvSpPr>
          <p:spPr bwMode="auto">
            <a:xfrm>
              <a:off x="3504" y="3068"/>
              <a:ext cx="1536" cy="0"/>
            </a:xfrm>
            <a:prstGeom prst="line">
              <a:avLst/>
            </a:prstGeom>
            <a:noFill/>
            <a:ln w="19050">
              <a:solidFill>
                <a:schemeClr val="accent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0188" name="Group 15"/>
          <p:cNvGrpSpPr>
            <a:grpSpLocks/>
          </p:cNvGrpSpPr>
          <p:nvPr/>
        </p:nvGrpSpPr>
        <p:grpSpPr bwMode="auto">
          <a:xfrm>
            <a:off x="6459538" y="4283075"/>
            <a:ext cx="2005012" cy="676275"/>
            <a:chOff x="3408" y="2976"/>
            <a:chExt cx="1728" cy="532"/>
          </a:xfrm>
        </p:grpSpPr>
        <p:sp>
          <p:nvSpPr>
            <p:cNvPr id="50239" name="Line 16"/>
            <p:cNvSpPr>
              <a:spLocks noChangeShapeType="1"/>
            </p:cNvSpPr>
            <p:nvPr/>
          </p:nvSpPr>
          <p:spPr bwMode="auto">
            <a:xfrm>
              <a:off x="3408" y="2976"/>
              <a:ext cx="0" cy="336"/>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40" name="Line 17"/>
            <p:cNvSpPr>
              <a:spLocks noChangeShapeType="1"/>
            </p:cNvSpPr>
            <p:nvPr/>
          </p:nvSpPr>
          <p:spPr bwMode="auto">
            <a:xfrm>
              <a:off x="5136" y="2976"/>
              <a:ext cx="0" cy="336"/>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41" name="Line 18"/>
            <p:cNvSpPr>
              <a:spLocks noChangeShapeType="1"/>
            </p:cNvSpPr>
            <p:nvPr/>
          </p:nvSpPr>
          <p:spPr bwMode="auto">
            <a:xfrm>
              <a:off x="3408" y="3168"/>
              <a:ext cx="1728" cy="0"/>
            </a:xfrm>
            <a:prstGeom prst="line">
              <a:avLst/>
            </a:prstGeom>
            <a:noFill/>
            <a:ln w="190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0242" name="Object 19"/>
            <p:cNvGraphicFramePr>
              <a:graphicFrameLocks noChangeAspect="1"/>
            </p:cNvGraphicFramePr>
            <p:nvPr/>
          </p:nvGraphicFramePr>
          <p:xfrm>
            <a:off x="4176" y="3253"/>
            <a:ext cx="103" cy="255"/>
          </p:xfrm>
          <a:graphic>
            <a:graphicData uri="http://schemas.openxmlformats.org/presentationml/2006/ole">
              <mc:AlternateContent xmlns:mc="http://schemas.openxmlformats.org/markup-compatibility/2006">
                <mc:Choice xmlns:v="urn:schemas-microsoft-com:vml" Requires="v">
                  <p:oleObj spid="_x0000_s224028" name="公式" r:id="rId17" imgW="164957" imgH="406048" progId="Equation.3">
                    <p:embed/>
                  </p:oleObj>
                </mc:Choice>
                <mc:Fallback>
                  <p:oleObj name="公式" r:id="rId17" imgW="164957" imgH="406048" progId="Equation.3">
                    <p:embed/>
                    <p:pic>
                      <p:nvPicPr>
                        <p:cNvPr id="50242" name="Object 1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176" y="3253"/>
                          <a:ext cx="103" cy="2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0189" name="Object 20"/>
          <p:cNvGraphicFramePr>
            <a:graphicFrameLocks noChangeAspect="1"/>
          </p:cNvGraphicFramePr>
          <p:nvPr/>
        </p:nvGraphicFramePr>
        <p:xfrm>
          <a:off x="7072313" y="4083050"/>
          <a:ext cx="835025" cy="484188"/>
        </p:xfrm>
        <a:graphic>
          <a:graphicData uri="http://schemas.openxmlformats.org/presentationml/2006/ole">
            <mc:AlternateContent xmlns:mc="http://schemas.openxmlformats.org/markup-compatibility/2006">
              <mc:Choice xmlns:v="urn:schemas-microsoft-com:vml" Requires="v">
                <p:oleObj spid="_x0000_s224029" name="Equation" r:id="rId19" imgW="457200" imgH="241300" progId="Equation.3">
                  <p:embed/>
                </p:oleObj>
              </mc:Choice>
              <mc:Fallback>
                <p:oleObj name="Equation" r:id="rId19" imgW="457200" imgH="241300" progId="Equation.3">
                  <p:embed/>
                  <p:pic>
                    <p:nvPicPr>
                      <p:cNvPr id="50189" name="Object 2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072313" y="4083050"/>
                        <a:ext cx="835025"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0190" name="Group 21"/>
          <p:cNvGrpSpPr>
            <a:grpSpLocks/>
          </p:cNvGrpSpPr>
          <p:nvPr/>
        </p:nvGrpSpPr>
        <p:grpSpPr bwMode="auto">
          <a:xfrm>
            <a:off x="7462838" y="1295400"/>
            <a:ext cx="1604962" cy="2805113"/>
            <a:chOff x="4272" y="860"/>
            <a:chExt cx="1383" cy="2208"/>
          </a:xfrm>
        </p:grpSpPr>
        <p:sp>
          <p:nvSpPr>
            <p:cNvPr id="50234" name="Line 22"/>
            <p:cNvSpPr>
              <a:spLocks noChangeShapeType="1"/>
            </p:cNvSpPr>
            <p:nvPr/>
          </p:nvSpPr>
          <p:spPr bwMode="auto">
            <a:xfrm flipV="1">
              <a:off x="4272" y="860"/>
              <a:ext cx="0" cy="2208"/>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35" name="Line 23"/>
            <p:cNvSpPr>
              <a:spLocks noChangeShapeType="1"/>
            </p:cNvSpPr>
            <p:nvPr/>
          </p:nvSpPr>
          <p:spPr bwMode="auto">
            <a:xfrm>
              <a:off x="5232" y="3068"/>
              <a:ext cx="38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0236" name="Object 24"/>
            <p:cNvGraphicFramePr>
              <a:graphicFrameLocks noChangeAspect="1"/>
            </p:cNvGraphicFramePr>
            <p:nvPr/>
          </p:nvGraphicFramePr>
          <p:xfrm>
            <a:off x="4368" y="2832"/>
            <a:ext cx="159" cy="176"/>
          </p:xfrm>
          <a:graphic>
            <a:graphicData uri="http://schemas.openxmlformats.org/presentationml/2006/ole">
              <mc:AlternateContent xmlns:mc="http://schemas.openxmlformats.org/markup-compatibility/2006">
                <mc:Choice xmlns:v="urn:schemas-microsoft-com:vml" Requires="v">
                  <p:oleObj spid="_x0000_s224030" name="公式" r:id="rId21" imgW="253890" imgH="279279" progId="Equation.3">
                    <p:embed/>
                  </p:oleObj>
                </mc:Choice>
                <mc:Fallback>
                  <p:oleObj name="公式" r:id="rId21" imgW="253890" imgH="279279" progId="Equation.3">
                    <p:embed/>
                    <p:pic>
                      <p:nvPicPr>
                        <p:cNvPr id="50236" name="Object 2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368" y="2832"/>
                          <a:ext cx="159"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237" name="Object 25"/>
            <p:cNvGraphicFramePr>
              <a:graphicFrameLocks noChangeAspect="1"/>
            </p:cNvGraphicFramePr>
            <p:nvPr/>
          </p:nvGraphicFramePr>
          <p:xfrm>
            <a:off x="4416" y="860"/>
            <a:ext cx="183" cy="223"/>
          </p:xfrm>
          <a:graphic>
            <a:graphicData uri="http://schemas.openxmlformats.org/presentationml/2006/ole">
              <mc:AlternateContent xmlns:mc="http://schemas.openxmlformats.org/markup-compatibility/2006">
                <mc:Choice xmlns:v="urn:schemas-microsoft-com:vml" Requires="v">
                  <p:oleObj spid="_x0000_s224031" name="公式" r:id="rId23" imgW="291973" imgH="355446" progId="Equation.3">
                    <p:embed/>
                  </p:oleObj>
                </mc:Choice>
                <mc:Fallback>
                  <p:oleObj name="公式" r:id="rId23" imgW="291973" imgH="355446" progId="Equation.3">
                    <p:embed/>
                    <p:pic>
                      <p:nvPicPr>
                        <p:cNvPr id="50237" name="Object 2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416" y="860"/>
                          <a:ext cx="183"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238" name="Object 26"/>
            <p:cNvGraphicFramePr>
              <a:graphicFrameLocks noChangeAspect="1"/>
            </p:cNvGraphicFramePr>
            <p:nvPr/>
          </p:nvGraphicFramePr>
          <p:xfrm>
            <a:off x="5472" y="2732"/>
            <a:ext cx="183" cy="176"/>
          </p:xfrm>
          <a:graphic>
            <a:graphicData uri="http://schemas.openxmlformats.org/presentationml/2006/ole">
              <mc:AlternateContent xmlns:mc="http://schemas.openxmlformats.org/markup-compatibility/2006">
                <mc:Choice xmlns:v="urn:schemas-microsoft-com:vml" Requires="v">
                  <p:oleObj spid="_x0000_s224032" name="公式" r:id="rId25" imgW="291973" imgH="279279" progId="Equation.3">
                    <p:embed/>
                  </p:oleObj>
                </mc:Choice>
                <mc:Fallback>
                  <p:oleObj name="公式" r:id="rId25" imgW="291973" imgH="279279" progId="Equation.3">
                    <p:embed/>
                    <p:pic>
                      <p:nvPicPr>
                        <p:cNvPr id="50238" name="Object 26"/>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472" y="2732"/>
                          <a:ext cx="183"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0191" name="Group 28"/>
          <p:cNvGrpSpPr>
            <a:grpSpLocks/>
          </p:cNvGrpSpPr>
          <p:nvPr/>
        </p:nvGrpSpPr>
        <p:grpSpPr bwMode="auto">
          <a:xfrm>
            <a:off x="7437438" y="2336800"/>
            <a:ext cx="414337" cy="304800"/>
            <a:chOff x="4251" y="1680"/>
            <a:chExt cx="357" cy="240"/>
          </a:xfrm>
        </p:grpSpPr>
        <p:sp>
          <p:nvSpPr>
            <p:cNvPr id="50232" name="Oval 29"/>
            <p:cNvSpPr>
              <a:spLocks noChangeArrowheads="1"/>
            </p:cNvSpPr>
            <p:nvPr/>
          </p:nvSpPr>
          <p:spPr bwMode="auto">
            <a:xfrm>
              <a:off x="4251" y="1786"/>
              <a:ext cx="48" cy="48"/>
            </a:xfrm>
            <a:prstGeom prst="ellipse">
              <a:avLst/>
            </a:prstGeom>
            <a:solidFill>
              <a:schemeClr val="accent1"/>
            </a:solidFill>
            <a:ln w="19050">
              <a:solidFill>
                <a:schemeClr val="tx1"/>
              </a:solidFill>
              <a:round/>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aphicFrame>
          <p:nvGraphicFramePr>
            <p:cNvPr id="50233" name="Object 30"/>
            <p:cNvGraphicFramePr>
              <a:graphicFrameLocks noChangeAspect="1"/>
            </p:cNvGraphicFramePr>
            <p:nvPr/>
          </p:nvGraphicFramePr>
          <p:xfrm>
            <a:off x="4368" y="1680"/>
            <a:ext cx="240" cy="240"/>
          </p:xfrm>
          <a:graphic>
            <a:graphicData uri="http://schemas.openxmlformats.org/presentationml/2006/ole">
              <mc:AlternateContent xmlns:mc="http://schemas.openxmlformats.org/markup-compatibility/2006">
                <mc:Choice xmlns:v="urn:schemas-microsoft-com:vml" Requires="v">
                  <p:oleObj spid="_x0000_s224033" name="公式" r:id="rId27" imgW="380835" imgH="380835" progId="Equation.3">
                    <p:embed/>
                  </p:oleObj>
                </mc:Choice>
                <mc:Fallback>
                  <p:oleObj name="公式" r:id="rId27" imgW="380835" imgH="380835" progId="Equation.3">
                    <p:embed/>
                    <p:pic>
                      <p:nvPicPr>
                        <p:cNvPr id="50233" name="Object 30"/>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368" y="1680"/>
                          <a:ext cx="24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0192" name="Group 31"/>
          <p:cNvGrpSpPr>
            <a:grpSpLocks/>
          </p:cNvGrpSpPr>
          <p:nvPr/>
        </p:nvGrpSpPr>
        <p:grpSpPr bwMode="auto">
          <a:xfrm>
            <a:off x="6515100" y="2519363"/>
            <a:ext cx="1893888" cy="1535112"/>
            <a:chOff x="4368" y="1816"/>
            <a:chExt cx="1632" cy="1208"/>
          </a:xfrm>
        </p:grpSpPr>
        <p:sp>
          <p:nvSpPr>
            <p:cNvPr id="50230" name="Line 32"/>
            <p:cNvSpPr>
              <a:spLocks noChangeShapeType="1"/>
            </p:cNvSpPr>
            <p:nvPr/>
          </p:nvSpPr>
          <p:spPr bwMode="auto">
            <a:xfrm flipH="1" flipV="1">
              <a:off x="5184" y="1824"/>
              <a:ext cx="816" cy="1200"/>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31" name="Line 33"/>
            <p:cNvSpPr>
              <a:spLocks noChangeShapeType="1"/>
            </p:cNvSpPr>
            <p:nvPr/>
          </p:nvSpPr>
          <p:spPr bwMode="auto">
            <a:xfrm flipH="1">
              <a:off x="4368" y="1816"/>
              <a:ext cx="797" cy="1160"/>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0193" name="Group 34"/>
          <p:cNvGrpSpPr>
            <a:grpSpLocks/>
          </p:cNvGrpSpPr>
          <p:nvPr/>
        </p:nvGrpSpPr>
        <p:grpSpPr bwMode="auto">
          <a:xfrm>
            <a:off x="6681788" y="1300163"/>
            <a:ext cx="781050" cy="1219200"/>
            <a:chOff x="3600" y="864"/>
            <a:chExt cx="672" cy="960"/>
          </a:xfrm>
        </p:grpSpPr>
        <p:sp>
          <p:nvSpPr>
            <p:cNvPr id="50228" name="Line 35"/>
            <p:cNvSpPr>
              <a:spLocks noChangeShapeType="1"/>
            </p:cNvSpPr>
            <p:nvPr/>
          </p:nvSpPr>
          <p:spPr bwMode="auto">
            <a:xfrm flipH="1" flipV="1">
              <a:off x="3888" y="1248"/>
              <a:ext cx="384" cy="576"/>
            </a:xfrm>
            <a:prstGeom prst="line">
              <a:avLst/>
            </a:prstGeom>
            <a:noFill/>
            <a:ln w="38100">
              <a:solidFill>
                <a:srgbClr val="FF33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0229" name="Object 36"/>
            <p:cNvGraphicFramePr>
              <a:graphicFrameLocks noChangeAspect="1"/>
            </p:cNvGraphicFramePr>
            <p:nvPr/>
          </p:nvGraphicFramePr>
          <p:xfrm>
            <a:off x="3600" y="864"/>
            <a:ext cx="384" cy="381"/>
          </p:xfrm>
          <a:graphic>
            <a:graphicData uri="http://schemas.openxmlformats.org/presentationml/2006/ole">
              <mc:AlternateContent xmlns:mc="http://schemas.openxmlformats.org/markup-compatibility/2006">
                <mc:Choice xmlns:v="urn:schemas-microsoft-com:vml" Requires="v">
                  <p:oleObj spid="_x0000_s224034" name="Equation" r:id="rId29" imgW="66735" imgH="66846" progId="Equation.3">
                    <p:embed/>
                  </p:oleObj>
                </mc:Choice>
                <mc:Fallback>
                  <p:oleObj name="Equation" r:id="rId29" imgW="66735" imgH="66846" progId="Equation.3">
                    <p:embed/>
                    <p:pic>
                      <p:nvPicPr>
                        <p:cNvPr id="50229" name="Object 3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600" y="864"/>
                          <a:ext cx="384" cy="3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0194" name="Group 37"/>
          <p:cNvGrpSpPr>
            <a:grpSpLocks/>
          </p:cNvGrpSpPr>
          <p:nvPr/>
        </p:nvGrpSpPr>
        <p:grpSpPr bwMode="auto">
          <a:xfrm>
            <a:off x="6515100" y="2481263"/>
            <a:ext cx="939800" cy="1014412"/>
            <a:chOff x="3456" y="1793"/>
            <a:chExt cx="809" cy="799"/>
          </a:xfrm>
        </p:grpSpPr>
        <p:sp>
          <p:nvSpPr>
            <p:cNvPr id="50226" name="Line 38"/>
            <p:cNvSpPr>
              <a:spLocks noChangeShapeType="1"/>
            </p:cNvSpPr>
            <p:nvPr/>
          </p:nvSpPr>
          <p:spPr bwMode="auto">
            <a:xfrm flipH="1">
              <a:off x="3881" y="1793"/>
              <a:ext cx="384" cy="576"/>
            </a:xfrm>
            <a:prstGeom prst="line">
              <a:avLst/>
            </a:prstGeom>
            <a:noFill/>
            <a:ln w="38100">
              <a:solidFill>
                <a:schemeClr val="accent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0227" name="Object 39"/>
            <p:cNvGraphicFramePr>
              <a:graphicFrameLocks noChangeAspect="1"/>
            </p:cNvGraphicFramePr>
            <p:nvPr/>
          </p:nvGraphicFramePr>
          <p:xfrm>
            <a:off x="3456" y="2208"/>
            <a:ext cx="384" cy="384"/>
          </p:xfrm>
          <a:graphic>
            <a:graphicData uri="http://schemas.openxmlformats.org/presentationml/2006/ole">
              <mc:AlternateContent xmlns:mc="http://schemas.openxmlformats.org/markup-compatibility/2006">
                <mc:Choice xmlns:v="urn:schemas-microsoft-com:vml" Requires="v">
                  <p:oleObj spid="_x0000_s224035" name="Equation" r:id="rId31" imgW="66735" imgH="66846" progId="Equation.3">
                    <p:embed/>
                  </p:oleObj>
                </mc:Choice>
                <mc:Fallback>
                  <p:oleObj name="Equation" r:id="rId31" imgW="66735" imgH="66846" progId="Equation.3">
                    <p:embed/>
                    <p:pic>
                      <p:nvPicPr>
                        <p:cNvPr id="50227" name="Object 39"/>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456" y="2208"/>
                          <a:ext cx="38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0195" name="Line 40"/>
          <p:cNvSpPr>
            <a:spLocks noChangeShapeType="1"/>
          </p:cNvSpPr>
          <p:nvPr/>
        </p:nvSpPr>
        <p:spPr bwMode="auto">
          <a:xfrm>
            <a:off x="7016750" y="1782763"/>
            <a:ext cx="446088" cy="0"/>
          </a:xfrm>
          <a:prstGeom prst="line">
            <a:avLst/>
          </a:prstGeom>
          <a:noFill/>
          <a:ln w="19050">
            <a:solidFill>
              <a:srgbClr val="FF3300"/>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96" name="Line 41"/>
          <p:cNvSpPr>
            <a:spLocks noChangeShapeType="1"/>
          </p:cNvSpPr>
          <p:nvPr/>
        </p:nvSpPr>
        <p:spPr bwMode="auto">
          <a:xfrm>
            <a:off x="7016750" y="1782763"/>
            <a:ext cx="0" cy="731837"/>
          </a:xfrm>
          <a:prstGeom prst="line">
            <a:avLst/>
          </a:prstGeom>
          <a:noFill/>
          <a:ln w="19050">
            <a:solidFill>
              <a:srgbClr val="FF3300"/>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97" name="Line 42"/>
          <p:cNvSpPr>
            <a:spLocks noChangeShapeType="1"/>
          </p:cNvSpPr>
          <p:nvPr/>
        </p:nvSpPr>
        <p:spPr bwMode="auto">
          <a:xfrm flipV="1">
            <a:off x="7016750" y="2514600"/>
            <a:ext cx="0" cy="671513"/>
          </a:xfrm>
          <a:prstGeom prst="line">
            <a:avLst/>
          </a:prstGeom>
          <a:noFill/>
          <a:ln w="19050">
            <a:solidFill>
              <a:schemeClr val="accent1"/>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98" name="Line 43"/>
          <p:cNvSpPr>
            <a:spLocks noChangeShapeType="1"/>
          </p:cNvSpPr>
          <p:nvPr/>
        </p:nvSpPr>
        <p:spPr bwMode="auto">
          <a:xfrm>
            <a:off x="7016750" y="3186113"/>
            <a:ext cx="446088" cy="0"/>
          </a:xfrm>
          <a:prstGeom prst="line">
            <a:avLst/>
          </a:prstGeom>
          <a:noFill/>
          <a:ln w="19050">
            <a:solidFill>
              <a:schemeClr val="accent1"/>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0199" name="Group 44"/>
          <p:cNvGrpSpPr>
            <a:grpSpLocks/>
          </p:cNvGrpSpPr>
          <p:nvPr/>
        </p:nvGrpSpPr>
        <p:grpSpPr bwMode="auto">
          <a:xfrm>
            <a:off x="6210300" y="1909763"/>
            <a:ext cx="1252538" cy="584200"/>
            <a:chOff x="3193" y="1344"/>
            <a:chExt cx="1079" cy="459"/>
          </a:xfrm>
        </p:grpSpPr>
        <p:sp>
          <p:nvSpPr>
            <p:cNvPr id="50224" name="Line 45"/>
            <p:cNvSpPr>
              <a:spLocks noChangeShapeType="1"/>
            </p:cNvSpPr>
            <p:nvPr/>
          </p:nvSpPr>
          <p:spPr bwMode="auto">
            <a:xfrm flipH="1">
              <a:off x="3888" y="1803"/>
              <a:ext cx="384" cy="0"/>
            </a:xfrm>
            <a:prstGeom prst="line">
              <a:avLst/>
            </a:prstGeom>
            <a:noFill/>
            <a:ln w="19050">
              <a:solidFill>
                <a:srgbClr val="FF33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0225" name="Object 46"/>
            <p:cNvGraphicFramePr>
              <a:graphicFrameLocks noChangeAspect="1"/>
            </p:cNvGraphicFramePr>
            <p:nvPr/>
          </p:nvGraphicFramePr>
          <p:xfrm>
            <a:off x="3193" y="1344"/>
            <a:ext cx="387" cy="432"/>
          </p:xfrm>
          <a:graphic>
            <a:graphicData uri="http://schemas.openxmlformats.org/presentationml/2006/ole">
              <mc:AlternateContent xmlns:mc="http://schemas.openxmlformats.org/markup-compatibility/2006">
                <mc:Choice xmlns:v="urn:schemas-microsoft-com:vml" Requires="v">
                  <p:oleObj spid="_x0000_s224036" name="Equation" r:id="rId33" imgW="215713" imgH="241091" progId="Equation.3">
                    <p:embed/>
                  </p:oleObj>
                </mc:Choice>
                <mc:Fallback>
                  <p:oleObj name="Equation" r:id="rId33" imgW="215713" imgH="241091" progId="Equation.3">
                    <p:embed/>
                    <p:pic>
                      <p:nvPicPr>
                        <p:cNvPr id="50225" name="Object 46"/>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3193" y="1344"/>
                          <a:ext cx="387" cy="4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0200" name="Group 47"/>
          <p:cNvGrpSpPr>
            <a:grpSpLocks/>
          </p:cNvGrpSpPr>
          <p:nvPr/>
        </p:nvGrpSpPr>
        <p:grpSpPr bwMode="auto">
          <a:xfrm>
            <a:off x="6235700" y="2336800"/>
            <a:ext cx="1227138" cy="549275"/>
            <a:chOff x="3216" y="1680"/>
            <a:chExt cx="1056" cy="432"/>
          </a:xfrm>
        </p:grpSpPr>
        <p:sp>
          <p:nvSpPr>
            <p:cNvPr id="50222" name="Line 48"/>
            <p:cNvSpPr>
              <a:spLocks noChangeShapeType="1"/>
            </p:cNvSpPr>
            <p:nvPr/>
          </p:nvSpPr>
          <p:spPr bwMode="auto">
            <a:xfrm flipH="1">
              <a:off x="3888" y="1820"/>
              <a:ext cx="384" cy="0"/>
            </a:xfrm>
            <a:prstGeom prst="line">
              <a:avLst/>
            </a:prstGeom>
            <a:noFill/>
            <a:ln w="19050">
              <a:solidFill>
                <a:schemeClr val="accent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0223" name="Object 49"/>
            <p:cNvGraphicFramePr>
              <a:graphicFrameLocks noChangeAspect="1"/>
            </p:cNvGraphicFramePr>
            <p:nvPr/>
          </p:nvGraphicFramePr>
          <p:xfrm>
            <a:off x="3216" y="1680"/>
            <a:ext cx="384" cy="432"/>
          </p:xfrm>
          <a:graphic>
            <a:graphicData uri="http://schemas.openxmlformats.org/presentationml/2006/ole">
              <mc:AlternateContent xmlns:mc="http://schemas.openxmlformats.org/markup-compatibility/2006">
                <mc:Choice xmlns:v="urn:schemas-microsoft-com:vml" Requires="v">
                  <p:oleObj spid="_x0000_s224037" name="Equation" r:id="rId35" imgW="215713" imgH="241091" progId="Equation.3">
                    <p:embed/>
                  </p:oleObj>
                </mc:Choice>
                <mc:Fallback>
                  <p:oleObj name="Equation" r:id="rId35" imgW="215713" imgH="241091" progId="Equation.3">
                    <p:embed/>
                    <p:pic>
                      <p:nvPicPr>
                        <p:cNvPr id="50223" name="Object 49"/>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3216" y="1680"/>
                          <a:ext cx="384" cy="4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0201" name="Group 50"/>
          <p:cNvGrpSpPr>
            <a:grpSpLocks/>
          </p:cNvGrpSpPr>
          <p:nvPr/>
        </p:nvGrpSpPr>
        <p:grpSpPr bwMode="auto">
          <a:xfrm>
            <a:off x="7462838" y="1727200"/>
            <a:ext cx="481012" cy="727075"/>
            <a:chOff x="4272" y="1200"/>
            <a:chExt cx="415" cy="572"/>
          </a:xfrm>
        </p:grpSpPr>
        <p:sp>
          <p:nvSpPr>
            <p:cNvPr id="50220" name="Line 51"/>
            <p:cNvSpPr>
              <a:spLocks noChangeShapeType="1"/>
            </p:cNvSpPr>
            <p:nvPr/>
          </p:nvSpPr>
          <p:spPr bwMode="auto">
            <a:xfrm flipV="1">
              <a:off x="4272" y="1244"/>
              <a:ext cx="0" cy="528"/>
            </a:xfrm>
            <a:prstGeom prst="line">
              <a:avLst/>
            </a:prstGeom>
            <a:noFill/>
            <a:ln w="19050">
              <a:solidFill>
                <a:srgbClr val="FF33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0221" name="Object 52"/>
            <p:cNvGraphicFramePr>
              <a:graphicFrameLocks noChangeAspect="1"/>
            </p:cNvGraphicFramePr>
            <p:nvPr/>
          </p:nvGraphicFramePr>
          <p:xfrm>
            <a:off x="4320" y="1200"/>
            <a:ext cx="367" cy="432"/>
          </p:xfrm>
          <a:graphic>
            <a:graphicData uri="http://schemas.openxmlformats.org/presentationml/2006/ole">
              <mc:AlternateContent xmlns:mc="http://schemas.openxmlformats.org/markup-compatibility/2006">
                <mc:Choice xmlns:v="urn:schemas-microsoft-com:vml" Requires="v">
                  <p:oleObj spid="_x0000_s224038" name="Equation" r:id="rId37" imgW="215713" imgH="253780" progId="Equation.3">
                    <p:embed/>
                  </p:oleObj>
                </mc:Choice>
                <mc:Fallback>
                  <p:oleObj name="Equation" r:id="rId37" imgW="215713" imgH="253780" progId="Equation.3">
                    <p:embed/>
                    <p:pic>
                      <p:nvPicPr>
                        <p:cNvPr id="50221" name="Object 52"/>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4320" y="1200"/>
                          <a:ext cx="367" cy="4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0202" name="Group 53"/>
          <p:cNvGrpSpPr>
            <a:grpSpLocks/>
          </p:cNvGrpSpPr>
          <p:nvPr/>
        </p:nvGrpSpPr>
        <p:grpSpPr bwMode="auto">
          <a:xfrm>
            <a:off x="7462838" y="2514600"/>
            <a:ext cx="425450" cy="920750"/>
            <a:chOff x="4272" y="1820"/>
            <a:chExt cx="367" cy="724"/>
          </a:xfrm>
        </p:grpSpPr>
        <p:sp>
          <p:nvSpPr>
            <p:cNvPr id="50218" name="Line 54"/>
            <p:cNvSpPr>
              <a:spLocks noChangeShapeType="1"/>
            </p:cNvSpPr>
            <p:nvPr/>
          </p:nvSpPr>
          <p:spPr bwMode="auto">
            <a:xfrm>
              <a:off x="4272" y="1820"/>
              <a:ext cx="0" cy="528"/>
            </a:xfrm>
            <a:prstGeom prst="line">
              <a:avLst/>
            </a:prstGeom>
            <a:noFill/>
            <a:ln w="19050">
              <a:solidFill>
                <a:schemeClr val="accent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0219" name="Object 55"/>
            <p:cNvGraphicFramePr>
              <a:graphicFrameLocks noChangeAspect="1"/>
            </p:cNvGraphicFramePr>
            <p:nvPr/>
          </p:nvGraphicFramePr>
          <p:xfrm>
            <a:off x="4312" y="2160"/>
            <a:ext cx="327" cy="384"/>
          </p:xfrm>
          <a:graphic>
            <a:graphicData uri="http://schemas.openxmlformats.org/presentationml/2006/ole">
              <mc:AlternateContent xmlns:mc="http://schemas.openxmlformats.org/markup-compatibility/2006">
                <mc:Choice xmlns:v="urn:schemas-microsoft-com:vml" Requires="v">
                  <p:oleObj spid="_x0000_s224039" name="Equation" r:id="rId39" imgW="215713" imgH="253780" progId="Equation.3">
                    <p:embed/>
                  </p:oleObj>
                </mc:Choice>
                <mc:Fallback>
                  <p:oleObj name="Equation" r:id="rId39" imgW="215713" imgH="253780" progId="Equation.3">
                    <p:embed/>
                    <p:pic>
                      <p:nvPicPr>
                        <p:cNvPr id="50219" name="Object 55"/>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4312" y="2160"/>
                          <a:ext cx="32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0203" name="Group 63"/>
          <p:cNvGrpSpPr>
            <a:grpSpLocks/>
          </p:cNvGrpSpPr>
          <p:nvPr/>
        </p:nvGrpSpPr>
        <p:grpSpPr bwMode="auto">
          <a:xfrm>
            <a:off x="7016750" y="2154238"/>
            <a:ext cx="311150" cy="347662"/>
            <a:chOff x="3888" y="1532"/>
            <a:chExt cx="268" cy="274"/>
          </a:xfrm>
        </p:grpSpPr>
        <p:sp>
          <p:nvSpPr>
            <p:cNvPr id="50216" name="Arc 64"/>
            <p:cNvSpPr>
              <a:spLocks/>
            </p:cNvSpPr>
            <p:nvPr/>
          </p:nvSpPr>
          <p:spPr bwMode="auto">
            <a:xfrm flipH="1">
              <a:off x="4060" y="1662"/>
              <a:ext cx="96" cy="14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chemeClr val="tx1"/>
              </a:solidFill>
              <a:round/>
              <a:headEn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0217" name="Object 65"/>
            <p:cNvGraphicFramePr>
              <a:graphicFrameLocks noChangeAspect="1"/>
            </p:cNvGraphicFramePr>
            <p:nvPr/>
          </p:nvGraphicFramePr>
          <p:xfrm>
            <a:off x="3888" y="1532"/>
            <a:ext cx="176" cy="240"/>
          </p:xfrm>
          <a:graphic>
            <a:graphicData uri="http://schemas.openxmlformats.org/presentationml/2006/ole">
              <mc:AlternateContent xmlns:mc="http://schemas.openxmlformats.org/markup-compatibility/2006">
                <mc:Choice xmlns:v="urn:schemas-microsoft-com:vml" Requires="v">
                  <p:oleObj spid="_x0000_s224040" name="公式" r:id="rId41" imgW="279279" imgH="380835" progId="Equation.3">
                    <p:embed/>
                  </p:oleObj>
                </mc:Choice>
                <mc:Fallback>
                  <p:oleObj name="公式" r:id="rId41" imgW="279279" imgH="380835" progId="Equation.3">
                    <p:embed/>
                    <p:pic>
                      <p:nvPicPr>
                        <p:cNvPr id="50217" name="Object 65"/>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3888" y="1532"/>
                          <a:ext cx="176"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0204" name="Object 66"/>
          <p:cNvGraphicFramePr>
            <a:graphicFrameLocks noChangeAspect="1"/>
          </p:cNvGraphicFramePr>
          <p:nvPr/>
        </p:nvGraphicFramePr>
        <p:xfrm>
          <a:off x="8075613" y="3124200"/>
          <a:ext cx="174625" cy="212725"/>
        </p:xfrm>
        <a:graphic>
          <a:graphicData uri="http://schemas.openxmlformats.org/presentationml/2006/ole">
            <mc:AlternateContent xmlns:mc="http://schemas.openxmlformats.org/markup-compatibility/2006">
              <mc:Choice xmlns:v="urn:schemas-microsoft-com:vml" Requires="v">
                <p:oleObj spid="_x0000_s224041" name="公式" r:id="rId43" imgW="241091" imgH="266469" progId="Equation.3">
                  <p:embed/>
                </p:oleObj>
              </mc:Choice>
              <mc:Fallback>
                <p:oleObj name="公式" r:id="rId43" imgW="241091" imgH="266469" progId="Equation.3">
                  <p:embed/>
                  <p:pic>
                    <p:nvPicPr>
                      <p:cNvPr id="50204" name="Object 66"/>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8075613" y="3124200"/>
                        <a:ext cx="174625" cy="212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1926" name="Object 70"/>
          <p:cNvGraphicFramePr>
            <a:graphicFrameLocks noChangeAspect="1"/>
          </p:cNvGraphicFramePr>
          <p:nvPr/>
        </p:nvGraphicFramePr>
        <p:xfrm>
          <a:off x="2771775" y="2860675"/>
          <a:ext cx="2917825" cy="930275"/>
        </p:xfrm>
        <a:graphic>
          <a:graphicData uri="http://schemas.openxmlformats.org/presentationml/2006/ole">
            <mc:AlternateContent xmlns:mc="http://schemas.openxmlformats.org/markup-compatibility/2006">
              <mc:Choice xmlns:v="urn:schemas-microsoft-com:vml" Requires="v">
                <p:oleObj spid="_x0000_s224042" name="公式" r:id="rId45" imgW="1295400" imgH="431800" progId="Equation.3">
                  <p:embed/>
                </p:oleObj>
              </mc:Choice>
              <mc:Fallback>
                <p:oleObj name="公式" r:id="rId45" imgW="1295400" imgH="431800" progId="Equation.3">
                  <p:embed/>
                  <p:pic>
                    <p:nvPicPr>
                      <p:cNvPr id="121926" name="Object 70"/>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2771775" y="2860675"/>
                        <a:ext cx="2917825"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1928" name="Object 72"/>
          <p:cNvGraphicFramePr>
            <a:graphicFrameLocks noChangeAspect="1"/>
          </p:cNvGraphicFramePr>
          <p:nvPr/>
        </p:nvGraphicFramePr>
        <p:xfrm>
          <a:off x="457200" y="3005138"/>
          <a:ext cx="2133600" cy="957262"/>
        </p:xfrm>
        <a:graphic>
          <a:graphicData uri="http://schemas.openxmlformats.org/presentationml/2006/ole">
            <mc:AlternateContent xmlns:mc="http://schemas.openxmlformats.org/markup-compatibility/2006">
              <mc:Choice xmlns:v="urn:schemas-microsoft-com:vml" Requires="v">
                <p:oleObj spid="_x0000_s224043" name="Equation" r:id="rId47" imgW="875920" imgH="393529" progId="Equation.3">
                  <p:embed/>
                </p:oleObj>
              </mc:Choice>
              <mc:Fallback>
                <p:oleObj name="Equation" r:id="rId47" imgW="875920" imgH="393529" progId="Equation.3">
                  <p:embed/>
                  <p:pic>
                    <p:nvPicPr>
                      <p:cNvPr id="121928" name="Object 72"/>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457200" y="3005138"/>
                        <a:ext cx="2133600" cy="95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1932" name="Object 76"/>
          <p:cNvGraphicFramePr>
            <a:graphicFrameLocks noChangeAspect="1"/>
          </p:cNvGraphicFramePr>
          <p:nvPr/>
        </p:nvGraphicFramePr>
        <p:xfrm>
          <a:off x="2738438" y="4225925"/>
          <a:ext cx="1266825" cy="647700"/>
        </p:xfrm>
        <a:graphic>
          <a:graphicData uri="http://schemas.openxmlformats.org/presentationml/2006/ole">
            <mc:AlternateContent xmlns:mc="http://schemas.openxmlformats.org/markup-compatibility/2006">
              <mc:Choice xmlns:v="urn:schemas-microsoft-com:vml" Requires="v">
                <p:oleObj spid="_x0000_s224044" name="公式" r:id="rId49" imgW="2286000" imgH="1168400" progId="Equation.3">
                  <p:embed/>
                </p:oleObj>
              </mc:Choice>
              <mc:Fallback>
                <p:oleObj name="公式" r:id="rId49" imgW="2286000" imgH="1168400" progId="Equation.3">
                  <p:embed/>
                  <p:pic>
                    <p:nvPicPr>
                      <p:cNvPr id="121932" name="Object 76"/>
                      <p:cNvPicPr>
                        <a:picLocks noChangeAspect="1"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2738438" y="4225925"/>
                        <a:ext cx="12668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1933" name="Object 77"/>
          <p:cNvGraphicFramePr>
            <a:graphicFrameLocks noChangeAspect="1"/>
          </p:cNvGraphicFramePr>
          <p:nvPr>
            <p:extLst>
              <p:ext uri="{D42A27DB-BD31-4B8C-83A1-F6EECF244321}">
                <p14:modId xmlns:p14="http://schemas.microsoft.com/office/powerpoint/2010/main" val="522345996"/>
              </p:ext>
            </p:extLst>
          </p:nvPr>
        </p:nvGraphicFramePr>
        <p:xfrm>
          <a:off x="2165351" y="5098490"/>
          <a:ext cx="4144962" cy="783822"/>
        </p:xfrm>
        <a:graphic>
          <a:graphicData uri="http://schemas.openxmlformats.org/presentationml/2006/ole">
            <mc:AlternateContent xmlns:mc="http://schemas.openxmlformats.org/markup-compatibility/2006">
              <mc:Choice xmlns:v="urn:schemas-microsoft-com:vml" Requires="v">
                <p:oleObj spid="_x0000_s224045" name="Equation" r:id="rId51" imgW="2286000" imgH="431640" progId="Equation.DSMT4">
                  <p:embed/>
                </p:oleObj>
              </mc:Choice>
              <mc:Fallback>
                <p:oleObj name="Equation" r:id="rId51" imgW="2286000" imgH="431640" progId="Equation.DSMT4">
                  <p:embed/>
                  <p:pic>
                    <p:nvPicPr>
                      <p:cNvPr id="121933" name="Object 77"/>
                      <p:cNvPicPr>
                        <a:picLocks noChangeAspect="1" noChangeArrowheads="1"/>
                      </p:cNvPicPr>
                      <p:nvPr/>
                    </p:nvPicPr>
                    <p:blipFill>
                      <a:blip r:embed="rId52"/>
                      <a:srcRect/>
                      <a:stretch>
                        <a:fillRect/>
                      </a:stretch>
                    </p:blipFill>
                    <p:spPr bwMode="auto">
                      <a:xfrm>
                        <a:off x="2165351" y="5098490"/>
                        <a:ext cx="4144962" cy="783822"/>
                      </a:xfrm>
                      <a:prstGeom prst="rect">
                        <a:avLst/>
                      </a:prstGeom>
                      <a:noFill/>
                      <a:ln>
                        <a:noFill/>
                      </a:ln>
                      <a:extLst/>
                    </p:spPr>
                  </p:pic>
                </p:oleObj>
              </mc:Fallback>
            </mc:AlternateContent>
          </a:graphicData>
        </a:graphic>
      </p:graphicFrame>
      <p:graphicFrame>
        <p:nvGraphicFramePr>
          <p:cNvPr id="121934" name="Object 78"/>
          <p:cNvGraphicFramePr>
            <a:graphicFrameLocks noChangeAspect="1"/>
          </p:cNvGraphicFramePr>
          <p:nvPr/>
        </p:nvGraphicFramePr>
        <p:xfrm>
          <a:off x="4138613" y="4149725"/>
          <a:ext cx="1081087" cy="747713"/>
        </p:xfrm>
        <a:graphic>
          <a:graphicData uri="http://schemas.openxmlformats.org/presentationml/2006/ole">
            <mc:AlternateContent xmlns:mc="http://schemas.openxmlformats.org/markup-compatibility/2006">
              <mc:Choice xmlns:v="urn:schemas-microsoft-com:vml" Requires="v">
                <p:oleObj spid="_x0000_s224046" name="公式" r:id="rId53" imgW="1689100" imgH="1168400" progId="Equation.3">
                  <p:embed/>
                </p:oleObj>
              </mc:Choice>
              <mc:Fallback>
                <p:oleObj name="公式" r:id="rId53" imgW="1689100" imgH="1168400" progId="Equation.3">
                  <p:embed/>
                  <p:pic>
                    <p:nvPicPr>
                      <p:cNvPr id="121934" name="Object 78"/>
                      <p:cNvPicPr>
                        <a:picLocks noChangeAspect="1" noChangeArrowheads="1"/>
                      </p:cNvPicPr>
                      <p:nvPr/>
                    </p:nvPicPr>
                    <p:blipFill>
                      <a:blip r:embed="rId54">
                        <a:extLst>
                          <a:ext uri="{28A0092B-C50C-407E-A947-70E740481C1C}">
                            <a14:useLocalDpi xmlns:a14="http://schemas.microsoft.com/office/drawing/2010/main" val="0"/>
                          </a:ext>
                        </a:extLst>
                      </a:blip>
                      <a:srcRect/>
                      <a:stretch>
                        <a:fillRect/>
                      </a:stretch>
                    </p:blipFill>
                    <p:spPr bwMode="auto">
                      <a:xfrm>
                        <a:off x="4138613" y="4149725"/>
                        <a:ext cx="1081087"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1935" name="Text Box 79"/>
          <p:cNvSpPr txBox="1">
            <a:spLocks noChangeArrowheads="1"/>
          </p:cNvSpPr>
          <p:nvPr/>
        </p:nvSpPr>
        <p:spPr bwMode="auto">
          <a:xfrm>
            <a:off x="152400" y="5205413"/>
            <a:ext cx="3124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800">
                <a:solidFill>
                  <a:schemeClr val="accent2"/>
                </a:solidFill>
                <a:ea typeface="楷体_GB2312"/>
              </a:rPr>
              <a:t>写成矢量式：</a:t>
            </a:r>
          </a:p>
        </p:txBody>
      </p:sp>
      <p:sp>
        <p:nvSpPr>
          <p:cNvPr id="121936" name="Text Box 80"/>
          <p:cNvSpPr txBox="1">
            <a:spLocks noChangeArrowheads="1"/>
          </p:cNvSpPr>
          <p:nvPr/>
        </p:nvSpPr>
        <p:spPr bwMode="auto">
          <a:xfrm>
            <a:off x="152400" y="4232275"/>
            <a:ext cx="2971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800">
                <a:solidFill>
                  <a:schemeClr val="accent2"/>
                </a:solidFill>
                <a:ea typeface="楷体_GB2312"/>
              </a:rPr>
              <a:t>场强的大小为：</a:t>
            </a:r>
          </a:p>
        </p:txBody>
      </p:sp>
      <p:sp>
        <p:nvSpPr>
          <p:cNvPr id="50212" name="Text Box 2"/>
          <p:cNvSpPr txBox="1">
            <a:spLocks noChangeArrowheads="1"/>
          </p:cNvSpPr>
          <p:nvPr/>
        </p:nvSpPr>
        <p:spPr bwMode="auto">
          <a:xfrm>
            <a:off x="152400" y="152400"/>
            <a:ext cx="7543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800">
                <a:solidFill>
                  <a:srgbClr val="FF3300"/>
                </a:solidFill>
                <a:ea typeface="楷体_GB2312"/>
              </a:rPr>
              <a:t>例</a:t>
            </a:r>
            <a:r>
              <a:rPr lang="en-US" altLang="zh-CN" sz="2800">
                <a:solidFill>
                  <a:srgbClr val="FF3300"/>
                </a:solidFill>
                <a:ea typeface="楷体_GB2312"/>
              </a:rPr>
              <a:t>2</a:t>
            </a:r>
            <a:r>
              <a:rPr lang="zh-CN" altLang="en-US" sz="2800">
                <a:solidFill>
                  <a:srgbClr val="FF3300"/>
                </a:solidFill>
                <a:ea typeface="楷体_GB2312"/>
              </a:rPr>
              <a:t>：</a:t>
            </a:r>
            <a:r>
              <a:rPr lang="zh-CN" altLang="en-US" sz="2800">
                <a:solidFill>
                  <a:schemeClr val="accent2"/>
                </a:solidFill>
                <a:ea typeface="楷体_GB2312"/>
              </a:rPr>
              <a:t>求电偶极子中垂线上一点的电场强度。</a:t>
            </a:r>
            <a:endParaRPr lang="zh-CN" altLang="en-US" sz="2800">
              <a:solidFill>
                <a:srgbClr val="FF3300"/>
              </a:solidFill>
              <a:ea typeface="楷体_GB2312"/>
            </a:endParaRPr>
          </a:p>
        </p:txBody>
      </p:sp>
      <p:sp>
        <p:nvSpPr>
          <p:cNvPr id="80" name="Text Box 48"/>
          <p:cNvSpPr txBox="1">
            <a:spLocks noChangeArrowheads="1"/>
          </p:cNvSpPr>
          <p:nvPr/>
        </p:nvSpPr>
        <p:spPr bwMode="auto">
          <a:xfrm>
            <a:off x="0" y="5813425"/>
            <a:ext cx="2286000" cy="8334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当</a:t>
            </a:r>
            <a:r>
              <a:rPr lang="en-US" altLang="zh-CN" sz="2400" i="1">
                <a:ea typeface="楷体_GB2312"/>
              </a:rPr>
              <a:t>y</a:t>
            </a:r>
            <a:r>
              <a:rPr lang="en-US" altLang="zh-CN" sz="2400">
                <a:ea typeface="楷体_GB2312"/>
              </a:rPr>
              <a:t>&gt;&gt;</a:t>
            </a:r>
            <a:r>
              <a:rPr lang="en-US" altLang="zh-CN" sz="2400" i="1">
                <a:ea typeface="楷体_GB2312"/>
              </a:rPr>
              <a:t>l</a:t>
            </a:r>
            <a:r>
              <a:rPr lang="zh-CN" altLang="en-US" sz="2400">
                <a:ea typeface="楷体_GB2312"/>
              </a:rPr>
              <a:t>时，</a:t>
            </a:r>
            <a:r>
              <a:rPr lang="en-US" altLang="zh-CN" sz="2400" i="1">
                <a:ea typeface="楷体_GB2312"/>
              </a:rPr>
              <a:t>y</a:t>
            </a:r>
            <a:r>
              <a:rPr lang="en-US" altLang="zh-CN" sz="2400" baseline="30000">
                <a:ea typeface="楷体_GB2312"/>
              </a:rPr>
              <a:t>2</a:t>
            </a:r>
            <a:r>
              <a:rPr lang="en-US" altLang="zh-CN" sz="2400">
                <a:ea typeface="楷体_GB2312"/>
              </a:rPr>
              <a:t>+(</a:t>
            </a:r>
            <a:r>
              <a:rPr lang="en-US" altLang="zh-CN" sz="2400" i="1">
                <a:ea typeface="楷体_GB2312"/>
              </a:rPr>
              <a:t>l</a:t>
            </a:r>
            <a:r>
              <a:rPr lang="en-US" altLang="zh-CN" sz="2400" baseline="30000">
                <a:ea typeface="楷体_GB2312"/>
              </a:rPr>
              <a:t>2</a:t>
            </a:r>
            <a:r>
              <a:rPr lang="en-US" altLang="zh-CN" sz="2400">
                <a:ea typeface="楷体_GB2312"/>
              </a:rPr>
              <a:t>/4) ≈ </a:t>
            </a:r>
            <a:r>
              <a:rPr lang="en-US" altLang="zh-CN" sz="2400" i="1">
                <a:ea typeface="楷体_GB2312"/>
              </a:rPr>
              <a:t>y</a:t>
            </a:r>
            <a:r>
              <a:rPr lang="en-US" altLang="zh-CN" sz="2400" baseline="30000">
                <a:ea typeface="楷体_GB2312"/>
              </a:rPr>
              <a:t>2</a:t>
            </a:r>
          </a:p>
        </p:txBody>
      </p:sp>
      <p:graphicFrame>
        <p:nvGraphicFramePr>
          <p:cNvPr id="81" name="Object 49"/>
          <p:cNvGraphicFramePr>
            <a:graphicFrameLocks noChangeAspect="1"/>
          </p:cNvGraphicFramePr>
          <p:nvPr/>
        </p:nvGraphicFramePr>
        <p:xfrm>
          <a:off x="2833688" y="5870575"/>
          <a:ext cx="2181225" cy="987425"/>
        </p:xfrm>
        <a:graphic>
          <a:graphicData uri="http://schemas.openxmlformats.org/presentationml/2006/ole">
            <mc:AlternateContent xmlns:mc="http://schemas.openxmlformats.org/markup-compatibility/2006">
              <mc:Choice xmlns:v="urn:schemas-microsoft-com:vml" Requires="v">
                <p:oleObj spid="_x0000_s224047" name="Equation" r:id="rId55" imgW="977476" imgH="444307" progId="Equation.DSMT4">
                  <p:embed/>
                </p:oleObj>
              </mc:Choice>
              <mc:Fallback>
                <p:oleObj name="Equation" r:id="rId55" imgW="977476" imgH="444307" progId="Equation.DSMT4">
                  <p:embed/>
                  <p:pic>
                    <p:nvPicPr>
                      <p:cNvPr id="81" name="Object 49"/>
                      <p:cNvPicPr>
                        <a:picLocks noChangeAspect="1" noChangeArrowheads="1"/>
                      </p:cNvPicPr>
                      <p:nvPr/>
                    </p:nvPicPr>
                    <p:blipFill>
                      <a:blip r:embed="rId56">
                        <a:extLst>
                          <a:ext uri="{28A0092B-C50C-407E-A947-70E740481C1C}">
                            <a14:useLocalDpi xmlns:a14="http://schemas.microsoft.com/office/drawing/2010/main" val="0"/>
                          </a:ext>
                        </a:extLst>
                      </a:blip>
                      <a:srcRect/>
                      <a:stretch>
                        <a:fillRect/>
                      </a:stretch>
                    </p:blipFill>
                    <p:spPr bwMode="auto">
                      <a:xfrm>
                        <a:off x="2833688" y="5870575"/>
                        <a:ext cx="2181225" cy="98742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 name="Text Box 50"/>
          <p:cNvSpPr txBox="1">
            <a:spLocks noChangeArrowheads="1"/>
          </p:cNvSpPr>
          <p:nvPr/>
        </p:nvSpPr>
        <p:spPr bwMode="auto">
          <a:xfrm>
            <a:off x="6348413" y="4872038"/>
            <a:ext cx="2795587" cy="19415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ea typeface="楷体_GB2312"/>
              </a:rPr>
              <a:t>电偶极子中垂线上距离中心较远处一点的场强，与电偶极子的电矩成正比，与该点离中心的距离的三次方成反比，方向电矩方向相反。</a:t>
            </a:r>
          </a:p>
        </p:txBody>
      </p:sp>
    </p:spTree>
    <p:extLst>
      <p:ext uri="{BB962C8B-B14F-4D97-AF65-F5344CB8AC3E}">
        <p14:creationId xmlns:p14="http://schemas.microsoft.com/office/powerpoint/2010/main" val="142427492"/>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1912"/>
                                        </p:tgtEl>
                                        <p:attrNameLst>
                                          <p:attrName>style.visibility</p:attrName>
                                        </p:attrNameLst>
                                      </p:cBhvr>
                                      <p:to>
                                        <p:strVal val="visible"/>
                                      </p:to>
                                    </p:set>
                                    <p:animEffect transition="in" filter="wipe(left)">
                                      <p:cBhvr>
                                        <p:cTn id="7" dur="500"/>
                                        <p:tgtEl>
                                          <p:spTgt spid="1219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1915"/>
                                        </p:tgtEl>
                                        <p:attrNameLst>
                                          <p:attrName>style.visibility</p:attrName>
                                        </p:attrNameLst>
                                      </p:cBhvr>
                                      <p:to>
                                        <p:strVal val="visible"/>
                                      </p:to>
                                    </p:set>
                                    <p:animEffect transition="in" filter="wipe(left)">
                                      <p:cBhvr>
                                        <p:cTn id="12" dur="500"/>
                                        <p:tgtEl>
                                          <p:spTgt spid="1219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1916"/>
                                        </p:tgtEl>
                                        <p:attrNameLst>
                                          <p:attrName>style.visibility</p:attrName>
                                        </p:attrNameLst>
                                      </p:cBhvr>
                                      <p:to>
                                        <p:strVal val="visible"/>
                                      </p:to>
                                    </p:set>
                                    <p:animEffect transition="in" filter="wipe(left)">
                                      <p:cBhvr>
                                        <p:cTn id="17" dur="500"/>
                                        <p:tgtEl>
                                          <p:spTgt spid="1219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21913"/>
                                        </p:tgtEl>
                                        <p:attrNameLst>
                                          <p:attrName>style.visibility</p:attrName>
                                        </p:attrNameLst>
                                      </p:cBhvr>
                                      <p:to>
                                        <p:strVal val="visible"/>
                                      </p:to>
                                    </p:set>
                                    <p:animEffect transition="in" filter="wipe(left)">
                                      <p:cBhvr>
                                        <p:cTn id="22" dur="500"/>
                                        <p:tgtEl>
                                          <p:spTgt spid="1219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21918"/>
                                        </p:tgtEl>
                                        <p:attrNameLst>
                                          <p:attrName>style.visibility</p:attrName>
                                        </p:attrNameLst>
                                      </p:cBhvr>
                                      <p:to>
                                        <p:strVal val="visible"/>
                                      </p:to>
                                    </p:set>
                                    <p:animEffect transition="in" filter="wipe(left)">
                                      <p:cBhvr>
                                        <p:cTn id="27" dur="500"/>
                                        <p:tgtEl>
                                          <p:spTgt spid="12191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21917"/>
                                        </p:tgtEl>
                                        <p:attrNameLst>
                                          <p:attrName>style.visibility</p:attrName>
                                        </p:attrNameLst>
                                      </p:cBhvr>
                                      <p:to>
                                        <p:strVal val="visible"/>
                                      </p:to>
                                    </p:set>
                                    <p:animEffect transition="in" filter="wipe(left)">
                                      <p:cBhvr>
                                        <p:cTn id="32" dur="500"/>
                                        <p:tgtEl>
                                          <p:spTgt spid="12191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21914"/>
                                        </p:tgtEl>
                                        <p:attrNameLst>
                                          <p:attrName>style.visibility</p:attrName>
                                        </p:attrNameLst>
                                      </p:cBhvr>
                                      <p:to>
                                        <p:strVal val="visible"/>
                                      </p:to>
                                    </p:set>
                                    <p:animEffect transition="in" filter="wipe(left)">
                                      <p:cBhvr>
                                        <p:cTn id="37" dur="500"/>
                                        <p:tgtEl>
                                          <p:spTgt spid="12191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21928"/>
                                        </p:tgtEl>
                                        <p:attrNameLst>
                                          <p:attrName>style.visibility</p:attrName>
                                        </p:attrNameLst>
                                      </p:cBhvr>
                                      <p:to>
                                        <p:strVal val="visible"/>
                                      </p:to>
                                    </p:set>
                                    <p:animEffect transition="in" filter="wipe(left)">
                                      <p:cBhvr>
                                        <p:cTn id="42" dur="500"/>
                                        <p:tgtEl>
                                          <p:spTgt spid="12192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21926"/>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21936"/>
                                        </p:tgtEl>
                                        <p:attrNameLst>
                                          <p:attrName>style.visibility</p:attrName>
                                        </p:attrNameLst>
                                      </p:cBhvr>
                                      <p:to>
                                        <p:strVal val="visible"/>
                                      </p:to>
                                    </p:set>
                                    <p:animEffect transition="in" filter="wipe(left)">
                                      <p:cBhvr>
                                        <p:cTn id="51" dur="500"/>
                                        <p:tgtEl>
                                          <p:spTgt spid="121936"/>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121932"/>
                                        </p:tgtEl>
                                        <p:attrNameLst>
                                          <p:attrName>style.visibility</p:attrName>
                                        </p:attrNameLst>
                                      </p:cBhvr>
                                      <p:to>
                                        <p:strVal val="visible"/>
                                      </p:to>
                                    </p:set>
                                    <p:animEffect transition="in" filter="wipe(left)">
                                      <p:cBhvr>
                                        <p:cTn id="56" dur="500"/>
                                        <p:tgtEl>
                                          <p:spTgt spid="12193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121934"/>
                                        </p:tgtEl>
                                        <p:attrNameLst>
                                          <p:attrName>style.visibility</p:attrName>
                                        </p:attrNameLst>
                                      </p:cBhvr>
                                      <p:to>
                                        <p:strVal val="visible"/>
                                      </p:to>
                                    </p:set>
                                    <p:animEffect transition="in" filter="wipe(left)">
                                      <p:cBhvr>
                                        <p:cTn id="61" dur="500"/>
                                        <p:tgtEl>
                                          <p:spTgt spid="12193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21935"/>
                                        </p:tgtEl>
                                        <p:attrNameLst>
                                          <p:attrName>style.visibility</p:attrName>
                                        </p:attrNameLst>
                                      </p:cBhvr>
                                      <p:to>
                                        <p:strVal val="visible"/>
                                      </p:to>
                                    </p:set>
                                    <p:animEffect transition="in" filter="wipe(left)">
                                      <p:cBhvr>
                                        <p:cTn id="66" dur="500"/>
                                        <p:tgtEl>
                                          <p:spTgt spid="121935"/>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121933"/>
                                        </p:tgtEl>
                                        <p:attrNameLst>
                                          <p:attrName>style.visibility</p:attrName>
                                        </p:attrNameLst>
                                      </p:cBhvr>
                                      <p:to>
                                        <p:strVal val="visible"/>
                                      </p:to>
                                    </p:set>
                                    <p:animEffect transition="in" filter="wipe(left)">
                                      <p:cBhvr>
                                        <p:cTn id="71" dur="500"/>
                                        <p:tgtEl>
                                          <p:spTgt spid="121933"/>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80"/>
                                        </p:tgtEl>
                                        <p:attrNameLst>
                                          <p:attrName>style.visibility</p:attrName>
                                        </p:attrNameLst>
                                      </p:cBhvr>
                                      <p:to>
                                        <p:strVal val="visible"/>
                                      </p:to>
                                    </p:set>
                                    <p:animEffect transition="in" filter="wipe(left)">
                                      <p:cBhvr>
                                        <p:cTn id="76" dur="500"/>
                                        <p:tgtEl>
                                          <p:spTgt spid="80"/>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81"/>
                                        </p:tgtEl>
                                        <p:attrNameLst>
                                          <p:attrName>style.visibility</p:attrName>
                                        </p:attrNameLst>
                                      </p:cBhvr>
                                      <p:to>
                                        <p:strVal val="visible"/>
                                      </p:to>
                                    </p:set>
                                    <p:animEffect transition="in" filter="wipe(left)">
                                      <p:cBhvr>
                                        <p:cTn id="81" dur="500"/>
                                        <p:tgtEl>
                                          <p:spTgt spid="81"/>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iterate type="lt">
                                    <p:tmPct val="100000"/>
                                  </p:iterate>
                                  <p:childTnLst>
                                    <p:set>
                                      <p:cBhvr>
                                        <p:cTn id="85" dur="1" fill="hold">
                                          <p:stCondLst>
                                            <p:cond delay="0"/>
                                          </p:stCondLst>
                                        </p:cTn>
                                        <p:tgtEl>
                                          <p:spTgt spid="82">
                                            <p:txEl>
                                              <p:pRg st="0" end="0"/>
                                            </p:txEl>
                                          </p:spTgt>
                                        </p:tgtEl>
                                        <p:attrNameLst>
                                          <p:attrName>style.visibility</p:attrName>
                                        </p:attrNameLst>
                                      </p:cBhvr>
                                      <p:to>
                                        <p:strVal val="visible"/>
                                      </p:to>
                                    </p:set>
                                    <p:animEffect transition="in" filter="wipe(left)">
                                      <p:cBhvr>
                                        <p:cTn id="86" dur="75"/>
                                        <p:tgtEl>
                                          <p:spTgt spid="8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912" grpId="0" autoUpdateAnimBg="0"/>
      <p:bldP spid="121916" grpId="0" autoUpdateAnimBg="0"/>
      <p:bldP spid="121935" grpId="0" autoUpdateAnimBg="0"/>
      <p:bldP spid="121936" grpId="0" autoUpdateAnimBg="0"/>
      <p:bldP spid="80" grpId="0" autoUpdateAnimBg="0"/>
      <p:bldP spid="82"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2"/>
          <p:cNvSpPr txBox="1">
            <a:spLocks noChangeArrowheads="1"/>
          </p:cNvSpPr>
          <p:nvPr/>
        </p:nvSpPr>
        <p:spPr bwMode="auto">
          <a:xfrm>
            <a:off x="304800" y="1143000"/>
            <a:ext cx="5492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解：由对称性可知，</a:t>
            </a:r>
            <a:r>
              <a:rPr lang="en-US" altLang="zh-CN" sz="2800" i="1">
                <a:ea typeface="楷体_GB2312"/>
              </a:rPr>
              <a:t>p</a:t>
            </a:r>
            <a:r>
              <a:rPr lang="zh-CN" altLang="en-US" sz="2400">
                <a:ea typeface="楷体_GB2312"/>
              </a:rPr>
              <a:t>点场强只有</a:t>
            </a:r>
            <a:r>
              <a:rPr lang="en-US" altLang="zh-CN" sz="2400" i="1">
                <a:ea typeface="楷体_GB2312"/>
              </a:rPr>
              <a:t>x</a:t>
            </a:r>
            <a:r>
              <a:rPr lang="zh-CN" altLang="en-US" sz="2400">
                <a:ea typeface="楷体_GB2312"/>
              </a:rPr>
              <a:t>分量</a:t>
            </a:r>
          </a:p>
        </p:txBody>
      </p:sp>
      <p:sp>
        <p:nvSpPr>
          <p:cNvPr id="96260" name="Text Box 4"/>
          <p:cNvSpPr txBox="1">
            <a:spLocks noChangeArrowheads="1"/>
          </p:cNvSpPr>
          <p:nvPr/>
        </p:nvSpPr>
        <p:spPr bwMode="auto">
          <a:xfrm>
            <a:off x="228600" y="0"/>
            <a:ext cx="8229600" cy="1262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0000FF"/>
                </a:solidFill>
                <a:ea typeface="楷体_GB2312"/>
              </a:rPr>
              <a:t>例</a:t>
            </a:r>
            <a:r>
              <a:rPr lang="en-US" altLang="zh-CN" sz="2400">
                <a:solidFill>
                  <a:srgbClr val="0000FF"/>
                </a:solidFill>
                <a:ea typeface="楷体_GB2312"/>
              </a:rPr>
              <a:t>3</a:t>
            </a:r>
            <a:r>
              <a:rPr lang="zh-CN" altLang="en-US" sz="2400">
                <a:solidFill>
                  <a:srgbClr val="0000FF"/>
                </a:solidFill>
                <a:ea typeface="楷体_GB2312"/>
              </a:rPr>
              <a:t>、 均匀带电圆环轴线上一点的场强。</a:t>
            </a:r>
            <a:endParaRPr lang="zh-CN" altLang="en-US" sz="2400">
              <a:ea typeface="楷体_GB2312"/>
            </a:endParaRPr>
          </a:p>
          <a:p>
            <a:pPr eaLnBrk="1" hangingPunct="1">
              <a:spcBef>
                <a:spcPct val="0"/>
              </a:spcBef>
              <a:buFontTx/>
              <a:buNone/>
            </a:pPr>
            <a:r>
              <a:rPr lang="zh-CN" altLang="en-US" sz="2400">
                <a:ea typeface="楷体_GB2312"/>
              </a:rPr>
              <a:t>设正电荷</a:t>
            </a:r>
            <a:r>
              <a:rPr lang="en-US" altLang="zh-CN" sz="2400" i="1">
                <a:ea typeface="楷体_GB2312"/>
              </a:rPr>
              <a:t>q</a:t>
            </a:r>
            <a:r>
              <a:rPr lang="zh-CN" altLang="en-US" sz="2400">
                <a:ea typeface="楷体_GB2312"/>
              </a:rPr>
              <a:t>均匀地分布在半径为</a:t>
            </a:r>
            <a:r>
              <a:rPr lang="en-US" altLang="zh-CN" sz="2400" i="1">
                <a:ea typeface="楷体_GB2312"/>
              </a:rPr>
              <a:t>R</a:t>
            </a:r>
            <a:r>
              <a:rPr lang="zh-CN" altLang="en-US" sz="2400">
                <a:ea typeface="楷体_GB2312"/>
              </a:rPr>
              <a:t>的圆环上。计算在环的轴线任一点</a:t>
            </a:r>
            <a:r>
              <a:rPr lang="en-US" altLang="zh-CN" sz="2800" i="1">
                <a:ea typeface="楷体_GB2312"/>
              </a:rPr>
              <a:t>p </a:t>
            </a:r>
            <a:r>
              <a:rPr lang="zh-CN" altLang="en-US" sz="2400">
                <a:ea typeface="楷体_GB2312"/>
              </a:rPr>
              <a:t>的电场强度。</a:t>
            </a:r>
          </a:p>
        </p:txBody>
      </p:sp>
      <p:graphicFrame>
        <p:nvGraphicFramePr>
          <p:cNvPr id="96263" name="Object 7"/>
          <p:cNvGraphicFramePr>
            <a:graphicFrameLocks noChangeAspect="1"/>
          </p:cNvGraphicFramePr>
          <p:nvPr/>
        </p:nvGraphicFramePr>
        <p:xfrm>
          <a:off x="98425" y="1525588"/>
          <a:ext cx="8886825" cy="1125537"/>
        </p:xfrm>
        <a:graphic>
          <a:graphicData uri="http://schemas.openxmlformats.org/presentationml/2006/ole">
            <mc:AlternateContent xmlns:mc="http://schemas.openxmlformats.org/markup-compatibility/2006">
              <mc:Choice xmlns:v="urn:schemas-microsoft-com:vml" Requires="v">
                <p:oleObj spid="_x0000_s225610" name="公式" r:id="rId3" imgW="3492500" imgH="444500" progId="Equation.3">
                  <p:embed/>
                </p:oleObj>
              </mc:Choice>
              <mc:Fallback>
                <p:oleObj name="公式" r:id="rId3" imgW="3492500" imgH="444500" progId="Equation.3">
                  <p:embed/>
                  <p:pic>
                    <p:nvPicPr>
                      <p:cNvPr id="9626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425" y="1525588"/>
                        <a:ext cx="8886825" cy="1125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6264" name="Object 8"/>
          <p:cNvGraphicFramePr>
            <a:graphicFrameLocks noChangeAspect="1"/>
          </p:cNvGraphicFramePr>
          <p:nvPr/>
        </p:nvGraphicFramePr>
        <p:xfrm>
          <a:off x="295275" y="2514600"/>
          <a:ext cx="5216525" cy="1308100"/>
        </p:xfrm>
        <a:graphic>
          <a:graphicData uri="http://schemas.openxmlformats.org/presentationml/2006/ole">
            <mc:AlternateContent xmlns:mc="http://schemas.openxmlformats.org/markup-compatibility/2006">
              <mc:Choice xmlns:v="urn:schemas-microsoft-com:vml" Requires="v">
                <p:oleObj spid="_x0000_s225611" name="Equation" r:id="rId5" imgW="1968500" imgH="495300" progId="Equation.DSMT4">
                  <p:embed/>
                </p:oleObj>
              </mc:Choice>
              <mc:Fallback>
                <p:oleObj name="Equation" r:id="rId5" imgW="1968500" imgH="495300" progId="Equation.DSMT4">
                  <p:embed/>
                  <p:pic>
                    <p:nvPicPr>
                      <p:cNvPr id="96264"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275" y="2514600"/>
                        <a:ext cx="5216525" cy="130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6265" name="Object 9"/>
          <p:cNvGraphicFramePr>
            <a:graphicFrameLocks noChangeAspect="1"/>
          </p:cNvGraphicFramePr>
          <p:nvPr/>
        </p:nvGraphicFramePr>
        <p:xfrm>
          <a:off x="1704975" y="4394200"/>
          <a:ext cx="2000250" cy="1108075"/>
        </p:xfrm>
        <a:graphic>
          <a:graphicData uri="http://schemas.openxmlformats.org/presentationml/2006/ole">
            <mc:AlternateContent xmlns:mc="http://schemas.openxmlformats.org/markup-compatibility/2006">
              <mc:Choice xmlns:v="urn:schemas-microsoft-com:vml" Requires="v">
                <p:oleObj spid="_x0000_s225612" name="Equation" r:id="rId7" imgW="799753" imgH="444307" progId="Equation.DSMT4">
                  <p:embed/>
                </p:oleObj>
              </mc:Choice>
              <mc:Fallback>
                <p:oleObj name="Equation" r:id="rId7" imgW="799753" imgH="444307" progId="Equation.DSMT4">
                  <p:embed/>
                  <p:pic>
                    <p:nvPicPr>
                      <p:cNvPr id="96265"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04975" y="4394200"/>
                        <a:ext cx="2000250" cy="11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6266" name="Text Box 10"/>
          <p:cNvSpPr txBox="1">
            <a:spLocks noChangeArrowheads="1"/>
          </p:cNvSpPr>
          <p:nvPr/>
        </p:nvSpPr>
        <p:spPr bwMode="auto">
          <a:xfrm>
            <a:off x="152400" y="3952875"/>
            <a:ext cx="5111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讨论：当求场点远大于环的半径时，</a:t>
            </a:r>
          </a:p>
        </p:txBody>
      </p:sp>
      <p:sp>
        <p:nvSpPr>
          <p:cNvPr id="96268" name="Text Box 12"/>
          <p:cNvSpPr txBox="1">
            <a:spLocks noChangeArrowheads="1"/>
          </p:cNvSpPr>
          <p:nvPr/>
        </p:nvSpPr>
        <p:spPr bwMode="auto">
          <a:xfrm>
            <a:off x="250825" y="5445125"/>
            <a:ext cx="4608513"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方向在</a:t>
            </a:r>
            <a:r>
              <a:rPr lang="en-US" altLang="zh-CN" sz="2400">
                <a:ea typeface="楷体_GB2312"/>
              </a:rPr>
              <a:t>X</a:t>
            </a:r>
            <a:r>
              <a:rPr lang="zh-CN" altLang="en-US" sz="2400">
                <a:ea typeface="楷体_GB2312"/>
              </a:rPr>
              <a:t>轴上，正负由</a:t>
            </a:r>
            <a:r>
              <a:rPr lang="en-US" altLang="zh-CN" sz="2400" i="1">
                <a:ea typeface="楷体_GB2312"/>
              </a:rPr>
              <a:t>q</a:t>
            </a:r>
            <a:r>
              <a:rPr lang="zh-CN" altLang="en-US" sz="2400">
                <a:ea typeface="楷体_GB2312"/>
              </a:rPr>
              <a:t>的正负决定。说明远离环心的场强相当于点电荷的场。</a:t>
            </a:r>
          </a:p>
        </p:txBody>
      </p:sp>
      <p:sp>
        <p:nvSpPr>
          <p:cNvPr id="51209" name="Oval 50"/>
          <p:cNvSpPr>
            <a:spLocks noChangeArrowheads="1"/>
          </p:cNvSpPr>
          <p:nvPr/>
        </p:nvSpPr>
        <p:spPr bwMode="auto">
          <a:xfrm>
            <a:off x="5980113" y="4041775"/>
            <a:ext cx="520700" cy="1600200"/>
          </a:xfrm>
          <a:prstGeom prst="ellipse">
            <a:avLst/>
          </a:prstGeom>
          <a:noFill/>
          <a:ln w="57150">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aphicFrame>
        <p:nvGraphicFramePr>
          <p:cNvPr id="96307" name="Object 51"/>
          <p:cNvGraphicFramePr>
            <a:graphicFrameLocks/>
          </p:cNvGraphicFramePr>
          <p:nvPr/>
        </p:nvGraphicFramePr>
        <p:xfrm>
          <a:off x="6659563" y="4365625"/>
          <a:ext cx="304800" cy="531813"/>
        </p:xfrm>
        <a:graphic>
          <a:graphicData uri="http://schemas.openxmlformats.org/presentationml/2006/ole">
            <mc:AlternateContent xmlns:mc="http://schemas.openxmlformats.org/markup-compatibility/2006">
              <mc:Choice xmlns:v="urn:schemas-microsoft-com:vml" Requires="v">
                <p:oleObj spid="_x0000_s225613" name="公式" r:id="rId9" imgW="126725" imgH="177415" progId="Equation.3">
                  <p:embed/>
                </p:oleObj>
              </mc:Choice>
              <mc:Fallback>
                <p:oleObj name="公式" r:id="rId9" imgW="126725" imgH="177415" progId="Equation.3">
                  <p:embed/>
                  <p:pic>
                    <p:nvPicPr>
                      <p:cNvPr id="96307" name="Object 5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59563" y="4365625"/>
                        <a:ext cx="304800"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11" name="Object 52"/>
          <p:cNvGraphicFramePr>
            <a:graphicFrameLocks/>
          </p:cNvGraphicFramePr>
          <p:nvPr/>
        </p:nvGraphicFramePr>
        <p:xfrm>
          <a:off x="5980113" y="4194175"/>
          <a:ext cx="442912" cy="442913"/>
        </p:xfrm>
        <a:graphic>
          <a:graphicData uri="http://schemas.openxmlformats.org/presentationml/2006/ole">
            <mc:AlternateContent xmlns:mc="http://schemas.openxmlformats.org/markup-compatibility/2006">
              <mc:Choice xmlns:v="urn:schemas-microsoft-com:vml" Requires="v">
                <p:oleObj spid="_x0000_s225614" name="公式" r:id="rId11" imgW="152268" imgH="152268" progId="Equation.3">
                  <p:embed/>
                </p:oleObj>
              </mc:Choice>
              <mc:Fallback>
                <p:oleObj name="公式" r:id="rId11" imgW="152268" imgH="152268" progId="Equation.3">
                  <p:embed/>
                  <p:pic>
                    <p:nvPicPr>
                      <p:cNvPr id="51211" name="Object 52"/>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80113" y="4194175"/>
                        <a:ext cx="442912"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1212" name="Group 53"/>
          <p:cNvGrpSpPr>
            <a:grpSpLocks/>
          </p:cNvGrpSpPr>
          <p:nvPr/>
        </p:nvGrpSpPr>
        <p:grpSpPr bwMode="auto">
          <a:xfrm>
            <a:off x="5148263" y="3419475"/>
            <a:ext cx="3671887" cy="2746375"/>
            <a:chOff x="2976" y="384"/>
            <a:chExt cx="2640" cy="2047"/>
          </a:xfrm>
        </p:grpSpPr>
        <p:sp>
          <p:nvSpPr>
            <p:cNvPr id="51228" name="Line 54"/>
            <p:cNvSpPr>
              <a:spLocks noChangeShapeType="1"/>
            </p:cNvSpPr>
            <p:nvPr/>
          </p:nvSpPr>
          <p:spPr bwMode="auto">
            <a:xfrm>
              <a:off x="3024" y="1440"/>
              <a:ext cx="2208" cy="0"/>
            </a:xfrm>
            <a:prstGeom prst="line">
              <a:avLst/>
            </a:prstGeom>
            <a:noFill/>
            <a:ln w="28575">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29" name="Line 55"/>
            <p:cNvSpPr>
              <a:spLocks noChangeShapeType="1"/>
            </p:cNvSpPr>
            <p:nvPr/>
          </p:nvSpPr>
          <p:spPr bwMode="auto">
            <a:xfrm>
              <a:off x="5232" y="1440"/>
              <a:ext cx="384" cy="0"/>
            </a:xfrm>
            <a:prstGeom prst="line">
              <a:avLst/>
            </a:prstGeom>
            <a:noFill/>
            <a:ln w="28575">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30" name="Line 56"/>
            <p:cNvSpPr>
              <a:spLocks noChangeShapeType="1"/>
            </p:cNvSpPr>
            <p:nvPr/>
          </p:nvSpPr>
          <p:spPr bwMode="auto">
            <a:xfrm flipV="1">
              <a:off x="3792" y="480"/>
              <a:ext cx="0" cy="960"/>
            </a:xfrm>
            <a:prstGeom prst="line">
              <a:avLst/>
            </a:prstGeom>
            <a:noFill/>
            <a:ln w="12699">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31" name="Line 57"/>
            <p:cNvSpPr>
              <a:spLocks noChangeShapeType="1"/>
            </p:cNvSpPr>
            <p:nvPr/>
          </p:nvSpPr>
          <p:spPr bwMode="auto">
            <a:xfrm flipH="1">
              <a:off x="3264" y="1440"/>
              <a:ext cx="528" cy="768"/>
            </a:xfrm>
            <a:prstGeom prst="line">
              <a:avLst/>
            </a:prstGeom>
            <a:noFill/>
            <a:ln w="12699">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1232" name="Object 58"/>
            <p:cNvGraphicFramePr>
              <a:graphicFrameLocks/>
            </p:cNvGraphicFramePr>
            <p:nvPr/>
          </p:nvGraphicFramePr>
          <p:xfrm>
            <a:off x="5333" y="1397"/>
            <a:ext cx="283" cy="283"/>
          </p:xfrm>
          <a:graphic>
            <a:graphicData uri="http://schemas.openxmlformats.org/presentationml/2006/ole">
              <mc:AlternateContent xmlns:mc="http://schemas.openxmlformats.org/markup-compatibility/2006">
                <mc:Choice xmlns:v="urn:schemas-microsoft-com:vml" Requires="v">
                  <p:oleObj spid="_x0000_s225615" name="公式" r:id="rId13" imgW="126725" imgH="126725" progId="Equation.3">
                    <p:embed/>
                  </p:oleObj>
                </mc:Choice>
                <mc:Fallback>
                  <p:oleObj name="公式" r:id="rId13" imgW="126725" imgH="126725" progId="Equation.3">
                    <p:embed/>
                    <p:pic>
                      <p:nvPicPr>
                        <p:cNvPr id="51232" name="Object 58"/>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33" y="1397"/>
                          <a:ext cx="283"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33" name="Object 59"/>
            <p:cNvGraphicFramePr>
              <a:graphicFrameLocks/>
            </p:cNvGraphicFramePr>
            <p:nvPr/>
          </p:nvGraphicFramePr>
          <p:xfrm>
            <a:off x="3456" y="384"/>
            <a:ext cx="283" cy="376"/>
          </p:xfrm>
          <a:graphic>
            <a:graphicData uri="http://schemas.openxmlformats.org/presentationml/2006/ole">
              <mc:AlternateContent xmlns:mc="http://schemas.openxmlformats.org/markup-compatibility/2006">
                <mc:Choice xmlns:v="urn:schemas-microsoft-com:vml" Requires="v">
                  <p:oleObj spid="_x0000_s225616" name="公式" r:id="rId15" imgW="126780" imgH="164814" progId="Equation.3">
                    <p:embed/>
                  </p:oleObj>
                </mc:Choice>
                <mc:Fallback>
                  <p:oleObj name="公式" r:id="rId15" imgW="126780" imgH="164814" progId="Equation.3">
                    <p:embed/>
                    <p:pic>
                      <p:nvPicPr>
                        <p:cNvPr id="51233" name="Object 59"/>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56" y="384"/>
                          <a:ext cx="283"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34" name="Object 60"/>
            <p:cNvGraphicFramePr>
              <a:graphicFrameLocks/>
            </p:cNvGraphicFramePr>
            <p:nvPr/>
          </p:nvGraphicFramePr>
          <p:xfrm>
            <a:off x="2976" y="2091"/>
            <a:ext cx="304" cy="340"/>
          </p:xfrm>
          <a:graphic>
            <a:graphicData uri="http://schemas.openxmlformats.org/presentationml/2006/ole">
              <mc:AlternateContent xmlns:mc="http://schemas.openxmlformats.org/markup-compatibility/2006">
                <mc:Choice xmlns:v="urn:schemas-microsoft-com:vml" Requires="v">
                  <p:oleObj spid="_x0000_s225617" name="公式" r:id="rId17" imgW="114102" imgH="126780" progId="Equation.3">
                    <p:embed/>
                  </p:oleObj>
                </mc:Choice>
                <mc:Fallback>
                  <p:oleObj name="公式" r:id="rId17" imgW="114102" imgH="126780" progId="Equation.3">
                    <p:embed/>
                    <p:pic>
                      <p:nvPicPr>
                        <p:cNvPr id="51234" name="Object 60"/>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76" y="2091"/>
                          <a:ext cx="304"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35" name="Object 61"/>
            <p:cNvGraphicFramePr>
              <a:graphicFrameLocks noChangeAspect="1"/>
            </p:cNvGraphicFramePr>
            <p:nvPr/>
          </p:nvGraphicFramePr>
          <p:xfrm>
            <a:off x="3456" y="1440"/>
            <a:ext cx="212" cy="236"/>
          </p:xfrm>
          <a:graphic>
            <a:graphicData uri="http://schemas.openxmlformats.org/presentationml/2006/ole">
              <mc:AlternateContent xmlns:mc="http://schemas.openxmlformats.org/markup-compatibility/2006">
                <mc:Choice xmlns:v="urn:schemas-microsoft-com:vml" Requires="v">
                  <p:oleObj spid="_x0000_s225618" name="公式" r:id="rId19" imgW="126835" imgH="139518" progId="Equation.3">
                    <p:embed/>
                  </p:oleObj>
                </mc:Choice>
                <mc:Fallback>
                  <p:oleObj name="公式" r:id="rId19" imgW="126835" imgH="139518" progId="Equation.3">
                    <p:embed/>
                    <p:pic>
                      <p:nvPicPr>
                        <p:cNvPr id="51235" name="Object 6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56" y="1440"/>
                          <a:ext cx="212"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1213" name="Group 62"/>
          <p:cNvGrpSpPr>
            <a:grpSpLocks/>
          </p:cNvGrpSpPr>
          <p:nvPr/>
        </p:nvGrpSpPr>
        <p:grpSpPr bwMode="auto">
          <a:xfrm>
            <a:off x="7651750" y="4762500"/>
            <a:ext cx="449263" cy="754063"/>
            <a:chOff x="4560" y="1392"/>
            <a:chExt cx="283" cy="475"/>
          </a:xfrm>
        </p:grpSpPr>
        <p:graphicFrame>
          <p:nvGraphicFramePr>
            <p:cNvPr id="51226" name="Object 63"/>
            <p:cNvGraphicFramePr>
              <a:graphicFrameLocks/>
            </p:cNvGraphicFramePr>
            <p:nvPr/>
          </p:nvGraphicFramePr>
          <p:xfrm>
            <a:off x="4560" y="1584"/>
            <a:ext cx="283" cy="283"/>
          </p:xfrm>
          <a:graphic>
            <a:graphicData uri="http://schemas.openxmlformats.org/presentationml/2006/ole">
              <mc:AlternateContent xmlns:mc="http://schemas.openxmlformats.org/markup-compatibility/2006">
                <mc:Choice xmlns:v="urn:schemas-microsoft-com:vml" Requires="v">
                  <p:oleObj spid="_x0000_s225619" name="公式" r:id="rId21" imgW="126725" imgH="126725" progId="Equation.3">
                    <p:embed/>
                  </p:oleObj>
                </mc:Choice>
                <mc:Fallback>
                  <p:oleObj name="公式" r:id="rId21" imgW="126725" imgH="126725" progId="Equation.3">
                    <p:embed/>
                    <p:pic>
                      <p:nvPicPr>
                        <p:cNvPr id="51226" name="Object 63"/>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60" y="1584"/>
                          <a:ext cx="283" cy="28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27" name="Oval 64"/>
            <p:cNvSpPr>
              <a:spLocks noChangeArrowheads="1"/>
            </p:cNvSpPr>
            <p:nvPr/>
          </p:nvSpPr>
          <p:spPr bwMode="auto">
            <a:xfrm>
              <a:off x="4656" y="1392"/>
              <a:ext cx="48" cy="48"/>
            </a:xfrm>
            <a:prstGeom prst="ellipse">
              <a:avLst/>
            </a:prstGeom>
            <a:solidFill>
              <a:schemeClr val="folHlink"/>
            </a:solidFill>
            <a:ln w="12699">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pSp>
      <p:grpSp>
        <p:nvGrpSpPr>
          <p:cNvPr id="96321" name="Group 65"/>
          <p:cNvGrpSpPr>
            <a:grpSpLocks/>
          </p:cNvGrpSpPr>
          <p:nvPr/>
        </p:nvGrpSpPr>
        <p:grpSpPr bwMode="auto">
          <a:xfrm>
            <a:off x="5675313" y="3736975"/>
            <a:ext cx="609600" cy="533400"/>
            <a:chOff x="3264" y="1200"/>
            <a:chExt cx="480" cy="432"/>
          </a:xfrm>
        </p:grpSpPr>
        <p:graphicFrame>
          <p:nvGraphicFramePr>
            <p:cNvPr id="51224" name="Object 66"/>
            <p:cNvGraphicFramePr>
              <a:graphicFrameLocks/>
            </p:cNvGraphicFramePr>
            <p:nvPr/>
          </p:nvGraphicFramePr>
          <p:xfrm>
            <a:off x="3264" y="1200"/>
            <a:ext cx="384" cy="432"/>
          </p:xfrm>
          <a:graphic>
            <a:graphicData uri="http://schemas.openxmlformats.org/presentationml/2006/ole">
              <mc:AlternateContent xmlns:mc="http://schemas.openxmlformats.org/markup-compatibility/2006">
                <mc:Choice xmlns:v="urn:schemas-microsoft-com:vml" Requires="v">
                  <p:oleObj spid="_x0000_s225620" name="Equation" r:id="rId22" imgW="203024" imgH="203024" progId="Equation.3">
                    <p:embed/>
                  </p:oleObj>
                </mc:Choice>
                <mc:Fallback>
                  <p:oleObj name="Equation" r:id="rId22" imgW="203024" imgH="203024" progId="Equation.3">
                    <p:embed/>
                    <p:pic>
                      <p:nvPicPr>
                        <p:cNvPr id="51224" name="Object 66"/>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264" y="1200"/>
                          <a:ext cx="384"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25" name="Oval 67"/>
            <p:cNvSpPr>
              <a:spLocks noChangeArrowheads="1"/>
            </p:cNvSpPr>
            <p:nvPr/>
          </p:nvSpPr>
          <p:spPr bwMode="auto">
            <a:xfrm>
              <a:off x="3696" y="1440"/>
              <a:ext cx="48" cy="48"/>
            </a:xfrm>
            <a:prstGeom prst="ellipse">
              <a:avLst/>
            </a:prstGeom>
            <a:solidFill>
              <a:schemeClr val="tx1"/>
            </a:solidFill>
            <a:ln w="12699">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pSp>
      <p:grpSp>
        <p:nvGrpSpPr>
          <p:cNvPr id="96324" name="Group 68"/>
          <p:cNvGrpSpPr>
            <a:grpSpLocks/>
          </p:cNvGrpSpPr>
          <p:nvPr/>
        </p:nvGrpSpPr>
        <p:grpSpPr bwMode="auto">
          <a:xfrm>
            <a:off x="6284913" y="3965575"/>
            <a:ext cx="1524000" cy="914400"/>
            <a:chOff x="3792" y="864"/>
            <a:chExt cx="912" cy="576"/>
          </a:xfrm>
        </p:grpSpPr>
        <p:sp>
          <p:nvSpPr>
            <p:cNvPr id="51222" name="Line 69"/>
            <p:cNvSpPr>
              <a:spLocks noChangeShapeType="1"/>
            </p:cNvSpPr>
            <p:nvPr/>
          </p:nvSpPr>
          <p:spPr bwMode="auto">
            <a:xfrm rot="-165956">
              <a:off x="3792" y="864"/>
              <a:ext cx="912" cy="576"/>
            </a:xfrm>
            <a:prstGeom prst="line">
              <a:avLst/>
            </a:prstGeom>
            <a:noFill/>
            <a:ln w="381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1223" name="Object 70"/>
            <p:cNvGraphicFramePr>
              <a:graphicFrameLocks noChangeAspect="1"/>
            </p:cNvGraphicFramePr>
            <p:nvPr/>
          </p:nvGraphicFramePr>
          <p:xfrm>
            <a:off x="4272" y="864"/>
            <a:ext cx="220" cy="288"/>
          </p:xfrm>
          <a:graphic>
            <a:graphicData uri="http://schemas.openxmlformats.org/presentationml/2006/ole">
              <mc:AlternateContent xmlns:mc="http://schemas.openxmlformats.org/markup-compatibility/2006">
                <mc:Choice xmlns:v="urn:schemas-microsoft-com:vml" Requires="v">
                  <p:oleObj spid="_x0000_s225621" name="公式" r:id="rId24" imgW="126780" imgH="164814" progId="Equation.3">
                    <p:embed/>
                  </p:oleObj>
                </mc:Choice>
                <mc:Fallback>
                  <p:oleObj name="公式" r:id="rId24" imgW="126780" imgH="164814" progId="Equation.3">
                    <p:embed/>
                    <p:pic>
                      <p:nvPicPr>
                        <p:cNvPr id="51223" name="Object 70"/>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272" y="864"/>
                          <a:ext cx="22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6332" name="Group 76"/>
          <p:cNvGrpSpPr>
            <a:grpSpLocks/>
          </p:cNvGrpSpPr>
          <p:nvPr/>
        </p:nvGrpSpPr>
        <p:grpSpPr bwMode="auto">
          <a:xfrm>
            <a:off x="7885113" y="4884738"/>
            <a:ext cx="890587" cy="744537"/>
            <a:chOff x="4967" y="3077"/>
            <a:chExt cx="561" cy="469"/>
          </a:xfrm>
        </p:grpSpPr>
        <p:sp>
          <p:nvSpPr>
            <p:cNvPr id="51220" name="Line 72"/>
            <p:cNvSpPr>
              <a:spLocks noChangeShapeType="1"/>
            </p:cNvSpPr>
            <p:nvPr/>
          </p:nvSpPr>
          <p:spPr bwMode="auto">
            <a:xfrm>
              <a:off x="4967" y="3077"/>
              <a:ext cx="313" cy="172"/>
            </a:xfrm>
            <a:prstGeom prst="line">
              <a:avLst/>
            </a:prstGeom>
            <a:noFill/>
            <a:ln w="381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1221" name="Object 73"/>
            <p:cNvGraphicFramePr>
              <a:graphicFrameLocks noChangeAspect="1"/>
            </p:cNvGraphicFramePr>
            <p:nvPr/>
          </p:nvGraphicFramePr>
          <p:xfrm>
            <a:off x="5148" y="3203"/>
            <a:ext cx="380" cy="343"/>
          </p:xfrm>
          <a:graphic>
            <a:graphicData uri="http://schemas.openxmlformats.org/presentationml/2006/ole">
              <mc:AlternateContent xmlns:mc="http://schemas.openxmlformats.org/markup-compatibility/2006">
                <mc:Choice xmlns:v="urn:schemas-microsoft-com:vml" Requires="v">
                  <p:oleObj spid="_x0000_s225622" name="Equation" r:id="rId26" imgW="215713" imgH="203024" progId="Equation.DSMT4">
                    <p:embed/>
                  </p:oleObj>
                </mc:Choice>
                <mc:Fallback>
                  <p:oleObj name="Equation" r:id="rId26" imgW="215713" imgH="203024" progId="Equation.DSMT4">
                    <p:embed/>
                    <p:pic>
                      <p:nvPicPr>
                        <p:cNvPr id="51221" name="Object 73"/>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148" y="3203"/>
                          <a:ext cx="380" cy="3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6330" name="Line 74"/>
          <p:cNvSpPr>
            <a:spLocks noChangeShapeType="1"/>
          </p:cNvSpPr>
          <p:nvPr/>
        </p:nvSpPr>
        <p:spPr bwMode="auto">
          <a:xfrm flipV="1">
            <a:off x="6284913" y="4803775"/>
            <a:ext cx="1600200" cy="838200"/>
          </a:xfrm>
          <a:prstGeom prst="line">
            <a:avLst/>
          </a:prstGeom>
          <a:noFill/>
          <a:ln w="38100">
            <a:solidFill>
              <a:schemeClr val="accent2"/>
            </a:solidFill>
            <a:prstDash val="sysDot"/>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331" name="Line 75"/>
          <p:cNvSpPr>
            <a:spLocks noChangeShapeType="1"/>
          </p:cNvSpPr>
          <p:nvPr/>
        </p:nvSpPr>
        <p:spPr bwMode="auto">
          <a:xfrm flipV="1">
            <a:off x="7885113" y="4498975"/>
            <a:ext cx="533400" cy="304800"/>
          </a:xfrm>
          <a:prstGeom prst="line">
            <a:avLst/>
          </a:prstGeom>
          <a:noFill/>
          <a:ln w="38100">
            <a:solidFill>
              <a:schemeClr val="accent2"/>
            </a:solidFill>
            <a:prstDash val="sysDot"/>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333" name="AutoShape 77"/>
          <p:cNvSpPr>
            <a:spLocks noChangeArrowheads="1"/>
          </p:cNvSpPr>
          <p:nvPr/>
        </p:nvSpPr>
        <p:spPr bwMode="auto">
          <a:xfrm>
            <a:off x="7092950" y="4581525"/>
            <a:ext cx="142875" cy="215900"/>
          </a:xfrm>
          <a:prstGeom prst="moon">
            <a:avLst>
              <a:gd name="adj" fmla="val 50000"/>
            </a:avLst>
          </a:prstGeom>
          <a:solidFill>
            <a:srgbClr val="FFFF66"/>
          </a:solidFill>
          <a:ln w="127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Tree>
    <p:extLst>
      <p:ext uri="{BB962C8B-B14F-4D97-AF65-F5344CB8AC3E}">
        <p14:creationId xmlns:p14="http://schemas.microsoft.com/office/powerpoint/2010/main" val="1291308648"/>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96260">
                                            <p:txEl>
                                              <p:pRg st="0" end="0"/>
                                            </p:txEl>
                                          </p:spTgt>
                                        </p:tgtEl>
                                        <p:attrNameLst>
                                          <p:attrName>style.visibility</p:attrName>
                                        </p:attrNameLst>
                                      </p:cBhvr>
                                      <p:to>
                                        <p:strVal val="visible"/>
                                      </p:to>
                                    </p:set>
                                    <p:animEffect transition="in" filter="wipe(left)">
                                      <p:cBhvr>
                                        <p:cTn id="7" dur="75"/>
                                        <p:tgtEl>
                                          <p:spTgt spid="9626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96260">
                                            <p:txEl>
                                              <p:pRg st="1" end="1"/>
                                            </p:txEl>
                                          </p:spTgt>
                                        </p:tgtEl>
                                        <p:attrNameLst>
                                          <p:attrName>style.visibility</p:attrName>
                                        </p:attrNameLst>
                                      </p:cBhvr>
                                      <p:to>
                                        <p:strVal val="visible"/>
                                      </p:to>
                                    </p:set>
                                    <p:animEffect transition="in" filter="wipe(left)">
                                      <p:cBhvr>
                                        <p:cTn id="12" dur="75"/>
                                        <p:tgtEl>
                                          <p:spTgt spid="9626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96321"/>
                                        </p:tgtEl>
                                        <p:attrNameLst>
                                          <p:attrName>style.visibility</p:attrName>
                                        </p:attrNameLst>
                                      </p:cBhvr>
                                      <p:to>
                                        <p:strVal val="visible"/>
                                      </p:to>
                                    </p:set>
                                    <p:animEffect transition="in" filter="blinds(horizontal)">
                                      <p:cBhvr>
                                        <p:cTn id="17" dur="500"/>
                                        <p:tgtEl>
                                          <p:spTgt spid="9632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96324"/>
                                        </p:tgtEl>
                                        <p:attrNameLst>
                                          <p:attrName>style.visibility</p:attrName>
                                        </p:attrNameLst>
                                      </p:cBhvr>
                                      <p:to>
                                        <p:strVal val="visible"/>
                                      </p:to>
                                    </p:set>
                                    <p:animEffect transition="in" filter="blinds(horizontal)">
                                      <p:cBhvr>
                                        <p:cTn id="22" dur="500"/>
                                        <p:tgtEl>
                                          <p:spTgt spid="9632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96332"/>
                                        </p:tgtEl>
                                        <p:attrNameLst>
                                          <p:attrName>style.visibility</p:attrName>
                                        </p:attrNameLst>
                                      </p:cBhvr>
                                      <p:to>
                                        <p:strVal val="visible"/>
                                      </p:to>
                                    </p:set>
                                    <p:animEffect transition="in" filter="blinds(horizontal)">
                                      <p:cBhvr>
                                        <p:cTn id="27" dur="500"/>
                                        <p:tgtEl>
                                          <p:spTgt spid="9633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96333"/>
                                        </p:tgtEl>
                                        <p:attrNameLst>
                                          <p:attrName>style.visibility</p:attrName>
                                        </p:attrNameLst>
                                      </p:cBhvr>
                                      <p:to>
                                        <p:strVal val="visible"/>
                                      </p:to>
                                    </p:set>
                                    <p:animEffect transition="in" filter="blinds(horizontal)">
                                      <p:cBhvr>
                                        <p:cTn id="32" dur="500"/>
                                        <p:tgtEl>
                                          <p:spTgt spid="9633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96330"/>
                                        </p:tgtEl>
                                        <p:attrNameLst>
                                          <p:attrName>style.visibility</p:attrName>
                                        </p:attrNameLst>
                                      </p:cBhvr>
                                      <p:to>
                                        <p:strVal val="visible"/>
                                      </p:to>
                                    </p:set>
                                    <p:animEffect transition="in" filter="blinds(horizontal)">
                                      <p:cBhvr>
                                        <p:cTn id="37" dur="500"/>
                                        <p:tgtEl>
                                          <p:spTgt spid="96330"/>
                                        </p:tgtEl>
                                      </p:cBhvr>
                                    </p:animEffect>
                                  </p:childTnLst>
                                </p:cTn>
                              </p:par>
                              <p:par>
                                <p:cTn id="38" presetID="3" presetClass="entr" presetSubtype="10" fill="hold" nodeType="withEffect">
                                  <p:stCondLst>
                                    <p:cond delay="0"/>
                                  </p:stCondLst>
                                  <p:childTnLst>
                                    <p:set>
                                      <p:cBhvr>
                                        <p:cTn id="39" dur="1" fill="hold">
                                          <p:stCondLst>
                                            <p:cond delay="0"/>
                                          </p:stCondLst>
                                        </p:cTn>
                                        <p:tgtEl>
                                          <p:spTgt spid="96307"/>
                                        </p:tgtEl>
                                        <p:attrNameLst>
                                          <p:attrName>style.visibility</p:attrName>
                                        </p:attrNameLst>
                                      </p:cBhvr>
                                      <p:to>
                                        <p:strVal val="visible"/>
                                      </p:to>
                                    </p:set>
                                    <p:animEffect transition="in" filter="blinds(horizontal)">
                                      <p:cBhvr>
                                        <p:cTn id="40" dur="500"/>
                                        <p:tgtEl>
                                          <p:spTgt spid="9630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5" fill="hold" nodeType="clickEffect">
                                  <p:stCondLst>
                                    <p:cond delay="0"/>
                                  </p:stCondLst>
                                  <p:childTnLst>
                                    <p:set>
                                      <p:cBhvr>
                                        <p:cTn id="44" dur="1" fill="hold">
                                          <p:stCondLst>
                                            <p:cond delay="0"/>
                                          </p:stCondLst>
                                        </p:cTn>
                                        <p:tgtEl>
                                          <p:spTgt spid="96331"/>
                                        </p:tgtEl>
                                        <p:attrNameLst>
                                          <p:attrName>style.visibility</p:attrName>
                                        </p:attrNameLst>
                                      </p:cBhvr>
                                      <p:to>
                                        <p:strVal val="visible"/>
                                      </p:to>
                                    </p:set>
                                    <p:animEffect transition="in" filter="blinds(vertical)">
                                      <p:cBhvr>
                                        <p:cTn id="45" dur="500"/>
                                        <p:tgtEl>
                                          <p:spTgt spid="96331"/>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iterate type="lt">
                                    <p:tmPct val="100000"/>
                                  </p:iterate>
                                  <p:childTnLst>
                                    <p:set>
                                      <p:cBhvr>
                                        <p:cTn id="49" dur="1" fill="hold">
                                          <p:stCondLst>
                                            <p:cond delay="0"/>
                                          </p:stCondLst>
                                        </p:cTn>
                                        <p:tgtEl>
                                          <p:spTgt spid="96258"/>
                                        </p:tgtEl>
                                        <p:attrNameLst>
                                          <p:attrName>style.visibility</p:attrName>
                                        </p:attrNameLst>
                                      </p:cBhvr>
                                      <p:to>
                                        <p:strVal val="visible"/>
                                      </p:to>
                                    </p:set>
                                    <p:animEffect transition="in" filter="wipe(left)">
                                      <p:cBhvr>
                                        <p:cTn id="50" dur="75"/>
                                        <p:tgtEl>
                                          <p:spTgt spid="9625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96263"/>
                                        </p:tgtEl>
                                        <p:attrNameLst>
                                          <p:attrName>style.visibility</p:attrName>
                                        </p:attrNameLst>
                                      </p:cBhvr>
                                      <p:to>
                                        <p:strVal val="visible"/>
                                      </p:to>
                                    </p:set>
                                    <p:animEffect transition="in" filter="wipe(left)">
                                      <p:cBhvr>
                                        <p:cTn id="55" dur="500"/>
                                        <p:tgtEl>
                                          <p:spTgt spid="9626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96264"/>
                                        </p:tgtEl>
                                        <p:attrNameLst>
                                          <p:attrName>style.visibility</p:attrName>
                                        </p:attrNameLst>
                                      </p:cBhvr>
                                      <p:to>
                                        <p:strVal val="visible"/>
                                      </p:to>
                                    </p:set>
                                    <p:animEffect transition="in" filter="wipe(left)">
                                      <p:cBhvr>
                                        <p:cTn id="60" dur="500"/>
                                        <p:tgtEl>
                                          <p:spTgt spid="96264"/>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96266"/>
                                        </p:tgtEl>
                                        <p:attrNameLst>
                                          <p:attrName>style.visibility</p:attrName>
                                        </p:attrNameLst>
                                      </p:cBhvr>
                                      <p:to>
                                        <p:strVal val="visible"/>
                                      </p:to>
                                    </p:set>
                                    <p:animEffect transition="in" filter="wipe(left)">
                                      <p:cBhvr>
                                        <p:cTn id="65" dur="500"/>
                                        <p:tgtEl>
                                          <p:spTgt spid="96266"/>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96265"/>
                                        </p:tgtEl>
                                        <p:attrNameLst>
                                          <p:attrName>style.visibility</p:attrName>
                                        </p:attrNameLst>
                                      </p:cBhvr>
                                      <p:to>
                                        <p:strVal val="visible"/>
                                      </p:to>
                                    </p:set>
                                    <p:animEffect transition="in" filter="wipe(left)">
                                      <p:cBhvr>
                                        <p:cTn id="70" dur="500"/>
                                        <p:tgtEl>
                                          <p:spTgt spid="96265"/>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iterate type="lt">
                                    <p:tmPct val="100000"/>
                                  </p:iterate>
                                  <p:childTnLst>
                                    <p:set>
                                      <p:cBhvr>
                                        <p:cTn id="74" dur="1" fill="hold">
                                          <p:stCondLst>
                                            <p:cond delay="0"/>
                                          </p:stCondLst>
                                        </p:cTn>
                                        <p:tgtEl>
                                          <p:spTgt spid="96268"/>
                                        </p:tgtEl>
                                        <p:attrNameLst>
                                          <p:attrName>style.visibility</p:attrName>
                                        </p:attrNameLst>
                                      </p:cBhvr>
                                      <p:to>
                                        <p:strVal val="visible"/>
                                      </p:to>
                                    </p:set>
                                    <p:animEffect transition="in" filter="wipe(left)">
                                      <p:cBhvr>
                                        <p:cTn id="75" dur="75"/>
                                        <p:tgtEl>
                                          <p:spTgt spid="96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8" grpId="0" autoUpdateAnimBg="0"/>
      <p:bldP spid="96260" grpId="0" build="p" autoUpdateAnimBg="0"/>
      <p:bldP spid="96266" grpId="0" autoUpdateAnimBg="0"/>
      <p:bldP spid="96268" grpId="0" autoUpdateAnimBg="0"/>
      <p:bldP spid="9633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Text Box 3"/>
          <p:cNvSpPr txBox="1">
            <a:spLocks noChangeArrowheads="1"/>
          </p:cNvSpPr>
          <p:nvPr/>
        </p:nvSpPr>
        <p:spPr bwMode="auto">
          <a:xfrm>
            <a:off x="152400" y="152400"/>
            <a:ext cx="7162800"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0000FF"/>
                </a:solidFill>
                <a:ea typeface="楷体_GB2312"/>
              </a:rPr>
              <a:t>例</a:t>
            </a:r>
            <a:r>
              <a:rPr lang="en-US" altLang="zh-CN" sz="2400">
                <a:solidFill>
                  <a:srgbClr val="0000FF"/>
                </a:solidFill>
                <a:ea typeface="楷体_GB2312"/>
              </a:rPr>
              <a:t>4</a:t>
            </a:r>
            <a:r>
              <a:rPr lang="zh-CN" altLang="en-US" sz="2400">
                <a:solidFill>
                  <a:srgbClr val="0000FF"/>
                </a:solidFill>
                <a:ea typeface="楷体_GB2312"/>
              </a:rPr>
              <a:t>、均匀带电圆盘轴线上一点的场强。</a:t>
            </a:r>
            <a:endParaRPr lang="zh-CN" altLang="en-US" sz="2400">
              <a:ea typeface="楷体_GB2312"/>
            </a:endParaRPr>
          </a:p>
          <a:p>
            <a:pPr eaLnBrk="1" hangingPunct="1">
              <a:spcBef>
                <a:spcPct val="0"/>
              </a:spcBef>
              <a:buFontTx/>
              <a:buNone/>
            </a:pPr>
            <a:r>
              <a:rPr lang="zh-CN" altLang="en-US" sz="2400">
                <a:ea typeface="楷体_GB2312"/>
              </a:rPr>
              <a:t>设圆盘带的电荷面密度为</a:t>
            </a:r>
            <a:r>
              <a:rPr lang="zh-CN" altLang="en-US" sz="2400">
                <a:ea typeface="楷体_GB2312"/>
                <a:sym typeface="Symbol" panose="05050102010706020507" pitchFamily="18" charset="2"/>
              </a:rPr>
              <a:t></a:t>
            </a:r>
            <a:r>
              <a:rPr lang="zh-CN" altLang="en-US" sz="2400">
                <a:ea typeface="楷体_GB2312"/>
              </a:rPr>
              <a:t>，半径为</a:t>
            </a:r>
            <a:r>
              <a:rPr lang="en-US" altLang="zh-CN" sz="2400" i="1">
                <a:ea typeface="楷体_GB2312"/>
              </a:rPr>
              <a:t>R</a:t>
            </a:r>
            <a:r>
              <a:rPr lang="zh-CN" altLang="en-US" sz="2400">
                <a:ea typeface="楷体_GB2312"/>
              </a:rPr>
              <a:t>。</a:t>
            </a:r>
          </a:p>
        </p:txBody>
      </p:sp>
      <p:sp>
        <p:nvSpPr>
          <p:cNvPr id="97286" name="Text Box 6"/>
          <p:cNvSpPr txBox="1">
            <a:spLocks noChangeArrowheads="1"/>
          </p:cNvSpPr>
          <p:nvPr/>
        </p:nvSpPr>
        <p:spPr bwMode="auto">
          <a:xfrm>
            <a:off x="228600" y="990600"/>
            <a:ext cx="51054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0"/>
              </a:spcBef>
              <a:buFontTx/>
              <a:buNone/>
            </a:pPr>
            <a:r>
              <a:rPr lang="zh-CN" altLang="en-US" sz="2400">
                <a:ea typeface="楷体_GB2312"/>
              </a:rPr>
              <a:t>解：带电圆盘可看成许多同心的圆环组成，取一半径为</a:t>
            </a:r>
            <a:r>
              <a:rPr lang="en-US" altLang="zh-CN" i="1">
                <a:ea typeface="楷体_GB2312"/>
              </a:rPr>
              <a:t>r</a:t>
            </a:r>
            <a:r>
              <a:rPr lang="zh-CN" altLang="en-US" sz="2400">
                <a:ea typeface="楷体_GB2312"/>
              </a:rPr>
              <a:t>，宽度为</a:t>
            </a:r>
            <a:r>
              <a:rPr lang="en-US" altLang="zh-CN">
                <a:ea typeface="楷体_GB2312"/>
              </a:rPr>
              <a:t>d</a:t>
            </a:r>
            <a:r>
              <a:rPr lang="en-US" altLang="zh-CN" i="1">
                <a:ea typeface="楷体_GB2312"/>
              </a:rPr>
              <a:t>r </a:t>
            </a:r>
            <a:r>
              <a:rPr lang="zh-CN" altLang="en-US" sz="2400">
                <a:ea typeface="楷体_GB2312"/>
              </a:rPr>
              <a:t>的细圆环带电量</a:t>
            </a:r>
          </a:p>
        </p:txBody>
      </p:sp>
      <p:graphicFrame>
        <p:nvGraphicFramePr>
          <p:cNvPr id="97287" name="Object 7"/>
          <p:cNvGraphicFramePr>
            <a:graphicFrameLocks noChangeAspect="1"/>
          </p:cNvGraphicFramePr>
          <p:nvPr/>
        </p:nvGraphicFramePr>
        <p:xfrm>
          <a:off x="1692275" y="2205038"/>
          <a:ext cx="3111500" cy="469900"/>
        </p:xfrm>
        <a:graphic>
          <a:graphicData uri="http://schemas.openxmlformats.org/presentationml/2006/ole">
            <mc:AlternateContent xmlns:mc="http://schemas.openxmlformats.org/markup-compatibility/2006">
              <mc:Choice xmlns:v="urn:schemas-microsoft-com:vml" Requires="v">
                <p:oleObj spid="_x0000_s155038" name="公式" r:id="rId3" imgW="1333500" imgH="203200" progId="Equation.3">
                  <p:embed/>
                </p:oleObj>
              </mc:Choice>
              <mc:Fallback>
                <p:oleObj name="公式" r:id="rId3" imgW="1333500" imgH="203200" progId="Equation.3">
                  <p:embed/>
                  <p:pic>
                    <p:nvPicPr>
                      <p:cNvPr id="97287"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2205038"/>
                        <a:ext cx="31115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288" name="Object 8"/>
          <p:cNvGraphicFramePr>
            <a:graphicFrameLocks noChangeAspect="1"/>
          </p:cNvGraphicFramePr>
          <p:nvPr/>
        </p:nvGraphicFramePr>
        <p:xfrm>
          <a:off x="2195513" y="5300663"/>
          <a:ext cx="3429000" cy="1038225"/>
        </p:xfrm>
        <a:graphic>
          <a:graphicData uri="http://schemas.openxmlformats.org/presentationml/2006/ole">
            <mc:AlternateContent xmlns:mc="http://schemas.openxmlformats.org/markup-compatibility/2006">
              <mc:Choice xmlns:v="urn:schemas-microsoft-com:vml" Requires="v">
                <p:oleObj spid="_x0000_s155039" name="公式" r:id="rId5" imgW="1459866" imgH="482391" progId="Equation.3">
                  <p:embed/>
                </p:oleObj>
              </mc:Choice>
              <mc:Fallback>
                <p:oleObj name="公式" r:id="rId5" imgW="1459866" imgH="482391" progId="Equation.3">
                  <p:embed/>
                  <p:pic>
                    <p:nvPicPr>
                      <p:cNvPr id="97288"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513" y="5300663"/>
                        <a:ext cx="3429000"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289" name="Object 9"/>
          <p:cNvGraphicFramePr>
            <a:graphicFrameLocks noChangeAspect="1"/>
          </p:cNvGraphicFramePr>
          <p:nvPr/>
        </p:nvGraphicFramePr>
        <p:xfrm>
          <a:off x="1171575" y="3910013"/>
          <a:ext cx="4264025" cy="1300162"/>
        </p:xfrm>
        <a:graphic>
          <a:graphicData uri="http://schemas.openxmlformats.org/presentationml/2006/ole">
            <mc:AlternateContent xmlns:mc="http://schemas.openxmlformats.org/markup-compatibility/2006">
              <mc:Choice xmlns:v="urn:schemas-microsoft-com:vml" Requires="v">
                <p:oleObj spid="_x0000_s155040" name="Equation" r:id="rId7" imgW="1625600" imgH="508000" progId="Equation.DSMT4">
                  <p:embed/>
                </p:oleObj>
              </mc:Choice>
              <mc:Fallback>
                <p:oleObj name="Equation" r:id="rId7" imgW="1625600" imgH="508000" progId="Equation.DSMT4">
                  <p:embed/>
                  <p:pic>
                    <p:nvPicPr>
                      <p:cNvPr id="97289"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71575" y="3910013"/>
                        <a:ext cx="4264025" cy="1300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307" name="Object 27"/>
          <p:cNvGraphicFramePr>
            <a:graphicFrameLocks noChangeAspect="1"/>
          </p:cNvGraphicFramePr>
          <p:nvPr/>
        </p:nvGraphicFramePr>
        <p:xfrm>
          <a:off x="2124075" y="2781300"/>
          <a:ext cx="2651125" cy="882650"/>
        </p:xfrm>
        <a:graphic>
          <a:graphicData uri="http://schemas.openxmlformats.org/presentationml/2006/ole">
            <mc:AlternateContent xmlns:mc="http://schemas.openxmlformats.org/markup-compatibility/2006">
              <mc:Choice xmlns:v="urn:schemas-microsoft-com:vml" Requires="v">
                <p:oleObj spid="_x0000_s155041" name="Equation" r:id="rId9" imgW="1473200" imgH="482600" progId="Equation.DSMT4">
                  <p:embed/>
                </p:oleObj>
              </mc:Choice>
              <mc:Fallback>
                <p:oleObj name="Equation" r:id="rId9" imgW="1473200" imgH="482600" progId="Equation.DSMT4">
                  <p:embed/>
                  <p:pic>
                    <p:nvPicPr>
                      <p:cNvPr id="97307" name="Object 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24075" y="2781300"/>
                        <a:ext cx="2651125" cy="88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7352" name="Group 72"/>
          <p:cNvGrpSpPr>
            <a:grpSpLocks/>
          </p:cNvGrpSpPr>
          <p:nvPr/>
        </p:nvGrpSpPr>
        <p:grpSpPr bwMode="auto">
          <a:xfrm>
            <a:off x="5435600" y="457200"/>
            <a:ext cx="3670300" cy="2286000"/>
            <a:chOff x="3504" y="288"/>
            <a:chExt cx="2312" cy="1440"/>
          </a:xfrm>
        </p:grpSpPr>
        <p:sp>
          <p:nvSpPr>
            <p:cNvPr id="52233" name="Rectangle 71"/>
            <p:cNvSpPr>
              <a:spLocks noChangeArrowheads="1"/>
            </p:cNvSpPr>
            <p:nvPr/>
          </p:nvSpPr>
          <p:spPr bwMode="auto">
            <a:xfrm>
              <a:off x="3504" y="288"/>
              <a:ext cx="2256" cy="1440"/>
            </a:xfrm>
            <a:prstGeom prst="rect">
              <a:avLst/>
            </a:prstGeom>
            <a:solidFill>
              <a:srgbClr val="FFFF66"/>
            </a:solidFill>
            <a:ln w="127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pSp>
          <p:nvGrpSpPr>
            <p:cNvPr id="52234" name="Group 42"/>
            <p:cNvGrpSpPr>
              <a:grpSpLocks/>
            </p:cNvGrpSpPr>
            <p:nvPr/>
          </p:nvGrpSpPr>
          <p:grpSpPr bwMode="auto">
            <a:xfrm>
              <a:off x="3600" y="384"/>
              <a:ext cx="2216" cy="1186"/>
              <a:chOff x="2688" y="1008"/>
              <a:chExt cx="2696" cy="1186"/>
            </a:xfrm>
          </p:grpSpPr>
          <p:sp>
            <p:nvSpPr>
              <p:cNvPr id="52235" name="AutoShape 43"/>
              <p:cNvSpPr>
                <a:spLocks noChangeArrowheads="1"/>
              </p:cNvSpPr>
              <p:nvPr/>
            </p:nvSpPr>
            <p:spPr bwMode="auto">
              <a:xfrm>
                <a:off x="4582" y="1310"/>
                <a:ext cx="341" cy="240"/>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a:solidFill>
                      <a:srgbClr val="FF0000"/>
                    </a:solidFill>
                    <a:ea typeface="楷体_GB2312"/>
                  </a:rPr>
                  <a:t>d</a:t>
                </a:r>
                <a:r>
                  <a:rPr lang="en-US" altLang="zh-CN" sz="2200" i="1">
                    <a:solidFill>
                      <a:srgbClr val="FF0000"/>
                    </a:solidFill>
                    <a:ea typeface="楷体_GB2312"/>
                  </a:rPr>
                  <a:t>E</a:t>
                </a:r>
                <a:endParaRPr lang="en-US" altLang="zh-CN" sz="2200">
                  <a:solidFill>
                    <a:srgbClr val="FF0000"/>
                  </a:solidFill>
                  <a:ea typeface="楷体_GB2312"/>
                </a:endParaRPr>
              </a:p>
              <a:p>
                <a:pPr algn="just" eaLnBrk="1" hangingPunct="1">
                  <a:spcBef>
                    <a:spcPct val="0"/>
                  </a:spcBef>
                  <a:buFontTx/>
                  <a:buNone/>
                </a:pPr>
                <a:endParaRPr lang="en-US" altLang="zh-CN" sz="1000" b="0">
                  <a:ea typeface="楷体_GB2312"/>
                </a:endParaRPr>
              </a:p>
            </p:txBody>
          </p:sp>
          <p:sp>
            <p:nvSpPr>
              <p:cNvPr id="52236" name="Line 44"/>
              <p:cNvSpPr>
                <a:spLocks noChangeShapeType="1"/>
              </p:cNvSpPr>
              <p:nvPr/>
            </p:nvSpPr>
            <p:spPr bwMode="auto">
              <a:xfrm>
                <a:off x="4742" y="1338"/>
                <a:ext cx="136" cy="0"/>
              </a:xfrm>
              <a:prstGeom prst="line">
                <a:avLst/>
              </a:prstGeom>
              <a:noFill/>
              <a:ln w="9525">
                <a:solidFill>
                  <a:srgbClr val="FF0000"/>
                </a:solidFill>
                <a:round/>
                <a:headEnd type="non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52237" name="Group 45"/>
              <p:cNvGrpSpPr>
                <a:grpSpLocks/>
              </p:cNvGrpSpPr>
              <p:nvPr/>
            </p:nvGrpSpPr>
            <p:grpSpPr bwMode="auto">
              <a:xfrm>
                <a:off x="2688" y="1025"/>
                <a:ext cx="2408" cy="1056"/>
                <a:chOff x="0" y="0"/>
                <a:chExt cx="20001" cy="20000"/>
              </a:xfrm>
            </p:grpSpPr>
            <p:grpSp>
              <p:nvGrpSpPr>
                <p:cNvPr id="52250" name="Group 46"/>
                <p:cNvGrpSpPr>
                  <a:grpSpLocks/>
                </p:cNvGrpSpPr>
                <p:nvPr/>
              </p:nvGrpSpPr>
              <p:grpSpPr bwMode="auto">
                <a:xfrm>
                  <a:off x="731" y="0"/>
                  <a:ext cx="19270" cy="20000"/>
                  <a:chOff x="0" y="0"/>
                  <a:chExt cx="20002" cy="20000"/>
                </a:xfrm>
              </p:grpSpPr>
              <p:grpSp>
                <p:nvGrpSpPr>
                  <p:cNvPr id="52252" name="Group 47"/>
                  <p:cNvGrpSpPr>
                    <a:grpSpLocks/>
                  </p:cNvGrpSpPr>
                  <p:nvPr/>
                </p:nvGrpSpPr>
                <p:grpSpPr bwMode="auto">
                  <a:xfrm>
                    <a:off x="0" y="0"/>
                    <a:ext cx="20002" cy="20000"/>
                    <a:chOff x="0" y="0"/>
                    <a:chExt cx="20002" cy="20000"/>
                  </a:xfrm>
                </p:grpSpPr>
                <p:grpSp>
                  <p:nvGrpSpPr>
                    <p:cNvPr id="52255" name="Group 48"/>
                    <p:cNvGrpSpPr>
                      <a:grpSpLocks/>
                    </p:cNvGrpSpPr>
                    <p:nvPr/>
                  </p:nvGrpSpPr>
                  <p:grpSpPr bwMode="auto">
                    <a:xfrm>
                      <a:off x="0" y="0"/>
                      <a:ext cx="20002" cy="20000"/>
                      <a:chOff x="0" y="0"/>
                      <a:chExt cx="20002" cy="20000"/>
                    </a:xfrm>
                  </p:grpSpPr>
                  <p:sp>
                    <p:nvSpPr>
                      <p:cNvPr id="52257" name="Oval 49"/>
                      <p:cNvSpPr>
                        <a:spLocks noChangeArrowheads="1"/>
                      </p:cNvSpPr>
                      <p:nvPr/>
                    </p:nvSpPr>
                    <p:spPr bwMode="auto">
                      <a:xfrm>
                        <a:off x="0" y="0"/>
                        <a:ext cx="5107" cy="20000"/>
                      </a:xfrm>
                      <a:prstGeom prst="ellipse">
                        <a:avLst/>
                      </a:prstGeom>
                      <a:solidFill>
                        <a:srgbClr val="00FFFF"/>
                      </a:solidFill>
                      <a:ln w="25400">
                        <a:solidFill>
                          <a:srgbClr val="0000FF"/>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pSp>
                    <p:nvGrpSpPr>
                      <p:cNvPr id="52258" name="Group 50"/>
                      <p:cNvGrpSpPr>
                        <a:grpSpLocks/>
                      </p:cNvGrpSpPr>
                      <p:nvPr/>
                    </p:nvGrpSpPr>
                    <p:grpSpPr bwMode="auto">
                      <a:xfrm>
                        <a:off x="2551" y="0"/>
                        <a:ext cx="17451" cy="9883"/>
                        <a:chOff x="0" y="234"/>
                        <a:chExt cx="20000" cy="19766"/>
                      </a:xfrm>
                    </p:grpSpPr>
                    <p:sp>
                      <p:nvSpPr>
                        <p:cNvPr id="52259" name="Line 51"/>
                        <p:cNvSpPr>
                          <a:spLocks noChangeShapeType="1"/>
                        </p:cNvSpPr>
                        <p:nvPr/>
                      </p:nvSpPr>
                      <p:spPr bwMode="auto">
                        <a:xfrm>
                          <a:off x="0" y="19986"/>
                          <a:ext cx="20000" cy="14"/>
                        </a:xfrm>
                        <a:prstGeom prst="line">
                          <a:avLst/>
                        </a:prstGeom>
                        <a:noFill/>
                        <a:ln w="9525">
                          <a:solidFill>
                            <a:srgbClr val="000000"/>
                          </a:solidFill>
                          <a:round/>
                          <a:headEnd type="non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2260" name="Line 52"/>
                        <p:cNvSpPr>
                          <a:spLocks noChangeShapeType="1"/>
                        </p:cNvSpPr>
                        <p:nvPr/>
                      </p:nvSpPr>
                      <p:spPr bwMode="auto">
                        <a:xfrm>
                          <a:off x="0" y="234"/>
                          <a:ext cx="3" cy="19704"/>
                        </a:xfrm>
                        <a:prstGeom prst="line">
                          <a:avLst/>
                        </a:prstGeom>
                        <a:noFill/>
                        <a:ln w="12700">
                          <a:solidFill>
                            <a:srgbClr val="000000"/>
                          </a:solidFill>
                          <a:round/>
                          <a:headEnd type="none" w="med" len="sm"/>
                          <a:tailEnd type="non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2261" name="Line 53"/>
                        <p:cNvSpPr>
                          <a:spLocks noChangeShapeType="1"/>
                        </p:cNvSpPr>
                        <p:nvPr/>
                      </p:nvSpPr>
                      <p:spPr bwMode="auto">
                        <a:xfrm>
                          <a:off x="0" y="6960"/>
                          <a:ext cx="13046" cy="13040"/>
                        </a:xfrm>
                        <a:prstGeom prst="line">
                          <a:avLst/>
                        </a:prstGeom>
                        <a:noFill/>
                        <a:ln w="12700">
                          <a:solidFill>
                            <a:srgbClr val="000000"/>
                          </a:solidFill>
                          <a:round/>
                          <a:headEnd type="none" w="med" len="sm"/>
                          <a:tailEnd type="non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2262" name="Line 54"/>
                        <p:cNvSpPr>
                          <a:spLocks noChangeShapeType="1"/>
                        </p:cNvSpPr>
                        <p:nvPr/>
                      </p:nvSpPr>
                      <p:spPr bwMode="auto">
                        <a:xfrm>
                          <a:off x="12804" y="19680"/>
                          <a:ext cx="4035" cy="320"/>
                        </a:xfrm>
                        <a:prstGeom prst="line">
                          <a:avLst/>
                        </a:prstGeom>
                        <a:noFill/>
                        <a:ln w="25400">
                          <a:solidFill>
                            <a:srgbClr val="FF0000"/>
                          </a:solidFill>
                          <a:round/>
                          <a:headEnd type="non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52256" name="Oval 55"/>
                    <p:cNvSpPr>
                      <a:spLocks noChangeArrowheads="1"/>
                    </p:cNvSpPr>
                    <p:nvPr/>
                  </p:nvSpPr>
                  <p:spPr bwMode="auto">
                    <a:xfrm>
                      <a:off x="1241" y="2878"/>
                      <a:ext cx="2623" cy="13790"/>
                    </a:xfrm>
                    <a:prstGeom prst="ellipse">
                      <a:avLst/>
                    </a:prstGeom>
                    <a:solidFill>
                      <a:srgbClr val="00FFFF"/>
                    </a:solidFill>
                    <a:ln w="50800">
                      <a:solidFill>
                        <a:srgbClr val="FF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pSp>
              <p:sp>
                <p:nvSpPr>
                  <p:cNvPr id="52253" name="Line 56"/>
                  <p:cNvSpPr>
                    <a:spLocks noChangeShapeType="1"/>
                  </p:cNvSpPr>
                  <p:nvPr/>
                </p:nvSpPr>
                <p:spPr bwMode="auto">
                  <a:xfrm>
                    <a:off x="2551" y="3021"/>
                    <a:ext cx="3" cy="6824"/>
                  </a:xfrm>
                  <a:prstGeom prst="line">
                    <a:avLst/>
                  </a:prstGeom>
                  <a:noFill/>
                  <a:ln w="12700">
                    <a:solidFill>
                      <a:srgbClr val="000000"/>
                    </a:solidFill>
                    <a:round/>
                    <a:headEnd type="none" w="med" len="sm"/>
                    <a:tailEnd type="non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2254" name="Line 57"/>
                  <p:cNvSpPr>
                    <a:spLocks noChangeShapeType="1"/>
                  </p:cNvSpPr>
                  <p:nvPr/>
                </p:nvSpPr>
                <p:spPr bwMode="auto">
                  <a:xfrm>
                    <a:off x="2551" y="9845"/>
                    <a:ext cx="1451" cy="7"/>
                  </a:xfrm>
                  <a:prstGeom prst="line">
                    <a:avLst/>
                  </a:prstGeom>
                  <a:noFill/>
                  <a:ln w="12700">
                    <a:solidFill>
                      <a:srgbClr val="000000"/>
                    </a:solidFill>
                    <a:round/>
                    <a:headEnd type="none" w="med" len="sm"/>
                    <a:tailEnd type="non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52251" name="AutoShape 58"/>
                <p:cNvSpPr>
                  <a:spLocks noChangeArrowheads="1"/>
                </p:cNvSpPr>
                <p:nvPr/>
              </p:nvSpPr>
              <p:spPr bwMode="auto">
                <a:xfrm>
                  <a:off x="0" y="8482"/>
                  <a:ext cx="1864" cy="3945"/>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1000" b="0">
                    <a:ea typeface="楷体_GB2312"/>
                  </a:endParaRPr>
                </a:p>
              </p:txBody>
            </p:sp>
          </p:grpSp>
          <p:sp>
            <p:nvSpPr>
              <p:cNvPr id="52238" name="AutoShape 59"/>
              <p:cNvSpPr>
                <a:spLocks noChangeArrowheads="1"/>
              </p:cNvSpPr>
              <p:nvPr/>
            </p:nvSpPr>
            <p:spPr bwMode="auto">
              <a:xfrm>
                <a:off x="2952" y="1328"/>
                <a:ext cx="136" cy="206"/>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1800" i="1">
                    <a:ea typeface="楷体_GB2312"/>
                  </a:rPr>
                  <a:t>R</a:t>
                </a:r>
                <a:endParaRPr lang="en-US" altLang="zh-CN" sz="1000" b="0">
                  <a:ea typeface="楷体_GB2312"/>
                </a:endParaRPr>
              </a:p>
            </p:txBody>
          </p:sp>
          <p:sp>
            <p:nvSpPr>
              <p:cNvPr id="52239" name="AutoShape 60"/>
              <p:cNvSpPr>
                <a:spLocks noChangeArrowheads="1"/>
              </p:cNvSpPr>
              <p:nvPr/>
            </p:nvSpPr>
            <p:spPr bwMode="auto">
              <a:xfrm>
                <a:off x="2704" y="1008"/>
                <a:ext cx="224" cy="216"/>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i="1">
                    <a:solidFill>
                      <a:srgbClr val="0000FF"/>
                    </a:solidFill>
                    <a:ea typeface="楷体_GB2312"/>
                    <a:sym typeface="Symbol" panose="05050102010706020507" pitchFamily="18" charset="2"/>
                  </a:rPr>
                  <a:t></a:t>
                </a:r>
                <a:endParaRPr lang="en-US" altLang="zh-CN" sz="2200">
                  <a:solidFill>
                    <a:srgbClr val="0000FF"/>
                  </a:solidFill>
                  <a:ea typeface="楷体_GB2312"/>
                </a:endParaRPr>
              </a:p>
              <a:p>
                <a:pPr algn="just" eaLnBrk="1" hangingPunct="1">
                  <a:spcBef>
                    <a:spcPct val="0"/>
                  </a:spcBef>
                  <a:buFontTx/>
                  <a:buNone/>
                </a:pPr>
                <a:endParaRPr lang="en-US" altLang="zh-CN" sz="1000" b="0">
                  <a:ea typeface="楷体_GB2312"/>
                </a:endParaRPr>
              </a:p>
            </p:txBody>
          </p:sp>
          <p:sp>
            <p:nvSpPr>
              <p:cNvPr id="52240" name="AutoShape 61"/>
              <p:cNvSpPr>
                <a:spLocks noChangeArrowheads="1"/>
              </p:cNvSpPr>
              <p:nvPr/>
            </p:nvSpPr>
            <p:spPr bwMode="auto">
              <a:xfrm>
                <a:off x="5160" y="1423"/>
                <a:ext cx="224" cy="185"/>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i="1">
                    <a:solidFill>
                      <a:srgbClr val="000000"/>
                    </a:solidFill>
                    <a:ea typeface="楷体_GB2312"/>
                  </a:rPr>
                  <a:t>x</a:t>
                </a:r>
                <a:endParaRPr lang="en-US" altLang="zh-CN" sz="1000" b="0">
                  <a:ea typeface="楷体_GB2312"/>
                </a:endParaRPr>
              </a:p>
            </p:txBody>
          </p:sp>
          <p:sp>
            <p:nvSpPr>
              <p:cNvPr id="52241" name="AutoShape 62"/>
              <p:cNvSpPr>
                <a:spLocks noChangeArrowheads="1"/>
              </p:cNvSpPr>
              <p:nvPr/>
            </p:nvSpPr>
            <p:spPr bwMode="auto">
              <a:xfrm>
                <a:off x="4328" y="1412"/>
                <a:ext cx="280" cy="208"/>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600">
                    <a:solidFill>
                      <a:srgbClr val="0000FF"/>
                    </a:solidFill>
                    <a:ea typeface="楷体_GB2312"/>
                  </a:rPr>
                  <a:t>·</a:t>
                </a:r>
                <a:endParaRPr lang="en-US" altLang="zh-CN" sz="1000" b="0">
                  <a:ea typeface="楷体_GB2312"/>
                </a:endParaRPr>
              </a:p>
            </p:txBody>
          </p:sp>
          <p:sp>
            <p:nvSpPr>
              <p:cNvPr id="52242" name="AutoShape 63"/>
              <p:cNvSpPr>
                <a:spLocks noChangeArrowheads="1"/>
              </p:cNvSpPr>
              <p:nvPr/>
            </p:nvSpPr>
            <p:spPr bwMode="auto">
              <a:xfrm>
                <a:off x="4327" y="1287"/>
                <a:ext cx="193" cy="247"/>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1800">
                    <a:solidFill>
                      <a:srgbClr val="0000FF"/>
                    </a:solidFill>
                    <a:ea typeface="楷体_GB2312"/>
                  </a:rPr>
                  <a:t>p</a:t>
                </a:r>
                <a:endParaRPr lang="en-US" altLang="zh-CN" sz="1000" b="0">
                  <a:ea typeface="楷体_GB2312"/>
                </a:endParaRPr>
              </a:p>
            </p:txBody>
          </p:sp>
          <p:sp>
            <p:nvSpPr>
              <p:cNvPr id="52243" name="Line 64"/>
              <p:cNvSpPr>
                <a:spLocks noChangeShapeType="1"/>
              </p:cNvSpPr>
              <p:nvPr/>
            </p:nvSpPr>
            <p:spPr bwMode="auto">
              <a:xfrm>
                <a:off x="3080" y="1551"/>
                <a:ext cx="96" cy="201"/>
              </a:xfrm>
              <a:prstGeom prst="line">
                <a:avLst/>
              </a:prstGeom>
              <a:noFill/>
              <a:ln w="9525">
                <a:solidFill>
                  <a:srgbClr val="000000"/>
                </a:solidFill>
                <a:round/>
                <a:headEnd type="non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2244" name="Line 65"/>
              <p:cNvSpPr>
                <a:spLocks noChangeShapeType="1"/>
              </p:cNvSpPr>
              <p:nvPr/>
            </p:nvSpPr>
            <p:spPr bwMode="auto">
              <a:xfrm>
                <a:off x="3200" y="1775"/>
                <a:ext cx="134" cy="245"/>
              </a:xfrm>
              <a:prstGeom prst="line">
                <a:avLst/>
              </a:prstGeom>
              <a:noFill/>
              <a:ln w="9525">
                <a:solidFill>
                  <a:srgbClr val="000000"/>
                </a:solidFill>
                <a:round/>
                <a:headEnd type="triangle" w="med" len="sm"/>
                <a:tailEnd type="non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2245" name="AutoShape 66"/>
              <p:cNvSpPr>
                <a:spLocks noChangeArrowheads="1"/>
              </p:cNvSpPr>
              <p:nvPr/>
            </p:nvSpPr>
            <p:spPr bwMode="auto">
              <a:xfrm>
                <a:off x="3056" y="1607"/>
                <a:ext cx="120" cy="192"/>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1800" i="1">
                    <a:ea typeface="楷体_GB2312"/>
                  </a:rPr>
                  <a:t>r</a:t>
                </a:r>
                <a:endParaRPr lang="en-US" altLang="zh-CN" sz="1000" b="0">
                  <a:ea typeface="楷体_GB2312"/>
                </a:endParaRPr>
              </a:p>
            </p:txBody>
          </p:sp>
          <p:sp>
            <p:nvSpPr>
              <p:cNvPr id="52246" name="AutoShape 67"/>
              <p:cNvSpPr>
                <a:spLocks noChangeArrowheads="1"/>
              </p:cNvSpPr>
              <p:nvPr/>
            </p:nvSpPr>
            <p:spPr bwMode="auto">
              <a:xfrm>
                <a:off x="2992" y="1479"/>
                <a:ext cx="128" cy="208"/>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1800">
                    <a:ea typeface="楷体_GB2312"/>
                  </a:rPr>
                  <a:t>o</a:t>
                </a:r>
                <a:endParaRPr lang="en-US" altLang="zh-CN" sz="1000" b="0">
                  <a:ea typeface="楷体_GB2312"/>
                </a:endParaRPr>
              </a:p>
            </p:txBody>
          </p:sp>
          <p:sp>
            <p:nvSpPr>
              <p:cNvPr id="52247" name="AutoShape 68"/>
              <p:cNvSpPr>
                <a:spLocks noChangeArrowheads="1"/>
              </p:cNvSpPr>
              <p:nvPr/>
            </p:nvSpPr>
            <p:spPr bwMode="auto">
              <a:xfrm>
                <a:off x="3302" y="2026"/>
                <a:ext cx="323" cy="168"/>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1800">
                    <a:ea typeface="楷体_GB2312"/>
                  </a:rPr>
                  <a:t>d</a:t>
                </a:r>
                <a:r>
                  <a:rPr lang="en-US" altLang="zh-CN" sz="1800" i="1">
                    <a:ea typeface="楷体_GB2312"/>
                  </a:rPr>
                  <a:t>r</a:t>
                </a:r>
                <a:endParaRPr lang="en-US" altLang="zh-CN" sz="1000" b="0">
                  <a:ea typeface="楷体_GB2312"/>
                </a:endParaRPr>
              </a:p>
            </p:txBody>
          </p:sp>
          <p:sp>
            <p:nvSpPr>
              <p:cNvPr id="52248" name="AutoShape 69"/>
              <p:cNvSpPr>
                <a:spLocks noChangeArrowheads="1"/>
              </p:cNvSpPr>
              <p:nvPr/>
            </p:nvSpPr>
            <p:spPr bwMode="auto">
              <a:xfrm>
                <a:off x="2903" y="1803"/>
                <a:ext cx="336" cy="210"/>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dirty="0" err="1">
                    <a:solidFill>
                      <a:srgbClr val="FF0000"/>
                    </a:solidFill>
                    <a:ea typeface="楷体_GB2312"/>
                  </a:rPr>
                  <a:t>d</a:t>
                </a:r>
                <a:r>
                  <a:rPr lang="en-US" altLang="zh-CN" sz="2200" i="1" dirty="0" err="1">
                    <a:solidFill>
                      <a:srgbClr val="FF0000"/>
                    </a:solidFill>
                    <a:ea typeface="楷体_GB2312"/>
                  </a:rPr>
                  <a:t>q</a:t>
                </a:r>
                <a:endParaRPr lang="en-US" altLang="zh-CN" sz="1000" b="0" dirty="0">
                  <a:ea typeface="楷体_GB2312"/>
                </a:endParaRPr>
              </a:p>
            </p:txBody>
          </p:sp>
          <p:sp>
            <p:nvSpPr>
              <p:cNvPr id="52249" name="Rectangle 70"/>
              <p:cNvSpPr>
                <a:spLocks noChangeArrowheads="1"/>
              </p:cNvSpPr>
              <p:nvPr/>
            </p:nvSpPr>
            <p:spPr bwMode="auto">
              <a:xfrm>
                <a:off x="4303" y="1502"/>
                <a:ext cx="241"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i="1">
                    <a:solidFill>
                      <a:srgbClr val="000000"/>
                    </a:solidFill>
                    <a:ea typeface="楷体_GB2312"/>
                  </a:rPr>
                  <a:t>x</a:t>
                </a:r>
                <a:endParaRPr lang="en-US" altLang="zh-CN" sz="1000" b="0">
                  <a:ea typeface="楷体_GB2312"/>
                </a:endParaRPr>
              </a:p>
              <a:p>
                <a:pPr algn="just" eaLnBrk="1" hangingPunct="1">
                  <a:spcBef>
                    <a:spcPct val="0"/>
                  </a:spcBef>
                  <a:buFontTx/>
                  <a:buNone/>
                </a:pPr>
                <a:endParaRPr lang="en-US" altLang="zh-CN" sz="1000" b="0">
                  <a:ea typeface="楷体_GB2312"/>
                </a:endParaRPr>
              </a:p>
            </p:txBody>
          </p:sp>
        </p:grpSp>
      </p:grpSp>
    </p:spTree>
    <p:extLst>
      <p:ext uri="{BB962C8B-B14F-4D97-AF65-F5344CB8AC3E}">
        <p14:creationId xmlns:p14="http://schemas.microsoft.com/office/powerpoint/2010/main" val="2255136899"/>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97283">
                                            <p:txEl>
                                              <p:pRg st="0" end="0"/>
                                            </p:txEl>
                                          </p:spTgt>
                                        </p:tgtEl>
                                        <p:attrNameLst>
                                          <p:attrName>style.visibility</p:attrName>
                                        </p:attrNameLst>
                                      </p:cBhvr>
                                      <p:to>
                                        <p:strVal val="visible"/>
                                      </p:to>
                                    </p:set>
                                    <p:animEffect transition="in" filter="wipe(left)">
                                      <p:cBhvr>
                                        <p:cTn id="7" dur="75"/>
                                        <p:tgtEl>
                                          <p:spTgt spid="972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97283">
                                            <p:txEl>
                                              <p:pRg st="1" end="1"/>
                                            </p:txEl>
                                          </p:spTgt>
                                        </p:tgtEl>
                                        <p:attrNameLst>
                                          <p:attrName>style.visibility</p:attrName>
                                        </p:attrNameLst>
                                      </p:cBhvr>
                                      <p:to>
                                        <p:strVal val="visible"/>
                                      </p:to>
                                    </p:set>
                                    <p:animEffect transition="in" filter="wipe(left)">
                                      <p:cBhvr>
                                        <p:cTn id="12" dur="75"/>
                                        <p:tgtEl>
                                          <p:spTgt spid="972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97352"/>
                                        </p:tgtEl>
                                        <p:attrNameLst>
                                          <p:attrName>style.visibility</p:attrName>
                                        </p:attrNameLst>
                                      </p:cBhvr>
                                      <p:to>
                                        <p:strVal val="visible"/>
                                      </p:to>
                                    </p:set>
                                    <p:animEffect transition="in" filter="dissolve">
                                      <p:cBhvr>
                                        <p:cTn id="17" dur="500"/>
                                        <p:tgtEl>
                                          <p:spTgt spid="9735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97286">
                                            <p:txEl>
                                              <p:pRg st="0" end="0"/>
                                            </p:txEl>
                                          </p:spTgt>
                                        </p:tgtEl>
                                        <p:attrNameLst>
                                          <p:attrName>style.visibility</p:attrName>
                                        </p:attrNameLst>
                                      </p:cBhvr>
                                      <p:to>
                                        <p:strVal val="visible"/>
                                      </p:to>
                                    </p:set>
                                    <p:animEffect transition="in" filter="wipe(left)">
                                      <p:cBhvr>
                                        <p:cTn id="22" dur="75"/>
                                        <p:tgtEl>
                                          <p:spTgt spid="97286">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7287"/>
                                        </p:tgtEl>
                                        <p:attrNameLst>
                                          <p:attrName>style.visibility</p:attrName>
                                        </p:attrNameLst>
                                      </p:cBhvr>
                                      <p:to>
                                        <p:strVal val="visible"/>
                                      </p:to>
                                    </p:set>
                                    <p:animEffect transition="in" filter="wipe(left)">
                                      <p:cBhvr>
                                        <p:cTn id="27" dur="500"/>
                                        <p:tgtEl>
                                          <p:spTgt spid="9728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7307"/>
                                        </p:tgtEl>
                                        <p:attrNameLst>
                                          <p:attrName>style.visibility</p:attrName>
                                        </p:attrNameLst>
                                      </p:cBhvr>
                                      <p:to>
                                        <p:strVal val="visible"/>
                                      </p:to>
                                    </p:set>
                                    <p:animEffect transition="in" filter="wipe(left)">
                                      <p:cBhvr>
                                        <p:cTn id="32" dur="500"/>
                                        <p:tgtEl>
                                          <p:spTgt spid="9730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7289"/>
                                        </p:tgtEl>
                                        <p:attrNameLst>
                                          <p:attrName>style.visibility</p:attrName>
                                        </p:attrNameLst>
                                      </p:cBhvr>
                                      <p:to>
                                        <p:strVal val="visible"/>
                                      </p:to>
                                    </p:set>
                                    <p:animEffect transition="in" filter="wipe(left)">
                                      <p:cBhvr>
                                        <p:cTn id="37" dur="500"/>
                                        <p:tgtEl>
                                          <p:spTgt spid="97289"/>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97288"/>
                                        </p:tgtEl>
                                        <p:attrNameLst>
                                          <p:attrName>style.visibility</p:attrName>
                                        </p:attrNameLst>
                                      </p:cBhvr>
                                      <p:to>
                                        <p:strVal val="visible"/>
                                      </p:to>
                                    </p:set>
                                    <p:animEffect transition="in" filter="wipe(left)">
                                      <p:cBhvr>
                                        <p:cTn id="41" dur="500"/>
                                        <p:tgtEl>
                                          <p:spTgt spid="972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build="p" autoUpdateAnimBg="0"/>
      <p:bldP spid="97286"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5346" name="Object 2"/>
          <p:cNvGraphicFramePr>
            <a:graphicFrameLocks noChangeAspect="1"/>
          </p:cNvGraphicFramePr>
          <p:nvPr/>
        </p:nvGraphicFramePr>
        <p:xfrm>
          <a:off x="2124075" y="3500438"/>
          <a:ext cx="2965450" cy="950912"/>
        </p:xfrm>
        <a:graphic>
          <a:graphicData uri="http://schemas.openxmlformats.org/presentationml/2006/ole">
            <mc:AlternateContent xmlns:mc="http://schemas.openxmlformats.org/markup-compatibility/2006">
              <mc:Choice xmlns:v="urn:schemas-microsoft-com:vml" Requires="v">
                <p:oleObj spid="_x0000_s156070" name="公式" r:id="rId3" imgW="1422400" imgH="457200" progId="Equation.3">
                  <p:embed/>
                </p:oleObj>
              </mc:Choice>
              <mc:Fallback>
                <p:oleObj name="公式" r:id="rId3" imgW="1422400" imgH="457200" progId="Equation.3">
                  <p:embed/>
                  <p:pic>
                    <p:nvPicPr>
                      <p:cNvPr id="18534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075" y="3500438"/>
                        <a:ext cx="2965450" cy="950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5347" name="Text Box 3"/>
          <p:cNvSpPr txBox="1">
            <a:spLocks noChangeArrowheads="1"/>
          </p:cNvSpPr>
          <p:nvPr/>
        </p:nvSpPr>
        <p:spPr bwMode="auto">
          <a:xfrm>
            <a:off x="6011863" y="3500438"/>
            <a:ext cx="2411412"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在远离带电圆面处，相当于点电荷的场强。  </a:t>
            </a:r>
          </a:p>
        </p:txBody>
      </p:sp>
      <p:sp>
        <p:nvSpPr>
          <p:cNvPr id="185348" name="Text Box 4"/>
          <p:cNvSpPr txBox="1">
            <a:spLocks noChangeArrowheads="1"/>
          </p:cNvSpPr>
          <p:nvPr/>
        </p:nvSpPr>
        <p:spPr bwMode="auto">
          <a:xfrm>
            <a:off x="468313" y="6035675"/>
            <a:ext cx="792003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相当于无限大带电平面附近的电场，可看成是均匀场，场强垂直于板面，正负由电荷的符号决定。</a:t>
            </a:r>
          </a:p>
        </p:txBody>
      </p:sp>
      <p:graphicFrame>
        <p:nvGraphicFramePr>
          <p:cNvPr id="185349" name="Object 5"/>
          <p:cNvGraphicFramePr>
            <a:graphicFrameLocks noChangeAspect="1"/>
          </p:cNvGraphicFramePr>
          <p:nvPr/>
        </p:nvGraphicFramePr>
        <p:xfrm>
          <a:off x="3708400" y="4868863"/>
          <a:ext cx="1371600" cy="1063625"/>
        </p:xfrm>
        <a:graphic>
          <a:graphicData uri="http://schemas.openxmlformats.org/presentationml/2006/ole">
            <mc:AlternateContent xmlns:mc="http://schemas.openxmlformats.org/markup-compatibility/2006">
              <mc:Choice xmlns:v="urn:schemas-microsoft-com:vml" Requires="v">
                <p:oleObj spid="_x0000_s156071" name="公式" r:id="rId5" imgW="571252" imgH="444307" progId="Equation.3">
                  <p:embed/>
                </p:oleObj>
              </mc:Choice>
              <mc:Fallback>
                <p:oleObj name="公式" r:id="rId5" imgW="571252" imgH="444307" progId="Equation.3">
                  <p:embed/>
                  <p:pic>
                    <p:nvPicPr>
                      <p:cNvPr id="185349"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8400" y="4868863"/>
                        <a:ext cx="1371600" cy="106362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5350" name="Text Box 6"/>
          <p:cNvSpPr txBox="1">
            <a:spLocks noChangeArrowheads="1"/>
          </p:cNvSpPr>
          <p:nvPr/>
        </p:nvSpPr>
        <p:spPr bwMode="auto">
          <a:xfrm>
            <a:off x="539750" y="5013325"/>
            <a:ext cx="2547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a:ea typeface="楷体_GB2312"/>
              </a:rPr>
              <a:t>2.</a:t>
            </a:r>
            <a:r>
              <a:rPr lang="zh-CN" altLang="en-US" sz="2400">
                <a:ea typeface="楷体_GB2312"/>
              </a:rPr>
              <a:t>当</a:t>
            </a:r>
            <a:r>
              <a:rPr lang="en-US" altLang="zh-CN" sz="2400" i="1">
                <a:ea typeface="楷体_GB2312"/>
              </a:rPr>
              <a:t>x&lt;&lt;R</a:t>
            </a:r>
            <a:endParaRPr lang="en-US" altLang="zh-CN" sz="2000" b="0">
              <a:ea typeface="楷体_GB2312"/>
            </a:endParaRPr>
          </a:p>
        </p:txBody>
      </p:sp>
      <p:sp>
        <p:nvSpPr>
          <p:cNvPr id="185351" name="Text Box 7"/>
          <p:cNvSpPr txBox="1">
            <a:spLocks noChangeArrowheads="1"/>
          </p:cNvSpPr>
          <p:nvPr/>
        </p:nvSpPr>
        <p:spPr bwMode="auto">
          <a:xfrm>
            <a:off x="395288" y="1412875"/>
            <a:ext cx="310197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3600">
                <a:solidFill>
                  <a:srgbClr val="FF3300"/>
                </a:solidFill>
                <a:ea typeface="楷体_GB2312"/>
              </a:rPr>
              <a:t>讨论： </a:t>
            </a:r>
          </a:p>
          <a:p>
            <a:pPr eaLnBrk="1" hangingPunct="1">
              <a:spcBef>
                <a:spcPct val="0"/>
              </a:spcBef>
              <a:buFontTx/>
              <a:buNone/>
            </a:pPr>
            <a:r>
              <a:rPr lang="en-US" altLang="zh-CN" sz="2400">
                <a:ea typeface="楷体_GB2312"/>
              </a:rPr>
              <a:t>1.</a:t>
            </a:r>
            <a:r>
              <a:rPr lang="zh-CN" altLang="en-US" sz="2400">
                <a:ea typeface="楷体_GB2312"/>
              </a:rPr>
              <a:t>当</a:t>
            </a:r>
            <a:r>
              <a:rPr lang="en-US" altLang="zh-CN" sz="2400" i="1">
                <a:ea typeface="楷体_GB2312"/>
              </a:rPr>
              <a:t>x&gt;&gt;R</a:t>
            </a:r>
          </a:p>
        </p:txBody>
      </p:sp>
      <p:graphicFrame>
        <p:nvGraphicFramePr>
          <p:cNvPr id="185352" name="Object 8"/>
          <p:cNvGraphicFramePr>
            <a:graphicFrameLocks noChangeAspect="1"/>
          </p:cNvGraphicFramePr>
          <p:nvPr/>
        </p:nvGraphicFramePr>
        <p:xfrm>
          <a:off x="1422400" y="201613"/>
          <a:ext cx="3638550" cy="1011237"/>
        </p:xfrm>
        <a:graphic>
          <a:graphicData uri="http://schemas.openxmlformats.org/presentationml/2006/ole">
            <mc:AlternateContent xmlns:mc="http://schemas.openxmlformats.org/markup-compatibility/2006">
              <mc:Choice xmlns:v="urn:schemas-microsoft-com:vml" Requires="v">
                <p:oleObj spid="_x0000_s156072" name="公式" r:id="rId7" imgW="1549400" imgH="469900" progId="Equation.3">
                  <p:embed/>
                </p:oleObj>
              </mc:Choice>
              <mc:Fallback>
                <p:oleObj name="公式" r:id="rId7" imgW="1549400" imgH="469900" progId="Equation.3">
                  <p:embed/>
                  <p:pic>
                    <p:nvPicPr>
                      <p:cNvPr id="185352"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22400" y="201613"/>
                        <a:ext cx="3638550" cy="1011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5353" name="Object 9"/>
          <p:cNvGraphicFramePr>
            <a:graphicFrameLocks noChangeAspect="1"/>
          </p:cNvGraphicFramePr>
          <p:nvPr/>
        </p:nvGraphicFramePr>
        <p:xfrm>
          <a:off x="1520825" y="2349500"/>
          <a:ext cx="6029325" cy="1090613"/>
        </p:xfrm>
        <a:graphic>
          <a:graphicData uri="http://schemas.openxmlformats.org/presentationml/2006/ole">
            <mc:AlternateContent xmlns:mc="http://schemas.openxmlformats.org/markup-compatibility/2006">
              <mc:Choice xmlns:v="urn:schemas-microsoft-com:vml" Requires="v">
                <p:oleObj spid="_x0000_s156073" name="Equation" r:id="rId9" imgW="2730500" imgH="495300" progId="Equation.DSMT4">
                  <p:embed/>
                </p:oleObj>
              </mc:Choice>
              <mc:Fallback>
                <p:oleObj name="Equation" r:id="rId9" imgW="2730500" imgH="495300" progId="Equation.DSMT4">
                  <p:embed/>
                  <p:pic>
                    <p:nvPicPr>
                      <p:cNvPr id="185353"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20825" y="2349500"/>
                        <a:ext cx="6029325" cy="1090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5354" name="Text Box 10"/>
          <p:cNvSpPr txBox="1">
            <a:spLocks noChangeArrowheads="1"/>
          </p:cNvSpPr>
          <p:nvPr/>
        </p:nvSpPr>
        <p:spPr bwMode="auto">
          <a:xfrm>
            <a:off x="1835150" y="1916113"/>
            <a:ext cx="26844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2800">
                <a:ea typeface="楷体_GB2312"/>
              </a:rPr>
              <a:t>根据泰</a:t>
            </a:r>
            <a:r>
              <a:rPr lang="zh-CN" altLang="en-US" sz="2800">
                <a:ea typeface="楷体_GB2312"/>
              </a:rPr>
              <a:t>勒展开：</a:t>
            </a:r>
          </a:p>
        </p:txBody>
      </p:sp>
      <p:grpSp>
        <p:nvGrpSpPr>
          <p:cNvPr id="185355" name="Group 11"/>
          <p:cNvGrpSpPr>
            <a:grpSpLocks/>
          </p:cNvGrpSpPr>
          <p:nvPr/>
        </p:nvGrpSpPr>
        <p:grpSpPr bwMode="auto">
          <a:xfrm>
            <a:off x="5508625" y="188913"/>
            <a:ext cx="3365500" cy="2035175"/>
            <a:chOff x="3504" y="288"/>
            <a:chExt cx="2312" cy="1440"/>
          </a:xfrm>
        </p:grpSpPr>
        <p:sp>
          <p:nvSpPr>
            <p:cNvPr id="53260" name="Rectangle 12"/>
            <p:cNvSpPr>
              <a:spLocks noChangeArrowheads="1"/>
            </p:cNvSpPr>
            <p:nvPr/>
          </p:nvSpPr>
          <p:spPr bwMode="auto">
            <a:xfrm>
              <a:off x="3504" y="288"/>
              <a:ext cx="2256" cy="1440"/>
            </a:xfrm>
            <a:prstGeom prst="rect">
              <a:avLst/>
            </a:prstGeom>
            <a:solidFill>
              <a:srgbClr val="FFFF66"/>
            </a:solidFill>
            <a:ln w="127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pSp>
          <p:nvGrpSpPr>
            <p:cNvPr id="53261" name="Group 13"/>
            <p:cNvGrpSpPr>
              <a:grpSpLocks/>
            </p:cNvGrpSpPr>
            <p:nvPr/>
          </p:nvGrpSpPr>
          <p:grpSpPr bwMode="auto">
            <a:xfrm>
              <a:off x="3600" y="384"/>
              <a:ext cx="2216" cy="1073"/>
              <a:chOff x="2688" y="1008"/>
              <a:chExt cx="2696" cy="1073"/>
            </a:xfrm>
          </p:grpSpPr>
          <p:sp>
            <p:nvSpPr>
              <p:cNvPr id="53262" name="AutoShape 14"/>
              <p:cNvSpPr>
                <a:spLocks noChangeArrowheads="1"/>
              </p:cNvSpPr>
              <p:nvPr/>
            </p:nvSpPr>
            <p:spPr bwMode="auto">
              <a:xfrm>
                <a:off x="4624" y="1310"/>
                <a:ext cx="256" cy="240"/>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a:solidFill>
                      <a:srgbClr val="FF0000"/>
                    </a:solidFill>
                    <a:ea typeface="楷体_GB2312"/>
                  </a:rPr>
                  <a:t>d</a:t>
                </a:r>
                <a:r>
                  <a:rPr lang="en-US" altLang="zh-CN" sz="2200" i="1">
                    <a:solidFill>
                      <a:srgbClr val="FF0000"/>
                    </a:solidFill>
                    <a:ea typeface="楷体_GB2312"/>
                  </a:rPr>
                  <a:t>E</a:t>
                </a:r>
                <a:endParaRPr lang="en-US" altLang="zh-CN" sz="2200">
                  <a:solidFill>
                    <a:srgbClr val="FF0000"/>
                  </a:solidFill>
                  <a:ea typeface="楷体_GB2312"/>
                </a:endParaRPr>
              </a:p>
              <a:p>
                <a:pPr algn="just" eaLnBrk="1" hangingPunct="1">
                  <a:spcBef>
                    <a:spcPct val="0"/>
                  </a:spcBef>
                  <a:buFontTx/>
                  <a:buNone/>
                </a:pPr>
                <a:endParaRPr lang="en-US" altLang="zh-CN" sz="1000" b="0">
                  <a:ea typeface="楷体_GB2312"/>
                </a:endParaRPr>
              </a:p>
            </p:txBody>
          </p:sp>
          <p:sp>
            <p:nvSpPr>
              <p:cNvPr id="53263" name="Line 15"/>
              <p:cNvSpPr>
                <a:spLocks noChangeShapeType="1"/>
              </p:cNvSpPr>
              <p:nvPr/>
            </p:nvSpPr>
            <p:spPr bwMode="auto">
              <a:xfrm>
                <a:off x="4742" y="1338"/>
                <a:ext cx="136" cy="0"/>
              </a:xfrm>
              <a:prstGeom prst="line">
                <a:avLst/>
              </a:prstGeom>
              <a:noFill/>
              <a:ln w="9525">
                <a:solidFill>
                  <a:srgbClr val="FF0000"/>
                </a:solidFill>
                <a:round/>
                <a:headEnd type="non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53264" name="Group 16"/>
              <p:cNvGrpSpPr>
                <a:grpSpLocks/>
              </p:cNvGrpSpPr>
              <p:nvPr/>
            </p:nvGrpSpPr>
            <p:grpSpPr bwMode="auto">
              <a:xfrm>
                <a:off x="2688" y="1025"/>
                <a:ext cx="2408" cy="1056"/>
                <a:chOff x="0" y="0"/>
                <a:chExt cx="20001" cy="20000"/>
              </a:xfrm>
            </p:grpSpPr>
            <p:grpSp>
              <p:nvGrpSpPr>
                <p:cNvPr id="53277" name="Group 17"/>
                <p:cNvGrpSpPr>
                  <a:grpSpLocks/>
                </p:cNvGrpSpPr>
                <p:nvPr/>
              </p:nvGrpSpPr>
              <p:grpSpPr bwMode="auto">
                <a:xfrm>
                  <a:off x="731" y="0"/>
                  <a:ext cx="19270" cy="20000"/>
                  <a:chOff x="0" y="0"/>
                  <a:chExt cx="20002" cy="20000"/>
                </a:xfrm>
              </p:grpSpPr>
              <p:grpSp>
                <p:nvGrpSpPr>
                  <p:cNvPr id="53279" name="Group 18"/>
                  <p:cNvGrpSpPr>
                    <a:grpSpLocks/>
                  </p:cNvGrpSpPr>
                  <p:nvPr/>
                </p:nvGrpSpPr>
                <p:grpSpPr bwMode="auto">
                  <a:xfrm>
                    <a:off x="0" y="0"/>
                    <a:ext cx="20002" cy="20000"/>
                    <a:chOff x="0" y="0"/>
                    <a:chExt cx="20002" cy="20000"/>
                  </a:xfrm>
                </p:grpSpPr>
                <p:grpSp>
                  <p:nvGrpSpPr>
                    <p:cNvPr id="53282" name="Group 19"/>
                    <p:cNvGrpSpPr>
                      <a:grpSpLocks/>
                    </p:cNvGrpSpPr>
                    <p:nvPr/>
                  </p:nvGrpSpPr>
                  <p:grpSpPr bwMode="auto">
                    <a:xfrm>
                      <a:off x="0" y="0"/>
                      <a:ext cx="20002" cy="20000"/>
                      <a:chOff x="0" y="0"/>
                      <a:chExt cx="20002" cy="20000"/>
                    </a:xfrm>
                  </p:grpSpPr>
                  <p:sp>
                    <p:nvSpPr>
                      <p:cNvPr id="53284" name="Oval 20"/>
                      <p:cNvSpPr>
                        <a:spLocks noChangeArrowheads="1"/>
                      </p:cNvSpPr>
                      <p:nvPr/>
                    </p:nvSpPr>
                    <p:spPr bwMode="auto">
                      <a:xfrm>
                        <a:off x="0" y="0"/>
                        <a:ext cx="5107" cy="20000"/>
                      </a:xfrm>
                      <a:prstGeom prst="ellipse">
                        <a:avLst/>
                      </a:prstGeom>
                      <a:solidFill>
                        <a:srgbClr val="00FFFF"/>
                      </a:solidFill>
                      <a:ln w="25400">
                        <a:solidFill>
                          <a:srgbClr val="0000FF"/>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pSp>
                    <p:nvGrpSpPr>
                      <p:cNvPr id="53285" name="Group 21"/>
                      <p:cNvGrpSpPr>
                        <a:grpSpLocks/>
                      </p:cNvGrpSpPr>
                      <p:nvPr/>
                    </p:nvGrpSpPr>
                    <p:grpSpPr bwMode="auto">
                      <a:xfrm>
                        <a:off x="2551" y="0"/>
                        <a:ext cx="17451" cy="9883"/>
                        <a:chOff x="0" y="234"/>
                        <a:chExt cx="20000" cy="19766"/>
                      </a:xfrm>
                    </p:grpSpPr>
                    <p:sp>
                      <p:nvSpPr>
                        <p:cNvPr id="53286" name="Line 22"/>
                        <p:cNvSpPr>
                          <a:spLocks noChangeShapeType="1"/>
                        </p:cNvSpPr>
                        <p:nvPr/>
                      </p:nvSpPr>
                      <p:spPr bwMode="auto">
                        <a:xfrm>
                          <a:off x="0" y="19986"/>
                          <a:ext cx="20000" cy="14"/>
                        </a:xfrm>
                        <a:prstGeom prst="line">
                          <a:avLst/>
                        </a:prstGeom>
                        <a:noFill/>
                        <a:ln w="9525">
                          <a:solidFill>
                            <a:srgbClr val="000000"/>
                          </a:solidFill>
                          <a:round/>
                          <a:headEnd type="non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287" name="Line 23"/>
                        <p:cNvSpPr>
                          <a:spLocks noChangeShapeType="1"/>
                        </p:cNvSpPr>
                        <p:nvPr/>
                      </p:nvSpPr>
                      <p:spPr bwMode="auto">
                        <a:xfrm>
                          <a:off x="0" y="234"/>
                          <a:ext cx="3" cy="19704"/>
                        </a:xfrm>
                        <a:prstGeom prst="line">
                          <a:avLst/>
                        </a:prstGeom>
                        <a:noFill/>
                        <a:ln w="12700">
                          <a:solidFill>
                            <a:srgbClr val="000000"/>
                          </a:solidFill>
                          <a:round/>
                          <a:headEnd type="none" w="med" len="sm"/>
                          <a:tailEnd type="non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288" name="Line 24"/>
                        <p:cNvSpPr>
                          <a:spLocks noChangeShapeType="1"/>
                        </p:cNvSpPr>
                        <p:nvPr/>
                      </p:nvSpPr>
                      <p:spPr bwMode="auto">
                        <a:xfrm>
                          <a:off x="0" y="6960"/>
                          <a:ext cx="13046" cy="13040"/>
                        </a:xfrm>
                        <a:prstGeom prst="line">
                          <a:avLst/>
                        </a:prstGeom>
                        <a:noFill/>
                        <a:ln w="12700">
                          <a:solidFill>
                            <a:srgbClr val="000000"/>
                          </a:solidFill>
                          <a:round/>
                          <a:headEnd type="none" w="med" len="sm"/>
                          <a:tailEnd type="non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289" name="Line 25"/>
                        <p:cNvSpPr>
                          <a:spLocks noChangeShapeType="1"/>
                        </p:cNvSpPr>
                        <p:nvPr/>
                      </p:nvSpPr>
                      <p:spPr bwMode="auto">
                        <a:xfrm>
                          <a:off x="12804" y="19680"/>
                          <a:ext cx="4035" cy="320"/>
                        </a:xfrm>
                        <a:prstGeom prst="line">
                          <a:avLst/>
                        </a:prstGeom>
                        <a:noFill/>
                        <a:ln w="25400">
                          <a:solidFill>
                            <a:srgbClr val="FF0000"/>
                          </a:solidFill>
                          <a:round/>
                          <a:headEnd type="non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53283" name="Oval 26"/>
                    <p:cNvSpPr>
                      <a:spLocks noChangeArrowheads="1"/>
                    </p:cNvSpPr>
                    <p:nvPr/>
                  </p:nvSpPr>
                  <p:spPr bwMode="auto">
                    <a:xfrm>
                      <a:off x="1241" y="2878"/>
                      <a:ext cx="2623" cy="13790"/>
                    </a:xfrm>
                    <a:prstGeom prst="ellipse">
                      <a:avLst/>
                    </a:prstGeom>
                    <a:solidFill>
                      <a:srgbClr val="00FFFF"/>
                    </a:solidFill>
                    <a:ln w="50800">
                      <a:solidFill>
                        <a:srgbClr val="FF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pSp>
              <p:sp>
                <p:nvSpPr>
                  <p:cNvPr id="53280" name="Line 27"/>
                  <p:cNvSpPr>
                    <a:spLocks noChangeShapeType="1"/>
                  </p:cNvSpPr>
                  <p:nvPr/>
                </p:nvSpPr>
                <p:spPr bwMode="auto">
                  <a:xfrm>
                    <a:off x="2551" y="3021"/>
                    <a:ext cx="3" cy="6824"/>
                  </a:xfrm>
                  <a:prstGeom prst="line">
                    <a:avLst/>
                  </a:prstGeom>
                  <a:noFill/>
                  <a:ln w="12700">
                    <a:solidFill>
                      <a:srgbClr val="000000"/>
                    </a:solidFill>
                    <a:round/>
                    <a:headEnd type="none" w="med" len="sm"/>
                    <a:tailEnd type="non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281" name="Line 28"/>
                  <p:cNvSpPr>
                    <a:spLocks noChangeShapeType="1"/>
                  </p:cNvSpPr>
                  <p:nvPr/>
                </p:nvSpPr>
                <p:spPr bwMode="auto">
                  <a:xfrm>
                    <a:off x="2551" y="9845"/>
                    <a:ext cx="1451" cy="7"/>
                  </a:xfrm>
                  <a:prstGeom prst="line">
                    <a:avLst/>
                  </a:prstGeom>
                  <a:noFill/>
                  <a:ln w="12700">
                    <a:solidFill>
                      <a:srgbClr val="000000"/>
                    </a:solidFill>
                    <a:round/>
                    <a:headEnd type="none" w="med" len="sm"/>
                    <a:tailEnd type="non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53278" name="AutoShape 29"/>
                <p:cNvSpPr>
                  <a:spLocks noChangeArrowheads="1"/>
                </p:cNvSpPr>
                <p:nvPr/>
              </p:nvSpPr>
              <p:spPr bwMode="auto">
                <a:xfrm>
                  <a:off x="0" y="8482"/>
                  <a:ext cx="1864" cy="3945"/>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1000" b="0">
                    <a:ea typeface="楷体_GB2312"/>
                  </a:endParaRPr>
                </a:p>
              </p:txBody>
            </p:sp>
          </p:grpSp>
          <p:sp>
            <p:nvSpPr>
              <p:cNvPr id="53265" name="AutoShape 30"/>
              <p:cNvSpPr>
                <a:spLocks noChangeArrowheads="1"/>
              </p:cNvSpPr>
              <p:nvPr/>
            </p:nvSpPr>
            <p:spPr bwMode="auto">
              <a:xfrm>
                <a:off x="2952" y="1328"/>
                <a:ext cx="136" cy="206"/>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1800" i="1">
                    <a:ea typeface="楷体_GB2312"/>
                  </a:rPr>
                  <a:t>R</a:t>
                </a:r>
                <a:endParaRPr lang="en-US" altLang="zh-CN" sz="1000" b="0">
                  <a:ea typeface="楷体_GB2312"/>
                </a:endParaRPr>
              </a:p>
            </p:txBody>
          </p:sp>
          <p:sp>
            <p:nvSpPr>
              <p:cNvPr id="53266" name="AutoShape 31"/>
              <p:cNvSpPr>
                <a:spLocks noChangeArrowheads="1"/>
              </p:cNvSpPr>
              <p:nvPr/>
            </p:nvSpPr>
            <p:spPr bwMode="auto">
              <a:xfrm>
                <a:off x="2704" y="1008"/>
                <a:ext cx="224" cy="216"/>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i="1">
                    <a:solidFill>
                      <a:srgbClr val="0000FF"/>
                    </a:solidFill>
                    <a:ea typeface="楷体_GB2312"/>
                    <a:sym typeface="Symbol" panose="05050102010706020507" pitchFamily="18" charset="2"/>
                  </a:rPr>
                  <a:t></a:t>
                </a:r>
                <a:endParaRPr lang="en-US" altLang="zh-CN" sz="2200">
                  <a:solidFill>
                    <a:srgbClr val="0000FF"/>
                  </a:solidFill>
                  <a:ea typeface="楷体_GB2312"/>
                </a:endParaRPr>
              </a:p>
              <a:p>
                <a:pPr algn="just" eaLnBrk="1" hangingPunct="1">
                  <a:spcBef>
                    <a:spcPct val="0"/>
                  </a:spcBef>
                  <a:buFontTx/>
                  <a:buNone/>
                </a:pPr>
                <a:endParaRPr lang="en-US" altLang="zh-CN" sz="1000" b="0">
                  <a:ea typeface="楷体_GB2312"/>
                </a:endParaRPr>
              </a:p>
            </p:txBody>
          </p:sp>
          <p:sp>
            <p:nvSpPr>
              <p:cNvPr id="53267" name="AutoShape 32"/>
              <p:cNvSpPr>
                <a:spLocks noChangeArrowheads="1"/>
              </p:cNvSpPr>
              <p:nvPr/>
            </p:nvSpPr>
            <p:spPr bwMode="auto">
              <a:xfrm>
                <a:off x="5160" y="1423"/>
                <a:ext cx="224" cy="185"/>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i="1">
                    <a:solidFill>
                      <a:srgbClr val="000000"/>
                    </a:solidFill>
                    <a:ea typeface="楷体_GB2312"/>
                  </a:rPr>
                  <a:t>x</a:t>
                </a:r>
                <a:endParaRPr lang="en-US" altLang="zh-CN" sz="1000" b="0">
                  <a:ea typeface="楷体_GB2312"/>
                </a:endParaRPr>
              </a:p>
            </p:txBody>
          </p:sp>
          <p:sp>
            <p:nvSpPr>
              <p:cNvPr id="53268" name="AutoShape 33"/>
              <p:cNvSpPr>
                <a:spLocks noChangeArrowheads="1"/>
              </p:cNvSpPr>
              <p:nvPr/>
            </p:nvSpPr>
            <p:spPr bwMode="auto">
              <a:xfrm>
                <a:off x="4328" y="1412"/>
                <a:ext cx="280" cy="208"/>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600">
                    <a:solidFill>
                      <a:srgbClr val="0000FF"/>
                    </a:solidFill>
                    <a:ea typeface="楷体_GB2312"/>
                  </a:rPr>
                  <a:t>·</a:t>
                </a:r>
                <a:endParaRPr lang="en-US" altLang="zh-CN" sz="1000" b="0">
                  <a:ea typeface="楷体_GB2312"/>
                </a:endParaRPr>
              </a:p>
            </p:txBody>
          </p:sp>
          <p:sp>
            <p:nvSpPr>
              <p:cNvPr id="53269" name="AutoShape 34"/>
              <p:cNvSpPr>
                <a:spLocks noChangeArrowheads="1"/>
              </p:cNvSpPr>
              <p:nvPr/>
            </p:nvSpPr>
            <p:spPr bwMode="auto">
              <a:xfrm>
                <a:off x="4327" y="1287"/>
                <a:ext cx="193" cy="247"/>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1800">
                    <a:solidFill>
                      <a:srgbClr val="0000FF"/>
                    </a:solidFill>
                    <a:ea typeface="楷体_GB2312"/>
                  </a:rPr>
                  <a:t>p</a:t>
                </a:r>
                <a:endParaRPr lang="en-US" altLang="zh-CN" sz="1000" b="0">
                  <a:ea typeface="楷体_GB2312"/>
                </a:endParaRPr>
              </a:p>
            </p:txBody>
          </p:sp>
          <p:sp>
            <p:nvSpPr>
              <p:cNvPr id="53270" name="Line 35"/>
              <p:cNvSpPr>
                <a:spLocks noChangeShapeType="1"/>
              </p:cNvSpPr>
              <p:nvPr/>
            </p:nvSpPr>
            <p:spPr bwMode="auto">
              <a:xfrm>
                <a:off x="3080" y="1551"/>
                <a:ext cx="96" cy="201"/>
              </a:xfrm>
              <a:prstGeom prst="line">
                <a:avLst/>
              </a:prstGeom>
              <a:noFill/>
              <a:ln w="9525">
                <a:solidFill>
                  <a:srgbClr val="000000"/>
                </a:solidFill>
                <a:round/>
                <a:headEnd type="non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271" name="Line 36"/>
              <p:cNvSpPr>
                <a:spLocks noChangeShapeType="1"/>
              </p:cNvSpPr>
              <p:nvPr/>
            </p:nvSpPr>
            <p:spPr bwMode="auto">
              <a:xfrm>
                <a:off x="3200" y="1775"/>
                <a:ext cx="40" cy="89"/>
              </a:xfrm>
              <a:prstGeom prst="line">
                <a:avLst/>
              </a:prstGeom>
              <a:noFill/>
              <a:ln w="9525">
                <a:solidFill>
                  <a:srgbClr val="000000"/>
                </a:solidFill>
                <a:round/>
                <a:headEnd type="triangle" w="med" len="sm"/>
                <a:tailEnd type="non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272" name="AutoShape 37"/>
              <p:cNvSpPr>
                <a:spLocks noChangeArrowheads="1"/>
              </p:cNvSpPr>
              <p:nvPr/>
            </p:nvSpPr>
            <p:spPr bwMode="auto">
              <a:xfrm>
                <a:off x="3056" y="1607"/>
                <a:ext cx="120" cy="192"/>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1800" i="1">
                    <a:ea typeface="楷体_GB2312"/>
                  </a:rPr>
                  <a:t>r</a:t>
                </a:r>
                <a:endParaRPr lang="en-US" altLang="zh-CN" sz="1000" b="0">
                  <a:ea typeface="楷体_GB2312"/>
                </a:endParaRPr>
              </a:p>
            </p:txBody>
          </p:sp>
          <p:sp>
            <p:nvSpPr>
              <p:cNvPr id="53273" name="AutoShape 38"/>
              <p:cNvSpPr>
                <a:spLocks noChangeArrowheads="1"/>
              </p:cNvSpPr>
              <p:nvPr/>
            </p:nvSpPr>
            <p:spPr bwMode="auto">
              <a:xfrm>
                <a:off x="2992" y="1479"/>
                <a:ext cx="128" cy="208"/>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1800">
                    <a:ea typeface="楷体_GB2312"/>
                  </a:rPr>
                  <a:t>o</a:t>
                </a:r>
                <a:endParaRPr lang="en-US" altLang="zh-CN" sz="1000" b="0">
                  <a:ea typeface="楷体_GB2312"/>
                </a:endParaRPr>
              </a:p>
            </p:txBody>
          </p:sp>
          <p:sp>
            <p:nvSpPr>
              <p:cNvPr id="53274" name="AutoShape 39"/>
              <p:cNvSpPr>
                <a:spLocks noChangeArrowheads="1"/>
              </p:cNvSpPr>
              <p:nvPr/>
            </p:nvSpPr>
            <p:spPr bwMode="auto">
              <a:xfrm>
                <a:off x="3200" y="1631"/>
                <a:ext cx="160" cy="200"/>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1800">
                    <a:ea typeface="楷体_GB2312"/>
                  </a:rPr>
                  <a:t>d</a:t>
                </a:r>
                <a:r>
                  <a:rPr lang="en-US" altLang="zh-CN" sz="1800" i="1">
                    <a:ea typeface="楷体_GB2312"/>
                  </a:rPr>
                  <a:t>r</a:t>
                </a:r>
                <a:endParaRPr lang="en-US" altLang="zh-CN" sz="1000" b="0">
                  <a:ea typeface="楷体_GB2312"/>
                </a:endParaRPr>
              </a:p>
            </p:txBody>
          </p:sp>
          <p:sp>
            <p:nvSpPr>
              <p:cNvPr id="53275" name="AutoShape 40"/>
              <p:cNvSpPr>
                <a:spLocks noChangeArrowheads="1"/>
              </p:cNvSpPr>
              <p:nvPr/>
            </p:nvSpPr>
            <p:spPr bwMode="auto">
              <a:xfrm>
                <a:off x="2928" y="1821"/>
                <a:ext cx="416" cy="203"/>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dirty="0" err="1">
                    <a:solidFill>
                      <a:srgbClr val="FF0000"/>
                    </a:solidFill>
                    <a:ea typeface="楷体_GB2312"/>
                  </a:rPr>
                  <a:t>d</a:t>
                </a:r>
                <a:r>
                  <a:rPr lang="en-US" altLang="zh-CN" sz="2200" i="1" dirty="0" err="1">
                    <a:solidFill>
                      <a:srgbClr val="FF0000"/>
                    </a:solidFill>
                    <a:ea typeface="楷体_GB2312"/>
                  </a:rPr>
                  <a:t>q</a:t>
                </a:r>
                <a:endParaRPr lang="en-US" altLang="zh-CN" sz="1000" b="0" dirty="0">
                  <a:ea typeface="楷体_GB2312"/>
                </a:endParaRPr>
              </a:p>
            </p:txBody>
          </p:sp>
          <p:sp>
            <p:nvSpPr>
              <p:cNvPr id="53276" name="Rectangle 41"/>
              <p:cNvSpPr>
                <a:spLocks noChangeArrowheads="1"/>
              </p:cNvSpPr>
              <p:nvPr/>
            </p:nvSpPr>
            <p:spPr bwMode="auto">
              <a:xfrm>
                <a:off x="4303" y="1502"/>
                <a:ext cx="241"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i="1">
                    <a:solidFill>
                      <a:srgbClr val="000000"/>
                    </a:solidFill>
                    <a:ea typeface="楷体_GB2312"/>
                  </a:rPr>
                  <a:t>x</a:t>
                </a:r>
                <a:endParaRPr lang="en-US" altLang="zh-CN" sz="1000" b="0">
                  <a:ea typeface="楷体_GB2312"/>
                </a:endParaRPr>
              </a:p>
              <a:p>
                <a:pPr algn="just" eaLnBrk="1" hangingPunct="1">
                  <a:spcBef>
                    <a:spcPct val="0"/>
                  </a:spcBef>
                  <a:buFontTx/>
                  <a:buNone/>
                </a:pPr>
                <a:endParaRPr lang="en-US" altLang="zh-CN" sz="1000" b="0">
                  <a:ea typeface="楷体_GB2312"/>
                </a:endParaRPr>
              </a:p>
            </p:txBody>
          </p:sp>
        </p:grpSp>
      </p:grpSp>
    </p:spTree>
    <p:extLst>
      <p:ext uri="{BB962C8B-B14F-4D97-AF65-F5344CB8AC3E}">
        <p14:creationId xmlns:p14="http://schemas.microsoft.com/office/powerpoint/2010/main" val="4294755080"/>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85352"/>
                                        </p:tgtEl>
                                        <p:attrNameLst>
                                          <p:attrName>style.visibility</p:attrName>
                                        </p:attrNameLst>
                                      </p:cBhvr>
                                      <p:to>
                                        <p:strVal val="visible"/>
                                      </p:to>
                                    </p:set>
                                    <p:animEffect transition="in" filter="wipe(left)">
                                      <p:cBhvr>
                                        <p:cTn id="7" dur="500"/>
                                        <p:tgtEl>
                                          <p:spTgt spid="1853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85355"/>
                                        </p:tgtEl>
                                        <p:attrNameLst>
                                          <p:attrName>style.visibility</p:attrName>
                                        </p:attrNameLst>
                                      </p:cBhvr>
                                      <p:to>
                                        <p:strVal val="visible"/>
                                      </p:to>
                                    </p:set>
                                    <p:animEffect transition="in" filter="dissolve">
                                      <p:cBhvr>
                                        <p:cTn id="12" dur="500"/>
                                        <p:tgtEl>
                                          <p:spTgt spid="1853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535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535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535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5346"/>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85347"/>
                                        </p:tgtEl>
                                        <p:attrNameLst>
                                          <p:attrName>style.visibility</p:attrName>
                                        </p:attrNameLst>
                                      </p:cBhvr>
                                      <p:to>
                                        <p:strVal val="visible"/>
                                      </p:to>
                                    </p:set>
                                    <p:animEffect transition="in" filter="wipe(left)">
                                      <p:cBhvr>
                                        <p:cTn id="29" dur="500"/>
                                        <p:tgtEl>
                                          <p:spTgt spid="18534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iterate type="lt">
                                    <p:tmPct val="100000"/>
                                  </p:iterate>
                                  <p:childTnLst>
                                    <p:set>
                                      <p:cBhvr>
                                        <p:cTn id="33" dur="1" fill="hold">
                                          <p:stCondLst>
                                            <p:cond delay="0"/>
                                          </p:stCondLst>
                                        </p:cTn>
                                        <p:tgtEl>
                                          <p:spTgt spid="185350">
                                            <p:txEl>
                                              <p:pRg st="0" end="0"/>
                                            </p:txEl>
                                          </p:spTgt>
                                        </p:tgtEl>
                                        <p:attrNameLst>
                                          <p:attrName>style.visibility</p:attrName>
                                        </p:attrNameLst>
                                      </p:cBhvr>
                                      <p:to>
                                        <p:strVal val="visible"/>
                                      </p:to>
                                    </p:set>
                                    <p:animEffect transition="in" filter="wipe(left)">
                                      <p:cBhvr>
                                        <p:cTn id="34" dur="75"/>
                                        <p:tgtEl>
                                          <p:spTgt spid="185350">
                                            <p:txEl>
                                              <p:pRg st="0" end="0"/>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185349"/>
                                        </p:tgtEl>
                                        <p:attrNameLst>
                                          <p:attrName>style.visibility</p:attrName>
                                        </p:attrNameLst>
                                      </p:cBhvr>
                                      <p:to>
                                        <p:strVal val="visible"/>
                                      </p:to>
                                    </p:set>
                                    <p:animEffect transition="in" filter="wipe(left)">
                                      <p:cBhvr>
                                        <p:cTn id="39" dur="500"/>
                                        <p:tgtEl>
                                          <p:spTgt spid="185349"/>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iterate type="lt">
                                    <p:tmPct val="100000"/>
                                  </p:iterate>
                                  <p:childTnLst>
                                    <p:set>
                                      <p:cBhvr>
                                        <p:cTn id="43" dur="1" fill="hold">
                                          <p:stCondLst>
                                            <p:cond delay="0"/>
                                          </p:stCondLst>
                                        </p:cTn>
                                        <p:tgtEl>
                                          <p:spTgt spid="185348">
                                            <p:txEl>
                                              <p:pRg st="0" end="0"/>
                                            </p:txEl>
                                          </p:spTgt>
                                        </p:tgtEl>
                                        <p:attrNameLst>
                                          <p:attrName>style.visibility</p:attrName>
                                        </p:attrNameLst>
                                      </p:cBhvr>
                                      <p:to>
                                        <p:strVal val="visible"/>
                                      </p:to>
                                    </p:set>
                                    <p:animEffect transition="in" filter="wipe(left)">
                                      <p:cBhvr>
                                        <p:cTn id="44" dur="75"/>
                                        <p:tgtEl>
                                          <p:spTgt spid="18534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7" grpId="0" autoUpdateAnimBg="0"/>
      <p:bldP spid="185348" grpId="0" build="p" autoUpdateAnimBg="0"/>
      <p:bldP spid="185350" grpId="0" build="p" autoUpdateAnimBg="0"/>
      <p:bldP spid="185351" grpId="0"/>
      <p:bldP spid="18535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3" name="Text Box 5"/>
          <p:cNvSpPr txBox="1">
            <a:spLocks noChangeArrowheads="1"/>
          </p:cNvSpPr>
          <p:nvPr/>
        </p:nvSpPr>
        <p:spPr bwMode="auto">
          <a:xfrm>
            <a:off x="323732" y="1799299"/>
            <a:ext cx="331667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a:ea typeface="楷体_GB2312"/>
              </a:rPr>
              <a:t>3</a:t>
            </a:r>
            <a:r>
              <a:rPr lang="zh-CN" altLang="en-US" sz="2000">
                <a:ea typeface="楷体_GB2312"/>
              </a:rPr>
              <a:t>、</a:t>
            </a:r>
            <a:r>
              <a:rPr lang="en-US" altLang="zh-CN" sz="2000">
                <a:ea typeface="楷体_GB2312"/>
              </a:rPr>
              <a:t> </a:t>
            </a:r>
            <a:r>
              <a:rPr lang="zh-CN" altLang="en-US" sz="2000">
                <a:latin typeface="楷体_GB2312"/>
                <a:ea typeface="楷体_GB2312"/>
              </a:rPr>
              <a:t>两个无限大均匀带等量异号电薄板周围的电场</a:t>
            </a:r>
          </a:p>
        </p:txBody>
      </p:sp>
      <p:graphicFrame>
        <p:nvGraphicFramePr>
          <p:cNvPr id="2" name="对象 1"/>
          <p:cNvGraphicFramePr>
            <a:graphicFrameLocks noChangeAspect="1"/>
          </p:cNvGraphicFramePr>
          <p:nvPr>
            <p:extLst>
              <p:ext uri="{D42A27DB-BD31-4B8C-83A1-F6EECF244321}">
                <p14:modId xmlns:p14="http://schemas.microsoft.com/office/powerpoint/2010/main" val="1373977213"/>
              </p:ext>
            </p:extLst>
          </p:nvPr>
        </p:nvGraphicFramePr>
        <p:xfrm>
          <a:off x="1547664" y="249958"/>
          <a:ext cx="1339850" cy="1063625"/>
        </p:xfrm>
        <a:graphic>
          <a:graphicData uri="http://schemas.openxmlformats.org/presentationml/2006/ole">
            <mc:AlternateContent xmlns:mc="http://schemas.openxmlformats.org/markup-compatibility/2006">
              <mc:Choice xmlns:v="urn:schemas-microsoft-com:vml" Requires="v">
                <p:oleObj spid="_x0000_s232682" name="Equation" r:id="rId4" imgW="558558" imgH="444307" progId="Equation.DSMT4">
                  <p:embed/>
                </p:oleObj>
              </mc:Choice>
              <mc:Fallback>
                <p:oleObj name="Equation" r:id="rId4" imgW="558558" imgH="444307" progId="Equation.DSMT4">
                  <p:embed/>
                  <p:pic>
                    <p:nvPicPr>
                      <p:cNvPr id="2"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664" y="249958"/>
                        <a:ext cx="1339850" cy="106362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840795892"/>
              </p:ext>
            </p:extLst>
          </p:nvPr>
        </p:nvGraphicFramePr>
        <p:xfrm>
          <a:off x="2891298" y="2872067"/>
          <a:ext cx="2249120" cy="1711396"/>
        </p:xfrm>
        <a:graphic>
          <a:graphicData uri="http://schemas.openxmlformats.org/presentationml/2006/ole">
            <mc:AlternateContent xmlns:mc="http://schemas.openxmlformats.org/markup-compatibility/2006">
              <mc:Choice xmlns:v="urn:schemas-microsoft-com:vml" Requires="v">
                <p:oleObj spid="_x0000_s232683" name="Equation" r:id="rId6" imgW="1180588" imgH="901309" progId="Equation.DSMT4">
                  <p:embed/>
                </p:oleObj>
              </mc:Choice>
              <mc:Fallback>
                <p:oleObj name="Equation" r:id="rId6" imgW="1180588" imgH="901309" progId="Equation.DSMT4">
                  <p:embed/>
                  <p:pic>
                    <p:nvPicPr>
                      <p:cNvPr id="3" name="对象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91298" y="2872067"/>
                        <a:ext cx="2249120" cy="1711396"/>
                      </a:xfrm>
                      <a:prstGeom prst="rect">
                        <a:avLst/>
                      </a:prstGeom>
                      <a:gradFill rotWithShape="0">
                        <a:gsLst>
                          <a:gs pos="0">
                            <a:schemeClr val="accent1"/>
                          </a:gs>
                          <a:gs pos="50000">
                            <a:srgbClr val="FFFFFF"/>
                          </a:gs>
                          <a:gs pos="100000">
                            <a:schemeClr val="accent1"/>
                          </a:gs>
                        </a:gsLst>
                        <a:lin ang="5400000" scaled="1"/>
                      </a:gradFill>
                      <a:ln>
                        <a:noFill/>
                      </a:ln>
                      <a:effectLst/>
                      <a:extLst/>
                    </p:spPr>
                  </p:pic>
                </p:oleObj>
              </mc:Fallback>
            </mc:AlternateContent>
          </a:graphicData>
        </a:graphic>
      </p:graphicFrame>
      <p:graphicFrame>
        <p:nvGraphicFramePr>
          <p:cNvPr id="30" name="Object 69"/>
          <p:cNvGraphicFramePr>
            <a:graphicFrameLocks noChangeAspect="1"/>
          </p:cNvGraphicFramePr>
          <p:nvPr>
            <p:extLst>
              <p:ext uri="{D42A27DB-BD31-4B8C-83A1-F6EECF244321}">
                <p14:modId xmlns:p14="http://schemas.microsoft.com/office/powerpoint/2010/main" val="130151546"/>
              </p:ext>
            </p:extLst>
          </p:nvPr>
        </p:nvGraphicFramePr>
        <p:xfrm>
          <a:off x="296348" y="3247917"/>
          <a:ext cx="2386392" cy="612662"/>
        </p:xfrm>
        <a:graphic>
          <a:graphicData uri="http://schemas.openxmlformats.org/presentationml/2006/ole">
            <mc:AlternateContent xmlns:mc="http://schemas.openxmlformats.org/markup-compatibility/2006">
              <mc:Choice xmlns:v="urn:schemas-microsoft-com:vml" Requires="v">
                <p:oleObj spid="_x0000_s232684" name="Equation" r:id="rId8" imgW="2108160" imgH="444240" progId="Equation.DSMT4">
                  <p:embed/>
                </p:oleObj>
              </mc:Choice>
              <mc:Fallback>
                <p:oleObj name="Equation" r:id="rId8" imgW="2108160" imgH="444240" progId="Equation.DSMT4">
                  <p:embed/>
                  <p:pic>
                    <p:nvPicPr>
                      <p:cNvPr id="30" name="Object 69"/>
                      <p:cNvPicPr>
                        <a:picLocks noChangeAspect="1" noChangeArrowheads="1"/>
                      </p:cNvPicPr>
                      <p:nvPr/>
                    </p:nvPicPr>
                    <p:blipFill>
                      <a:blip r:embed="rId9"/>
                      <a:srcRect/>
                      <a:stretch>
                        <a:fillRect/>
                      </a:stretch>
                    </p:blipFill>
                    <p:spPr bwMode="auto">
                      <a:xfrm>
                        <a:off x="296348" y="3247917"/>
                        <a:ext cx="2386392" cy="612662"/>
                      </a:xfrm>
                      <a:prstGeom prst="rect">
                        <a:avLst/>
                      </a:prstGeom>
                      <a:gradFill rotWithShape="0">
                        <a:gsLst>
                          <a:gs pos="0">
                            <a:schemeClr val="accent1"/>
                          </a:gs>
                          <a:gs pos="50000">
                            <a:srgbClr val="FFFFFF"/>
                          </a:gs>
                          <a:gs pos="100000">
                            <a:schemeClr val="accent1"/>
                          </a:gs>
                        </a:gsLst>
                        <a:lin ang="5400000" scaled="1"/>
                      </a:gradFill>
                      <a:ln>
                        <a:noFill/>
                      </a:ln>
                      <a:effectLst/>
                      <a:extLst/>
                    </p:spPr>
                  </p:pic>
                </p:oleObj>
              </mc:Fallback>
            </mc:AlternateContent>
          </a:graphicData>
        </a:graphic>
      </p:graphicFrame>
      <p:grpSp>
        <p:nvGrpSpPr>
          <p:cNvPr id="33" name="Group 40"/>
          <p:cNvGrpSpPr>
            <a:grpSpLocks/>
          </p:cNvGrpSpPr>
          <p:nvPr/>
        </p:nvGrpSpPr>
        <p:grpSpPr bwMode="auto">
          <a:xfrm>
            <a:off x="5749925" y="2489373"/>
            <a:ext cx="1447800" cy="1828800"/>
            <a:chOff x="240" y="1248"/>
            <a:chExt cx="912" cy="1152"/>
          </a:xfrm>
        </p:grpSpPr>
        <p:sp>
          <p:nvSpPr>
            <p:cNvPr id="54299" name="Line 41"/>
            <p:cNvSpPr>
              <a:spLocks noChangeShapeType="1"/>
            </p:cNvSpPr>
            <p:nvPr/>
          </p:nvSpPr>
          <p:spPr bwMode="auto">
            <a:xfrm>
              <a:off x="704" y="1952"/>
              <a:ext cx="432" cy="0"/>
            </a:xfrm>
            <a:prstGeom prst="line">
              <a:avLst/>
            </a:prstGeom>
            <a:noFill/>
            <a:ln w="25400">
              <a:solidFill>
                <a:srgbClr val="CC33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0" name="Line 42"/>
            <p:cNvSpPr>
              <a:spLocks noChangeShapeType="1"/>
            </p:cNvSpPr>
            <p:nvPr/>
          </p:nvSpPr>
          <p:spPr bwMode="auto">
            <a:xfrm>
              <a:off x="720" y="1248"/>
              <a:ext cx="0" cy="1152"/>
            </a:xfrm>
            <a:prstGeom prst="line">
              <a:avLst/>
            </a:prstGeom>
            <a:noFill/>
            <a:ln w="5715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4301" name="Object 43"/>
            <p:cNvGraphicFramePr>
              <a:graphicFrameLocks noChangeAspect="1"/>
            </p:cNvGraphicFramePr>
            <p:nvPr/>
          </p:nvGraphicFramePr>
          <p:xfrm>
            <a:off x="336" y="2160"/>
            <a:ext cx="388" cy="221"/>
          </p:xfrm>
          <a:graphic>
            <a:graphicData uri="http://schemas.openxmlformats.org/presentationml/2006/ole">
              <mc:AlternateContent xmlns:mc="http://schemas.openxmlformats.org/markup-compatibility/2006">
                <mc:Choice xmlns:v="urn:schemas-microsoft-com:vml" Requires="v">
                  <p:oleObj spid="_x0000_s232685" name="公式" r:id="rId10" imgW="266469" imgH="152268" progId="Equation.3">
                    <p:embed/>
                  </p:oleObj>
                </mc:Choice>
                <mc:Fallback>
                  <p:oleObj name="公式" r:id="rId10" imgW="266469" imgH="152268" progId="Equation.3">
                    <p:embed/>
                    <p:pic>
                      <p:nvPicPr>
                        <p:cNvPr id="54301" name="Object 4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6" y="2160"/>
                          <a:ext cx="388"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302" name="Line 44"/>
            <p:cNvSpPr>
              <a:spLocks noChangeShapeType="1"/>
            </p:cNvSpPr>
            <p:nvPr/>
          </p:nvSpPr>
          <p:spPr bwMode="auto">
            <a:xfrm flipH="1">
              <a:off x="256" y="1696"/>
              <a:ext cx="432" cy="0"/>
            </a:xfrm>
            <a:prstGeom prst="line">
              <a:avLst/>
            </a:prstGeom>
            <a:noFill/>
            <a:ln w="25400">
              <a:solidFill>
                <a:srgbClr val="CC33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3" name="Line 45"/>
            <p:cNvSpPr>
              <a:spLocks noChangeShapeType="1"/>
            </p:cNvSpPr>
            <p:nvPr/>
          </p:nvSpPr>
          <p:spPr bwMode="auto">
            <a:xfrm flipH="1">
              <a:off x="288" y="1952"/>
              <a:ext cx="432" cy="0"/>
            </a:xfrm>
            <a:prstGeom prst="line">
              <a:avLst/>
            </a:prstGeom>
            <a:noFill/>
            <a:ln w="25400">
              <a:solidFill>
                <a:srgbClr val="CC33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4" name="Line 46"/>
            <p:cNvSpPr>
              <a:spLocks noChangeShapeType="1"/>
            </p:cNvSpPr>
            <p:nvPr/>
          </p:nvSpPr>
          <p:spPr bwMode="auto">
            <a:xfrm>
              <a:off x="720" y="1440"/>
              <a:ext cx="432" cy="0"/>
            </a:xfrm>
            <a:prstGeom prst="line">
              <a:avLst/>
            </a:prstGeom>
            <a:noFill/>
            <a:ln w="25400">
              <a:solidFill>
                <a:srgbClr val="CC33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5" name="Line 47"/>
            <p:cNvSpPr>
              <a:spLocks noChangeShapeType="1"/>
            </p:cNvSpPr>
            <p:nvPr/>
          </p:nvSpPr>
          <p:spPr bwMode="auto">
            <a:xfrm>
              <a:off x="720" y="1696"/>
              <a:ext cx="432" cy="0"/>
            </a:xfrm>
            <a:prstGeom prst="line">
              <a:avLst/>
            </a:prstGeom>
            <a:noFill/>
            <a:ln w="25400">
              <a:solidFill>
                <a:srgbClr val="CC33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6" name="Line 48"/>
            <p:cNvSpPr>
              <a:spLocks noChangeShapeType="1"/>
            </p:cNvSpPr>
            <p:nvPr/>
          </p:nvSpPr>
          <p:spPr bwMode="auto">
            <a:xfrm flipH="1">
              <a:off x="240" y="1440"/>
              <a:ext cx="432" cy="0"/>
            </a:xfrm>
            <a:prstGeom prst="line">
              <a:avLst/>
            </a:prstGeom>
            <a:noFill/>
            <a:ln w="25400">
              <a:solidFill>
                <a:srgbClr val="CC33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2" name="Group 49"/>
          <p:cNvGrpSpPr>
            <a:grpSpLocks/>
          </p:cNvGrpSpPr>
          <p:nvPr/>
        </p:nvGrpSpPr>
        <p:grpSpPr bwMode="auto">
          <a:xfrm>
            <a:off x="5826125" y="2943398"/>
            <a:ext cx="685800" cy="863600"/>
            <a:chOff x="1888" y="1584"/>
            <a:chExt cx="432" cy="544"/>
          </a:xfrm>
        </p:grpSpPr>
        <p:sp>
          <p:nvSpPr>
            <p:cNvPr id="54296" name="Line 50"/>
            <p:cNvSpPr>
              <a:spLocks noChangeShapeType="1"/>
            </p:cNvSpPr>
            <p:nvPr/>
          </p:nvSpPr>
          <p:spPr bwMode="auto">
            <a:xfrm>
              <a:off x="1888" y="1584"/>
              <a:ext cx="432" cy="0"/>
            </a:xfrm>
            <a:prstGeom prst="line">
              <a:avLst/>
            </a:prstGeom>
            <a:noFill/>
            <a:ln w="25400">
              <a:solidFill>
                <a:srgbClr val="0000FF"/>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7" name="Line 51"/>
            <p:cNvSpPr>
              <a:spLocks noChangeShapeType="1"/>
            </p:cNvSpPr>
            <p:nvPr/>
          </p:nvSpPr>
          <p:spPr bwMode="auto">
            <a:xfrm>
              <a:off x="1888" y="1872"/>
              <a:ext cx="432" cy="0"/>
            </a:xfrm>
            <a:prstGeom prst="line">
              <a:avLst/>
            </a:prstGeom>
            <a:noFill/>
            <a:ln w="25400">
              <a:solidFill>
                <a:srgbClr val="0000FF"/>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8" name="Line 52"/>
            <p:cNvSpPr>
              <a:spLocks noChangeShapeType="1"/>
            </p:cNvSpPr>
            <p:nvPr/>
          </p:nvSpPr>
          <p:spPr bwMode="auto">
            <a:xfrm>
              <a:off x="1888" y="2128"/>
              <a:ext cx="432" cy="0"/>
            </a:xfrm>
            <a:prstGeom prst="line">
              <a:avLst/>
            </a:prstGeom>
            <a:noFill/>
            <a:ln w="25400">
              <a:solidFill>
                <a:srgbClr val="0000FF"/>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6" name="Group 53"/>
          <p:cNvGrpSpPr>
            <a:grpSpLocks/>
          </p:cNvGrpSpPr>
          <p:nvPr/>
        </p:nvGrpSpPr>
        <p:grpSpPr bwMode="auto">
          <a:xfrm>
            <a:off x="7223125" y="2794173"/>
            <a:ext cx="685800" cy="838200"/>
            <a:chOff x="1216" y="1440"/>
            <a:chExt cx="432" cy="528"/>
          </a:xfrm>
        </p:grpSpPr>
        <p:sp>
          <p:nvSpPr>
            <p:cNvPr id="54293" name="Line 54"/>
            <p:cNvSpPr>
              <a:spLocks noChangeShapeType="1"/>
            </p:cNvSpPr>
            <p:nvPr/>
          </p:nvSpPr>
          <p:spPr bwMode="auto">
            <a:xfrm>
              <a:off x="1216" y="1440"/>
              <a:ext cx="432" cy="0"/>
            </a:xfrm>
            <a:prstGeom prst="line">
              <a:avLst/>
            </a:prstGeom>
            <a:noFill/>
            <a:ln w="25400">
              <a:solidFill>
                <a:srgbClr val="CC33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4" name="Line 55"/>
            <p:cNvSpPr>
              <a:spLocks noChangeShapeType="1"/>
            </p:cNvSpPr>
            <p:nvPr/>
          </p:nvSpPr>
          <p:spPr bwMode="auto">
            <a:xfrm>
              <a:off x="1216" y="1968"/>
              <a:ext cx="432" cy="0"/>
            </a:xfrm>
            <a:prstGeom prst="line">
              <a:avLst/>
            </a:prstGeom>
            <a:noFill/>
            <a:ln w="25400">
              <a:solidFill>
                <a:srgbClr val="CC33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5" name="Line 56"/>
            <p:cNvSpPr>
              <a:spLocks noChangeShapeType="1"/>
            </p:cNvSpPr>
            <p:nvPr/>
          </p:nvSpPr>
          <p:spPr bwMode="auto">
            <a:xfrm>
              <a:off x="1216" y="1696"/>
              <a:ext cx="432" cy="0"/>
            </a:xfrm>
            <a:prstGeom prst="line">
              <a:avLst/>
            </a:prstGeom>
            <a:noFill/>
            <a:ln w="25400">
              <a:solidFill>
                <a:srgbClr val="CC33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50" name="Object 57"/>
          <p:cNvGraphicFramePr>
            <a:graphicFrameLocks noChangeAspect="1"/>
          </p:cNvGraphicFramePr>
          <p:nvPr>
            <p:extLst>
              <p:ext uri="{D42A27DB-BD31-4B8C-83A1-F6EECF244321}">
                <p14:modId xmlns:p14="http://schemas.microsoft.com/office/powerpoint/2010/main" val="179354240"/>
              </p:ext>
            </p:extLst>
          </p:nvPr>
        </p:nvGraphicFramePr>
        <p:xfrm>
          <a:off x="8012567" y="3936040"/>
          <a:ext cx="379412" cy="381000"/>
        </p:xfrm>
        <a:graphic>
          <a:graphicData uri="http://schemas.openxmlformats.org/presentationml/2006/ole">
            <mc:AlternateContent xmlns:mc="http://schemas.openxmlformats.org/markup-compatibility/2006">
              <mc:Choice xmlns:v="urn:schemas-microsoft-com:vml" Requires="v">
                <p:oleObj spid="_x0000_s232686" name="Equation" r:id="rId12" imgW="164885" imgH="164885" progId="Equation.DSMT4">
                  <p:embed/>
                </p:oleObj>
              </mc:Choice>
              <mc:Fallback>
                <p:oleObj name="Equation" r:id="rId12" imgW="164885" imgH="164885" progId="Equation.DSMT4">
                  <p:embed/>
                  <p:pic>
                    <p:nvPicPr>
                      <p:cNvPr id="50" name="Object 5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012567" y="3936040"/>
                        <a:ext cx="3794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 name="Object 58"/>
          <p:cNvGraphicFramePr>
            <a:graphicFrameLocks noChangeAspect="1"/>
          </p:cNvGraphicFramePr>
          <p:nvPr>
            <p:extLst>
              <p:ext uri="{D42A27DB-BD31-4B8C-83A1-F6EECF244321}">
                <p14:modId xmlns:p14="http://schemas.microsoft.com/office/powerpoint/2010/main" val="1839740350"/>
              </p:ext>
            </p:extLst>
          </p:nvPr>
        </p:nvGraphicFramePr>
        <p:xfrm>
          <a:off x="5501439" y="3901514"/>
          <a:ext cx="381000" cy="381000"/>
        </p:xfrm>
        <a:graphic>
          <a:graphicData uri="http://schemas.openxmlformats.org/presentationml/2006/ole">
            <mc:AlternateContent xmlns:mc="http://schemas.openxmlformats.org/markup-compatibility/2006">
              <mc:Choice xmlns:v="urn:schemas-microsoft-com:vml" Requires="v">
                <p:oleObj spid="_x0000_s232687" name="Equation" r:id="rId14" imgW="164885" imgH="164885" progId="Equation.DSMT4">
                  <p:embed/>
                </p:oleObj>
              </mc:Choice>
              <mc:Fallback>
                <p:oleObj name="Equation" r:id="rId14" imgW="164885" imgH="164885" progId="Equation.DSMT4">
                  <p:embed/>
                  <p:pic>
                    <p:nvPicPr>
                      <p:cNvPr id="51" name="Object 5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501439" y="3901514"/>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2" name="Group 59"/>
          <p:cNvGrpSpPr>
            <a:grpSpLocks/>
          </p:cNvGrpSpPr>
          <p:nvPr/>
        </p:nvGrpSpPr>
        <p:grpSpPr bwMode="auto">
          <a:xfrm>
            <a:off x="6526930" y="2441015"/>
            <a:ext cx="1301750" cy="1949450"/>
            <a:chOff x="4796" y="2832"/>
            <a:chExt cx="820" cy="1228"/>
          </a:xfrm>
        </p:grpSpPr>
        <p:sp>
          <p:nvSpPr>
            <p:cNvPr id="54284" name="Line 60"/>
            <p:cNvSpPr>
              <a:spLocks noChangeShapeType="1"/>
            </p:cNvSpPr>
            <p:nvPr/>
          </p:nvSpPr>
          <p:spPr bwMode="auto">
            <a:xfrm flipH="1">
              <a:off x="5164" y="3136"/>
              <a:ext cx="432" cy="0"/>
            </a:xfrm>
            <a:prstGeom prst="line">
              <a:avLst/>
            </a:prstGeom>
            <a:noFill/>
            <a:ln w="25400">
              <a:solidFill>
                <a:schemeClr val="hlink"/>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5" name="Line 61"/>
            <p:cNvSpPr>
              <a:spLocks noChangeShapeType="1"/>
            </p:cNvSpPr>
            <p:nvPr/>
          </p:nvSpPr>
          <p:spPr bwMode="auto">
            <a:xfrm flipH="1">
              <a:off x="5164" y="3424"/>
              <a:ext cx="432" cy="0"/>
            </a:xfrm>
            <a:prstGeom prst="line">
              <a:avLst/>
            </a:prstGeom>
            <a:noFill/>
            <a:ln w="25400">
              <a:solidFill>
                <a:schemeClr val="hlink"/>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6" name="Line 62"/>
            <p:cNvSpPr>
              <a:spLocks noChangeShapeType="1"/>
            </p:cNvSpPr>
            <p:nvPr/>
          </p:nvSpPr>
          <p:spPr bwMode="auto">
            <a:xfrm flipH="1">
              <a:off x="5164" y="3680"/>
              <a:ext cx="432" cy="0"/>
            </a:xfrm>
            <a:prstGeom prst="line">
              <a:avLst/>
            </a:prstGeom>
            <a:noFill/>
            <a:ln w="25400">
              <a:solidFill>
                <a:schemeClr val="hlink"/>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4287" name="Object 63"/>
            <p:cNvGraphicFramePr>
              <a:graphicFrameLocks noChangeAspect="1"/>
            </p:cNvGraphicFramePr>
            <p:nvPr/>
          </p:nvGraphicFramePr>
          <p:xfrm>
            <a:off x="5228" y="3856"/>
            <a:ext cx="388" cy="204"/>
          </p:xfrm>
          <a:graphic>
            <a:graphicData uri="http://schemas.openxmlformats.org/presentationml/2006/ole">
              <mc:AlternateContent xmlns:mc="http://schemas.openxmlformats.org/markup-compatibility/2006">
                <mc:Choice xmlns:v="urn:schemas-microsoft-com:vml" Requires="v">
                  <p:oleObj spid="_x0000_s232688" name="公式" r:id="rId16" imgW="266469" imgH="139579" progId="Equation.3">
                    <p:embed/>
                  </p:oleObj>
                </mc:Choice>
                <mc:Fallback>
                  <p:oleObj name="公式" r:id="rId16" imgW="266469" imgH="139579" progId="Equation.3">
                    <p:embed/>
                    <p:pic>
                      <p:nvPicPr>
                        <p:cNvPr id="54287" name="Object 6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228" y="3856"/>
                          <a:ext cx="388" cy="204"/>
                        </a:xfrm>
                        <a:prstGeom prst="rect">
                          <a:avLst/>
                        </a:prstGeom>
                        <a:noFill/>
                        <a:ln w="9525">
                          <a:solidFill>
                            <a:schemeClr va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88" name="Line 64"/>
            <p:cNvSpPr>
              <a:spLocks noChangeShapeType="1"/>
            </p:cNvSpPr>
            <p:nvPr/>
          </p:nvSpPr>
          <p:spPr bwMode="auto">
            <a:xfrm>
              <a:off x="5196" y="2832"/>
              <a:ext cx="0" cy="1152"/>
            </a:xfrm>
            <a:prstGeom prst="line">
              <a:avLst/>
            </a:prstGeom>
            <a:noFill/>
            <a:ln w="571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9" name="Line 65"/>
            <p:cNvSpPr>
              <a:spLocks noChangeShapeType="1"/>
            </p:cNvSpPr>
            <p:nvPr/>
          </p:nvSpPr>
          <p:spPr bwMode="auto">
            <a:xfrm>
              <a:off x="4796" y="3680"/>
              <a:ext cx="432" cy="0"/>
            </a:xfrm>
            <a:prstGeom prst="line">
              <a:avLst/>
            </a:prstGeom>
            <a:noFill/>
            <a:ln w="25400">
              <a:solidFill>
                <a:schemeClr val="hlink"/>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0" name="Line 66"/>
            <p:cNvSpPr>
              <a:spLocks noChangeShapeType="1"/>
            </p:cNvSpPr>
            <p:nvPr/>
          </p:nvSpPr>
          <p:spPr bwMode="auto">
            <a:xfrm>
              <a:off x="4796" y="3136"/>
              <a:ext cx="432" cy="0"/>
            </a:xfrm>
            <a:prstGeom prst="line">
              <a:avLst/>
            </a:prstGeom>
            <a:noFill/>
            <a:ln w="25400">
              <a:solidFill>
                <a:schemeClr val="hlink"/>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1" name="Line 67"/>
            <p:cNvSpPr>
              <a:spLocks noChangeShapeType="1"/>
            </p:cNvSpPr>
            <p:nvPr/>
          </p:nvSpPr>
          <p:spPr bwMode="auto">
            <a:xfrm>
              <a:off x="4796" y="3424"/>
              <a:ext cx="432" cy="0"/>
            </a:xfrm>
            <a:prstGeom prst="line">
              <a:avLst/>
            </a:prstGeom>
            <a:noFill/>
            <a:ln w="25400">
              <a:solidFill>
                <a:schemeClr val="hlink"/>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4292" name="Object 68"/>
            <p:cNvGraphicFramePr>
              <a:graphicFrameLocks noChangeAspect="1"/>
            </p:cNvGraphicFramePr>
            <p:nvPr>
              <p:extLst>
                <p:ext uri="{D42A27DB-BD31-4B8C-83A1-F6EECF244321}">
                  <p14:modId xmlns:p14="http://schemas.microsoft.com/office/powerpoint/2010/main" val="879809294"/>
                </p:ext>
              </p:extLst>
            </p:nvPr>
          </p:nvGraphicFramePr>
          <p:xfrm>
            <a:off x="4867" y="3796"/>
            <a:ext cx="240" cy="258"/>
          </p:xfrm>
          <a:graphic>
            <a:graphicData uri="http://schemas.openxmlformats.org/presentationml/2006/ole">
              <mc:AlternateContent xmlns:mc="http://schemas.openxmlformats.org/markup-compatibility/2006">
                <mc:Choice xmlns:v="urn:schemas-microsoft-com:vml" Requires="v">
                  <p:oleObj spid="_x0000_s232689" name="Equation" r:id="rId18" imgW="164814" imgH="177492" progId="Equation.DSMT4">
                    <p:embed/>
                  </p:oleObj>
                </mc:Choice>
                <mc:Fallback>
                  <p:oleObj name="Equation" r:id="rId18" imgW="164814" imgH="177492" progId="Equation.DSMT4">
                    <p:embed/>
                    <p:pic>
                      <p:nvPicPr>
                        <p:cNvPr id="54292" name="Object 6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867" y="3796"/>
                          <a:ext cx="240" cy="258"/>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 name="矩形 3">
            <a:extLst>
              <a:ext uri="{FF2B5EF4-FFF2-40B4-BE49-F238E27FC236}">
                <a16:creationId xmlns:a16="http://schemas.microsoft.com/office/drawing/2014/main" id="{F9D28981-3955-4F16-8B42-B048012F4622}"/>
              </a:ext>
            </a:extLst>
          </p:cNvPr>
          <p:cNvSpPr/>
          <p:nvPr/>
        </p:nvSpPr>
        <p:spPr>
          <a:xfrm>
            <a:off x="-40818" y="4929854"/>
            <a:ext cx="7805734" cy="400110"/>
          </a:xfrm>
          <a:prstGeom prst="rect">
            <a:avLst/>
          </a:prstGeom>
        </p:spPr>
        <p:txBody>
          <a:bodyPr wrap="square">
            <a:spAutoFit/>
          </a:bodyPr>
          <a:lstStyle/>
          <a:p>
            <a:pPr eaLnBrk="1" hangingPunct="1"/>
            <a:r>
              <a:rPr lang="en-US" altLang="zh-CN" sz="2000">
                <a:solidFill>
                  <a:schemeClr val="tx1"/>
                </a:solidFill>
              </a:rPr>
              <a:t>4</a:t>
            </a:r>
            <a:r>
              <a:rPr lang="zh-CN" altLang="en-US" sz="2000">
                <a:solidFill>
                  <a:schemeClr val="tx1"/>
                </a:solidFill>
              </a:rPr>
              <a:t>、</a:t>
            </a:r>
            <a:r>
              <a:rPr lang="en-US" altLang="zh-CN" sz="2000">
                <a:solidFill>
                  <a:schemeClr val="tx1"/>
                </a:solidFill>
              </a:rPr>
              <a:t> </a:t>
            </a:r>
            <a:r>
              <a:rPr lang="zh-CN" altLang="en-US" sz="2000">
                <a:solidFill>
                  <a:schemeClr val="tx1"/>
                </a:solidFill>
              </a:rPr>
              <a:t>两个无限大均匀带电等量同号薄板周围的电场</a:t>
            </a:r>
          </a:p>
        </p:txBody>
      </p:sp>
      <p:graphicFrame>
        <p:nvGraphicFramePr>
          <p:cNvPr id="36" name="Object 69">
            <a:extLst>
              <a:ext uri="{FF2B5EF4-FFF2-40B4-BE49-F238E27FC236}">
                <a16:creationId xmlns:a16="http://schemas.microsoft.com/office/drawing/2014/main" id="{7DFEDB3D-663C-48EE-841F-873A299030CA}"/>
              </a:ext>
            </a:extLst>
          </p:cNvPr>
          <p:cNvGraphicFramePr>
            <a:graphicFrameLocks noChangeAspect="1"/>
          </p:cNvGraphicFramePr>
          <p:nvPr>
            <p:extLst>
              <p:ext uri="{D42A27DB-BD31-4B8C-83A1-F6EECF244321}">
                <p14:modId xmlns:p14="http://schemas.microsoft.com/office/powerpoint/2010/main" val="3822899544"/>
              </p:ext>
            </p:extLst>
          </p:nvPr>
        </p:nvGraphicFramePr>
        <p:xfrm>
          <a:off x="848099" y="5760640"/>
          <a:ext cx="3852863" cy="877888"/>
        </p:xfrm>
        <a:graphic>
          <a:graphicData uri="http://schemas.openxmlformats.org/presentationml/2006/ole">
            <mc:AlternateContent xmlns:mc="http://schemas.openxmlformats.org/markup-compatibility/2006">
              <mc:Choice xmlns:v="urn:schemas-microsoft-com:vml" Requires="v">
                <p:oleObj spid="_x0000_s232690" name="Equation" r:id="rId20" imgW="2374560" imgH="444240" progId="Equation.DSMT4">
                  <p:embed/>
                </p:oleObj>
              </mc:Choice>
              <mc:Fallback>
                <p:oleObj name="Equation" r:id="rId20" imgW="2374560" imgH="444240" progId="Equation.DSMT4">
                  <p:embed/>
                  <p:pic>
                    <p:nvPicPr>
                      <p:cNvPr id="30" name="Object 69"/>
                      <p:cNvPicPr>
                        <a:picLocks noChangeAspect="1" noChangeArrowheads="1"/>
                      </p:cNvPicPr>
                      <p:nvPr/>
                    </p:nvPicPr>
                    <p:blipFill>
                      <a:blip r:embed="rId21"/>
                      <a:srcRect/>
                      <a:stretch>
                        <a:fillRect/>
                      </a:stretch>
                    </p:blipFill>
                    <p:spPr bwMode="auto">
                      <a:xfrm>
                        <a:off x="848099" y="5760640"/>
                        <a:ext cx="3852863" cy="877888"/>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7" name="Group 40">
            <a:extLst>
              <a:ext uri="{FF2B5EF4-FFF2-40B4-BE49-F238E27FC236}">
                <a16:creationId xmlns:a16="http://schemas.microsoft.com/office/drawing/2014/main" id="{3AF36D89-547A-4365-AA58-42060D9609D5}"/>
              </a:ext>
            </a:extLst>
          </p:cNvPr>
          <p:cNvGrpSpPr>
            <a:grpSpLocks/>
          </p:cNvGrpSpPr>
          <p:nvPr/>
        </p:nvGrpSpPr>
        <p:grpSpPr bwMode="auto">
          <a:xfrm>
            <a:off x="5948816" y="4739729"/>
            <a:ext cx="1447800" cy="1828800"/>
            <a:chOff x="240" y="1248"/>
            <a:chExt cx="912" cy="1152"/>
          </a:xfrm>
        </p:grpSpPr>
        <p:sp>
          <p:nvSpPr>
            <p:cNvPr id="38" name="Line 41">
              <a:extLst>
                <a:ext uri="{FF2B5EF4-FFF2-40B4-BE49-F238E27FC236}">
                  <a16:creationId xmlns:a16="http://schemas.microsoft.com/office/drawing/2014/main" id="{A400FDB9-1F29-4CE0-9DE4-D5109CE4DD12}"/>
                </a:ext>
              </a:extLst>
            </p:cNvPr>
            <p:cNvSpPr>
              <a:spLocks noChangeShapeType="1"/>
            </p:cNvSpPr>
            <p:nvPr/>
          </p:nvSpPr>
          <p:spPr bwMode="auto">
            <a:xfrm>
              <a:off x="704" y="1952"/>
              <a:ext cx="432" cy="0"/>
            </a:xfrm>
            <a:prstGeom prst="line">
              <a:avLst/>
            </a:prstGeom>
            <a:noFill/>
            <a:ln w="25400">
              <a:solidFill>
                <a:srgbClr val="CC33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42">
              <a:extLst>
                <a:ext uri="{FF2B5EF4-FFF2-40B4-BE49-F238E27FC236}">
                  <a16:creationId xmlns:a16="http://schemas.microsoft.com/office/drawing/2014/main" id="{E16D79F8-BBC3-40C9-837A-25ABB1DCB6C4}"/>
                </a:ext>
              </a:extLst>
            </p:cNvPr>
            <p:cNvSpPr>
              <a:spLocks noChangeShapeType="1"/>
            </p:cNvSpPr>
            <p:nvPr/>
          </p:nvSpPr>
          <p:spPr bwMode="auto">
            <a:xfrm>
              <a:off x="720" y="1248"/>
              <a:ext cx="0" cy="1152"/>
            </a:xfrm>
            <a:prstGeom prst="line">
              <a:avLst/>
            </a:prstGeom>
            <a:noFill/>
            <a:ln w="5715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0" name="Object 43">
              <a:extLst>
                <a:ext uri="{FF2B5EF4-FFF2-40B4-BE49-F238E27FC236}">
                  <a16:creationId xmlns:a16="http://schemas.microsoft.com/office/drawing/2014/main" id="{C093ED47-3210-42F6-BA9C-E9A6FB95780F}"/>
                </a:ext>
              </a:extLst>
            </p:cNvPr>
            <p:cNvGraphicFramePr>
              <a:graphicFrameLocks noChangeAspect="1"/>
            </p:cNvGraphicFramePr>
            <p:nvPr/>
          </p:nvGraphicFramePr>
          <p:xfrm>
            <a:off x="336" y="2160"/>
            <a:ext cx="388" cy="221"/>
          </p:xfrm>
          <a:graphic>
            <a:graphicData uri="http://schemas.openxmlformats.org/presentationml/2006/ole">
              <mc:AlternateContent xmlns:mc="http://schemas.openxmlformats.org/markup-compatibility/2006">
                <mc:Choice xmlns:v="urn:schemas-microsoft-com:vml" Requires="v">
                  <p:oleObj spid="_x0000_s232691" name="公式" r:id="rId10" imgW="266469" imgH="152268" progId="Equation.3">
                    <p:embed/>
                  </p:oleObj>
                </mc:Choice>
                <mc:Fallback>
                  <p:oleObj name="公式" r:id="rId10" imgW="266469" imgH="152268" progId="Equation.3">
                    <p:embed/>
                    <p:pic>
                      <p:nvPicPr>
                        <p:cNvPr id="54301" name="Object 4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6" y="2160"/>
                          <a:ext cx="388"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 name="Line 44">
              <a:extLst>
                <a:ext uri="{FF2B5EF4-FFF2-40B4-BE49-F238E27FC236}">
                  <a16:creationId xmlns:a16="http://schemas.microsoft.com/office/drawing/2014/main" id="{A3078AD2-3C30-4FF8-8AA4-FA70A50DEB80}"/>
                </a:ext>
              </a:extLst>
            </p:cNvPr>
            <p:cNvSpPr>
              <a:spLocks noChangeShapeType="1"/>
            </p:cNvSpPr>
            <p:nvPr/>
          </p:nvSpPr>
          <p:spPr bwMode="auto">
            <a:xfrm flipH="1">
              <a:off x="256" y="1696"/>
              <a:ext cx="432" cy="0"/>
            </a:xfrm>
            <a:prstGeom prst="line">
              <a:avLst/>
            </a:prstGeom>
            <a:noFill/>
            <a:ln w="25400">
              <a:solidFill>
                <a:srgbClr val="CC33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45">
              <a:extLst>
                <a:ext uri="{FF2B5EF4-FFF2-40B4-BE49-F238E27FC236}">
                  <a16:creationId xmlns:a16="http://schemas.microsoft.com/office/drawing/2014/main" id="{74D43577-EA2D-460B-B598-D6DDE824A0CC}"/>
                </a:ext>
              </a:extLst>
            </p:cNvPr>
            <p:cNvSpPr>
              <a:spLocks noChangeShapeType="1"/>
            </p:cNvSpPr>
            <p:nvPr/>
          </p:nvSpPr>
          <p:spPr bwMode="auto">
            <a:xfrm flipH="1">
              <a:off x="288" y="1952"/>
              <a:ext cx="432" cy="0"/>
            </a:xfrm>
            <a:prstGeom prst="line">
              <a:avLst/>
            </a:prstGeom>
            <a:noFill/>
            <a:ln w="25400">
              <a:solidFill>
                <a:srgbClr val="CC33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46">
              <a:extLst>
                <a:ext uri="{FF2B5EF4-FFF2-40B4-BE49-F238E27FC236}">
                  <a16:creationId xmlns:a16="http://schemas.microsoft.com/office/drawing/2014/main" id="{2AE82E75-9C1F-434D-9383-A406116DEDFE}"/>
                </a:ext>
              </a:extLst>
            </p:cNvPr>
            <p:cNvSpPr>
              <a:spLocks noChangeShapeType="1"/>
            </p:cNvSpPr>
            <p:nvPr/>
          </p:nvSpPr>
          <p:spPr bwMode="auto">
            <a:xfrm>
              <a:off x="720" y="1440"/>
              <a:ext cx="432" cy="0"/>
            </a:xfrm>
            <a:prstGeom prst="line">
              <a:avLst/>
            </a:prstGeom>
            <a:noFill/>
            <a:ln w="25400">
              <a:solidFill>
                <a:srgbClr val="CC33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47">
              <a:extLst>
                <a:ext uri="{FF2B5EF4-FFF2-40B4-BE49-F238E27FC236}">
                  <a16:creationId xmlns:a16="http://schemas.microsoft.com/office/drawing/2014/main" id="{46C5EBF7-C420-4625-9E81-D714B01FD908}"/>
                </a:ext>
              </a:extLst>
            </p:cNvPr>
            <p:cNvSpPr>
              <a:spLocks noChangeShapeType="1"/>
            </p:cNvSpPr>
            <p:nvPr/>
          </p:nvSpPr>
          <p:spPr bwMode="auto">
            <a:xfrm>
              <a:off x="720" y="1696"/>
              <a:ext cx="432" cy="0"/>
            </a:xfrm>
            <a:prstGeom prst="line">
              <a:avLst/>
            </a:prstGeom>
            <a:noFill/>
            <a:ln w="25400">
              <a:solidFill>
                <a:srgbClr val="CC33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48">
              <a:extLst>
                <a:ext uri="{FF2B5EF4-FFF2-40B4-BE49-F238E27FC236}">
                  <a16:creationId xmlns:a16="http://schemas.microsoft.com/office/drawing/2014/main" id="{63072065-4313-465D-A762-B80792A8E707}"/>
                </a:ext>
              </a:extLst>
            </p:cNvPr>
            <p:cNvSpPr>
              <a:spLocks noChangeShapeType="1"/>
            </p:cNvSpPr>
            <p:nvPr/>
          </p:nvSpPr>
          <p:spPr bwMode="auto">
            <a:xfrm flipH="1">
              <a:off x="240" y="1440"/>
              <a:ext cx="432" cy="0"/>
            </a:xfrm>
            <a:prstGeom prst="line">
              <a:avLst/>
            </a:prstGeom>
            <a:noFill/>
            <a:ln w="25400">
              <a:solidFill>
                <a:srgbClr val="CC33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8" name="Group 49">
            <a:extLst>
              <a:ext uri="{FF2B5EF4-FFF2-40B4-BE49-F238E27FC236}">
                <a16:creationId xmlns:a16="http://schemas.microsoft.com/office/drawing/2014/main" id="{70C12451-5CA1-47B6-8D10-994884DC6ACE}"/>
              </a:ext>
            </a:extLst>
          </p:cNvPr>
          <p:cNvGrpSpPr>
            <a:grpSpLocks/>
          </p:cNvGrpSpPr>
          <p:nvPr/>
        </p:nvGrpSpPr>
        <p:grpSpPr bwMode="auto">
          <a:xfrm>
            <a:off x="6025016" y="5193754"/>
            <a:ext cx="685800" cy="863600"/>
            <a:chOff x="1888" y="1584"/>
            <a:chExt cx="432" cy="544"/>
          </a:xfrm>
        </p:grpSpPr>
        <p:sp>
          <p:nvSpPr>
            <p:cNvPr id="49" name="Line 50">
              <a:extLst>
                <a:ext uri="{FF2B5EF4-FFF2-40B4-BE49-F238E27FC236}">
                  <a16:creationId xmlns:a16="http://schemas.microsoft.com/office/drawing/2014/main" id="{429D2C78-F92D-4FC6-A70C-5E8073073C90}"/>
                </a:ext>
              </a:extLst>
            </p:cNvPr>
            <p:cNvSpPr>
              <a:spLocks noChangeShapeType="1"/>
            </p:cNvSpPr>
            <p:nvPr/>
          </p:nvSpPr>
          <p:spPr bwMode="auto">
            <a:xfrm>
              <a:off x="1888" y="1584"/>
              <a:ext cx="432" cy="0"/>
            </a:xfrm>
            <a:prstGeom prst="line">
              <a:avLst/>
            </a:prstGeom>
            <a:noFill/>
            <a:ln w="25400">
              <a:solidFill>
                <a:srgbClr val="0000FF"/>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51">
              <a:extLst>
                <a:ext uri="{FF2B5EF4-FFF2-40B4-BE49-F238E27FC236}">
                  <a16:creationId xmlns:a16="http://schemas.microsoft.com/office/drawing/2014/main" id="{9EC52260-8DB1-4A06-B302-6313BFDDE28B}"/>
                </a:ext>
              </a:extLst>
            </p:cNvPr>
            <p:cNvSpPr>
              <a:spLocks noChangeShapeType="1"/>
            </p:cNvSpPr>
            <p:nvPr/>
          </p:nvSpPr>
          <p:spPr bwMode="auto">
            <a:xfrm>
              <a:off x="1888" y="1872"/>
              <a:ext cx="432" cy="0"/>
            </a:xfrm>
            <a:prstGeom prst="line">
              <a:avLst/>
            </a:prstGeom>
            <a:noFill/>
            <a:ln w="25400">
              <a:solidFill>
                <a:srgbClr val="0000FF"/>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52">
              <a:extLst>
                <a:ext uri="{FF2B5EF4-FFF2-40B4-BE49-F238E27FC236}">
                  <a16:creationId xmlns:a16="http://schemas.microsoft.com/office/drawing/2014/main" id="{6239AC32-CF75-4ECF-A224-F1C0585D40E5}"/>
                </a:ext>
              </a:extLst>
            </p:cNvPr>
            <p:cNvSpPr>
              <a:spLocks noChangeShapeType="1"/>
            </p:cNvSpPr>
            <p:nvPr/>
          </p:nvSpPr>
          <p:spPr bwMode="auto">
            <a:xfrm>
              <a:off x="1888" y="2128"/>
              <a:ext cx="432" cy="0"/>
            </a:xfrm>
            <a:prstGeom prst="line">
              <a:avLst/>
            </a:prstGeom>
            <a:noFill/>
            <a:ln w="25400">
              <a:solidFill>
                <a:srgbClr val="0000FF"/>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5" name="Group 53">
            <a:extLst>
              <a:ext uri="{FF2B5EF4-FFF2-40B4-BE49-F238E27FC236}">
                <a16:creationId xmlns:a16="http://schemas.microsoft.com/office/drawing/2014/main" id="{3FC09091-81BE-4050-9F09-75FC161CEE70}"/>
              </a:ext>
            </a:extLst>
          </p:cNvPr>
          <p:cNvGrpSpPr>
            <a:grpSpLocks/>
          </p:cNvGrpSpPr>
          <p:nvPr/>
        </p:nvGrpSpPr>
        <p:grpSpPr bwMode="auto">
          <a:xfrm>
            <a:off x="7422016" y="5044529"/>
            <a:ext cx="685800" cy="838200"/>
            <a:chOff x="1216" y="1440"/>
            <a:chExt cx="432" cy="528"/>
          </a:xfrm>
        </p:grpSpPr>
        <p:sp>
          <p:nvSpPr>
            <p:cNvPr id="56" name="Line 54">
              <a:extLst>
                <a:ext uri="{FF2B5EF4-FFF2-40B4-BE49-F238E27FC236}">
                  <a16:creationId xmlns:a16="http://schemas.microsoft.com/office/drawing/2014/main" id="{B1589DCD-32CB-4064-A9CB-F9F0CE3C0F3F}"/>
                </a:ext>
              </a:extLst>
            </p:cNvPr>
            <p:cNvSpPr>
              <a:spLocks noChangeShapeType="1"/>
            </p:cNvSpPr>
            <p:nvPr/>
          </p:nvSpPr>
          <p:spPr bwMode="auto">
            <a:xfrm>
              <a:off x="1216" y="1440"/>
              <a:ext cx="432" cy="0"/>
            </a:xfrm>
            <a:prstGeom prst="line">
              <a:avLst/>
            </a:prstGeom>
            <a:noFill/>
            <a:ln w="25400">
              <a:solidFill>
                <a:srgbClr val="CC33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55">
              <a:extLst>
                <a:ext uri="{FF2B5EF4-FFF2-40B4-BE49-F238E27FC236}">
                  <a16:creationId xmlns:a16="http://schemas.microsoft.com/office/drawing/2014/main" id="{1B21681B-5BDE-4C09-93AD-2CB2A720D777}"/>
                </a:ext>
              </a:extLst>
            </p:cNvPr>
            <p:cNvSpPr>
              <a:spLocks noChangeShapeType="1"/>
            </p:cNvSpPr>
            <p:nvPr/>
          </p:nvSpPr>
          <p:spPr bwMode="auto">
            <a:xfrm>
              <a:off x="1216" y="1968"/>
              <a:ext cx="432" cy="0"/>
            </a:xfrm>
            <a:prstGeom prst="line">
              <a:avLst/>
            </a:prstGeom>
            <a:noFill/>
            <a:ln w="25400">
              <a:solidFill>
                <a:srgbClr val="CC33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56">
              <a:extLst>
                <a:ext uri="{FF2B5EF4-FFF2-40B4-BE49-F238E27FC236}">
                  <a16:creationId xmlns:a16="http://schemas.microsoft.com/office/drawing/2014/main" id="{71FB7E1D-69ED-4356-8CD2-240A387A2402}"/>
                </a:ext>
              </a:extLst>
            </p:cNvPr>
            <p:cNvSpPr>
              <a:spLocks noChangeShapeType="1"/>
            </p:cNvSpPr>
            <p:nvPr/>
          </p:nvSpPr>
          <p:spPr bwMode="auto">
            <a:xfrm>
              <a:off x="1216" y="1696"/>
              <a:ext cx="432" cy="0"/>
            </a:xfrm>
            <a:prstGeom prst="line">
              <a:avLst/>
            </a:prstGeom>
            <a:noFill/>
            <a:ln w="25400">
              <a:solidFill>
                <a:srgbClr val="CC33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59" name="Object 57">
            <a:extLst>
              <a:ext uri="{FF2B5EF4-FFF2-40B4-BE49-F238E27FC236}">
                <a16:creationId xmlns:a16="http://schemas.microsoft.com/office/drawing/2014/main" id="{303D65C1-6F05-4A30-BB28-B98327F3023B}"/>
              </a:ext>
            </a:extLst>
          </p:cNvPr>
          <p:cNvGraphicFramePr>
            <a:graphicFrameLocks noChangeAspect="1"/>
          </p:cNvGraphicFramePr>
          <p:nvPr>
            <p:extLst>
              <p:ext uri="{D42A27DB-BD31-4B8C-83A1-F6EECF244321}">
                <p14:modId xmlns:p14="http://schemas.microsoft.com/office/powerpoint/2010/main" val="3130946801"/>
              </p:ext>
            </p:extLst>
          </p:nvPr>
        </p:nvGraphicFramePr>
        <p:xfrm>
          <a:off x="8391979" y="6381328"/>
          <a:ext cx="379412" cy="381000"/>
        </p:xfrm>
        <a:graphic>
          <a:graphicData uri="http://schemas.openxmlformats.org/presentationml/2006/ole">
            <mc:AlternateContent xmlns:mc="http://schemas.openxmlformats.org/markup-compatibility/2006">
              <mc:Choice xmlns:v="urn:schemas-microsoft-com:vml" Requires="v">
                <p:oleObj spid="_x0000_s232692" name="Equation" r:id="rId12" imgW="164885" imgH="164885" progId="Equation.DSMT4">
                  <p:embed/>
                </p:oleObj>
              </mc:Choice>
              <mc:Fallback>
                <p:oleObj name="Equation" r:id="rId12" imgW="164885" imgH="164885" progId="Equation.DSMT4">
                  <p:embed/>
                  <p:pic>
                    <p:nvPicPr>
                      <p:cNvPr id="50" name="Object 5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391979" y="6381328"/>
                        <a:ext cx="3794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 name="Object 58">
            <a:extLst>
              <a:ext uri="{FF2B5EF4-FFF2-40B4-BE49-F238E27FC236}">
                <a16:creationId xmlns:a16="http://schemas.microsoft.com/office/drawing/2014/main" id="{B59AD505-C89F-4ED8-AF47-4B46A1945525}"/>
              </a:ext>
            </a:extLst>
          </p:cNvPr>
          <p:cNvGraphicFramePr>
            <a:graphicFrameLocks noChangeAspect="1"/>
          </p:cNvGraphicFramePr>
          <p:nvPr>
            <p:extLst>
              <p:ext uri="{D42A27DB-BD31-4B8C-83A1-F6EECF244321}">
                <p14:modId xmlns:p14="http://schemas.microsoft.com/office/powerpoint/2010/main" val="3887314048"/>
              </p:ext>
            </p:extLst>
          </p:nvPr>
        </p:nvGraphicFramePr>
        <p:xfrm>
          <a:off x="5801179" y="6409903"/>
          <a:ext cx="381000" cy="381000"/>
        </p:xfrm>
        <a:graphic>
          <a:graphicData uri="http://schemas.openxmlformats.org/presentationml/2006/ole">
            <mc:AlternateContent xmlns:mc="http://schemas.openxmlformats.org/markup-compatibility/2006">
              <mc:Choice xmlns:v="urn:schemas-microsoft-com:vml" Requires="v">
                <p:oleObj spid="_x0000_s232693" name="Equation" r:id="rId14" imgW="164885" imgH="164885" progId="Equation.DSMT4">
                  <p:embed/>
                </p:oleObj>
              </mc:Choice>
              <mc:Fallback>
                <p:oleObj name="Equation" r:id="rId14" imgW="164885" imgH="164885" progId="Equation.DSMT4">
                  <p:embed/>
                  <p:pic>
                    <p:nvPicPr>
                      <p:cNvPr id="51" name="Object 5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801179" y="6409903"/>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1" name="Group 59">
            <a:extLst>
              <a:ext uri="{FF2B5EF4-FFF2-40B4-BE49-F238E27FC236}">
                <a16:creationId xmlns:a16="http://schemas.microsoft.com/office/drawing/2014/main" id="{A1B3CF72-74AB-4894-8FAB-F82F8B42E1BF}"/>
              </a:ext>
            </a:extLst>
          </p:cNvPr>
          <p:cNvGrpSpPr>
            <a:grpSpLocks/>
          </p:cNvGrpSpPr>
          <p:nvPr/>
        </p:nvGrpSpPr>
        <p:grpSpPr bwMode="auto">
          <a:xfrm>
            <a:off x="6734632" y="4736555"/>
            <a:ext cx="1271588" cy="2125663"/>
            <a:chOff x="4796" y="2832"/>
            <a:chExt cx="801" cy="1339"/>
          </a:xfrm>
        </p:grpSpPr>
        <p:sp>
          <p:nvSpPr>
            <p:cNvPr id="62" name="Line 60">
              <a:extLst>
                <a:ext uri="{FF2B5EF4-FFF2-40B4-BE49-F238E27FC236}">
                  <a16:creationId xmlns:a16="http://schemas.microsoft.com/office/drawing/2014/main" id="{1E186816-A017-4761-B104-6079AB02B9EC}"/>
                </a:ext>
              </a:extLst>
            </p:cNvPr>
            <p:cNvSpPr>
              <a:spLocks noChangeShapeType="1"/>
            </p:cNvSpPr>
            <p:nvPr/>
          </p:nvSpPr>
          <p:spPr bwMode="auto">
            <a:xfrm flipH="1">
              <a:off x="5164" y="3136"/>
              <a:ext cx="432" cy="0"/>
            </a:xfrm>
            <a:prstGeom prst="line">
              <a:avLst/>
            </a:prstGeom>
            <a:noFill/>
            <a:ln w="25400">
              <a:solidFill>
                <a:schemeClr val="hlink"/>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Line 61">
              <a:extLst>
                <a:ext uri="{FF2B5EF4-FFF2-40B4-BE49-F238E27FC236}">
                  <a16:creationId xmlns:a16="http://schemas.microsoft.com/office/drawing/2014/main" id="{D320F60C-EA31-4829-8A81-DDFFDACD892A}"/>
                </a:ext>
              </a:extLst>
            </p:cNvPr>
            <p:cNvSpPr>
              <a:spLocks noChangeShapeType="1"/>
            </p:cNvSpPr>
            <p:nvPr/>
          </p:nvSpPr>
          <p:spPr bwMode="auto">
            <a:xfrm flipH="1">
              <a:off x="5164" y="3424"/>
              <a:ext cx="432" cy="0"/>
            </a:xfrm>
            <a:prstGeom prst="line">
              <a:avLst/>
            </a:prstGeom>
            <a:noFill/>
            <a:ln w="25400">
              <a:solidFill>
                <a:schemeClr val="hlink"/>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Line 62">
              <a:extLst>
                <a:ext uri="{FF2B5EF4-FFF2-40B4-BE49-F238E27FC236}">
                  <a16:creationId xmlns:a16="http://schemas.microsoft.com/office/drawing/2014/main" id="{689C6995-1E51-4E64-811C-B1D95D380247}"/>
                </a:ext>
              </a:extLst>
            </p:cNvPr>
            <p:cNvSpPr>
              <a:spLocks noChangeShapeType="1"/>
            </p:cNvSpPr>
            <p:nvPr/>
          </p:nvSpPr>
          <p:spPr bwMode="auto">
            <a:xfrm flipH="1">
              <a:off x="5157" y="3680"/>
              <a:ext cx="432" cy="0"/>
            </a:xfrm>
            <a:prstGeom prst="line">
              <a:avLst/>
            </a:prstGeom>
            <a:noFill/>
            <a:ln w="25400">
              <a:solidFill>
                <a:schemeClr val="hlink"/>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5" name="Object 63">
              <a:extLst>
                <a:ext uri="{FF2B5EF4-FFF2-40B4-BE49-F238E27FC236}">
                  <a16:creationId xmlns:a16="http://schemas.microsoft.com/office/drawing/2014/main" id="{0AE0947A-6644-4F42-B1D5-3207DCA7416F}"/>
                </a:ext>
              </a:extLst>
            </p:cNvPr>
            <p:cNvGraphicFramePr>
              <a:graphicFrameLocks noChangeAspect="1"/>
            </p:cNvGraphicFramePr>
            <p:nvPr>
              <p:extLst>
                <p:ext uri="{D42A27DB-BD31-4B8C-83A1-F6EECF244321}">
                  <p14:modId xmlns:p14="http://schemas.microsoft.com/office/powerpoint/2010/main" val="1964707335"/>
                </p:ext>
              </p:extLst>
            </p:nvPr>
          </p:nvGraphicFramePr>
          <p:xfrm>
            <a:off x="5246" y="3838"/>
            <a:ext cx="351" cy="241"/>
          </p:xfrm>
          <a:graphic>
            <a:graphicData uri="http://schemas.openxmlformats.org/presentationml/2006/ole">
              <mc:AlternateContent xmlns:mc="http://schemas.openxmlformats.org/markup-compatibility/2006">
                <mc:Choice xmlns:v="urn:schemas-microsoft-com:vml" Requires="v">
                  <p:oleObj spid="_x0000_s232694" name="Equation" r:id="rId22" imgW="241200" imgH="164880" progId="Equation.DSMT4">
                    <p:embed/>
                  </p:oleObj>
                </mc:Choice>
                <mc:Fallback>
                  <p:oleObj name="Equation" r:id="rId22" imgW="241200" imgH="164880" progId="Equation.DSMT4">
                    <p:embed/>
                    <p:pic>
                      <p:nvPicPr>
                        <p:cNvPr id="54287" name="Object 63"/>
                        <p:cNvPicPr>
                          <a:picLocks noChangeAspect="1" noChangeArrowheads="1"/>
                        </p:cNvPicPr>
                        <p:nvPr/>
                      </p:nvPicPr>
                      <p:blipFill>
                        <a:blip r:embed="rId23"/>
                        <a:srcRect/>
                        <a:stretch>
                          <a:fillRect/>
                        </a:stretch>
                      </p:blipFill>
                      <p:spPr bwMode="auto">
                        <a:xfrm>
                          <a:off x="5246" y="3838"/>
                          <a:ext cx="351" cy="241"/>
                        </a:xfrm>
                        <a:prstGeom prst="rect">
                          <a:avLst/>
                        </a:prstGeom>
                        <a:noFill/>
                        <a:ln w="9525">
                          <a:solidFill>
                            <a:schemeClr va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 name="Line 64">
              <a:extLst>
                <a:ext uri="{FF2B5EF4-FFF2-40B4-BE49-F238E27FC236}">
                  <a16:creationId xmlns:a16="http://schemas.microsoft.com/office/drawing/2014/main" id="{7ED9D3A3-EC9C-49EF-B52E-6509B7848B1B}"/>
                </a:ext>
              </a:extLst>
            </p:cNvPr>
            <p:cNvSpPr>
              <a:spLocks noChangeShapeType="1"/>
            </p:cNvSpPr>
            <p:nvPr/>
          </p:nvSpPr>
          <p:spPr bwMode="auto">
            <a:xfrm>
              <a:off x="5196" y="2832"/>
              <a:ext cx="0" cy="1152"/>
            </a:xfrm>
            <a:prstGeom prst="line">
              <a:avLst/>
            </a:prstGeom>
            <a:noFill/>
            <a:ln w="57150">
              <a:solidFill>
                <a:schemeClr val="hlink"/>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65">
              <a:extLst>
                <a:ext uri="{FF2B5EF4-FFF2-40B4-BE49-F238E27FC236}">
                  <a16:creationId xmlns:a16="http://schemas.microsoft.com/office/drawing/2014/main" id="{E31C258F-37EA-4ED7-B9C2-2B9A28683AB5}"/>
                </a:ext>
              </a:extLst>
            </p:cNvPr>
            <p:cNvSpPr>
              <a:spLocks noChangeShapeType="1"/>
            </p:cNvSpPr>
            <p:nvPr/>
          </p:nvSpPr>
          <p:spPr bwMode="auto">
            <a:xfrm>
              <a:off x="4796" y="3680"/>
              <a:ext cx="432" cy="0"/>
            </a:xfrm>
            <a:prstGeom prst="line">
              <a:avLst/>
            </a:prstGeom>
            <a:noFill/>
            <a:ln w="25400">
              <a:solidFill>
                <a:schemeClr val="hlink"/>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Line 66">
              <a:extLst>
                <a:ext uri="{FF2B5EF4-FFF2-40B4-BE49-F238E27FC236}">
                  <a16:creationId xmlns:a16="http://schemas.microsoft.com/office/drawing/2014/main" id="{C3BD0F4A-13BB-498D-9B7A-E6C011032BDC}"/>
                </a:ext>
              </a:extLst>
            </p:cNvPr>
            <p:cNvSpPr>
              <a:spLocks noChangeShapeType="1"/>
            </p:cNvSpPr>
            <p:nvPr/>
          </p:nvSpPr>
          <p:spPr bwMode="auto">
            <a:xfrm>
              <a:off x="4796" y="3136"/>
              <a:ext cx="432" cy="0"/>
            </a:xfrm>
            <a:prstGeom prst="line">
              <a:avLst/>
            </a:prstGeom>
            <a:noFill/>
            <a:ln w="25400">
              <a:solidFill>
                <a:schemeClr val="hlink"/>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67">
              <a:extLst>
                <a:ext uri="{FF2B5EF4-FFF2-40B4-BE49-F238E27FC236}">
                  <a16:creationId xmlns:a16="http://schemas.microsoft.com/office/drawing/2014/main" id="{242DA220-2D35-4EE3-B39E-1F7158852061}"/>
                </a:ext>
              </a:extLst>
            </p:cNvPr>
            <p:cNvSpPr>
              <a:spLocks noChangeShapeType="1"/>
            </p:cNvSpPr>
            <p:nvPr/>
          </p:nvSpPr>
          <p:spPr bwMode="auto">
            <a:xfrm>
              <a:off x="4796" y="3424"/>
              <a:ext cx="432" cy="0"/>
            </a:xfrm>
            <a:prstGeom prst="line">
              <a:avLst/>
            </a:prstGeom>
            <a:noFill/>
            <a:ln w="25400">
              <a:solidFill>
                <a:schemeClr val="hlink"/>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0" name="Object 68">
              <a:extLst>
                <a:ext uri="{FF2B5EF4-FFF2-40B4-BE49-F238E27FC236}">
                  <a16:creationId xmlns:a16="http://schemas.microsoft.com/office/drawing/2014/main" id="{7C700377-AD41-41A7-9EB4-F48A29075F0C}"/>
                </a:ext>
              </a:extLst>
            </p:cNvPr>
            <p:cNvGraphicFramePr>
              <a:graphicFrameLocks noChangeAspect="1"/>
            </p:cNvGraphicFramePr>
            <p:nvPr>
              <p:extLst>
                <p:ext uri="{D42A27DB-BD31-4B8C-83A1-F6EECF244321}">
                  <p14:modId xmlns:p14="http://schemas.microsoft.com/office/powerpoint/2010/main" val="3785568988"/>
                </p:ext>
              </p:extLst>
            </p:nvPr>
          </p:nvGraphicFramePr>
          <p:xfrm>
            <a:off x="4888" y="3913"/>
            <a:ext cx="240" cy="258"/>
          </p:xfrm>
          <a:graphic>
            <a:graphicData uri="http://schemas.openxmlformats.org/presentationml/2006/ole">
              <mc:AlternateContent xmlns:mc="http://schemas.openxmlformats.org/markup-compatibility/2006">
                <mc:Choice xmlns:v="urn:schemas-microsoft-com:vml" Requires="v">
                  <p:oleObj spid="_x0000_s232695" name="Equation" r:id="rId18" imgW="164814" imgH="177492" progId="Equation.DSMT4">
                    <p:embed/>
                  </p:oleObj>
                </mc:Choice>
                <mc:Fallback>
                  <p:oleObj name="Equation" r:id="rId18" imgW="164814" imgH="177492" progId="Equation.DSMT4">
                    <p:embed/>
                    <p:pic>
                      <p:nvPicPr>
                        <p:cNvPr id="54292" name="Object 6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888" y="3913"/>
                          <a:ext cx="240" cy="258"/>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71" name="Group 59">
            <a:extLst>
              <a:ext uri="{FF2B5EF4-FFF2-40B4-BE49-F238E27FC236}">
                <a16:creationId xmlns:a16="http://schemas.microsoft.com/office/drawing/2014/main" id="{04073C7A-4B18-4FAC-A201-D6020E29B9F2}"/>
              </a:ext>
            </a:extLst>
          </p:cNvPr>
          <p:cNvGrpSpPr>
            <a:grpSpLocks/>
          </p:cNvGrpSpPr>
          <p:nvPr/>
        </p:nvGrpSpPr>
        <p:grpSpPr bwMode="auto">
          <a:xfrm>
            <a:off x="6066135" y="153243"/>
            <a:ext cx="1271588" cy="1979613"/>
            <a:chOff x="4796" y="2832"/>
            <a:chExt cx="801" cy="1247"/>
          </a:xfrm>
        </p:grpSpPr>
        <p:sp>
          <p:nvSpPr>
            <p:cNvPr id="72" name="Line 60">
              <a:extLst>
                <a:ext uri="{FF2B5EF4-FFF2-40B4-BE49-F238E27FC236}">
                  <a16:creationId xmlns:a16="http://schemas.microsoft.com/office/drawing/2014/main" id="{DCD638C0-BE19-412E-8A89-9415D19E1005}"/>
                </a:ext>
              </a:extLst>
            </p:cNvPr>
            <p:cNvSpPr>
              <a:spLocks noChangeShapeType="1"/>
            </p:cNvSpPr>
            <p:nvPr/>
          </p:nvSpPr>
          <p:spPr bwMode="auto">
            <a:xfrm flipH="1">
              <a:off x="5164" y="3136"/>
              <a:ext cx="432" cy="0"/>
            </a:xfrm>
            <a:prstGeom prst="line">
              <a:avLst/>
            </a:prstGeom>
            <a:noFill/>
            <a:ln w="57150">
              <a:solidFill>
                <a:schemeClr val="hlink"/>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Line 61">
              <a:extLst>
                <a:ext uri="{FF2B5EF4-FFF2-40B4-BE49-F238E27FC236}">
                  <a16:creationId xmlns:a16="http://schemas.microsoft.com/office/drawing/2014/main" id="{D5FDFD9B-9264-4E50-98EE-DDBE90F3227C}"/>
                </a:ext>
              </a:extLst>
            </p:cNvPr>
            <p:cNvSpPr>
              <a:spLocks noChangeShapeType="1"/>
            </p:cNvSpPr>
            <p:nvPr/>
          </p:nvSpPr>
          <p:spPr bwMode="auto">
            <a:xfrm flipH="1">
              <a:off x="5164" y="3424"/>
              <a:ext cx="432" cy="0"/>
            </a:xfrm>
            <a:prstGeom prst="line">
              <a:avLst/>
            </a:prstGeom>
            <a:noFill/>
            <a:ln w="57150">
              <a:solidFill>
                <a:schemeClr val="hlink"/>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Line 62">
              <a:extLst>
                <a:ext uri="{FF2B5EF4-FFF2-40B4-BE49-F238E27FC236}">
                  <a16:creationId xmlns:a16="http://schemas.microsoft.com/office/drawing/2014/main" id="{7D36383B-4883-4A01-8651-9DF98FCFFF12}"/>
                </a:ext>
              </a:extLst>
            </p:cNvPr>
            <p:cNvSpPr>
              <a:spLocks noChangeShapeType="1"/>
            </p:cNvSpPr>
            <p:nvPr/>
          </p:nvSpPr>
          <p:spPr bwMode="auto">
            <a:xfrm flipH="1">
              <a:off x="5157" y="3680"/>
              <a:ext cx="432" cy="0"/>
            </a:xfrm>
            <a:prstGeom prst="line">
              <a:avLst/>
            </a:prstGeom>
            <a:noFill/>
            <a:ln w="57150">
              <a:solidFill>
                <a:schemeClr val="hlink"/>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5" name="Object 63">
              <a:extLst>
                <a:ext uri="{FF2B5EF4-FFF2-40B4-BE49-F238E27FC236}">
                  <a16:creationId xmlns:a16="http://schemas.microsoft.com/office/drawing/2014/main" id="{EB71F6CC-F0DF-48BB-9D9E-F5E97A888590}"/>
                </a:ext>
              </a:extLst>
            </p:cNvPr>
            <p:cNvGraphicFramePr>
              <a:graphicFrameLocks noChangeAspect="1"/>
            </p:cNvGraphicFramePr>
            <p:nvPr>
              <p:extLst>
                <p:ext uri="{D42A27DB-BD31-4B8C-83A1-F6EECF244321}">
                  <p14:modId xmlns:p14="http://schemas.microsoft.com/office/powerpoint/2010/main" val="688780114"/>
                </p:ext>
              </p:extLst>
            </p:nvPr>
          </p:nvGraphicFramePr>
          <p:xfrm>
            <a:off x="5246" y="3838"/>
            <a:ext cx="351" cy="241"/>
          </p:xfrm>
          <a:graphic>
            <a:graphicData uri="http://schemas.openxmlformats.org/presentationml/2006/ole">
              <mc:AlternateContent xmlns:mc="http://schemas.openxmlformats.org/markup-compatibility/2006">
                <mc:Choice xmlns:v="urn:schemas-microsoft-com:vml" Requires="v">
                  <p:oleObj spid="_x0000_s232696" name="Equation" r:id="rId22" imgW="241200" imgH="164880" progId="Equation.DSMT4">
                    <p:embed/>
                  </p:oleObj>
                </mc:Choice>
                <mc:Fallback>
                  <p:oleObj name="Equation" r:id="rId22" imgW="241200" imgH="164880" progId="Equation.DSMT4">
                    <p:embed/>
                    <p:pic>
                      <p:nvPicPr>
                        <p:cNvPr id="65" name="Object 63">
                          <a:extLst>
                            <a:ext uri="{FF2B5EF4-FFF2-40B4-BE49-F238E27FC236}">
                              <a16:creationId xmlns:a16="http://schemas.microsoft.com/office/drawing/2014/main" id="{0AE0947A-6644-4F42-B1D5-3207DCA7416F}"/>
                            </a:ext>
                          </a:extLst>
                        </p:cNvPr>
                        <p:cNvPicPr>
                          <a:picLocks noChangeAspect="1" noChangeArrowheads="1"/>
                        </p:cNvPicPr>
                        <p:nvPr/>
                      </p:nvPicPr>
                      <p:blipFill>
                        <a:blip r:embed="rId23"/>
                        <a:srcRect/>
                        <a:stretch>
                          <a:fillRect/>
                        </a:stretch>
                      </p:blipFill>
                      <p:spPr bwMode="auto">
                        <a:xfrm>
                          <a:off x="5246" y="3838"/>
                          <a:ext cx="351" cy="241"/>
                        </a:xfrm>
                        <a:prstGeom prst="rect">
                          <a:avLst/>
                        </a:prstGeom>
                        <a:noFill/>
                        <a:ln w="9525">
                          <a:solidFill>
                            <a:schemeClr va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 name="Line 64">
              <a:extLst>
                <a:ext uri="{FF2B5EF4-FFF2-40B4-BE49-F238E27FC236}">
                  <a16:creationId xmlns:a16="http://schemas.microsoft.com/office/drawing/2014/main" id="{DCEA7DB4-B9A2-4381-818C-4C842EBC213C}"/>
                </a:ext>
              </a:extLst>
            </p:cNvPr>
            <p:cNvSpPr>
              <a:spLocks noChangeShapeType="1"/>
            </p:cNvSpPr>
            <p:nvPr/>
          </p:nvSpPr>
          <p:spPr bwMode="auto">
            <a:xfrm>
              <a:off x="5196" y="2832"/>
              <a:ext cx="0" cy="1152"/>
            </a:xfrm>
            <a:prstGeom prst="line">
              <a:avLst/>
            </a:prstGeom>
            <a:noFill/>
            <a:ln w="57150">
              <a:solidFill>
                <a:schemeClr val="hlink"/>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65">
              <a:extLst>
                <a:ext uri="{FF2B5EF4-FFF2-40B4-BE49-F238E27FC236}">
                  <a16:creationId xmlns:a16="http://schemas.microsoft.com/office/drawing/2014/main" id="{10020713-51FD-4515-A90C-86FC770F98F3}"/>
                </a:ext>
              </a:extLst>
            </p:cNvPr>
            <p:cNvSpPr>
              <a:spLocks noChangeShapeType="1"/>
            </p:cNvSpPr>
            <p:nvPr/>
          </p:nvSpPr>
          <p:spPr bwMode="auto">
            <a:xfrm>
              <a:off x="4796" y="3680"/>
              <a:ext cx="432" cy="0"/>
            </a:xfrm>
            <a:prstGeom prst="line">
              <a:avLst/>
            </a:prstGeom>
            <a:noFill/>
            <a:ln w="57150">
              <a:solidFill>
                <a:schemeClr val="hlink"/>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Line 66">
              <a:extLst>
                <a:ext uri="{FF2B5EF4-FFF2-40B4-BE49-F238E27FC236}">
                  <a16:creationId xmlns:a16="http://schemas.microsoft.com/office/drawing/2014/main" id="{EF4DAEFB-A57F-48E3-823B-41F0BB5F8E15}"/>
                </a:ext>
              </a:extLst>
            </p:cNvPr>
            <p:cNvSpPr>
              <a:spLocks noChangeShapeType="1"/>
            </p:cNvSpPr>
            <p:nvPr/>
          </p:nvSpPr>
          <p:spPr bwMode="auto">
            <a:xfrm>
              <a:off x="4796" y="3136"/>
              <a:ext cx="432" cy="0"/>
            </a:xfrm>
            <a:prstGeom prst="line">
              <a:avLst/>
            </a:prstGeom>
            <a:noFill/>
            <a:ln w="57150">
              <a:solidFill>
                <a:schemeClr val="hlink"/>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67">
              <a:extLst>
                <a:ext uri="{FF2B5EF4-FFF2-40B4-BE49-F238E27FC236}">
                  <a16:creationId xmlns:a16="http://schemas.microsoft.com/office/drawing/2014/main" id="{3C593E16-69C4-4EDC-8925-BDA08B556483}"/>
                </a:ext>
              </a:extLst>
            </p:cNvPr>
            <p:cNvSpPr>
              <a:spLocks noChangeShapeType="1"/>
            </p:cNvSpPr>
            <p:nvPr/>
          </p:nvSpPr>
          <p:spPr bwMode="auto">
            <a:xfrm>
              <a:off x="4796" y="3424"/>
              <a:ext cx="432" cy="0"/>
            </a:xfrm>
            <a:prstGeom prst="line">
              <a:avLst/>
            </a:prstGeom>
            <a:noFill/>
            <a:ln w="57150">
              <a:solidFill>
                <a:schemeClr val="hlink"/>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0" name="Group 59">
            <a:extLst>
              <a:ext uri="{FF2B5EF4-FFF2-40B4-BE49-F238E27FC236}">
                <a16:creationId xmlns:a16="http://schemas.microsoft.com/office/drawing/2014/main" id="{C027F72C-9B5B-43A7-AE3E-E9BB50613C4C}"/>
              </a:ext>
            </a:extLst>
          </p:cNvPr>
          <p:cNvGrpSpPr>
            <a:grpSpLocks/>
          </p:cNvGrpSpPr>
          <p:nvPr/>
        </p:nvGrpSpPr>
        <p:grpSpPr bwMode="auto">
          <a:xfrm>
            <a:off x="7678868" y="163174"/>
            <a:ext cx="1301750" cy="1949450"/>
            <a:chOff x="4796" y="2832"/>
            <a:chExt cx="820" cy="1228"/>
          </a:xfrm>
        </p:grpSpPr>
        <p:sp>
          <p:nvSpPr>
            <p:cNvPr id="91" name="Line 60">
              <a:extLst>
                <a:ext uri="{FF2B5EF4-FFF2-40B4-BE49-F238E27FC236}">
                  <a16:creationId xmlns:a16="http://schemas.microsoft.com/office/drawing/2014/main" id="{B17AF599-A21A-4155-8680-CB4106894788}"/>
                </a:ext>
              </a:extLst>
            </p:cNvPr>
            <p:cNvSpPr>
              <a:spLocks noChangeShapeType="1"/>
            </p:cNvSpPr>
            <p:nvPr/>
          </p:nvSpPr>
          <p:spPr bwMode="auto">
            <a:xfrm flipH="1">
              <a:off x="5164" y="3136"/>
              <a:ext cx="432" cy="0"/>
            </a:xfrm>
            <a:prstGeom prst="line">
              <a:avLst/>
            </a:prstGeom>
            <a:noFill/>
            <a:ln w="57150">
              <a:solidFill>
                <a:srgbClr val="FF00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Line 61">
              <a:extLst>
                <a:ext uri="{FF2B5EF4-FFF2-40B4-BE49-F238E27FC236}">
                  <a16:creationId xmlns:a16="http://schemas.microsoft.com/office/drawing/2014/main" id="{A1397602-3241-444D-B4C7-EF318DBA7D09}"/>
                </a:ext>
              </a:extLst>
            </p:cNvPr>
            <p:cNvSpPr>
              <a:spLocks noChangeShapeType="1"/>
            </p:cNvSpPr>
            <p:nvPr/>
          </p:nvSpPr>
          <p:spPr bwMode="auto">
            <a:xfrm flipH="1">
              <a:off x="5164" y="3424"/>
              <a:ext cx="432" cy="0"/>
            </a:xfrm>
            <a:prstGeom prst="line">
              <a:avLst/>
            </a:prstGeom>
            <a:noFill/>
            <a:ln w="57150">
              <a:solidFill>
                <a:srgbClr val="FF00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Line 62">
              <a:extLst>
                <a:ext uri="{FF2B5EF4-FFF2-40B4-BE49-F238E27FC236}">
                  <a16:creationId xmlns:a16="http://schemas.microsoft.com/office/drawing/2014/main" id="{3509DC56-FB37-44A8-BF26-6704CA7D2DF5}"/>
                </a:ext>
              </a:extLst>
            </p:cNvPr>
            <p:cNvSpPr>
              <a:spLocks noChangeShapeType="1"/>
            </p:cNvSpPr>
            <p:nvPr/>
          </p:nvSpPr>
          <p:spPr bwMode="auto">
            <a:xfrm flipH="1">
              <a:off x="5164" y="3680"/>
              <a:ext cx="432" cy="0"/>
            </a:xfrm>
            <a:prstGeom prst="line">
              <a:avLst/>
            </a:prstGeom>
            <a:noFill/>
            <a:ln w="57150">
              <a:solidFill>
                <a:srgbClr val="FF00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94" name="Object 63">
              <a:extLst>
                <a:ext uri="{FF2B5EF4-FFF2-40B4-BE49-F238E27FC236}">
                  <a16:creationId xmlns:a16="http://schemas.microsoft.com/office/drawing/2014/main" id="{B71A79AB-E1D2-492A-84A6-6F1CDE44AAFB}"/>
                </a:ext>
              </a:extLst>
            </p:cNvPr>
            <p:cNvGraphicFramePr>
              <a:graphicFrameLocks noChangeAspect="1"/>
            </p:cNvGraphicFramePr>
            <p:nvPr/>
          </p:nvGraphicFramePr>
          <p:xfrm>
            <a:off x="5228" y="3856"/>
            <a:ext cx="388" cy="204"/>
          </p:xfrm>
          <a:graphic>
            <a:graphicData uri="http://schemas.openxmlformats.org/presentationml/2006/ole">
              <mc:AlternateContent xmlns:mc="http://schemas.openxmlformats.org/markup-compatibility/2006">
                <mc:Choice xmlns:v="urn:schemas-microsoft-com:vml" Requires="v">
                  <p:oleObj spid="_x0000_s232697" name="公式" r:id="rId16" imgW="266469" imgH="139579" progId="Equation.3">
                    <p:embed/>
                  </p:oleObj>
                </mc:Choice>
                <mc:Fallback>
                  <p:oleObj name="公式" r:id="rId16" imgW="266469" imgH="139579" progId="Equation.3">
                    <p:embed/>
                    <p:pic>
                      <p:nvPicPr>
                        <p:cNvPr id="54287" name="Object 6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228" y="3856"/>
                          <a:ext cx="388" cy="204"/>
                        </a:xfrm>
                        <a:prstGeom prst="rect">
                          <a:avLst/>
                        </a:prstGeom>
                        <a:noFill/>
                        <a:ln w="9525">
                          <a:solidFill>
                            <a:schemeClr va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 name="Line 64">
              <a:extLst>
                <a:ext uri="{FF2B5EF4-FFF2-40B4-BE49-F238E27FC236}">
                  <a16:creationId xmlns:a16="http://schemas.microsoft.com/office/drawing/2014/main" id="{B041C301-6CF1-4D6B-A4CE-8289B5D94EB1}"/>
                </a:ext>
              </a:extLst>
            </p:cNvPr>
            <p:cNvSpPr>
              <a:spLocks noChangeShapeType="1"/>
            </p:cNvSpPr>
            <p:nvPr/>
          </p:nvSpPr>
          <p:spPr bwMode="auto">
            <a:xfrm>
              <a:off x="5196" y="2832"/>
              <a:ext cx="0" cy="1152"/>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Line 65">
              <a:extLst>
                <a:ext uri="{FF2B5EF4-FFF2-40B4-BE49-F238E27FC236}">
                  <a16:creationId xmlns:a16="http://schemas.microsoft.com/office/drawing/2014/main" id="{579C09B3-F671-433A-9AC8-0EF4265506C0}"/>
                </a:ext>
              </a:extLst>
            </p:cNvPr>
            <p:cNvSpPr>
              <a:spLocks noChangeShapeType="1"/>
            </p:cNvSpPr>
            <p:nvPr/>
          </p:nvSpPr>
          <p:spPr bwMode="auto">
            <a:xfrm>
              <a:off x="4796" y="3680"/>
              <a:ext cx="432" cy="0"/>
            </a:xfrm>
            <a:prstGeom prst="line">
              <a:avLst/>
            </a:prstGeom>
            <a:noFill/>
            <a:ln w="57150">
              <a:solidFill>
                <a:srgbClr val="FF00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Line 66">
              <a:extLst>
                <a:ext uri="{FF2B5EF4-FFF2-40B4-BE49-F238E27FC236}">
                  <a16:creationId xmlns:a16="http://schemas.microsoft.com/office/drawing/2014/main" id="{AFD2E743-B8A3-47BE-8DCD-E32A269C14D6}"/>
                </a:ext>
              </a:extLst>
            </p:cNvPr>
            <p:cNvSpPr>
              <a:spLocks noChangeShapeType="1"/>
            </p:cNvSpPr>
            <p:nvPr/>
          </p:nvSpPr>
          <p:spPr bwMode="auto">
            <a:xfrm>
              <a:off x="4796" y="3136"/>
              <a:ext cx="432" cy="0"/>
            </a:xfrm>
            <a:prstGeom prst="line">
              <a:avLst/>
            </a:prstGeom>
            <a:noFill/>
            <a:ln w="57150">
              <a:solidFill>
                <a:srgbClr val="FF00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 name="Line 67">
              <a:extLst>
                <a:ext uri="{FF2B5EF4-FFF2-40B4-BE49-F238E27FC236}">
                  <a16:creationId xmlns:a16="http://schemas.microsoft.com/office/drawing/2014/main" id="{1E0333B4-75EA-46DD-8BC0-2CC2AA7B760E}"/>
                </a:ext>
              </a:extLst>
            </p:cNvPr>
            <p:cNvSpPr>
              <a:spLocks noChangeShapeType="1"/>
            </p:cNvSpPr>
            <p:nvPr/>
          </p:nvSpPr>
          <p:spPr bwMode="auto">
            <a:xfrm>
              <a:off x="4796" y="3424"/>
              <a:ext cx="432" cy="0"/>
            </a:xfrm>
            <a:prstGeom prst="line">
              <a:avLst/>
            </a:prstGeom>
            <a:noFill/>
            <a:ln w="57150">
              <a:solidFill>
                <a:srgbClr val="FF00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766853403"/>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71"/>
                                        </p:tgtEl>
                                        <p:attrNameLst>
                                          <p:attrName>style.visibility</p:attrName>
                                        </p:attrNameLst>
                                      </p:cBhvr>
                                      <p:to>
                                        <p:strVal val="visible"/>
                                      </p:to>
                                    </p:set>
                                    <p:animEffect transition="in" filter="barn(inVertical)">
                                      <p:cBhvr>
                                        <p:cTn id="12" dur="500"/>
                                        <p:tgtEl>
                                          <p:spTgt spid="7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90"/>
                                        </p:tgtEl>
                                        <p:attrNameLst>
                                          <p:attrName>style.visibility</p:attrName>
                                        </p:attrNameLst>
                                      </p:cBhvr>
                                      <p:to>
                                        <p:strVal val="visible"/>
                                      </p:to>
                                    </p:set>
                                    <p:animEffect transition="in" filter="barn(inVertical)">
                                      <p:cBhvr>
                                        <p:cTn id="17" dur="500"/>
                                        <p:tgtEl>
                                          <p:spTgt spid="9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8053"/>
                                        </p:tgtEl>
                                        <p:attrNameLst>
                                          <p:attrName>style.visibility</p:attrName>
                                        </p:attrNameLst>
                                      </p:cBhvr>
                                      <p:to>
                                        <p:strVal val="visible"/>
                                      </p:to>
                                    </p:set>
                                    <p:animEffect transition="in" filter="wipe(left)">
                                      <p:cBhvr>
                                        <p:cTn id="22" dur="500"/>
                                        <p:tgtEl>
                                          <p:spTgt spid="25805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37"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barn(outVertical)">
                                      <p:cBhvr>
                                        <p:cTn id="27" dur="500"/>
                                        <p:tgtEl>
                                          <p:spTgt spid="3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6"/>
                                        </p:tgtEl>
                                        <p:attrNameLst>
                                          <p:attrName>style.visibility</p:attrName>
                                        </p:attrNameLst>
                                      </p:cBhvr>
                                      <p:to>
                                        <p:strVal val="visible"/>
                                      </p:to>
                                    </p:set>
                                    <p:animEffect transition="in" filter="wipe(left)">
                                      <p:cBhvr>
                                        <p:cTn id="32" dur="500"/>
                                        <p:tgtEl>
                                          <p:spTgt spid="4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21" fill="hold" nodeType="click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barn(inVertical)">
                                      <p:cBhvr>
                                        <p:cTn id="37" dur="500"/>
                                        <p:tgtEl>
                                          <p:spTgt spid="5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wipe(left)">
                                      <p:cBhvr>
                                        <p:cTn id="42" dur="500"/>
                                        <p:tgtEl>
                                          <p:spTgt spid="4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5" fill="hold" nodeType="clickEffect">
                                  <p:stCondLst>
                                    <p:cond delay="0"/>
                                  </p:stCondLst>
                                  <p:childTnLst>
                                    <p:set>
                                      <p:cBhvr>
                                        <p:cTn id="46" dur="1" fill="hold">
                                          <p:stCondLst>
                                            <p:cond delay="0"/>
                                          </p:stCondLst>
                                        </p:cTn>
                                        <p:tgtEl>
                                          <p:spTgt spid="51"/>
                                        </p:tgtEl>
                                        <p:attrNameLst>
                                          <p:attrName>style.visibility</p:attrName>
                                        </p:attrNameLst>
                                      </p:cBhvr>
                                      <p:to>
                                        <p:strVal val="visible"/>
                                      </p:to>
                                    </p:set>
                                    <p:animEffect transition="in" filter="blinds(vertical)">
                                      <p:cBhvr>
                                        <p:cTn id="47" dur="500"/>
                                        <p:tgtEl>
                                          <p:spTgt spid="51"/>
                                        </p:tgtEl>
                                      </p:cBhvr>
                                    </p:animEffect>
                                  </p:childTnLst>
                                </p:cTn>
                              </p:par>
                            </p:childTnLst>
                          </p:cTn>
                        </p:par>
                        <p:par>
                          <p:cTn id="48" fill="hold" nodeType="afterGroup">
                            <p:stCondLst>
                              <p:cond delay="500"/>
                            </p:stCondLst>
                            <p:childTnLst>
                              <p:par>
                                <p:cTn id="49" presetID="3" presetClass="entr" presetSubtype="5" fill="hold" nodeType="afterEffect">
                                  <p:stCondLst>
                                    <p:cond delay="0"/>
                                  </p:stCondLst>
                                  <p:childTnLst>
                                    <p:set>
                                      <p:cBhvr>
                                        <p:cTn id="50" dur="1" fill="hold">
                                          <p:stCondLst>
                                            <p:cond delay="0"/>
                                          </p:stCondLst>
                                        </p:cTn>
                                        <p:tgtEl>
                                          <p:spTgt spid="50"/>
                                        </p:tgtEl>
                                        <p:attrNameLst>
                                          <p:attrName>style.visibility</p:attrName>
                                        </p:attrNameLst>
                                      </p:cBhvr>
                                      <p:to>
                                        <p:strVal val="visible"/>
                                      </p:to>
                                    </p:set>
                                    <p:animEffect transition="in" filter="blinds(vertical)">
                                      <p:cBhvr>
                                        <p:cTn id="51" dur="500"/>
                                        <p:tgtEl>
                                          <p:spTgt spid="5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3" presetClass="entr" presetSubtype="10" fill="hold" nodeType="click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blinds(horizontal)">
                                      <p:cBhvr>
                                        <p:cTn id="56" dur="500"/>
                                        <p:tgtEl>
                                          <p:spTgt spid="30"/>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wipe(left)">
                                      <p:cBhvr>
                                        <p:cTn id="61" dur="500"/>
                                        <p:tgtEl>
                                          <p:spTgt spid="3"/>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4"/>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6" presetClass="entr" presetSubtype="37" fill="hold" nodeType="clickEffect">
                                  <p:stCondLst>
                                    <p:cond delay="0"/>
                                  </p:stCondLst>
                                  <p:childTnLst>
                                    <p:set>
                                      <p:cBhvr>
                                        <p:cTn id="69" dur="1" fill="hold">
                                          <p:stCondLst>
                                            <p:cond delay="0"/>
                                          </p:stCondLst>
                                        </p:cTn>
                                        <p:tgtEl>
                                          <p:spTgt spid="37"/>
                                        </p:tgtEl>
                                        <p:attrNameLst>
                                          <p:attrName>style.visibility</p:attrName>
                                        </p:attrNameLst>
                                      </p:cBhvr>
                                      <p:to>
                                        <p:strVal val="visible"/>
                                      </p:to>
                                    </p:set>
                                    <p:animEffect transition="in" filter="barn(outVertical)">
                                      <p:cBhvr>
                                        <p:cTn id="70" dur="500"/>
                                        <p:tgtEl>
                                          <p:spTgt spid="37"/>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55"/>
                                        </p:tgtEl>
                                        <p:attrNameLst>
                                          <p:attrName>style.visibility</p:attrName>
                                        </p:attrNameLst>
                                      </p:cBhvr>
                                      <p:to>
                                        <p:strVal val="visible"/>
                                      </p:to>
                                    </p:set>
                                    <p:animEffect transition="in" filter="wipe(left)">
                                      <p:cBhvr>
                                        <p:cTn id="75" dur="500"/>
                                        <p:tgtEl>
                                          <p:spTgt spid="55"/>
                                        </p:tgtEl>
                                      </p:cBhvr>
                                    </p:animEffect>
                                  </p:childTnLst>
                                </p:cTn>
                              </p:par>
                            </p:childTnLst>
                          </p:cTn>
                        </p:par>
                      </p:childTnLst>
                    </p:cTn>
                  </p:par>
                  <p:par>
                    <p:cTn id="76" fill="hold">
                      <p:stCondLst>
                        <p:cond delay="indefinite"/>
                      </p:stCondLst>
                      <p:childTnLst>
                        <p:par>
                          <p:cTn id="77" fill="hold">
                            <p:stCondLst>
                              <p:cond delay="0"/>
                            </p:stCondLst>
                            <p:childTnLst>
                              <p:par>
                                <p:cTn id="78" presetID="16" presetClass="entr" presetSubtype="21" fill="hold" nodeType="clickEffect">
                                  <p:stCondLst>
                                    <p:cond delay="0"/>
                                  </p:stCondLst>
                                  <p:childTnLst>
                                    <p:set>
                                      <p:cBhvr>
                                        <p:cTn id="79" dur="1" fill="hold">
                                          <p:stCondLst>
                                            <p:cond delay="0"/>
                                          </p:stCondLst>
                                        </p:cTn>
                                        <p:tgtEl>
                                          <p:spTgt spid="61"/>
                                        </p:tgtEl>
                                        <p:attrNameLst>
                                          <p:attrName>style.visibility</p:attrName>
                                        </p:attrNameLst>
                                      </p:cBhvr>
                                      <p:to>
                                        <p:strVal val="visible"/>
                                      </p:to>
                                    </p:set>
                                    <p:animEffect transition="in" filter="barn(inVertical)">
                                      <p:cBhvr>
                                        <p:cTn id="80" dur="500"/>
                                        <p:tgtEl>
                                          <p:spTgt spid="61"/>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48"/>
                                        </p:tgtEl>
                                        <p:attrNameLst>
                                          <p:attrName>style.visibility</p:attrName>
                                        </p:attrNameLst>
                                      </p:cBhvr>
                                      <p:to>
                                        <p:strVal val="visible"/>
                                      </p:to>
                                    </p:set>
                                    <p:animEffect transition="in" filter="wipe(left)">
                                      <p:cBhvr>
                                        <p:cTn id="85" dur="500"/>
                                        <p:tgtEl>
                                          <p:spTgt spid="48"/>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5" fill="hold" nodeType="clickEffect">
                                  <p:stCondLst>
                                    <p:cond delay="0"/>
                                  </p:stCondLst>
                                  <p:childTnLst>
                                    <p:set>
                                      <p:cBhvr>
                                        <p:cTn id="89" dur="1" fill="hold">
                                          <p:stCondLst>
                                            <p:cond delay="0"/>
                                          </p:stCondLst>
                                        </p:cTn>
                                        <p:tgtEl>
                                          <p:spTgt spid="60"/>
                                        </p:tgtEl>
                                        <p:attrNameLst>
                                          <p:attrName>style.visibility</p:attrName>
                                        </p:attrNameLst>
                                      </p:cBhvr>
                                      <p:to>
                                        <p:strVal val="visible"/>
                                      </p:to>
                                    </p:set>
                                    <p:animEffect transition="in" filter="blinds(vertical)">
                                      <p:cBhvr>
                                        <p:cTn id="90" dur="500"/>
                                        <p:tgtEl>
                                          <p:spTgt spid="60"/>
                                        </p:tgtEl>
                                      </p:cBhvr>
                                    </p:animEffect>
                                  </p:childTnLst>
                                </p:cTn>
                              </p:par>
                            </p:childTnLst>
                          </p:cTn>
                        </p:par>
                        <p:par>
                          <p:cTn id="91" fill="hold">
                            <p:stCondLst>
                              <p:cond delay="500"/>
                            </p:stCondLst>
                            <p:childTnLst>
                              <p:par>
                                <p:cTn id="92" presetID="3" presetClass="entr" presetSubtype="5" fill="hold" nodeType="afterEffect">
                                  <p:stCondLst>
                                    <p:cond delay="0"/>
                                  </p:stCondLst>
                                  <p:childTnLst>
                                    <p:set>
                                      <p:cBhvr>
                                        <p:cTn id="93" dur="1" fill="hold">
                                          <p:stCondLst>
                                            <p:cond delay="0"/>
                                          </p:stCondLst>
                                        </p:cTn>
                                        <p:tgtEl>
                                          <p:spTgt spid="59"/>
                                        </p:tgtEl>
                                        <p:attrNameLst>
                                          <p:attrName>style.visibility</p:attrName>
                                        </p:attrNameLst>
                                      </p:cBhvr>
                                      <p:to>
                                        <p:strVal val="visible"/>
                                      </p:to>
                                    </p:set>
                                    <p:animEffect transition="in" filter="blinds(vertical)">
                                      <p:cBhvr>
                                        <p:cTn id="94" dur="500"/>
                                        <p:tgtEl>
                                          <p:spTgt spid="59"/>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nodeType="clickEffect">
                                  <p:stCondLst>
                                    <p:cond delay="0"/>
                                  </p:stCondLst>
                                  <p:childTnLst>
                                    <p:set>
                                      <p:cBhvr>
                                        <p:cTn id="98" dur="1" fill="hold">
                                          <p:stCondLst>
                                            <p:cond delay="0"/>
                                          </p:stCondLst>
                                        </p:cTn>
                                        <p:tgtEl>
                                          <p:spTgt spid="36"/>
                                        </p:tgtEl>
                                        <p:attrNameLst>
                                          <p:attrName>style.visibility</p:attrName>
                                        </p:attrNameLst>
                                      </p:cBhvr>
                                      <p:to>
                                        <p:strVal val="visible"/>
                                      </p:to>
                                    </p:set>
                                    <p:animEffect transition="in" filter="blinds(horizontal)">
                                      <p:cBhvr>
                                        <p:cTn id="9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3" grpId="0" autoUpdateAnimBg="0"/>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152400" y="152400"/>
            <a:ext cx="88392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FF3300"/>
                </a:solidFill>
                <a:latin typeface="宋体" panose="02010600030101010101" pitchFamily="2" charset="-122"/>
                <a:ea typeface="楷体_GB2312"/>
              </a:rPr>
              <a:t>例题</a:t>
            </a:r>
            <a:r>
              <a:rPr lang="en-US" altLang="zh-CN" sz="2800">
                <a:solidFill>
                  <a:srgbClr val="FF3300"/>
                </a:solidFill>
                <a:latin typeface="宋体" panose="02010600030101010101" pitchFamily="2" charset="-122"/>
                <a:ea typeface="楷体_GB2312"/>
              </a:rPr>
              <a:t>5</a:t>
            </a:r>
            <a:r>
              <a:rPr lang="zh-CN" altLang="en-US" sz="2800">
                <a:solidFill>
                  <a:srgbClr val="FF3300"/>
                </a:solidFill>
                <a:latin typeface="宋体" panose="02010600030101010101" pitchFamily="2" charset="-122"/>
                <a:ea typeface="楷体_GB2312"/>
              </a:rPr>
              <a:t>、</a:t>
            </a:r>
            <a:r>
              <a:rPr lang="zh-CN" altLang="en-US" sz="2800">
                <a:latin typeface="宋体" panose="02010600030101010101" pitchFamily="2" charset="-122"/>
                <a:ea typeface="楷体_GB2312"/>
              </a:rPr>
              <a:t>一细玻璃棒弯成半径为</a:t>
            </a:r>
            <a:r>
              <a:rPr lang="en-US" altLang="zh-CN" sz="2800">
                <a:latin typeface="宋体" panose="02010600030101010101" pitchFamily="2" charset="-122"/>
                <a:ea typeface="楷体_GB2312"/>
              </a:rPr>
              <a:t>R</a:t>
            </a:r>
            <a:r>
              <a:rPr lang="zh-CN" altLang="en-US" sz="2800">
                <a:latin typeface="宋体" panose="02010600030101010101" pitchFamily="2" charset="-122"/>
                <a:ea typeface="楷体_GB2312"/>
              </a:rPr>
              <a:t>的半圆形，沿上半部均匀分布有电荷</a:t>
            </a:r>
            <a:r>
              <a:rPr lang="en-US" altLang="zh-CN" sz="2800">
                <a:latin typeface="宋体" panose="02010600030101010101" pitchFamily="2" charset="-122"/>
                <a:ea typeface="楷体_GB2312"/>
              </a:rPr>
              <a:t>+q</a:t>
            </a:r>
            <a:r>
              <a:rPr lang="zh-CN" altLang="en-US" sz="2800">
                <a:latin typeface="宋体" panose="02010600030101010101" pitchFamily="2" charset="-122"/>
                <a:ea typeface="楷体_GB2312"/>
              </a:rPr>
              <a:t>，沿下半部均匀分布有电荷</a:t>
            </a:r>
            <a:r>
              <a:rPr lang="en-US" altLang="zh-CN" sz="2800">
                <a:latin typeface="宋体" panose="02010600030101010101" pitchFamily="2" charset="-122"/>
                <a:ea typeface="楷体_GB2312"/>
              </a:rPr>
              <a:t>-q</a:t>
            </a:r>
            <a:r>
              <a:rPr lang="zh-CN" altLang="en-US" sz="2800">
                <a:latin typeface="宋体" panose="02010600030101010101" pitchFamily="2" charset="-122"/>
                <a:ea typeface="楷体_GB2312"/>
              </a:rPr>
              <a:t>，求半圆中心</a:t>
            </a:r>
            <a:r>
              <a:rPr lang="en-US" altLang="zh-CN" sz="2800">
                <a:latin typeface="宋体" panose="02010600030101010101" pitchFamily="2" charset="-122"/>
                <a:ea typeface="楷体_GB2312"/>
              </a:rPr>
              <a:t>0</a:t>
            </a:r>
            <a:r>
              <a:rPr lang="zh-CN" altLang="en-US" sz="2800">
                <a:latin typeface="宋体" panose="02010600030101010101" pitchFamily="2" charset="-122"/>
                <a:ea typeface="楷体_GB2312"/>
              </a:rPr>
              <a:t>处的电场强度</a:t>
            </a:r>
            <a:r>
              <a:rPr lang="en-US" altLang="zh-CN" sz="2800">
                <a:latin typeface="宋体" panose="02010600030101010101" pitchFamily="2" charset="-122"/>
                <a:ea typeface="楷体_GB2312"/>
              </a:rPr>
              <a:t>E</a:t>
            </a:r>
            <a:r>
              <a:rPr lang="zh-CN" altLang="en-US" sz="2800">
                <a:latin typeface="宋体" panose="02010600030101010101" pitchFamily="2" charset="-122"/>
                <a:ea typeface="楷体_GB2312"/>
              </a:rPr>
              <a:t>。 </a:t>
            </a:r>
          </a:p>
        </p:txBody>
      </p:sp>
      <p:pic>
        <p:nvPicPr>
          <p:cNvPr id="55299" name="Picture 3" descr="pic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3975" y="1295400"/>
            <a:ext cx="2493963"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0" name="Text Box 4"/>
          <p:cNvSpPr txBox="1">
            <a:spLocks noChangeArrowheads="1"/>
          </p:cNvSpPr>
          <p:nvPr/>
        </p:nvSpPr>
        <p:spPr bwMode="auto">
          <a:xfrm>
            <a:off x="228600" y="1524000"/>
            <a:ext cx="57150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FF3300"/>
                </a:solidFill>
                <a:ea typeface="楷体_GB2312"/>
              </a:rPr>
              <a:t>解</a:t>
            </a:r>
            <a:r>
              <a:rPr lang="en-US" altLang="zh-CN" sz="2800">
                <a:solidFill>
                  <a:srgbClr val="FF3300"/>
                </a:solidFill>
                <a:ea typeface="楷体_GB2312"/>
              </a:rPr>
              <a:t>1:</a:t>
            </a:r>
            <a:r>
              <a:rPr lang="zh-CN" altLang="en-US" sz="2800">
                <a:ea typeface="楷体_GB2312"/>
              </a:rPr>
              <a:t>由对称性，带电荷为</a:t>
            </a:r>
            <a:r>
              <a:rPr lang="en-US" altLang="zh-CN" sz="2800">
                <a:ea typeface="楷体_GB2312"/>
              </a:rPr>
              <a:t>+q</a:t>
            </a:r>
            <a:r>
              <a:rPr lang="zh-CN" altLang="en-US" sz="2800">
                <a:ea typeface="楷体_GB2312"/>
              </a:rPr>
              <a:t>的</a:t>
            </a:r>
            <a:r>
              <a:rPr lang="en-US" altLang="zh-CN" sz="2800">
                <a:ea typeface="楷体_GB2312"/>
              </a:rPr>
              <a:t>1/4</a:t>
            </a:r>
            <a:r>
              <a:rPr lang="zh-CN" altLang="en-US" sz="2800">
                <a:ea typeface="楷体_GB2312"/>
              </a:rPr>
              <a:t>圆弧产生的电场方向在</a:t>
            </a:r>
            <a:r>
              <a:rPr lang="zh-CN" altLang="en-US" sz="2800">
                <a:solidFill>
                  <a:srgbClr val="FF0000"/>
                </a:solidFill>
                <a:ea typeface="楷体_GB2312"/>
              </a:rPr>
              <a:t>第四象限</a:t>
            </a:r>
            <a:r>
              <a:rPr lang="zh-CN" altLang="en-US" sz="2800">
                <a:solidFill>
                  <a:schemeClr val="accent2"/>
                </a:solidFill>
                <a:ea typeface="楷体_GB2312"/>
              </a:rPr>
              <a:t>。</a:t>
            </a:r>
          </a:p>
        </p:txBody>
      </p:sp>
      <p:sp>
        <p:nvSpPr>
          <p:cNvPr id="55301" name="Text Box 6"/>
          <p:cNvSpPr txBox="1">
            <a:spLocks noChangeArrowheads="1"/>
          </p:cNvSpPr>
          <p:nvPr/>
        </p:nvSpPr>
        <p:spPr bwMode="auto">
          <a:xfrm>
            <a:off x="152400" y="2590800"/>
            <a:ext cx="6172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ea typeface="楷体_GB2312"/>
              </a:rPr>
              <a:t>带电荷为</a:t>
            </a:r>
            <a:r>
              <a:rPr lang="en-US" altLang="zh-CN" sz="2800">
                <a:ea typeface="仿宋_GB2312" pitchFamily="49" charset="-122"/>
              </a:rPr>
              <a:t>-q</a:t>
            </a:r>
            <a:r>
              <a:rPr lang="zh-CN" altLang="en-US" sz="2800">
                <a:ea typeface="仿宋_GB2312" pitchFamily="49" charset="-122"/>
              </a:rPr>
              <a:t>的</a:t>
            </a:r>
            <a:r>
              <a:rPr lang="en-US" altLang="zh-CN" sz="2800">
                <a:ea typeface="仿宋_GB2312" pitchFamily="49" charset="-122"/>
              </a:rPr>
              <a:t>1/4</a:t>
            </a:r>
            <a:r>
              <a:rPr lang="zh-CN" altLang="en-US" sz="2800">
                <a:ea typeface="仿宋_GB2312" pitchFamily="49" charset="-122"/>
              </a:rPr>
              <a:t>圆弧产生的电场方向</a:t>
            </a:r>
            <a:r>
              <a:rPr lang="zh-CN" altLang="en-US" sz="2800">
                <a:ea typeface="楷体_GB2312"/>
              </a:rPr>
              <a:t>在</a:t>
            </a:r>
            <a:r>
              <a:rPr lang="zh-CN" altLang="en-US" sz="2800">
                <a:solidFill>
                  <a:srgbClr val="FF3300"/>
                </a:solidFill>
                <a:ea typeface="楷体_GB2312"/>
              </a:rPr>
              <a:t>第三象限</a:t>
            </a:r>
            <a:r>
              <a:rPr lang="zh-CN" altLang="en-US" sz="2800">
                <a:ea typeface="楷体_GB2312"/>
              </a:rPr>
              <a:t>。它们的合场强沿</a:t>
            </a:r>
            <a:r>
              <a:rPr lang="en-US" altLang="zh-CN" sz="2800">
                <a:ea typeface="楷体_GB2312"/>
              </a:rPr>
              <a:t>-y</a:t>
            </a:r>
          </a:p>
        </p:txBody>
      </p:sp>
      <p:sp>
        <p:nvSpPr>
          <p:cNvPr id="55302" name="Line 7"/>
          <p:cNvSpPr>
            <a:spLocks noChangeShapeType="1"/>
          </p:cNvSpPr>
          <p:nvPr/>
        </p:nvSpPr>
        <p:spPr bwMode="auto">
          <a:xfrm flipH="1">
            <a:off x="7023100" y="2568575"/>
            <a:ext cx="457200" cy="50165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392" name="Text Box 8"/>
          <p:cNvSpPr txBox="1">
            <a:spLocks noChangeArrowheads="1"/>
          </p:cNvSpPr>
          <p:nvPr/>
        </p:nvSpPr>
        <p:spPr bwMode="auto">
          <a:xfrm>
            <a:off x="309563" y="3886200"/>
            <a:ext cx="4191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chemeClr val="accent2"/>
                </a:solidFill>
                <a:ea typeface="楷体_GB2312"/>
              </a:rPr>
              <a:t>取电荷元</a:t>
            </a:r>
            <a:r>
              <a:rPr lang="en-US" altLang="zh-CN" sz="2800">
                <a:solidFill>
                  <a:schemeClr val="accent2"/>
                </a:solidFill>
                <a:ea typeface="楷体_GB2312"/>
              </a:rPr>
              <a:t>d</a:t>
            </a:r>
            <a:r>
              <a:rPr lang="en-US" altLang="zh-CN" sz="2800" i="1">
                <a:solidFill>
                  <a:schemeClr val="accent2"/>
                </a:solidFill>
                <a:ea typeface="楷体_GB2312"/>
              </a:rPr>
              <a:t>q=</a:t>
            </a:r>
            <a:r>
              <a:rPr lang="el-GR" altLang="zh-CN" sz="2800" i="1">
                <a:solidFill>
                  <a:schemeClr val="accent2"/>
                </a:solidFill>
                <a:cs typeface="Times New Roman" panose="02020603050405020304" pitchFamily="18" charset="0"/>
              </a:rPr>
              <a:t>λ</a:t>
            </a:r>
            <a:r>
              <a:rPr lang="en-US" altLang="zh-CN" sz="2800" i="1">
                <a:solidFill>
                  <a:schemeClr val="accent2"/>
                </a:solidFill>
                <a:cs typeface="Times New Roman" panose="02020603050405020304" pitchFamily="18" charset="0"/>
              </a:rPr>
              <a:t>R</a:t>
            </a:r>
            <a:r>
              <a:rPr lang="en-US" altLang="zh-CN" sz="2800">
                <a:solidFill>
                  <a:schemeClr val="accent2"/>
                </a:solidFill>
                <a:cs typeface="Times New Roman" panose="02020603050405020304" pitchFamily="18" charset="0"/>
              </a:rPr>
              <a:t>d</a:t>
            </a:r>
            <a:r>
              <a:rPr lang="en-US" altLang="zh-CN" sz="2800" i="1">
                <a:solidFill>
                  <a:schemeClr val="accent2"/>
                </a:solidFill>
                <a:cs typeface="Times New Roman" panose="02020603050405020304" pitchFamily="18" charset="0"/>
                <a:sym typeface="Symbol" panose="05050102010706020507" pitchFamily="18" charset="2"/>
              </a:rPr>
              <a:t></a:t>
            </a:r>
            <a:r>
              <a:rPr lang="en-US" altLang="zh-CN" sz="2800">
                <a:solidFill>
                  <a:schemeClr val="accent2"/>
                </a:solidFill>
                <a:cs typeface="Times New Roman" panose="02020603050405020304" pitchFamily="18" charset="0"/>
                <a:sym typeface="Symbol" panose="05050102010706020507" pitchFamily="18" charset="2"/>
              </a:rPr>
              <a:t>,</a:t>
            </a:r>
            <a:r>
              <a:rPr lang="zh-CN" altLang="en-US" sz="2800">
                <a:solidFill>
                  <a:schemeClr val="accent2"/>
                </a:solidFill>
                <a:ea typeface="楷体_GB2312"/>
              </a:rPr>
              <a:t>则</a:t>
            </a:r>
          </a:p>
        </p:txBody>
      </p:sp>
      <p:graphicFrame>
        <p:nvGraphicFramePr>
          <p:cNvPr id="144393" name="Object 9"/>
          <p:cNvGraphicFramePr>
            <a:graphicFrameLocks noChangeAspect="1"/>
          </p:cNvGraphicFramePr>
          <p:nvPr/>
        </p:nvGraphicFramePr>
        <p:xfrm>
          <a:off x="4284663" y="3789363"/>
          <a:ext cx="3178175" cy="900112"/>
        </p:xfrm>
        <a:graphic>
          <a:graphicData uri="http://schemas.openxmlformats.org/presentationml/2006/ole">
            <mc:AlternateContent xmlns:mc="http://schemas.openxmlformats.org/markup-compatibility/2006">
              <mc:Choice xmlns:v="urn:schemas-microsoft-com:vml" Requires="v">
                <p:oleObj spid="_x0000_s158110" name="Equation" r:id="rId4" imgW="1524000" imgH="431800" progId="Equation.3">
                  <p:embed/>
                </p:oleObj>
              </mc:Choice>
              <mc:Fallback>
                <p:oleObj name="Equation" r:id="rId4" imgW="1524000" imgH="431800" progId="Equation.3">
                  <p:embed/>
                  <p:pic>
                    <p:nvPicPr>
                      <p:cNvPr id="144393"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4663" y="3789363"/>
                        <a:ext cx="3178175" cy="900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05" name="Line 10"/>
          <p:cNvSpPr>
            <a:spLocks noChangeShapeType="1"/>
          </p:cNvSpPr>
          <p:nvPr/>
        </p:nvSpPr>
        <p:spPr bwMode="auto">
          <a:xfrm flipH="1">
            <a:off x="6948488" y="2124075"/>
            <a:ext cx="76200" cy="15240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5306" name="Group 18"/>
          <p:cNvGrpSpPr>
            <a:grpSpLocks/>
          </p:cNvGrpSpPr>
          <p:nvPr/>
        </p:nvGrpSpPr>
        <p:grpSpPr bwMode="auto">
          <a:xfrm>
            <a:off x="7019925" y="2060575"/>
            <a:ext cx="1131888" cy="936625"/>
            <a:chOff x="4422" y="1298"/>
            <a:chExt cx="713" cy="590"/>
          </a:xfrm>
        </p:grpSpPr>
        <p:sp>
          <p:nvSpPr>
            <p:cNvPr id="55314" name="Line 12"/>
            <p:cNvSpPr>
              <a:spLocks noChangeShapeType="1"/>
            </p:cNvSpPr>
            <p:nvPr/>
          </p:nvSpPr>
          <p:spPr bwMode="auto">
            <a:xfrm>
              <a:off x="4422" y="1389"/>
              <a:ext cx="713" cy="499"/>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5315" name="Object 13"/>
            <p:cNvGraphicFramePr>
              <a:graphicFrameLocks noChangeAspect="1"/>
            </p:cNvGraphicFramePr>
            <p:nvPr/>
          </p:nvGraphicFramePr>
          <p:xfrm>
            <a:off x="4557" y="1298"/>
            <a:ext cx="228" cy="275"/>
          </p:xfrm>
          <a:graphic>
            <a:graphicData uri="http://schemas.openxmlformats.org/presentationml/2006/ole">
              <mc:AlternateContent xmlns:mc="http://schemas.openxmlformats.org/markup-compatibility/2006">
                <mc:Choice xmlns:v="urn:schemas-microsoft-com:vml" Requires="v">
                  <p:oleObj spid="_x0000_s158111" name="Equation" r:id="rId6" imgW="126725" imgH="177415" progId="Equation.3">
                    <p:embed/>
                  </p:oleObj>
                </mc:Choice>
                <mc:Fallback>
                  <p:oleObj name="Equation" r:id="rId6" imgW="126725" imgH="177415" progId="Equation.3">
                    <p:embed/>
                    <p:pic>
                      <p:nvPicPr>
                        <p:cNvPr id="55315"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57" y="1298"/>
                          <a:ext cx="228" cy="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44398" name="Text Box 14"/>
          <p:cNvSpPr txBox="1">
            <a:spLocks noChangeArrowheads="1"/>
          </p:cNvSpPr>
          <p:nvPr/>
        </p:nvSpPr>
        <p:spPr bwMode="auto">
          <a:xfrm>
            <a:off x="152400" y="4648200"/>
            <a:ext cx="87630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ea typeface="楷体_GB2312"/>
              </a:rPr>
              <a:t>对上式积分且考虑到两个</a:t>
            </a:r>
            <a:r>
              <a:rPr lang="en-US" altLang="zh-CN" sz="2800">
                <a:ea typeface="仿宋_GB2312" pitchFamily="49" charset="-122"/>
              </a:rPr>
              <a:t>1/4</a:t>
            </a:r>
            <a:r>
              <a:rPr lang="zh-CN" altLang="en-US" sz="2800">
                <a:ea typeface="仿宋_GB2312" pitchFamily="49" charset="-122"/>
              </a:rPr>
              <a:t>圆弧产生的场强</a:t>
            </a:r>
            <a:r>
              <a:rPr lang="en-US" altLang="zh-CN" sz="2800">
                <a:ea typeface="仿宋_GB2312" pitchFamily="49" charset="-122"/>
              </a:rPr>
              <a:t>y</a:t>
            </a:r>
            <a:r>
              <a:rPr lang="zh-CN" altLang="en-US" sz="2800">
                <a:ea typeface="仿宋_GB2312" pitchFamily="49" charset="-122"/>
              </a:rPr>
              <a:t>分量大小相同</a:t>
            </a:r>
            <a:r>
              <a:rPr lang="zh-CN" altLang="en-US" sz="2800">
                <a:ea typeface="楷体_GB2312"/>
              </a:rPr>
              <a:t>：</a:t>
            </a:r>
          </a:p>
        </p:txBody>
      </p:sp>
      <p:graphicFrame>
        <p:nvGraphicFramePr>
          <p:cNvPr id="144399" name="Object 15"/>
          <p:cNvGraphicFramePr>
            <a:graphicFrameLocks noChangeAspect="1"/>
          </p:cNvGraphicFramePr>
          <p:nvPr/>
        </p:nvGraphicFramePr>
        <p:xfrm>
          <a:off x="301625" y="5562600"/>
          <a:ext cx="3652838" cy="1004888"/>
        </p:xfrm>
        <a:graphic>
          <a:graphicData uri="http://schemas.openxmlformats.org/presentationml/2006/ole">
            <mc:AlternateContent xmlns:mc="http://schemas.openxmlformats.org/markup-compatibility/2006">
              <mc:Choice xmlns:v="urn:schemas-microsoft-com:vml" Requires="v">
                <p:oleObj spid="_x0000_s158112" name="Equation" r:id="rId8" imgW="1752600" imgH="482600" progId="Equation.3">
                  <p:embed/>
                </p:oleObj>
              </mc:Choice>
              <mc:Fallback>
                <p:oleObj name="Equation" r:id="rId8" imgW="1752600" imgH="482600" progId="Equation.3">
                  <p:embed/>
                  <p:pic>
                    <p:nvPicPr>
                      <p:cNvPr id="144399"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1625" y="5562600"/>
                        <a:ext cx="3652838" cy="1004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4400" name="Object 16"/>
          <p:cNvGraphicFramePr>
            <a:graphicFrameLocks noChangeAspect="1"/>
          </p:cNvGraphicFramePr>
          <p:nvPr/>
        </p:nvGraphicFramePr>
        <p:xfrm>
          <a:off x="3959225" y="5562600"/>
          <a:ext cx="3203575" cy="1004888"/>
        </p:xfrm>
        <a:graphic>
          <a:graphicData uri="http://schemas.openxmlformats.org/presentationml/2006/ole">
            <mc:AlternateContent xmlns:mc="http://schemas.openxmlformats.org/markup-compatibility/2006">
              <mc:Choice xmlns:v="urn:schemas-microsoft-com:vml" Requires="v">
                <p:oleObj spid="_x0000_s158113" name="Equation" r:id="rId10" imgW="1536700" imgH="482600" progId="Equation.3">
                  <p:embed/>
                </p:oleObj>
              </mc:Choice>
              <mc:Fallback>
                <p:oleObj name="Equation" r:id="rId10" imgW="1536700" imgH="482600" progId="Equation.3">
                  <p:embed/>
                  <p:pic>
                    <p:nvPicPr>
                      <p:cNvPr id="144400"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59225" y="5562600"/>
                        <a:ext cx="3203575" cy="1004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10" name="Line 19"/>
          <p:cNvSpPr>
            <a:spLocks noChangeShapeType="1"/>
          </p:cNvSpPr>
          <p:nvPr/>
        </p:nvSpPr>
        <p:spPr bwMode="auto">
          <a:xfrm>
            <a:off x="6970713" y="2997200"/>
            <a:ext cx="100012" cy="71438"/>
          </a:xfrm>
          <a:prstGeom prst="line">
            <a:avLst/>
          </a:prstGeom>
          <a:noFill/>
          <a:ln w="571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nvGrpSpPr>
          <p:cNvPr id="55311" name="Group 22"/>
          <p:cNvGrpSpPr>
            <a:grpSpLocks/>
          </p:cNvGrpSpPr>
          <p:nvPr/>
        </p:nvGrpSpPr>
        <p:grpSpPr bwMode="auto">
          <a:xfrm>
            <a:off x="7524750" y="2565400"/>
            <a:ext cx="628650" cy="1865313"/>
            <a:chOff x="4740" y="1616"/>
            <a:chExt cx="396" cy="1175"/>
          </a:xfrm>
        </p:grpSpPr>
        <p:sp>
          <p:nvSpPr>
            <p:cNvPr id="55312" name="Line 20"/>
            <p:cNvSpPr>
              <a:spLocks noChangeShapeType="1"/>
            </p:cNvSpPr>
            <p:nvPr/>
          </p:nvSpPr>
          <p:spPr bwMode="auto">
            <a:xfrm>
              <a:off x="4740" y="1616"/>
              <a:ext cx="0" cy="862"/>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5313" name="Text Box 21"/>
            <p:cNvSpPr txBox="1">
              <a:spLocks noChangeArrowheads="1"/>
            </p:cNvSpPr>
            <p:nvPr/>
          </p:nvSpPr>
          <p:spPr bwMode="auto">
            <a:xfrm>
              <a:off x="4830" y="2387"/>
              <a:ext cx="306" cy="4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i="1">
                  <a:solidFill>
                    <a:srgbClr val="00FF00"/>
                  </a:solidFill>
                  <a:ea typeface="楷体_GB2312"/>
                </a:rPr>
                <a:t>E</a:t>
              </a:r>
            </a:p>
          </p:txBody>
        </p:sp>
      </p:grpSp>
    </p:spTree>
    <p:extLst>
      <p:ext uri="{BB962C8B-B14F-4D97-AF65-F5344CB8AC3E}">
        <p14:creationId xmlns:p14="http://schemas.microsoft.com/office/powerpoint/2010/main" val="2731151540"/>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4392">
                                            <p:txEl>
                                              <p:pRg st="0" end="0"/>
                                            </p:txEl>
                                          </p:spTgt>
                                        </p:tgtEl>
                                        <p:attrNameLst>
                                          <p:attrName>style.visibility</p:attrName>
                                        </p:attrNameLst>
                                      </p:cBhvr>
                                      <p:to>
                                        <p:strVal val="visible"/>
                                      </p:to>
                                    </p:set>
                                    <p:animEffect transition="in" filter="wipe(left)">
                                      <p:cBhvr>
                                        <p:cTn id="7" dur="500"/>
                                        <p:tgtEl>
                                          <p:spTgt spid="14439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44393"/>
                                        </p:tgtEl>
                                        <p:attrNameLst>
                                          <p:attrName>style.visibility</p:attrName>
                                        </p:attrNameLst>
                                      </p:cBhvr>
                                      <p:to>
                                        <p:strVal val="visible"/>
                                      </p:to>
                                    </p:set>
                                    <p:animEffect transition="in" filter="dissolve">
                                      <p:cBhvr>
                                        <p:cTn id="12" dur="500"/>
                                        <p:tgtEl>
                                          <p:spTgt spid="14439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4398">
                                            <p:txEl>
                                              <p:pRg st="0" end="0"/>
                                            </p:txEl>
                                          </p:spTgt>
                                        </p:tgtEl>
                                        <p:attrNameLst>
                                          <p:attrName>style.visibility</p:attrName>
                                        </p:attrNameLst>
                                      </p:cBhvr>
                                      <p:to>
                                        <p:strVal val="visible"/>
                                      </p:to>
                                    </p:set>
                                    <p:animEffect transition="in" filter="wipe(left)">
                                      <p:cBhvr>
                                        <p:cTn id="17" dur="500"/>
                                        <p:tgtEl>
                                          <p:spTgt spid="144398">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44399"/>
                                        </p:tgtEl>
                                        <p:attrNameLst>
                                          <p:attrName>style.visibility</p:attrName>
                                        </p:attrNameLst>
                                      </p:cBhvr>
                                      <p:to>
                                        <p:strVal val="visible"/>
                                      </p:to>
                                    </p:set>
                                    <p:animEffect transition="in" filter="dissolve">
                                      <p:cBhvr>
                                        <p:cTn id="22" dur="500"/>
                                        <p:tgtEl>
                                          <p:spTgt spid="14439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44400"/>
                                        </p:tgtEl>
                                        <p:attrNameLst>
                                          <p:attrName>style.visibility</p:attrName>
                                        </p:attrNameLst>
                                      </p:cBhvr>
                                      <p:to>
                                        <p:strVal val="visible"/>
                                      </p:to>
                                    </p:set>
                                    <p:animEffect transition="in" filter="dissolve">
                                      <p:cBhvr>
                                        <p:cTn id="27" dur="500"/>
                                        <p:tgtEl>
                                          <p:spTgt spid="144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92" grpId="0" build="p" autoUpdateAnimBg="0"/>
      <p:bldP spid="144398"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5410" name="Object 2"/>
          <p:cNvGraphicFramePr>
            <a:graphicFrameLocks noChangeAspect="1"/>
          </p:cNvGraphicFramePr>
          <p:nvPr/>
        </p:nvGraphicFramePr>
        <p:xfrm>
          <a:off x="242888" y="304800"/>
          <a:ext cx="3627437" cy="1004888"/>
        </p:xfrm>
        <a:graphic>
          <a:graphicData uri="http://schemas.openxmlformats.org/presentationml/2006/ole">
            <mc:AlternateContent xmlns:mc="http://schemas.openxmlformats.org/markup-compatibility/2006">
              <mc:Choice xmlns:v="urn:schemas-microsoft-com:vml" Requires="v">
                <p:oleObj spid="_x0000_s233572" name="Equation" r:id="rId3" imgW="1739900" imgH="482600" progId="Equation.3">
                  <p:embed/>
                </p:oleObj>
              </mc:Choice>
              <mc:Fallback>
                <p:oleObj name="Equation" r:id="rId3" imgW="1739900" imgH="482600" progId="Equation.3">
                  <p:embed/>
                  <p:pic>
                    <p:nvPicPr>
                      <p:cNvPr id="14541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888" y="304800"/>
                        <a:ext cx="3627437" cy="1004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5411" name="Object 3"/>
          <p:cNvGraphicFramePr>
            <a:graphicFrameLocks noChangeAspect="1"/>
          </p:cNvGraphicFramePr>
          <p:nvPr/>
        </p:nvGraphicFramePr>
        <p:xfrm>
          <a:off x="3806825" y="381000"/>
          <a:ext cx="1747838" cy="898525"/>
        </p:xfrm>
        <a:graphic>
          <a:graphicData uri="http://schemas.openxmlformats.org/presentationml/2006/ole">
            <mc:AlternateContent xmlns:mc="http://schemas.openxmlformats.org/markup-compatibility/2006">
              <mc:Choice xmlns:v="urn:schemas-microsoft-com:vml" Requires="v">
                <p:oleObj spid="_x0000_s233573" name="Equation" r:id="rId5" imgW="837836" imgH="431613" progId="Equation.3">
                  <p:embed/>
                </p:oleObj>
              </mc:Choice>
              <mc:Fallback>
                <p:oleObj name="Equation" r:id="rId5" imgW="837836" imgH="431613" progId="Equation.3">
                  <p:embed/>
                  <p:pic>
                    <p:nvPicPr>
                      <p:cNvPr id="145411"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6825" y="381000"/>
                        <a:ext cx="1747838"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5412" name="Text Box 4"/>
          <p:cNvSpPr txBox="1">
            <a:spLocks noChangeArrowheads="1"/>
          </p:cNvSpPr>
          <p:nvPr/>
        </p:nvSpPr>
        <p:spPr bwMode="auto">
          <a:xfrm>
            <a:off x="228600" y="1371600"/>
            <a:ext cx="6400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ea typeface="楷体_GB2312"/>
              </a:rPr>
              <a:t>把</a:t>
            </a:r>
            <a:r>
              <a:rPr lang="en-US" altLang="zh-CN" sz="2800">
                <a:ea typeface="楷体_GB2312"/>
              </a:rPr>
              <a:t>λ= q/(</a:t>
            </a:r>
            <a:r>
              <a:rPr lang="en-US" altLang="zh-CN" sz="2800" i="1">
                <a:ea typeface="楷体_GB2312"/>
              </a:rPr>
              <a:t>π</a:t>
            </a:r>
            <a:r>
              <a:rPr lang="en-US" altLang="zh-CN" sz="2800">
                <a:ea typeface="楷体_GB2312"/>
              </a:rPr>
              <a:t>R/2)</a:t>
            </a:r>
            <a:r>
              <a:rPr lang="zh-CN" altLang="en-US" sz="2800">
                <a:ea typeface="楷体_GB2312"/>
              </a:rPr>
              <a:t>代入上式得</a:t>
            </a:r>
          </a:p>
        </p:txBody>
      </p:sp>
      <p:graphicFrame>
        <p:nvGraphicFramePr>
          <p:cNvPr id="145413" name="Object 5"/>
          <p:cNvGraphicFramePr>
            <a:graphicFrameLocks noChangeAspect="1"/>
          </p:cNvGraphicFramePr>
          <p:nvPr/>
        </p:nvGraphicFramePr>
        <p:xfrm>
          <a:off x="136525" y="2057400"/>
          <a:ext cx="3787775" cy="900113"/>
        </p:xfrm>
        <a:graphic>
          <a:graphicData uri="http://schemas.openxmlformats.org/presentationml/2006/ole">
            <mc:AlternateContent xmlns:mc="http://schemas.openxmlformats.org/markup-compatibility/2006">
              <mc:Choice xmlns:v="urn:schemas-microsoft-com:vml" Requires="v">
                <p:oleObj spid="_x0000_s233574" name="Equation" r:id="rId7" imgW="1816100" imgH="431800" progId="Equation.3">
                  <p:embed/>
                </p:oleObj>
              </mc:Choice>
              <mc:Fallback>
                <p:oleObj name="Equation" r:id="rId7" imgW="1816100" imgH="431800" progId="Equation.3">
                  <p:embed/>
                  <p:pic>
                    <p:nvPicPr>
                      <p:cNvPr id="145413"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6525" y="2057400"/>
                        <a:ext cx="3787775"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5414" name="Object 6"/>
          <p:cNvGraphicFramePr>
            <a:graphicFrameLocks noChangeAspect="1"/>
          </p:cNvGraphicFramePr>
          <p:nvPr/>
        </p:nvGraphicFramePr>
        <p:xfrm>
          <a:off x="3962400" y="1981200"/>
          <a:ext cx="1774825" cy="900113"/>
        </p:xfrm>
        <a:graphic>
          <a:graphicData uri="http://schemas.openxmlformats.org/presentationml/2006/ole">
            <mc:AlternateContent xmlns:mc="http://schemas.openxmlformats.org/markup-compatibility/2006">
              <mc:Choice xmlns:v="urn:schemas-microsoft-com:vml" Requires="v">
                <p:oleObj spid="_x0000_s233575" name="Equation" r:id="rId9" imgW="850531" imgH="431613" progId="Equation.3">
                  <p:embed/>
                </p:oleObj>
              </mc:Choice>
              <mc:Fallback>
                <p:oleObj name="Equation" r:id="rId9" imgW="850531" imgH="431613" progId="Equation.3">
                  <p:embed/>
                  <p:pic>
                    <p:nvPicPr>
                      <p:cNvPr id="145414"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62400" y="1981200"/>
                        <a:ext cx="1774825"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5415" name="Text Box 7"/>
          <p:cNvSpPr txBox="1">
            <a:spLocks noChangeArrowheads="1"/>
          </p:cNvSpPr>
          <p:nvPr/>
        </p:nvSpPr>
        <p:spPr bwMode="auto">
          <a:xfrm>
            <a:off x="152400" y="3124200"/>
            <a:ext cx="86868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FF3300"/>
                </a:solidFill>
                <a:ea typeface="楷体_GB2312"/>
              </a:rPr>
              <a:t>解</a:t>
            </a:r>
            <a:r>
              <a:rPr lang="en-US" altLang="zh-CN" sz="2800">
                <a:solidFill>
                  <a:srgbClr val="FF3300"/>
                </a:solidFill>
                <a:ea typeface="楷体_GB2312"/>
              </a:rPr>
              <a:t>2</a:t>
            </a:r>
            <a:r>
              <a:rPr lang="zh-CN" altLang="en-US" sz="2800">
                <a:solidFill>
                  <a:srgbClr val="FF3300"/>
                </a:solidFill>
                <a:ea typeface="楷体_GB2312"/>
              </a:rPr>
              <a:t>：</a:t>
            </a:r>
            <a:r>
              <a:rPr lang="zh-CN" altLang="en-US" sz="2800">
                <a:ea typeface="楷体_GB2312"/>
              </a:rPr>
              <a:t>先计算</a:t>
            </a:r>
            <a:r>
              <a:rPr lang="en-US" altLang="zh-CN" sz="2800">
                <a:ea typeface="楷体_GB2312"/>
              </a:rPr>
              <a:t>1/4</a:t>
            </a:r>
            <a:r>
              <a:rPr lang="zh-CN" altLang="en-US" sz="2800">
                <a:ea typeface="楷体_GB2312"/>
              </a:rPr>
              <a:t>圆弧的场强，由对称性可知场强的方向在从</a:t>
            </a:r>
            <a:r>
              <a:rPr lang="zh-CN" altLang="en-US" sz="2800">
                <a:solidFill>
                  <a:srgbClr val="FF3300"/>
                </a:solidFill>
                <a:ea typeface="楷体_GB2312"/>
              </a:rPr>
              <a:t>圆心到圆弧中点连线上</a:t>
            </a:r>
            <a:r>
              <a:rPr lang="zh-CN" altLang="en-US" sz="2800">
                <a:ea typeface="楷体_GB2312"/>
              </a:rPr>
              <a:t>，电荷线密度</a:t>
            </a:r>
            <a:r>
              <a:rPr lang="en-US" altLang="zh-CN" sz="2800">
                <a:ea typeface="楷体_GB2312"/>
              </a:rPr>
              <a:t>λ</a:t>
            </a:r>
            <a:r>
              <a:rPr lang="zh-CN" altLang="en-US" sz="2800">
                <a:ea typeface="楷体_GB2312"/>
              </a:rPr>
              <a:t>同上。取如图所示的电荷元，产生的电场分量</a:t>
            </a:r>
          </a:p>
        </p:txBody>
      </p:sp>
      <p:pic>
        <p:nvPicPr>
          <p:cNvPr id="145416" name="Picture 8" descr="pic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08663" y="609600"/>
            <a:ext cx="2867025" cy="176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17" name="Line 9"/>
          <p:cNvSpPr>
            <a:spLocks noChangeShapeType="1"/>
          </p:cNvSpPr>
          <p:nvPr/>
        </p:nvSpPr>
        <p:spPr bwMode="auto">
          <a:xfrm flipV="1">
            <a:off x="7162800" y="457200"/>
            <a:ext cx="0" cy="2590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45418" name="Group 10"/>
          <p:cNvGrpSpPr>
            <a:grpSpLocks/>
          </p:cNvGrpSpPr>
          <p:nvPr/>
        </p:nvGrpSpPr>
        <p:grpSpPr bwMode="auto">
          <a:xfrm>
            <a:off x="7086600" y="736600"/>
            <a:ext cx="711200" cy="1244600"/>
            <a:chOff x="4016" y="1200"/>
            <a:chExt cx="448" cy="784"/>
          </a:xfrm>
        </p:grpSpPr>
        <p:sp>
          <p:nvSpPr>
            <p:cNvPr id="56342" name="Line 11"/>
            <p:cNvSpPr>
              <a:spLocks noChangeShapeType="1"/>
            </p:cNvSpPr>
            <p:nvPr/>
          </p:nvSpPr>
          <p:spPr bwMode="auto">
            <a:xfrm rot="21050259" flipV="1">
              <a:off x="4016" y="1264"/>
              <a:ext cx="432" cy="72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6343" name="Object 12"/>
            <p:cNvGraphicFramePr>
              <a:graphicFrameLocks noChangeAspect="1"/>
            </p:cNvGraphicFramePr>
            <p:nvPr/>
          </p:nvGraphicFramePr>
          <p:xfrm>
            <a:off x="4080" y="1440"/>
            <a:ext cx="177" cy="248"/>
          </p:xfrm>
          <a:graphic>
            <a:graphicData uri="http://schemas.openxmlformats.org/presentationml/2006/ole">
              <mc:AlternateContent xmlns:mc="http://schemas.openxmlformats.org/markup-compatibility/2006">
                <mc:Choice xmlns:v="urn:schemas-microsoft-com:vml" Requires="v">
                  <p:oleObj spid="_x0000_s233576" name="Equation" r:id="rId12" imgW="126725" imgH="177415" progId="Equation.3">
                    <p:embed/>
                  </p:oleObj>
                </mc:Choice>
                <mc:Fallback>
                  <p:oleObj name="Equation" r:id="rId12" imgW="126725" imgH="177415" progId="Equation.3">
                    <p:embed/>
                    <p:pic>
                      <p:nvPicPr>
                        <p:cNvPr id="56343"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80" y="1440"/>
                          <a:ext cx="177"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44" name="Line 13"/>
            <p:cNvSpPr>
              <a:spLocks noChangeShapeType="1"/>
            </p:cNvSpPr>
            <p:nvPr/>
          </p:nvSpPr>
          <p:spPr bwMode="auto">
            <a:xfrm>
              <a:off x="4320" y="1200"/>
              <a:ext cx="144" cy="48"/>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45422" name="Group 14"/>
          <p:cNvGrpSpPr>
            <a:grpSpLocks/>
          </p:cNvGrpSpPr>
          <p:nvPr/>
        </p:nvGrpSpPr>
        <p:grpSpPr bwMode="auto">
          <a:xfrm>
            <a:off x="6324600" y="2057400"/>
            <a:ext cx="838200" cy="996950"/>
            <a:chOff x="3552" y="2016"/>
            <a:chExt cx="528" cy="628"/>
          </a:xfrm>
        </p:grpSpPr>
        <p:sp>
          <p:nvSpPr>
            <p:cNvPr id="56340" name="Line 15"/>
            <p:cNvSpPr>
              <a:spLocks noChangeShapeType="1"/>
            </p:cNvSpPr>
            <p:nvPr/>
          </p:nvSpPr>
          <p:spPr bwMode="auto">
            <a:xfrm flipH="1">
              <a:off x="3888" y="2016"/>
              <a:ext cx="192" cy="52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6341" name="Object 16"/>
            <p:cNvGraphicFramePr>
              <a:graphicFrameLocks noChangeAspect="1"/>
            </p:cNvGraphicFramePr>
            <p:nvPr/>
          </p:nvGraphicFramePr>
          <p:xfrm>
            <a:off x="3552" y="2304"/>
            <a:ext cx="360" cy="340"/>
          </p:xfrm>
          <a:graphic>
            <a:graphicData uri="http://schemas.openxmlformats.org/presentationml/2006/ole">
              <mc:AlternateContent xmlns:mc="http://schemas.openxmlformats.org/markup-compatibility/2006">
                <mc:Choice xmlns:v="urn:schemas-microsoft-com:vml" Requires="v">
                  <p:oleObj spid="_x0000_s233577" name="Equation" r:id="rId14" imgW="228501" imgH="215806" progId="Equation.3">
                    <p:embed/>
                  </p:oleObj>
                </mc:Choice>
                <mc:Fallback>
                  <p:oleObj name="Equation" r:id="rId14" imgW="228501" imgH="215806" progId="Equation.3">
                    <p:embed/>
                    <p:pic>
                      <p:nvPicPr>
                        <p:cNvPr id="56341" name="Object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52" y="2304"/>
                          <a:ext cx="360" cy="3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45425" name="Object 17"/>
          <p:cNvGraphicFramePr>
            <a:graphicFrameLocks noChangeAspect="1"/>
          </p:cNvGraphicFramePr>
          <p:nvPr/>
        </p:nvGraphicFramePr>
        <p:xfrm>
          <a:off x="457200" y="4495800"/>
          <a:ext cx="3076575" cy="1125538"/>
        </p:xfrm>
        <a:graphic>
          <a:graphicData uri="http://schemas.openxmlformats.org/presentationml/2006/ole">
            <mc:AlternateContent xmlns:mc="http://schemas.openxmlformats.org/markup-compatibility/2006">
              <mc:Choice xmlns:v="urn:schemas-microsoft-com:vml" Requires="v">
                <p:oleObj spid="_x0000_s233578" name="Equation" r:id="rId16" imgW="1180588" imgH="431613" progId="Equation.3">
                  <p:embed/>
                </p:oleObj>
              </mc:Choice>
              <mc:Fallback>
                <p:oleObj name="Equation" r:id="rId16" imgW="1180588" imgH="431613" progId="Equation.3">
                  <p:embed/>
                  <p:pic>
                    <p:nvPicPr>
                      <p:cNvPr id="145425"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7200" y="4495800"/>
                        <a:ext cx="3076575" cy="1125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5426" name="Object 18"/>
          <p:cNvGraphicFramePr>
            <a:graphicFrameLocks noChangeAspect="1"/>
          </p:cNvGraphicFramePr>
          <p:nvPr/>
        </p:nvGraphicFramePr>
        <p:xfrm>
          <a:off x="3581400" y="4495800"/>
          <a:ext cx="2349500" cy="1125538"/>
        </p:xfrm>
        <a:graphic>
          <a:graphicData uri="http://schemas.openxmlformats.org/presentationml/2006/ole">
            <mc:AlternateContent xmlns:mc="http://schemas.openxmlformats.org/markup-compatibility/2006">
              <mc:Choice xmlns:v="urn:schemas-microsoft-com:vml" Requires="v">
                <p:oleObj spid="_x0000_s233579" name="Equation" r:id="rId18" imgW="901309" imgH="431613" progId="Equation.3">
                  <p:embed/>
                </p:oleObj>
              </mc:Choice>
              <mc:Fallback>
                <p:oleObj name="Equation" r:id="rId18" imgW="901309" imgH="431613" progId="Equation.3">
                  <p:embed/>
                  <p:pic>
                    <p:nvPicPr>
                      <p:cNvPr id="145426" name="Object 1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581400" y="4495800"/>
                        <a:ext cx="2349500" cy="1125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5427" name="Text Box 19"/>
          <p:cNvSpPr txBox="1">
            <a:spLocks noChangeArrowheads="1"/>
          </p:cNvSpPr>
          <p:nvPr/>
        </p:nvSpPr>
        <p:spPr bwMode="auto">
          <a:xfrm>
            <a:off x="6248400" y="4724400"/>
            <a:ext cx="2438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ea typeface="楷体_GB2312"/>
              </a:rPr>
              <a:t>积分得</a:t>
            </a:r>
          </a:p>
        </p:txBody>
      </p:sp>
      <p:sp>
        <p:nvSpPr>
          <p:cNvPr id="145428" name="Oval 20"/>
          <p:cNvSpPr>
            <a:spLocks noChangeArrowheads="1"/>
          </p:cNvSpPr>
          <p:nvPr/>
        </p:nvSpPr>
        <p:spPr bwMode="auto">
          <a:xfrm flipV="1">
            <a:off x="7112000" y="19812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aphicFrame>
        <p:nvGraphicFramePr>
          <p:cNvPr id="145429" name="Object 21"/>
          <p:cNvGraphicFramePr>
            <a:graphicFrameLocks noChangeAspect="1"/>
          </p:cNvGraphicFramePr>
          <p:nvPr/>
        </p:nvGraphicFramePr>
        <p:xfrm>
          <a:off x="390525" y="5421313"/>
          <a:ext cx="3343275" cy="1257300"/>
        </p:xfrm>
        <a:graphic>
          <a:graphicData uri="http://schemas.openxmlformats.org/presentationml/2006/ole">
            <mc:AlternateContent xmlns:mc="http://schemas.openxmlformats.org/markup-compatibility/2006">
              <mc:Choice xmlns:v="urn:schemas-microsoft-com:vml" Requires="v">
                <p:oleObj spid="_x0000_s233580" name="Equation" r:id="rId20" imgW="1282700" imgH="482600" progId="Equation.3">
                  <p:embed/>
                </p:oleObj>
              </mc:Choice>
              <mc:Fallback>
                <p:oleObj name="Equation" r:id="rId20" imgW="1282700" imgH="482600" progId="Equation.3">
                  <p:embed/>
                  <p:pic>
                    <p:nvPicPr>
                      <p:cNvPr id="145429" name="Object 2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90525" y="5421313"/>
                        <a:ext cx="3343275" cy="1257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5430" name="Object 22"/>
          <p:cNvGraphicFramePr>
            <a:graphicFrameLocks noChangeAspect="1"/>
          </p:cNvGraphicFramePr>
          <p:nvPr/>
        </p:nvGraphicFramePr>
        <p:xfrm>
          <a:off x="3733800" y="5426075"/>
          <a:ext cx="2913063" cy="1355725"/>
        </p:xfrm>
        <a:graphic>
          <a:graphicData uri="http://schemas.openxmlformats.org/presentationml/2006/ole">
            <mc:AlternateContent xmlns:mc="http://schemas.openxmlformats.org/markup-compatibility/2006">
              <mc:Choice xmlns:v="urn:schemas-microsoft-com:vml" Requires="v">
                <p:oleObj spid="_x0000_s233581" name="Equation" r:id="rId22" imgW="1117600" imgH="520700" progId="Equation.3">
                  <p:embed/>
                </p:oleObj>
              </mc:Choice>
              <mc:Fallback>
                <p:oleObj name="Equation" r:id="rId22" imgW="1117600" imgH="520700" progId="Equation.3">
                  <p:embed/>
                  <p:pic>
                    <p:nvPicPr>
                      <p:cNvPr id="145430" name="Object 2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733800" y="5426075"/>
                        <a:ext cx="2913063" cy="1355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5431" name="Object 23"/>
          <p:cNvGraphicFramePr>
            <a:graphicFrameLocks noChangeAspect="1"/>
          </p:cNvGraphicFramePr>
          <p:nvPr/>
        </p:nvGraphicFramePr>
        <p:xfrm>
          <a:off x="6705600" y="5486400"/>
          <a:ext cx="1489075" cy="1223963"/>
        </p:xfrm>
        <a:graphic>
          <a:graphicData uri="http://schemas.openxmlformats.org/presentationml/2006/ole">
            <mc:AlternateContent xmlns:mc="http://schemas.openxmlformats.org/markup-compatibility/2006">
              <mc:Choice xmlns:v="urn:schemas-microsoft-com:vml" Requires="v">
                <p:oleObj spid="_x0000_s233582" name="Equation" r:id="rId24" imgW="571252" imgH="469696" progId="Equation.3">
                  <p:embed/>
                </p:oleObj>
              </mc:Choice>
              <mc:Fallback>
                <p:oleObj name="Equation" r:id="rId24" imgW="571252" imgH="469696" progId="Equation.3">
                  <p:embed/>
                  <p:pic>
                    <p:nvPicPr>
                      <p:cNvPr id="145431" name="Object 2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705600" y="5486400"/>
                        <a:ext cx="1489075" cy="1223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5432" name="Text Box 24"/>
          <p:cNvSpPr txBox="1">
            <a:spLocks noChangeArrowheads="1"/>
          </p:cNvSpPr>
          <p:nvPr/>
        </p:nvSpPr>
        <p:spPr bwMode="auto">
          <a:xfrm>
            <a:off x="7235825" y="260350"/>
            <a:ext cx="1409700" cy="3968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000">
                <a:solidFill>
                  <a:srgbClr val="FF3300"/>
                </a:solidFill>
                <a:ea typeface="楷体_GB2312"/>
              </a:rPr>
              <a:t>dq=</a:t>
            </a:r>
            <a:r>
              <a:rPr lang="en-US" altLang="zh-CN" sz="2000">
                <a:ea typeface="楷体_GB2312"/>
              </a:rPr>
              <a:t>λd</a:t>
            </a:r>
            <a:r>
              <a:rPr lang="en-US" altLang="zh-CN" sz="2000" i="1">
                <a:ea typeface="楷体_GB2312"/>
              </a:rPr>
              <a:t>l</a:t>
            </a:r>
          </a:p>
        </p:txBody>
      </p:sp>
    </p:spTree>
    <p:extLst>
      <p:ext uri="{BB962C8B-B14F-4D97-AF65-F5344CB8AC3E}">
        <p14:creationId xmlns:p14="http://schemas.microsoft.com/office/powerpoint/2010/main" val="2923082124"/>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45410"/>
                                        </p:tgtEl>
                                        <p:attrNameLst>
                                          <p:attrName>style.visibility</p:attrName>
                                        </p:attrNameLst>
                                      </p:cBhvr>
                                      <p:to>
                                        <p:strVal val="visible"/>
                                      </p:to>
                                    </p:set>
                                    <p:animEffect transition="in" filter="dissolve">
                                      <p:cBhvr>
                                        <p:cTn id="7" dur="500"/>
                                        <p:tgtEl>
                                          <p:spTgt spid="1454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45411"/>
                                        </p:tgtEl>
                                        <p:attrNameLst>
                                          <p:attrName>style.visibility</p:attrName>
                                        </p:attrNameLst>
                                      </p:cBhvr>
                                      <p:to>
                                        <p:strVal val="visible"/>
                                      </p:to>
                                    </p:set>
                                    <p:animEffect transition="in" filter="dissolve">
                                      <p:cBhvr>
                                        <p:cTn id="12" dur="500"/>
                                        <p:tgtEl>
                                          <p:spTgt spid="1454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5412">
                                            <p:txEl>
                                              <p:pRg st="0" end="0"/>
                                            </p:txEl>
                                          </p:spTgt>
                                        </p:tgtEl>
                                        <p:attrNameLst>
                                          <p:attrName>style.visibility</p:attrName>
                                        </p:attrNameLst>
                                      </p:cBhvr>
                                      <p:to>
                                        <p:strVal val="visible"/>
                                      </p:to>
                                    </p:set>
                                    <p:animEffect transition="in" filter="dissolve">
                                      <p:cBhvr>
                                        <p:cTn id="17" dur="500"/>
                                        <p:tgtEl>
                                          <p:spTgt spid="145412">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45413"/>
                                        </p:tgtEl>
                                        <p:attrNameLst>
                                          <p:attrName>style.visibility</p:attrName>
                                        </p:attrNameLst>
                                      </p:cBhvr>
                                      <p:to>
                                        <p:strVal val="visible"/>
                                      </p:to>
                                    </p:set>
                                    <p:animEffect transition="in" filter="dissolve">
                                      <p:cBhvr>
                                        <p:cTn id="22" dur="500"/>
                                        <p:tgtEl>
                                          <p:spTgt spid="1454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45414"/>
                                        </p:tgtEl>
                                        <p:attrNameLst>
                                          <p:attrName>style.visibility</p:attrName>
                                        </p:attrNameLst>
                                      </p:cBhvr>
                                      <p:to>
                                        <p:strVal val="visible"/>
                                      </p:to>
                                    </p:set>
                                    <p:animEffect transition="in" filter="dissolve">
                                      <p:cBhvr>
                                        <p:cTn id="27" dur="500"/>
                                        <p:tgtEl>
                                          <p:spTgt spid="14541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5415">
                                            <p:txEl>
                                              <p:pRg st="0" end="0"/>
                                            </p:txEl>
                                          </p:spTgt>
                                        </p:tgtEl>
                                        <p:attrNameLst>
                                          <p:attrName>style.visibility</p:attrName>
                                        </p:attrNameLst>
                                      </p:cBhvr>
                                      <p:to>
                                        <p:strVal val="visible"/>
                                      </p:to>
                                    </p:set>
                                    <p:animEffect transition="in" filter="wipe(left)">
                                      <p:cBhvr>
                                        <p:cTn id="32" dur="500"/>
                                        <p:tgtEl>
                                          <p:spTgt spid="145415">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45416"/>
                                        </p:tgtEl>
                                        <p:attrNameLst>
                                          <p:attrName>style.visibility</p:attrName>
                                        </p:attrNameLst>
                                      </p:cBhvr>
                                      <p:to>
                                        <p:strVal val="visible"/>
                                      </p:to>
                                    </p:set>
                                    <p:animEffect transition="in" filter="wipe(left)">
                                      <p:cBhvr>
                                        <p:cTn id="37" dur="500"/>
                                        <p:tgtEl>
                                          <p:spTgt spid="14541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145417"/>
                                        </p:tgtEl>
                                        <p:attrNameLst>
                                          <p:attrName>style.visibility</p:attrName>
                                        </p:attrNameLst>
                                      </p:cBhvr>
                                      <p:to>
                                        <p:strVal val="visible"/>
                                      </p:to>
                                    </p:set>
                                    <p:animEffect transition="in" filter="wipe(up)">
                                      <p:cBhvr>
                                        <p:cTn id="42" dur="500"/>
                                        <p:tgtEl>
                                          <p:spTgt spid="145417"/>
                                        </p:tgtEl>
                                      </p:cBhvr>
                                    </p:animEffect>
                                  </p:childTnLst>
                                </p:cTn>
                              </p:par>
                            </p:childTnLst>
                          </p:cTn>
                        </p:par>
                        <p:par>
                          <p:cTn id="43" fill="hold" nodeType="afterGroup">
                            <p:stCondLst>
                              <p:cond delay="500"/>
                            </p:stCondLst>
                            <p:childTnLst>
                              <p:par>
                                <p:cTn id="44" presetID="22" presetClass="entr" presetSubtype="1" fill="hold" grpId="0" nodeType="afterEffect">
                                  <p:stCondLst>
                                    <p:cond delay="0"/>
                                  </p:stCondLst>
                                  <p:childTnLst>
                                    <p:set>
                                      <p:cBhvr>
                                        <p:cTn id="45" dur="1" fill="hold">
                                          <p:stCondLst>
                                            <p:cond delay="0"/>
                                          </p:stCondLst>
                                        </p:cTn>
                                        <p:tgtEl>
                                          <p:spTgt spid="145428"/>
                                        </p:tgtEl>
                                        <p:attrNameLst>
                                          <p:attrName>style.visibility</p:attrName>
                                        </p:attrNameLst>
                                      </p:cBhvr>
                                      <p:to>
                                        <p:strVal val="visible"/>
                                      </p:to>
                                    </p:set>
                                    <p:animEffect transition="in" filter="wipe(up)">
                                      <p:cBhvr>
                                        <p:cTn id="46" dur="500"/>
                                        <p:tgtEl>
                                          <p:spTgt spid="145428"/>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145418"/>
                                        </p:tgtEl>
                                        <p:attrNameLst>
                                          <p:attrName>style.visibility</p:attrName>
                                        </p:attrNameLst>
                                      </p:cBhvr>
                                      <p:to>
                                        <p:strVal val="visible"/>
                                      </p:to>
                                    </p:set>
                                    <p:animEffect transition="in" filter="wipe(left)">
                                      <p:cBhvr>
                                        <p:cTn id="51" dur="500"/>
                                        <p:tgtEl>
                                          <p:spTgt spid="14541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45432"/>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2" fill="hold" nodeType="clickEffect">
                                  <p:stCondLst>
                                    <p:cond delay="0"/>
                                  </p:stCondLst>
                                  <p:childTnLst>
                                    <p:set>
                                      <p:cBhvr>
                                        <p:cTn id="59" dur="1" fill="hold">
                                          <p:stCondLst>
                                            <p:cond delay="0"/>
                                          </p:stCondLst>
                                        </p:cTn>
                                        <p:tgtEl>
                                          <p:spTgt spid="145422"/>
                                        </p:tgtEl>
                                        <p:attrNameLst>
                                          <p:attrName>style.visibility</p:attrName>
                                        </p:attrNameLst>
                                      </p:cBhvr>
                                      <p:to>
                                        <p:strVal val="visible"/>
                                      </p:to>
                                    </p:set>
                                    <p:animEffect transition="in" filter="wipe(right)">
                                      <p:cBhvr>
                                        <p:cTn id="60" dur="500"/>
                                        <p:tgtEl>
                                          <p:spTgt spid="14542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145425"/>
                                        </p:tgtEl>
                                        <p:attrNameLst>
                                          <p:attrName>style.visibility</p:attrName>
                                        </p:attrNameLst>
                                      </p:cBhvr>
                                      <p:to>
                                        <p:strVal val="visible"/>
                                      </p:to>
                                    </p:set>
                                    <p:animEffect transition="in" filter="wipe(left)">
                                      <p:cBhvr>
                                        <p:cTn id="65" dur="500"/>
                                        <p:tgtEl>
                                          <p:spTgt spid="145425"/>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145426"/>
                                        </p:tgtEl>
                                        <p:attrNameLst>
                                          <p:attrName>style.visibility</p:attrName>
                                        </p:attrNameLst>
                                      </p:cBhvr>
                                      <p:to>
                                        <p:strVal val="visible"/>
                                      </p:to>
                                    </p:set>
                                    <p:animEffect transition="in" filter="wipe(left)">
                                      <p:cBhvr>
                                        <p:cTn id="70" dur="500"/>
                                        <p:tgtEl>
                                          <p:spTgt spid="145426"/>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 presetClass="entr" presetSubtype="8" fill="hold" grpId="0" nodeType="clickEffect">
                                  <p:stCondLst>
                                    <p:cond delay="0"/>
                                  </p:stCondLst>
                                  <p:childTnLst>
                                    <p:set>
                                      <p:cBhvr>
                                        <p:cTn id="74" dur="1" fill="hold">
                                          <p:stCondLst>
                                            <p:cond delay="0"/>
                                          </p:stCondLst>
                                        </p:cTn>
                                        <p:tgtEl>
                                          <p:spTgt spid="145427"/>
                                        </p:tgtEl>
                                        <p:attrNameLst>
                                          <p:attrName>style.visibility</p:attrName>
                                        </p:attrNameLst>
                                      </p:cBhvr>
                                      <p:to>
                                        <p:strVal val="visible"/>
                                      </p:to>
                                    </p:set>
                                    <p:anim calcmode="lin" valueType="num">
                                      <p:cBhvr additive="base">
                                        <p:cTn id="75" dur="500" fill="hold"/>
                                        <p:tgtEl>
                                          <p:spTgt spid="145427"/>
                                        </p:tgtEl>
                                        <p:attrNameLst>
                                          <p:attrName>ppt_x</p:attrName>
                                        </p:attrNameLst>
                                      </p:cBhvr>
                                      <p:tavLst>
                                        <p:tav tm="0">
                                          <p:val>
                                            <p:strVal val="0-#ppt_w/2"/>
                                          </p:val>
                                        </p:tav>
                                        <p:tav tm="100000">
                                          <p:val>
                                            <p:strVal val="#ppt_x"/>
                                          </p:val>
                                        </p:tav>
                                      </p:tavLst>
                                    </p:anim>
                                    <p:anim calcmode="lin" valueType="num">
                                      <p:cBhvr additive="base">
                                        <p:cTn id="76" dur="500" fill="hold"/>
                                        <p:tgtEl>
                                          <p:spTgt spid="145427"/>
                                        </p:tgtEl>
                                        <p:attrNameLst>
                                          <p:attrName>ppt_y</p:attrName>
                                        </p:attrNameLst>
                                      </p:cBhvr>
                                      <p:tavLst>
                                        <p:tav tm="0">
                                          <p:val>
                                            <p:strVal val="#ppt_y"/>
                                          </p:val>
                                        </p:tav>
                                        <p:tav tm="100000">
                                          <p:val>
                                            <p:strVal val="#ppt_y"/>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145429"/>
                                        </p:tgtEl>
                                        <p:attrNameLst>
                                          <p:attrName>style.visibility</p:attrName>
                                        </p:attrNameLst>
                                      </p:cBhvr>
                                      <p:to>
                                        <p:strVal val="visible"/>
                                      </p:to>
                                    </p:set>
                                    <p:animEffect transition="in" filter="wipe(left)">
                                      <p:cBhvr>
                                        <p:cTn id="81" dur="500"/>
                                        <p:tgtEl>
                                          <p:spTgt spid="145429"/>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145430"/>
                                        </p:tgtEl>
                                        <p:attrNameLst>
                                          <p:attrName>style.visibility</p:attrName>
                                        </p:attrNameLst>
                                      </p:cBhvr>
                                      <p:to>
                                        <p:strVal val="visible"/>
                                      </p:to>
                                    </p:set>
                                    <p:animEffect transition="in" filter="wipe(left)">
                                      <p:cBhvr>
                                        <p:cTn id="86" dur="500"/>
                                        <p:tgtEl>
                                          <p:spTgt spid="145430"/>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145431"/>
                                        </p:tgtEl>
                                        <p:attrNameLst>
                                          <p:attrName>style.visibility</p:attrName>
                                        </p:attrNameLst>
                                      </p:cBhvr>
                                      <p:to>
                                        <p:strVal val="visible"/>
                                      </p:to>
                                    </p:set>
                                    <p:animEffect transition="in" filter="wipe(left)">
                                      <p:cBhvr>
                                        <p:cTn id="91" dur="500"/>
                                        <p:tgtEl>
                                          <p:spTgt spid="1454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2" grpId="0" build="p" autoUpdateAnimBg="0"/>
      <p:bldP spid="145415" grpId="0" build="p" autoUpdateAnimBg="0"/>
      <p:bldP spid="145427" grpId="0" autoUpdateAnimBg="0"/>
      <p:bldP spid="145428" grpId="0" animBg="1"/>
      <p:bldP spid="14543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descr="pic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3975" y="1295400"/>
            <a:ext cx="2493963"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435" name="Line 3"/>
          <p:cNvSpPr>
            <a:spLocks noChangeShapeType="1"/>
          </p:cNvSpPr>
          <p:nvPr/>
        </p:nvSpPr>
        <p:spPr bwMode="auto">
          <a:xfrm>
            <a:off x="7531100" y="2590800"/>
            <a:ext cx="533400" cy="45720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36" name="Line 4"/>
          <p:cNvSpPr>
            <a:spLocks noChangeShapeType="1"/>
          </p:cNvSpPr>
          <p:nvPr/>
        </p:nvSpPr>
        <p:spPr bwMode="auto">
          <a:xfrm flipH="1">
            <a:off x="7023100" y="2590800"/>
            <a:ext cx="457200" cy="45720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6437" name="Object 5"/>
          <p:cNvGraphicFramePr>
            <a:graphicFrameLocks noChangeAspect="1"/>
          </p:cNvGraphicFramePr>
          <p:nvPr/>
        </p:nvGraphicFramePr>
        <p:xfrm>
          <a:off x="274638" y="152400"/>
          <a:ext cx="1854200" cy="1223963"/>
        </p:xfrm>
        <a:graphic>
          <a:graphicData uri="http://schemas.openxmlformats.org/presentationml/2006/ole">
            <mc:AlternateContent xmlns:mc="http://schemas.openxmlformats.org/markup-compatibility/2006">
              <mc:Choice xmlns:v="urn:schemas-microsoft-com:vml" Requires="v">
                <p:oleObj spid="_x0000_s160562" name="Equation" r:id="rId4" imgW="710891" imgH="469696" progId="Equation.3">
                  <p:embed/>
                </p:oleObj>
              </mc:Choice>
              <mc:Fallback>
                <p:oleObj name="Equation" r:id="rId4" imgW="710891" imgH="469696" progId="Equation.3">
                  <p:embed/>
                  <p:pic>
                    <p:nvPicPr>
                      <p:cNvPr id="14643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638" y="152400"/>
                        <a:ext cx="1854200" cy="1223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38" name="Object 6"/>
          <p:cNvGraphicFramePr>
            <a:graphicFrameLocks noChangeAspect="1"/>
          </p:cNvGraphicFramePr>
          <p:nvPr/>
        </p:nvGraphicFramePr>
        <p:xfrm>
          <a:off x="8077200" y="2895600"/>
          <a:ext cx="357188" cy="387350"/>
        </p:xfrm>
        <a:graphic>
          <a:graphicData uri="http://schemas.openxmlformats.org/presentationml/2006/ole">
            <mc:AlternateContent xmlns:mc="http://schemas.openxmlformats.org/markup-compatibility/2006">
              <mc:Choice xmlns:v="urn:schemas-microsoft-com:vml" Requires="v">
                <p:oleObj spid="_x0000_s160563" name="Equation" r:id="rId6" imgW="152268" imgH="164957" progId="Equation.3">
                  <p:embed/>
                </p:oleObj>
              </mc:Choice>
              <mc:Fallback>
                <p:oleObj name="Equation" r:id="rId6" imgW="152268" imgH="164957" progId="Equation.3">
                  <p:embed/>
                  <p:pic>
                    <p:nvPicPr>
                      <p:cNvPr id="146438"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77200" y="2895600"/>
                        <a:ext cx="357188" cy="387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6439" name="Text Box 7"/>
          <p:cNvSpPr txBox="1">
            <a:spLocks noChangeArrowheads="1"/>
          </p:cNvSpPr>
          <p:nvPr/>
        </p:nvSpPr>
        <p:spPr bwMode="auto">
          <a:xfrm>
            <a:off x="2133600" y="533400"/>
            <a:ext cx="6172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chemeClr val="accent2"/>
                </a:solidFill>
                <a:ea typeface="楷体_GB2312"/>
              </a:rPr>
              <a:t>结果如图。</a:t>
            </a:r>
          </a:p>
        </p:txBody>
      </p:sp>
      <p:graphicFrame>
        <p:nvGraphicFramePr>
          <p:cNvPr id="146440" name="Object 8"/>
          <p:cNvGraphicFramePr>
            <a:graphicFrameLocks noChangeAspect="1"/>
          </p:cNvGraphicFramePr>
          <p:nvPr/>
        </p:nvGraphicFramePr>
        <p:xfrm>
          <a:off x="228600" y="2654300"/>
          <a:ext cx="2616200" cy="628650"/>
        </p:xfrm>
        <a:graphic>
          <a:graphicData uri="http://schemas.openxmlformats.org/presentationml/2006/ole">
            <mc:AlternateContent xmlns:mc="http://schemas.openxmlformats.org/markup-compatibility/2006">
              <mc:Choice xmlns:v="urn:schemas-microsoft-com:vml" Requires="v">
                <p:oleObj spid="_x0000_s160564" name="Equation" r:id="rId8" imgW="1002865" imgH="241195" progId="Equation.3">
                  <p:embed/>
                </p:oleObj>
              </mc:Choice>
              <mc:Fallback>
                <p:oleObj name="Equation" r:id="rId8" imgW="1002865" imgH="241195" progId="Equation.3">
                  <p:embed/>
                  <p:pic>
                    <p:nvPicPr>
                      <p:cNvPr id="14644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8600" y="2654300"/>
                        <a:ext cx="2616200" cy="628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41" name="Object 9"/>
          <p:cNvGraphicFramePr>
            <a:graphicFrameLocks noChangeAspect="1"/>
          </p:cNvGraphicFramePr>
          <p:nvPr/>
        </p:nvGraphicFramePr>
        <p:xfrm>
          <a:off x="2895600" y="2349500"/>
          <a:ext cx="2349500" cy="1223963"/>
        </p:xfrm>
        <a:graphic>
          <a:graphicData uri="http://schemas.openxmlformats.org/presentationml/2006/ole">
            <mc:AlternateContent xmlns:mc="http://schemas.openxmlformats.org/markup-compatibility/2006">
              <mc:Choice xmlns:v="urn:schemas-microsoft-com:vml" Requires="v">
                <p:oleObj spid="_x0000_s160565" name="Equation" r:id="rId10" imgW="901309" imgH="469696" progId="Equation.3">
                  <p:embed/>
                </p:oleObj>
              </mc:Choice>
              <mc:Fallback>
                <p:oleObj name="Equation" r:id="rId10" imgW="901309" imgH="469696" progId="Equation.3">
                  <p:embed/>
                  <p:pic>
                    <p:nvPicPr>
                      <p:cNvPr id="146441"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95600" y="2349500"/>
                        <a:ext cx="2349500" cy="1223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42" name="Object 10"/>
          <p:cNvGraphicFramePr>
            <a:graphicFrameLocks noChangeAspect="1"/>
          </p:cNvGraphicFramePr>
          <p:nvPr/>
        </p:nvGraphicFramePr>
        <p:xfrm>
          <a:off x="762000" y="3568700"/>
          <a:ext cx="1489075" cy="1125538"/>
        </p:xfrm>
        <a:graphic>
          <a:graphicData uri="http://schemas.openxmlformats.org/presentationml/2006/ole">
            <mc:AlternateContent xmlns:mc="http://schemas.openxmlformats.org/markup-compatibility/2006">
              <mc:Choice xmlns:v="urn:schemas-microsoft-com:vml" Requires="v">
                <p:oleObj spid="_x0000_s160566" name="Equation" r:id="rId12" imgW="571252" imgH="431613" progId="Equation.3">
                  <p:embed/>
                </p:oleObj>
              </mc:Choice>
              <mc:Fallback>
                <p:oleObj name="Equation" r:id="rId12" imgW="571252" imgH="431613" progId="Equation.3">
                  <p:embed/>
                  <p:pic>
                    <p:nvPicPr>
                      <p:cNvPr id="146442"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62000" y="3568700"/>
                        <a:ext cx="1489075" cy="1125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43" name="Object 11"/>
          <p:cNvGraphicFramePr>
            <a:graphicFrameLocks noChangeAspect="1"/>
          </p:cNvGraphicFramePr>
          <p:nvPr/>
        </p:nvGraphicFramePr>
        <p:xfrm>
          <a:off x="2424113" y="3573463"/>
          <a:ext cx="1550987" cy="1054100"/>
        </p:xfrm>
        <a:graphic>
          <a:graphicData uri="http://schemas.openxmlformats.org/presentationml/2006/ole">
            <mc:AlternateContent xmlns:mc="http://schemas.openxmlformats.org/markup-compatibility/2006">
              <mc:Choice xmlns:v="urn:schemas-microsoft-com:vml" Requires="v">
                <p:oleObj spid="_x0000_s160567" name="Equation" r:id="rId14" imgW="634725" imgH="431613" progId="Equation.3">
                  <p:embed/>
                </p:oleObj>
              </mc:Choice>
              <mc:Fallback>
                <p:oleObj name="Equation" r:id="rId14" imgW="634725" imgH="431613" progId="Equation.3">
                  <p:embed/>
                  <p:pic>
                    <p:nvPicPr>
                      <p:cNvPr id="146443"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24113" y="3573463"/>
                        <a:ext cx="1550987"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44" name="Object 12"/>
          <p:cNvGraphicFramePr>
            <a:graphicFrameLocks noChangeAspect="1"/>
          </p:cNvGraphicFramePr>
          <p:nvPr/>
        </p:nvGraphicFramePr>
        <p:xfrm>
          <a:off x="3851275" y="5300663"/>
          <a:ext cx="2709863" cy="1179512"/>
        </p:xfrm>
        <a:graphic>
          <a:graphicData uri="http://schemas.openxmlformats.org/presentationml/2006/ole">
            <mc:AlternateContent xmlns:mc="http://schemas.openxmlformats.org/markup-compatibility/2006">
              <mc:Choice xmlns:v="urn:schemas-microsoft-com:vml" Requires="v">
                <p:oleObj spid="_x0000_s160568" name="Equation" r:id="rId16" imgW="990170" imgH="431613" progId="Equation.3">
                  <p:embed/>
                </p:oleObj>
              </mc:Choice>
              <mc:Fallback>
                <p:oleObj name="Equation" r:id="rId16" imgW="990170" imgH="431613" progId="Equation.3">
                  <p:embed/>
                  <p:pic>
                    <p:nvPicPr>
                      <p:cNvPr id="146444" name="Object 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51275" y="5300663"/>
                        <a:ext cx="2709863" cy="1179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6445" name="Text Box 13"/>
          <p:cNvSpPr txBox="1">
            <a:spLocks noChangeArrowheads="1"/>
          </p:cNvSpPr>
          <p:nvPr/>
        </p:nvSpPr>
        <p:spPr bwMode="auto">
          <a:xfrm>
            <a:off x="304800" y="4787900"/>
            <a:ext cx="4724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ea typeface="楷体_GB2312"/>
              </a:rPr>
              <a:t>电场强度沿 </a:t>
            </a:r>
            <a:r>
              <a:rPr lang="en-US" altLang="zh-CN" sz="2800">
                <a:ea typeface="楷体_GB2312"/>
              </a:rPr>
              <a:t>–y </a:t>
            </a:r>
            <a:r>
              <a:rPr lang="zh-CN" altLang="en-US" sz="2800">
                <a:ea typeface="楷体_GB2312"/>
              </a:rPr>
              <a:t>方向</a:t>
            </a:r>
          </a:p>
        </p:txBody>
      </p:sp>
      <p:sp>
        <p:nvSpPr>
          <p:cNvPr id="146446" name="Text Box 14"/>
          <p:cNvSpPr txBox="1">
            <a:spLocks noChangeArrowheads="1"/>
          </p:cNvSpPr>
          <p:nvPr/>
        </p:nvSpPr>
        <p:spPr bwMode="auto">
          <a:xfrm>
            <a:off x="106363" y="1628775"/>
            <a:ext cx="6553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chemeClr val="accent2"/>
                </a:solidFill>
                <a:ea typeface="楷体_GB2312"/>
              </a:rPr>
              <a:t>同样可以得到</a:t>
            </a:r>
            <a:r>
              <a:rPr lang="en-US" altLang="zh-CN" sz="2800">
                <a:solidFill>
                  <a:schemeClr val="accent2"/>
                </a:solidFill>
                <a:ea typeface="楷体_GB2312"/>
              </a:rPr>
              <a:t>-q</a:t>
            </a:r>
            <a:r>
              <a:rPr lang="zh-CN" altLang="en-US" sz="2800">
                <a:solidFill>
                  <a:schemeClr val="accent2"/>
                </a:solidFill>
                <a:ea typeface="楷体_GB2312"/>
              </a:rPr>
              <a:t>的场强</a:t>
            </a:r>
            <a:r>
              <a:rPr lang="en-US" altLang="zh-CN" sz="2800">
                <a:solidFill>
                  <a:schemeClr val="accent2"/>
                </a:solidFill>
                <a:ea typeface="楷体_GB2312"/>
              </a:rPr>
              <a:t>,</a:t>
            </a:r>
            <a:r>
              <a:rPr lang="zh-CN" altLang="en-US" sz="2800">
                <a:solidFill>
                  <a:schemeClr val="accent2"/>
                </a:solidFill>
                <a:ea typeface="楷体_GB2312"/>
              </a:rPr>
              <a:t>则合场强为：</a:t>
            </a:r>
          </a:p>
        </p:txBody>
      </p:sp>
      <p:grpSp>
        <p:nvGrpSpPr>
          <p:cNvPr id="146447" name="Group 15"/>
          <p:cNvGrpSpPr>
            <a:grpSpLocks/>
          </p:cNvGrpSpPr>
          <p:nvPr/>
        </p:nvGrpSpPr>
        <p:grpSpPr bwMode="auto">
          <a:xfrm>
            <a:off x="7086600" y="2590800"/>
            <a:ext cx="406400" cy="1016000"/>
            <a:chOff x="4464" y="1632"/>
            <a:chExt cx="256" cy="640"/>
          </a:xfrm>
        </p:grpSpPr>
        <p:sp>
          <p:nvSpPr>
            <p:cNvPr id="57360" name="Line 16"/>
            <p:cNvSpPr>
              <a:spLocks noChangeShapeType="1"/>
            </p:cNvSpPr>
            <p:nvPr/>
          </p:nvSpPr>
          <p:spPr bwMode="auto">
            <a:xfrm>
              <a:off x="4720" y="1632"/>
              <a:ext cx="0" cy="576"/>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7361" name="Object 17"/>
            <p:cNvGraphicFramePr>
              <a:graphicFrameLocks noChangeAspect="1"/>
            </p:cNvGraphicFramePr>
            <p:nvPr/>
          </p:nvGraphicFramePr>
          <p:xfrm>
            <a:off x="4464" y="2016"/>
            <a:ext cx="192" cy="256"/>
          </p:xfrm>
          <a:graphic>
            <a:graphicData uri="http://schemas.openxmlformats.org/presentationml/2006/ole">
              <mc:AlternateContent xmlns:mc="http://schemas.openxmlformats.org/markup-compatibility/2006">
                <mc:Choice xmlns:v="urn:schemas-microsoft-com:vml" Requires="v">
                  <p:oleObj spid="_x0000_s160569" name="Equation" r:id="rId18" imgW="0" imgH="38258" progId="Equation.3">
                    <p:embed/>
                  </p:oleObj>
                </mc:Choice>
                <mc:Fallback>
                  <p:oleObj name="Equation" r:id="rId18" imgW="0" imgH="38258" progId="Equation.3">
                    <p:embed/>
                    <p:pic>
                      <p:nvPicPr>
                        <p:cNvPr id="57361" name="Object 1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464" y="2016"/>
                          <a:ext cx="192"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1887601077"/>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46437"/>
                                        </p:tgtEl>
                                        <p:attrNameLst>
                                          <p:attrName>style.visibility</p:attrName>
                                        </p:attrNameLst>
                                      </p:cBhvr>
                                      <p:to>
                                        <p:strVal val="visible"/>
                                      </p:to>
                                    </p:set>
                                    <p:animEffect transition="in" filter="wipe(left)">
                                      <p:cBhvr>
                                        <p:cTn id="7" dur="500"/>
                                        <p:tgtEl>
                                          <p:spTgt spid="1464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6439">
                                            <p:txEl>
                                              <p:pRg st="0" end="0"/>
                                            </p:txEl>
                                          </p:spTgt>
                                        </p:tgtEl>
                                        <p:attrNameLst>
                                          <p:attrName>style.visibility</p:attrName>
                                        </p:attrNameLst>
                                      </p:cBhvr>
                                      <p:to>
                                        <p:strVal val="visible"/>
                                      </p:to>
                                    </p:set>
                                    <p:animEffect transition="in" filter="wipe(left)">
                                      <p:cBhvr>
                                        <p:cTn id="12" dur="500"/>
                                        <p:tgtEl>
                                          <p:spTgt spid="14643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46435"/>
                                        </p:tgtEl>
                                        <p:attrNameLst>
                                          <p:attrName>style.visibility</p:attrName>
                                        </p:attrNameLst>
                                      </p:cBhvr>
                                      <p:to>
                                        <p:strVal val="visible"/>
                                      </p:to>
                                    </p:set>
                                    <p:animEffect transition="in" filter="wipe(left)">
                                      <p:cBhvr>
                                        <p:cTn id="17" dur="500"/>
                                        <p:tgtEl>
                                          <p:spTgt spid="14643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nodeType="clickEffect">
                                  <p:stCondLst>
                                    <p:cond delay="0"/>
                                  </p:stCondLst>
                                  <p:childTnLst>
                                    <p:set>
                                      <p:cBhvr>
                                        <p:cTn id="21" dur="1" fill="hold">
                                          <p:stCondLst>
                                            <p:cond delay="0"/>
                                          </p:stCondLst>
                                        </p:cTn>
                                        <p:tgtEl>
                                          <p:spTgt spid="146438"/>
                                        </p:tgtEl>
                                        <p:attrNameLst>
                                          <p:attrName>style.visibility</p:attrName>
                                        </p:attrNameLst>
                                      </p:cBhvr>
                                      <p:to>
                                        <p:strVal val="visible"/>
                                      </p:to>
                                    </p:set>
                                    <p:anim calcmode="lin" valueType="num">
                                      <p:cBhvr additive="base">
                                        <p:cTn id="22" dur="500" fill="hold"/>
                                        <p:tgtEl>
                                          <p:spTgt spid="146438"/>
                                        </p:tgtEl>
                                        <p:attrNameLst>
                                          <p:attrName>ppt_x</p:attrName>
                                        </p:attrNameLst>
                                      </p:cBhvr>
                                      <p:tavLst>
                                        <p:tav tm="0">
                                          <p:val>
                                            <p:strVal val="0-#ppt_w/2"/>
                                          </p:val>
                                        </p:tav>
                                        <p:tav tm="100000">
                                          <p:val>
                                            <p:strVal val="#ppt_x"/>
                                          </p:val>
                                        </p:tav>
                                      </p:tavLst>
                                    </p:anim>
                                    <p:anim calcmode="lin" valueType="num">
                                      <p:cBhvr additive="base">
                                        <p:cTn id="23" dur="500" fill="hold"/>
                                        <p:tgtEl>
                                          <p:spTgt spid="146438"/>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6446">
                                            <p:txEl>
                                              <p:pRg st="0" end="0"/>
                                            </p:txEl>
                                          </p:spTgt>
                                        </p:tgtEl>
                                        <p:attrNameLst>
                                          <p:attrName>style.visibility</p:attrName>
                                        </p:attrNameLst>
                                      </p:cBhvr>
                                      <p:to>
                                        <p:strVal val="visible"/>
                                      </p:to>
                                    </p:set>
                                    <p:animEffect transition="in" filter="wipe(left)">
                                      <p:cBhvr>
                                        <p:cTn id="28" dur="500"/>
                                        <p:tgtEl>
                                          <p:spTgt spid="146446">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146436"/>
                                        </p:tgtEl>
                                        <p:attrNameLst>
                                          <p:attrName>style.visibility</p:attrName>
                                        </p:attrNameLst>
                                      </p:cBhvr>
                                      <p:to>
                                        <p:strVal val="visible"/>
                                      </p:to>
                                    </p:set>
                                    <p:animEffect transition="in" filter="wipe(left)">
                                      <p:cBhvr>
                                        <p:cTn id="33" dur="500"/>
                                        <p:tgtEl>
                                          <p:spTgt spid="14643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146440"/>
                                        </p:tgtEl>
                                        <p:attrNameLst>
                                          <p:attrName>style.visibility</p:attrName>
                                        </p:attrNameLst>
                                      </p:cBhvr>
                                      <p:to>
                                        <p:strVal val="visible"/>
                                      </p:to>
                                    </p:set>
                                    <p:animEffect transition="in" filter="wipe(left)">
                                      <p:cBhvr>
                                        <p:cTn id="38" dur="500"/>
                                        <p:tgtEl>
                                          <p:spTgt spid="14644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146441"/>
                                        </p:tgtEl>
                                        <p:attrNameLst>
                                          <p:attrName>style.visibility</p:attrName>
                                        </p:attrNameLst>
                                      </p:cBhvr>
                                      <p:to>
                                        <p:strVal val="visible"/>
                                      </p:to>
                                    </p:set>
                                    <p:animEffect transition="in" filter="wipe(left)">
                                      <p:cBhvr>
                                        <p:cTn id="43" dur="500"/>
                                        <p:tgtEl>
                                          <p:spTgt spid="14644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146442"/>
                                        </p:tgtEl>
                                        <p:attrNameLst>
                                          <p:attrName>style.visibility</p:attrName>
                                        </p:attrNameLst>
                                      </p:cBhvr>
                                      <p:to>
                                        <p:strVal val="visible"/>
                                      </p:to>
                                    </p:set>
                                    <p:animEffect transition="in" filter="wipe(left)">
                                      <p:cBhvr>
                                        <p:cTn id="48" dur="500"/>
                                        <p:tgtEl>
                                          <p:spTgt spid="14644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ntr" presetSubtype="0" fill="hold" nodeType="clickEffect">
                                  <p:stCondLst>
                                    <p:cond delay="0"/>
                                  </p:stCondLst>
                                  <p:childTnLst>
                                    <p:set>
                                      <p:cBhvr>
                                        <p:cTn id="52" dur="1" fill="hold">
                                          <p:stCondLst>
                                            <p:cond delay="0"/>
                                          </p:stCondLst>
                                        </p:cTn>
                                        <p:tgtEl>
                                          <p:spTgt spid="146443"/>
                                        </p:tgtEl>
                                        <p:attrNameLst>
                                          <p:attrName>style.visibility</p:attrName>
                                        </p:attrNameLst>
                                      </p:cBhvr>
                                      <p:to>
                                        <p:strVal val="visible"/>
                                      </p:to>
                                    </p:set>
                                    <p:animEffect transition="in" filter="dissolve">
                                      <p:cBhvr>
                                        <p:cTn id="53" dur="500"/>
                                        <p:tgtEl>
                                          <p:spTgt spid="14644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46445">
                                            <p:txEl>
                                              <p:pRg st="0" end="0"/>
                                            </p:txEl>
                                          </p:spTgt>
                                        </p:tgtEl>
                                        <p:attrNameLst>
                                          <p:attrName>style.visibility</p:attrName>
                                        </p:attrNameLst>
                                      </p:cBhvr>
                                      <p:to>
                                        <p:strVal val="visible"/>
                                      </p:to>
                                    </p:set>
                                    <p:animEffect transition="in" filter="wipe(left)">
                                      <p:cBhvr>
                                        <p:cTn id="58" dur="500"/>
                                        <p:tgtEl>
                                          <p:spTgt spid="146445">
                                            <p:txEl>
                                              <p:pRg st="0" end="0"/>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9" presetClass="entr" presetSubtype="0" fill="hold" nodeType="clickEffect">
                                  <p:stCondLst>
                                    <p:cond delay="0"/>
                                  </p:stCondLst>
                                  <p:childTnLst>
                                    <p:set>
                                      <p:cBhvr>
                                        <p:cTn id="62" dur="1" fill="hold">
                                          <p:stCondLst>
                                            <p:cond delay="0"/>
                                          </p:stCondLst>
                                        </p:cTn>
                                        <p:tgtEl>
                                          <p:spTgt spid="146444"/>
                                        </p:tgtEl>
                                        <p:attrNameLst>
                                          <p:attrName>style.visibility</p:attrName>
                                        </p:attrNameLst>
                                      </p:cBhvr>
                                      <p:to>
                                        <p:strVal val="visible"/>
                                      </p:to>
                                    </p:set>
                                    <p:animEffect transition="in" filter="dissolve">
                                      <p:cBhvr>
                                        <p:cTn id="63" dur="500"/>
                                        <p:tgtEl>
                                          <p:spTgt spid="146444"/>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146447"/>
                                        </p:tgtEl>
                                        <p:attrNameLst>
                                          <p:attrName>style.visibility</p:attrName>
                                        </p:attrNameLst>
                                      </p:cBhvr>
                                      <p:to>
                                        <p:strVal val="visible"/>
                                      </p:to>
                                    </p:set>
                                    <p:animEffect transition="in" filter="wipe(left)">
                                      <p:cBhvr>
                                        <p:cTn id="68" dur="500"/>
                                        <p:tgtEl>
                                          <p:spTgt spid="1464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9" grpId="0" build="p" autoUpdateAnimBg="0"/>
      <p:bldP spid="146445" grpId="0" build="p" autoUpdateAnimBg="0"/>
      <p:bldP spid="146446"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3" name="Text Box 3"/>
          <p:cNvSpPr txBox="1">
            <a:spLocks noChangeArrowheads="1"/>
          </p:cNvSpPr>
          <p:nvPr/>
        </p:nvSpPr>
        <p:spPr bwMode="auto">
          <a:xfrm>
            <a:off x="396875" y="115888"/>
            <a:ext cx="8496300" cy="216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lang="zh-CN" altLang="en-US" sz="2800">
                <a:solidFill>
                  <a:srgbClr val="0000FF"/>
                </a:solidFill>
                <a:ea typeface="楷体_GB2312"/>
              </a:rPr>
              <a:t>例</a:t>
            </a:r>
            <a:r>
              <a:rPr lang="en-US" altLang="zh-CN" sz="2800">
                <a:solidFill>
                  <a:srgbClr val="0000FF"/>
                </a:solidFill>
                <a:ea typeface="楷体_GB2312"/>
              </a:rPr>
              <a:t>6</a:t>
            </a:r>
            <a:r>
              <a:rPr lang="en-US" altLang="zh-CN" sz="2800">
                <a:solidFill>
                  <a:srgbClr val="FF3300"/>
                </a:solidFill>
                <a:ea typeface="楷体_GB2312"/>
              </a:rPr>
              <a:t>  </a:t>
            </a:r>
            <a:r>
              <a:rPr lang="zh-CN" altLang="en-US" sz="2800">
                <a:ea typeface="楷体_GB2312"/>
              </a:rPr>
              <a:t>真空中有均匀带电直线，长为</a:t>
            </a:r>
            <a:r>
              <a:rPr lang="en-US" altLang="zh-CN" sz="2800" i="1">
                <a:ea typeface="楷体_GB2312"/>
              </a:rPr>
              <a:t>L</a:t>
            </a:r>
            <a:r>
              <a:rPr lang="zh-CN" altLang="en-US" sz="2800">
                <a:ea typeface="楷体_GB2312"/>
              </a:rPr>
              <a:t>，总电荷为</a:t>
            </a:r>
            <a:r>
              <a:rPr lang="en-US" altLang="zh-CN" sz="2800" i="1">
                <a:ea typeface="楷体_GB2312"/>
              </a:rPr>
              <a:t>q</a:t>
            </a:r>
            <a:r>
              <a:rPr lang="zh-CN" altLang="en-US" sz="2800">
                <a:ea typeface="楷体_GB2312"/>
              </a:rPr>
              <a:t>。线外有一点</a:t>
            </a:r>
            <a:r>
              <a:rPr lang="en-US" altLang="zh-CN" sz="2800" i="1">
                <a:ea typeface="楷体_GB2312"/>
              </a:rPr>
              <a:t>P</a:t>
            </a:r>
            <a:r>
              <a:rPr lang="zh-CN" altLang="en-US" sz="2800">
                <a:ea typeface="楷体_GB2312"/>
              </a:rPr>
              <a:t>，离开直线的垂直距离为</a:t>
            </a:r>
            <a:r>
              <a:rPr lang="en-US" altLang="zh-CN" sz="2800" i="1">
                <a:ea typeface="楷体_GB2312"/>
              </a:rPr>
              <a:t>a</a:t>
            </a:r>
            <a:r>
              <a:rPr lang="zh-CN" altLang="en-US" sz="2800">
                <a:ea typeface="楷体_GB2312"/>
              </a:rPr>
              <a:t>，</a:t>
            </a:r>
            <a:r>
              <a:rPr lang="en-US" altLang="zh-CN" sz="2800" i="1">
                <a:ea typeface="楷体_GB2312"/>
              </a:rPr>
              <a:t>P</a:t>
            </a:r>
            <a:r>
              <a:rPr lang="zh-CN" altLang="en-US" sz="2800">
                <a:ea typeface="楷体_GB2312"/>
              </a:rPr>
              <a:t>点和直线两端连线的夹角分别为</a:t>
            </a:r>
            <a:r>
              <a:rPr lang="zh-CN" altLang="en-US" sz="2800" i="1">
                <a:ea typeface="楷体_GB2312"/>
                <a:sym typeface="Symbol" panose="05050102010706020507" pitchFamily="18" charset="2"/>
              </a:rPr>
              <a:t></a:t>
            </a:r>
            <a:r>
              <a:rPr lang="en-US" altLang="zh-CN" sz="2800" baseline="-25000">
                <a:ea typeface="楷体_GB2312"/>
                <a:sym typeface="Symbol" panose="05050102010706020507" pitchFamily="18" charset="2"/>
              </a:rPr>
              <a:t>1</a:t>
            </a:r>
            <a:r>
              <a:rPr lang="zh-CN" altLang="en-US" sz="2800">
                <a:ea typeface="楷体_GB2312"/>
              </a:rPr>
              <a:t>和</a:t>
            </a:r>
            <a:r>
              <a:rPr lang="zh-CN" altLang="en-US" sz="2800" i="1">
                <a:ea typeface="楷体_GB2312"/>
                <a:sym typeface="Symbol" panose="05050102010706020507" pitchFamily="18" charset="2"/>
              </a:rPr>
              <a:t></a:t>
            </a:r>
            <a:r>
              <a:rPr lang="en-US" altLang="zh-CN" sz="2800" baseline="-25000">
                <a:ea typeface="楷体_GB2312"/>
                <a:sym typeface="Symbol" panose="05050102010706020507" pitchFamily="18" charset="2"/>
              </a:rPr>
              <a:t>2 </a:t>
            </a:r>
            <a:r>
              <a:rPr lang="zh-CN" altLang="en-US" sz="2800">
                <a:ea typeface="楷体_GB2312"/>
              </a:rPr>
              <a:t>，求</a:t>
            </a:r>
            <a:r>
              <a:rPr lang="en-US" altLang="zh-CN" sz="2800" i="1">
                <a:ea typeface="楷体_GB2312"/>
              </a:rPr>
              <a:t>P</a:t>
            </a:r>
            <a:r>
              <a:rPr lang="zh-CN" altLang="en-US" sz="2800">
                <a:ea typeface="楷体_GB2312"/>
              </a:rPr>
              <a:t>点的电场强度。（设电荷线密度为</a:t>
            </a:r>
            <a:r>
              <a:rPr lang="zh-CN" altLang="en-US" sz="2800" i="1">
                <a:ea typeface="楷体_GB2312"/>
                <a:sym typeface="Symbol" panose="05050102010706020507" pitchFamily="18" charset="2"/>
              </a:rPr>
              <a:t></a:t>
            </a:r>
            <a:r>
              <a:rPr lang="zh-CN" altLang="en-US" sz="2800">
                <a:ea typeface="楷体_GB2312"/>
                <a:sym typeface="Symbol" panose="05050102010706020507" pitchFamily="18" charset="2"/>
              </a:rPr>
              <a:t>）</a:t>
            </a:r>
          </a:p>
        </p:txBody>
      </p:sp>
      <p:sp>
        <p:nvSpPr>
          <p:cNvPr id="204804" name="Rectangle 4"/>
          <p:cNvSpPr>
            <a:spLocks noChangeArrowheads="1"/>
          </p:cNvSpPr>
          <p:nvPr/>
        </p:nvSpPr>
        <p:spPr bwMode="auto">
          <a:xfrm>
            <a:off x="990600" y="2333625"/>
            <a:ext cx="487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FontTx/>
              <a:buNone/>
            </a:pPr>
            <a:r>
              <a:rPr lang="en-US" altLang="zh-CN" sz="2800">
                <a:ea typeface="楷体_GB2312"/>
              </a:rPr>
              <a:t> </a:t>
            </a:r>
            <a:r>
              <a:rPr lang="zh-CN" altLang="en-US" sz="2800">
                <a:ea typeface="楷体_GB2312"/>
              </a:rPr>
              <a:t>建立直角坐标系</a:t>
            </a:r>
          </a:p>
        </p:txBody>
      </p:sp>
      <p:sp>
        <p:nvSpPr>
          <p:cNvPr id="58372" name="Rectangle 6"/>
          <p:cNvSpPr>
            <a:spLocks noChangeArrowheads="1"/>
          </p:cNvSpPr>
          <p:nvPr/>
        </p:nvSpPr>
        <p:spPr bwMode="auto">
          <a:xfrm>
            <a:off x="900113" y="2852738"/>
            <a:ext cx="2808287"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FontTx/>
              <a:buNone/>
            </a:pPr>
            <a:r>
              <a:rPr lang="en-US" altLang="zh-CN" sz="2800">
                <a:ea typeface="楷体_GB2312"/>
              </a:rPr>
              <a:t>  </a:t>
            </a:r>
            <a:r>
              <a:rPr lang="zh-CN" altLang="en-US" sz="2800">
                <a:ea typeface="楷体_GB2312"/>
              </a:rPr>
              <a:t>取线元</a:t>
            </a:r>
            <a:r>
              <a:rPr lang="en-US" altLang="zh-CN" sz="2800">
                <a:ea typeface="楷体_GB2312"/>
              </a:rPr>
              <a:t>d</a:t>
            </a:r>
            <a:r>
              <a:rPr lang="en-US" altLang="zh-CN" sz="2800" i="1">
                <a:latin typeface="+mj-lt"/>
                <a:ea typeface="楷体_GB2312"/>
              </a:rPr>
              <a:t>x</a:t>
            </a:r>
            <a:endParaRPr lang="zh-CN" altLang="en-US" sz="2800" i="1">
              <a:latin typeface="+mj-lt"/>
              <a:ea typeface="楷体_GB2312"/>
            </a:endParaRPr>
          </a:p>
        </p:txBody>
      </p:sp>
      <p:graphicFrame>
        <p:nvGraphicFramePr>
          <p:cNvPr id="204810" name="Object 10"/>
          <p:cNvGraphicFramePr>
            <a:graphicFrameLocks noChangeAspect="1"/>
          </p:cNvGraphicFramePr>
          <p:nvPr/>
        </p:nvGraphicFramePr>
        <p:xfrm>
          <a:off x="2484438" y="3573463"/>
          <a:ext cx="1439862" cy="441325"/>
        </p:xfrm>
        <a:graphic>
          <a:graphicData uri="http://schemas.openxmlformats.org/presentationml/2006/ole">
            <mc:AlternateContent xmlns:mc="http://schemas.openxmlformats.org/markup-compatibility/2006">
              <mc:Choice xmlns:v="urn:schemas-microsoft-com:vml" Requires="v">
                <p:oleObj spid="_x0000_s161370" name="Equation" r:id="rId3" imgW="1514330" imgH="390564" progId="Equation.3">
                  <p:embed/>
                </p:oleObj>
              </mc:Choice>
              <mc:Fallback>
                <p:oleObj name="Equation" r:id="rId3" imgW="1514330" imgH="390564" progId="Equation.3">
                  <p:embed/>
                  <p:pic>
                    <p:nvPicPr>
                      <p:cNvPr id="20481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3573463"/>
                        <a:ext cx="1439862"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11" name="Object 11"/>
          <p:cNvGraphicFramePr>
            <a:graphicFrameLocks noChangeAspect="1"/>
          </p:cNvGraphicFramePr>
          <p:nvPr/>
        </p:nvGraphicFramePr>
        <p:xfrm>
          <a:off x="684213" y="4292600"/>
          <a:ext cx="3024187" cy="1141413"/>
        </p:xfrm>
        <a:graphic>
          <a:graphicData uri="http://schemas.openxmlformats.org/presentationml/2006/ole">
            <mc:AlternateContent xmlns:mc="http://schemas.openxmlformats.org/markup-compatibility/2006">
              <mc:Choice xmlns:v="urn:schemas-microsoft-com:vml" Requires="v">
                <p:oleObj spid="_x0000_s161371" name="公式" r:id="rId5" imgW="904904" imgH="352307" progId="Equation.3">
                  <p:embed/>
                </p:oleObj>
              </mc:Choice>
              <mc:Fallback>
                <p:oleObj name="公式" r:id="rId5" imgW="904904" imgH="352307" progId="Equation.3">
                  <p:embed/>
                  <p:pic>
                    <p:nvPicPr>
                      <p:cNvPr id="204811"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213" y="4292600"/>
                        <a:ext cx="3024187" cy="1141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12" name="Object 12"/>
          <p:cNvGraphicFramePr>
            <a:graphicFrameLocks noChangeAspect="1"/>
          </p:cNvGraphicFramePr>
          <p:nvPr/>
        </p:nvGraphicFramePr>
        <p:xfrm>
          <a:off x="639763" y="5399088"/>
          <a:ext cx="3257550" cy="1125537"/>
        </p:xfrm>
        <a:graphic>
          <a:graphicData uri="http://schemas.openxmlformats.org/presentationml/2006/ole">
            <mc:AlternateContent xmlns:mc="http://schemas.openxmlformats.org/markup-compatibility/2006">
              <mc:Choice xmlns:v="urn:schemas-microsoft-com:vml" Requires="v">
                <p:oleObj spid="_x0000_s161372" name="公式" r:id="rId7" imgW="1304892" imgH="352307" progId="Equation.3">
                  <p:embed/>
                </p:oleObj>
              </mc:Choice>
              <mc:Fallback>
                <p:oleObj name="公式" r:id="rId7" imgW="1304892" imgH="352307" progId="Equation.3">
                  <p:embed/>
                  <p:pic>
                    <p:nvPicPr>
                      <p:cNvPr id="204812"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9763" y="5399088"/>
                        <a:ext cx="3257550" cy="1125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13" name="Object 13"/>
          <p:cNvGraphicFramePr>
            <a:graphicFrameLocks noChangeAspect="1"/>
          </p:cNvGraphicFramePr>
          <p:nvPr>
            <p:extLst>
              <p:ext uri="{D42A27DB-BD31-4B8C-83A1-F6EECF244321}">
                <p14:modId xmlns:p14="http://schemas.microsoft.com/office/powerpoint/2010/main" val="363917981"/>
              </p:ext>
            </p:extLst>
          </p:nvPr>
        </p:nvGraphicFramePr>
        <p:xfrm>
          <a:off x="5076056" y="5656375"/>
          <a:ext cx="3259137" cy="1136650"/>
        </p:xfrm>
        <a:graphic>
          <a:graphicData uri="http://schemas.openxmlformats.org/presentationml/2006/ole">
            <mc:AlternateContent xmlns:mc="http://schemas.openxmlformats.org/markup-compatibility/2006">
              <mc:Choice xmlns:v="urn:schemas-microsoft-com:vml" Requires="v">
                <p:oleObj spid="_x0000_s161373" name="公式" r:id="rId9" imgW="1295239" imgH="352307" progId="Equation.3">
                  <p:embed/>
                </p:oleObj>
              </mc:Choice>
              <mc:Fallback>
                <p:oleObj name="公式" r:id="rId9" imgW="1295239" imgH="352307" progId="Equation.3">
                  <p:embed/>
                  <p:pic>
                    <p:nvPicPr>
                      <p:cNvPr id="204813"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76056" y="5656375"/>
                        <a:ext cx="3259137" cy="1136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50" name="Rectangle 50"/>
          <p:cNvSpPr>
            <a:spLocks noChangeArrowheads="1"/>
          </p:cNvSpPr>
          <p:nvPr/>
        </p:nvSpPr>
        <p:spPr bwMode="auto">
          <a:xfrm>
            <a:off x="395288" y="2276475"/>
            <a:ext cx="898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3600">
                <a:solidFill>
                  <a:srgbClr val="0000FF"/>
                </a:solidFill>
                <a:ea typeface="楷体_GB2312"/>
              </a:rPr>
              <a:t>解：</a:t>
            </a:r>
          </a:p>
        </p:txBody>
      </p:sp>
      <p:graphicFrame>
        <p:nvGraphicFramePr>
          <p:cNvPr id="204851" name="Object 51"/>
          <p:cNvGraphicFramePr>
            <a:graphicFrameLocks noChangeAspect="1"/>
          </p:cNvGraphicFramePr>
          <p:nvPr/>
        </p:nvGraphicFramePr>
        <p:xfrm>
          <a:off x="755650" y="3279775"/>
          <a:ext cx="1081088" cy="1014413"/>
        </p:xfrm>
        <a:graphic>
          <a:graphicData uri="http://schemas.openxmlformats.org/presentationml/2006/ole">
            <mc:AlternateContent xmlns:mc="http://schemas.openxmlformats.org/markup-compatibility/2006">
              <mc:Choice xmlns:v="urn:schemas-microsoft-com:vml" Requires="v">
                <p:oleObj spid="_x0000_s161374" name="公式" r:id="rId11" imgW="418918" imgH="393529" progId="Equation.3">
                  <p:embed/>
                </p:oleObj>
              </mc:Choice>
              <mc:Fallback>
                <p:oleObj name="公式" r:id="rId11" imgW="418918" imgH="393529" progId="Equation.3">
                  <p:embed/>
                  <p:pic>
                    <p:nvPicPr>
                      <p:cNvPr id="204851" name="Object 5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5650" y="3279775"/>
                        <a:ext cx="1081088" cy="1014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04853" name="Picture 53" descr="T7-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03712" y="2446848"/>
            <a:ext cx="4549775" cy="291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 name="Object 12"/>
          <p:cNvGraphicFramePr>
            <a:graphicFrameLocks noChangeAspect="1"/>
          </p:cNvGraphicFramePr>
          <p:nvPr>
            <p:extLst>
              <p:ext uri="{D42A27DB-BD31-4B8C-83A1-F6EECF244321}">
                <p14:modId xmlns:p14="http://schemas.microsoft.com/office/powerpoint/2010/main" val="624975922"/>
              </p:ext>
            </p:extLst>
          </p:nvPr>
        </p:nvGraphicFramePr>
        <p:xfrm>
          <a:off x="5800774" y="1728745"/>
          <a:ext cx="3092401" cy="790575"/>
        </p:xfrm>
        <a:graphic>
          <a:graphicData uri="http://schemas.openxmlformats.org/presentationml/2006/ole">
            <mc:AlternateContent xmlns:mc="http://schemas.openxmlformats.org/markup-compatibility/2006">
              <mc:Choice xmlns:v="urn:schemas-microsoft-com:vml" Requires="v">
                <p:oleObj spid="_x0000_s161375" name="Equation" r:id="rId14" imgW="1841400" imgH="444240" progId="Equation.DSMT4">
                  <p:embed/>
                </p:oleObj>
              </mc:Choice>
              <mc:Fallback>
                <p:oleObj name="Equation" r:id="rId14" imgW="1841400" imgH="444240" progId="Equation.DSMT4">
                  <p:embed/>
                  <p:pic>
                    <p:nvPicPr>
                      <p:cNvPr id="204812" name="Object 12"/>
                      <p:cNvPicPr>
                        <a:picLocks noChangeAspect="1" noChangeArrowheads="1"/>
                      </p:cNvPicPr>
                      <p:nvPr/>
                    </p:nvPicPr>
                    <p:blipFill>
                      <a:blip r:embed="rId15"/>
                      <a:srcRect/>
                      <a:stretch>
                        <a:fillRect/>
                      </a:stretch>
                    </p:blipFill>
                    <p:spPr bwMode="auto">
                      <a:xfrm>
                        <a:off x="5800774" y="1728745"/>
                        <a:ext cx="3092401" cy="790575"/>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3294117975"/>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4803"/>
                                        </p:tgtEl>
                                        <p:attrNameLst>
                                          <p:attrName>style.visibility</p:attrName>
                                        </p:attrNameLst>
                                      </p:cBhvr>
                                      <p:to>
                                        <p:strVal val="visible"/>
                                      </p:to>
                                    </p:set>
                                    <p:animEffect transition="in" filter="wipe(left)">
                                      <p:cBhvr>
                                        <p:cTn id="7" dur="500"/>
                                        <p:tgtEl>
                                          <p:spTgt spid="20480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04853"/>
                                        </p:tgtEl>
                                        <p:attrNameLst>
                                          <p:attrName>style.visibility</p:attrName>
                                        </p:attrNameLst>
                                      </p:cBhvr>
                                      <p:to>
                                        <p:strVal val="visible"/>
                                      </p:to>
                                    </p:set>
                                    <p:animEffect transition="in" filter="wipe(left)">
                                      <p:cBhvr>
                                        <p:cTn id="11" dur="500"/>
                                        <p:tgtEl>
                                          <p:spTgt spid="20485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04850"/>
                                        </p:tgtEl>
                                        <p:attrNameLst>
                                          <p:attrName>style.visibility</p:attrName>
                                        </p:attrNameLst>
                                      </p:cBhvr>
                                      <p:to>
                                        <p:strVal val="visible"/>
                                      </p:to>
                                    </p:set>
                                    <p:animEffect transition="in" filter="wipe(left)">
                                      <p:cBhvr>
                                        <p:cTn id="16" dur="500"/>
                                        <p:tgtEl>
                                          <p:spTgt spid="20485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04804"/>
                                        </p:tgtEl>
                                        <p:attrNameLst>
                                          <p:attrName>style.visibility</p:attrName>
                                        </p:attrNameLst>
                                      </p:cBhvr>
                                      <p:to>
                                        <p:strVal val="visible"/>
                                      </p:to>
                                    </p:set>
                                    <p:animEffect transition="in" filter="wipe(left)">
                                      <p:cBhvr>
                                        <p:cTn id="21" dur="500"/>
                                        <p:tgtEl>
                                          <p:spTgt spid="20480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04851"/>
                                        </p:tgtEl>
                                        <p:attrNameLst>
                                          <p:attrName>style.visibility</p:attrName>
                                        </p:attrNameLst>
                                      </p:cBhvr>
                                      <p:to>
                                        <p:strVal val="visible"/>
                                      </p:to>
                                    </p:set>
                                    <p:animEffect transition="in" filter="wipe(left)">
                                      <p:cBhvr>
                                        <p:cTn id="26" dur="500"/>
                                        <p:tgtEl>
                                          <p:spTgt spid="20485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204810"/>
                                        </p:tgtEl>
                                        <p:attrNameLst>
                                          <p:attrName>style.visibility</p:attrName>
                                        </p:attrNameLst>
                                      </p:cBhvr>
                                      <p:to>
                                        <p:strVal val="visible"/>
                                      </p:to>
                                    </p:set>
                                    <p:animEffect transition="in" filter="wipe(left)">
                                      <p:cBhvr>
                                        <p:cTn id="31" dur="500"/>
                                        <p:tgtEl>
                                          <p:spTgt spid="20481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04811"/>
                                        </p:tgtEl>
                                        <p:attrNameLst>
                                          <p:attrName>style.visibility</p:attrName>
                                        </p:attrNameLst>
                                      </p:cBhvr>
                                      <p:to>
                                        <p:strVal val="visible"/>
                                      </p:to>
                                    </p:set>
                                    <p:animEffect transition="in" filter="wipe(left)">
                                      <p:cBhvr>
                                        <p:cTn id="36" dur="500"/>
                                        <p:tgtEl>
                                          <p:spTgt spid="20481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04812"/>
                                        </p:tgtEl>
                                        <p:attrNameLst>
                                          <p:attrName>style.visibility</p:attrName>
                                        </p:attrNameLst>
                                      </p:cBhvr>
                                      <p:to>
                                        <p:strVal val="visible"/>
                                      </p:to>
                                    </p:set>
                                    <p:animEffect transition="in" filter="wipe(left)">
                                      <p:cBhvr>
                                        <p:cTn id="41" dur="500"/>
                                        <p:tgtEl>
                                          <p:spTgt spid="20481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04813"/>
                                        </p:tgtEl>
                                        <p:attrNameLst>
                                          <p:attrName>style.visibility</p:attrName>
                                        </p:attrNameLst>
                                      </p:cBhvr>
                                      <p:to>
                                        <p:strVal val="visible"/>
                                      </p:to>
                                    </p:set>
                                    <p:animEffect transition="in" filter="wipe(left)">
                                      <p:cBhvr>
                                        <p:cTn id="46" dur="500"/>
                                        <p:tgtEl>
                                          <p:spTgt spid="20481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wipe(left)">
                                      <p:cBhvr>
                                        <p:cTn id="5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3" grpId="0"/>
      <p:bldP spid="204804" grpId="0" autoUpdateAnimBg="0"/>
      <p:bldP spid="20485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50" descr="T7-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341563"/>
            <a:ext cx="4392613"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05827" name="Object 3"/>
          <p:cNvGraphicFramePr>
            <a:graphicFrameLocks noChangeAspect="1"/>
          </p:cNvGraphicFramePr>
          <p:nvPr/>
        </p:nvGraphicFramePr>
        <p:xfrm>
          <a:off x="539750" y="115888"/>
          <a:ext cx="3960813" cy="1111250"/>
        </p:xfrm>
        <a:graphic>
          <a:graphicData uri="http://schemas.openxmlformats.org/presentationml/2006/ole">
            <mc:AlternateContent xmlns:mc="http://schemas.openxmlformats.org/markup-compatibility/2006">
              <mc:Choice xmlns:v="urn:schemas-microsoft-com:vml" Requires="v">
                <p:oleObj spid="_x0000_s162610" name="公式" r:id="rId4" imgW="1333433" imgH="352307" progId="Equation.3">
                  <p:embed/>
                </p:oleObj>
              </mc:Choice>
              <mc:Fallback>
                <p:oleObj name="公式" r:id="rId4" imgW="1333433" imgH="352307" progId="Equation.3">
                  <p:embed/>
                  <p:pic>
                    <p:nvPicPr>
                      <p:cNvPr id="205827"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50" y="115888"/>
                        <a:ext cx="3960813" cy="1111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28" name="Object 4"/>
          <p:cNvGraphicFramePr>
            <a:graphicFrameLocks noChangeAspect="1"/>
          </p:cNvGraphicFramePr>
          <p:nvPr/>
        </p:nvGraphicFramePr>
        <p:xfrm>
          <a:off x="4859338" y="115888"/>
          <a:ext cx="3960812" cy="1117600"/>
        </p:xfrm>
        <a:graphic>
          <a:graphicData uri="http://schemas.openxmlformats.org/presentationml/2006/ole">
            <mc:AlternateContent xmlns:mc="http://schemas.openxmlformats.org/markup-compatibility/2006">
              <mc:Choice xmlns:v="urn:schemas-microsoft-com:vml" Requires="v">
                <p:oleObj spid="_x0000_s162611" name="公式" r:id="rId6" imgW="1323780" imgH="352307" progId="Equation.3">
                  <p:embed/>
                </p:oleObj>
              </mc:Choice>
              <mc:Fallback>
                <p:oleObj name="公式" r:id="rId6" imgW="1323780" imgH="352307" progId="Equation.3">
                  <p:embed/>
                  <p:pic>
                    <p:nvPicPr>
                      <p:cNvPr id="205828"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59338" y="115888"/>
                        <a:ext cx="3960812" cy="111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829" name="Text Box 5"/>
          <p:cNvSpPr txBox="1">
            <a:spLocks noChangeArrowheads="1"/>
          </p:cNvSpPr>
          <p:nvPr/>
        </p:nvSpPr>
        <p:spPr bwMode="auto">
          <a:xfrm>
            <a:off x="395288" y="1268413"/>
            <a:ext cx="43926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800">
                <a:solidFill>
                  <a:srgbClr val="FF3300"/>
                </a:solidFill>
                <a:ea typeface="楷体_GB2312"/>
              </a:rPr>
              <a:t>统一变量： </a:t>
            </a:r>
            <a:r>
              <a:rPr lang="en-US" altLang="zh-CN" sz="2800">
                <a:solidFill>
                  <a:srgbClr val="FF3300"/>
                </a:solidFill>
                <a:ea typeface="楷体_GB2312"/>
              </a:rPr>
              <a:t>(</a:t>
            </a:r>
            <a:r>
              <a:rPr lang="en-US" altLang="zh-CN" sz="2800" i="1">
                <a:solidFill>
                  <a:srgbClr val="FF3300"/>
                </a:solidFill>
                <a:ea typeface="楷体_GB2312"/>
              </a:rPr>
              <a:t>r</a:t>
            </a:r>
            <a:r>
              <a:rPr lang="en-US" altLang="zh-CN" sz="2800">
                <a:solidFill>
                  <a:srgbClr val="FF3300"/>
                </a:solidFill>
                <a:ea typeface="楷体_GB2312"/>
              </a:rPr>
              <a:t>, </a:t>
            </a:r>
            <a:r>
              <a:rPr lang="en-US" altLang="zh-CN" sz="2800" i="1">
                <a:solidFill>
                  <a:srgbClr val="FF3300"/>
                </a:solidFill>
                <a:ea typeface="楷体_GB2312"/>
              </a:rPr>
              <a:t>x</a:t>
            </a:r>
            <a:r>
              <a:rPr lang="en-US" altLang="zh-CN" sz="2800">
                <a:solidFill>
                  <a:srgbClr val="FF3300"/>
                </a:solidFill>
                <a:ea typeface="楷体_GB2312"/>
              </a:rPr>
              <a:t>, </a:t>
            </a:r>
            <a:r>
              <a:rPr lang="en-US" altLang="zh-CN" sz="2800" i="1">
                <a:solidFill>
                  <a:srgbClr val="FF3300"/>
                </a:solidFill>
                <a:ea typeface="楷体_GB2312"/>
                <a:sym typeface="Symbol" panose="05050102010706020507" pitchFamily="18" charset="2"/>
              </a:rPr>
              <a:t> </a:t>
            </a:r>
            <a:r>
              <a:rPr lang="en-US" altLang="zh-CN" sz="2800">
                <a:solidFill>
                  <a:srgbClr val="FF3300"/>
                </a:solidFill>
                <a:ea typeface="楷体_GB2312"/>
                <a:sym typeface="Symbol" panose="05050102010706020507" pitchFamily="18" charset="2"/>
              </a:rPr>
              <a:t>)</a:t>
            </a:r>
            <a:r>
              <a:rPr lang="en-US" altLang="zh-CN" sz="2800" i="1">
                <a:solidFill>
                  <a:srgbClr val="FF3300"/>
                </a:solidFill>
                <a:ea typeface="楷体_GB2312"/>
                <a:sym typeface="Symbol" panose="05050102010706020507" pitchFamily="18" charset="2"/>
              </a:rPr>
              <a:t></a:t>
            </a:r>
          </a:p>
        </p:txBody>
      </p:sp>
      <p:graphicFrame>
        <p:nvGraphicFramePr>
          <p:cNvPr id="205830" name="Object 6"/>
          <p:cNvGraphicFramePr>
            <a:graphicFrameLocks noChangeAspect="1"/>
          </p:cNvGraphicFramePr>
          <p:nvPr/>
        </p:nvGraphicFramePr>
        <p:xfrm>
          <a:off x="468313" y="1989138"/>
          <a:ext cx="1871662" cy="336550"/>
        </p:xfrm>
        <a:graphic>
          <a:graphicData uri="http://schemas.openxmlformats.org/presentationml/2006/ole">
            <mc:AlternateContent xmlns:mc="http://schemas.openxmlformats.org/markup-compatibility/2006">
              <mc:Choice xmlns:v="urn:schemas-microsoft-com:vml" Requires="v">
                <p:oleObj spid="_x0000_s162612" name="Equation" r:id="rId8" imgW="1905084" imgH="304800" progId="Equation.3">
                  <p:embed/>
                </p:oleObj>
              </mc:Choice>
              <mc:Fallback>
                <p:oleObj name="Equation" r:id="rId8" imgW="1905084" imgH="304800" progId="Equation.3">
                  <p:embed/>
                  <p:pic>
                    <p:nvPicPr>
                      <p:cNvPr id="20583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8313" y="1989138"/>
                        <a:ext cx="1871662"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31" name="Object 7"/>
          <p:cNvGraphicFramePr>
            <a:graphicFrameLocks noChangeAspect="1"/>
          </p:cNvGraphicFramePr>
          <p:nvPr/>
        </p:nvGraphicFramePr>
        <p:xfrm>
          <a:off x="2771775" y="1916113"/>
          <a:ext cx="2160588" cy="466725"/>
        </p:xfrm>
        <a:graphic>
          <a:graphicData uri="http://schemas.openxmlformats.org/presentationml/2006/ole">
            <mc:AlternateContent xmlns:mc="http://schemas.openxmlformats.org/markup-compatibility/2006">
              <mc:Choice xmlns:v="urn:schemas-microsoft-com:vml" Requires="v">
                <p:oleObj spid="_x0000_s162613" name="公式" r:id="rId10" imgW="695467" imgH="104683" progId="Equation.3">
                  <p:embed/>
                </p:oleObj>
              </mc:Choice>
              <mc:Fallback>
                <p:oleObj name="公式" r:id="rId10" imgW="695467" imgH="104683" progId="Equation.3">
                  <p:embed/>
                  <p:pic>
                    <p:nvPicPr>
                      <p:cNvPr id="205831"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71775" y="1916113"/>
                        <a:ext cx="2160588"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32" name="Object 8"/>
          <p:cNvGraphicFramePr>
            <a:graphicFrameLocks noChangeAspect="1"/>
          </p:cNvGraphicFramePr>
          <p:nvPr/>
        </p:nvGraphicFramePr>
        <p:xfrm>
          <a:off x="395288" y="2565400"/>
          <a:ext cx="2663825" cy="414338"/>
        </p:xfrm>
        <a:graphic>
          <a:graphicData uri="http://schemas.openxmlformats.org/presentationml/2006/ole">
            <mc:AlternateContent xmlns:mc="http://schemas.openxmlformats.org/markup-compatibility/2006">
              <mc:Choice xmlns:v="urn:schemas-microsoft-com:vml" Requires="v">
                <p:oleObj spid="_x0000_s162614" name="Equation" r:id="rId12" imgW="2590898" imgH="371646" progId="Equation.3">
                  <p:embed/>
                </p:oleObj>
              </mc:Choice>
              <mc:Fallback>
                <p:oleObj name="Equation" r:id="rId12" imgW="2590898" imgH="371646" progId="Equation.3">
                  <p:embed/>
                  <p:pic>
                    <p:nvPicPr>
                      <p:cNvPr id="205832"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5288" y="2565400"/>
                        <a:ext cx="2663825" cy="414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33" name="Object 9"/>
          <p:cNvGraphicFramePr>
            <a:graphicFrameLocks noChangeAspect="1"/>
          </p:cNvGraphicFramePr>
          <p:nvPr/>
        </p:nvGraphicFramePr>
        <p:xfrm>
          <a:off x="366713" y="3275013"/>
          <a:ext cx="4852987" cy="1090612"/>
        </p:xfrm>
        <a:graphic>
          <a:graphicData uri="http://schemas.openxmlformats.org/presentationml/2006/ole">
            <mc:AlternateContent xmlns:mc="http://schemas.openxmlformats.org/markup-compatibility/2006">
              <mc:Choice xmlns:v="urn:schemas-microsoft-com:vml" Requires="v">
                <p:oleObj spid="_x0000_s162615" name="公式" r:id="rId14" imgW="2019247" imgH="352307" progId="Equation.3">
                  <p:embed/>
                </p:oleObj>
              </mc:Choice>
              <mc:Fallback>
                <p:oleObj name="公式" r:id="rId14" imgW="2019247" imgH="352307" progId="Equation.3">
                  <p:embed/>
                  <p:pic>
                    <p:nvPicPr>
                      <p:cNvPr id="205833" name="Object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6713" y="3275013"/>
                        <a:ext cx="4852987" cy="109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70" name="Object 46"/>
          <p:cNvGraphicFramePr>
            <a:graphicFrameLocks noChangeAspect="1"/>
          </p:cNvGraphicFramePr>
          <p:nvPr/>
        </p:nvGraphicFramePr>
        <p:xfrm>
          <a:off x="395288" y="4622800"/>
          <a:ext cx="4281487" cy="1111250"/>
        </p:xfrm>
        <a:graphic>
          <a:graphicData uri="http://schemas.openxmlformats.org/presentationml/2006/ole">
            <mc:AlternateContent xmlns:mc="http://schemas.openxmlformats.org/markup-compatibility/2006">
              <mc:Choice xmlns:v="urn:schemas-microsoft-com:vml" Requires="v">
                <p:oleObj spid="_x0000_s162616" name="公式" r:id="rId16" imgW="1600371" imgH="352307" progId="Equation.3">
                  <p:embed/>
                </p:oleObj>
              </mc:Choice>
              <mc:Fallback>
                <p:oleObj name="公式" r:id="rId16" imgW="1600371" imgH="352307" progId="Equation.3">
                  <p:embed/>
                  <p:pic>
                    <p:nvPicPr>
                      <p:cNvPr id="205870" name="Object 4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5288" y="4622800"/>
                        <a:ext cx="4281487" cy="1111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871" name="Rectangle 47"/>
          <p:cNvSpPr>
            <a:spLocks noChangeArrowheads="1"/>
          </p:cNvSpPr>
          <p:nvPr/>
        </p:nvSpPr>
        <p:spPr bwMode="auto">
          <a:xfrm>
            <a:off x="3492500" y="5661025"/>
            <a:ext cx="2305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FontTx/>
              <a:buNone/>
            </a:pPr>
            <a:r>
              <a:rPr lang="en-US" altLang="zh-CN" sz="2800">
                <a:solidFill>
                  <a:srgbClr val="FF3300"/>
                </a:solidFill>
                <a:latin typeface="宋体" panose="02010600030101010101" pitchFamily="2" charset="-122"/>
                <a:ea typeface="楷体_GB2312"/>
              </a:rPr>
              <a:t> </a:t>
            </a:r>
            <a:r>
              <a:rPr lang="zh-CN" altLang="en-US" sz="2800">
                <a:solidFill>
                  <a:srgbClr val="FF3300"/>
                </a:solidFill>
                <a:latin typeface="宋体" panose="02010600030101010101" pitchFamily="2" charset="-122"/>
                <a:ea typeface="楷体_GB2312"/>
              </a:rPr>
              <a:t>同理</a:t>
            </a:r>
          </a:p>
        </p:txBody>
      </p:sp>
      <p:graphicFrame>
        <p:nvGraphicFramePr>
          <p:cNvPr id="205872" name="Object 48"/>
          <p:cNvGraphicFramePr>
            <a:graphicFrameLocks noChangeAspect="1"/>
          </p:cNvGraphicFramePr>
          <p:nvPr/>
        </p:nvGraphicFramePr>
        <p:xfrm>
          <a:off x="4643438" y="5373688"/>
          <a:ext cx="4425950" cy="1143000"/>
        </p:xfrm>
        <a:graphic>
          <a:graphicData uri="http://schemas.openxmlformats.org/presentationml/2006/ole">
            <mc:AlternateContent xmlns:mc="http://schemas.openxmlformats.org/markup-compatibility/2006">
              <mc:Choice xmlns:v="urn:schemas-microsoft-com:vml" Requires="v">
                <p:oleObj spid="_x0000_s162617" name="公式" r:id="rId18" imgW="1638146" imgH="352307" progId="Equation.3">
                  <p:embed/>
                </p:oleObj>
              </mc:Choice>
              <mc:Fallback>
                <p:oleObj name="公式" r:id="rId18" imgW="1638146" imgH="352307" progId="Equation.3">
                  <p:embed/>
                  <p:pic>
                    <p:nvPicPr>
                      <p:cNvPr id="205872" name="Object 4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643438" y="5373688"/>
                        <a:ext cx="442595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156203049"/>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05827"/>
                                        </p:tgtEl>
                                        <p:attrNameLst>
                                          <p:attrName>style.visibility</p:attrName>
                                        </p:attrNameLst>
                                      </p:cBhvr>
                                      <p:to>
                                        <p:strVal val="visible"/>
                                      </p:to>
                                    </p:set>
                                    <p:animEffect transition="in" filter="wipe(left)">
                                      <p:cBhvr>
                                        <p:cTn id="7" dur="500"/>
                                        <p:tgtEl>
                                          <p:spTgt spid="2058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05828"/>
                                        </p:tgtEl>
                                        <p:attrNameLst>
                                          <p:attrName>style.visibility</p:attrName>
                                        </p:attrNameLst>
                                      </p:cBhvr>
                                      <p:to>
                                        <p:strVal val="visible"/>
                                      </p:to>
                                    </p:set>
                                    <p:animEffect transition="in" filter="wipe(left)">
                                      <p:cBhvr>
                                        <p:cTn id="12" dur="500"/>
                                        <p:tgtEl>
                                          <p:spTgt spid="20582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5829"/>
                                        </p:tgtEl>
                                        <p:attrNameLst>
                                          <p:attrName>style.visibility</p:attrName>
                                        </p:attrNameLst>
                                      </p:cBhvr>
                                      <p:to>
                                        <p:strVal val="visible"/>
                                      </p:to>
                                    </p:set>
                                    <p:animEffect transition="in" filter="wipe(left)">
                                      <p:cBhvr>
                                        <p:cTn id="17" dur="500"/>
                                        <p:tgtEl>
                                          <p:spTgt spid="20582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05830"/>
                                        </p:tgtEl>
                                        <p:attrNameLst>
                                          <p:attrName>style.visibility</p:attrName>
                                        </p:attrNameLst>
                                      </p:cBhvr>
                                      <p:to>
                                        <p:strVal val="visible"/>
                                      </p:to>
                                    </p:set>
                                    <p:animEffect transition="in" filter="wipe(left)">
                                      <p:cBhvr>
                                        <p:cTn id="22" dur="500"/>
                                        <p:tgtEl>
                                          <p:spTgt spid="20583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05831"/>
                                        </p:tgtEl>
                                        <p:attrNameLst>
                                          <p:attrName>style.visibility</p:attrName>
                                        </p:attrNameLst>
                                      </p:cBhvr>
                                      <p:to>
                                        <p:strVal val="visible"/>
                                      </p:to>
                                    </p:set>
                                    <p:animEffect transition="in" filter="wipe(left)">
                                      <p:cBhvr>
                                        <p:cTn id="27" dur="500"/>
                                        <p:tgtEl>
                                          <p:spTgt spid="20583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05832"/>
                                        </p:tgtEl>
                                        <p:attrNameLst>
                                          <p:attrName>style.visibility</p:attrName>
                                        </p:attrNameLst>
                                      </p:cBhvr>
                                      <p:to>
                                        <p:strVal val="visible"/>
                                      </p:to>
                                    </p:set>
                                    <p:animEffect transition="in" filter="wipe(left)">
                                      <p:cBhvr>
                                        <p:cTn id="32" dur="500"/>
                                        <p:tgtEl>
                                          <p:spTgt spid="20583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05833"/>
                                        </p:tgtEl>
                                        <p:attrNameLst>
                                          <p:attrName>style.visibility</p:attrName>
                                        </p:attrNameLst>
                                      </p:cBhvr>
                                      <p:to>
                                        <p:strVal val="visible"/>
                                      </p:to>
                                    </p:set>
                                    <p:animEffect transition="in" filter="wipe(left)">
                                      <p:cBhvr>
                                        <p:cTn id="37" dur="500"/>
                                        <p:tgtEl>
                                          <p:spTgt spid="20583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05870"/>
                                        </p:tgtEl>
                                        <p:attrNameLst>
                                          <p:attrName>style.visibility</p:attrName>
                                        </p:attrNameLst>
                                      </p:cBhvr>
                                      <p:to>
                                        <p:strVal val="visible"/>
                                      </p:to>
                                    </p:set>
                                    <p:animEffect transition="in" filter="wipe(left)">
                                      <p:cBhvr>
                                        <p:cTn id="42" dur="500"/>
                                        <p:tgtEl>
                                          <p:spTgt spid="20587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05871"/>
                                        </p:tgtEl>
                                        <p:attrNameLst>
                                          <p:attrName>style.visibility</p:attrName>
                                        </p:attrNameLst>
                                      </p:cBhvr>
                                      <p:to>
                                        <p:strVal val="visible"/>
                                      </p:to>
                                    </p:set>
                                    <p:animEffect transition="in" filter="wipe(left)">
                                      <p:cBhvr>
                                        <p:cTn id="47" dur="500"/>
                                        <p:tgtEl>
                                          <p:spTgt spid="20587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05872"/>
                                        </p:tgtEl>
                                        <p:attrNameLst>
                                          <p:attrName>style.visibility</p:attrName>
                                        </p:attrNameLst>
                                      </p:cBhvr>
                                      <p:to>
                                        <p:strVal val="visible"/>
                                      </p:to>
                                    </p:set>
                                    <p:animEffect transition="in" filter="wipe(left)">
                                      <p:cBhvr>
                                        <p:cTn id="52" dur="500"/>
                                        <p:tgtEl>
                                          <p:spTgt spid="2058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9" grpId="0" autoUpdateAnimBg="0"/>
      <p:bldP spid="205871"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1" name="Text Box 3"/>
          <p:cNvSpPr txBox="1">
            <a:spLocks noChangeArrowheads="1"/>
          </p:cNvSpPr>
          <p:nvPr/>
        </p:nvSpPr>
        <p:spPr bwMode="auto">
          <a:xfrm>
            <a:off x="1303338" y="1200150"/>
            <a:ext cx="6934200" cy="116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en-US" altLang="zh-CN" sz="2800" dirty="0"/>
              <a:t>1. </a:t>
            </a:r>
            <a:r>
              <a:rPr lang="en-US" altLang="zh-CN" sz="2800" dirty="0">
                <a:solidFill>
                  <a:srgbClr val="FF0000"/>
                </a:solidFill>
              </a:rPr>
              <a:t>a&lt;&lt;</a:t>
            </a:r>
            <a:r>
              <a:rPr lang="en-US" altLang="zh-CN" sz="2800" i="1" dirty="0">
                <a:solidFill>
                  <a:srgbClr val="FF0000"/>
                </a:solidFill>
              </a:rPr>
              <a:t>L </a:t>
            </a:r>
            <a:r>
              <a:rPr lang="en-US" altLang="zh-CN" sz="2800" dirty="0"/>
              <a:t>(a</a:t>
            </a:r>
            <a:r>
              <a:rPr lang="zh-CN" altLang="en-US" sz="2800" dirty="0"/>
              <a:t>靠近直线</a:t>
            </a:r>
            <a:r>
              <a:rPr lang="en-US" altLang="zh-CN" sz="2800" dirty="0"/>
              <a:t>) </a:t>
            </a:r>
            <a:r>
              <a:rPr lang="zh-CN" altLang="en-US" sz="2800" dirty="0"/>
              <a:t>或</a:t>
            </a:r>
            <a:r>
              <a:rPr lang="en-US" altLang="zh-CN" sz="2800" dirty="0"/>
              <a:t>L →∞</a:t>
            </a:r>
            <a:endParaRPr lang="zh-CN" altLang="en-US" sz="2800" dirty="0">
              <a:latin typeface="楷体_GB2312"/>
            </a:endParaRPr>
          </a:p>
          <a:p>
            <a:pPr eaLnBrk="1" hangingPunct="1">
              <a:spcBef>
                <a:spcPct val="50000"/>
              </a:spcBef>
              <a:defRPr/>
            </a:pPr>
            <a:r>
              <a:rPr lang="zh-CN" altLang="en-US" sz="2800" dirty="0"/>
              <a:t>无限长带电直线：</a:t>
            </a:r>
            <a:r>
              <a:rPr lang="zh-CN" altLang="en-US" sz="2800" b="0" dirty="0"/>
              <a:t> </a:t>
            </a:r>
            <a:r>
              <a:rPr lang="zh-CN" altLang="en-US" sz="2800" b="0" i="1" dirty="0">
                <a:sym typeface="Symbol" pitchFamily="18" charset="2"/>
              </a:rPr>
              <a:t></a:t>
            </a:r>
            <a:r>
              <a:rPr lang="en-US" altLang="zh-CN" sz="2800" b="0" baseline="-25000" dirty="0">
                <a:sym typeface="Symbol" pitchFamily="18" charset="2"/>
              </a:rPr>
              <a:t>1 </a:t>
            </a:r>
            <a:r>
              <a:rPr lang="en-US" altLang="zh-CN" sz="2800" b="0" dirty="0"/>
              <a:t>=</a:t>
            </a:r>
            <a:r>
              <a:rPr lang="en-US" altLang="zh-CN" sz="2800" b="0" baseline="-25000" dirty="0">
                <a:sym typeface="Symbol" pitchFamily="18" charset="2"/>
              </a:rPr>
              <a:t> </a:t>
            </a:r>
            <a:r>
              <a:rPr lang="en-US" altLang="zh-CN" sz="2800" b="0" dirty="0"/>
              <a:t>0 </a:t>
            </a:r>
            <a:r>
              <a:rPr lang="zh-CN" altLang="en-US" sz="2800" b="0" dirty="0"/>
              <a:t>，</a:t>
            </a:r>
            <a:r>
              <a:rPr lang="zh-CN" altLang="en-US" sz="2800" b="0" i="1" dirty="0">
                <a:sym typeface="Symbol" pitchFamily="18" charset="2"/>
              </a:rPr>
              <a:t></a:t>
            </a:r>
            <a:r>
              <a:rPr lang="en-US" altLang="zh-CN" sz="2800" b="0" baseline="-25000" dirty="0">
                <a:sym typeface="Symbol" pitchFamily="18" charset="2"/>
              </a:rPr>
              <a:t>2 </a:t>
            </a:r>
            <a:r>
              <a:rPr lang="en-US" altLang="zh-CN" sz="2800" b="0" dirty="0"/>
              <a:t>= </a:t>
            </a:r>
            <a:r>
              <a:rPr lang="en-US" altLang="zh-CN" sz="2800" b="0" dirty="0">
                <a:sym typeface="Symbol" pitchFamily="18" charset="2"/>
              </a:rPr>
              <a:t></a:t>
            </a:r>
            <a:r>
              <a:rPr lang="en-US" altLang="zh-CN" sz="2800" b="0" baseline="-25000" dirty="0">
                <a:effectLst>
                  <a:outerShdw blurRad="38100" dist="38100" dir="2700000" algn="tl">
                    <a:srgbClr val="C0C0C0"/>
                  </a:outerShdw>
                </a:effectLst>
                <a:sym typeface="Symbol" pitchFamily="18" charset="2"/>
              </a:rPr>
              <a:t> </a:t>
            </a:r>
          </a:p>
        </p:txBody>
      </p:sp>
      <p:graphicFrame>
        <p:nvGraphicFramePr>
          <p:cNvPr id="206852" name="Object 4"/>
          <p:cNvGraphicFramePr>
            <a:graphicFrameLocks noChangeAspect="1"/>
          </p:cNvGraphicFramePr>
          <p:nvPr/>
        </p:nvGraphicFramePr>
        <p:xfrm>
          <a:off x="2517775" y="2433638"/>
          <a:ext cx="1081088" cy="557212"/>
        </p:xfrm>
        <a:graphic>
          <a:graphicData uri="http://schemas.openxmlformats.org/presentationml/2006/ole">
            <mc:AlternateContent xmlns:mc="http://schemas.openxmlformats.org/markup-compatibility/2006">
              <mc:Choice xmlns:v="urn:schemas-microsoft-com:vml" Requires="v">
                <p:oleObj spid="_x0000_s163230" name="公式" r:id="rId3" imgW="371447" imgH="152610" progId="Equation.3">
                  <p:embed/>
                </p:oleObj>
              </mc:Choice>
              <mc:Fallback>
                <p:oleObj name="公式" r:id="rId3" imgW="371447" imgH="152610" progId="Equation.3">
                  <p:embed/>
                  <p:pic>
                    <p:nvPicPr>
                      <p:cNvPr id="20685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7775" y="2433638"/>
                        <a:ext cx="1081088" cy="557212"/>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6855" name="Object 7"/>
          <p:cNvGraphicFramePr>
            <a:graphicFrameLocks noChangeAspect="1"/>
          </p:cNvGraphicFramePr>
          <p:nvPr/>
        </p:nvGraphicFramePr>
        <p:xfrm>
          <a:off x="684213" y="115888"/>
          <a:ext cx="3698875" cy="1092200"/>
        </p:xfrm>
        <a:graphic>
          <a:graphicData uri="http://schemas.openxmlformats.org/presentationml/2006/ole">
            <mc:AlternateContent xmlns:mc="http://schemas.openxmlformats.org/markup-compatibility/2006">
              <mc:Choice xmlns:v="urn:schemas-microsoft-com:vml" Requires="v">
                <p:oleObj spid="_x0000_s163231" name="公式" r:id="rId5" imgW="1571831" imgH="352307" progId="Equation.3">
                  <p:embed/>
                </p:oleObj>
              </mc:Choice>
              <mc:Fallback>
                <p:oleObj name="公式" r:id="rId5" imgW="1571831" imgH="352307" progId="Equation.3">
                  <p:embed/>
                  <p:pic>
                    <p:nvPicPr>
                      <p:cNvPr id="206855"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213" y="115888"/>
                        <a:ext cx="3698875" cy="1092200"/>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6856" name="Object 8"/>
          <p:cNvGraphicFramePr>
            <a:graphicFrameLocks noChangeAspect="1"/>
          </p:cNvGraphicFramePr>
          <p:nvPr/>
        </p:nvGraphicFramePr>
        <p:xfrm>
          <a:off x="4989513" y="115888"/>
          <a:ext cx="3917950" cy="1095375"/>
        </p:xfrm>
        <a:graphic>
          <a:graphicData uri="http://schemas.openxmlformats.org/presentationml/2006/ole">
            <mc:AlternateContent xmlns:mc="http://schemas.openxmlformats.org/markup-compatibility/2006">
              <mc:Choice xmlns:v="urn:schemas-microsoft-com:vml" Requires="v">
                <p:oleObj spid="_x0000_s163232" name="公式" r:id="rId7" imgW="1628912" imgH="352307" progId="Equation.3">
                  <p:embed/>
                </p:oleObj>
              </mc:Choice>
              <mc:Fallback>
                <p:oleObj name="公式" r:id="rId7" imgW="1628912" imgH="352307" progId="Equation.3">
                  <p:embed/>
                  <p:pic>
                    <p:nvPicPr>
                      <p:cNvPr id="206856"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89513" y="115888"/>
                        <a:ext cx="3917950" cy="1095375"/>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6869" name="AutoShape 21"/>
          <p:cNvSpPr>
            <a:spLocks noChangeArrowheads="1"/>
          </p:cNvSpPr>
          <p:nvPr/>
        </p:nvSpPr>
        <p:spPr bwMode="auto">
          <a:xfrm>
            <a:off x="26988" y="1265238"/>
            <a:ext cx="1152525" cy="863600"/>
          </a:xfrm>
          <a:prstGeom prst="horizontalScroll">
            <a:avLst>
              <a:gd name="adj" fmla="val 12500"/>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zh-CN" altLang="en-US" sz="2800">
                <a:solidFill>
                  <a:srgbClr val="FF0000"/>
                </a:solidFill>
                <a:ea typeface="楷体_GB2312"/>
              </a:rPr>
              <a:t>讨论</a:t>
            </a:r>
          </a:p>
        </p:txBody>
      </p:sp>
      <p:pic>
        <p:nvPicPr>
          <p:cNvPr id="60424" name="Picture 53" descr="T7-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81766" y="3562351"/>
            <a:ext cx="4114800" cy="2637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5" name="图片 21"/>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6937375" y="1697038"/>
            <a:ext cx="2438400"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Rectangle 55"/>
          <p:cNvSpPr>
            <a:spLocks noChangeArrowheads="1"/>
          </p:cNvSpPr>
          <p:nvPr/>
        </p:nvSpPr>
        <p:spPr bwMode="auto">
          <a:xfrm>
            <a:off x="4500563" y="6413500"/>
            <a:ext cx="4114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zh-CN" altLang="en-US" sz="2000">
                <a:solidFill>
                  <a:srgbClr val="000066"/>
                </a:solidFill>
                <a:latin typeface="Bookman Old Style" panose="02050604050505020204" pitchFamily="18" charset="0"/>
                <a:ea typeface="楷体_GB2312"/>
              </a:rPr>
              <a:t>无限长均匀带电直线的场强</a:t>
            </a:r>
          </a:p>
        </p:txBody>
      </p:sp>
      <p:graphicFrame>
        <p:nvGraphicFramePr>
          <p:cNvPr id="206853" name="Object 5"/>
          <p:cNvGraphicFramePr>
            <a:graphicFrameLocks noChangeAspect="1"/>
          </p:cNvGraphicFramePr>
          <p:nvPr>
            <p:extLst>
              <p:ext uri="{D42A27DB-BD31-4B8C-83A1-F6EECF244321}">
                <p14:modId xmlns:p14="http://schemas.microsoft.com/office/powerpoint/2010/main" val="1511046275"/>
              </p:ext>
            </p:extLst>
          </p:nvPr>
        </p:nvGraphicFramePr>
        <p:xfrm>
          <a:off x="3704972" y="2261047"/>
          <a:ext cx="3113301" cy="1034603"/>
        </p:xfrm>
        <a:graphic>
          <a:graphicData uri="http://schemas.openxmlformats.org/presentationml/2006/ole">
            <mc:AlternateContent xmlns:mc="http://schemas.openxmlformats.org/markup-compatibility/2006">
              <mc:Choice xmlns:v="urn:schemas-microsoft-com:vml" Requires="v">
                <p:oleObj spid="_x0000_s163233" name="公式" r:id="rId11" imgW="952332" imgH="352307" progId="Equation.3">
                  <p:embed/>
                </p:oleObj>
              </mc:Choice>
              <mc:Fallback>
                <p:oleObj name="公式" r:id="rId11" imgW="952332" imgH="352307" progId="Equation.3">
                  <p:embed/>
                  <p:pic>
                    <p:nvPicPr>
                      <p:cNvPr id="206853"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04972" y="2261047"/>
                        <a:ext cx="3113301" cy="1034603"/>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3725700868"/>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06855"/>
                                        </p:tgtEl>
                                        <p:attrNameLst>
                                          <p:attrName>style.visibility</p:attrName>
                                        </p:attrNameLst>
                                      </p:cBhvr>
                                      <p:to>
                                        <p:strVal val="visible"/>
                                      </p:to>
                                    </p:set>
                                    <p:animEffect transition="in" filter="wipe(left)">
                                      <p:cBhvr>
                                        <p:cTn id="7" dur="500"/>
                                        <p:tgtEl>
                                          <p:spTgt spid="20685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06856"/>
                                        </p:tgtEl>
                                        <p:attrNameLst>
                                          <p:attrName>style.visibility</p:attrName>
                                        </p:attrNameLst>
                                      </p:cBhvr>
                                      <p:to>
                                        <p:strVal val="visible"/>
                                      </p:to>
                                    </p:set>
                                    <p:animEffect transition="in" filter="wipe(left)">
                                      <p:cBhvr>
                                        <p:cTn id="11" dur="500"/>
                                        <p:tgtEl>
                                          <p:spTgt spid="20685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06869"/>
                                        </p:tgtEl>
                                        <p:attrNameLst>
                                          <p:attrName>style.visibility</p:attrName>
                                        </p:attrNameLst>
                                      </p:cBhvr>
                                      <p:to>
                                        <p:strVal val="visible"/>
                                      </p:to>
                                    </p:set>
                                    <p:animEffect transition="in" filter="wipe(left)">
                                      <p:cBhvr>
                                        <p:cTn id="16" dur="500"/>
                                        <p:tgtEl>
                                          <p:spTgt spid="20686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06851"/>
                                        </p:tgtEl>
                                        <p:attrNameLst>
                                          <p:attrName>style.visibility</p:attrName>
                                        </p:attrNameLst>
                                      </p:cBhvr>
                                      <p:to>
                                        <p:strVal val="visible"/>
                                      </p:to>
                                    </p:set>
                                    <p:animEffect transition="in" filter="wipe(left)">
                                      <p:cBhvr>
                                        <p:cTn id="21" dur="500"/>
                                        <p:tgtEl>
                                          <p:spTgt spid="20685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06852"/>
                                        </p:tgtEl>
                                        <p:attrNameLst>
                                          <p:attrName>style.visibility</p:attrName>
                                        </p:attrNameLst>
                                      </p:cBhvr>
                                      <p:to>
                                        <p:strVal val="visible"/>
                                      </p:to>
                                    </p:set>
                                    <p:animEffect transition="in" filter="wipe(left)">
                                      <p:cBhvr>
                                        <p:cTn id="26" dur="500"/>
                                        <p:tgtEl>
                                          <p:spTgt spid="20685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206853"/>
                                        </p:tgtEl>
                                        <p:attrNameLst>
                                          <p:attrName>style.visibility</p:attrName>
                                        </p:attrNameLst>
                                      </p:cBhvr>
                                      <p:to>
                                        <p:strVal val="visible"/>
                                      </p:to>
                                    </p:set>
                                    <p:animEffect transition="in" filter="wipe(left)">
                                      <p:cBhvr>
                                        <p:cTn id="31" dur="500"/>
                                        <p:tgtEl>
                                          <p:spTgt spid="20685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blinds(horizontal)">
                                      <p:cBhvr>
                                        <p:cTn id="3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1" grpId="0" autoUpdateAnimBg="0"/>
      <p:bldP spid="206869" grpId="0" animBg="1"/>
      <p:bldP spid="24"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4" name="Text Box 6"/>
          <p:cNvSpPr txBox="1">
            <a:spLocks noChangeArrowheads="1"/>
          </p:cNvSpPr>
          <p:nvPr/>
        </p:nvSpPr>
        <p:spPr bwMode="auto">
          <a:xfrm>
            <a:off x="395288" y="4508500"/>
            <a:ext cx="8748712" cy="164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20000"/>
              </a:spcBef>
              <a:defRPr/>
            </a:pPr>
            <a:r>
              <a:rPr lang="en-US" altLang="zh-CN" sz="2800" dirty="0">
                <a:solidFill>
                  <a:schemeClr val="tx1"/>
                </a:solidFill>
              </a:rPr>
              <a:t>3. </a:t>
            </a:r>
            <a:r>
              <a:rPr lang="zh-CN" altLang="en-US" sz="2800" dirty="0">
                <a:solidFill>
                  <a:schemeClr val="tx1"/>
                </a:solidFill>
              </a:rPr>
              <a:t>当 </a:t>
            </a:r>
            <a:r>
              <a:rPr lang="en-US" altLang="zh-CN" sz="2800" b="0" i="1" dirty="0">
                <a:solidFill>
                  <a:schemeClr val="tx1"/>
                </a:solidFill>
              </a:rPr>
              <a:t>a</a:t>
            </a:r>
            <a:r>
              <a:rPr lang="en-US" altLang="zh-CN" sz="2800" b="0" dirty="0">
                <a:solidFill>
                  <a:schemeClr val="tx1"/>
                </a:solidFill>
                <a:sym typeface="Symbol" pitchFamily="18" charset="2"/>
              </a:rPr>
              <a:t></a:t>
            </a:r>
            <a:r>
              <a:rPr lang="en-US" altLang="zh-CN" sz="2800" b="0" dirty="0">
                <a:solidFill>
                  <a:schemeClr val="tx1"/>
                </a:solidFill>
                <a:sym typeface="Wingdings" pitchFamily="2" charset="2"/>
              </a:rPr>
              <a:t>0</a:t>
            </a:r>
            <a:r>
              <a:rPr lang="en-US" altLang="zh-CN" sz="2800" dirty="0">
                <a:solidFill>
                  <a:schemeClr val="tx1"/>
                </a:solidFill>
                <a:sym typeface="Wingdings" pitchFamily="2" charset="2"/>
              </a:rPr>
              <a:t> </a:t>
            </a:r>
            <a:r>
              <a:rPr lang="zh-CN" altLang="en-US" sz="2800" dirty="0">
                <a:solidFill>
                  <a:schemeClr val="tx1"/>
                </a:solidFill>
                <a:sym typeface="Wingdings" pitchFamily="2" charset="2"/>
              </a:rPr>
              <a:t>时</a:t>
            </a:r>
            <a:r>
              <a:rPr lang="en-US" altLang="zh-CN" sz="2800" dirty="0">
                <a:solidFill>
                  <a:schemeClr val="tx1"/>
                </a:solidFill>
                <a:sym typeface="Wingdings" pitchFamily="2" charset="2"/>
              </a:rPr>
              <a:t>,  </a:t>
            </a:r>
          </a:p>
          <a:p>
            <a:pPr eaLnBrk="1" hangingPunct="1">
              <a:spcBef>
                <a:spcPct val="20000"/>
              </a:spcBef>
              <a:defRPr/>
            </a:pPr>
            <a:r>
              <a:rPr lang="zh-CN" altLang="en-US" sz="2800" dirty="0">
                <a:solidFill>
                  <a:schemeClr val="tx1"/>
                </a:solidFill>
                <a:sym typeface="Wingdings" pitchFamily="2" charset="2"/>
              </a:rPr>
              <a:t>若</a:t>
            </a:r>
            <a:r>
              <a:rPr lang="en-US" altLang="zh-CN" sz="2800" i="1" dirty="0">
                <a:solidFill>
                  <a:schemeClr val="tx1"/>
                </a:solidFill>
                <a:sym typeface="Wingdings" pitchFamily="2" charset="2"/>
              </a:rPr>
              <a:t>P</a:t>
            </a:r>
            <a:r>
              <a:rPr lang="zh-CN" altLang="en-US" sz="2800" dirty="0">
                <a:solidFill>
                  <a:schemeClr val="tx1"/>
                </a:solidFill>
                <a:sym typeface="Wingdings" pitchFamily="2" charset="2"/>
              </a:rPr>
              <a:t>点在直线上</a:t>
            </a:r>
            <a:r>
              <a:rPr lang="en-US" altLang="zh-CN" sz="2800" dirty="0">
                <a:solidFill>
                  <a:schemeClr val="tx1"/>
                </a:solidFill>
                <a:sym typeface="Wingdings" pitchFamily="2" charset="2"/>
              </a:rPr>
              <a:t>: </a:t>
            </a:r>
            <a:r>
              <a:rPr lang="en-US" altLang="zh-CN" sz="2800" b="0" i="1" dirty="0">
                <a:solidFill>
                  <a:schemeClr val="tx1"/>
                </a:solidFill>
                <a:sym typeface="Symbol" pitchFamily="18" charset="2"/>
              </a:rPr>
              <a:t></a:t>
            </a:r>
            <a:r>
              <a:rPr lang="en-US" altLang="zh-CN" sz="2800" b="0" baseline="-25000" dirty="0">
                <a:solidFill>
                  <a:schemeClr val="tx1"/>
                </a:solidFill>
                <a:sym typeface="Symbol" pitchFamily="18" charset="2"/>
              </a:rPr>
              <a:t>1 </a:t>
            </a:r>
            <a:r>
              <a:rPr lang="en-US" altLang="zh-CN" sz="2800" b="0" dirty="0">
                <a:solidFill>
                  <a:schemeClr val="tx1"/>
                </a:solidFill>
              </a:rPr>
              <a:t>=</a:t>
            </a:r>
            <a:r>
              <a:rPr lang="en-US" altLang="zh-CN" sz="2800" b="0" baseline="-25000" dirty="0">
                <a:solidFill>
                  <a:schemeClr val="tx1"/>
                </a:solidFill>
                <a:sym typeface="Symbol" pitchFamily="18" charset="2"/>
              </a:rPr>
              <a:t> </a:t>
            </a:r>
            <a:r>
              <a:rPr lang="en-US" altLang="zh-CN" sz="2800" b="0" dirty="0">
                <a:solidFill>
                  <a:schemeClr val="tx1"/>
                </a:solidFill>
              </a:rPr>
              <a:t>0</a:t>
            </a:r>
            <a:r>
              <a:rPr lang="zh-CN" altLang="en-US" sz="2800" b="0" dirty="0">
                <a:solidFill>
                  <a:schemeClr val="tx1"/>
                </a:solidFill>
              </a:rPr>
              <a:t>，</a:t>
            </a:r>
            <a:r>
              <a:rPr lang="zh-CN" altLang="en-US" sz="2800" b="0" i="1" dirty="0">
                <a:solidFill>
                  <a:schemeClr val="tx1"/>
                </a:solidFill>
                <a:sym typeface="Symbol" pitchFamily="18" charset="2"/>
              </a:rPr>
              <a:t></a:t>
            </a:r>
            <a:r>
              <a:rPr lang="en-US" altLang="zh-CN" sz="2800" b="0" baseline="-25000" dirty="0">
                <a:solidFill>
                  <a:schemeClr val="tx1"/>
                </a:solidFill>
                <a:sym typeface="Symbol" pitchFamily="18" charset="2"/>
              </a:rPr>
              <a:t>2 </a:t>
            </a:r>
            <a:r>
              <a:rPr lang="en-US" altLang="zh-CN" sz="2800" b="0" dirty="0">
                <a:solidFill>
                  <a:schemeClr val="tx1"/>
                </a:solidFill>
              </a:rPr>
              <a:t>= </a:t>
            </a:r>
            <a:r>
              <a:rPr lang="en-US" altLang="zh-CN" sz="2800" b="0" dirty="0">
                <a:solidFill>
                  <a:schemeClr val="tx1"/>
                </a:solidFill>
                <a:sym typeface="Symbol" pitchFamily="18" charset="2"/>
              </a:rPr>
              <a:t></a:t>
            </a:r>
            <a:r>
              <a:rPr lang="en-US" altLang="zh-CN" sz="2800" b="0" baseline="-25000" dirty="0">
                <a:solidFill>
                  <a:schemeClr val="tx1"/>
                </a:solidFill>
                <a:effectLst>
                  <a:outerShdw blurRad="38100" dist="38100" dir="2700000" algn="tl">
                    <a:srgbClr val="C0C0C0"/>
                  </a:outerShdw>
                </a:effectLst>
                <a:sym typeface="Symbol" pitchFamily="18" charset="2"/>
              </a:rPr>
              <a:t> </a:t>
            </a:r>
            <a:r>
              <a:rPr lang="en-US" altLang="zh-CN" sz="2800" b="0" dirty="0">
                <a:solidFill>
                  <a:schemeClr val="tx1"/>
                </a:solidFill>
                <a:effectLst>
                  <a:outerShdw blurRad="38100" dist="38100" dir="2700000" algn="tl">
                    <a:srgbClr val="C0C0C0"/>
                  </a:outerShdw>
                </a:effectLst>
                <a:sym typeface="Symbol" pitchFamily="18" charset="2"/>
              </a:rPr>
              <a:t>,</a:t>
            </a:r>
            <a:r>
              <a:rPr lang="en-US" altLang="zh-CN" sz="2800" dirty="0">
                <a:solidFill>
                  <a:schemeClr val="tx1"/>
                </a:solidFill>
                <a:effectLst>
                  <a:outerShdw blurRad="38100" dist="38100" dir="2700000" algn="tl">
                    <a:srgbClr val="C0C0C0"/>
                  </a:outerShdw>
                </a:effectLst>
                <a:sym typeface="Symbol" pitchFamily="18" charset="2"/>
              </a:rPr>
              <a:t> </a:t>
            </a:r>
            <a:r>
              <a:rPr lang="zh-CN" altLang="en-US" sz="2800" dirty="0">
                <a:solidFill>
                  <a:schemeClr val="tx1"/>
                </a:solidFill>
                <a:sym typeface="Symbol" pitchFamily="18" charset="2"/>
              </a:rPr>
              <a:t>则 </a:t>
            </a:r>
            <a:r>
              <a:rPr lang="en-US" altLang="zh-CN" sz="2800" i="1">
                <a:solidFill>
                  <a:schemeClr val="tx1"/>
                </a:solidFill>
                <a:sym typeface="Symbol" pitchFamily="18" charset="2"/>
              </a:rPr>
              <a:t>E</a:t>
            </a:r>
            <a:r>
              <a:rPr lang="en-US" altLang="zh-CN" sz="2800">
                <a:solidFill>
                  <a:schemeClr val="tx1"/>
                </a:solidFill>
                <a:sym typeface="Symbol" pitchFamily="18" charset="2"/>
              </a:rPr>
              <a:t></a:t>
            </a:r>
            <a:r>
              <a:rPr lang="en-US" altLang="zh-CN" sz="2800">
                <a:solidFill>
                  <a:schemeClr val="tx1"/>
                </a:solidFill>
                <a:sym typeface="Wingdings" pitchFamily="2" charset="2"/>
              </a:rPr>
              <a:t> </a:t>
            </a:r>
            <a:r>
              <a:rPr lang="en-US" altLang="zh-CN" sz="2800">
                <a:solidFill>
                  <a:schemeClr val="tx1"/>
                </a:solidFill>
                <a:latin typeface="Abadi" panose="020B0604020104020204" pitchFamily="34" charset="0"/>
                <a:sym typeface="Wingdings" pitchFamily="2" charset="2"/>
              </a:rPr>
              <a:t>∞</a:t>
            </a:r>
            <a:r>
              <a:rPr lang="en-US" altLang="zh-CN" sz="2800">
                <a:solidFill>
                  <a:schemeClr val="tx1"/>
                </a:solidFill>
                <a:sym typeface="Wingdings" pitchFamily="2" charset="2"/>
              </a:rPr>
              <a:t> </a:t>
            </a:r>
            <a:r>
              <a:rPr lang="zh-CN" altLang="en-US" sz="2800" dirty="0">
                <a:solidFill>
                  <a:schemeClr val="tx1"/>
                </a:solidFill>
                <a:sym typeface="Wingdings" pitchFamily="2" charset="2"/>
              </a:rPr>
              <a:t>有否意义？</a:t>
            </a:r>
            <a:r>
              <a:rPr lang="zh-CN" altLang="en-US" sz="2800" dirty="0">
                <a:solidFill>
                  <a:schemeClr val="tx1"/>
                </a:solidFill>
                <a:effectLst>
                  <a:outerShdw blurRad="38100" dist="38100" dir="2700000" algn="tl">
                    <a:srgbClr val="C0C0C0"/>
                  </a:outerShdw>
                </a:effectLst>
                <a:sym typeface="Wingdings" pitchFamily="2" charset="2"/>
              </a:rPr>
              <a:t> </a:t>
            </a:r>
          </a:p>
          <a:p>
            <a:pPr eaLnBrk="1" hangingPunct="1">
              <a:lnSpc>
                <a:spcPct val="120000"/>
              </a:lnSpc>
              <a:spcBef>
                <a:spcPct val="20000"/>
              </a:spcBef>
              <a:defRPr/>
            </a:pPr>
            <a:r>
              <a:rPr lang="zh-CN" altLang="en-US" sz="2800" dirty="0">
                <a:solidFill>
                  <a:schemeClr val="tx1"/>
                </a:solidFill>
                <a:sym typeface="Wingdings" pitchFamily="2" charset="2"/>
              </a:rPr>
              <a:t>若</a:t>
            </a:r>
            <a:r>
              <a:rPr lang="en-US" altLang="zh-CN" sz="2800" i="1" dirty="0">
                <a:solidFill>
                  <a:schemeClr val="tx1"/>
                </a:solidFill>
                <a:sym typeface="Wingdings" pitchFamily="2" charset="2"/>
              </a:rPr>
              <a:t>P</a:t>
            </a:r>
            <a:r>
              <a:rPr lang="zh-CN" altLang="en-US" sz="2800" dirty="0">
                <a:solidFill>
                  <a:schemeClr val="tx1"/>
                </a:solidFill>
                <a:sym typeface="Wingdings" pitchFamily="2" charset="2"/>
              </a:rPr>
              <a:t>点在直线延长线上</a:t>
            </a:r>
            <a:r>
              <a:rPr lang="en-US" altLang="zh-CN" sz="2800" dirty="0">
                <a:solidFill>
                  <a:schemeClr val="tx1"/>
                </a:solidFill>
                <a:sym typeface="Wingdings" pitchFamily="2" charset="2"/>
              </a:rPr>
              <a:t>:</a:t>
            </a:r>
            <a:r>
              <a:rPr lang="en-US" altLang="zh-CN" sz="2800" dirty="0">
                <a:solidFill>
                  <a:schemeClr val="tx1"/>
                </a:solidFill>
                <a:effectLst>
                  <a:outerShdw blurRad="38100" dist="38100" dir="2700000" algn="tl">
                    <a:srgbClr val="C0C0C0"/>
                  </a:outerShdw>
                </a:effectLst>
                <a:sym typeface="Wingdings" pitchFamily="2" charset="2"/>
              </a:rPr>
              <a:t> </a:t>
            </a:r>
            <a:r>
              <a:rPr lang="en-US" altLang="zh-CN" sz="2800" b="0" i="1" dirty="0">
                <a:solidFill>
                  <a:schemeClr val="tx1"/>
                </a:solidFill>
                <a:sym typeface="Symbol" pitchFamily="18" charset="2"/>
              </a:rPr>
              <a:t></a:t>
            </a:r>
            <a:r>
              <a:rPr lang="en-US" altLang="zh-CN" sz="2800" b="0" baseline="-25000" dirty="0">
                <a:solidFill>
                  <a:schemeClr val="tx1"/>
                </a:solidFill>
                <a:sym typeface="Symbol" pitchFamily="18" charset="2"/>
              </a:rPr>
              <a:t>1 </a:t>
            </a:r>
            <a:r>
              <a:rPr lang="en-US" altLang="zh-CN" sz="2800" b="0" dirty="0">
                <a:solidFill>
                  <a:schemeClr val="tx1"/>
                </a:solidFill>
              </a:rPr>
              <a:t>=</a:t>
            </a:r>
            <a:r>
              <a:rPr lang="en-US" altLang="zh-CN" sz="2800" b="0" baseline="-25000" dirty="0">
                <a:solidFill>
                  <a:schemeClr val="tx1"/>
                </a:solidFill>
                <a:sym typeface="Symbol" pitchFamily="18" charset="2"/>
              </a:rPr>
              <a:t> </a:t>
            </a:r>
            <a:r>
              <a:rPr lang="en-US" altLang="zh-CN" sz="2800" b="0" i="1" dirty="0">
                <a:solidFill>
                  <a:schemeClr val="tx1"/>
                </a:solidFill>
                <a:sym typeface="Symbol" pitchFamily="18" charset="2"/>
              </a:rPr>
              <a:t></a:t>
            </a:r>
            <a:r>
              <a:rPr lang="en-US" altLang="zh-CN" sz="2800" b="0" baseline="-25000" dirty="0">
                <a:solidFill>
                  <a:schemeClr val="tx1"/>
                </a:solidFill>
                <a:sym typeface="Symbol" pitchFamily="18" charset="2"/>
              </a:rPr>
              <a:t>2 </a:t>
            </a:r>
            <a:r>
              <a:rPr lang="en-US" altLang="zh-CN" sz="2800" b="0" dirty="0">
                <a:solidFill>
                  <a:schemeClr val="tx1"/>
                </a:solidFill>
              </a:rPr>
              <a:t>= 0</a:t>
            </a:r>
            <a:r>
              <a:rPr lang="en-US" altLang="zh-CN" sz="2800" dirty="0">
                <a:solidFill>
                  <a:schemeClr val="tx1"/>
                </a:solidFill>
              </a:rPr>
              <a:t>, </a:t>
            </a:r>
            <a:r>
              <a:rPr lang="zh-CN" altLang="en-US" sz="2800" dirty="0">
                <a:solidFill>
                  <a:schemeClr val="tx1"/>
                </a:solidFill>
              </a:rPr>
              <a:t>则按具体情况计算。</a:t>
            </a:r>
            <a:endParaRPr lang="zh-CN" altLang="en-US" sz="2800" dirty="0">
              <a:solidFill>
                <a:schemeClr val="tx1"/>
              </a:solidFill>
              <a:sym typeface="Wingdings" pitchFamily="2" charset="2"/>
            </a:endParaRPr>
          </a:p>
        </p:txBody>
      </p:sp>
      <p:graphicFrame>
        <p:nvGraphicFramePr>
          <p:cNvPr id="206855" name="Object 7"/>
          <p:cNvGraphicFramePr>
            <a:graphicFrameLocks noChangeAspect="1"/>
          </p:cNvGraphicFramePr>
          <p:nvPr/>
        </p:nvGraphicFramePr>
        <p:xfrm>
          <a:off x="684213" y="115888"/>
          <a:ext cx="3698875" cy="1092200"/>
        </p:xfrm>
        <a:graphic>
          <a:graphicData uri="http://schemas.openxmlformats.org/presentationml/2006/ole">
            <mc:AlternateContent xmlns:mc="http://schemas.openxmlformats.org/markup-compatibility/2006">
              <mc:Choice xmlns:v="urn:schemas-microsoft-com:vml" Requires="v">
                <p:oleObj spid="_x0000_s164157" name="公式" r:id="rId3" imgW="1571831" imgH="352307" progId="Equation.3">
                  <p:embed/>
                </p:oleObj>
              </mc:Choice>
              <mc:Fallback>
                <p:oleObj name="公式" r:id="rId3" imgW="1571831" imgH="352307" progId="Equation.3">
                  <p:embed/>
                  <p:pic>
                    <p:nvPicPr>
                      <p:cNvPr id="206855"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115888"/>
                        <a:ext cx="3698875" cy="1092200"/>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6856" name="Object 8"/>
          <p:cNvGraphicFramePr>
            <a:graphicFrameLocks noChangeAspect="1"/>
          </p:cNvGraphicFramePr>
          <p:nvPr/>
        </p:nvGraphicFramePr>
        <p:xfrm>
          <a:off x="4989513" y="115888"/>
          <a:ext cx="3917950" cy="1095375"/>
        </p:xfrm>
        <a:graphic>
          <a:graphicData uri="http://schemas.openxmlformats.org/presentationml/2006/ole">
            <mc:AlternateContent xmlns:mc="http://schemas.openxmlformats.org/markup-compatibility/2006">
              <mc:Choice xmlns:v="urn:schemas-microsoft-com:vml" Requires="v">
                <p:oleObj spid="_x0000_s164158" name="公式" r:id="rId5" imgW="1628912" imgH="352307" progId="Equation.3">
                  <p:embed/>
                </p:oleObj>
              </mc:Choice>
              <mc:Fallback>
                <p:oleObj name="公式" r:id="rId5" imgW="1628912" imgH="352307" progId="Equation.3">
                  <p:embed/>
                  <p:pic>
                    <p:nvPicPr>
                      <p:cNvPr id="206856"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89513" y="115888"/>
                        <a:ext cx="3917950" cy="1095375"/>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06857" name="Group 9"/>
          <p:cNvGrpSpPr>
            <a:grpSpLocks/>
          </p:cNvGrpSpPr>
          <p:nvPr/>
        </p:nvGrpSpPr>
        <p:grpSpPr bwMode="auto">
          <a:xfrm>
            <a:off x="2195513" y="6021388"/>
            <a:ext cx="3983037" cy="519112"/>
            <a:chOff x="1392" y="3408"/>
            <a:chExt cx="2509" cy="327"/>
          </a:xfrm>
        </p:grpSpPr>
        <p:sp>
          <p:nvSpPr>
            <p:cNvPr id="61454" name="Rectangle 10"/>
            <p:cNvSpPr>
              <a:spLocks noChangeArrowheads="1"/>
            </p:cNvSpPr>
            <p:nvPr/>
          </p:nvSpPr>
          <p:spPr bwMode="auto">
            <a:xfrm>
              <a:off x="1392" y="3552"/>
              <a:ext cx="1488" cy="4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solidFill>
                  <a:srgbClr val="FF3300"/>
                </a:solidFill>
                <a:ea typeface="楷体_GB2312"/>
              </a:endParaRPr>
            </a:p>
          </p:txBody>
        </p:sp>
        <p:sp>
          <p:nvSpPr>
            <p:cNvPr id="61455" name="Line 11"/>
            <p:cNvSpPr>
              <a:spLocks noChangeShapeType="1"/>
            </p:cNvSpPr>
            <p:nvPr/>
          </p:nvSpPr>
          <p:spPr bwMode="auto">
            <a:xfrm>
              <a:off x="2832" y="3600"/>
              <a:ext cx="768"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56" name="Oval 12"/>
            <p:cNvSpPr>
              <a:spLocks noChangeArrowheads="1"/>
            </p:cNvSpPr>
            <p:nvPr/>
          </p:nvSpPr>
          <p:spPr bwMode="auto">
            <a:xfrm flipH="1">
              <a:off x="3600" y="3600"/>
              <a:ext cx="48" cy="48"/>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solidFill>
                  <a:srgbClr val="FF3300"/>
                </a:solidFill>
                <a:ea typeface="楷体_GB2312"/>
              </a:endParaRPr>
            </a:p>
          </p:txBody>
        </p:sp>
        <p:sp>
          <p:nvSpPr>
            <p:cNvPr id="61457" name="Text Box 13"/>
            <p:cNvSpPr txBox="1">
              <a:spLocks noChangeArrowheads="1"/>
            </p:cNvSpPr>
            <p:nvPr/>
          </p:nvSpPr>
          <p:spPr bwMode="auto">
            <a:xfrm>
              <a:off x="3648" y="3408"/>
              <a:ext cx="2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i="1">
                  <a:solidFill>
                    <a:srgbClr val="FF3300"/>
                  </a:solidFill>
                  <a:ea typeface="楷体_GB2312"/>
                </a:rPr>
                <a:t>P</a:t>
              </a:r>
            </a:p>
          </p:txBody>
        </p:sp>
      </p:grpSp>
      <p:sp>
        <p:nvSpPr>
          <p:cNvPr id="206862" name="Rectangle 14"/>
          <p:cNvSpPr>
            <a:spLocks noChangeArrowheads="1"/>
          </p:cNvSpPr>
          <p:nvPr/>
        </p:nvSpPr>
        <p:spPr bwMode="auto">
          <a:xfrm>
            <a:off x="403225" y="1530350"/>
            <a:ext cx="4741863" cy="1081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20000"/>
              </a:lnSpc>
              <a:spcBef>
                <a:spcPct val="50000"/>
              </a:spcBef>
              <a:defRPr/>
            </a:pPr>
            <a:r>
              <a:rPr lang="en-US" altLang="zh-CN" sz="2800" dirty="0">
                <a:solidFill>
                  <a:schemeClr val="tx1"/>
                </a:solidFill>
              </a:rPr>
              <a:t>2</a:t>
            </a:r>
            <a:r>
              <a:rPr lang="zh-CN" altLang="en-US" sz="2800" dirty="0">
                <a:solidFill>
                  <a:schemeClr val="tx1"/>
                </a:solidFill>
              </a:rPr>
              <a:t>、半无限长带电直线（右图</a:t>
            </a:r>
            <a:r>
              <a:rPr lang="en-US" altLang="zh-CN" sz="2800" dirty="0">
                <a:solidFill>
                  <a:schemeClr val="tx1"/>
                </a:solidFill>
              </a:rPr>
              <a:t>)</a:t>
            </a:r>
            <a:r>
              <a:rPr lang="zh-CN" altLang="en-US" sz="2800" dirty="0">
                <a:solidFill>
                  <a:schemeClr val="tx1"/>
                </a:solidFill>
              </a:rPr>
              <a:t>：</a:t>
            </a:r>
            <a:r>
              <a:rPr lang="zh-CN" altLang="en-US" sz="2800" b="0" dirty="0">
                <a:solidFill>
                  <a:schemeClr val="tx1"/>
                </a:solidFill>
              </a:rPr>
              <a:t> </a:t>
            </a:r>
            <a:r>
              <a:rPr lang="zh-CN" altLang="en-US" sz="2800" b="0" i="1" dirty="0">
                <a:solidFill>
                  <a:schemeClr val="tx1"/>
                </a:solidFill>
                <a:sym typeface="Symbol" pitchFamily="18" charset="2"/>
              </a:rPr>
              <a:t></a:t>
            </a:r>
            <a:r>
              <a:rPr lang="en-US" altLang="zh-CN" sz="2800" b="0" baseline="-25000" dirty="0">
                <a:solidFill>
                  <a:schemeClr val="tx1"/>
                </a:solidFill>
                <a:sym typeface="Symbol" pitchFamily="18" charset="2"/>
              </a:rPr>
              <a:t>1 </a:t>
            </a:r>
            <a:r>
              <a:rPr lang="en-US" altLang="zh-CN" sz="2800" b="0" dirty="0">
                <a:solidFill>
                  <a:schemeClr val="tx1"/>
                </a:solidFill>
              </a:rPr>
              <a:t>= 0 </a:t>
            </a:r>
            <a:r>
              <a:rPr lang="zh-CN" altLang="en-US" sz="2800" b="0" dirty="0">
                <a:solidFill>
                  <a:schemeClr val="tx1"/>
                </a:solidFill>
              </a:rPr>
              <a:t>，</a:t>
            </a:r>
            <a:r>
              <a:rPr lang="zh-CN" altLang="en-US" sz="2800" b="0" i="1" dirty="0">
                <a:solidFill>
                  <a:schemeClr val="tx1"/>
                </a:solidFill>
                <a:sym typeface="Symbol" pitchFamily="18" charset="2"/>
              </a:rPr>
              <a:t></a:t>
            </a:r>
            <a:r>
              <a:rPr lang="en-US" altLang="zh-CN" sz="2800" b="0" baseline="-25000" dirty="0">
                <a:solidFill>
                  <a:schemeClr val="tx1"/>
                </a:solidFill>
                <a:sym typeface="Symbol" pitchFamily="18" charset="2"/>
              </a:rPr>
              <a:t>2 </a:t>
            </a:r>
            <a:r>
              <a:rPr lang="en-US" altLang="zh-CN" sz="2800" b="0" dirty="0">
                <a:solidFill>
                  <a:schemeClr val="tx1"/>
                </a:solidFill>
              </a:rPr>
              <a:t>= </a:t>
            </a:r>
            <a:r>
              <a:rPr lang="en-US" altLang="zh-CN" sz="2800" b="0" dirty="0">
                <a:solidFill>
                  <a:schemeClr val="tx1"/>
                </a:solidFill>
                <a:sym typeface="Symbol" pitchFamily="18" charset="2"/>
              </a:rPr>
              <a:t>/2</a:t>
            </a:r>
            <a:r>
              <a:rPr lang="en-US" altLang="zh-CN" sz="2800" b="0" baseline="-25000" dirty="0">
                <a:solidFill>
                  <a:schemeClr val="tx1"/>
                </a:solidFill>
                <a:effectLst>
                  <a:outerShdw blurRad="38100" dist="38100" dir="2700000" algn="tl">
                    <a:srgbClr val="C0C0C0"/>
                  </a:outerShdw>
                </a:effectLst>
                <a:sym typeface="Symbol" pitchFamily="18" charset="2"/>
              </a:rPr>
              <a:t> </a:t>
            </a:r>
          </a:p>
        </p:txBody>
      </p:sp>
      <p:grpSp>
        <p:nvGrpSpPr>
          <p:cNvPr id="206863" name="Group 15"/>
          <p:cNvGrpSpPr>
            <a:grpSpLocks/>
          </p:cNvGrpSpPr>
          <p:nvPr/>
        </p:nvGrpSpPr>
        <p:grpSpPr bwMode="auto">
          <a:xfrm>
            <a:off x="5521325" y="4035425"/>
            <a:ext cx="3678238" cy="838200"/>
            <a:chOff x="2880" y="2208"/>
            <a:chExt cx="2317" cy="528"/>
          </a:xfrm>
        </p:grpSpPr>
        <p:sp>
          <p:nvSpPr>
            <p:cNvPr id="61450" name="Rectangle 16"/>
            <p:cNvSpPr>
              <a:spLocks noChangeArrowheads="1"/>
            </p:cNvSpPr>
            <p:nvPr/>
          </p:nvSpPr>
          <p:spPr bwMode="auto">
            <a:xfrm>
              <a:off x="2880" y="2688"/>
              <a:ext cx="2016" cy="4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sy="50000" kx="-2453608" rotWithShape="0">
                      <a:schemeClr val="bg2">
                        <a:alpha val="50000"/>
                      </a:schemeClr>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solidFill>
                  <a:srgbClr val="FF3300"/>
                </a:solidFill>
                <a:ea typeface="楷体_GB2312"/>
              </a:endParaRPr>
            </a:p>
          </p:txBody>
        </p:sp>
        <p:sp>
          <p:nvSpPr>
            <p:cNvPr id="61451" name="Line 17"/>
            <p:cNvSpPr>
              <a:spLocks noChangeShapeType="1"/>
            </p:cNvSpPr>
            <p:nvPr/>
          </p:nvSpPr>
          <p:spPr bwMode="auto">
            <a:xfrm flipV="1">
              <a:off x="4896" y="2352"/>
              <a:ext cx="0" cy="384"/>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52" name="Oval 18"/>
            <p:cNvSpPr>
              <a:spLocks noChangeArrowheads="1"/>
            </p:cNvSpPr>
            <p:nvPr/>
          </p:nvSpPr>
          <p:spPr bwMode="auto">
            <a:xfrm flipH="1">
              <a:off x="4896" y="2352"/>
              <a:ext cx="48" cy="48"/>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solidFill>
                  <a:srgbClr val="FF3300"/>
                </a:solidFill>
                <a:ea typeface="楷体_GB2312"/>
              </a:endParaRPr>
            </a:p>
          </p:txBody>
        </p:sp>
        <p:sp>
          <p:nvSpPr>
            <p:cNvPr id="61453" name="Text Box 19"/>
            <p:cNvSpPr txBox="1">
              <a:spLocks noChangeArrowheads="1"/>
            </p:cNvSpPr>
            <p:nvPr/>
          </p:nvSpPr>
          <p:spPr bwMode="auto">
            <a:xfrm>
              <a:off x="4944" y="2208"/>
              <a:ext cx="2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i="1">
                  <a:solidFill>
                    <a:srgbClr val="FF3300"/>
                  </a:solidFill>
                  <a:ea typeface="楷体_GB2312"/>
                </a:rPr>
                <a:t>P</a:t>
              </a:r>
            </a:p>
          </p:txBody>
        </p:sp>
      </p:grpSp>
      <p:graphicFrame>
        <p:nvGraphicFramePr>
          <p:cNvPr id="206868" name="Object 20"/>
          <p:cNvGraphicFramePr>
            <a:graphicFrameLocks noChangeAspect="1"/>
          </p:cNvGraphicFramePr>
          <p:nvPr/>
        </p:nvGraphicFramePr>
        <p:xfrm>
          <a:off x="1404938" y="2901950"/>
          <a:ext cx="2736850" cy="1090613"/>
        </p:xfrm>
        <a:graphic>
          <a:graphicData uri="http://schemas.openxmlformats.org/presentationml/2006/ole">
            <mc:AlternateContent xmlns:mc="http://schemas.openxmlformats.org/markup-compatibility/2006">
              <mc:Choice xmlns:v="urn:schemas-microsoft-com:vml" Requires="v">
                <p:oleObj spid="_x0000_s164159" name="公式" r:id="rId7" imgW="1079032" imgH="431613" progId="Equation.3">
                  <p:embed/>
                </p:oleObj>
              </mc:Choice>
              <mc:Fallback>
                <p:oleObj name="公式" r:id="rId7" imgW="1079032" imgH="431613" progId="Equation.3">
                  <p:embed/>
                  <p:pic>
                    <p:nvPicPr>
                      <p:cNvPr id="206868"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4938" y="2901950"/>
                        <a:ext cx="2736850" cy="10906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57150" cmpd="thickThin">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61449" name="Picture 53" descr="T7-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89513" y="1409700"/>
            <a:ext cx="3844925" cy="246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764289"/>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06855"/>
                                        </p:tgtEl>
                                        <p:attrNameLst>
                                          <p:attrName>style.visibility</p:attrName>
                                        </p:attrNameLst>
                                      </p:cBhvr>
                                      <p:to>
                                        <p:strVal val="visible"/>
                                      </p:to>
                                    </p:set>
                                    <p:animEffect transition="in" filter="wipe(left)">
                                      <p:cBhvr>
                                        <p:cTn id="7" dur="500"/>
                                        <p:tgtEl>
                                          <p:spTgt spid="20685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06856"/>
                                        </p:tgtEl>
                                        <p:attrNameLst>
                                          <p:attrName>style.visibility</p:attrName>
                                        </p:attrNameLst>
                                      </p:cBhvr>
                                      <p:to>
                                        <p:strVal val="visible"/>
                                      </p:to>
                                    </p:set>
                                    <p:animEffect transition="in" filter="wipe(left)">
                                      <p:cBhvr>
                                        <p:cTn id="11" dur="500"/>
                                        <p:tgtEl>
                                          <p:spTgt spid="20685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06862"/>
                                        </p:tgtEl>
                                        <p:attrNameLst>
                                          <p:attrName>style.visibility</p:attrName>
                                        </p:attrNameLst>
                                      </p:cBhvr>
                                      <p:to>
                                        <p:strVal val="visible"/>
                                      </p:to>
                                    </p:set>
                                    <p:animEffect transition="in" filter="wipe(left)">
                                      <p:cBhvr>
                                        <p:cTn id="16" dur="500"/>
                                        <p:tgtEl>
                                          <p:spTgt spid="20686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06863"/>
                                        </p:tgtEl>
                                        <p:attrNameLst>
                                          <p:attrName>style.visibility</p:attrName>
                                        </p:attrNameLst>
                                      </p:cBhvr>
                                      <p:to>
                                        <p:strVal val="visible"/>
                                      </p:to>
                                    </p:set>
                                    <p:animEffect transition="in" filter="wipe(left)">
                                      <p:cBhvr>
                                        <p:cTn id="21" dur="500"/>
                                        <p:tgtEl>
                                          <p:spTgt spid="20686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06868"/>
                                        </p:tgtEl>
                                        <p:attrNameLst>
                                          <p:attrName>style.visibility</p:attrName>
                                        </p:attrNameLst>
                                      </p:cBhvr>
                                      <p:to>
                                        <p:strVal val="visible"/>
                                      </p:to>
                                    </p:set>
                                    <p:animEffect transition="in" filter="wipe(left)">
                                      <p:cBhvr>
                                        <p:cTn id="26" dur="500"/>
                                        <p:tgtEl>
                                          <p:spTgt spid="20686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06854"/>
                                        </p:tgtEl>
                                        <p:attrNameLst>
                                          <p:attrName>style.visibility</p:attrName>
                                        </p:attrNameLst>
                                      </p:cBhvr>
                                      <p:to>
                                        <p:strVal val="visible"/>
                                      </p:to>
                                    </p:set>
                                    <p:animEffect transition="in" filter="wipe(left)">
                                      <p:cBhvr>
                                        <p:cTn id="31" dur="500"/>
                                        <p:tgtEl>
                                          <p:spTgt spid="20685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06857"/>
                                        </p:tgtEl>
                                        <p:attrNameLst>
                                          <p:attrName>style.visibility</p:attrName>
                                        </p:attrNameLst>
                                      </p:cBhvr>
                                      <p:to>
                                        <p:strVal val="visible"/>
                                      </p:to>
                                    </p:set>
                                    <p:animEffect transition="in" filter="wipe(left)">
                                      <p:cBhvr>
                                        <p:cTn id="36" dur="500"/>
                                        <p:tgtEl>
                                          <p:spTgt spid="2068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4" grpId="0" autoUpdateAnimBg="0"/>
      <p:bldP spid="206862"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684213" y="404813"/>
            <a:ext cx="7772400" cy="1143000"/>
          </a:xfrm>
        </p:spPr>
        <p:txBody>
          <a:bodyPr/>
          <a:lstStyle/>
          <a:p>
            <a:pPr eaLnBrk="1" hangingPunct="1"/>
            <a:r>
              <a:rPr lang="zh-CN" altLang="en-US" b="1">
                <a:solidFill>
                  <a:schemeClr val="folHlink"/>
                </a:solidFill>
              </a:rPr>
              <a:t>常见的几种电场的强度</a:t>
            </a:r>
          </a:p>
        </p:txBody>
      </p:sp>
      <p:graphicFrame>
        <p:nvGraphicFramePr>
          <p:cNvPr id="201761" name="Group 33"/>
          <p:cNvGraphicFramePr>
            <a:graphicFrameLocks noGrp="1"/>
          </p:cNvGraphicFramePr>
          <p:nvPr>
            <p:ph idx="1"/>
          </p:nvPr>
        </p:nvGraphicFramePr>
        <p:xfrm>
          <a:off x="685800" y="1700213"/>
          <a:ext cx="7772400" cy="4800600"/>
        </p:xfrm>
        <a:graphic>
          <a:graphicData uri="http://schemas.openxmlformats.org/drawingml/2006/table">
            <a:tbl>
              <a:tblPr/>
              <a:tblGrid>
                <a:gridCol w="38862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685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itchFamily="18" charset="0"/>
                          <a:ea typeface="宋体" charset="-122"/>
                        </a:rPr>
                        <a:t>场的位置</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1" u="none" strike="noStrike" cap="none" normalizeH="0" baseline="0">
                          <a:ln>
                            <a:noFill/>
                          </a:ln>
                          <a:solidFill>
                            <a:schemeClr val="tx1"/>
                          </a:solidFill>
                          <a:effectLst/>
                          <a:latin typeface="Times New Roman" pitchFamily="18" charset="0"/>
                          <a:ea typeface="宋体" charset="-122"/>
                        </a:rPr>
                        <a:t>E</a:t>
                      </a:r>
                      <a:r>
                        <a:rPr kumimoji="1" lang="zh-CN" altLang="en-US" sz="2800" b="1" i="0" u="none" strike="noStrike" cap="none" normalizeH="0" baseline="0">
                          <a:ln>
                            <a:noFill/>
                          </a:ln>
                          <a:solidFill>
                            <a:schemeClr val="tx1"/>
                          </a:solidFill>
                          <a:effectLst/>
                          <a:latin typeface="Times New Roman" pitchFamily="18" charset="0"/>
                          <a:ea typeface="宋体" charset="-122"/>
                        </a:rPr>
                        <a:t>（</a:t>
                      </a:r>
                      <a:r>
                        <a:rPr kumimoji="1" lang="en-US" altLang="zh-CN" sz="2800" b="1" i="0" u="none" strike="noStrike" cap="none" normalizeH="0" baseline="0">
                          <a:ln>
                            <a:noFill/>
                          </a:ln>
                          <a:solidFill>
                            <a:schemeClr val="tx1"/>
                          </a:solidFill>
                          <a:effectLst/>
                          <a:latin typeface="Times New Roman" pitchFamily="18" charset="0"/>
                          <a:ea typeface="宋体" charset="-122"/>
                        </a:rPr>
                        <a:t>N/C</a:t>
                      </a:r>
                      <a:r>
                        <a:rPr kumimoji="1" lang="zh-CN" altLang="en-US" sz="2800" b="1" i="0" u="none" strike="noStrike" cap="none" normalizeH="0" baseline="0">
                          <a:ln>
                            <a:noFill/>
                          </a:ln>
                          <a:solidFill>
                            <a:schemeClr val="tx1"/>
                          </a:solidFill>
                          <a:effectLst/>
                          <a:latin typeface="Times New Roman" pitchFamily="18" charset="0"/>
                          <a:ea typeface="宋体" charset="-122"/>
                        </a:rPr>
                        <a:t>）</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85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itchFamily="18" charset="0"/>
                          <a:ea typeface="宋体" charset="-122"/>
                        </a:rPr>
                        <a:t>铀原子核表面附近</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itchFamily="18" charset="0"/>
                          <a:ea typeface="宋体" charset="-122"/>
                        </a:rPr>
                        <a:t>3x10</a:t>
                      </a:r>
                      <a:r>
                        <a:rPr kumimoji="1" lang="en-US" altLang="zh-CN" sz="2800" b="1" i="0" u="none" strike="noStrike" cap="none" normalizeH="0" baseline="30000">
                          <a:ln>
                            <a:noFill/>
                          </a:ln>
                          <a:solidFill>
                            <a:schemeClr val="tx1"/>
                          </a:solidFill>
                          <a:effectLst/>
                          <a:latin typeface="Times New Roman" pitchFamily="18" charset="0"/>
                          <a:ea typeface="宋体" charset="-122"/>
                        </a:rPr>
                        <a:t>21</a:t>
                      </a:r>
                      <a:endParaRPr kumimoji="1" lang="en-US" altLang="zh-CN" sz="2800" b="1" i="0" u="none" strike="noStrike" cap="none" normalizeH="0" baseline="0">
                        <a:ln>
                          <a:noFill/>
                        </a:ln>
                        <a:solidFill>
                          <a:schemeClr val="tx1"/>
                        </a:solidFill>
                        <a:effectLst/>
                        <a:latin typeface="Times New Roman" pitchFamily="18" charset="0"/>
                        <a:ea typeface="宋体" charset="-122"/>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85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itchFamily="18" charset="0"/>
                          <a:ea typeface="宋体" charset="-122"/>
                        </a:rPr>
                        <a:t>氢原子核表面附近</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itchFamily="18" charset="0"/>
                          <a:ea typeface="宋体" charset="-122"/>
                        </a:rPr>
                        <a:t>5x10</a:t>
                      </a:r>
                      <a:r>
                        <a:rPr kumimoji="1" lang="en-US" altLang="zh-CN" sz="2800" b="1" i="0" u="none" strike="noStrike" cap="none" normalizeH="0" baseline="30000">
                          <a:ln>
                            <a:noFill/>
                          </a:ln>
                          <a:solidFill>
                            <a:schemeClr val="tx1"/>
                          </a:solidFill>
                          <a:effectLst/>
                          <a:latin typeface="Times New Roman" pitchFamily="18" charset="0"/>
                          <a:ea typeface="宋体" charset="-122"/>
                        </a:rPr>
                        <a:t>11</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85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itchFamily="18" charset="0"/>
                          <a:ea typeface="宋体" charset="-122"/>
                        </a:rPr>
                        <a:t>空气的击穿电场</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itchFamily="18" charset="0"/>
                          <a:ea typeface="宋体" charset="-122"/>
                        </a:rPr>
                        <a:t>3x10</a:t>
                      </a:r>
                      <a:r>
                        <a:rPr kumimoji="1" lang="en-US" altLang="zh-CN" sz="2800" b="1" i="0" u="none" strike="noStrike" cap="none" normalizeH="0" baseline="30000">
                          <a:ln>
                            <a:noFill/>
                          </a:ln>
                          <a:solidFill>
                            <a:schemeClr val="tx1"/>
                          </a:solidFill>
                          <a:effectLst/>
                          <a:latin typeface="Times New Roman" pitchFamily="18" charset="0"/>
                          <a:ea typeface="宋体" charset="-122"/>
                        </a:rPr>
                        <a:t>6</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85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itchFamily="18" charset="0"/>
                          <a:ea typeface="宋体" charset="-122"/>
                        </a:rPr>
                        <a:t>静电复印机硒鼓附近</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itchFamily="18" charset="0"/>
                          <a:ea typeface="宋体" charset="-122"/>
                        </a:rPr>
                        <a:t>10</a:t>
                      </a:r>
                      <a:r>
                        <a:rPr kumimoji="1" lang="en-US" altLang="zh-CN" sz="2800" b="1" i="0" u="none" strike="noStrike" cap="none" normalizeH="0" baseline="30000">
                          <a:ln>
                            <a:noFill/>
                          </a:ln>
                          <a:solidFill>
                            <a:schemeClr val="tx1"/>
                          </a:solidFill>
                          <a:effectLst/>
                          <a:latin typeface="Times New Roman" pitchFamily="18" charset="0"/>
                          <a:ea typeface="宋体" charset="-122"/>
                        </a:rPr>
                        <a:t>5</a:t>
                      </a:r>
                      <a:endParaRPr kumimoji="1" lang="en-US" altLang="zh-CN" sz="2800" b="1" i="0" u="none" strike="noStrike" cap="none" normalizeH="0" baseline="0">
                        <a:ln>
                          <a:noFill/>
                        </a:ln>
                        <a:solidFill>
                          <a:schemeClr val="tx1"/>
                        </a:solidFill>
                        <a:effectLst/>
                        <a:latin typeface="Times New Roman" pitchFamily="18" charset="0"/>
                        <a:ea typeface="宋体" charset="-122"/>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85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itchFamily="18" charset="0"/>
                          <a:ea typeface="宋体" charset="-122"/>
                        </a:rPr>
                        <a:t>带电的梳子</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itchFamily="18" charset="0"/>
                          <a:ea typeface="宋体" charset="-122"/>
                        </a:rPr>
                        <a:t>10</a:t>
                      </a:r>
                      <a:r>
                        <a:rPr kumimoji="1" lang="en-US" altLang="zh-CN" sz="2800" b="1" i="0" u="none" strike="noStrike" cap="none" normalizeH="0" baseline="30000">
                          <a:ln>
                            <a:noFill/>
                          </a:ln>
                          <a:solidFill>
                            <a:schemeClr val="tx1"/>
                          </a:solidFill>
                          <a:effectLst/>
                          <a:latin typeface="Times New Roman" pitchFamily="18" charset="0"/>
                          <a:ea typeface="宋体" charset="-122"/>
                        </a:rPr>
                        <a:t>3</a:t>
                      </a:r>
                      <a:endParaRPr kumimoji="1" lang="en-US" altLang="zh-CN" sz="2800" b="1" i="0" u="none" strike="noStrike" cap="none" normalizeH="0" baseline="0">
                        <a:ln>
                          <a:noFill/>
                        </a:ln>
                        <a:solidFill>
                          <a:schemeClr val="tx1"/>
                        </a:solidFill>
                        <a:effectLst/>
                        <a:latin typeface="Times New Roman" pitchFamily="18" charset="0"/>
                        <a:ea typeface="宋体" charset="-122"/>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85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a:ln>
                            <a:noFill/>
                          </a:ln>
                          <a:solidFill>
                            <a:schemeClr val="tx1"/>
                          </a:solidFill>
                          <a:effectLst/>
                          <a:latin typeface="Times New Roman" pitchFamily="18" charset="0"/>
                          <a:ea typeface="宋体" charset="-122"/>
                        </a:rPr>
                        <a:t>室内的铜导线附近</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latin typeface="Times New Roman" pitchFamily="18" charset="0"/>
                          <a:ea typeface="宋体" charset="-122"/>
                        </a:rPr>
                        <a:t>10</a:t>
                      </a:r>
                      <a:r>
                        <a:rPr kumimoji="1" lang="en-US" altLang="zh-CN" sz="2800" b="1" i="0" u="none" strike="noStrike" cap="none" normalizeH="0" baseline="30000">
                          <a:ln>
                            <a:noFill/>
                          </a:ln>
                          <a:solidFill>
                            <a:schemeClr val="tx1"/>
                          </a:solidFill>
                          <a:effectLst/>
                          <a:latin typeface="Times New Roman" pitchFamily="18" charset="0"/>
                          <a:ea typeface="宋体" charset="-122"/>
                        </a:rPr>
                        <a:t>-2</a:t>
                      </a:r>
                      <a:endParaRPr kumimoji="1" lang="en-US" altLang="zh-CN" sz="2800" b="1" i="0" u="none" strike="noStrike" cap="none" normalizeH="0" baseline="0">
                        <a:ln>
                          <a:noFill/>
                        </a:ln>
                        <a:solidFill>
                          <a:schemeClr val="tx1"/>
                        </a:solidFill>
                        <a:effectLst/>
                        <a:latin typeface="Times New Roman" pitchFamily="18" charset="0"/>
                        <a:ea typeface="宋体" charset="-122"/>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81898245"/>
      </p:ext>
    </p:extLst>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矩形 1"/>
          <p:cNvSpPr>
            <a:spLocks noChangeArrowheads="1"/>
          </p:cNvSpPr>
          <p:nvPr/>
        </p:nvSpPr>
        <p:spPr bwMode="auto">
          <a:xfrm>
            <a:off x="9178" y="2708920"/>
            <a:ext cx="8424863" cy="1969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3000">
                <a:solidFill>
                  <a:srgbClr val="FF3300"/>
                </a:solidFill>
                <a:ea typeface="楷体_GB2312"/>
              </a:rPr>
              <a:t>第</a:t>
            </a:r>
            <a:r>
              <a:rPr lang="en-US" altLang="zh-CN" sz="3000">
                <a:solidFill>
                  <a:srgbClr val="FF3300"/>
                </a:solidFill>
                <a:ea typeface="楷体_GB2312"/>
              </a:rPr>
              <a:t>7</a:t>
            </a:r>
            <a:r>
              <a:rPr lang="zh-CN" altLang="en-US" sz="3000">
                <a:solidFill>
                  <a:srgbClr val="FF3300"/>
                </a:solidFill>
                <a:ea typeface="楷体_GB2312"/>
              </a:rPr>
              <a:t>章：</a:t>
            </a:r>
            <a:r>
              <a:rPr lang="zh-CN" altLang="en-US" sz="3000">
                <a:ea typeface="楷体_GB2312"/>
              </a:rPr>
              <a:t>电场强度计算：</a:t>
            </a:r>
            <a:r>
              <a:rPr lang="en-US" altLang="zh-CN" sz="3000">
                <a:ea typeface="楷体_GB2312"/>
              </a:rPr>
              <a:t>2025-12-2</a:t>
            </a:r>
          </a:p>
          <a:p>
            <a:pPr algn="ctr" eaLnBrk="1" hangingPunct="1">
              <a:spcBef>
                <a:spcPct val="0"/>
              </a:spcBef>
              <a:buFontTx/>
              <a:buNone/>
            </a:pPr>
            <a:endParaRPr lang="en-US" altLang="zh-CN" sz="3000">
              <a:solidFill>
                <a:srgbClr val="FF3300"/>
              </a:solidFill>
              <a:ea typeface="楷体_GB2312"/>
            </a:endParaRPr>
          </a:p>
          <a:p>
            <a:pPr algn="ctr" eaLnBrk="1" hangingPunct="1">
              <a:spcBef>
                <a:spcPct val="0"/>
              </a:spcBef>
              <a:buNone/>
            </a:pPr>
            <a:r>
              <a:rPr lang="en-US" altLang="zh-CN">
                <a:solidFill>
                  <a:srgbClr val="FF3300"/>
                </a:solidFill>
                <a:ea typeface="楷体_GB2312"/>
              </a:rPr>
              <a:t>2,3,5,8,10</a:t>
            </a:r>
            <a:endParaRPr lang="en-US" altLang="zh-CN" sz="3000" dirty="0">
              <a:solidFill>
                <a:srgbClr val="FF3300"/>
              </a:solidFill>
              <a:ea typeface="楷体_GB2312"/>
            </a:endParaRPr>
          </a:p>
          <a:p>
            <a:pPr eaLnBrk="1" hangingPunct="1">
              <a:spcBef>
                <a:spcPct val="0"/>
              </a:spcBef>
              <a:buFontTx/>
              <a:buNone/>
            </a:pPr>
            <a:endParaRPr lang="en-US" altLang="zh-CN" sz="3000" dirty="0">
              <a:solidFill>
                <a:srgbClr val="FF3300"/>
              </a:solidFill>
              <a:ea typeface="楷体_GB2312"/>
            </a:endParaRPr>
          </a:p>
        </p:txBody>
      </p:sp>
    </p:spTree>
    <p:extLst>
      <p:ext uri="{BB962C8B-B14F-4D97-AF65-F5344CB8AC3E}">
        <p14:creationId xmlns:p14="http://schemas.microsoft.com/office/powerpoint/2010/main" val="3897726257"/>
      </p:ext>
    </p:extLst>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539552" y="-293982"/>
            <a:ext cx="7772400" cy="1143000"/>
          </a:xfrm>
        </p:spPr>
        <p:txBody>
          <a:bodyPr/>
          <a:lstStyle/>
          <a:p>
            <a:pPr eaLnBrk="1" hangingPunct="1"/>
            <a:r>
              <a:rPr lang="zh-CN" altLang="en-US" sz="3000" dirty="0"/>
              <a:t>上节内容回顾</a:t>
            </a:r>
            <a:endParaRPr lang="zh-CN" altLang="en-US" sz="3000" b="1" dirty="0">
              <a:solidFill>
                <a:schemeClr val="accent2"/>
              </a:solidFill>
              <a:ea typeface="楷体_GB2312"/>
              <a:cs typeface="楷体_GB2312"/>
            </a:endParaRPr>
          </a:p>
        </p:txBody>
      </p:sp>
      <p:sp>
        <p:nvSpPr>
          <p:cNvPr id="5123" name="Text Box 4"/>
          <p:cNvSpPr txBox="1">
            <a:spLocks noChangeArrowheads="1"/>
          </p:cNvSpPr>
          <p:nvPr/>
        </p:nvSpPr>
        <p:spPr bwMode="auto">
          <a:xfrm>
            <a:off x="381000" y="542426"/>
            <a:ext cx="8708652" cy="390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50000"/>
              </a:spcBef>
              <a:defRPr kumimoji="1" sz="4000" b="1">
                <a:solidFill>
                  <a:schemeClr val="accent2"/>
                </a:solidFill>
                <a:latin typeface="Times New Roman" panose="02020603050405020304" pitchFamily="18" charset="0"/>
                <a:ea typeface="华文行楷" panose="02010800040101010101" pitchFamily="2" charset="-122"/>
              </a:defRPr>
            </a:lvl1pPr>
            <a:lvl2pPr marL="742950" indent="-285750" eaLnBrk="0" hangingPunct="0">
              <a:spcBef>
                <a:spcPct val="50000"/>
              </a:spcBef>
              <a:defRPr kumimoji="1" sz="4000" b="1">
                <a:solidFill>
                  <a:schemeClr val="accent2"/>
                </a:solidFill>
                <a:latin typeface="Times New Roman" panose="02020603050405020304" pitchFamily="18" charset="0"/>
                <a:ea typeface="华文行楷" panose="02010800040101010101" pitchFamily="2" charset="-122"/>
              </a:defRPr>
            </a:lvl2pPr>
            <a:lvl3pPr marL="1143000" indent="-228600" eaLnBrk="0" hangingPunct="0">
              <a:spcBef>
                <a:spcPct val="50000"/>
              </a:spcBef>
              <a:defRPr kumimoji="1" sz="4000" b="1">
                <a:solidFill>
                  <a:schemeClr val="accent2"/>
                </a:solidFill>
                <a:latin typeface="Times New Roman" panose="02020603050405020304" pitchFamily="18" charset="0"/>
                <a:ea typeface="华文行楷" panose="02010800040101010101" pitchFamily="2" charset="-122"/>
              </a:defRPr>
            </a:lvl3pPr>
            <a:lvl4pPr marL="1600200" indent="-228600" eaLnBrk="0" hangingPunct="0">
              <a:spcBef>
                <a:spcPct val="50000"/>
              </a:spcBef>
              <a:defRPr kumimoji="1" sz="4000" b="1">
                <a:solidFill>
                  <a:schemeClr val="accent2"/>
                </a:solidFill>
                <a:latin typeface="Times New Roman" panose="02020603050405020304" pitchFamily="18" charset="0"/>
                <a:ea typeface="华文行楷" panose="02010800040101010101" pitchFamily="2" charset="-122"/>
              </a:defRPr>
            </a:lvl4pPr>
            <a:lvl5pPr marL="2057400" indent="-228600" eaLnBrk="0" hangingPunct="0">
              <a:spcBef>
                <a:spcPct val="50000"/>
              </a:spcBef>
              <a:defRPr kumimoji="1" sz="4000" b="1">
                <a:solidFill>
                  <a:schemeClr val="accent2"/>
                </a:solidFill>
                <a:latin typeface="Times New Roman" panose="02020603050405020304" pitchFamily="18" charset="0"/>
                <a:ea typeface="华文行楷" panose="02010800040101010101" pitchFamily="2" charset="-122"/>
              </a:defRPr>
            </a:lvl5pPr>
            <a:lvl6pPr marL="2514600" indent="-228600" eaLnBrk="0" fontAlgn="base" hangingPunct="0">
              <a:spcBef>
                <a:spcPct val="50000"/>
              </a:spcBef>
              <a:spcAft>
                <a:spcPct val="0"/>
              </a:spcAft>
              <a:defRPr kumimoji="1" sz="4000" b="1">
                <a:solidFill>
                  <a:schemeClr val="accent2"/>
                </a:solidFill>
                <a:latin typeface="Times New Roman" panose="02020603050405020304" pitchFamily="18" charset="0"/>
                <a:ea typeface="华文行楷" panose="02010800040101010101" pitchFamily="2" charset="-122"/>
              </a:defRPr>
            </a:lvl6pPr>
            <a:lvl7pPr marL="2971800" indent="-228600" eaLnBrk="0" fontAlgn="base" hangingPunct="0">
              <a:spcBef>
                <a:spcPct val="50000"/>
              </a:spcBef>
              <a:spcAft>
                <a:spcPct val="0"/>
              </a:spcAft>
              <a:defRPr kumimoji="1" sz="4000" b="1">
                <a:solidFill>
                  <a:schemeClr val="accent2"/>
                </a:solidFill>
                <a:latin typeface="Times New Roman" panose="02020603050405020304" pitchFamily="18" charset="0"/>
                <a:ea typeface="华文行楷" panose="02010800040101010101" pitchFamily="2" charset="-122"/>
              </a:defRPr>
            </a:lvl7pPr>
            <a:lvl8pPr marL="3429000" indent="-228600" eaLnBrk="0" fontAlgn="base" hangingPunct="0">
              <a:spcBef>
                <a:spcPct val="50000"/>
              </a:spcBef>
              <a:spcAft>
                <a:spcPct val="0"/>
              </a:spcAft>
              <a:defRPr kumimoji="1" sz="4000" b="1">
                <a:solidFill>
                  <a:schemeClr val="accent2"/>
                </a:solidFill>
                <a:latin typeface="Times New Roman" panose="02020603050405020304" pitchFamily="18" charset="0"/>
                <a:ea typeface="华文行楷" panose="02010800040101010101" pitchFamily="2" charset="-122"/>
              </a:defRPr>
            </a:lvl8pPr>
            <a:lvl9pPr marL="3886200" indent="-228600" eaLnBrk="0" fontAlgn="base" hangingPunct="0">
              <a:spcBef>
                <a:spcPct val="50000"/>
              </a:spcBef>
              <a:spcAft>
                <a:spcPct val="0"/>
              </a:spcAft>
              <a:defRPr kumimoji="1" sz="4000" b="1">
                <a:solidFill>
                  <a:schemeClr val="accent2"/>
                </a:solidFill>
                <a:latin typeface="Times New Roman" panose="02020603050405020304" pitchFamily="18" charset="0"/>
                <a:ea typeface="华文行楷" panose="02010800040101010101" pitchFamily="2" charset="-122"/>
              </a:defRPr>
            </a:lvl9pPr>
          </a:lstStyle>
          <a:p>
            <a:pPr eaLnBrk="1" hangingPunct="1"/>
            <a:r>
              <a:rPr lang="zh-CN" altLang="en-US" sz="2000" dirty="0">
                <a:ea typeface="楷体_GB2312"/>
                <a:cs typeface="楷体_GB2312"/>
              </a:rPr>
              <a:t>（一）</a:t>
            </a:r>
            <a:r>
              <a:rPr lang="zh-CN" altLang="en-US" sz="2000" dirty="0"/>
              <a:t>、</a:t>
            </a:r>
            <a:r>
              <a:rPr lang="zh-CN" altLang="en-US" sz="2000" dirty="0">
                <a:latin typeface="楷体_GB2312"/>
                <a:ea typeface="楷体_GB2312"/>
                <a:cs typeface="楷体_GB2312"/>
              </a:rPr>
              <a:t>电荷守恒定律； </a:t>
            </a:r>
            <a:r>
              <a:rPr lang="zh-CN" altLang="en-US" sz="1800" dirty="0">
                <a:latin typeface="楷体_GB2312"/>
                <a:ea typeface="楷体_GB2312"/>
                <a:cs typeface="楷体_GB2312"/>
              </a:rPr>
              <a:t>在一个与外界没有电荷交换的系统内，在任一时刻存在于系统中的正电荷和负电荷的代数和始终保持不变。（物理学的基本规律之一）</a:t>
            </a:r>
          </a:p>
          <a:p>
            <a:pPr eaLnBrk="1" hangingPunct="1"/>
            <a:r>
              <a:rPr lang="zh-CN" altLang="en-US" sz="2000" dirty="0">
                <a:latin typeface="楷体_GB2312"/>
                <a:ea typeface="楷体_GB2312"/>
                <a:cs typeface="楷体_GB2312"/>
              </a:rPr>
              <a:t>（二）、库仑定律； </a:t>
            </a:r>
          </a:p>
          <a:p>
            <a:pPr eaLnBrk="1" hangingPunct="1"/>
            <a:r>
              <a:rPr lang="zh-CN" altLang="en-US" sz="2000" dirty="0">
                <a:latin typeface="楷体_GB2312"/>
                <a:ea typeface="楷体_GB2312"/>
                <a:cs typeface="楷体_GB2312"/>
              </a:rPr>
              <a:t>（三）、电场强度的定义和计算</a:t>
            </a:r>
          </a:p>
          <a:p>
            <a:pPr eaLnBrk="1" hangingPunct="1"/>
            <a:r>
              <a:rPr lang="en-US" altLang="zh-CN" sz="2000" dirty="0">
                <a:latin typeface="楷体_GB2312"/>
                <a:ea typeface="楷体_GB2312"/>
                <a:cs typeface="楷体_GB2312"/>
              </a:rPr>
              <a:t>1</a:t>
            </a:r>
            <a:r>
              <a:rPr lang="zh-CN" altLang="en-US" sz="2000" dirty="0">
                <a:latin typeface="楷体_GB2312"/>
                <a:ea typeface="楷体_GB2312"/>
                <a:cs typeface="楷体_GB2312"/>
              </a:rPr>
              <a:t>、场强的定义：          </a:t>
            </a:r>
            <a:r>
              <a:rPr lang="en-US" altLang="zh-CN" sz="2000" dirty="0">
                <a:latin typeface="楷体_GB2312"/>
                <a:ea typeface="楷体_GB2312"/>
                <a:cs typeface="楷体_GB2312"/>
              </a:rPr>
              <a:t>q</a:t>
            </a:r>
            <a:r>
              <a:rPr lang="zh-CN" altLang="en-US" sz="2000" dirty="0">
                <a:latin typeface="楷体_GB2312"/>
                <a:ea typeface="楷体_GB2312"/>
                <a:cs typeface="楷体_GB2312"/>
              </a:rPr>
              <a:t>为试探电荷。</a:t>
            </a:r>
          </a:p>
          <a:p>
            <a:pPr eaLnBrk="1" hangingPunct="1"/>
            <a:r>
              <a:rPr lang="en-US" altLang="zh-CN" sz="2000" dirty="0">
                <a:latin typeface="楷体_GB2312"/>
                <a:ea typeface="楷体_GB2312"/>
                <a:cs typeface="楷体_GB2312"/>
              </a:rPr>
              <a:t>2</a:t>
            </a:r>
            <a:r>
              <a:rPr lang="zh-CN" altLang="en-US" sz="2000" dirty="0">
                <a:latin typeface="楷体_GB2312"/>
                <a:ea typeface="楷体_GB2312"/>
                <a:cs typeface="楷体_GB2312"/>
              </a:rPr>
              <a:t>、点电荷的电场</a:t>
            </a:r>
            <a:r>
              <a:rPr lang="zh-CN" altLang="en-US" sz="2000">
                <a:latin typeface="楷体_GB2312"/>
                <a:ea typeface="楷体_GB2312"/>
                <a:cs typeface="楷体_GB2312"/>
              </a:rPr>
              <a:t>：                 </a:t>
            </a:r>
            <a:r>
              <a:rPr lang="en-US" altLang="zh-CN" sz="2000">
                <a:latin typeface="楷体_GB2312"/>
                <a:ea typeface="楷体_GB2312"/>
                <a:cs typeface="楷体_GB2312"/>
              </a:rPr>
              <a:t>r</a:t>
            </a:r>
            <a:r>
              <a:rPr lang="zh-CN" altLang="en-US" sz="2000" dirty="0">
                <a:latin typeface="楷体_GB2312"/>
                <a:ea typeface="楷体_GB2312"/>
                <a:cs typeface="楷体_GB2312"/>
              </a:rPr>
              <a:t>为点电荷到场点的矢径。</a:t>
            </a:r>
          </a:p>
          <a:p>
            <a:pPr eaLnBrk="1" hangingPunct="1"/>
            <a:r>
              <a:rPr lang="zh-CN" altLang="en-US" sz="2000" dirty="0">
                <a:latin typeface="楷体_GB2312"/>
                <a:ea typeface="楷体_GB2312"/>
                <a:cs typeface="楷体_GB2312"/>
              </a:rPr>
              <a:t>（四）、场强叠加原理： </a:t>
            </a:r>
            <a:r>
              <a:rPr lang="en-US" altLang="zh-CN" sz="2000" dirty="0">
                <a:latin typeface="楷体_GB2312"/>
                <a:ea typeface="楷体_GB2312"/>
                <a:cs typeface="楷体_GB2312"/>
              </a:rPr>
              <a:t>E</a:t>
            </a:r>
            <a:r>
              <a:rPr lang="zh-CN" altLang="en-US" sz="2000" dirty="0">
                <a:latin typeface="楷体_GB2312"/>
                <a:ea typeface="楷体_GB2312"/>
                <a:cs typeface="楷体_GB2312"/>
              </a:rPr>
              <a:t>为</a:t>
            </a:r>
            <a:r>
              <a:rPr lang="zh-CN" altLang="en-US" sz="2000">
                <a:latin typeface="楷体_GB2312"/>
                <a:ea typeface="楷体_GB2312"/>
                <a:cs typeface="楷体_GB2312"/>
              </a:rPr>
              <a:t>矢量，  服从</a:t>
            </a:r>
            <a:r>
              <a:rPr lang="zh-CN" altLang="en-US" sz="2000" dirty="0">
                <a:latin typeface="楷体_GB2312"/>
                <a:ea typeface="楷体_GB2312"/>
                <a:cs typeface="楷体_GB2312"/>
              </a:rPr>
              <a:t>矢量叠加原理</a:t>
            </a:r>
          </a:p>
          <a:p>
            <a:pPr eaLnBrk="1" hangingPunct="1"/>
            <a:r>
              <a:rPr lang="en-US" altLang="zh-CN" sz="2000" dirty="0">
                <a:latin typeface="楷体_GB2312"/>
                <a:ea typeface="楷体_GB2312"/>
                <a:cs typeface="楷体_GB2312"/>
              </a:rPr>
              <a:t>1</a:t>
            </a:r>
            <a:r>
              <a:rPr lang="zh-CN" altLang="en-US" sz="2000" dirty="0">
                <a:latin typeface="楷体_GB2312"/>
                <a:ea typeface="楷体_GB2312"/>
                <a:cs typeface="楷体_GB2312"/>
              </a:rPr>
              <a:t>、点电荷系的场强</a:t>
            </a:r>
            <a:r>
              <a:rPr lang="zh-CN" altLang="en-US" sz="2000" dirty="0">
                <a:ea typeface="楷体_GB2312"/>
                <a:cs typeface="楷体_GB2312"/>
              </a:rPr>
              <a:t>：</a:t>
            </a:r>
            <a:r>
              <a:rPr lang="en-US" altLang="zh-CN" sz="2000" dirty="0">
                <a:ea typeface="楷体_GB2312"/>
                <a:cs typeface="楷体_GB2312"/>
              </a:rPr>
              <a:t>E</a:t>
            </a:r>
            <a:r>
              <a:rPr lang="zh-CN" altLang="en-US" sz="2000" dirty="0">
                <a:ea typeface="楷体_GB2312"/>
                <a:cs typeface="楷体_GB2312"/>
              </a:rPr>
              <a:t>＝</a:t>
            </a:r>
            <a:r>
              <a:rPr lang="zh-CN" altLang="en-US" sz="2000" dirty="0">
                <a:ea typeface="楷体_GB2312"/>
                <a:cs typeface="楷体_GB2312"/>
                <a:sym typeface="Symbol" panose="05050102010706020507" pitchFamily="18" charset="2"/>
              </a:rPr>
              <a:t></a:t>
            </a:r>
            <a:r>
              <a:rPr lang="en-US" altLang="zh-CN" sz="2000" dirty="0" err="1">
                <a:ea typeface="楷体_GB2312"/>
                <a:cs typeface="楷体_GB2312"/>
                <a:sym typeface="Symbol" panose="05050102010706020507" pitchFamily="18" charset="2"/>
              </a:rPr>
              <a:t>E</a:t>
            </a:r>
            <a:r>
              <a:rPr lang="en-US" altLang="zh-CN" sz="2000" baseline="-25000" dirty="0" err="1">
                <a:ea typeface="楷体_GB2312"/>
                <a:cs typeface="楷体_GB2312"/>
                <a:sym typeface="Symbol" panose="05050102010706020507" pitchFamily="18" charset="2"/>
              </a:rPr>
              <a:t>i</a:t>
            </a:r>
            <a:endParaRPr lang="en-US" altLang="zh-CN" sz="2000" baseline="-25000" dirty="0">
              <a:ea typeface="楷体_GB2312"/>
              <a:cs typeface="楷体_GB2312"/>
              <a:sym typeface="Symbol" panose="05050102010706020507" pitchFamily="18" charset="2"/>
            </a:endParaRPr>
          </a:p>
          <a:p>
            <a:pPr eaLnBrk="1" hangingPunct="1"/>
            <a:r>
              <a:rPr lang="en-US" altLang="zh-CN" sz="2000" dirty="0">
                <a:ea typeface="楷体_GB2312"/>
                <a:cs typeface="楷体_GB2312"/>
                <a:sym typeface="Symbol" panose="05050102010706020507" pitchFamily="18" charset="2"/>
              </a:rPr>
              <a:t>2</a:t>
            </a:r>
            <a:r>
              <a:rPr lang="zh-CN" altLang="en-US" sz="2000" dirty="0">
                <a:ea typeface="楷体_GB2312"/>
                <a:cs typeface="楷体_GB2312"/>
                <a:sym typeface="Symbol" panose="05050102010706020507" pitchFamily="18" charset="2"/>
              </a:rPr>
              <a:t>、电荷连续分布的场强：</a:t>
            </a:r>
            <a:endParaRPr lang="zh-CN" altLang="en-US" sz="2000" dirty="0">
              <a:ea typeface="楷体_GB2312"/>
              <a:cs typeface="楷体_GB2312"/>
            </a:endParaRPr>
          </a:p>
        </p:txBody>
      </p:sp>
      <p:graphicFrame>
        <p:nvGraphicFramePr>
          <p:cNvPr id="5124" name="Object 5"/>
          <p:cNvGraphicFramePr>
            <a:graphicFrameLocks noChangeAspect="1"/>
          </p:cNvGraphicFramePr>
          <p:nvPr>
            <p:extLst>
              <p:ext uri="{D42A27DB-BD31-4B8C-83A1-F6EECF244321}">
                <p14:modId xmlns:p14="http://schemas.microsoft.com/office/powerpoint/2010/main" val="3421732938"/>
              </p:ext>
            </p:extLst>
          </p:nvPr>
        </p:nvGraphicFramePr>
        <p:xfrm>
          <a:off x="3224605" y="1079566"/>
          <a:ext cx="2006600" cy="581025"/>
        </p:xfrm>
        <a:graphic>
          <a:graphicData uri="http://schemas.openxmlformats.org/presentationml/2006/ole">
            <mc:AlternateContent xmlns:mc="http://schemas.openxmlformats.org/markup-compatibility/2006">
              <mc:Choice xmlns:v="urn:schemas-microsoft-com:vml" Requires="v">
                <p:oleObj spid="_x0000_s200383" name="公式" r:id="rId4" imgW="965200" imgH="279400" progId="Equation.3">
                  <p:embed/>
                </p:oleObj>
              </mc:Choice>
              <mc:Fallback>
                <p:oleObj name="公式" r:id="rId4" imgW="965200" imgH="279400" progId="Equation.3">
                  <p:embed/>
                  <p:pic>
                    <p:nvPicPr>
                      <p:cNvPr id="5124"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24605" y="1079566"/>
                        <a:ext cx="2006600" cy="581025"/>
                      </a:xfrm>
                      <a:prstGeom prst="rect">
                        <a:avLst/>
                      </a:prstGeom>
                      <a:solidFill>
                        <a:srgbClr val="CCFF33"/>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5" name="Object 6"/>
          <p:cNvGraphicFramePr>
            <a:graphicFrameLocks noChangeAspect="1"/>
          </p:cNvGraphicFramePr>
          <p:nvPr>
            <p:extLst>
              <p:ext uri="{D42A27DB-BD31-4B8C-83A1-F6EECF244321}">
                <p14:modId xmlns:p14="http://schemas.microsoft.com/office/powerpoint/2010/main" val="4114790591"/>
              </p:ext>
            </p:extLst>
          </p:nvPr>
        </p:nvGraphicFramePr>
        <p:xfrm>
          <a:off x="2329906" y="2029833"/>
          <a:ext cx="863104" cy="548764"/>
        </p:xfrm>
        <a:graphic>
          <a:graphicData uri="http://schemas.openxmlformats.org/presentationml/2006/ole">
            <mc:AlternateContent xmlns:mc="http://schemas.openxmlformats.org/markup-compatibility/2006">
              <mc:Choice xmlns:v="urn:schemas-microsoft-com:vml" Requires="v">
                <p:oleObj spid="_x0000_s200384" name="Equation" r:id="rId6" imgW="380835" imgH="241195" progId="Equation.3">
                  <p:embed/>
                </p:oleObj>
              </mc:Choice>
              <mc:Fallback>
                <p:oleObj name="Equation" r:id="rId6" imgW="380835" imgH="241195" progId="Equation.3">
                  <p:embed/>
                  <p:pic>
                    <p:nvPicPr>
                      <p:cNvPr id="5125"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29906" y="2029833"/>
                        <a:ext cx="863104" cy="548764"/>
                      </a:xfrm>
                      <a:prstGeom prst="rect">
                        <a:avLst/>
                      </a:prstGeom>
                      <a:solidFill>
                        <a:srgbClr val="CCFF33"/>
                      </a:solidFill>
                      <a:ln w="9525">
                        <a:solidFill>
                          <a:srgbClr val="66CCFF"/>
                        </a:solidFill>
                        <a:miter lim="800000"/>
                        <a:headEnd/>
                        <a:tailEnd/>
                      </a:ln>
                      <a:effectLst/>
                    </p:spPr>
                  </p:pic>
                </p:oleObj>
              </mc:Fallback>
            </mc:AlternateContent>
          </a:graphicData>
        </a:graphic>
      </p:graphicFrame>
      <p:graphicFrame>
        <p:nvGraphicFramePr>
          <p:cNvPr id="5126" name="Object 8"/>
          <p:cNvGraphicFramePr>
            <a:graphicFrameLocks noChangeAspect="1"/>
          </p:cNvGraphicFramePr>
          <p:nvPr>
            <p:extLst>
              <p:ext uri="{D42A27DB-BD31-4B8C-83A1-F6EECF244321}">
                <p14:modId xmlns:p14="http://schemas.microsoft.com/office/powerpoint/2010/main" val="2853388815"/>
              </p:ext>
            </p:extLst>
          </p:nvPr>
        </p:nvGraphicFramePr>
        <p:xfrm>
          <a:off x="2771800" y="2568188"/>
          <a:ext cx="1165947" cy="484286"/>
        </p:xfrm>
        <a:graphic>
          <a:graphicData uri="http://schemas.openxmlformats.org/presentationml/2006/ole">
            <mc:AlternateContent xmlns:mc="http://schemas.openxmlformats.org/markup-compatibility/2006">
              <mc:Choice xmlns:v="urn:schemas-microsoft-com:vml" Requires="v">
                <p:oleObj spid="_x0000_s200385" name="公式" r:id="rId8" imgW="672808" imgH="279279" progId="Equation.3">
                  <p:embed/>
                </p:oleObj>
              </mc:Choice>
              <mc:Fallback>
                <p:oleObj name="公式" r:id="rId8" imgW="672808" imgH="279279" progId="Equation.3">
                  <p:embed/>
                  <p:pic>
                    <p:nvPicPr>
                      <p:cNvPr id="5126"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71800" y="2568188"/>
                        <a:ext cx="1165947" cy="484286"/>
                      </a:xfrm>
                      <a:prstGeom prst="rect">
                        <a:avLst/>
                      </a:prstGeom>
                      <a:solidFill>
                        <a:srgbClr val="CCFF33"/>
                      </a:solidFill>
                      <a:ln w="9525">
                        <a:solidFill>
                          <a:srgbClr val="66CCFF"/>
                        </a:solidFill>
                        <a:miter lim="800000"/>
                        <a:headEnd/>
                        <a:tailEnd/>
                      </a:ln>
                      <a:effectLst/>
                    </p:spPr>
                  </p:pic>
                </p:oleObj>
              </mc:Fallback>
            </mc:AlternateContent>
          </a:graphicData>
        </a:graphic>
      </p:graphicFrame>
      <p:graphicFrame>
        <p:nvGraphicFramePr>
          <p:cNvPr id="5127" name="Object 9"/>
          <p:cNvGraphicFramePr>
            <a:graphicFrameLocks noChangeAspect="1"/>
          </p:cNvGraphicFramePr>
          <p:nvPr>
            <p:extLst>
              <p:ext uri="{D42A27DB-BD31-4B8C-83A1-F6EECF244321}">
                <p14:modId xmlns:p14="http://schemas.microsoft.com/office/powerpoint/2010/main" val="2490653534"/>
              </p:ext>
            </p:extLst>
          </p:nvPr>
        </p:nvGraphicFramePr>
        <p:xfrm>
          <a:off x="3558414" y="3969532"/>
          <a:ext cx="1324955" cy="582962"/>
        </p:xfrm>
        <a:graphic>
          <a:graphicData uri="http://schemas.openxmlformats.org/presentationml/2006/ole">
            <mc:AlternateContent xmlns:mc="http://schemas.openxmlformats.org/markup-compatibility/2006">
              <mc:Choice xmlns:v="urn:schemas-microsoft-com:vml" Requires="v">
                <p:oleObj spid="_x0000_s200386" name="公式" r:id="rId10" imgW="774364" imgH="291973" progId="Equation.3">
                  <p:embed/>
                </p:oleObj>
              </mc:Choice>
              <mc:Fallback>
                <p:oleObj name="公式" r:id="rId10" imgW="774364" imgH="291973" progId="Equation.3">
                  <p:embed/>
                  <p:pic>
                    <p:nvPicPr>
                      <p:cNvPr id="5127"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58414" y="3969532"/>
                        <a:ext cx="1324955" cy="582962"/>
                      </a:xfrm>
                      <a:prstGeom prst="rect">
                        <a:avLst/>
                      </a:prstGeom>
                      <a:solidFill>
                        <a:srgbClr val="CCFF33"/>
                      </a:solidFill>
                      <a:ln w="9525">
                        <a:solidFill>
                          <a:srgbClr val="66CCFF"/>
                        </a:solidFill>
                        <a:miter lim="800000"/>
                        <a:headEnd/>
                        <a:tailEnd/>
                      </a:ln>
                      <a:effectLst/>
                      <a:extLst/>
                    </p:spPr>
                  </p:pic>
                </p:oleObj>
              </mc:Fallback>
            </mc:AlternateContent>
          </a:graphicData>
        </a:graphic>
      </p:graphicFrame>
      <p:graphicFrame>
        <p:nvGraphicFramePr>
          <p:cNvPr id="5128" name="Object 11"/>
          <p:cNvGraphicFramePr>
            <a:graphicFrameLocks noChangeAspect="1"/>
          </p:cNvGraphicFramePr>
          <p:nvPr>
            <p:extLst>
              <p:ext uri="{D42A27DB-BD31-4B8C-83A1-F6EECF244321}">
                <p14:modId xmlns:p14="http://schemas.microsoft.com/office/powerpoint/2010/main" val="1060901027"/>
              </p:ext>
            </p:extLst>
          </p:nvPr>
        </p:nvGraphicFramePr>
        <p:xfrm>
          <a:off x="6088399" y="3479525"/>
          <a:ext cx="1828800" cy="1182688"/>
        </p:xfrm>
        <a:graphic>
          <a:graphicData uri="http://schemas.openxmlformats.org/presentationml/2006/ole">
            <mc:AlternateContent xmlns:mc="http://schemas.openxmlformats.org/markup-compatibility/2006">
              <mc:Choice xmlns:v="urn:schemas-microsoft-com:vml" Requires="v">
                <p:oleObj spid="_x0000_s200387" name="Equation" r:id="rId12" imgW="939800" imgH="609600" progId="Equation.3">
                  <p:embed/>
                </p:oleObj>
              </mc:Choice>
              <mc:Fallback>
                <p:oleObj name="Equation" r:id="rId12" imgW="939800" imgH="609600" progId="Equation.3">
                  <p:embed/>
                  <p:pic>
                    <p:nvPicPr>
                      <p:cNvPr id="5128"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88399" y="3479525"/>
                        <a:ext cx="1828800" cy="1182688"/>
                      </a:xfrm>
                      <a:prstGeom prst="rect">
                        <a:avLst/>
                      </a:prstGeom>
                      <a:solidFill>
                        <a:srgbClr val="CCFF33"/>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9" name="AutoShape 12"/>
          <p:cNvSpPr>
            <a:spLocks noChangeArrowheads="1"/>
          </p:cNvSpPr>
          <p:nvPr/>
        </p:nvSpPr>
        <p:spPr bwMode="auto">
          <a:xfrm>
            <a:off x="5028725" y="3956213"/>
            <a:ext cx="838200" cy="304800"/>
          </a:xfrm>
          <a:prstGeom prst="rightArrow">
            <a:avLst>
              <a:gd name="adj1" fmla="val 50000"/>
              <a:gd name="adj2" fmla="val 68750"/>
            </a:avLst>
          </a:prstGeom>
          <a:solidFill>
            <a:srgbClr val="CCFF33"/>
          </a:solidFill>
          <a:ln w="38100">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50000"/>
              </a:spcBef>
              <a:defRPr kumimoji="1" sz="4000" b="1">
                <a:solidFill>
                  <a:schemeClr val="accent2"/>
                </a:solidFill>
                <a:latin typeface="Times New Roman" panose="02020603050405020304" pitchFamily="18" charset="0"/>
                <a:ea typeface="华文行楷" panose="02010800040101010101" pitchFamily="2" charset="-122"/>
              </a:defRPr>
            </a:lvl1pPr>
            <a:lvl2pPr marL="742950" indent="-285750" eaLnBrk="0" hangingPunct="0">
              <a:spcBef>
                <a:spcPct val="50000"/>
              </a:spcBef>
              <a:defRPr kumimoji="1" sz="4000" b="1">
                <a:solidFill>
                  <a:schemeClr val="accent2"/>
                </a:solidFill>
                <a:latin typeface="Times New Roman" panose="02020603050405020304" pitchFamily="18" charset="0"/>
                <a:ea typeface="华文行楷" panose="02010800040101010101" pitchFamily="2" charset="-122"/>
              </a:defRPr>
            </a:lvl2pPr>
            <a:lvl3pPr marL="1143000" indent="-228600" eaLnBrk="0" hangingPunct="0">
              <a:spcBef>
                <a:spcPct val="50000"/>
              </a:spcBef>
              <a:defRPr kumimoji="1" sz="4000" b="1">
                <a:solidFill>
                  <a:schemeClr val="accent2"/>
                </a:solidFill>
                <a:latin typeface="Times New Roman" panose="02020603050405020304" pitchFamily="18" charset="0"/>
                <a:ea typeface="华文行楷" panose="02010800040101010101" pitchFamily="2" charset="-122"/>
              </a:defRPr>
            </a:lvl3pPr>
            <a:lvl4pPr marL="1600200" indent="-228600" eaLnBrk="0" hangingPunct="0">
              <a:spcBef>
                <a:spcPct val="50000"/>
              </a:spcBef>
              <a:defRPr kumimoji="1" sz="4000" b="1">
                <a:solidFill>
                  <a:schemeClr val="accent2"/>
                </a:solidFill>
                <a:latin typeface="Times New Roman" panose="02020603050405020304" pitchFamily="18" charset="0"/>
                <a:ea typeface="华文行楷" panose="02010800040101010101" pitchFamily="2" charset="-122"/>
              </a:defRPr>
            </a:lvl4pPr>
            <a:lvl5pPr marL="2057400" indent="-228600" eaLnBrk="0" hangingPunct="0">
              <a:spcBef>
                <a:spcPct val="50000"/>
              </a:spcBef>
              <a:defRPr kumimoji="1" sz="4000" b="1">
                <a:solidFill>
                  <a:schemeClr val="accent2"/>
                </a:solidFill>
                <a:latin typeface="Times New Roman" panose="02020603050405020304" pitchFamily="18" charset="0"/>
                <a:ea typeface="华文行楷" panose="02010800040101010101" pitchFamily="2" charset="-122"/>
              </a:defRPr>
            </a:lvl5pPr>
            <a:lvl6pPr marL="2514600" indent="-228600" eaLnBrk="0" fontAlgn="base" hangingPunct="0">
              <a:spcBef>
                <a:spcPct val="50000"/>
              </a:spcBef>
              <a:spcAft>
                <a:spcPct val="0"/>
              </a:spcAft>
              <a:defRPr kumimoji="1" sz="4000" b="1">
                <a:solidFill>
                  <a:schemeClr val="accent2"/>
                </a:solidFill>
                <a:latin typeface="Times New Roman" panose="02020603050405020304" pitchFamily="18" charset="0"/>
                <a:ea typeface="华文行楷" panose="02010800040101010101" pitchFamily="2" charset="-122"/>
              </a:defRPr>
            </a:lvl6pPr>
            <a:lvl7pPr marL="2971800" indent="-228600" eaLnBrk="0" fontAlgn="base" hangingPunct="0">
              <a:spcBef>
                <a:spcPct val="50000"/>
              </a:spcBef>
              <a:spcAft>
                <a:spcPct val="0"/>
              </a:spcAft>
              <a:defRPr kumimoji="1" sz="4000" b="1">
                <a:solidFill>
                  <a:schemeClr val="accent2"/>
                </a:solidFill>
                <a:latin typeface="Times New Roman" panose="02020603050405020304" pitchFamily="18" charset="0"/>
                <a:ea typeface="华文行楷" panose="02010800040101010101" pitchFamily="2" charset="-122"/>
              </a:defRPr>
            </a:lvl7pPr>
            <a:lvl8pPr marL="3429000" indent="-228600" eaLnBrk="0" fontAlgn="base" hangingPunct="0">
              <a:spcBef>
                <a:spcPct val="50000"/>
              </a:spcBef>
              <a:spcAft>
                <a:spcPct val="0"/>
              </a:spcAft>
              <a:defRPr kumimoji="1" sz="4000" b="1">
                <a:solidFill>
                  <a:schemeClr val="accent2"/>
                </a:solidFill>
                <a:latin typeface="Times New Roman" panose="02020603050405020304" pitchFamily="18" charset="0"/>
                <a:ea typeface="华文行楷" panose="02010800040101010101" pitchFamily="2" charset="-122"/>
              </a:defRPr>
            </a:lvl8pPr>
            <a:lvl9pPr marL="3886200" indent="-228600" eaLnBrk="0" fontAlgn="base" hangingPunct="0">
              <a:spcBef>
                <a:spcPct val="50000"/>
              </a:spcBef>
              <a:spcAft>
                <a:spcPct val="0"/>
              </a:spcAft>
              <a:defRPr kumimoji="1" sz="4000" b="1">
                <a:solidFill>
                  <a:schemeClr val="accent2"/>
                </a:solidFill>
                <a:latin typeface="Times New Roman" panose="02020603050405020304" pitchFamily="18" charset="0"/>
                <a:ea typeface="华文行楷" panose="02010800040101010101" pitchFamily="2" charset="-122"/>
              </a:defRPr>
            </a:lvl9pPr>
          </a:lstStyle>
          <a:p>
            <a:pPr eaLnBrk="1" hangingPunct="1"/>
            <a:endParaRPr lang="zh-CN" altLang="en-US"/>
          </a:p>
        </p:txBody>
      </p:sp>
      <p:sp>
        <p:nvSpPr>
          <p:cNvPr id="10" name="Rectangle 4"/>
          <p:cNvSpPr>
            <a:spLocks noChangeArrowheads="1"/>
          </p:cNvSpPr>
          <p:nvPr/>
        </p:nvSpPr>
        <p:spPr bwMode="auto">
          <a:xfrm>
            <a:off x="381000" y="4662213"/>
            <a:ext cx="8763000"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50000"/>
              </a:spcBef>
              <a:defRPr kumimoji="1" sz="4000" b="1">
                <a:solidFill>
                  <a:schemeClr val="accent2"/>
                </a:solidFill>
                <a:latin typeface="Times New Roman" panose="02020603050405020304" pitchFamily="18" charset="0"/>
                <a:ea typeface="华文行楷" panose="02010800040101010101" pitchFamily="2" charset="-122"/>
              </a:defRPr>
            </a:lvl1pPr>
            <a:lvl2pPr marL="742950" indent="-285750" eaLnBrk="0" hangingPunct="0">
              <a:spcBef>
                <a:spcPct val="50000"/>
              </a:spcBef>
              <a:defRPr kumimoji="1" sz="4000" b="1">
                <a:solidFill>
                  <a:schemeClr val="accent2"/>
                </a:solidFill>
                <a:latin typeface="Times New Roman" panose="02020603050405020304" pitchFamily="18" charset="0"/>
                <a:ea typeface="华文行楷" panose="02010800040101010101" pitchFamily="2" charset="-122"/>
              </a:defRPr>
            </a:lvl2pPr>
            <a:lvl3pPr marL="1143000" indent="-228600" eaLnBrk="0" hangingPunct="0">
              <a:spcBef>
                <a:spcPct val="50000"/>
              </a:spcBef>
              <a:defRPr kumimoji="1" sz="4000" b="1">
                <a:solidFill>
                  <a:schemeClr val="accent2"/>
                </a:solidFill>
                <a:latin typeface="Times New Roman" panose="02020603050405020304" pitchFamily="18" charset="0"/>
                <a:ea typeface="华文行楷" panose="02010800040101010101" pitchFamily="2" charset="-122"/>
              </a:defRPr>
            </a:lvl3pPr>
            <a:lvl4pPr marL="1600200" indent="-228600" eaLnBrk="0" hangingPunct="0">
              <a:spcBef>
                <a:spcPct val="50000"/>
              </a:spcBef>
              <a:defRPr kumimoji="1" sz="4000" b="1">
                <a:solidFill>
                  <a:schemeClr val="accent2"/>
                </a:solidFill>
                <a:latin typeface="Times New Roman" panose="02020603050405020304" pitchFamily="18" charset="0"/>
                <a:ea typeface="华文行楷" panose="02010800040101010101" pitchFamily="2" charset="-122"/>
              </a:defRPr>
            </a:lvl4pPr>
            <a:lvl5pPr marL="2057400" indent="-228600" eaLnBrk="0" hangingPunct="0">
              <a:spcBef>
                <a:spcPct val="50000"/>
              </a:spcBef>
              <a:defRPr kumimoji="1" sz="4000" b="1">
                <a:solidFill>
                  <a:schemeClr val="accent2"/>
                </a:solidFill>
                <a:latin typeface="Times New Roman" panose="02020603050405020304" pitchFamily="18" charset="0"/>
                <a:ea typeface="华文行楷" panose="02010800040101010101" pitchFamily="2" charset="-122"/>
              </a:defRPr>
            </a:lvl5pPr>
            <a:lvl6pPr marL="2514600" indent="-228600" eaLnBrk="0" fontAlgn="base" hangingPunct="0">
              <a:spcBef>
                <a:spcPct val="50000"/>
              </a:spcBef>
              <a:spcAft>
                <a:spcPct val="0"/>
              </a:spcAft>
              <a:defRPr kumimoji="1" sz="4000" b="1">
                <a:solidFill>
                  <a:schemeClr val="accent2"/>
                </a:solidFill>
                <a:latin typeface="Times New Roman" panose="02020603050405020304" pitchFamily="18" charset="0"/>
                <a:ea typeface="华文行楷" panose="02010800040101010101" pitchFamily="2" charset="-122"/>
              </a:defRPr>
            </a:lvl6pPr>
            <a:lvl7pPr marL="2971800" indent="-228600" eaLnBrk="0" fontAlgn="base" hangingPunct="0">
              <a:spcBef>
                <a:spcPct val="50000"/>
              </a:spcBef>
              <a:spcAft>
                <a:spcPct val="0"/>
              </a:spcAft>
              <a:defRPr kumimoji="1" sz="4000" b="1">
                <a:solidFill>
                  <a:schemeClr val="accent2"/>
                </a:solidFill>
                <a:latin typeface="Times New Roman" panose="02020603050405020304" pitchFamily="18" charset="0"/>
                <a:ea typeface="华文行楷" panose="02010800040101010101" pitchFamily="2" charset="-122"/>
              </a:defRPr>
            </a:lvl7pPr>
            <a:lvl8pPr marL="3429000" indent="-228600" eaLnBrk="0" fontAlgn="base" hangingPunct="0">
              <a:spcBef>
                <a:spcPct val="50000"/>
              </a:spcBef>
              <a:spcAft>
                <a:spcPct val="0"/>
              </a:spcAft>
              <a:defRPr kumimoji="1" sz="4000" b="1">
                <a:solidFill>
                  <a:schemeClr val="accent2"/>
                </a:solidFill>
                <a:latin typeface="Times New Roman" panose="02020603050405020304" pitchFamily="18" charset="0"/>
                <a:ea typeface="华文行楷" panose="02010800040101010101" pitchFamily="2" charset="-122"/>
              </a:defRPr>
            </a:lvl8pPr>
            <a:lvl9pPr marL="3886200" indent="-228600" eaLnBrk="0" fontAlgn="base" hangingPunct="0">
              <a:spcBef>
                <a:spcPct val="50000"/>
              </a:spcBef>
              <a:spcAft>
                <a:spcPct val="0"/>
              </a:spcAft>
              <a:defRPr kumimoji="1" sz="4000" b="1">
                <a:solidFill>
                  <a:schemeClr val="accent2"/>
                </a:solidFill>
                <a:latin typeface="Times New Roman" panose="02020603050405020304" pitchFamily="18" charset="0"/>
                <a:ea typeface="华文行楷" panose="02010800040101010101" pitchFamily="2" charset="-122"/>
              </a:defRPr>
            </a:lvl9pPr>
          </a:lstStyle>
          <a:p>
            <a:pPr eaLnBrk="1" hangingPunct="1">
              <a:lnSpc>
                <a:spcPct val="90000"/>
              </a:lnSpc>
            </a:pPr>
            <a:r>
              <a:rPr lang="en-US" altLang="zh-CN" sz="2000" dirty="0">
                <a:latin typeface="楷体_GB2312"/>
                <a:ea typeface="楷体_GB2312"/>
                <a:cs typeface="楷体_GB2312"/>
              </a:rPr>
              <a:t>3</a:t>
            </a:r>
            <a:r>
              <a:rPr lang="zh-CN" altLang="en-US" sz="2000" dirty="0">
                <a:latin typeface="楷体_GB2312"/>
                <a:ea typeface="楷体_GB2312"/>
                <a:cs typeface="楷体_GB2312"/>
              </a:rPr>
              <a:t>、几种典型的带电体的场强</a:t>
            </a:r>
          </a:p>
          <a:p>
            <a:pPr eaLnBrk="1" hangingPunct="1">
              <a:lnSpc>
                <a:spcPct val="90000"/>
              </a:lnSpc>
            </a:pPr>
            <a:r>
              <a:rPr lang="zh-CN" altLang="en-US" sz="2000" dirty="0">
                <a:latin typeface="楷体_GB2312"/>
                <a:ea typeface="楷体_GB2312"/>
                <a:cs typeface="楷体_GB2312"/>
              </a:rPr>
              <a:t>（</a:t>
            </a:r>
            <a:r>
              <a:rPr lang="en-US" altLang="zh-CN" sz="2000" dirty="0">
                <a:latin typeface="楷体_GB2312"/>
                <a:ea typeface="楷体_GB2312"/>
                <a:cs typeface="楷体_GB2312"/>
              </a:rPr>
              <a:t>1</a:t>
            </a:r>
            <a:r>
              <a:rPr lang="zh-CN" altLang="en-US" sz="2000">
                <a:latin typeface="楷体_GB2312"/>
                <a:ea typeface="楷体_GB2312"/>
                <a:cs typeface="楷体_GB2312"/>
              </a:rPr>
              <a:t>）</a:t>
            </a:r>
            <a:r>
              <a:rPr lang="zh-CN" altLang="en-US" sz="2000">
                <a:latin typeface="楷体_GB2312"/>
                <a:ea typeface="楷体_GB2312"/>
              </a:rPr>
              <a:t>点</a:t>
            </a:r>
            <a:r>
              <a:rPr lang="zh-CN" altLang="en-US" sz="2000">
                <a:latin typeface="楷体_GB2312"/>
                <a:ea typeface="楷体_GB2312"/>
                <a:cs typeface="楷体_GB2312"/>
              </a:rPr>
              <a:t>电荷                     </a:t>
            </a:r>
            <a:r>
              <a:rPr lang="zh-CN" altLang="en-US" sz="2000">
                <a:latin typeface="楷体_GB2312"/>
                <a:ea typeface="楷体_GB2312"/>
              </a:rPr>
              <a:t>（</a:t>
            </a:r>
            <a:r>
              <a:rPr lang="en-US" altLang="zh-CN" sz="2000">
                <a:latin typeface="楷体_GB2312"/>
                <a:ea typeface="楷体_GB2312"/>
              </a:rPr>
              <a:t>2 </a:t>
            </a:r>
            <a:r>
              <a:rPr lang="zh-CN" altLang="en-US" sz="2000">
                <a:latin typeface="楷体_GB2312"/>
                <a:ea typeface="楷体_GB2312"/>
              </a:rPr>
              <a:t>）圆环中轴线上的电场</a:t>
            </a:r>
            <a:endParaRPr lang="zh-CN" altLang="en-US" sz="2000" dirty="0">
              <a:latin typeface="楷体_GB2312"/>
              <a:ea typeface="楷体_GB2312"/>
              <a:cs typeface="楷体_GB2312"/>
            </a:endParaRPr>
          </a:p>
          <a:p>
            <a:pPr eaLnBrk="1" hangingPunct="1">
              <a:lnSpc>
                <a:spcPct val="90000"/>
              </a:lnSpc>
            </a:pPr>
            <a:r>
              <a:rPr lang="zh-CN" altLang="en-US" sz="2000">
                <a:latin typeface="楷体_GB2312"/>
                <a:ea typeface="楷体_GB2312"/>
              </a:rPr>
              <a:t>（</a:t>
            </a:r>
            <a:r>
              <a:rPr lang="en-US" altLang="zh-CN" sz="2000">
                <a:latin typeface="楷体_GB2312"/>
                <a:ea typeface="楷体_GB2312"/>
              </a:rPr>
              <a:t>3</a:t>
            </a:r>
            <a:r>
              <a:rPr lang="zh-CN" altLang="en-US" sz="2000">
                <a:latin typeface="楷体_GB2312"/>
                <a:ea typeface="楷体_GB2312"/>
              </a:rPr>
              <a:t>）半径为</a:t>
            </a:r>
            <a:r>
              <a:rPr lang="en-US" altLang="zh-CN" sz="2000">
                <a:latin typeface="楷体_GB2312"/>
                <a:ea typeface="楷体_GB2312"/>
              </a:rPr>
              <a:t>R</a:t>
            </a:r>
            <a:r>
              <a:rPr lang="zh-CN" altLang="en-US" sz="2000">
                <a:latin typeface="楷体_GB2312"/>
                <a:ea typeface="楷体_GB2312"/>
              </a:rPr>
              <a:t>的圆盘                          （</a:t>
            </a:r>
            <a:r>
              <a:rPr lang="en-US" altLang="zh-CN" sz="2000">
                <a:latin typeface="楷体_GB2312"/>
                <a:ea typeface="楷体_GB2312"/>
              </a:rPr>
              <a:t>4</a:t>
            </a:r>
            <a:r>
              <a:rPr lang="zh-CN" altLang="en-US" sz="2000">
                <a:latin typeface="楷体_GB2312"/>
                <a:ea typeface="楷体_GB2312"/>
              </a:rPr>
              <a:t>）无限大均匀带电面</a:t>
            </a:r>
            <a:endParaRPr lang="en-US" altLang="zh-CN" sz="2000">
              <a:latin typeface="楷体_GB2312"/>
              <a:ea typeface="楷体_GB2312"/>
            </a:endParaRPr>
          </a:p>
          <a:p>
            <a:pPr eaLnBrk="1" hangingPunct="1">
              <a:lnSpc>
                <a:spcPct val="90000"/>
              </a:lnSpc>
            </a:pPr>
            <a:r>
              <a:rPr lang="zh-CN" altLang="en-US" sz="2000">
                <a:latin typeface="楷体_GB2312"/>
                <a:ea typeface="楷体_GB2312"/>
              </a:rPr>
              <a:t>（</a:t>
            </a:r>
            <a:r>
              <a:rPr lang="en-US" altLang="zh-CN" sz="2000">
                <a:latin typeface="楷体_GB2312"/>
                <a:ea typeface="楷体_GB2312"/>
              </a:rPr>
              <a:t>5</a:t>
            </a:r>
            <a:r>
              <a:rPr lang="zh-CN" altLang="en-US" sz="2000">
                <a:latin typeface="楷体_GB2312"/>
                <a:ea typeface="楷体_GB2312"/>
              </a:rPr>
              <a:t>）有限线段的带电体外的电场            </a:t>
            </a:r>
            <a:r>
              <a:rPr lang="en-US" altLang="zh-CN" sz="2000">
                <a:latin typeface="楷体_GB2312"/>
                <a:ea typeface="楷体_GB2312"/>
              </a:rPr>
              <a:t>(6)</a:t>
            </a:r>
            <a:r>
              <a:rPr lang="zh-CN" altLang="en-US" sz="2000">
                <a:latin typeface="楷体_GB2312"/>
                <a:ea typeface="楷体_GB2312"/>
              </a:rPr>
              <a:t>无限长带电线外的电场</a:t>
            </a:r>
          </a:p>
        </p:txBody>
      </p:sp>
      <p:graphicFrame>
        <p:nvGraphicFramePr>
          <p:cNvPr id="13" name="Object 7"/>
          <p:cNvGraphicFramePr>
            <a:graphicFrameLocks noChangeAspect="1"/>
          </p:cNvGraphicFramePr>
          <p:nvPr>
            <p:extLst>
              <p:ext uri="{D42A27DB-BD31-4B8C-83A1-F6EECF244321}">
                <p14:modId xmlns:p14="http://schemas.microsoft.com/office/powerpoint/2010/main" val="60144866"/>
              </p:ext>
            </p:extLst>
          </p:nvPr>
        </p:nvGraphicFramePr>
        <p:xfrm>
          <a:off x="7734091" y="5514067"/>
          <a:ext cx="796393" cy="430130"/>
        </p:xfrm>
        <a:graphic>
          <a:graphicData uri="http://schemas.openxmlformats.org/presentationml/2006/ole">
            <mc:AlternateContent xmlns:mc="http://schemas.openxmlformats.org/markup-compatibility/2006">
              <mc:Choice xmlns:v="urn:schemas-microsoft-com:vml" Requires="v">
                <p:oleObj spid="_x0000_s200388" name="Equation" r:id="rId14" imgW="469696" imgH="253890" progId="Equation.3">
                  <p:embed/>
                </p:oleObj>
              </mc:Choice>
              <mc:Fallback>
                <p:oleObj name="Equation" r:id="rId14" imgW="469696" imgH="253890" progId="Equation.3">
                  <p:embed/>
                  <p:pic>
                    <p:nvPicPr>
                      <p:cNvPr id="13"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734091" y="5514067"/>
                        <a:ext cx="796393" cy="430130"/>
                      </a:xfrm>
                      <a:prstGeom prst="rect">
                        <a:avLst/>
                      </a:prstGeom>
                      <a:solidFill>
                        <a:srgbClr val="CCFF33"/>
                      </a:solidFill>
                      <a:ln w="9525">
                        <a:solidFill>
                          <a:srgbClr val="66CCFF"/>
                        </a:solidFill>
                        <a:miter lim="800000"/>
                        <a:headEnd/>
                        <a:tailEnd/>
                      </a:ln>
                      <a:effectLst/>
                      <a:extLst/>
                    </p:spPr>
                  </p:pic>
                </p:oleObj>
              </mc:Fallback>
            </mc:AlternateContent>
          </a:graphicData>
        </a:graphic>
      </p:graphicFrame>
      <p:graphicFrame>
        <p:nvGraphicFramePr>
          <p:cNvPr id="14" name="Object 8"/>
          <p:cNvGraphicFramePr>
            <a:graphicFrameLocks noChangeAspect="1"/>
          </p:cNvGraphicFramePr>
          <p:nvPr>
            <p:extLst>
              <p:ext uri="{D42A27DB-BD31-4B8C-83A1-F6EECF244321}">
                <p14:modId xmlns:p14="http://schemas.microsoft.com/office/powerpoint/2010/main" val="2075471198"/>
              </p:ext>
            </p:extLst>
          </p:nvPr>
        </p:nvGraphicFramePr>
        <p:xfrm>
          <a:off x="1963628" y="5003945"/>
          <a:ext cx="1260977" cy="523757"/>
        </p:xfrm>
        <a:graphic>
          <a:graphicData uri="http://schemas.openxmlformats.org/presentationml/2006/ole">
            <mc:AlternateContent xmlns:mc="http://schemas.openxmlformats.org/markup-compatibility/2006">
              <mc:Choice xmlns:v="urn:schemas-microsoft-com:vml" Requires="v">
                <p:oleObj spid="_x0000_s200389" name="公式" r:id="rId8" imgW="672808" imgH="279279" progId="Equation.3">
                  <p:embed/>
                </p:oleObj>
              </mc:Choice>
              <mc:Fallback>
                <p:oleObj name="公式" r:id="rId8" imgW="672808" imgH="279279" progId="Equation.3">
                  <p:embed/>
                  <p:pic>
                    <p:nvPicPr>
                      <p:cNvPr id="14"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63628" y="5003945"/>
                        <a:ext cx="1260977" cy="523757"/>
                      </a:xfrm>
                      <a:prstGeom prst="rect">
                        <a:avLst/>
                      </a:prstGeom>
                      <a:solidFill>
                        <a:srgbClr val="CCFF33"/>
                      </a:solidFill>
                      <a:ln w="9525">
                        <a:solidFill>
                          <a:srgbClr val="66CCFF"/>
                        </a:solidFill>
                        <a:miter lim="800000"/>
                        <a:headEnd/>
                        <a:tailEnd/>
                      </a:ln>
                      <a:effectLst/>
                    </p:spPr>
                  </p:pic>
                </p:oleObj>
              </mc:Fallback>
            </mc:AlternateContent>
          </a:graphicData>
        </a:graphic>
      </p:graphicFrame>
      <p:pic>
        <p:nvPicPr>
          <p:cNvPr id="2" name="图片 1"/>
          <p:cNvPicPr>
            <a:picLocks noChangeAspect="1"/>
          </p:cNvPicPr>
          <p:nvPr/>
        </p:nvPicPr>
        <p:blipFill>
          <a:blip r:embed="rId16"/>
          <a:stretch>
            <a:fillRect/>
          </a:stretch>
        </p:blipFill>
        <p:spPr>
          <a:xfrm>
            <a:off x="6600610" y="4754544"/>
            <a:ext cx="2209218" cy="738665"/>
          </a:xfrm>
          <a:prstGeom prst="rect">
            <a:avLst/>
          </a:prstGeom>
        </p:spPr>
      </p:pic>
      <p:graphicFrame>
        <p:nvGraphicFramePr>
          <p:cNvPr id="16" name="Object 8"/>
          <p:cNvGraphicFramePr>
            <a:graphicFrameLocks noChangeAspect="1"/>
          </p:cNvGraphicFramePr>
          <p:nvPr>
            <p:extLst>
              <p:ext uri="{D42A27DB-BD31-4B8C-83A1-F6EECF244321}">
                <p14:modId xmlns:p14="http://schemas.microsoft.com/office/powerpoint/2010/main" val="3999860791"/>
              </p:ext>
            </p:extLst>
          </p:nvPr>
        </p:nvGraphicFramePr>
        <p:xfrm>
          <a:off x="3024340" y="5527702"/>
          <a:ext cx="1547660" cy="430130"/>
        </p:xfrm>
        <a:graphic>
          <a:graphicData uri="http://schemas.openxmlformats.org/presentationml/2006/ole">
            <mc:AlternateContent xmlns:mc="http://schemas.openxmlformats.org/markup-compatibility/2006">
              <mc:Choice xmlns:v="urn:schemas-microsoft-com:vml" Requires="v">
                <p:oleObj spid="_x0000_s200390" name="Equation" r:id="rId17" imgW="1549400" imgH="469900" progId="Equation.DSMT4">
                  <p:embed/>
                </p:oleObj>
              </mc:Choice>
              <mc:Fallback>
                <p:oleObj name="Equation" r:id="rId17" imgW="1549400" imgH="469900" progId="Equation.DSMT4">
                  <p:embed/>
                  <p:pic>
                    <p:nvPicPr>
                      <p:cNvPr id="185352" name="Object 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24340" y="5527702"/>
                        <a:ext cx="1547660" cy="430130"/>
                      </a:xfrm>
                      <a:prstGeom prst="rect">
                        <a:avLst/>
                      </a:prstGeom>
                      <a:solidFill>
                        <a:srgbClr val="FFFF00"/>
                      </a:solidFill>
                      <a:ln>
                        <a:noFill/>
                      </a:ln>
                      <a:effectLst/>
                      <a:extLst/>
                    </p:spPr>
                  </p:pic>
                </p:oleObj>
              </mc:Fallback>
            </mc:AlternateContent>
          </a:graphicData>
        </a:graphic>
      </p:graphicFrame>
      <p:graphicFrame>
        <p:nvGraphicFramePr>
          <p:cNvPr id="17" name="Object 7">
            <a:extLst>
              <a:ext uri="{FF2B5EF4-FFF2-40B4-BE49-F238E27FC236}">
                <a16:creationId xmlns:a16="http://schemas.microsoft.com/office/drawing/2014/main" id="{DAA1EEEB-4CF5-406F-82C6-C19891654E95}"/>
              </a:ext>
            </a:extLst>
          </p:cNvPr>
          <p:cNvGraphicFramePr>
            <a:graphicFrameLocks noChangeAspect="1"/>
          </p:cNvGraphicFramePr>
          <p:nvPr>
            <p:extLst>
              <p:ext uri="{D42A27DB-BD31-4B8C-83A1-F6EECF244321}">
                <p14:modId xmlns:p14="http://schemas.microsoft.com/office/powerpoint/2010/main" val="2843286298"/>
              </p:ext>
            </p:extLst>
          </p:nvPr>
        </p:nvGraphicFramePr>
        <p:xfrm>
          <a:off x="632486" y="6208712"/>
          <a:ext cx="2391854" cy="706264"/>
        </p:xfrm>
        <a:graphic>
          <a:graphicData uri="http://schemas.openxmlformats.org/presentationml/2006/ole">
            <mc:AlternateContent xmlns:mc="http://schemas.openxmlformats.org/markup-compatibility/2006">
              <mc:Choice xmlns:v="urn:schemas-microsoft-com:vml" Requires="v">
                <p:oleObj spid="_x0000_s200391" name="公式" r:id="rId19" imgW="1571831" imgH="352307" progId="Equation.3">
                  <p:embed/>
                </p:oleObj>
              </mc:Choice>
              <mc:Fallback>
                <p:oleObj name="公式" r:id="rId19" imgW="1571831" imgH="352307" progId="Equation.3">
                  <p:embed/>
                  <p:pic>
                    <p:nvPicPr>
                      <p:cNvPr id="206855" name="Object 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32486" y="6208712"/>
                        <a:ext cx="2391854" cy="706264"/>
                      </a:xfrm>
                      <a:prstGeom prst="rect">
                        <a:avLst/>
                      </a:prstGeom>
                      <a:noFill/>
                      <a:ln>
                        <a:noFill/>
                      </a:ln>
                      <a:effectLst/>
                      <a:extLst/>
                    </p:spPr>
                  </p:pic>
                </p:oleObj>
              </mc:Fallback>
            </mc:AlternateContent>
          </a:graphicData>
        </a:graphic>
      </p:graphicFrame>
      <p:graphicFrame>
        <p:nvGraphicFramePr>
          <p:cNvPr id="18" name="Object 8">
            <a:extLst>
              <a:ext uri="{FF2B5EF4-FFF2-40B4-BE49-F238E27FC236}">
                <a16:creationId xmlns:a16="http://schemas.microsoft.com/office/drawing/2014/main" id="{D16AB08A-D75D-4A68-AFB2-5C91ED64B3FC}"/>
              </a:ext>
            </a:extLst>
          </p:cNvPr>
          <p:cNvGraphicFramePr>
            <a:graphicFrameLocks noChangeAspect="1"/>
          </p:cNvGraphicFramePr>
          <p:nvPr>
            <p:extLst>
              <p:ext uri="{D42A27DB-BD31-4B8C-83A1-F6EECF244321}">
                <p14:modId xmlns:p14="http://schemas.microsoft.com/office/powerpoint/2010/main" val="3631517954"/>
              </p:ext>
            </p:extLst>
          </p:nvPr>
        </p:nvGraphicFramePr>
        <p:xfrm>
          <a:off x="3089654" y="6215795"/>
          <a:ext cx="2533517" cy="708317"/>
        </p:xfrm>
        <a:graphic>
          <a:graphicData uri="http://schemas.openxmlformats.org/presentationml/2006/ole">
            <mc:AlternateContent xmlns:mc="http://schemas.openxmlformats.org/markup-compatibility/2006">
              <mc:Choice xmlns:v="urn:schemas-microsoft-com:vml" Requires="v">
                <p:oleObj spid="_x0000_s200392" name="公式" r:id="rId21" imgW="1628912" imgH="352307" progId="Equation.3">
                  <p:embed/>
                </p:oleObj>
              </mc:Choice>
              <mc:Fallback>
                <p:oleObj name="公式" r:id="rId21" imgW="1628912" imgH="352307" progId="Equation.3">
                  <p:embed/>
                  <p:pic>
                    <p:nvPicPr>
                      <p:cNvPr id="206856" name="Object 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089654" y="6215795"/>
                        <a:ext cx="2533517" cy="708317"/>
                      </a:xfrm>
                      <a:prstGeom prst="rect">
                        <a:avLst/>
                      </a:prstGeom>
                      <a:noFill/>
                      <a:ln>
                        <a:noFill/>
                      </a:ln>
                      <a:effectLst/>
                      <a:extLst/>
                    </p:spPr>
                  </p:pic>
                </p:oleObj>
              </mc:Fallback>
            </mc:AlternateContent>
          </a:graphicData>
        </a:graphic>
      </p:graphicFrame>
      <p:pic>
        <p:nvPicPr>
          <p:cNvPr id="19" name="Picture 53" descr="T7-12">
            <a:extLst>
              <a:ext uri="{FF2B5EF4-FFF2-40B4-BE49-F238E27FC236}">
                <a16:creationId xmlns:a16="http://schemas.microsoft.com/office/drawing/2014/main" id="{13E02D5C-B268-4DAC-99AF-F9B950A7B57C}"/>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6730054" y="1708730"/>
            <a:ext cx="1001805" cy="642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对象 3">
            <a:extLst>
              <a:ext uri="{FF2B5EF4-FFF2-40B4-BE49-F238E27FC236}">
                <a16:creationId xmlns:a16="http://schemas.microsoft.com/office/drawing/2014/main" id="{EE585874-2D55-428A-B29C-C147550FDB4F}"/>
              </a:ext>
            </a:extLst>
          </p:cNvPr>
          <p:cNvGraphicFramePr>
            <a:graphicFrameLocks noChangeAspect="1"/>
          </p:cNvGraphicFramePr>
          <p:nvPr>
            <p:extLst>
              <p:ext uri="{D42A27DB-BD31-4B8C-83A1-F6EECF244321}">
                <p14:modId xmlns:p14="http://schemas.microsoft.com/office/powerpoint/2010/main" val="2050816849"/>
              </p:ext>
            </p:extLst>
          </p:nvPr>
        </p:nvGraphicFramePr>
        <p:xfrm>
          <a:off x="6108505" y="6296721"/>
          <a:ext cx="1032731" cy="546464"/>
        </p:xfrm>
        <a:graphic>
          <a:graphicData uri="http://schemas.openxmlformats.org/presentationml/2006/ole">
            <mc:AlternateContent xmlns:mc="http://schemas.openxmlformats.org/markup-compatibility/2006">
              <mc:Choice xmlns:v="urn:schemas-microsoft-com:vml" Requires="v">
                <p:oleObj spid="_x0000_s200393" name="Equation" r:id="rId24" imgW="2450703" imgH="1297127" progId="Equation.DSMT4">
                  <p:embed/>
                </p:oleObj>
              </mc:Choice>
              <mc:Fallback>
                <p:oleObj name="Equation" r:id="rId24" imgW="2450703" imgH="1297127" progId="Equation.DSMT4">
                  <p:embed/>
                  <p:pic>
                    <p:nvPicPr>
                      <p:cNvPr id="0" name=""/>
                      <p:cNvPicPr/>
                      <p:nvPr/>
                    </p:nvPicPr>
                    <p:blipFill>
                      <a:blip r:embed="rId25"/>
                      <a:stretch>
                        <a:fillRect/>
                      </a:stretch>
                    </p:blipFill>
                    <p:spPr>
                      <a:xfrm>
                        <a:off x="6108505" y="6296721"/>
                        <a:ext cx="1032731" cy="546464"/>
                      </a:xfrm>
                      <a:prstGeom prst="rect">
                        <a:avLst/>
                      </a:prstGeom>
                    </p:spPr>
                  </p:pic>
                </p:oleObj>
              </mc:Fallback>
            </mc:AlternateContent>
          </a:graphicData>
        </a:graphic>
      </p:graphicFrame>
    </p:spTree>
    <p:extLst>
      <p:ext uri="{BB962C8B-B14F-4D97-AF65-F5344CB8AC3E}">
        <p14:creationId xmlns:p14="http://schemas.microsoft.com/office/powerpoint/2010/main" val="3835327353"/>
      </p:ext>
    </p:extLst>
  </p:cSld>
  <p:clrMapOvr>
    <a:masterClrMapping/>
  </p:clrMapOvr>
  <p:transition>
    <p:cover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left)">
                                      <p:cBhvr>
                                        <p:cTn id="11" dur="500"/>
                                        <p:tgtEl>
                                          <p:spTgt spid="17"/>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left)">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93663" y="115888"/>
            <a:ext cx="52705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dirty="0"/>
              <a:t>六</a:t>
            </a:r>
            <a:r>
              <a:rPr kumimoji="1" lang="zh-CN" altLang="en-US"/>
              <a:t>、</a:t>
            </a:r>
            <a:r>
              <a:rPr kumimoji="1" lang="zh-CN" altLang="en-US" dirty="0"/>
              <a:t>电场对电荷的作用力</a:t>
            </a:r>
          </a:p>
        </p:txBody>
      </p:sp>
      <p:sp>
        <p:nvSpPr>
          <p:cNvPr id="3" name="矩形 2"/>
          <p:cNvSpPr/>
          <p:nvPr/>
        </p:nvSpPr>
        <p:spPr>
          <a:xfrm>
            <a:off x="395536" y="3524815"/>
            <a:ext cx="8352928" cy="1015663"/>
          </a:xfrm>
          <a:prstGeom prst="rect">
            <a:avLst/>
          </a:prstGeom>
        </p:spPr>
        <p:txBody>
          <a:bodyPr wrap="square">
            <a:spAutoFit/>
          </a:bodyPr>
          <a:lstStyle/>
          <a:p>
            <a:r>
              <a:rPr kumimoji="1" lang="zh-CN" altLang="en-US" sz="3000" dirty="0">
                <a:solidFill>
                  <a:schemeClr val="tx1"/>
                </a:solidFill>
              </a:rPr>
              <a:t>如果已知电场强度分布</a:t>
            </a:r>
            <a:r>
              <a:rPr kumimoji="1" lang="en-US" altLang="zh-CN" sz="3000" i="1" dirty="0">
                <a:solidFill>
                  <a:schemeClr val="tx1"/>
                </a:solidFill>
              </a:rPr>
              <a:t>E</a:t>
            </a:r>
            <a:r>
              <a:rPr kumimoji="1" lang="zh-CN" altLang="en-US" sz="3000" dirty="0">
                <a:solidFill>
                  <a:schemeClr val="tx1"/>
                </a:solidFill>
              </a:rPr>
              <a:t>，就可以求得任一点电荷</a:t>
            </a:r>
            <a:r>
              <a:rPr kumimoji="1" lang="en-US" altLang="zh-CN" sz="3000" i="1" dirty="0">
                <a:solidFill>
                  <a:schemeClr val="tx1"/>
                </a:solidFill>
              </a:rPr>
              <a:t>q</a:t>
            </a:r>
            <a:r>
              <a:rPr kumimoji="1" lang="zh-CN" altLang="en-US" sz="3000" dirty="0">
                <a:solidFill>
                  <a:schemeClr val="tx1"/>
                </a:solidFill>
              </a:rPr>
              <a:t>在电场中的受力</a:t>
            </a:r>
          </a:p>
        </p:txBody>
      </p:sp>
      <p:graphicFrame>
        <p:nvGraphicFramePr>
          <p:cNvPr id="4" name="对象 3"/>
          <p:cNvGraphicFramePr>
            <a:graphicFrameLocks noChangeAspect="1"/>
          </p:cNvGraphicFramePr>
          <p:nvPr>
            <p:extLst/>
          </p:nvPr>
        </p:nvGraphicFramePr>
        <p:xfrm>
          <a:off x="3491880" y="4725144"/>
          <a:ext cx="1436687" cy="711200"/>
        </p:xfrm>
        <a:graphic>
          <a:graphicData uri="http://schemas.openxmlformats.org/presentationml/2006/ole">
            <mc:AlternateContent xmlns:mc="http://schemas.openxmlformats.org/markup-compatibility/2006">
              <mc:Choice xmlns:v="urn:schemas-microsoft-com:vml" Requires="v">
                <p:oleObj spid="_x0000_s216101" name="公式" r:id="rId3" imgW="507960" imgH="241200" progId="Equation.3">
                  <p:embed/>
                </p:oleObj>
              </mc:Choice>
              <mc:Fallback>
                <p:oleObj name="公式" r:id="rId3" imgW="507960" imgH="241200" progId="Equation.3">
                  <p:embed/>
                  <p:pic>
                    <p:nvPicPr>
                      <p:cNvPr id="4" name="对象 3"/>
                      <p:cNvPicPr>
                        <a:picLocks noChangeAspect="1" noChangeArrowheads="1"/>
                      </p:cNvPicPr>
                      <p:nvPr/>
                    </p:nvPicPr>
                    <p:blipFill>
                      <a:blip r:embed="rId4"/>
                      <a:srcRect/>
                      <a:stretch>
                        <a:fillRect/>
                      </a:stretch>
                    </p:blipFill>
                    <p:spPr bwMode="auto">
                      <a:xfrm>
                        <a:off x="3491880" y="4725144"/>
                        <a:ext cx="1436687" cy="71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矩形 4"/>
          <p:cNvSpPr/>
          <p:nvPr/>
        </p:nvSpPr>
        <p:spPr>
          <a:xfrm>
            <a:off x="539552" y="5586528"/>
            <a:ext cx="6340197" cy="553998"/>
          </a:xfrm>
          <a:prstGeom prst="rect">
            <a:avLst/>
          </a:prstGeom>
        </p:spPr>
        <p:txBody>
          <a:bodyPr wrap="none">
            <a:spAutoFit/>
          </a:bodyPr>
          <a:lstStyle/>
          <a:p>
            <a:r>
              <a:rPr kumimoji="1" lang="en-US" altLang="zh-CN" sz="3000" i="1" dirty="0">
                <a:solidFill>
                  <a:schemeClr val="tx1"/>
                </a:solidFill>
              </a:rPr>
              <a:t>q</a:t>
            </a:r>
            <a:r>
              <a:rPr kumimoji="1" lang="zh-CN" altLang="en-US" sz="3000" dirty="0">
                <a:solidFill>
                  <a:schemeClr val="tx1"/>
                </a:solidFill>
              </a:rPr>
              <a:t>为正，方向相同；</a:t>
            </a:r>
            <a:r>
              <a:rPr kumimoji="1" lang="en-US" altLang="zh-CN" sz="3000" i="1" dirty="0">
                <a:solidFill>
                  <a:schemeClr val="tx1"/>
                </a:solidFill>
              </a:rPr>
              <a:t>q</a:t>
            </a:r>
            <a:r>
              <a:rPr kumimoji="1" lang="zh-CN" altLang="en-US" sz="3000" dirty="0">
                <a:solidFill>
                  <a:schemeClr val="tx1"/>
                </a:solidFill>
              </a:rPr>
              <a:t>为负，方向相反</a:t>
            </a:r>
          </a:p>
        </p:txBody>
      </p:sp>
      <p:pic>
        <p:nvPicPr>
          <p:cNvPr id="302229" name="Picture 14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7171" y="980728"/>
            <a:ext cx="3300973" cy="21876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9168176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2229"/>
                                        </p:tgtEl>
                                        <p:attrNameLst>
                                          <p:attrName>style.visibility</p:attrName>
                                        </p:attrNameLst>
                                      </p:cBhvr>
                                      <p:to>
                                        <p:strVal val="visible"/>
                                      </p:to>
                                    </p:set>
                                    <p:animEffect transition="in" filter="wipe(left)">
                                      <p:cBhvr>
                                        <p:cTn id="12" dur="500"/>
                                        <p:tgtEl>
                                          <p:spTgt spid="3022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234867D-FF09-4899-B063-552A05D7BC41}" type="slidenum">
              <a:rPr lang="en-US" altLang="zh-CN" sz="1400" smtClean="0">
                <a:ea typeface="楷体_GB2312"/>
              </a:rPr>
              <a:pPr>
                <a:spcBef>
                  <a:spcPct val="0"/>
                </a:spcBef>
                <a:buFontTx/>
                <a:buNone/>
              </a:pPr>
              <a:t>53</a:t>
            </a:fld>
            <a:endParaRPr lang="en-US" altLang="zh-CN" sz="1400">
              <a:ea typeface="楷体_GB2312"/>
            </a:endParaRPr>
          </a:p>
        </p:txBody>
      </p:sp>
      <p:graphicFrame>
        <p:nvGraphicFramePr>
          <p:cNvPr id="34836" name="Object 20"/>
          <p:cNvGraphicFramePr>
            <a:graphicFrameLocks noChangeAspect="1"/>
          </p:cNvGraphicFramePr>
          <p:nvPr/>
        </p:nvGraphicFramePr>
        <p:xfrm>
          <a:off x="6172200" y="4287838"/>
          <a:ext cx="1492250" cy="869950"/>
        </p:xfrm>
        <a:graphic>
          <a:graphicData uri="http://schemas.openxmlformats.org/presentationml/2006/ole">
            <mc:AlternateContent xmlns:mc="http://schemas.openxmlformats.org/markup-compatibility/2006">
              <mc:Choice xmlns:v="urn:schemas-microsoft-com:vml" Requires="v">
                <p:oleObj spid="_x0000_s165886" name="公式" r:id="rId4" imgW="698197" imgH="431613" progId="Equation.3">
                  <p:embed/>
                </p:oleObj>
              </mc:Choice>
              <mc:Fallback>
                <p:oleObj name="公式" r:id="rId4" imgW="698197" imgH="431613" progId="Equation.3">
                  <p:embed/>
                  <p:pic>
                    <p:nvPicPr>
                      <p:cNvPr id="34836" name="Object 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2200" y="4287838"/>
                        <a:ext cx="1492250" cy="869950"/>
                      </a:xfrm>
                      <a:prstGeom prst="rect">
                        <a:avLst/>
                      </a:prstGeom>
                      <a:noFill/>
                      <a:ln w="19050">
                        <a:solidFill>
                          <a:srgbClr val="3333CC"/>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37" name="Object 21"/>
          <p:cNvGraphicFramePr>
            <a:graphicFrameLocks noChangeAspect="1"/>
          </p:cNvGraphicFramePr>
          <p:nvPr/>
        </p:nvGraphicFramePr>
        <p:xfrm>
          <a:off x="1331913" y="2138363"/>
          <a:ext cx="2695575" cy="727075"/>
        </p:xfrm>
        <a:graphic>
          <a:graphicData uri="http://schemas.openxmlformats.org/presentationml/2006/ole">
            <mc:AlternateContent xmlns:mc="http://schemas.openxmlformats.org/markup-compatibility/2006">
              <mc:Choice xmlns:v="urn:schemas-microsoft-com:vml" Requires="v">
                <p:oleObj spid="_x0000_s165887" name="公式" r:id="rId6" imgW="660113" imgH="190417" progId="Equation.3">
                  <p:embed/>
                </p:oleObj>
              </mc:Choice>
              <mc:Fallback>
                <p:oleObj name="公式" r:id="rId6" imgW="660113" imgH="190417" progId="Equation.3">
                  <p:embed/>
                  <p:pic>
                    <p:nvPicPr>
                      <p:cNvPr id="34837" name="Object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1913" y="2138363"/>
                        <a:ext cx="2695575"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38" name="Object 22"/>
          <p:cNvGraphicFramePr>
            <a:graphicFrameLocks noChangeAspect="1"/>
          </p:cNvGraphicFramePr>
          <p:nvPr/>
        </p:nvGraphicFramePr>
        <p:xfrm>
          <a:off x="1266825" y="2971800"/>
          <a:ext cx="3198813" cy="1562100"/>
        </p:xfrm>
        <a:graphic>
          <a:graphicData uri="http://schemas.openxmlformats.org/presentationml/2006/ole">
            <mc:AlternateContent xmlns:mc="http://schemas.openxmlformats.org/markup-compatibility/2006">
              <mc:Choice xmlns:v="urn:schemas-microsoft-com:vml" Requires="v">
                <p:oleObj spid="_x0000_s238592" name="公式" r:id="rId8" imgW="837836" imgH="406224" progId="Equation.3">
                  <p:embed/>
                </p:oleObj>
              </mc:Choice>
              <mc:Fallback>
                <p:oleObj name="公式" r:id="rId8" imgW="837836" imgH="406224" progId="Equation.3">
                  <p:embed/>
                  <p:pic>
                    <p:nvPicPr>
                      <p:cNvPr id="34838" name="Object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66825" y="2971800"/>
                        <a:ext cx="3198813"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39" name="Object 23"/>
          <p:cNvGraphicFramePr>
            <a:graphicFrameLocks noChangeAspect="1"/>
          </p:cNvGraphicFramePr>
          <p:nvPr/>
        </p:nvGraphicFramePr>
        <p:xfrm>
          <a:off x="944563" y="5280025"/>
          <a:ext cx="5283200" cy="1196975"/>
        </p:xfrm>
        <a:graphic>
          <a:graphicData uri="http://schemas.openxmlformats.org/presentationml/2006/ole">
            <mc:AlternateContent xmlns:mc="http://schemas.openxmlformats.org/markup-compatibility/2006">
              <mc:Choice xmlns:v="urn:schemas-microsoft-com:vml" Requires="v">
                <p:oleObj spid="_x0000_s238593" name="公式" r:id="rId10" imgW="2019300" imgH="444500" progId="Equation.3">
                  <p:embed/>
                </p:oleObj>
              </mc:Choice>
              <mc:Fallback>
                <p:oleObj name="公式" r:id="rId10" imgW="2019300" imgH="444500" progId="Equation.3">
                  <p:embed/>
                  <p:pic>
                    <p:nvPicPr>
                      <p:cNvPr id="34839" name="Object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44563" y="5280025"/>
                        <a:ext cx="52832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2471" name="Group 24"/>
          <p:cNvGrpSpPr>
            <a:grpSpLocks/>
          </p:cNvGrpSpPr>
          <p:nvPr/>
        </p:nvGrpSpPr>
        <p:grpSpPr bwMode="auto">
          <a:xfrm>
            <a:off x="5486400" y="1636713"/>
            <a:ext cx="2590800" cy="3200400"/>
            <a:chOff x="3120" y="912"/>
            <a:chExt cx="1632" cy="2016"/>
          </a:xfrm>
        </p:grpSpPr>
        <p:sp>
          <p:nvSpPr>
            <p:cNvPr id="62485" name="Line 25"/>
            <p:cNvSpPr>
              <a:spLocks noChangeShapeType="1"/>
            </p:cNvSpPr>
            <p:nvPr/>
          </p:nvSpPr>
          <p:spPr bwMode="auto">
            <a:xfrm>
              <a:off x="3840" y="1872"/>
              <a:ext cx="912" cy="0"/>
            </a:xfrm>
            <a:prstGeom prst="line">
              <a:avLst/>
            </a:prstGeom>
            <a:noFill/>
            <a:ln w="57150" cap="sq">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2486" name="Group 26"/>
            <p:cNvGrpSpPr>
              <a:grpSpLocks/>
            </p:cNvGrpSpPr>
            <p:nvPr/>
          </p:nvGrpSpPr>
          <p:grpSpPr bwMode="auto">
            <a:xfrm flipH="1">
              <a:off x="3120" y="912"/>
              <a:ext cx="47" cy="2016"/>
              <a:chOff x="3120" y="288"/>
              <a:chExt cx="0" cy="3072"/>
            </a:xfrm>
          </p:grpSpPr>
          <p:sp>
            <p:nvSpPr>
              <p:cNvPr id="62495" name="Line 27"/>
              <p:cNvSpPr>
                <a:spLocks noChangeShapeType="1"/>
              </p:cNvSpPr>
              <p:nvPr/>
            </p:nvSpPr>
            <p:spPr bwMode="auto">
              <a:xfrm>
                <a:off x="3120" y="672"/>
                <a:ext cx="0" cy="2160"/>
              </a:xfrm>
              <a:prstGeom prst="line">
                <a:avLst/>
              </a:prstGeom>
              <a:noFill/>
              <a:ln w="762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96" name="Line 28"/>
              <p:cNvSpPr>
                <a:spLocks noChangeShapeType="1"/>
              </p:cNvSpPr>
              <p:nvPr/>
            </p:nvSpPr>
            <p:spPr bwMode="auto">
              <a:xfrm>
                <a:off x="3120" y="288"/>
                <a:ext cx="0" cy="3072"/>
              </a:xfrm>
              <a:prstGeom prst="line">
                <a:avLst/>
              </a:prstGeom>
              <a:noFill/>
              <a:ln w="76200" cap="rnd">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2487" name="Line 29"/>
            <p:cNvSpPr>
              <a:spLocks noChangeShapeType="1"/>
            </p:cNvSpPr>
            <p:nvPr/>
          </p:nvSpPr>
          <p:spPr bwMode="auto">
            <a:xfrm>
              <a:off x="3840" y="1872"/>
              <a:ext cx="0" cy="336"/>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88" name="Line 30"/>
            <p:cNvSpPr>
              <a:spLocks noChangeShapeType="1"/>
            </p:cNvSpPr>
            <p:nvPr/>
          </p:nvSpPr>
          <p:spPr bwMode="auto">
            <a:xfrm>
              <a:off x="3120" y="2112"/>
              <a:ext cx="720" cy="0"/>
            </a:xfrm>
            <a:prstGeom prst="line">
              <a:avLst/>
            </a:prstGeom>
            <a:noFill/>
            <a:ln w="12700" cap="sq">
              <a:solidFill>
                <a:schemeClr val="tx1"/>
              </a:solidFill>
              <a:round/>
              <a:headEnd type="triangle" w="med" len="me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2489" name="Object 31"/>
            <p:cNvGraphicFramePr>
              <a:graphicFrameLocks noChangeAspect="1"/>
            </p:cNvGraphicFramePr>
            <p:nvPr/>
          </p:nvGraphicFramePr>
          <p:xfrm>
            <a:off x="3408" y="2016"/>
            <a:ext cx="216" cy="240"/>
          </p:xfrm>
          <a:graphic>
            <a:graphicData uri="http://schemas.openxmlformats.org/presentationml/2006/ole">
              <mc:AlternateContent xmlns:mc="http://schemas.openxmlformats.org/markup-compatibility/2006">
                <mc:Choice xmlns:v="urn:schemas-microsoft-com:vml" Requires="v">
                  <p:oleObj spid="_x0000_s238594" name="公式" r:id="rId12" imgW="126835" imgH="139518" progId="Equation.3">
                    <p:embed/>
                  </p:oleObj>
                </mc:Choice>
                <mc:Fallback>
                  <p:oleObj name="公式" r:id="rId12" imgW="126835" imgH="139518" progId="Equation.3">
                    <p:embed/>
                    <p:pic>
                      <p:nvPicPr>
                        <p:cNvPr id="62489" name="Object 3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08" y="2016"/>
                          <a:ext cx="216" cy="24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90" name="Object 32"/>
            <p:cNvGraphicFramePr>
              <a:graphicFrameLocks noChangeAspect="1"/>
            </p:cNvGraphicFramePr>
            <p:nvPr/>
          </p:nvGraphicFramePr>
          <p:xfrm>
            <a:off x="3168" y="1152"/>
            <a:ext cx="221" cy="288"/>
          </p:xfrm>
          <a:graphic>
            <a:graphicData uri="http://schemas.openxmlformats.org/presentationml/2006/ole">
              <mc:AlternateContent xmlns:mc="http://schemas.openxmlformats.org/markup-compatibility/2006">
                <mc:Choice xmlns:v="urn:schemas-microsoft-com:vml" Requires="v">
                  <p:oleObj spid="_x0000_s238595" name="公式" r:id="rId14" imgW="164885" imgH="215619" progId="Equation.3">
                    <p:embed/>
                  </p:oleObj>
                </mc:Choice>
                <mc:Fallback>
                  <p:oleObj name="公式" r:id="rId14" imgW="164885" imgH="215619" progId="Equation.3">
                    <p:embed/>
                    <p:pic>
                      <p:nvPicPr>
                        <p:cNvPr id="62490" name="Object 3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168" y="1152"/>
                          <a:ext cx="22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91" name="Object 33"/>
            <p:cNvGraphicFramePr>
              <a:graphicFrameLocks noChangeAspect="1"/>
            </p:cNvGraphicFramePr>
            <p:nvPr/>
          </p:nvGraphicFramePr>
          <p:xfrm>
            <a:off x="4176" y="1536"/>
            <a:ext cx="238" cy="288"/>
          </p:xfrm>
          <a:graphic>
            <a:graphicData uri="http://schemas.openxmlformats.org/presentationml/2006/ole">
              <mc:AlternateContent xmlns:mc="http://schemas.openxmlformats.org/markup-compatibility/2006">
                <mc:Choice xmlns:v="urn:schemas-microsoft-com:vml" Requires="v">
                  <p:oleObj spid="_x0000_s238596" name="公式" r:id="rId16" imgW="152356" imgH="190447" progId="Equation.3">
                    <p:embed/>
                  </p:oleObj>
                </mc:Choice>
                <mc:Fallback>
                  <p:oleObj name="公式" r:id="rId16" imgW="152356" imgH="190447" progId="Equation.3">
                    <p:embed/>
                    <p:pic>
                      <p:nvPicPr>
                        <p:cNvPr id="62491" name="Object 3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76" y="1536"/>
                          <a:ext cx="238"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492" name="Line 34"/>
            <p:cNvSpPr>
              <a:spLocks noChangeShapeType="1"/>
            </p:cNvSpPr>
            <p:nvPr/>
          </p:nvSpPr>
          <p:spPr bwMode="auto">
            <a:xfrm>
              <a:off x="4752" y="1920"/>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93" name="Line 35"/>
            <p:cNvSpPr>
              <a:spLocks noChangeShapeType="1"/>
            </p:cNvSpPr>
            <p:nvPr/>
          </p:nvSpPr>
          <p:spPr bwMode="auto">
            <a:xfrm>
              <a:off x="3840" y="2112"/>
              <a:ext cx="91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62494" name="Object 36"/>
            <p:cNvGraphicFramePr>
              <a:graphicFrameLocks noChangeAspect="1"/>
            </p:cNvGraphicFramePr>
            <p:nvPr/>
          </p:nvGraphicFramePr>
          <p:xfrm>
            <a:off x="4176" y="1968"/>
            <a:ext cx="198" cy="277"/>
          </p:xfrm>
          <a:graphic>
            <a:graphicData uri="http://schemas.openxmlformats.org/presentationml/2006/ole">
              <mc:AlternateContent xmlns:mc="http://schemas.openxmlformats.org/markup-compatibility/2006">
                <mc:Choice xmlns:v="urn:schemas-microsoft-com:vml" Requires="v">
                  <p:oleObj spid="_x0000_s238597" name="公式" r:id="rId18" imgW="126725" imgH="177415" progId="Equation.3">
                    <p:embed/>
                  </p:oleObj>
                </mc:Choice>
                <mc:Fallback>
                  <p:oleObj name="公式" r:id="rId18" imgW="126725" imgH="177415" progId="Equation.3">
                    <p:embed/>
                    <p:pic>
                      <p:nvPicPr>
                        <p:cNvPr id="62494" name="Object 3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176" y="1968"/>
                          <a:ext cx="198" cy="277"/>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4861" name="Group 45"/>
          <p:cNvGrpSpPr>
            <a:grpSpLocks/>
          </p:cNvGrpSpPr>
          <p:nvPr/>
        </p:nvGrpSpPr>
        <p:grpSpPr bwMode="auto">
          <a:xfrm>
            <a:off x="5486400" y="2763838"/>
            <a:ext cx="1625600" cy="752475"/>
            <a:chOff x="3456" y="1344"/>
            <a:chExt cx="1024" cy="474"/>
          </a:xfrm>
        </p:grpSpPr>
        <p:grpSp>
          <p:nvGrpSpPr>
            <p:cNvPr id="62478" name="Group 37"/>
            <p:cNvGrpSpPr>
              <a:grpSpLocks/>
            </p:cNvGrpSpPr>
            <p:nvPr/>
          </p:nvGrpSpPr>
          <p:grpSpPr bwMode="auto">
            <a:xfrm>
              <a:off x="4208" y="1594"/>
              <a:ext cx="272" cy="224"/>
              <a:chOff x="3960" y="1872"/>
              <a:chExt cx="272" cy="224"/>
            </a:xfrm>
          </p:grpSpPr>
          <p:sp>
            <p:nvSpPr>
              <p:cNvPr id="62483" name="Line 38"/>
              <p:cNvSpPr>
                <a:spLocks noChangeShapeType="1"/>
              </p:cNvSpPr>
              <p:nvPr/>
            </p:nvSpPr>
            <p:spPr bwMode="auto">
              <a:xfrm>
                <a:off x="4080" y="1872"/>
                <a:ext cx="96" cy="0"/>
              </a:xfrm>
              <a:prstGeom prst="line">
                <a:avLst/>
              </a:prstGeom>
              <a:noFill/>
              <a:ln w="76200" cap="sq">
                <a:solidFill>
                  <a:srgbClr val="00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2484" name="Object 39"/>
              <p:cNvGraphicFramePr>
                <a:graphicFrameLocks noChangeAspect="1"/>
              </p:cNvGraphicFramePr>
              <p:nvPr/>
            </p:nvGraphicFramePr>
            <p:xfrm>
              <a:off x="3960" y="1890"/>
              <a:ext cx="272" cy="206"/>
            </p:xfrm>
            <a:graphic>
              <a:graphicData uri="http://schemas.openxmlformats.org/presentationml/2006/ole">
                <mc:AlternateContent xmlns:mc="http://schemas.openxmlformats.org/markup-compatibility/2006">
                  <mc:Choice xmlns:v="urn:schemas-microsoft-com:vml" Requires="v">
                    <p:oleObj spid="_x0000_s238598" name="公式" r:id="rId20" imgW="190550" imgH="133271" progId="Equation.3">
                      <p:embed/>
                    </p:oleObj>
                  </mc:Choice>
                  <mc:Fallback>
                    <p:oleObj name="公式" r:id="rId20" imgW="190550" imgH="133271" progId="Equation.3">
                      <p:embed/>
                      <p:pic>
                        <p:nvPicPr>
                          <p:cNvPr id="62484" name="Object 3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960" y="1890"/>
                            <a:ext cx="272" cy="2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2479" name="Group 40"/>
            <p:cNvGrpSpPr>
              <a:grpSpLocks/>
            </p:cNvGrpSpPr>
            <p:nvPr/>
          </p:nvGrpSpPr>
          <p:grpSpPr bwMode="auto">
            <a:xfrm>
              <a:off x="3456" y="1344"/>
              <a:ext cx="912" cy="250"/>
              <a:chOff x="3120" y="1622"/>
              <a:chExt cx="912" cy="250"/>
            </a:xfrm>
          </p:grpSpPr>
          <p:sp>
            <p:nvSpPr>
              <p:cNvPr id="62480" name="Line 41"/>
              <p:cNvSpPr>
                <a:spLocks noChangeShapeType="1"/>
              </p:cNvSpPr>
              <p:nvPr/>
            </p:nvSpPr>
            <p:spPr bwMode="auto">
              <a:xfrm flipV="1">
                <a:off x="4032" y="1728"/>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81" name="Line 42"/>
              <p:cNvSpPr>
                <a:spLocks noChangeShapeType="1"/>
              </p:cNvSpPr>
              <p:nvPr/>
            </p:nvSpPr>
            <p:spPr bwMode="auto">
              <a:xfrm>
                <a:off x="3120" y="1728"/>
                <a:ext cx="91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62482" name="Object 43"/>
              <p:cNvGraphicFramePr>
                <a:graphicFrameLocks noChangeAspect="1"/>
              </p:cNvGraphicFramePr>
              <p:nvPr/>
            </p:nvGraphicFramePr>
            <p:xfrm>
              <a:off x="3496" y="1622"/>
              <a:ext cx="190" cy="210"/>
            </p:xfrm>
            <a:graphic>
              <a:graphicData uri="http://schemas.openxmlformats.org/presentationml/2006/ole">
                <mc:AlternateContent xmlns:mc="http://schemas.openxmlformats.org/markup-compatibility/2006">
                  <mc:Choice xmlns:v="urn:schemas-microsoft-com:vml" Requires="v">
                    <p:oleObj spid="_x0000_s238599" name="公式" r:id="rId22" imgW="126835" imgH="139518" progId="Equation.3">
                      <p:embed/>
                    </p:oleObj>
                  </mc:Choice>
                  <mc:Fallback>
                    <p:oleObj name="公式" r:id="rId22" imgW="126835" imgH="139518" progId="Equation.3">
                      <p:embed/>
                      <p:pic>
                        <p:nvPicPr>
                          <p:cNvPr id="62482" name="Object 4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496" y="1622"/>
                            <a:ext cx="190" cy="21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62473" name="Text Box 44"/>
          <p:cNvSpPr txBox="1">
            <a:spLocks noChangeArrowheads="1"/>
          </p:cNvSpPr>
          <p:nvPr/>
        </p:nvSpPr>
        <p:spPr bwMode="auto">
          <a:xfrm>
            <a:off x="1949450" y="-23813"/>
            <a:ext cx="7015163" cy="1200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latin typeface="楷体_GB2312"/>
                <a:ea typeface="楷体_GB2312"/>
              </a:rPr>
              <a:t>均匀带电长直线（电荷线密度为</a:t>
            </a:r>
            <a:r>
              <a:rPr lang="zh-CN" altLang="en-US" sz="2400" i="1">
                <a:latin typeface="楷体_GB2312"/>
                <a:ea typeface="楷体_GB2312"/>
                <a:sym typeface="Symbol" panose="05050102010706020507" pitchFamily="18" charset="2"/>
              </a:rPr>
              <a:t></a:t>
            </a:r>
            <a:r>
              <a:rPr lang="en-US" altLang="zh-CN" sz="2400" baseline="-25000">
                <a:latin typeface="楷体_GB2312"/>
                <a:ea typeface="楷体_GB2312"/>
                <a:sym typeface="Symbol" panose="05050102010706020507" pitchFamily="18" charset="2"/>
              </a:rPr>
              <a:t>2</a:t>
            </a:r>
            <a:r>
              <a:rPr lang="zh-CN" altLang="en-US" sz="2400">
                <a:latin typeface="楷体_GB2312"/>
                <a:ea typeface="楷体_GB2312"/>
                <a:sym typeface="Symbol" panose="05050102010706020507" pitchFamily="18" charset="2"/>
              </a:rPr>
              <a:t>）</a:t>
            </a:r>
            <a:r>
              <a:rPr lang="zh-CN" altLang="en-US" sz="2400">
                <a:latin typeface="楷体_GB2312"/>
                <a:ea typeface="楷体_GB2312"/>
              </a:rPr>
              <a:t>长度为</a:t>
            </a:r>
            <a:r>
              <a:rPr lang="en-US" altLang="zh-CN" sz="2400" i="1">
                <a:ea typeface="楷体_GB2312"/>
              </a:rPr>
              <a:t>b</a:t>
            </a:r>
            <a:r>
              <a:rPr lang="zh-CN" altLang="en-US" sz="2400">
                <a:ea typeface="楷体_GB2312"/>
              </a:rPr>
              <a:t>，与另一均匀带电长直线（电荷线密度为</a:t>
            </a:r>
            <a:r>
              <a:rPr lang="zh-CN" altLang="en-US" sz="2400" i="1">
                <a:ea typeface="楷体_GB2312"/>
                <a:sym typeface="Symbol" panose="05050102010706020507" pitchFamily="18" charset="2"/>
              </a:rPr>
              <a:t></a:t>
            </a:r>
            <a:r>
              <a:rPr lang="en-US" altLang="zh-CN" sz="2400" baseline="-25000">
                <a:ea typeface="楷体_GB2312"/>
                <a:sym typeface="Symbol" panose="05050102010706020507" pitchFamily="18" charset="2"/>
              </a:rPr>
              <a:t>1</a:t>
            </a:r>
            <a:r>
              <a:rPr lang="zh-CN" altLang="en-US" sz="2400">
                <a:ea typeface="楷体_GB2312"/>
                <a:sym typeface="Symbol" panose="05050102010706020507" pitchFamily="18" charset="2"/>
              </a:rPr>
              <a:t>）共面放置，如图所示，求该</a:t>
            </a:r>
            <a:r>
              <a:rPr lang="zh-CN" altLang="en-US" sz="2400">
                <a:ea typeface="楷体_GB2312"/>
              </a:rPr>
              <a:t>均匀带电直线受的电场力。</a:t>
            </a:r>
          </a:p>
        </p:txBody>
      </p:sp>
      <p:sp>
        <p:nvSpPr>
          <p:cNvPr id="34862" name="Text Box 46"/>
          <p:cNvSpPr txBox="1">
            <a:spLocks noChangeArrowheads="1"/>
          </p:cNvSpPr>
          <p:nvPr/>
        </p:nvSpPr>
        <p:spPr bwMode="auto">
          <a:xfrm>
            <a:off x="923925" y="1482725"/>
            <a:ext cx="411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FF3300"/>
                </a:solidFill>
                <a:ea typeface="楷体_GB2312"/>
              </a:rPr>
              <a:t>解：取</a:t>
            </a:r>
            <a:r>
              <a:rPr lang="en-US" altLang="zh-CN" sz="2400">
                <a:solidFill>
                  <a:srgbClr val="FF3300"/>
                </a:solidFill>
                <a:ea typeface="楷体_GB2312"/>
              </a:rPr>
              <a:t>d</a:t>
            </a:r>
            <a:r>
              <a:rPr lang="en-US" altLang="zh-CN" sz="2400" i="1">
                <a:solidFill>
                  <a:srgbClr val="FF3300"/>
                </a:solidFill>
                <a:ea typeface="楷体_GB2312"/>
              </a:rPr>
              <a:t>x</a:t>
            </a:r>
          </a:p>
        </p:txBody>
      </p:sp>
      <p:grpSp>
        <p:nvGrpSpPr>
          <p:cNvPr id="62475" name="Group 2156"/>
          <p:cNvGrpSpPr>
            <a:grpSpLocks/>
          </p:cNvGrpSpPr>
          <p:nvPr/>
        </p:nvGrpSpPr>
        <p:grpSpPr bwMode="auto">
          <a:xfrm>
            <a:off x="160338" y="111125"/>
            <a:ext cx="1500187" cy="384175"/>
            <a:chOff x="304" y="1836"/>
            <a:chExt cx="826" cy="206"/>
          </a:xfrm>
        </p:grpSpPr>
        <p:sp>
          <p:nvSpPr>
            <p:cNvPr id="62476" name="Rectangle 2158"/>
            <p:cNvSpPr>
              <a:spLocks noChangeArrowheads="1"/>
            </p:cNvSpPr>
            <p:nvPr/>
          </p:nvSpPr>
          <p:spPr bwMode="auto">
            <a:xfrm>
              <a:off x="304" y="1836"/>
              <a:ext cx="826" cy="206"/>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3600">
                <a:solidFill>
                  <a:srgbClr val="FF3300"/>
                </a:solidFill>
                <a:ea typeface="楷体_GB2312"/>
              </a:endParaRPr>
            </a:p>
          </p:txBody>
        </p:sp>
        <p:sp>
          <p:nvSpPr>
            <p:cNvPr id="53359" name="WordArt 2159"/>
            <p:cNvSpPr>
              <a:spLocks noChangeArrowheads="1" noChangeShapeType="1" noTextEdit="1"/>
            </p:cNvSpPr>
            <p:nvPr/>
          </p:nvSpPr>
          <p:spPr bwMode="auto">
            <a:xfrm>
              <a:off x="313" y="1868"/>
              <a:ext cx="810" cy="134"/>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defRPr/>
              </a:pPr>
              <a:r>
                <a:rPr lang="zh-CN" altLang="en-US" kern="10" dirty="0">
                  <a:ln w="9525">
                    <a:solidFill>
                      <a:srgbClr val="CC0000"/>
                    </a:solidFill>
                    <a:round/>
                    <a:headEnd/>
                    <a:tailEnd/>
                  </a:ln>
                  <a:solidFill>
                    <a:srgbClr val="CC0000"/>
                  </a:solidFill>
                  <a:latin typeface="华文中宋"/>
                  <a:ea typeface="华文中宋"/>
                  <a:cs typeface="+mn-cs"/>
                </a:rPr>
                <a:t>例题</a:t>
              </a:r>
              <a:r>
                <a:rPr lang="en-US" altLang="zh-CN" kern="10" dirty="0">
                  <a:ln w="9525">
                    <a:solidFill>
                      <a:srgbClr val="CC0000"/>
                    </a:solidFill>
                    <a:round/>
                    <a:headEnd/>
                    <a:tailEnd/>
                  </a:ln>
                  <a:solidFill>
                    <a:srgbClr val="CC0000"/>
                  </a:solidFill>
                  <a:latin typeface="华文中宋"/>
                  <a:ea typeface="华文中宋"/>
                  <a:cs typeface="+mn-cs"/>
                </a:rPr>
                <a:t>7</a:t>
              </a:r>
              <a:endParaRPr lang="zh-CN" altLang="en-US" kern="10" dirty="0">
                <a:ln w="9525">
                  <a:solidFill>
                    <a:srgbClr val="CC0000"/>
                  </a:solidFill>
                  <a:round/>
                  <a:headEnd/>
                  <a:tailEnd/>
                </a:ln>
                <a:solidFill>
                  <a:srgbClr val="CC0000"/>
                </a:solidFill>
                <a:latin typeface="华文中宋"/>
                <a:ea typeface="华文中宋"/>
                <a:cs typeface="+mn-cs"/>
              </a:endParaRPr>
            </a:p>
          </p:txBody>
        </p:sp>
      </p:grpSp>
    </p:spTree>
    <p:extLst>
      <p:ext uri="{BB962C8B-B14F-4D97-AF65-F5344CB8AC3E}">
        <p14:creationId xmlns:p14="http://schemas.microsoft.com/office/powerpoint/2010/main" val="1461844761"/>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6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486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483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483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3483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348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6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3331" name="Picture 107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1080" y="871691"/>
            <a:ext cx="3566905" cy="18572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67269" name="Object 5"/>
          <p:cNvGraphicFramePr>
            <a:graphicFrameLocks noChangeAspect="1"/>
          </p:cNvGraphicFramePr>
          <p:nvPr>
            <p:extLst>
              <p:ext uri="{D42A27DB-BD31-4B8C-83A1-F6EECF244321}">
                <p14:modId xmlns:p14="http://schemas.microsoft.com/office/powerpoint/2010/main" val="199478384"/>
              </p:ext>
            </p:extLst>
          </p:nvPr>
        </p:nvGraphicFramePr>
        <p:xfrm>
          <a:off x="1192776" y="2991347"/>
          <a:ext cx="6053137" cy="557213"/>
        </p:xfrm>
        <a:graphic>
          <a:graphicData uri="http://schemas.openxmlformats.org/presentationml/2006/ole">
            <mc:AlternateContent xmlns:mc="http://schemas.openxmlformats.org/markup-compatibility/2006">
              <mc:Choice xmlns:v="urn:schemas-microsoft-com:vml" Requires="v">
                <p:oleObj spid="_x0000_s217218" name="公式" r:id="rId4" imgW="2184120" imgH="203040" progId="Equation.3">
                  <p:embed/>
                </p:oleObj>
              </mc:Choice>
              <mc:Fallback>
                <p:oleObj name="公式" r:id="rId4" imgW="2184120" imgH="203040" progId="Equation.3">
                  <p:embed/>
                  <p:pic>
                    <p:nvPicPr>
                      <p:cNvPr id="267269" name="Object 5"/>
                      <p:cNvPicPr>
                        <a:picLocks noChangeAspect="1" noChangeArrowheads="1"/>
                      </p:cNvPicPr>
                      <p:nvPr/>
                    </p:nvPicPr>
                    <p:blipFill>
                      <a:blip r:embed="rId5"/>
                      <a:srcRect/>
                      <a:stretch>
                        <a:fillRect/>
                      </a:stretch>
                    </p:blipFill>
                    <p:spPr bwMode="auto">
                      <a:xfrm>
                        <a:off x="1192776" y="2991347"/>
                        <a:ext cx="6053137" cy="557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0" name="Object 6"/>
          <p:cNvGraphicFramePr>
            <a:graphicFrameLocks noChangeAspect="1"/>
          </p:cNvGraphicFramePr>
          <p:nvPr>
            <p:extLst>
              <p:ext uri="{D42A27DB-BD31-4B8C-83A1-F6EECF244321}">
                <p14:modId xmlns:p14="http://schemas.microsoft.com/office/powerpoint/2010/main" val="2300614044"/>
              </p:ext>
            </p:extLst>
          </p:nvPr>
        </p:nvGraphicFramePr>
        <p:xfrm>
          <a:off x="1098550" y="1484784"/>
          <a:ext cx="3563938" cy="673100"/>
        </p:xfrm>
        <a:graphic>
          <a:graphicData uri="http://schemas.openxmlformats.org/presentationml/2006/ole">
            <mc:AlternateContent xmlns:mc="http://schemas.openxmlformats.org/markup-compatibility/2006">
              <mc:Choice xmlns:v="urn:schemas-microsoft-com:vml" Requires="v">
                <p:oleObj spid="_x0000_s217219" name="公式" r:id="rId6" imgW="1269720" imgH="241200" progId="Equation.3">
                  <p:embed/>
                </p:oleObj>
              </mc:Choice>
              <mc:Fallback>
                <p:oleObj name="公式" r:id="rId6" imgW="1269720" imgH="241200" progId="Equation.3">
                  <p:embed/>
                  <p:pic>
                    <p:nvPicPr>
                      <p:cNvPr id="267270" name="Object 6"/>
                      <p:cNvPicPr>
                        <a:picLocks noChangeAspect="1" noChangeArrowheads="1"/>
                      </p:cNvPicPr>
                      <p:nvPr/>
                    </p:nvPicPr>
                    <p:blipFill>
                      <a:blip r:embed="rId7"/>
                      <a:srcRect/>
                      <a:stretch>
                        <a:fillRect/>
                      </a:stretch>
                    </p:blipFill>
                    <p:spPr bwMode="auto">
                      <a:xfrm>
                        <a:off x="1098550" y="1484784"/>
                        <a:ext cx="3563938" cy="673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7271" name="Text Box 7"/>
          <p:cNvSpPr txBox="1">
            <a:spLocks noChangeArrowheads="1"/>
          </p:cNvSpPr>
          <p:nvPr/>
        </p:nvSpPr>
        <p:spPr bwMode="auto">
          <a:xfrm>
            <a:off x="30358" y="2512891"/>
            <a:ext cx="532153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000">
                <a:solidFill>
                  <a:schemeClr val="tx1"/>
                </a:solidFill>
              </a:rPr>
              <a:t>电偶极子所受合力为零</a:t>
            </a:r>
            <a:r>
              <a:rPr kumimoji="1" lang="en-US" altLang="zh-CN" sz="2000">
                <a:solidFill>
                  <a:schemeClr val="tx1"/>
                </a:solidFill>
              </a:rPr>
              <a:t>,</a:t>
            </a:r>
            <a:r>
              <a:rPr lang="zh-CN" altLang="en-US" sz="2000">
                <a:solidFill>
                  <a:schemeClr val="tx1"/>
                </a:solidFill>
              </a:rPr>
              <a:t>但力矩不为零，力矩为 </a:t>
            </a:r>
          </a:p>
          <a:p>
            <a:endParaRPr kumimoji="1" lang="zh-CN" altLang="en-US" sz="2000">
              <a:solidFill>
                <a:schemeClr val="tx1"/>
              </a:solidFill>
            </a:endParaRPr>
          </a:p>
        </p:txBody>
      </p:sp>
      <p:sp>
        <p:nvSpPr>
          <p:cNvPr id="267272" name="Text Box 8"/>
          <p:cNvSpPr txBox="1">
            <a:spLocks noChangeArrowheads="1"/>
          </p:cNvSpPr>
          <p:nvPr/>
        </p:nvSpPr>
        <p:spPr bwMode="auto">
          <a:xfrm>
            <a:off x="250825" y="115888"/>
            <a:ext cx="8458200" cy="799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zh-CN" altLang="en-US" sz="2000">
                <a:solidFill>
                  <a:srgbClr val="FF0000"/>
                </a:solidFill>
              </a:rPr>
              <a:t>例</a:t>
            </a:r>
            <a:r>
              <a:rPr lang="en-US" altLang="zh-CN" sz="2000">
                <a:solidFill>
                  <a:srgbClr val="FF0000"/>
                </a:solidFill>
              </a:rPr>
              <a:t>8</a:t>
            </a:r>
            <a:r>
              <a:rPr kumimoji="1" lang="en-US" altLang="zh-CN" sz="2000">
                <a:solidFill>
                  <a:srgbClr val="FF0000"/>
                </a:solidFill>
              </a:rPr>
              <a:t>   </a:t>
            </a:r>
            <a:r>
              <a:rPr kumimoji="1" lang="zh-CN" altLang="en-US" sz="2000" dirty="0">
                <a:solidFill>
                  <a:schemeClr val="tx1"/>
                </a:solidFill>
              </a:rPr>
              <a:t>求电偶极子在均匀外电场中受到的作用，并分析电偶极子在非均匀外电场中的运动。</a:t>
            </a:r>
          </a:p>
        </p:txBody>
      </p:sp>
      <p:sp>
        <p:nvSpPr>
          <p:cNvPr id="267273" name="Text Box 9"/>
          <p:cNvSpPr txBox="1">
            <a:spLocks noChangeArrowheads="1"/>
          </p:cNvSpPr>
          <p:nvPr/>
        </p:nvSpPr>
        <p:spPr bwMode="auto">
          <a:xfrm>
            <a:off x="258532" y="1099343"/>
            <a:ext cx="12239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000">
                <a:solidFill>
                  <a:srgbClr val="0000FF"/>
                </a:solidFill>
              </a:rPr>
              <a:t>解：</a:t>
            </a:r>
          </a:p>
        </p:txBody>
      </p:sp>
      <p:graphicFrame>
        <p:nvGraphicFramePr>
          <p:cNvPr id="267297" name="Object 33"/>
          <p:cNvGraphicFramePr>
            <a:graphicFrameLocks noChangeAspect="1"/>
          </p:cNvGraphicFramePr>
          <p:nvPr>
            <p:extLst>
              <p:ext uri="{D42A27DB-BD31-4B8C-83A1-F6EECF244321}">
                <p14:modId xmlns:p14="http://schemas.microsoft.com/office/powerpoint/2010/main" val="3010445458"/>
              </p:ext>
            </p:extLst>
          </p:nvPr>
        </p:nvGraphicFramePr>
        <p:xfrm>
          <a:off x="3193025" y="3554155"/>
          <a:ext cx="2052638" cy="658812"/>
        </p:xfrm>
        <a:graphic>
          <a:graphicData uri="http://schemas.openxmlformats.org/presentationml/2006/ole">
            <mc:AlternateContent xmlns:mc="http://schemas.openxmlformats.org/markup-compatibility/2006">
              <mc:Choice xmlns:v="urn:schemas-microsoft-com:vml" Requires="v">
                <p:oleObj spid="_x0000_s217220" name="公式" r:id="rId8" imgW="711000" imgH="228600" progId="Equation.3">
                  <p:embed/>
                </p:oleObj>
              </mc:Choice>
              <mc:Fallback>
                <p:oleObj name="公式" r:id="rId8" imgW="711000" imgH="228600" progId="Equation.3">
                  <p:embed/>
                  <p:pic>
                    <p:nvPicPr>
                      <p:cNvPr id="267297" name="Object 33"/>
                      <p:cNvPicPr>
                        <a:picLocks noChangeAspect="1" noChangeArrowheads="1"/>
                      </p:cNvPicPr>
                      <p:nvPr/>
                    </p:nvPicPr>
                    <p:blipFill>
                      <a:blip r:embed="rId9"/>
                      <a:srcRect/>
                      <a:stretch>
                        <a:fillRect/>
                      </a:stretch>
                    </p:blipFill>
                    <p:spPr bwMode="auto">
                      <a:xfrm>
                        <a:off x="3193025" y="3554155"/>
                        <a:ext cx="2052638" cy="658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7298" name="AutoShape 34"/>
          <p:cNvSpPr>
            <a:spLocks noChangeArrowheads="1"/>
          </p:cNvSpPr>
          <p:nvPr/>
        </p:nvSpPr>
        <p:spPr bwMode="auto">
          <a:xfrm>
            <a:off x="2014856" y="3626532"/>
            <a:ext cx="647700" cy="324000"/>
          </a:xfrm>
          <a:prstGeom prst="rightArrow">
            <a:avLst>
              <a:gd name="adj1" fmla="val 50000"/>
              <a:gd name="adj2" fmla="val 52856"/>
            </a:avLst>
          </a:prstGeom>
          <a:noFill/>
          <a:ln w="9525">
            <a:solidFill>
              <a:schemeClr val="tx1"/>
            </a:solidFill>
            <a:miter lim="800000"/>
            <a:headEnd/>
            <a:tailEnd/>
          </a:ln>
          <a:effectLst/>
          <a:extLst/>
        </p:spPr>
        <p:txBody>
          <a:bodyPr wrap="none" anchor="ctr"/>
          <a:lstStyle/>
          <a:p>
            <a:endParaRPr lang="zh-CN" altLang="en-US" sz="2000"/>
          </a:p>
        </p:txBody>
      </p:sp>
      <p:sp>
        <p:nvSpPr>
          <p:cNvPr id="267299" name="Rectangle 35"/>
          <p:cNvSpPr>
            <a:spLocks noChangeArrowheads="1"/>
          </p:cNvSpPr>
          <p:nvPr/>
        </p:nvSpPr>
        <p:spPr bwMode="auto">
          <a:xfrm>
            <a:off x="991503" y="1061153"/>
            <a:ext cx="309721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3000">
                <a:solidFill>
                  <a:srgbClr val="FF0000"/>
                </a:solidFill>
              </a:rPr>
              <a:t>均匀外电场中</a:t>
            </a:r>
          </a:p>
        </p:txBody>
      </p:sp>
      <p:sp>
        <p:nvSpPr>
          <p:cNvPr id="267300" name="Rectangle 36"/>
          <p:cNvSpPr>
            <a:spLocks noChangeArrowheads="1"/>
          </p:cNvSpPr>
          <p:nvPr/>
        </p:nvSpPr>
        <p:spPr bwMode="auto">
          <a:xfrm>
            <a:off x="5576887" y="3683506"/>
            <a:ext cx="62642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000">
                <a:solidFill>
                  <a:schemeClr val="tx1"/>
                </a:solidFill>
              </a:rPr>
              <a:t>电偶极子在均匀外电场中转动。</a:t>
            </a:r>
          </a:p>
        </p:txBody>
      </p:sp>
      <p:sp>
        <p:nvSpPr>
          <p:cNvPr id="13" name="Rectangle 4">
            <a:extLst>
              <a:ext uri="{FF2B5EF4-FFF2-40B4-BE49-F238E27FC236}">
                <a16:creationId xmlns:a16="http://schemas.microsoft.com/office/drawing/2014/main" id="{4481D7A7-7F5C-4212-9F4F-F1709F5475D6}"/>
              </a:ext>
            </a:extLst>
          </p:cNvPr>
          <p:cNvSpPr>
            <a:spLocks noChangeArrowheads="1"/>
          </p:cNvSpPr>
          <p:nvPr/>
        </p:nvSpPr>
        <p:spPr bwMode="auto">
          <a:xfrm>
            <a:off x="250825" y="4189106"/>
            <a:ext cx="6053136"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3000">
                <a:solidFill>
                  <a:srgbClr val="FF0000"/>
                </a:solidFill>
              </a:rPr>
              <a:t>非</a:t>
            </a:r>
            <a:r>
              <a:rPr kumimoji="1" lang="zh-CN" altLang="en-US" sz="3000" dirty="0">
                <a:solidFill>
                  <a:srgbClr val="FF0000"/>
                </a:solidFill>
              </a:rPr>
              <a:t>均匀</a:t>
            </a:r>
            <a:r>
              <a:rPr kumimoji="1" lang="zh-CN" altLang="en-US" sz="3000">
                <a:solidFill>
                  <a:srgbClr val="FF0000"/>
                </a:solidFill>
              </a:rPr>
              <a:t>外电场</a:t>
            </a:r>
            <a:endParaRPr kumimoji="1" lang="en-US" altLang="zh-CN" sz="3000">
              <a:solidFill>
                <a:srgbClr val="FF0000"/>
              </a:solidFill>
            </a:endParaRPr>
          </a:p>
          <a:p>
            <a:r>
              <a:rPr lang="zh-CN" altLang="en-US" sz="2000">
                <a:solidFill>
                  <a:schemeClr val="tx1"/>
                </a:solidFill>
              </a:rPr>
              <a:t>电偶极子所受合力不为零，力矩不为零</a:t>
            </a:r>
            <a:endParaRPr kumimoji="1" lang="zh-CN" altLang="en-US" sz="2000" dirty="0">
              <a:solidFill>
                <a:schemeClr val="tx1"/>
              </a:solidFill>
            </a:endParaRPr>
          </a:p>
        </p:txBody>
      </p:sp>
      <p:graphicFrame>
        <p:nvGraphicFramePr>
          <p:cNvPr id="15" name="Object 36">
            <a:extLst>
              <a:ext uri="{FF2B5EF4-FFF2-40B4-BE49-F238E27FC236}">
                <a16:creationId xmlns:a16="http://schemas.microsoft.com/office/drawing/2014/main" id="{91471A9E-80A7-4FED-9A0E-366655D629D0}"/>
              </a:ext>
            </a:extLst>
          </p:cNvPr>
          <p:cNvGraphicFramePr>
            <a:graphicFrameLocks noChangeAspect="1"/>
          </p:cNvGraphicFramePr>
          <p:nvPr>
            <p:extLst>
              <p:ext uri="{D42A27DB-BD31-4B8C-83A1-F6EECF244321}">
                <p14:modId xmlns:p14="http://schemas.microsoft.com/office/powerpoint/2010/main" val="2764282997"/>
              </p:ext>
            </p:extLst>
          </p:nvPr>
        </p:nvGraphicFramePr>
        <p:xfrm>
          <a:off x="1468090" y="5079460"/>
          <a:ext cx="3094038" cy="641350"/>
        </p:xfrm>
        <a:graphic>
          <a:graphicData uri="http://schemas.openxmlformats.org/presentationml/2006/ole">
            <mc:AlternateContent xmlns:mc="http://schemas.openxmlformats.org/markup-compatibility/2006">
              <mc:Choice xmlns:v="urn:schemas-microsoft-com:vml" Requires="v">
                <p:oleObj spid="_x0000_s217221" name="公式" r:id="rId10" imgW="1155600" imgH="241200" progId="Equation.3">
                  <p:embed/>
                </p:oleObj>
              </mc:Choice>
              <mc:Fallback>
                <p:oleObj name="公式" r:id="rId10" imgW="1155600" imgH="241200" progId="Equation.3">
                  <p:embed/>
                  <p:pic>
                    <p:nvPicPr>
                      <p:cNvPr id="270372" name="Object 36"/>
                      <p:cNvPicPr>
                        <a:picLocks noChangeAspect="1" noChangeArrowheads="1"/>
                      </p:cNvPicPr>
                      <p:nvPr/>
                    </p:nvPicPr>
                    <p:blipFill>
                      <a:blip r:embed="rId11"/>
                      <a:srcRect/>
                      <a:stretch>
                        <a:fillRect/>
                      </a:stretch>
                    </p:blipFill>
                    <p:spPr bwMode="auto">
                      <a:xfrm>
                        <a:off x="1468090" y="5079460"/>
                        <a:ext cx="3094038"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37">
            <a:extLst>
              <a:ext uri="{FF2B5EF4-FFF2-40B4-BE49-F238E27FC236}">
                <a16:creationId xmlns:a16="http://schemas.microsoft.com/office/drawing/2014/main" id="{84D44896-5182-481B-8C06-40B854D14A54}"/>
              </a:ext>
            </a:extLst>
          </p:cNvPr>
          <p:cNvGraphicFramePr>
            <a:graphicFrameLocks noChangeAspect="1"/>
          </p:cNvGraphicFramePr>
          <p:nvPr>
            <p:extLst>
              <p:ext uri="{D42A27DB-BD31-4B8C-83A1-F6EECF244321}">
                <p14:modId xmlns:p14="http://schemas.microsoft.com/office/powerpoint/2010/main" val="306540930"/>
              </p:ext>
            </p:extLst>
          </p:nvPr>
        </p:nvGraphicFramePr>
        <p:xfrm>
          <a:off x="994016" y="5800412"/>
          <a:ext cx="1873250" cy="646113"/>
        </p:xfrm>
        <a:graphic>
          <a:graphicData uri="http://schemas.openxmlformats.org/presentationml/2006/ole">
            <mc:AlternateContent xmlns:mc="http://schemas.openxmlformats.org/markup-compatibility/2006">
              <mc:Choice xmlns:v="urn:schemas-microsoft-com:vml" Requires="v">
                <p:oleObj spid="_x0000_s217222" name="公式" r:id="rId12" imgW="698400" imgH="241200" progId="Equation.3">
                  <p:embed/>
                </p:oleObj>
              </mc:Choice>
              <mc:Fallback>
                <p:oleObj name="公式" r:id="rId12" imgW="698400" imgH="241200" progId="Equation.3">
                  <p:embed/>
                  <p:pic>
                    <p:nvPicPr>
                      <p:cNvPr id="270373" name="Object 37"/>
                      <p:cNvPicPr>
                        <a:picLocks noChangeAspect="1" noChangeArrowheads="1"/>
                      </p:cNvPicPr>
                      <p:nvPr/>
                    </p:nvPicPr>
                    <p:blipFill>
                      <a:blip r:embed="rId13"/>
                      <a:srcRect/>
                      <a:stretch>
                        <a:fillRect/>
                      </a:stretch>
                    </p:blipFill>
                    <p:spPr bwMode="auto">
                      <a:xfrm>
                        <a:off x="994016" y="5800412"/>
                        <a:ext cx="1873250" cy="646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Rectangle 38">
            <a:extLst>
              <a:ext uri="{FF2B5EF4-FFF2-40B4-BE49-F238E27FC236}">
                <a16:creationId xmlns:a16="http://schemas.microsoft.com/office/drawing/2014/main" id="{C930DBE5-3745-47F6-8D1E-871FA197CD58}"/>
              </a:ext>
            </a:extLst>
          </p:cNvPr>
          <p:cNvSpPr>
            <a:spLocks noChangeArrowheads="1"/>
          </p:cNvSpPr>
          <p:nvPr/>
        </p:nvSpPr>
        <p:spPr bwMode="auto">
          <a:xfrm>
            <a:off x="3015109" y="6440785"/>
            <a:ext cx="74882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000" dirty="0">
                <a:solidFill>
                  <a:schemeClr val="tx1"/>
                </a:solidFill>
              </a:rPr>
              <a:t>电偶极子在非均匀外电场中既转动又平动。</a:t>
            </a:r>
          </a:p>
        </p:txBody>
      </p:sp>
      <p:pic>
        <p:nvPicPr>
          <p:cNvPr id="18" name="Picture 1066">
            <a:extLst>
              <a:ext uri="{FF2B5EF4-FFF2-40B4-BE49-F238E27FC236}">
                <a16:creationId xmlns:a16="http://schemas.microsoft.com/office/drawing/2014/main" id="{498C3E7C-F853-44C7-A3F5-E6E849DD276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17635" y="4531983"/>
            <a:ext cx="2775218" cy="17245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91295650"/>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67272"/>
                                        </p:tgtEl>
                                        <p:attrNameLst>
                                          <p:attrName>style.visibility</p:attrName>
                                        </p:attrNameLst>
                                      </p:cBhvr>
                                      <p:to>
                                        <p:strVal val="visible"/>
                                      </p:to>
                                    </p:set>
                                    <p:animEffect transition="in" filter="wipe(left)">
                                      <p:cBhvr>
                                        <p:cTn id="7" dur="500"/>
                                        <p:tgtEl>
                                          <p:spTgt spid="26727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53331"/>
                                        </p:tgtEl>
                                        <p:attrNameLst>
                                          <p:attrName>style.visibility</p:attrName>
                                        </p:attrNameLst>
                                      </p:cBhvr>
                                      <p:to>
                                        <p:strVal val="visible"/>
                                      </p:to>
                                    </p:set>
                                    <p:animEffect transition="in" filter="wipe(left)">
                                      <p:cBhvr>
                                        <p:cTn id="11" dur="500"/>
                                        <p:tgtEl>
                                          <p:spTgt spid="35333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67273"/>
                                        </p:tgtEl>
                                        <p:attrNameLst>
                                          <p:attrName>style.visibility</p:attrName>
                                        </p:attrNameLst>
                                      </p:cBhvr>
                                      <p:to>
                                        <p:strVal val="visible"/>
                                      </p:to>
                                    </p:set>
                                    <p:animEffect transition="in" filter="wipe(left)">
                                      <p:cBhvr>
                                        <p:cTn id="16" dur="500"/>
                                        <p:tgtEl>
                                          <p:spTgt spid="26727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67299"/>
                                        </p:tgtEl>
                                        <p:attrNameLst>
                                          <p:attrName>style.visibility</p:attrName>
                                        </p:attrNameLst>
                                      </p:cBhvr>
                                      <p:to>
                                        <p:strVal val="visible"/>
                                      </p:to>
                                    </p:set>
                                    <p:animEffect transition="in" filter="wipe(left)">
                                      <p:cBhvr>
                                        <p:cTn id="21" dur="500"/>
                                        <p:tgtEl>
                                          <p:spTgt spid="26729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67270"/>
                                        </p:tgtEl>
                                        <p:attrNameLst>
                                          <p:attrName>style.visibility</p:attrName>
                                        </p:attrNameLst>
                                      </p:cBhvr>
                                      <p:to>
                                        <p:strVal val="visible"/>
                                      </p:to>
                                    </p:set>
                                    <p:animEffect transition="in" filter="wipe(left)">
                                      <p:cBhvr>
                                        <p:cTn id="26" dur="500"/>
                                        <p:tgtEl>
                                          <p:spTgt spid="26727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67271">
                                            <p:txEl>
                                              <p:pRg st="0" end="0"/>
                                            </p:txEl>
                                          </p:spTgt>
                                        </p:tgtEl>
                                        <p:attrNameLst>
                                          <p:attrName>style.visibility</p:attrName>
                                        </p:attrNameLst>
                                      </p:cBhvr>
                                      <p:to>
                                        <p:strVal val="visible"/>
                                      </p:to>
                                    </p:set>
                                    <p:animEffect transition="in" filter="wipe(left)">
                                      <p:cBhvr>
                                        <p:cTn id="31" dur="500"/>
                                        <p:tgtEl>
                                          <p:spTgt spid="267271">
                                            <p:txEl>
                                              <p:pRg st="0" end="0"/>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67269"/>
                                        </p:tgtEl>
                                        <p:attrNameLst>
                                          <p:attrName>style.visibility</p:attrName>
                                        </p:attrNameLst>
                                      </p:cBhvr>
                                      <p:to>
                                        <p:strVal val="visible"/>
                                      </p:to>
                                    </p:set>
                                    <p:animEffect transition="in" filter="wipe(left)">
                                      <p:cBhvr>
                                        <p:cTn id="36" dur="500"/>
                                        <p:tgtEl>
                                          <p:spTgt spid="26726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67298"/>
                                        </p:tgtEl>
                                        <p:attrNameLst>
                                          <p:attrName>style.visibility</p:attrName>
                                        </p:attrNameLst>
                                      </p:cBhvr>
                                      <p:to>
                                        <p:strVal val="visible"/>
                                      </p:to>
                                    </p:set>
                                    <p:animEffect transition="in" filter="wipe(left)">
                                      <p:cBhvr>
                                        <p:cTn id="41" dur="500"/>
                                        <p:tgtEl>
                                          <p:spTgt spid="267298"/>
                                        </p:tgtEl>
                                      </p:cBhvr>
                                    </p:animEffect>
                                  </p:childTnLst>
                                </p:cTn>
                              </p:par>
                            </p:childTnLst>
                          </p:cTn>
                        </p:par>
                        <p:par>
                          <p:cTn id="42" fill="hold" nodeType="afterGroup">
                            <p:stCondLst>
                              <p:cond delay="500"/>
                            </p:stCondLst>
                            <p:childTnLst>
                              <p:par>
                                <p:cTn id="43" presetID="3" presetClass="entr" presetSubtype="10" fill="hold" nodeType="afterEffect">
                                  <p:stCondLst>
                                    <p:cond delay="0"/>
                                  </p:stCondLst>
                                  <p:childTnLst>
                                    <p:set>
                                      <p:cBhvr>
                                        <p:cTn id="44" dur="1" fill="hold">
                                          <p:stCondLst>
                                            <p:cond delay="0"/>
                                          </p:stCondLst>
                                        </p:cTn>
                                        <p:tgtEl>
                                          <p:spTgt spid="267297"/>
                                        </p:tgtEl>
                                        <p:attrNameLst>
                                          <p:attrName>style.visibility</p:attrName>
                                        </p:attrNameLst>
                                      </p:cBhvr>
                                      <p:to>
                                        <p:strVal val="visible"/>
                                      </p:to>
                                    </p:set>
                                    <p:animEffect transition="in" filter="blinds(horizontal)">
                                      <p:cBhvr>
                                        <p:cTn id="45" dur="500"/>
                                        <p:tgtEl>
                                          <p:spTgt spid="26729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67300"/>
                                        </p:tgtEl>
                                        <p:attrNameLst>
                                          <p:attrName>style.visibility</p:attrName>
                                        </p:attrNameLst>
                                      </p:cBhvr>
                                      <p:to>
                                        <p:strVal val="visible"/>
                                      </p:to>
                                    </p:set>
                                    <p:animEffect transition="in" filter="wipe(left)">
                                      <p:cBhvr>
                                        <p:cTn id="50" dur="500"/>
                                        <p:tgtEl>
                                          <p:spTgt spid="267300"/>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left)">
                                      <p:cBhvr>
                                        <p:cTn id="54" dur="500"/>
                                        <p:tgtEl>
                                          <p:spTgt spid="13"/>
                                        </p:tgtEl>
                                      </p:cBhvr>
                                    </p:animEffect>
                                  </p:childTnLst>
                                </p:cTn>
                              </p:par>
                            </p:childTnLst>
                          </p:cTn>
                        </p:par>
                        <p:par>
                          <p:cTn id="55" fill="hold">
                            <p:stCondLst>
                              <p:cond delay="1000"/>
                            </p:stCondLst>
                            <p:childTnLst>
                              <p:par>
                                <p:cTn id="56" presetID="22" presetClass="entr" presetSubtype="8" fill="hold"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wipe(left)">
                                      <p:cBhvr>
                                        <p:cTn id="58" dur="50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wipe(left)">
                                      <p:cBhvr>
                                        <p:cTn id="63" dur="500"/>
                                        <p:tgtEl>
                                          <p:spTgt spid="15"/>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blinds(horizontal)">
                                      <p:cBhvr>
                                        <p:cTn id="68" dur="500"/>
                                        <p:tgtEl>
                                          <p:spTgt spid="16"/>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7"/>
                                        </p:tgtEl>
                                        <p:attrNameLst>
                                          <p:attrName>style.visibility</p:attrName>
                                        </p:attrNameLst>
                                      </p:cBhvr>
                                      <p:to>
                                        <p:strVal val="visible"/>
                                      </p:to>
                                    </p:set>
                                    <p:animEffect transition="in" filter="wipe(left)">
                                      <p:cBhvr>
                                        <p:cTn id="7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71" grpId="0" build="p" autoUpdateAnimBg="0"/>
      <p:bldP spid="267272" grpId="0"/>
      <p:bldP spid="267273" grpId="0" autoUpdateAnimBg="0"/>
      <p:bldP spid="267298" grpId="0" animBg="1"/>
      <p:bldP spid="267299" grpId="0"/>
      <p:bldP spid="267300" grpId="0"/>
      <p:bldP spid="13" grpId="0"/>
      <p:bldP spid="1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7270" name="Object 6"/>
          <p:cNvGraphicFramePr>
            <a:graphicFrameLocks noChangeAspect="1"/>
          </p:cNvGraphicFramePr>
          <p:nvPr>
            <p:extLst>
              <p:ext uri="{D42A27DB-BD31-4B8C-83A1-F6EECF244321}">
                <p14:modId xmlns:p14="http://schemas.microsoft.com/office/powerpoint/2010/main" val="512853324"/>
              </p:ext>
            </p:extLst>
          </p:nvPr>
        </p:nvGraphicFramePr>
        <p:xfrm>
          <a:off x="1351755" y="2827628"/>
          <a:ext cx="2244725" cy="1098550"/>
        </p:xfrm>
        <a:graphic>
          <a:graphicData uri="http://schemas.openxmlformats.org/presentationml/2006/ole">
            <mc:AlternateContent xmlns:mc="http://schemas.openxmlformats.org/markup-compatibility/2006">
              <mc:Choice xmlns:v="urn:schemas-microsoft-com:vml" Requires="v">
                <p:oleObj spid="_x0000_s219319" name="公式" r:id="rId4" imgW="799920" imgH="393480" progId="Equation.3">
                  <p:embed/>
                </p:oleObj>
              </mc:Choice>
              <mc:Fallback>
                <p:oleObj name="公式" r:id="rId4" imgW="799920" imgH="393480" progId="Equation.3">
                  <p:embed/>
                  <p:pic>
                    <p:nvPicPr>
                      <p:cNvPr id="267270" name="Object 6"/>
                      <p:cNvPicPr>
                        <a:picLocks noChangeAspect="1" noChangeArrowheads="1"/>
                      </p:cNvPicPr>
                      <p:nvPr/>
                    </p:nvPicPr>
                    <p:blipFill>
                      <a:blip r:embed="rId5"/>
                      <a:srcRect/>
                      <a:stretch>
                        <a:fillRect/>
                      </a:stretch>
                    </p:blipFill>
                    <p:spPr bwMode="auto">
                      <a:xfrm>
                        <a:off x="1351755" y="2827628"/>
                        <a:ext cx="2244725" cy="1098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7272" name="Text Box 8"/>
          <p:cNvSpPr txBox="1">
            <a:spLocks noChangeArrowheads="1"/>
          </p:cNvSpPr>
          <p:nvPr/>
        </p:nvSpPr>
        <p:spPr bwMode="auto">
          <a:xfrm>
            <a:off x="250824" y="115888"/>
            <a:ext cx="8893175" cy="1899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kumimoji="1" lang="zh-CN" altLang="en-US" sz="2500">
                <a:solidFill>
                  <a:srgbClr val="0000FF"/>
                </a:solidFill>
              </a:rPr>
              <a:t>例</a:t>
            </a:r>
            <a:r>
              <a:rPr kumimoji="1" lang="en-US" altLang="zh-CN" sz="2500">
                <a:solidFill>
                  <a:srgbClr val="0000FF"/>
                </a:solidFill>
              </a:rPr>
              <a:t>9</a:t>
            </a:r>
            <a:r>
              <a:rPr kumimoji="1" lang="en-US" altLang="zh-CN" sz="2500"/>
              <a:t>   </a:t>
            </a:r>
            <a:r>
              <a:rPr kumimoji="1" lang="zh-CN" altLang="en-US" sz="2500" dirty="0">
                <a:solidFill>
                  <a:schemeClr val="tx1"/>
                </a:solidFill>
              </a:rPr>
              <a:t>设喷墨打印机的墨滴质量为</a:t>
            </a:r>
            <a:r>
              <a:rPr kumimoji="1" lang="en-US" altLang="zh-CN" sz="2500" dirty="0">
                <a:solidFill>
                  <a:schemeClr val="tx1"/>
                </a:solidFill>
              </a:rPr>
              <a:t>1.5×10</a:t>
            </a:r>
            <a:r>
              <a:rPr kumimoji="1" lang="en-US" altLang="zh-CN" sz="2500" baseline="30000" dirty="0">
                <a:solidFill>
                  <a:schemeClr val="tx1"/>
                </a:solidFill>
              </a:rPr>
              <a:t>-10</a:t>
            </a:r>
            <a:r>
              <a:rPr kumimoji="1" lang="en-US" altLang="zh-CN" sz="2500" dirty="0">
                <a:solidFill>
                  <a:schemeClr val="tx1"/>
                </a:solidFill>
              </a:rPr>
              <a:t>kg</a:t>
            </a:r>
            <a:r>
              <a:rPr kumimoji="1" lang="zh-CN" altLang="en-US" sz="2500" dirty="0">
                <a:solidFill>
                  <a:schemeClr val="tx1"/>
                </a:solidFill>
              </a:rPr>
              <a:t>，经过带电室带上</a:t>
            </a:r>
            <a:r>
              <a:rPr kumimoji="1" lang="en-US" altLang="zh-CN" sz="2500" dirty="0">
                <a:solidFill>
                  <a:schemeClr val="tx1"/>
                </a:solidFill>
              </a:rPr>
              <a:t>-1.4×10</a:t>
            </a:r>
            <a:r>
              <a:rPr kumimoji="1" lang="en-US" altLang="zh-CN" sz="2500" baseline="30000" dirty="0">
                <a:solidFill>
                  <a:schemeClr val="tx1"/>
                </a:solidFill>
              </a:rPr>
              <a:t>-13</a:t>
            </a:r>
            <a:r>
              <a:rPr kumimoji="1" lang="en-US" altLang="zh-CN" sz="2500" dirty="0">
                <a:solidFill>
                  <a:schemeClr val="tx1"/>
                </a:solidFill>
              </a:rPr>
              <a:t>  C</a:t>
            </a:r>
            <a:r>
              <a:rPr kumimoji="1" lang="zh-CN" altLang="en-US" sz="2500" dirty="0">
                <a:solidFill>
                  <a:schemeClr val="tx1"/>
                </a:solidFill>
              </a:rPr>
              <a:t>的电荷量，随后以</a:t>
            </a:r>
            <a:r>
              <a:rPr kumimoji="1" lang="en-US" altLang="zh-CN" sz="2500" dirty="0">
                <a:solidFill>
                  <a:schemeClr val="tx1"/>
                </a:solidFill>
              </a:rPr>
              <a:t>20m/s</a:t>
            </a:r>
            <a:r>
              <a:rPr kumimoji="1" lang="zh-CN" altLang="en-US" sz="2500" dirty="0">
                <a:solidFill>
                  <a:schemeClr val="tx1"/>
                </a:solidFill>
              </a:rPr>
              <a:t>的速度进入长</a:t>
            </a:r>
            <a:r>
              <a:rPr kumimoji="1" lang="en-US" altLang="zh-CN" sz="2500" dirty="0">
                <a:solidFill>
                  <a:schemeClr val="tx1"/>
                </a:solidFill>
              </a:rPr>
              <a:t>1.6cm</a:t>
            </a:r>
            <a:r>
              <a:rPr kumimoji="1" lang="zh-CN" altLang="en-US" sz="2500" dirty="0">
                <a:solidFill>
                  <a:schemeClr val="tx1"/>
                </a:solidFill>
              </a:rPr>
              <a:t>的偏转板，板间电场强度</a:t>
            </a:r>
            <a:r>
              <a:rPr kumimoji="1" lang="en-US" altLang="zh-CN" sz="2500" dirty="0">
                <a:solidFill>
                  <a:schemeClr val="tx1"/>
                </a:solidFill>
              </a:rPr>
              <a:t>1.6×10</a:t>
            </a:r>
            <a:r>
              <a:rPr kumimoji="1" lang="en-US" altLang="zh-CN" sz="2500" baseline="30000" dirty="0">
                <a:solidFill>
                  <a:schemeClr val="tx1"/>
                </a:solidFill>
              </a:rPr>
              <a:t>6 </a:t>
            </a:r>
            <a:r>
              <a:rPr kumimoji="1" lang="en-US" altLang="zh-CN" sz="2500" dirty="0">
                <a:solidFill>
                  <a:schemeClr val="tx1"/>
                </a:solidFill>
              </a:rPr>
              <a:t>N/C, </a:t>
            </a:r>
            <a:r>
              <a:rPr kumimoji="1" lang="zh-CN" altLang="en-US" sz="2500" dirty="0">
                <a:solidFill>
                  <a:schemeClr val="tx1"/>
                </a:solidFill>
              </a:rPr>
              <a:t>求墨滴离开偏转板时在竖直方向偏转的距离。</a:t>
            </a:r>
          </a:p>
        </p:txBody>
      </p:sp>
      <p:sp>
        <p:nvSpPr>
          <p:cNvPr id="267273" name="Text Box 9"/>
          <p:cNvSpPr txBox="1">
            <a:spLocks noChangeArrowheads="1"/>
          </p:cNvSpPr>
          <p:nvPr/>
        </p:nvSpPr>
        <p:spPr bwMode="auto">
          <a:xfrm>
            <a:off x="212253" y="1949511"/>
            <a:ext cx="122396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3000" dirty="0">
                <a:solidFill>
                  <a:srgbClr val="0000FF"/>
                </a:solidFill>
              </a:rPr>
              <a:t>解：</a:t>
            </a:r>
          </a:p>
        </p:txBody>
      </p:sp>
      <p:sp>
        <p:nvSpPr>
          <p:cNvPr id="267299" name="Rectangle 35"/>
          <p:cNvSpPr>
            <a:spLocks noChangeArrowheads="1"/>
          </p:cNvSpPr>
          <p:nvPr/>
        </p:nvSpPr>
        <p:spPr bwMode="auto">
          <a:xfrm>
            <a:off x="1111559" y="2015511"/>
            <a:ext cx="6208494"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500" dirty="0">
                <a:solidFill>
                  <a:schemeClr val="tx1"/>
                </a:solidFill>
              </a:rPr>
              <a:t>墨滴受力</a:t>
            </a:r>
            <a:r>
              <a:rPr kumimoji="1" lang="zh-CN" altLang="en-US" sz="2500">
                <a:solidFill>
                  <a:schemeClr val="tx1"/>
                </a:solidFill>
              </a:rPr>
              <a:t>方向沿 </a:t>
            </a:r>
            <a:r>
              <a:rPr kumimoji="1" lang="en-US" altLang="zh-CN" sz="2500" i="1">
                <a:solidFill>
                  <a:schemeClr val="tx1"/>
                </a:solidFill>
              </a:rPr>
              <a:t>y </a:t>
            </a:r>
            <a:r>
              <a:rPr kumimoji="1" lang="zh-CN" altLang="en-US" sz="2500">
                <a:solidFill>
                  <a:schemeClr val="tx1"/>
                </a:solidFill>
              </a:rPr>
              <a:t>轴</a:t>
            </a:r>
            <a:endParaRPr kumimoji="1" lang="en-US" altLang="zh-CN" sz="2500" dirty="0">
              <a:solidFill>
                <a:schemeClr val="tx1"/>
              </a:solidFill>
            </a:endParaRPr>
          </a:p>
          <a:p>
            <a:r>
              <a:rPr kumimoji="1" lang="zh-CN" altLang="en-US" sz="2500" dirty="0">
                <a:solidFill>
                  <a:schemeClr val="tx1"/>
                </a:solidFill>
              </a:rPr>
              <a:t>正向，其加速度</a:t>
            </a:r>
          </a:p>
        </p:txBody>
      </p:sp>
      <p:graphicFrame>
        <p:nvGraphicFramePr>
          <p:cNvPr id="2" name="对象 1"/>
          <p:cNvGraphicFramePr>
            <a:graphicFrameLocks noChangeAspect="1"/>
          </p:cNvGraphicFramePr>
          <p:nvPr>
            <p:extLst>
              <p:ext uri="{D42A27DB-BD31-4B8C-83A1-F6EECF244321}">
                <p14:modId xmlns:p14="http://schemas.microsoft.com/office/powerpoint/2010/main" val="546448773"/>
              </p:ext>
            </p:extLst>
          </p:nvPr>
        </p:nvGraphicFramePr>
        <p:xfrm>
          <a:off x="971600" y="4337132"/>
          <a:ext cx="1674813" cy="1098550"/>
        </p:xfrm>
        <a:graphic>
          <a:graphicData uri="http://schemas.openxmlformats.org/presentationml/2006/ole">
            <mc:AlternateContent xmlns:mc="http://schemas.openxmlformats.org/markup-compatibility/2006">
              <mc:Choice xmlns:v="urn:schemas-microsoft-com:vml" Requires="v">
                <p:oleObj spid="_x0000_s219320" name="公式" r:id="rId6" imgW="596880" imgH="393480" progId="Equation.3">
                  <p:embed/>
                </p:oleObj>
              </mc:Choice>
              <mc:Fallback>
                <p:oleObj name="公式" r:id="rId6" imgW="596880" imgH="393480" progId="Equation.3">
                  <p:embed/>
                  <p:pic>
                    <p:nvPicPr>
                      <p:cNvPr id="2" name="对象 1"/>
                      <p:cNvPicPr>
                        <a:picLocks noChangeAspect="1" noChangeArrowheads="1"/>
                      </p:cNvPicPr>
                      <p:nvPr/>
                    </p:nvPicPr>
                    <p:blipFill>
                      <a:blip r:embed="rId7"/>
                      <a:srcRect/>
                      <a:stretch>
                        <a:fillRect/>
                      </a:stretch>
                    </p:blipFill>
                    <p:spPr bwMode="auto">
                      <a:xfrm>
                        <a:off x="971600" y="4337132"/>
                        <a:ext cx="1674813" cy="1098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 name="Rectangle 35"/>
          <p:cNvSpPr>
            <a:spLocks noChangeArrowheads="1"/>
          </p:cNvSpPr>
          <p:nvPr/>
        </p:nvSpPr>
        <p:spPr bwMode="auto">
          <a:xfrm>
            <a:off x="611560" y="3877508"/>
            <a:ext cx="7352272"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500" dirty="0">
                <a:solidFill>
                  <a:schemeClr val="tx1"/>
                </a:solidFill>
              </a:rPr>
              <a:t>墨滴离开偏转板时在竖直方向偏转的距离</a:t>
            </a:r>
          </a:p>
        </p:txBody>
      </p:sp>
      <p:pic>
        <p:nvPicPr>
          <p:cNvPr id="303404" name="Picture 300"/>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697411" y="1920163"/>
            <a:ext cx="4485159" cy="18406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0" name="对象 9">
            <a:extLst>
              <a:ext uri="{FF2B5EF4-FFF2-40B4-BE49-F238E27FC236}">
                <a16:creationId xmlns:a16="http://schemas.microsoft.com/office/drawing/2014/main" id="{BE6C4BCC-0641-4B8A-B325-80F85205B012}"/>
              </a:ext>
            </a:extLst>
          </p:cNvPr>
          <p:cNvGraphicFramePr>
            <a:graphicFrameLocks noChangeAspect="1"/>
          </p:cNvGraphicFramePr>
          <p:nvPr>
            <p:extLst>
              <p:ext uri="{D42A27DB-BD31-4B8C-83A1-F6EECF244321}">
                <p14:modId xmlns:p14="http://schemas.microsoft.com/office/powerpoint/2010/main" val="894188553"/>
              </p:ext>
            </p:extLst>
          </p:nvPr>
        </p:nvGraphicFramePr>
        <p:xfrm>
          <a:off x="3158013" y="4276953"/>
          <a:ext cx="1139825" cy="1204912"/>
        </p:xfrm>
        <a:graphic>
          <a:graphicData uri="http://schemas.openxmlformats.org/presentationml/2006/ole">
            <mc:AlternateContent xmlns:mc="http://schemas.openxmlformats.org/markup-compatibility/2006">
              <mc:Choice xmlns:v="urn:schemas-microsoft-com:vml" Requires="v">
                <p:oleObj spid="_x0000_s219321" name="公式" r:id="rId9" imgW="406080" imgH="431640" progId="Equation.3">
                  <p:embed/>
                </p:oleObj>
              </mc:Choice>
              <mc:Fallback>
                <p:oleObj name="公式" r:id="rId9" imgW="406080" imgH="431640" progId="Equation.3">
                  <p:embed/>
                  <p:pic>
                    <p:nvPicPr>
                      <p:cNvPr id="3" name="对象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58013" y="4276953"/>
                        <a:ext cx="1139825" cy="1204912"/>
                      </a:xfrm>
                      <a:prstGeom prst="rect">
                        <a:avLst/>
                      </a:prstGeom>
                      <a:noFill/>
                      <a:ln>
                        <a:noFill/>
                      </a:ln>
                      <a:effectLst/>
                      <a:extLst/>
                    </p:spPr>
                  </p:pic>
                </p:oleObj>
              </mc:Fallback>
            </mc:AlternateContent>
          </a:graphicData>
        </a:graphic>
      </p:graphicFrame>
      <p:sp>
        <p:nvSpPr>
          <p:cNvPr id="11" name="Rectangle 35">
            <a:extLst>
              <a:ext uri="{FF2B5EF4-FFF2-40B4-BE49-F238E27FC236}">
                <a16:creationId xmlns:a16="http://schemas.microsoft.com/office/drawing/2014/main" id="{7ED7CC5B-D128-4EEF-9037-CB44A96BB1BA}"/>
              </a:ext>
            </a:extLst>
          </p:cNvPr>
          <p:cNvSpPr>
            <a:spLocks noChangeArrowheads="1"/>
          </p:cNvSpPr>
          <p:nvPr/>
        </p:nvSpPr>
        <p:spPr bwMode="auto">
          <a:xfrm>
            <a:off x="4720738" y="4499909"/>
            <a:ext cx="2952328"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500" dirty="0">
                <a:solidFill>
                  <a:schemeClr val="tx1"/>
                </a:solidFill>
              </a:rPr>
              <a:t>代入</a:t>
            </a:r>
          </a:p>
        </p:txBody>
      </p:sp>
      <p:sp>
        <p:nvSpPr>
          <p:cNvPr id="12" name="AutoShape 34">
            <a:extLst>
              <a:ext uri="{FF2B5EF4-FFF2-40B4-BE49-F238E27FC236}">
                <a16:creationId xmlns:a16="http://schemas.microsoft.com/office/drawing/2014/main" id="{D07432E7-6E5D-40B7-9A6D-3A5F63319F28}"/>
              </a:ext>
            </a:extLst>
          </p:cNvPr>
          <p:cNvSpPr>
            <a:spLocks noChangeArrowheads="1"/>
          </p:cNvSpPr>
          <p:nvPr/>
        </p:nvSpPr>
        <p:spPr bwMode="auto">
          <a:xfrm>
            <a:off x="3828319" y="5998991"/>
            <a:ext cx="1962449" cy="276238"/>
          </a:xfrm>
          <a:prstGeom prst="rightArrow">
            <a:avLst>
              <a:gd name="adj1" fmla="val 50000"/>
              <a:gd name="adj2" fmla="val 52856"/>
            </a:avLst>
          </a:prstGeom>
          <a:noFill/>
          <a:ln w="9525">
            <a:solidFill>
              <a:schemeClr val="tx1"/>
            </a:solidFill>
            <a:miter lim="800000"/>
            <a:headEnd/>
            <a:tailEnd/>
          </a:ln>
          <a:effectLst/>
          <a:extLst/>
        </p:spPr>
        <p:txBody>
          <a:bodyPr wrap="none" anchor="ctr"/>
          <a:lstStyle/>
          <a:p>
            <a:endParaRPr lang="zh-CN" altLang="en-US"/>
          </a:p>
        </p:txBody>
      </p:sp>
      <p:sp>
        <p:nvSpPr>
          <p:cNvPr id="13" name="Rectangle 35">
            <a:extLst>
              <a:ext uri="{FF2B5EF4-FFF2-40B4-BE49-F238E27FC236}">
                <a16:creationId xmlns:a16="http://schemas.microsoft.com/office/drawing/2014/main" id="{FBF6DE03-D44D-4C49-8B38-787AAE68BBBD}"/>
              </a:ext>
            </a:extLst>
          </p:cNvPr>
          <p:cNvSpPr>
            <a:spLocks noChangeArrowheads="1"/>
          </p:cNvSpPr>
          <p:nvPr/>
        </p:nvSpPr>
        <p:spPr bwMode="auto">
          <a:xfrm>
            <a:off x="3522702" y="5494089"/>
            <a:ext cx="4536132"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500" dirty="0">
                <a:solidFill>
                  <a:schemeClr val="tx1"/>
                </a:solidFill>
              </a:rPr>
              <a:t>把已知数据代入得</a:t>
            </a:r>
          </a:p>
        </p:txBody>
      </p:sp>
      <p:graphicFrame>
        <p:nvGraphicFramePr>
          <p:cNvPr id="14" name="对象 13">
            <a:extLst>
              <a:ext uri="{FF2B5EF4-FFF2-40B4-BE49-F238E27FC236}">
                <a16:creationId xmlns:a16="http://schemas.microsoft.com/office/drawing/2014/main" id="{E83A7C97-BCEE-4B11-8905-44F707B343EB}"/>
              </a:ext>
            </a:extLst>
          </p:cNvPr>
          <p:cNvGraphicFramePr>
            <a:graphicFrameLocks noChangeAspect="1"/>
          </p:cNvGraphicFramePr>
          <p:nvPr>
            <p:extLst>
              <p:ext uri="{D42A27DB-BD31-4B8C-83A1-F6EECF244321}">
                <p14:modId xmlns:p14="http://schemas.microsoft.com/office/powerpoint/2010/main" val="1897502189"/>
              </p:ext>
            </p:extLst>
          </p:nvPr>
        </p:nvGraphicFramePr>
        <p:xfrm>
          <a:off x="6196902" y="5863341"/>
          <a:ext cx="2278063" cy="566738"/>
        </p:xfrm>
        <a:graphic>
          <a:graphicData uri="http://schemas.openxmlformats.org/presentationml/2006/ole">
            <mc:AlternateContent xmlns:mc="http://schemas.openxmlformats.org/markup-compatibility/2006">
              <mc:Choice xmlns:v="urn:schemas-microsoft-com:vml" Requires="v">
                <p:oleObj spid="_x0000_s219322" name="公式" r:id="rId11" imgW="812520" imgH="203040" progId="Equation.3">
                  <p:embed/>
                </p:oleObj>
              </mc:Choice>
              <mc:Fallback>
                <p:oleObj name="公式" r:id="rId11" imgW="812520" imgH="203040" progId="Equation.3">
                  <p:embed/>
                  <p:pic>
                    <p:nvPicPr>
                      <p:cNvPr id="7" name="对象 6"/>
                      <p:cNvPicPr>
                        <a:picLocks noChangeAspect="1" noChangeArrowheads="1"/>
                      </p:cNvPicPr>
                      <p:nvPr/>
                    </p:nvPicPr>
                    <p:blipFill>
                      <a:blip r:embed="rId12"/>
                      <a:srcRect/>
                      <a:stretch>
                        <a:fillRect/>
                      </a:stretch>
                    </p:blipFill>
                    <p:spPr bwMode="auto">
                      <a:xfrm>
                        <a:off x="6196902" y="5863341"/>
                        <a:ext cx="2278063" cy="566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对象 14">
            <a:extLst>
              <a:ext uri="{FF2B5EF4-FFF2-40B4-BE49-F238E27FC236}">
                <a16:creationId xmlns:a16="http://schemas.microsoft.com/office/drawing/2014/main" id="{1FC05F6C-A173-434D-A1E3-603DD7445103}"/>
              </a:ext>
            </a:extLst>
          </p:cNvPr>
          <p:cNvGraphicFramePr>
            <a:graphicFrameLocks noChangeAspect="1"/>
          </p:cNvGraphicFramePr>
          <p:nvPr>
            <p:extLst>
              <p:ext uri="{D42A27DB-BD31-4B8C-83A1-F6EECF244321}">
                <p14:modId xmlns:p14="http://schemas.microsoft.com/office/powerpoint/2010/main" val="3269882411"/>
              </p:ext>
            </p:extLst>
          </p:nvPr>
        </p:nvGraphicFramePr>
        <p:xfrm>
          <a:off x="609136" y="5300177"/>
          <a:ext cx="2813050" cy="1452563"/>
        </p:xfrm>
        <a:graphic>
          <a:graphicData uri="http://schemas.openxmlformats.org/presentationml/2006/ole">
            <mc:AlternateContent xmlns:mc="http://schemas.openxmlformats.org/markup-compatibility/2006">
              <mc:Choice xmlns:v="urn:schemas-microsoft-com:vml" Requires="v">
                <p:oleObj spid="_x0000_s219323" name="Equation" r:id="rId13" imgW="1002960" imgH="520560" progId="Equation.DSMT4">
                  <p:embed/>
                </p:oleObj>
              </mc:Choice>
              <mc:Fallback>
                <p:oleObj name="Equation" r:id="rId13" imgW="1002960" imgH="520560" progId="Equation.DSMT4">
                  <p:embed/>
                  <p:pic>
                    <p:nvPicPr>
                      <p:cNvPr id="2" name="对象 1"/>
                      <p:cNvPicPr>
                        <a:picLocks noChangeAspect="1" noChangeArrowheads="1"/>
                      </p:cNvPicPr>
                      <p:nvPr/>
                    </p:nvPicPr>
                    <p:blipFill>
                      <a:blip r:embed="rId14"/>
                      <a:srcRect/>
                      <a:stretch>
                        <a:fillRect/>
                      </a:stretch>
                    </p:blipFill>
                    <p:spPr bwMode="auto">
                      <a:xfrm>
                        <a:off x="609136" y="5300177"/>
                        <a:ext cx="2813050" cy="1452563"/>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2070863376"/>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67272"/>
                                        </p:tgtEl>
                                        <p:attrNameLst>
                                          <p:attrName>style.visibility</p:attrName>
                                        </p:attrNameLst>
                                      </p:cBhvr>
                                      <p:to>
                                        <p:strVal val="visible"/>
                                      </p:to>
                                    </p:set>
                                    <p:animEffect transition="in" filter="wipe(left)">
                                      <p:cBhvr>
                                        <p:cTn id="7" dur="500"/>
                                        <p:tgtEl>
                                          <p:spTgt spid="26727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03404"/>
                                        </p:tgtEl>
                                        <p:attrNameLst>
                                          <p:attrName>style.visibility</p:attrName>
                                        </p:attrNameLst>
                                      </p:cBhvr>
                                      <p:to>
                                        <p:strVal val="visible"/>
                                      </p:to>
                                    </p:set>
                                    <p:animEffect transition="in" filter="wipe(left)">
                                      <p:cBhvr>
                                        <p:cTn id="11" dur="500"/>
                                        <p:tgtEl>
                                          <p:spTgt spid="30340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67273"/>
                                        </p:tgtEl>
                                        <p:attrNameLst>
                                          <p:attrName>style.visibility</p:attrName>
                                        </p:attrNameLst>
                                      </p:cBhvr>
                                      <p:to>
                                        <p:strVal val="visible"/>
                                      </p:to>
                                    </p:set>
                                    <p:animEffect transition="in" filter="wipe(left)">
                                      <p:cBhvr>
                                        <p:cTn id="16" dur="500"/>
                                        <p:tgtEl>
                                          <p:spTgt spid="267273"/>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67299"/>
                                        </p:tgtEl>
                                        <p:attrNameLst>
                                          <p:attrName>style.visibility</p:attrName>
                                        </p:attrNameLst>
                                      </p:cBhvr>
                                      <p:to>
                                        <p:strVal val="visible"/>
                                      </p:to>
                                    </p:set>
                                    <p:animEffect transition="in" filter="wipe(left)">
                                      <p:cBhvr>
                                        <p:cTn id="20" dur="500"/>
                                        <p:tgtEl>
                                          <p:spTgt spid="26729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67270"/>
                                        </p:tgtEl>
                                        <p:attrNameLst>
                                          <p:attrName>style.visibility</p:attrName>
                                        </p:attrNameLst>
                                      </p:cBhvr>
                                      <p:to>
                                        <p:strVal val="visible"/>
                                      </p:to>
                                    </p:set>
                                    <p:animEffect transition="in" filter="wipe(left)">
                                      <p:cBhvr>
                                        <p:cTn id="25" dur="500"/>
                                        <p:tgtEl>
                                          <p:spTgt spid="26727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wipe(left)">
                                      <p:cBhvr>
                                        <p:cTn id="30" dur="500"/>
                                        <p:tgtEl>
                                          <p:spTgt spid="3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left)">
                                      <p:cBhvr>
                                        <p:cTn id="35" dur="500"/>
                                        <p:tgtEl>
                                          <p:spTgt spid="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500"/>
                                        <p:tgtEl>
                                          <p:spTgt spid="11"/>
                                        </p:tgtEl>
                                      </p:cBhvr>
                                    </p:animEffect>
                                  </p:childTnLst>
                                </p:cTn>
                              </p:par>
                            </p:childTnLst>
                          </p:cTn>
                        </p:par>
                        <p:par>
                          <p:cTn id="41" fill="hold">
                            <p:stCondLst>
                              <p:cond delay="500"/>
                            </p:stCondLst>
                            <p:childTnLst>
                              <p:par>
                                <p:cTn id="42" presetID="22" presetClass="entr" presetSubtype="8" fill="hold" nodeType="after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left)">
                                      <p:cBhvr>
                                        <p:cTn id="44" dur="500"/>
                                        <p:tgtEl>
                                          <p:spTgt spid="10"/>
                                        </p:tgtEl>
                                      </p:cBhvr>
                                    </p:animEffect>
                                  </p:childTnLst>
                                </p:cTn>
                              </p:par>
                            </p:childTnLst>
                          </p:cTn>
                        </p:par>
                        <p:par>
                          <p:cTn id="45" fill="hold">
                            <p:stCondLst>
                              <p:cond delay="1000"/>
                            </p:stCondLst>
                            <p:childTnLst>
                              <p:par>
                                <p:cTn id="46" presetID="22" presetClass="entr" presetSubtype="8" fill="hold" nodeType="after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wipe(left)">
                                      <p:cBhvr>
                                        <p:cTn id="48" dur="500"/>
                                        <p:tgtEl>
                                          <p:spTgt spid="1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wipe(left)">
                                      <p:cBhvr>
                                        <p:cTn id="53" dur="500"/>
                                        <p:tgtEl>
                                          <p:spTgt spid="1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wipe(left)">
                                      <p:cBhvr>
                                        <p:cTn id="58" dur="500"/>
                                        <p:tgtEl>
                                          <p:spTgt spid="12"/>
                                        </p:tgtEl>
                                      </p:cBhvr>
                                    </p:animEffect>
                                  </p:childTnLst>
                                </p:cTn>
                              </p:par>
                            </p:childTnLst>
                          </p:cTn>
                        </p:par>
                        <p:par>
                          <p:cTn id="59" fill="hold">
                            <p:stCondLst>
                              <p:cond delay="500"/>
                            </p:stCondLst>
                            <p:childTnLst>
                              <p:par>
                                <p:cTn id="60" presetID="22" presetClass="entr" presetSubtype="8" fill="hold" nodeType="after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wipe(left)">
                                      <p:cBhvr>
                                        <p:cTn id="6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72" grpId="0"/>
      <p:bldP spid="267273" grpId="0"/>
      <p:bldP spid="267299" grpId="0"/>
      <p:bldP spid="38" grpId="0"/>
      <p:bldP spid="11" grpId="0"/>
      <p:bldP spid="12" grpId="0" animBg="1"/>
      <p:bldP spid="1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Picture 5" descr="2665">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6238" y="1412875"/>
            <a:ext cx="6264275" cy="469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1" name="Text Box 2"/>
          <p:cNvSpPr txBox="1">
            <a:spLocks noChangeArrowheads="1"/>
          </p:cNvSpPr>
          <p:nvPr/>
        </p:nvSpPr>
        <p:spPr bwMode="auto">
          <a:xfrm>
            <a:off x="468313" y="0"/>
            <a:ext cx="7848600" cy="1262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4400">
                <a:latin typeface="Tahoma" panose="020B0604030504040204" pitchFamily="34" charset="0"/>
                <a:ea typeface="楷体_GB2312"/>
              </a:rPr>
              <a:t>静电场计算的第二种方法：</a:t>
            </a:r>
          </a:p>
          <a:p>
            <a:pPr eaLnBrk="1" hangingPunct="1">
              <a:spcBef>
                <a:spcPct val="0"/>
              </a:spcBef>
              <a:buFontTx/>
              <a:buNone/>
            </a:pPr>
            <a:r>
              <a:rPr lang="zh-CN" altLang="en-US">
                <a:solidFill>
                  <a:srgbClr val="FF0000"/>
                </a:solidFill>
                <a:latin typeface="Tahoma" panose="020B0604030504040204" pitchFamily="34" charset="0"/>
                <a:ea typeface="楷体_GB2312"/>
              </a:rPr>
              <a:t>      </a:t>
            </a:r>
            <a:r>
              <a:rPr lang="en-US" altLang="zh-CN">
                <a:solidFill>
                  <a:srgbClr val="FF0000"/>
                </a:solidFill>
                <a:latin typeface="Tahoma" panose="020B0604030504040204" pitchFamily="34" charset="0"/>
                <a:ea typeface="楷体_GB2312"/>
              </a:rPr>
              <a:t>7.3   </a:t>
            </a:r>
            <a:r>
              <a:rPr lang="zh-CN" altLang="en-US">
                <a:solidFill>
                  <a:srgbClr val="FF0000"/>
                </a:solidFill>
                <a:latin typeface="Tahoma" panose="020B0604030504040204" pitchFamily="34" charset="0"/>
                <a:ea typeface="楷体_GB2312"/>
              </a:rPr>
              <a:t>高斯定理及其应用</a:t>
            </a:r>
          </a:p>
        </p:txBody>
      </p:sp>
      <p:sp>
        <p:nvSpPr>
          <p:cNvPr id="156675" name="Rectangle 3"/>
          <p:cNvSpPr>
            <a:spLocks noChangeArrowheads="1"/>
          </p:cNvSpPr>
          <p:nvPr/>
        </p:nvSpPr>
        <p:spPr bwMode="auto">
          <a:xfrm>
            <a:off x="34925" y="1412875"/>
            <a:ext cx="4175125" cy="278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700">
                <a:ea typeface="楷体_GB2312"/>
              </a:rPr>
              <a:t>电场线   </a:t>
            </a:r>
          </a:p>
          <a:p>
            <a:pPr eaLnBrk="1" hangingPunct="1">
              <a:buFontTx/>
              <a:buNone/>
            </a:pPr>
            <a:r>
              <a:rPr lang="zh-CN" altLang="en-US" sz="2700">
                <a:ea typeface="楷体_GB2312"/>
              </a:rPr>
              <a:t>电场强度通量</a:t>
            </a:r>
          </a:p>
          <a:p>
            <a:pPr eaLnBrk="1" hangingPunct="1">
              <a:buFontTx/>
              <a:buNone/>
            </a:pPr>
            <a:r>
              <a:rPr lang="zh-CN" altLang="en-US" sz="2700">
                <a:ea typeface="楷体_GB2312"/>
              </a:rPr>
              <a:t>高斯定律</a:t>
            </a:r>
          </a:p>
          <a:p>
            <a:pPr eaLnBrk="1" hangingPunct="1">
              <a:buFontTx/>
              <a:buNone/>
            </a:pPr>
            <a:r>
              <a:rPr lang="zh-CN" altLang="en-US" sz="2700">
                <a:ea typeface="楷体_GB2312"/>
              </a:rPr>
              <a:t>高斯定律应用举例</a:t>
            </a:r>
          </a:p>
          <a:p>
            <a:pPr eaLnBrk="1" hangingPunct="1">
              <a:buFontTx/>
              <a:buNone/>
            </a:pPr>
            <a:endParaRPr lang="en-US" altLang="zh-CN" sz="2700">
              <a:ea typeface="楷体_GB2312"/>
            </a:endParaRPr>
          </a:p>
        </p:txBody>
      </p:sp>
      <p:grpSp>
        <p:nvGrpSpPr>
          <p:cNvPr id="156678" name="Group 6"/>
          <p:cNvGrpSpPr>
            <a:grpSpLocks/>
          </p:cNvGrpSpPr>
          <p:nvPr/>
        </p:nvGrpSpPr>
        <p:grpSpPr bwMode="auto">
          <a:xfrm>
            <a:off x="250825" y="3856038"/>
            <a:ext cx="2682875" cy="2236787"/>
            <a:chOff x="-1" y="792"/>
            <a:chExt cx="20002" cy="18132"/>
          </a:xfrm>
        </p:grpSpPr>
        <p:grpSp>
          <p:nvGrpSpPr>
            <p:cNvPr id="73734" name="Group 7"/>
            <p:cNvGrpSpPr>
              <a:grpSpLocks/>
            </p:cNvGrpSpPr>
            <p:nvPr/>
          </p:nvGrpSpPr>
          <p:grpSpPr bwMode="auto">
            <a:xfrm>
              <a:off x="-1" y="1038"/>
              <a:ext cx="20002" cy="17886"/>
              <a:chOff x="-1" y="880"/>
              <a:chExt cx="20002" cy="17886"/>
            </a:xfrm>
          </p:grpSpPr>
          <p:sp>
            <p:nvSpPr>
              <p:cNvPr id="73736" name="Line 8"/>
              <p:cNvSpPr>
                <a:spLocks noChangeShapeType="1"/>
              </p:cNvSpPr>
              <p:nvPr/>
            </p:nvSpPr>
            <p:spPr bwMode="auto">
              <a:xfrm>
                <a:off x="11815" y="8320"/>
                <a:ext cx="1369" cy="6"/>
              </a:xfrm>
              <a:prstGeom prst="line">
                <a:avLst/>
              </a:prstGeom>
              <a:noFill/>
              <a:ln w="9525">
                <a:solidFill>
                  <a:srgbClr val="0000FF"/>
                </a:solidFill>
                <a:round/>
                <a:headEnd type="non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73737" name="Group 9"/>
              <p:cNvGrpSpPr>
                <a:grpSpLocks/>
              </p:cNvGrpSpPr>
              <p:nvPr/>
            </p:nvGrpSpPr>
            <p:grpSpPr bwMode="auto">
              <a:xfrm>
                <a:off x="-1" y="880"/>
                <a:ext cx="20002" cy="17886"/>
                <a:chOff x="-2" y="299"/>
                <a:chExt cx="20002" cy="17886"/>
              </a:xfrm>
            </p:grpSpPr>
            <p:grpSp>
              <p:nvGrpSpPr>
                <p:cNvPr id="73738" name="Group 10"/>
                <p:cNvGrpSpPr>
                  <a:grpSpLocks/>
                </p:cNvGrpSpPr>
                <p:nvPr/>
              </p:nvGrpSpPr>
              <p:grpSpPr bwMode="auto">
                <a:xfrm>
                  <a:off x="-2" y="299"/>
                  <a:ext cx="20002" cy="17886"/>
                  <a:chOff x="-2" y="299"/>
                  <a:chExt cx="20002" cy="17886"/>
                </a:xfrm>
              </p:grpSpPr>
              <p:sp>
                <p:nvSpPr>
                  <p:cNvPr id="73740" name="Line 11"/>
                  <p:cNvSpPr>
                    <a:spLocks noChangeShapeType="1"/>
                  </p:cNvSpPr>
                  <p:nvPr/>
                </p:nvSpPr>
                <p:spPr bwMode="auto">
                  <a:xfrm>
                    <a:off x="17040" y="2825"/>
                    <a:ext cx="1824" cy="6"/>
                  </a:xfrm>
                  <a:prstGeom prst="line">
                    <a:avLst/>
                  </a:prstGeom>
                  <a:noFill/>
                  <a:ln w="9525">
                    <a:solidFill>
                      <a:srgbClr val="800080"/>
                    </a:solidFill>
                    <a:round/>
                    <a:headEnd type="non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73741" name="Group 12"/>
                  <p:cNvGrpSpPr>
                    <a:grpSpLocks/>
                  </p:cNvGrpSpPr>
                  <p:nvPr/>
                </p:nvGrpSpPr>
                <p:grpSpPr bwMode="auto">
                  <a:xfrm>
                    <a:off x="-2" y="299"/>
                    <a:ext cx="20002" cy="17886"/>
                    <a:chOff x="0" y="0"/>
                    <a:chExt cx="20000" cy="20000"/>
                  </a:xfrm>
                </p:grpSpPr>
                <p:grpSp>
                  <p:nvGrpSpPr>
                    <p:cNvPr id="73742" name="Group 13"/>
                    <p:cNvGrpSpPr>
                      <a:grpSpLocks/>
                    </p:cNvGrpSpPr>
                    <p:nvPr/>
                  </p:nvGrpSpPr>
                  <p:grpSpPr bwMode="auto">
                    <a:xfrm>
                      <a:off x="0" y="0"/>
                      <a:ext cx="17955" cy="20000"/>
                      <a:chOff x="0" y="0"/>
                      <a:chExt cx="19999" cy="20000"/>
                    </a:xfrm>
                  </p:grpSpPr>
                  <p:grpSp>
                    <p:nvGrpSpPr>
                      <p:cNvPr id="73744" name="Group 14"/>
                      <p:cNvGrpSpPr>
                        <a:grpSpLocks/>
                      </p:cNvGrpSpPr>
                      <p:nvPr/>
                    </p:nvGrpSpPr>
                    <p:grpSpPr bwMode="auto">
                      <a:xfrm>
                        <a:off x="0" y="0"/>
                        <a:ext cx="19872" cy="20000"/>
                        <a:chOff x="0" y="0"/>
                        <a:chExt cx="19999" cy="20000"/>
                      </a:xfrm>
                    </p:grpSpPr>
                    <p:grpSp>
                      <p:nvGrpSpPr>
                        <p:cNvPr id="73746" name="Group 15"/>
                        <p:cNvGrpSpPr>
                          <a:grpSpLocks/>
                        </p:cNvGrpSpPr>
                        <p:nvPr/>
                      </p:nvGrpSpPr>
                      <p:grpSpPr bwMode="auto">
                        <a:xfrm>
                          <a:off x="0" y="0"/>
                          <a:ext cx="19999" cy="20000"/>
                          <a:chOff x="0" y="0"/>
                          <a:chExt cx="19999" cy="20000"/>
                        </a:xfrm>
                      </p:grpSpPr>
                      <p:grpSp>
                        <p:nvGrpSpPr>
                          <p:cNvPr id="73748" name="Group 16"/>
                          <p:cNvGrpSpPr>
                            <a:grpSpLocks/>
                          </p:cNvGrpSpPr>
                          <p:nvPr/>
                        </p:nvGrpSpPr>
                        <p:grpSpPr bwMode="auto">
                          <a:xfrm>
                            <a:off x="0" y="0"/>
                            <a:ext cx="19999" cy="20000"/>
                            <a:chOff x="0" y="0"/>
                            <a:chExt cx="19999" cy="20000"/>
                          </a:xfrm>
                        </p:grpSpPr>
                        <p:sp>
                          <p:nvSpPr>
                            <p:cNvPr id="73750" name="Oval 17"/>
                            <p:cNvSpPr>
                              <a:spLocks noChangeArrowheads="1"/>
                            </p:cNvSpPr>
                            <p:nvPr/>
                          </p:nvSpPr>
                          <p:spPr bwMode="auto">
                            <a:xfrm>
                              <a:off x="2675" y="2684"/>
                              <a:ext cx="14395" cy="15169"/>
                            </a:xfrm>
                            <a:prstGeom prst="ellipse">
                              <a:avLst/>
                            </a:prstGeom>
                            <a:noFill/>
                            <a:ln w="25400">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73751" name="Line 18"/>
                            <p:cNvSpPr>
                              <a:spLocks noChangeShapeType="1"/>
                            </p:cNvSpPr>
                            <p:nvPr/>
                          </p:nvSpPr>
                          <p:spPr bwMode="auto">
                            <a:xfrm flipV="1">
                              <a:off x="0" y="10332"/>
                              <a:ext cx="19999" cy="141"/>
                            </a:xfrm>
                            <a:prstGeom prst="line">
                              <a:avLst/>
                            </a:prstGeom>
                            <a:noFill/>
                            <a:ln w="9525">
                              <a:solidFill>
                                <a:srgbClr val="800080"/>
                              </a:solidFill>
                              <a:round/>
                              <a:headEnd type="triangl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752" name="Line 19"/>
                            <p:cNvSpPr>
                              <a:spLocks noChangeShapeType="1"/>
                            </p:cNvSpPr>
                            <p:nvPr/>
                          </p:nvSpPr>
                          <p:spPr bwMode="auto">
                            <a:xfrm>
                              <a:off x="9933" y="0"/>
                              <a:ext cx="6" cy="20000"/>
                            </a:xfrm>
                            <a:prstGeom prst="line">
                              <a:avLst/>
                            </a:prstGeom>
                            <a:noFill/>
                            <a:ln w="9525">
                              <a:solidFill>
                                <a:srgbClr val="800080"/>
                              </a:solidFill>
                              <a:round/>
                              <a:headEnd type="triangl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753" name="Line 20"/>
                            <p:cNvSpPr>
                              <a:spLocks noChangeShapeType="1"/>
                            </p:cNvSpPr>
                            <p:nvPr/>
                          </p:nvSpPr>
                          <p:spPr bwMode="auto">
                            <a:xfrm flipV="1">
                              <a:off x="3056" y="2684"/>
                              <a:ext cx="13632" cy="15706"/>
                            </a:xfrm>
                            <a:prstGeom prst="line">
                              <a:avLst/>
                            </a:prstGeom>
                            <a:noFill/>
                            <a:ln w="9525">
                              <a:solidFill>
                                <a:srgbClr val="800080"/>
                              </a:solidFill>
                              <a:round/>
                              <a:headEnd type="triangl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754" name="Line 21"/>
                            <p:cNvSpPr>
                              <a:spLocks noChangeShapeType="1"/>
                            </p:cNvSpPr>
                            <p:nvPr/>
                          </p:nvSpPr>
                          <p:spPr bwMode="auto">
                            <a:xfrm>
                              <a:off x="2165" y="3757"/>
                              <a:ext cx="15287" cy="13291"/>
                            </a:xfrm>
                            <a:prstGeom prst="line">
                              <a:avLst/>
                            </a:prstGeom>
                            <a:noFill/>
                            <a:ln w="9525">
                              <a:solidFill>
                                <a:srgbClr val="800080"/>
                              </a:solidFill>
                              <a:round/>
                              <a:headEnd type="triangl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755" name="Line 22"/>
                            <p:cNvSpPr>
                              <a:spLocks noChangeShapeType="1"/>
                            </p:cNvSpPr>
                            <p:nvPr/>
                          </p:nvSpPr>
                          <p:spPr bwMode="auto">
                            <a:xfrm flipV="1">
                              <a:off x="9678" y="6575"/>
                              <a:ext cx="6246" cy="3898"/>
                            </a:xfrm>
                            <a:prstGeom prst="line">
                              <a:avLst/>
                            </a:prstGeom>
                            <a:noFill/>
                            <a:ln w="25400">
                              <a:solidFill>
                                <a:srgbClr val="0000FF"/>
                              </a:solidFill>
                              <a:round/>
                              <a:headEnd type="non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756" name="Line 23"/>
                            <p:cNvSpPr>
                              <a:spLocks noChangeShapeType="1"/>
                            </p:cNvSpPr>
                            <p:nvPr/>
                          </p:nvSpPr>
                          <p:spPr bwMode="auto">
                            <a:xfrm flipV="1">
                              <a:off x="16172" y="4965"/>
                              <a:ext cx="2299" cy="1483"/>
                            </a:xfrm>
                            <a:prstGeom prst="line">
                              <a:avLst/>
                            </a:prstGeom>
                            <a:noFill/>
                            <a:ln w="25400">
                              <a:solidFill>
                                <a:srgbClr val="800080"/>
                              </a:solidFill>
                              <a:round/>
                              <a:headEnd type="non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757" name="Line 24"/>
                            <p:cNvSpPr>
                              <a:spLocks noChangeShapeType="1"/>
                            </p:cNvSpPr>
                            <p:nvPr/>
                          </p:nvSpPr>
                          <p:spPr bwMode="auto">
                            <a:xfrm>
                              <a:off x="15536" y="5636"/>
                              <a:ext cx="1025" cy="2019"/>
                            </a:xfrm>
                            <a:prstGeom prst="line">
                              <a:avLst/>
                            </a:prstGeom>
                            <a:noFill/>
                            <a:ln w="25400">
                              <a:solidFill>
                                <a:srgbClr val="FF00FF"/>
                              </a:solidFill>
                              <a:round/>
                              <a:headEnd type="none" w="med" len="sm"/>
                              <a:tailEnd type="non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73749" name="AutoShape 25"/>
                          <p:cNvSpPr>
                            <a:spLocks noChangeArrowheads="1"/>
                          </p:cNvSpPr>
                          <p:nvPr/>
                        </p:nvSpPr>
                        <p:spPr bwMode="auto">
                          <a:xfrm>
                            <a:off x="9168" y="8071"/>
                            <a:ext cx="3318" cy="3898"/>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a:solidFill>
                                  <a:srgbClr val="FF0000"/>
                                </a:solidFill>
                                <a:ea typeface="楷体_GB2312"/>
                                <a:sym typeface="Symbol" panose="05050102010706020507" pitchFamily="18" charset="2"/>
                              </a:rPr>
                              <a:t></a:t>
                            </a:r>
                            <a:endParaRPr lang="en-US" altLang="zh-CN" sz="1000" b="0">
                              <a:ea typeface="楷体_GB2312"/>
                            </a:endParaRPr>
                          </a:p>
                        </p:txBody>
                      </p:sp>
                    </p:grpSp>
                    <p:sp>
                      <p:nvSpPr>
                        <p:cNvPr id="73747" name="AutoShape 26"/>
                        <p:cNvSpPr>
                          <a:spLocks noChangeArrowheads="1"/>
                        </p:cNvSpPr>
                        <p:nvPr/>
                      </p:nvSpPr>
                      <p:spPr bwMode="auto">
                        <a:xfrm>
                          <a:off x="8023" y="5649"/>
                          <a:ext cx="2936" cy="4294"/>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i="1">
                              <a:solidFill>
                                <a:srgbClr val="FF0000"/>
                              </a:solidFill>
                              <a:ea typeface="楷体_GB2312"/>
                            </a:rPr>
                            <a:t>q</a:t>
                          </a:r>
                          <a:endParaRPr lang="en-US" altLang="zh-CN" sz="1000" b="0">
                            <a:ea typeface="楷体_GB2312"/>
                          </a:endParaRPr>
                        </a:p>
                      </p:txBody>
                    </p:sp>
                  </p:grpSp>
                  <p:sp>
                    <p:nvSpPr>
                      <p:cNvPr id="73745" name="AutoShape 27"/>
                      <p:cNvSpPr>
                        <a:spLocks noChangeArrowheads="1"/>
                      </p:cNvSpPr>
                      <p:nvPr/>
                    </p:nvSpPr>
                    <p:spPr bwMode="auto">
                      <a:xfrm>
                        <a:off x="16956" y="5777"/>
                        <a:ext cx="3043" cy="2556"/>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1600">
                            <a:solidFill>
                              <a:srgbClr val="FF00FF"/>
                            </a:solidFill>
                            <a:ea typeface="楷体_GB2312"/>
                          </a:rPr>
                          <a:t>d</a:t>
                        </a:r>
                        <a:r>
                          <a:rPr lang="en-US" altLang="zh-CN" sz="1600" i="1">
                            <a:solidFill>
                              <a:srgbClr val="FF00FF"/>
                            </a:solidFill>
                            <a:ea typeface="楷体_GB2312"/>
                          </a:rPr>
                          <a:t>S</a:t>
                        </a:r>
                        <a:endParaRPr lang="en-US" altLang="zh-CN" sz="1600">
                          <a:solidFill>
                            <a:srgbClr val="FF00FF"/>
                          </a:solidFill>
                          <a:ea typeface="楷体_GB2312"/>
                        </a:endParaRPr>
                      </a:p>
                      <a:p>
                        <a:pPr algn="just" eaLnBrk="1" hangingPunct="1">
                          <a:spcBef>
                            <a:spcPct val="0"/>
                          </a:spcBef>
                          <a:buFontTx/>
                          <a:buNone/>
                        </a:pPr>
                        <a:endParaRPr lang="en-US" altLang="zh-CN" sz="1000" b="0">
                          <a:ea typeface="楷体_GB2312"/>
                        </a:endParaRPr>
                      </a:p>
                    </p:txBody>
                  </p:sp>
                </p:grpSp>
                <p:sp>
                  <p:nvSpPr>
                    <p:cNvPr id="73743" name="AutoShape 28"/>
                    <p:cNvSpPr>
                      <a:spLocks noChangeArrowheads="1"/>
                    </p:cNvSpPr>
                    <p:nvPr/>
                  </p:nvSpPr>
                  <p:spPr bwMode="auto">
                    <a:xfrm>
                      <a:off x="17040" y="2556"/>
                      <a:ext cx="2960" cy="3630"/>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i="1">
                          <a:solidFill>
                            <a:srgbClr val="800080"/>
                          </a:solidFill>
                          <a:ea typeface="楷体_GB2312"/>
                        </a:rPr>
                        <a:t>E</a:t>
                      </a:r>
                      <a:endParaRPr lang="en-US" altLang="zh-CN" sz="2200">
                        <a:solidFill>
                          <a:srgbClr val="800080"/>
                        </a:solidFill>
                        <a:ea typeface="楷体_GB2312"/>
                      </a:endParaRPr>
                    </a:p>
                    <a:p>
                      <a:pPr algn="just" eaLnBrk="1" hangingPunct="1">
                        <a:spcBef>
                          <a:spcPct val="0"/>
                        </a:spcBef>
                        <a:buFontTx/>
                        <a:buNone/>
                      </a:pPr>
                      <a:endParaRPr lang="en-US" altLang="zh-CN" sz="1000" b="0">
                        <a:ea typeface="楷体_GB2312"/>
                      </a:endParaRPr>
                    </a:p>
                  </p:txBody>
                </p:sp>
              </p:grpSp>
            </p:grpSp>
            <p:sp>
              <p:nvSpPr>
                <p:cNvPr id="73739" name="AutoShape 29"/>
                <p:cNvSpPr>
                  <a:spLocks noChangeArrowheads="1"/>
                </p:cNvSpPr>
                <p:nvPr/>
              </p:nvSpPr>
              <p:spPr bwMode="auto">
                <a:xfrm>
                  <a:off x="11928" y="6899"/>
                  <a:ext cx="2050" cy="2766"/>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i="1">
                      <a:solidFill>
                        <a:srgbClr val="0000FF"/>
                      </a:solidFill>
                      <a:ea typeface="楷体_GB2312"/>
                    </a:rPr>
                    <a:t>r</a:t>
                  </a:r>
                  <a:endParaRPr lang="en-US" altLang="zh-CN" sz="1000" b="0">
                    <a:ea typeface="楷体_GB2312"/>
                  </a:endParaRPr>
                </a:p>
              </p:txBody>
            </p:sp>
          </p:grpSp>
        </p:grpSp>
        <p:sp>
          <p:nvSpPr>
            <p:cNvPr id="73735" name="AutoShape 30"/>
            <p:cNvSpPr>
              <a:spLocks noChangeArrowheads="1"/>
            </p:cNvSpPr>
            <p:nvPr/>
          </p:nvSpPr>
          <p:spPr bwMode="auto">
            <a:xfrm>
              <a:off x="5680" y="792"/>
              <a:ext cx="3641" cy="2886"/>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i="1">
                  <a:solidFill>
                    <a:srgbClr val="0000FF"/>
                  </a:solidFill>
                  <a:ea typeface="楷体_GB2312"/>
                </a:rPr>
                <a:t>S</a:t>
              </a:r>
              <a:endParaRPr lang="en-US" altLang="zh-CN" sz="1000" b="0">
                <a:ea typeface="楷体_GB2312"/>
              </a:endParaRPr>
            </a:p>
          </p:txBody>
        </p:sp>
      </p:grpSp>
    </p:spTree>
    <p:extLst>
      <p:ext uri="{BB962C8B-B14F-4D97-AF65-F5344CB8AC3E}">
        <p14:creationId xmlns:p14="http://schemas.microsoft.com/office/powerpoint/2010/main" val="1265729635"/>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6675">
                                            <p:txEl>
                                              <p:pRg st="0" end="0"/>
                                            </p:txEl>
                                          </p:spTgt>
                                        </p:tgtEl>
                                        <p:attrNameLst>
                                          <p:attrName>style.visibility</p:attrName>
                                        </p:attrNameLst>
                                      </p:cBhvr>
                                      <p:to>
                                        <p:strVal val="visible"/>
                                      </p:to>
                                    </p:set>
                                    <p:animEffect transition="in" filter="wipe(left)">
                                      <p:cBhvr>
                                        <p:cTn id="7" dur="500"/>
                                        <p:tgtEl>
                                          <p:spTgt spid="1566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6675">
                                            <p:txEl>
                                              <p:pRg st="1" end="1"/>
                                            </p:txEl>
                                          </p:spTgt>
                                        </p:tgtEl>
                                        <p:attrNameLst>
                                          <p:attrName>style.visibility</p:attrName>
                                        </p:attrNameLst>
                                      </p:cBhvr>
                                      <p:to>
                                        <p:strVal val="visible"/>
                                      </p:to>
                                    </p:set>
                                    <p:animEffect transition="in" filter="wipe(left)">
                                      <p:cBhvr>
                                        <p:cTn id="12" dur="500"/>
                                        <p:tgtEl>
                                          <p:spTgt spid="1566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6675">
                                            <p:txEl>
                                              <p:pRg st="2" end="2"/>
                                            </p:txEl>
                                          </p:spTgt>
                                        </p:tgtEl>
                                        <p:attrNameLst>
                                          <p:attrName>style.visibility</p:attrName>
                                        </p:attrNameLst>
                                      </p:cBhvr>
                                      <p:to>
                                        <p:strVal val="visible"/>
                                      </p:to>
                                    </p:set>
                                    <p:animEffect transition="in" filter="wipe(left)">
                                      <p:cBhvr>
                                        <p:cTn id="17" dur="500"/>
                                        <p:tgtEl>
                                          <p:spTgt spid="15667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6675">
                                            <p:txEl>
                                              <p:pRg st="3" end="3"/>
                                            </p:txEl>
                                          </p:spTgt>
                                        </p:tgtEl>
                                        <p:attrNameLst>
                                          <p:attrName>style.visibility</p:attrName>
                                        </p:attrNameLst>
                                      </p:cBhvr>
                                      <p:to>
                                        <p:strVal val="visible"/>
                                      </p:to>
                                    </p:set>
                                    <p:animEffect transition="in" filter="wipe(left)">
                                      <p:cBhvr>
                                        <p:cTn id="22" dur="500"/>
                                        <p:tgtEl>
                                          <p:spTgt spid="15667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2" fill="hold" nodeType="clickEffect">
                                  <p:stCondLst>
                                    <p:cond delay="0"/>
                                  </p:stCondLst>
                                  <p:childTnLst>
                                    <p:set>
                                      <p:cBhvr>
                                        <p:cTn id="26" dur="1" fill="hold">
                                          <p:stCondLst>
                                            <p:cond delay="0"/>
                                          </p:stCondLst>
                                        </p:cTn>
                                        <p:tgtEl>
                                          <p:spTgt spid="156678"/>
                                        </p:tgtEl>
                                        <p:attrNameLst>
                                          <p:attrName>style.visibility</p:attrName>
                                        </p:attrNameLst>
                                      </p:cBhvr>
                                      <p:to>
                                        <p:strVal val="visible"/>
                                      </p:to>
                                    </p:set>
                                    <p:anim calcmode="lin" valueType="num">
                                      <p:cBhvr additive="base">
                                        <p:cTn id="27" dur="500" fill="hold"/>
                                        <p:tgtEl>
                                          <p:spTgt spid="156678"/>
                                        </p:tgtEl>
                                        <p:attrNameLst>
                                          <p:attrName>ppt_x</p:attrName>
                                        </p:attrNameLst>
                                      </p:cBhvr>
                                      <p:tavLst>
                                        <p:tav tm="0">
                                          <p:val>
                                            <p:strVal val="1+#ppt_w/2"/>
                                          </p:val>
                                        </p:tav>
                                        <p:tav tm="100000">
                                          <p:val>
                                            <p:strVal val="#ppt_x"/>
                                          </p:val>
                                        </p:tav>
                                      </p:tavLst>
                                    </p:anim>
                                    <p:anim calcmode="lin" valueType="num">
                                      <p:cBhvr additive="base">
                                        <p:cTn id="28" dur="500" fill="hold"/>
                                        <p:tgtEl>
                                          <p:spTgt spid="1566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build="p" bldLvl="2"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Text Box 2"/>
          <p:cNvSpPr txBox="1">
            <a:spLocks noChangeArrowheads="1"/>
          </p:cNvSpPr>
          <p:nvPr/>
        </p:nvSpPr>
        <p:spPr bwMode="auto">
          <a:xfrm>
            <a:off x="539750" y="0"/>
            <a:ext cx="8604250"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ea typeface="楷体_GB2312"/>
                <a:sym typeface="Colonna MT" panose="04020805060202030203" pitchFamily="82" charset="0"/>
              </a:rPr>
              <a:t> </a:t>
            </a:r>
            <a:r>
              <a:rPr lang="zh-CN" altLang="en-US" sz="3600">
                <a:solidFill>
                  <a:srgbClr val="FF3300"/>
                </a:solidFill>
                <a:ea typeface="楷体_GB2312"/>
                <a:sym typeface="Colonna MT" panose="04020805060202030203" pitchFamily="82" charset="0"/>
              </a:rPr>
              <a:t>七、</a:t>
            </a:r>
            <a:r>
              <a:rPr lang="en-US" altLang="zh-CN" sz="3600">
                <a:solidFill>
                  <a:srgbClr val="FF3300"/>
                </a:solidFill>
                <a:ea typeface="楷体_GB2312"/>
              </a:rPr>
              <a:t>  </a:t>
            </a:r>
            <a:r>
              <a:rPr lang="zh-CN" altLang="en-US" sz="3600">
                <a:solidFill>
                  <a:srgbClr val="FF3300"/>
                </a:solidFill>
                <a:ea typeface="楷体_GB2312"/>
              </a:rPr>
              <a:t>电场线</a:t>
            </a:r>
            <a:r>
              <a:rPr lang="zh-CN" altLang="en-US" sz="3600">
                <a:ea typeface="楷体_GB2312"/>
              </a:rPr>
              <a:t>  电场强度通量</a:t>
            </a:r>
            <a:endParaRPr lang="zh-CN" altLang="en-US" sz="2800" b="0">
              <a:ea typeface="楷体_GB2312"/>
            </a:endParaRPr>
          </a:p>
        </p:txBody>
      </p:sp>
      <p:sp>
        <p:nvSpPr>
          <p:cNvPr id="157699" name="Text Box 3"/>
          <p:cNvSpPr txBox="1">
            <a:spLocks noChangeArrowheads="1"/>
          </p:cNvSpPr>
          <p:nvPr/>
        </p:nvSpPr>
        <p:spPr bwMode="auto">
          <a:xfrm>
            <a:off x="76200" y="1385888"/>
            <a:ext cx="18446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zh-CN" sz="2800">
                <a:solidFill>
                  <a:srgbClr val="3333FF"/>
                </a:solidFill>
                <a:ea typeface="楷体_GB2312"/>
              </a:rPr>
              <a:t>1、</a:t>
            </a:r>
            <a:r>
              <a:rPr lang="zh-CN" altLang="en-US" sz="2800">
                <a:solidFill>
                  <a:srgbClr val="3333FF"/>
                </a:solidFill>
                <a:ea typeface="楷体_GB2312"/>
              </a:rPr>
              <a:t>定义</a:t>
            </a:r>
            <a:endParaRPr lang="zh-CN" altLang="en-US" sz="2800">
              <a:ea typeface="楷体_GB2312"/>
            </a:endParaRPr>
          </a:p>
        </p:txBody>
      </p:sp>
      <p:sp>
        <p:nvSpPr>
          <p:cNvPr id="157700" name="Text Box 4"/>
          <p:cNvSpPr txBox="1">
            <a:spLocks noChangeArrowheads="1"/>
          </p:cNvSpPr>
          <p:nvPr/>
        </p:nvSpPr>
        <p:spPr bwMode="auto">
          <a:xfrm>
            <a:off x="76200" y="868363"/>
            <a:ext cx="3087688" cy="579437"/>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a:solidFill>
                  <a:schemeClr val="folHlink"/>
                </a:solidFill>
                <a:latin typeface="Arial" panose="020B0604020202020204" pitchFamily="34" charset="0"/>
                <a:ea typeface="楷体_GB2312"/>
              </a:rPr>
              <a:t>一、电场线</a:t>
            </a:r>
          </a:p>
        </p:txBody>
      </p:sp>
      <p:sp>
        <p:nvSpPr>
          <p:cNvPr id="157701" name="Text Box 5"/>
          <p:cNvSpPr txBox="1">
            <a:spLocks noChangeArrowheads="1"/>
          </p:cNvSpPr>
          <p:nvPr/>
        </p:nvSpPr>
        <p:spPr bwMode="auto">
          <a:xfrm>
            <a:off x="1505149" y="1396599"/>
            <a:ext cx="74993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zh-CN" altLang="en-US" sz="2400">
                <a:ea typeface="楷体_GB2312"/>
              </a:rPr>
              <a:t>电场线上每一点的场强的方向与该点切线方向相同，而且电场线箭头的指向表示场强的方向。</a:t>
            </a:r>
          </a:p>
        </p:txBody>
      </p:sp>
      <p:sp>
        <p:nvSpPr>
          <p:cNvPr id="157702" name="Text Box 6"/>
          <p:cNvSpPr txBox="1">
            <a:spLocks noChangeArrowheads="1"/>
          </p:cNvSpPr>
          <p:nvPr/>
        </p:nvSpPr>
        <p:spPr bwMode="auto">
          <a:xfrm>
            <a:off x="127079" y="3797839"/>
            <a:ext cx="45354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3333FF"/>
                </a:solidFill>
                <a:ea typeface="楷体_GB2312"/>
              </a:rPr>
              <a:t>2</a:t>
            </a:r>
            <a:r>
              <a:rPr lang="zh-CN" altLang="en-US" sz="2800">
                <a:solidFill>
                  <a:srgbClr val="3333FF"/>
                </a:solidFill>
                <a:ea typeface="楷体_GB2312"/>
              </a:rPr>
              <a:t>、几种典型的电场线分布</a:t>
            </a:r>
            <a:endParaRPr lang="zh-CN" altLang="en-US" sz="2400" b="0">
              <a:ea typeface="楷体_GB2312"/>
            </a:endParaRPr>
          </a:p>
        </p:txBody>
      </p:sp>
      <p:pic>
        <p:nvPicPr>
          <p:cNvPr id="157703" name="Picture 7" descr="image0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314" y="2118318"/>
            <a:ext cx="338455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7704" name="Group 8"/>
          <p:cNvGrpSpPr>
            <a:grpSpLocks/>
          </p:cNvGrpSpPr>
          <p:nvPr/>
        </p:nvGrpSpPr>
        <p:grpSpPr bwMode="auto">
          <a:xfrm>
            <a:off x="2339752" y="4005263"/>
            <a:ext cx="2179638" cy="2376487"/>
            <a:chOff x="576" y="1200"/>
            <a:chExt cx="2256" cy="2571"/>
          </a:xfrm>
        </p:grpSpPr>
        <p:sp>
          <p:nvSpPr>
            <p:cNvPr id="65577" name="Rectangle 9"/>
            <p:cNvSpPr>
              <a:spLocks noChangeArrowheads="1"/>
            </p:cNvSpPr>
            <p:nvPr/>
          </p:nvSpPr>
          <p:spPr bwMode="auto">
            <a:xfrm>
              <a:off x="1079" y="1200"/>
              <a:ext cx="982"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157706" name="Rectangle 10"/>
            <p:cNvSpPr>
              <a:spLocks noChangeArrowheads="1"/>
            </p:cNvSpPr>
            <p:nvPr/>
          </p:nvSpPr>
          <p:spPr bwMode="auto">
            <a:xfrm>
              <a:off x="919" y="1277"/>
              <a:ext cx="1913" cy="462"/>
            </a:xfrm>
            <a:prstGeom prst="rect">
              <a:avLst/>
            </a:prstGeom>
            <a:noFill/>
            <a:ln>
              <a:noFill/>
            </a:ln>
            <a:extLst>
              <a:ext uri="{909E8E84-426E-40DD-AFC4-6F175D3DCCD1}">
                <a14:hiddenFill xmlns:a14="http://schemas.microsoft.com/office/drawing/2010/main">
                  <a:solidFill>
                    <a:srgbClr val="FFE7FF"/>
                  </a:solidFill>
                </a14:hiddenFill>
              </a:ext>
              <a:ext uri="{91240B29-F687-4F45-9708-019B960494DF}">
                <a14:hiddenLine xmlns:a14="http://schemas.microsoft.com/office/drawing/2010/main" w="9525">
                  <a:solidFill>
                    <a:srgbClr val="FF0000"/>
                  </a:solidFill>
                  <a:miter lim="800000"/>
                  <a:headEnd/>
                  <a:tailEnd/>
                </a14:hiddenLine>
              </a:ext>
            </a:extLst>
          </p:spPr>
          <p:txBody>
            <a:bodyPr lIns="0" tIns="0" rIns="0" bIns="0">
              <a:spAutoFit/>
            </a:bodyPr>
            <a:lstStyle/>
            <a:p>
              <a:pPr eaLnBrk="1" hangingPunct="1">
                <a:defRPr/>
              </a:pPr>
              <a:endParaRPr lang="zh-CN" altLang="zh-CN" sz="2800">
                <a:solidFill>
                  <a:srgbClr val="FF0000"/>
                </a:solidFill>
                <a:effectLst>
                  <a:outerShdw blurRad="38100" dist="38100" dir="2700000" algn="tl">
                    <a:srgbClr val="C0C0C0"/>
                  </a:outerShdw>
                </a:effectLst>
                <a:latin typeface="宋体" charset="-122"/>
                <a:ea typeface="宋体" charset="-122"/>
                <a:cs typeface="+mn-cs"/>
              </a:endParaRPr>
            </a:p>
          </p:txBody>
        </p:sp>
        <p:grpSp>
          <p:nvGrpSpPr>
            <p:cNvPr id="65579" name="Group 11"/>
            <p:cNvGrpSpPr>
              <a:grpSpLocks/>
            </p:cNvGrpSpPr>
            <p:nvPr/>
          </p:nvGrpSpPr>
          <p:grpSpPr bwMode="auto">
            <a:xfrm>
              <a:off x="576" y="1611"/>
              <a:ext cx="2103" cy="2160"/>
              <a:chOff x="3264" y="1872"/>
              <a:chExt cx="2103" cy="2160"/>
            </a:xfrm>
          </p:grpSpPr>
          <p:sp>
            <p:nvSpPr>
              <p:cNvPr id="65583" name="Line 12"/>
              <p:cNvSpPr>
                <a:spLocks noChangeShapeType="1"/>
              </p:cNvSpPr>
              <p:nvPr/>
            </p:nvSpPr>
            <p:spPr bwMode="auto">
              <a:xfrm flipH="1">
                <a:off x="3321" y="2993"/>
                <a:ext cx="1989" cy="1"/>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84" name="Freeform 13"/>
              <p:cNvSpPr>
                <a:spLocks/>
              </p:cNvSpPr>
              <p:nvPr/>
            </p:nvSpPr>
            <p:spPr bwMode="auto">
              <a:xfrm>
                <a:off x="5282" y="2964"/>
                <a:ext cx="85" cy="59"/>
              </a:xfrm>
              <a:custGeom>
                <a:avLst/>
                <a:gdLst>
                  <a:gd name="T0" fmla="*/ 0 w 99"/>
                  <a:gd name="T1" fmla="*/ 4 h 67"/>
                  <a:gd name="T2" fmla="*/ 3 w 99"/>
                  <a:gd name="T3" fmla="*/ 4 h 67"/>
                  <a:gd name="T4" fmla="*/ 0 w 99"/>
                  <a:gd name="T5" fmla="*/ 0 h 67"/>
                  <a:gd name="T6" fmla="*/ 3 w 99"/>
                  <a:gd name="T7" fmla="*/ 4 h 67"/>
                  <a:gd name="T8" fmla="*/ 0 w 99"/>
                  <a:gd name="T9" fmla="*/ 4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 h="67">
                    <a:moveTo>
                      <a:pt x="0" y="67"/>
                    </a:moveTo>
                    <a:lnTo>
                      <a:pt x="99" y="33"/>
                    </a:lnTo>
                    <a:lnTo>
                      <a:pt x="0" y="0"/>
                    </a:lnTo>
                    <a:lnTo>
                      <a:pt x="31" y="33"/>
                    </a:lnTo>
                    <a:lnTo>
                      <a:pt x="0" y="67"/>
                    </a:lnTo>
                    <a:close/>
                  </a:path>
                </a:pathLst>
              </a:custGeom>
              <a:solidFill>
                <a:srgbClr val="FF0000"/>
              </a:solidFill>
              <a:ln w="28575" cmpd="sng">
                <a:solidFill>
                  <a:srgbClr val="FF0000"/>
                </a:solidFill>
                <a:round/>
                <a:headEnd/>
                <a:tailEnd/>
              </a:ln>
            </p:spPr>
            <p:txBody>
              <a:bodyPr/>
              <a:lstStyle/>
              <a:p>
                <a:endParaRPr lang="zh-CN" altLang="en-US"/>
              </a:p>
            </p:txBody>
          </p:sp>
          <p:sp>
            <p:nvSpPr>
              <p:cNvPr id="65585" name="Freeform 14"/>
              <p:cNvSpPr>
                <a:spLocks/>
              </p:cNvSpPr>
              <p:nvPr/>
            </p:nvSpPr>
            <p:spPr bwMode="auto">
              <a:xfrm>
                <a:off x="3264" y="2963"/>
                <a:ext cx="85" cy="59"/>
              </a:xfrm>
              <a:custGeom>
                <a:avLst/>
                <a:gdLst>
                  <a:gd name="T0" fmla="*/ 3 w 99"/>
                  <a:gd name="T1" fmla="*/ 0 h 67"/>
                  <a:gd name="T2" fmla="*/ 0 w 99"/>
                  <a:gd name="T3" fmla="*/ 4 h 67"/>
                  <a:gd name="T4" fmla="*/ 3 w 99"/>
                  <a:gd name="T5" fmla="*/ 4 h 67"/>
                  <a:gd name="T6" fmla="*/ 3 w 99"/>
                  <a:gd name="T7" fmla="*/ 4 h 67"/>
                  <a:gd name="T8" fmla="*/ 3 w 99"/>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 h="67">
                    <a:moveTo>
                      <a:pt x="99" y="0"/>
                    </a:moveTo>
                    <a:lnTo>
                      <a:pt x="0" y="34"/>
                    </a:lnTo>
                    <a:lnTo>
                      <a:pt x="99" y="67"/>
                    </a:lnTo>
                    <a:lnTo>
                      <a:pt x="68" y="34"/>
                    </a:lnTo>
                    <a:lnTo>
                      <a:pt x="99" y="0"/>
                    </a:lnTo>
                    <a:close/>
                  </a:path>
                </a:pathLst>
              </a:custGeom>
              <a:solidFill>
                <a:srgbClr val="FF0000"/>
              </a:solidFill>
              <a:ln w="28575" cmpd="sng">
                <a:solidFill>
                  <a:srgbClr val="FF0000"/>
                </a:solidFill>
                <a:round/>
                <a:headEnd/>
                <a:tailEnd/>
              </a:ln>
            </p:spPr>
            <p:txBody>
              <a:bodyPr/>
              <a:lstStyle/>
              <a:p>
                <a:endParaRPr lang="zh-CN" altLang="en-US"/>
              </a:p>
            </p:txBody>
          </p:sp>
          <p:sp>
            <p:nvSpPr>
              <p:cNvPr id="65586" name="Line 15"/>
              <p:cNvSpPr>
                <a:spLocks noChangeShapeType="1"/>
              </p:cNvSpPr>
              <p:nvPr/>
            </p:nvSpPr>
            <p:spPr bwMode="auto">
              <a:xfrm flipH="1" flipV="1">
                <a:off x="3341" y="2613"/>
                <a:ext cx="1846" cy="76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87" name="Freeform 16"/>
              <p:cNvSpPr>
                <a:spLocks/>
              </p:cNvSpPr>
              <p:nvPr/>
            </p:nvSpPr>
            <p:spPr bwMode="auto">
              <a:xfrm>
                <a:off x="5172" y="3343"/>
                <a:ext cx="90" cy="59"/>
              </a:xfrm>
              <a:custGeom>
                <a:avLst/>
                <a:gdLst>
                  <a:gd name="T0" fmla="*/ 0 w 105"/>
                  <a:gd name="T1" fmla="*/ 4 h 67"/>
                  <a:gd name="T2" fmla="*/ 3 w 105"/>
                  <a:gd name="T3" fmla="*/ 4 h 67"/>
                  <a:gd name="T4" fmla="*/ 3 w 105"/>
                  <a:gd name="T5" fmla="*/ 0 h 67"/>
                  <a:gd name="T6" fmla="*/ 3 w 105"/>
                  <a:gd name="T7" fmla="*/ 4 h 67"/>
                  <a:gd name="T8" fmla="*/ 0 w 105"/>
                  <a:gd name="T9" fmla="*/ 4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5" h="67">
                    <a:moveTo>
                      <a:pt x="0" y="62"/>
                    </a:moveTo>
                    <a:lnTo>
                      <a:pt x="105" y="67"/>
                    </a:lnTo>
                    <a:lnTo>
                      <a:pt x="25" y="0"/>
                    </a:lnTo>
                    <a:lnTo>
                      <a:pt x="42" y="42"/>
                    </a:lnTo>
                    <a:lnTo>
                      <a:pt x="0" y="62"/>
                    </a:lnTo>
                    <a:close/>
                  </a:path>
                </a:pathLst>
              </a:custGeom>
              <a:solidFill>
                <a:srgbClr val="FF0000"/>
              </a:solidFill>
              <a:ln w="28575" cmpd="sng">
                <a:solidFill>
                  <a:srgbClr val="FF0000"/>
                </a:solidFill>
                <a:round/>
                <a:headEnd/>
                <a:tailEnd/>
              </a:ln>
            </p:spPr>
            <p:txBody>
              <a:bodyPr/>
              <a:lstStyle/>
              <a:p>
                <a:endParaRPr lang="zh-CN" altLang="en-US"/>
              </a:p>
            </p:txBody>
          </p:sp>
          <p:sp>
            <p:nvSpPr>
              <p:cNvPr id="65588" name="Freeform 17"/>
              <p:cNvSpPr>
                <a:spLocks/>
              </p:cNvSpPr>
              <p:nvPr/>
            </p:nvSpPr>
            <p:spPr bwMode="auto">
              <a:xfrm>
                <a:off x="3312" y="2592"/>
                <a:ext cx="90" cy="59"/>
              </a:xfrm>
              <a:custGeom>
                <a:avLst/>
                <a:gdLst>
                  <a:gd name="T0" fmla="*/ 3 w 105"/>
                  <a:gd name="T1" fmla="*/ 4 h 67"/>
                  <a:gd name="T2" fmla="*/ 0 w 105"/>
                  <a:gd name="T3" fmla="*/ 0 h 67"/>
                  <a:gd name="T4" fmla="*/ 3 w 105"/>
                  <a:gd name="T5" fmla="*/ 4 h 67"/>
                  <a:gd name="T6" fmla="*/ 3 w 105"/>
                  <a:gd name="T7" fmla="*/ 4 h 67"/>
                  <a:gd name="T8" fmla="*/ 3 w 105"/>
                  <a:gd name="T9" fmla="*/ 4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5" h="67">
                    <a:moveTo>
                      <a:pt x="105" y="5"/>
                    </a:moveTo>
                    <a:lnTo>
                      <a:pt x="0" y="0"/>
                    </a:lnTo>
                    <a:lnTo>
                      <a:pt x="80" y="67"/>
                    </a:lnTo>
                    <a:lnTo>
                      <a:pt x="63" y="25"/>
                    </a:lnTo>
                    <a:lnTo>
                      <a:pt x="105" y="5"/>
                    </a:lnTo>
                    <a:close/>
                  </a:path>
                </a:pathLst>
              </a:custGeom>
              <a:solidFill>
                <a:srgbClr val="FF0000"/>
              </a:solidFill>
              <a:ln w="28575" cmpd="sng">
                <a:solidFill>
                  <a:srgbClr val="FF0000"/>
                </a:solidFill>
                <a:round/>
                <a:headEnd/>
                <a:tailEnd/>
              </a:ln>
            </p:spPr>
            <p:txBody>
              <a:bodyPr/>
              <a:lstStyle/>
              <a:p>
                <a:endParaRPr lang="zh-CN" altLang="en-US"/>
              </a:p>
            </p:txBody>
          </p:sp>
          <p:sp>
            <p:nvSpPr>
              <p:cNvPr id="65589" name="Line 18"/>
              <p:cNvSpPr>
                <a:spLocks noChangeShapeType="1"/>
              </p:cNvSpPr>
              <p:nvPr/>
            </p:nvSpPr>
            <p:spPr bwMode="auto">
              <a:xfrm flipH="1" flipV="1">
                <a:off x="3544" y="2296"/>
                <a:ext cx="1460" cy="1411"/>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90" name="Freeform 19"/>
              <p:cNvSpPr>
                <a:spLocks/>
              </p:cNvSpPr>
              <p:nvPr/>
            </p:nvSpPr>
            <p:spPr bwMode="auto">
              <a:xfrm>
                <a:off x="4962" y="3666"/>
                <a:ext cx="82" cy="81"/>
              </a:xfrm>
              <a:custGeom>
                <a:avLst/>
                <a:gdLst>
                  <a:gd name="T0" fmla="*/ 0 w 95"/>
                  <a:gd name="T1" fmla="*/ 4 h 92"/>
                  <a:gd name="T2" fmla="*/ 3 w 95"/>
                  <a:gd name="T3" fmla="*/ 4 h 92"/>
                  <a:gd name="T4" fmla="*/ 3 w 95"/>
                  <a:gd name="T5" fmla="*/ 0 h 92"/>
                  <a:gd name="T6" fmla="*/ 3 w 95"/>
                  <a:gd name="T7" fmla="*/ 4 h 92"/>
                  <a:gd name="T8" fmla="*/ 0 w 95"/>
                  <a:gd name="T9" fmla="*/ 4 h 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5" h="92">
                    <a:moveTo>
                      <a:pt x="0" y="48"/>
                    </a:moveTo>
                    <a:lnTo>
                      <a:pt x="95" y="92"/>
                    </a:lnTo>
                    <a:lnTo>
                      <a:pt x="46" y="0"/>
                    </a:lnTo>
                    <a:lnTo>
                      <a:pt x="46" y="45"/>
                    </a:lnTo>
                    <a:lnTo>
                      <a:pt x="0" y="48"/>
                    </a:lnTo>
                    <a:close/>
                  </a:path>
                </a:pathLst>
              </a:custGeom>
              <a:solidFill>
                <a:srgbClr val="FF0000"/>
              </a:solidFill>
              <a:ln w="28575" cmpd="sng">
                <a:solidFill>
                  <a:srgbClr val="FF0000"/>
                </a:solidFill>
                <a:round/>
                <a:headEnd/>
                <a:tailEnd/>
              </a:ln>
            </p:spPr>
            <p:txBody>
              <a:bodyPr/>
              <a:lstStyle/>
              <a:p>
                <a:endParaRPr lang="zh-CN" altLang="en-US"/>
              </a:p>
            </p:txBody>
          </p:sp>
          <p:sp>
            <p:nvSpPr>
              <p:cNvPr id="65591" name="Freeform 20"/>
              <p:cNvSpPr>
                <a:spLocks/>
              </p:cNvSpPr>
              <p:nvPr/>
            </p:nvSpPr>
            <p:spPr bwMode="auto">
              <a:xfrm>
                <a:off x="3504" y="2256"/>
                <a:ext cx="82" cy="81"/>
              </a:xfrm>
              <a:custGeom>
                <a:avLst/>
                <a:gdLst>
                  <a:gd name="T0" fmla="*/ 3 w 95"/>
                  <a:gd name="T1" fmla="*/ 4 h 92"/>
                  <a:gd name="T2" fmla="*/ 0 w 95"/>
                  <a:gd name="T3" fmla="*/ 0 h 92"/>
                  <a:gd name="T4" fmla="*/ 3 w 95"/>
                  <a:gd name="T5" fmla="*/ 4 h 92"/>
                  <a:gd name="T6" fmla="*/ 3 w 95"/>
                  <a:gd name="T7" fmla="*/ 4 h 92"/>
                  <a:gd name="T8" fmla="*/ 3 w 95"/>
                  <a:gd name="T9" fmla="*/ 4 h 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5" h="92">
                    <a:moveTo>
                      <a:pt x="95" y="44"/>
                    </a:moveTo>
                    <a:lnTo>
                      <a:pt x="0" y="0"/>
                    </a:lnTo>
                    <a:lnTo>
                      <a:pt x="49" y="92"/>
                    </a:lnTo>
                    <a:lnTo>
                      <a:pt x="49" y="47"/>
                    </a:lnTo>
                    <a:lnTo>
                      <a:pt x="95" y="44"/>
                    </a:lnTo>
                    <a:close/>
                  </a:path>
                </a:pathLst>
              </a:custGeom>
              <a:solidFill>
                <a:srgbClr val="FF0000"/>
              </a:solidFill>
              <a:ln w="28575" cmpd="sng">
                <a:solidFill>
                  <a:srgbClr val="FF0000"/>
                </a:solidFill>
                <a:round/>
                <a:headEnd/>
                <a:tailEnd/>
              </a:ln>
            </p:spPr>
            <p:txBody>
              <a:bodyPr/>
              <a:lstStyle/>
              <a:p>
                <a:endParaRPr lang="zh-CN" altLang="en-US"/>
              </a:p>
            </p:txBody>
          </p:sp>
          <p:sp>
            <p:nvSpPr>
              <p:cNvPr id="65592" name="Line 21"/>
              <p:cNvSpPr>
                <a:spLocks noChangeShapeType="1"/>
              </p:cNvSpPr>
              <p:nvPr/>
            </p:nvSpPr>
            <p:spPr bwMode="auto">
              <a:xfrm flipH="1">
                <a:off x="3911" y="2027"/>
                <a:ext cx="785" cy="1858"/>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93" name="Freeform 22"/>
              <p:cNvSpPr>
                <a:spLocks/>
              </p:cNvSpPr>
              <p:nvPr/>
            </p:nvSpPr>
            <p:spPr bwMode="auto">
              <a:xfrm>
                <a:off x="4659" y="1974"/>
                <a:ext cx="60" cy="92"/>
              </a:xfrm>
              <a:custGeom>
                <a:avLst/>
                <a:gdLst>
                  <a:gd name="T0" fmla="*/ 3 w 70"/>
                  <a:gd name="T1" fmla="*/ 6 h 104"/>
                  <a:gd name="T2" fmla="*/ 3 w 70"/>
                  <a:gd name="T3" fmla="*/ 0 h 104"/>
                  <a:gd name="T4" fmla="*/ 0 w 70"/>
                  <a:gd name="T5" fmla="*/ 4 h 104"/>
                  <a:gd name="T6" fmla="*/ 3 w 70"/>
                  <a:gd name="T7" fmla="*/ 4 h 104"/>
                  <a:gd name="T8" fmla="*/ 3 w 70"/>
                  <a:gd name="T9" fmla="*/ 6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 h="104">
                    <a:moveTo>
                      <a:pt x="62" y="104"/>
                    </a:moveTo>
                    <a:lnTo>
                      <a:pt x="70" y="0"/>
                    </a:lnTo>
                    <a:lnTo>
                      <a:pt x="0" y="78"/>
                    </a:lnTo>
                    <a:lnTo>
                      <a:pt x="43" y="62"/>
                    </a:lnTo>
                    <a:lnTo>
                      <a:pt x="62" y="104"/>
                    </a:lnTo>
                    <a:close/>
                  </a:path>
                </a:pathLst>
              </a:custGeom>
              <a:solidFill>
                <a:srgbClr val="FF0000"/>
              </a:solidFill>
              <a:ln w="28575" cmpd="sng">
                <a:solidFill>
                  <a:srgbClr val="FF0000"/>
                </a:solidFill>
                <a:round/>
                <a:headEnd/>
                <a:tailEnd/>
              </a:ln>
            </p:spPr>
            <p:txBody>
              <a:bodyPr/>
              <a:lstStyle/>
              <a:p>
                <a:endParaRPr lang="zh-CN" altLang="en-US"/>
              </a:p>
            </p:txBody>
          </p:sp>
          <p:sp>
            <p:nvSpPr>
              <p:cNvPr id="65594" name="Freeform 23"/>
              <p:cNvSpPr>
                <a:spLocks/>
              </p:cNvSpPr>
              <p:nvPr/>
            </p:nvSpPr>
            <p:spPr bwMode="auto">
              <a:xfrm>
                <a:off x="3888" y="3846"/>
                <a:ext cx="60" cy="92"/>
              </a:xfrm>
              <a:custGeom>
                <a:avLst/>
                <a:gdLst>
                  <a:gd name="T0" fmla="*/ 3 w 70"/>
                  <a:gd name="T1" fmla="*/ 0 h 104"/>
                  <a:gd name="T2" fmla="*/ 0 w 70"/>
                  <a:gd name="T3" fmla="*/ 6 h 104"/>
                  <a:gd name="T4" fmla="*/ 3 w 70"/>
                  <a:gd name="T5" fmla="*/ 4 h 104"/>
                  <a:gd name="T6" fmla="*/ 3 w 70"/>
                  <a:gd name="T7" fmla="*/ 4 h 104"/>
                  <a:gd name="T8" fmla="*/ 3 w 70"/>
                  <a:gd name="T9" fmla="*/ 0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 h="104">
                    <a:moveTo>
                      <a:pt x="8" y="0"/>
                    </a:moveTo>
                    <a:lnTo>
                      <a:pt x="0" y="104"/>
                    </a:lnTo>
                    <a:lnTo>
                      <a:pt x="70" y="26"/>
                    </a:lnTo>
                    <a:lnTo>
                      <a:pt x="27" y="42"/>
                    </a:lnTo>
                    <a:lnTo>
                      <a:pt x="8" y="0"/>
                    </a:lnTo>
                    <a:close/>
                  </a:path>
                </a:pathLst>
              </a:custGeom>
              <a:solidFill>
                <a:srgbClr val="FF0000"/>
              </a:solidFill>
              <a:ln w="28575" cmpd="sng">
                <a:solidFill>
                  <a:srgbClr val="FF0000"/>
                </a:solidFill>
                <a:round/>
                <a:headEnd/>
                <a:tailEnd/>
              </a:ln>
            </p:spPr>
            <p:txBody>
              <a:bodyPr/>
              <a:lstStyle/>
              <a:p>
                <a:endParaRPr lang="zh-CN" altLang="en-US"/>
              </a:p>
            </p:txBody>
          </p:sp>
          <p:sp>
            <p:nvSpPr>
              <p:cNvPr id="65595" name="Line 24"/>
              <p:cNvSpPr>
                <a:spLocks noChangeShapeType="1"/>
              </p:cNvSpPr>
              <p:nvPr/>
            </p:nvSpPr>
            <p:spPr bwMode="auto">
              <a:xfrm flipH="1">
                <a:off x="3381" y="2645"/>
                <a:ext cx="1870" cy="69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96" name="Freeform 25"/>
              <p:cNvSpPr>
                <a:spLocks/>
              </p:cNvSpPr>
              <p:nvPr/>
            </p:nvSpPr>
            <p:spPr bwMode="auto">
              <a:xfrm>
                <a:off x="5215" y="2625"/>
                <a:ext cx="89" cy="57"/>
              </a:xfrm>
              <a:custGeom>
                <a:avLst/>
                <a:gdLst>
                  <a:gd name="T0" fmla="*/ 3 w 104"/>
                  <a:gd name="T1" fmla="*/ 4 h 65"/>
                  <a:gd name="T2" fmla="*/ 3 w 104"/>
                  <a:gd name="T3" fmla="*/ 0 h 65"/>
                  <a:gd name="T4" fmla="*/ 0 w 104"/>
                  <a:gd name="T5" fmla="*/ 2 h 65"/>
                  <a:gd name="T6" fmla="*/ 3 w 104"/>
                  <a:gd name="T7" fmla="*/ 4 h 65"/>
                  <a:gd name="T8" fmla="*/ 3 w 104"/>
                  <a:gd name="T9" fmla="*/ 4 h 6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4" h="65">
                    <a:moveTo>
                      <a:pt x="22" y="65"/>
                    </a:moveTo>
                    <a:lnTo>
                      <a:pt x="104" y="0"/>
                    </a:lnTo>
                    <a:lnTo>
                      <a:pt x="0" y="2"/>
                    </a:lnTo>
                    <a:lnTo>
                      <a:pt x="40" y="23"/>
                    </a:lnTo>
                    <a:lnTo>
                      <a:pt x="22" y="65"/>
                    </a:lnTo>
                    <a:close/>
                  </a:path>
                </a:pathLst>
              </a:custGeom>
              <a:solidFill>
                <a:srgbClr val="FF0000"/>
              </a:solidFill>
              <a:ln w="28575" cmpd="sng">
                <a:solidFill>
                  <a:srgbClr val="FF0000"/>
                </a:solidFill>
                <a:round/>
                <a:headEnd/>
                <a:tailEnd/>
              </a:ln>
            </p:spPr>
            <p:txBody>
              <a:bodyPr/>
              <a:lstStyle/>
              <a:p>
                <a:endParaRPr lang="zh-CN" altLang="en-US"/>
              </a:p>
            </p:txBody>
          </p:sp>
          <p:sp>
            <p:nvSpPr>
              <p:cNvPr id="65597" name="Freeform 26"/>
              <p:cNvSpPr>
                <a:spLocks/>
              </p:cNvSpPr>
              <p:nvPr/>
            </p:nvSpPr>
            <p:spPr bwMode="auto">
              <a:xfrm>
                <a:off x="3328" y="3305"/>
                <a:ext cx="89" cy="57"/>
              </a:xfrm>
              <a:custGeom>
                <a:avLst/>
                <a:gdLst>
                  <a:gd name="T0" fmla="*/ 3 w 104"/>
                  <a:gd name="T1" fmla="*/ 0 h 65"/>
                  <a:gd name="T2" fmla="*/ 0 w 104"/>
                  <a:gd name="T3" fmla="*/ 4 h 65"/>
                  <a:gd name="T4" fmla="*/ 3 w 104"/>
                  <a:gd name="T5" fmla="*/ 4 h 65"/>
                  <a:gd name="T6" fmla="*/ 3 w 104"/>
                  <a:gd name="T7" fmla="*/ 4 h 65"/>
                  <a:gd name="T8" fmla="*/ 3 w 104"/>
                  <a:gd name="T9" fmla="*/ 0 h 6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4" h="65">
                    <a:moveTo>
                      <a:pt x="82" y="0"/>
                    </a:moveTo>
                    <a:lnTo>
                      <a:pt x="0" y="65"/>
                    </a:lnTo>
                    <a:lnTo>
                      <a:pt x="104" y="63"/>
                    </a:lnTo>
                    <a:lnTo>
                      <a:pt x="64" y="42"/>
                    </a:lnTo>
                    <a:lnTo>
                      <a:pt x="82" y="0"/>
                    </a:lnTo>
                    <a:close/>
                  </a:path>
                </a:pathLst>
              </a:custGeom>
              <a:solidFill>
                <a:srgbClr val="FF0000"/>
              </a:solidFill>
              <a:ln w="28575" cmpd="sng">
                <a:solidFill>
                  <a:srgbClr val="FF0000"/>
                </a:solidFill>
                <a:round/>
                <a:headEnd/>
                <a:tailEnd/>
              </a:ln>
            </p:spPr>
            <p:txBody>
              <a:bodyPr/>
              <a:lstStyle/>
              <a:p>
                <a:endParaRPr lang="zh-CN" altLang="en-US"/>
              </a:p>
            </p:txBody>
          </p:sp>
          <p:sp>
            <p:nvSpPr>
              <p:cNvPr id="65598" name="Line 27"/>
              <p:cNvSpPr>
                <a:spLocks noChangeShapeType="1"/>
              </p:cNvSpPr>
              <p:nvPr/>
            </p:nvSpPr>
            <p:spPr bwMode="auto">
              <a:xfrm flipV="1">
                <a:off x="3600" y="2241"/>
                <a:ext cx="1433" cy="142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99" name="Freeform 28"/>
              <p:cNvSpPr>
                <a:spLocks/>
              </p:cNvSpPr>
              <p:nvPr/>
            </p:nvSpPr>
            <p:spPr bwMode="auto">
              <a:xfrm>
                <a:off x="3560" y="3619"/>
                <a:ext cx="81" cy="82"/>
              </a:xfrm>
              <a:custGeom>
                <a:avLst/>
                <a:gdLst>
                  <a:gd name="T0" fmla="*/ 3 w 94"/>
                  <a:gd name="T1" fmla="*/ 0 h 93"/>
                  <a:gd name="T2" fmla="*/ 0 w 94"/>
                  <a:gd name="T3" fmla="*/ 4 h 93"/>
                  <a:gd name="T4" fmla="*/ 3 w 94"/>
                  <a:gd name="T5" fmla="*/ 4 h 93"/>
                  <a:gd name="T6" fmla="*/ 3 w 94"/>
                  <a:gd name="T7" fmla="*/ 4 h 93"/>
                  <a:gd name="T8" fmla="*/ 3 w 94"/>
                  <a:gd name="T9" fmla="*/ 0 h 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4" h="93">
                    <a:moveTo>
                      <a:pt x="48" y="0"/>
                    </a:moveTo>
                    <a:lnTo>
                      <a:pt x="0" y="93"/>
                    </a:lnTo>
                    <a:lnTo>
                      <a:pt x="94" y="48"/>
                    </a:lnTo>
                    <a:lnTo>
                      <a:pt x="49" y="46"/>
                    </a:lnTo>
                    <a:lnTo>
                      <a:pt x="48" y="0"/>
                    </a:lnTo>
                    <a:close/>
                  </a:path>
                </a:pathLst>
              </a:custGeom>
              <a:solidFill>
                <a:srgbClr val="FF0000"/>
              </a:solidFill>
              <a:ln w="28575" cmpd="sng">
                <a:solidFill>
                  <a:srgbClr val="FF0000"/>
                </a:solidFill>
                <a:round/>
                <a:headEnd/>
                <a:tailEnd/>
              </a:ln>
            </p:spPr>
            <p:txBody>
              <a:bodyPr/>
              <a:lstStyle/>
              <a:p>
                <a:endParaRPr lang="zh-CN" altLang="en-US"/>
              </a:p>
            </p:txBody>
          </p:sp>
          <p:sp>
            <p:nvSpPr>
              <p:cNvPr id="65600" name="Freeform 29"/>
              <p:cNvSpPr>
                <a:spLocks/>
              </p:cNvSpPr>
              <p:nvPr/>
            </p:nvSpPr>
            <p:spPr bwMode="auto">
              <a:xfrm>
                <a:off x="4992" y="2201"/>
                <a:ext cx="81" cy="82"/>
              </a:xfrm>
              <a:custGeom>
                <a:avLst/>
                <a:gdLst>
                  <a:gd name="T0" fmla="*/ 3 w 94"/>
                  <a:gd name="T1" fmla="*/ 4 h 93"/>
                  <a:gd name="T2" fmla="*/ 3 w 94"/>
                  <a:gd name="T3" fmla="*/ 0 h 93"/>
                  <a:gd name="T4" fmla="*/ 0 w 94"/>
                  <a:gd name="T5" fmla="*/ 4 h 93"/>
                  <a:gd name="T6" fmla="*/ 3 w 94"/>
                  <a:gd name="T7" fmla="*/ 4 h 93"/>
                  <a:gd name="T8" fmla="*/ 3 w 94"/>
                  <a:gd name="T9" fmla="*/ 4 h 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4" h="93">
                    <a:moveTo>
                      <a:pt x="46" y="93"/>
                    </a:moveTo>
                    <a:lnTo>
                      <a:pt x="94" y="0"/>
                    </a:lnTo>
                    <a:lnTo>
                      <a:pt x="0" y="45"/>
                    </a:lnTo>
                    <a:lnTo>
                      <a:pt x="45" y="47"/>
                    </a:lnTo>
                    <a:lnTo>
                      <a:pt x="46" y="93"/>
                    </a:lnTo>
                    <a:close/>
                  </a:path>
                </a:pathLst>
              </a:custGeom>
              <a:solidFill>
                <a:srgbClr val="FF0000"/>
              </a:solidFill>
              <a:ln w="28575" cmpd="sng">
                <a:solidFill>
                  <a:srgbClr val="FF0000"/>
                </a:solidFill>
                <a:round/>
                <a:headEnd/>
                <a:tailEnd/>
              </a:ln>
            </p:spPr>
            <p:txBody>
              <a:bodyPr/>
              <a:lstStyle/>
              <a:p>
                <a:endParaRPr lang="zh-CN" altLang="en-US"/>
              </a:p>
            </p:txBody>
          </p:sp>
          <p:sp>
            <p:nvSpPr>
              <p:cNvPr id="65601" name="Line 30"/>
              <p:cNvSpPr>
                <a:spLocks noChangeShapeType="1"/>
              </p:cNvSpPr>
              <p:nvPr/>
            </p:nvSpPr>
            <p:spPr bwMode="auto">
              <a:xfrm flipV="1">
                <a:off x="4274" y="1930"/>
                <a:ext cx="1" cy="2044"/>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602" name="Freeform 31"/>
              <p:cNvSpPr>
                <a:spLocks/>
              </p:cNvSpPr>
              <p:nvPr/>
            </p:nvSpPr>
            <p:spPr bwMode="auto">
              <a:xfrm>
                <a:off x="4245" y="3945"/>
                <a:ext cx="57" cy="87"/>
              </a:xfrm>
              <a:custGeom>
                <a:avLst/>
                <a:gdLst>
                  <a:gd name="T0" fmla="*/ 0 w 67"/>
                  <a:gd name="T1" fmla="*/ 0 h 99"/>
                  <a:gd name="T2" fmla="*/ 3 w 67"/>
                  <a:gd name="T3" fmla="*/ 4 h 99"/>
                  <a:gd name="T4" fmla="*/ 3 w 67"/>
                  <a:gd name="T5" fmla="*/ 0 h 99"/>
                  <a:gd name="T6" fmla="*/ 3 w 67"/>
                  <a:gd name="T7" fmla="*/ 4 h 99"/>
                  <a:gd name="T8" fmla="*/ 0 w 67"/>
                  <a:gd name="T9" fmla="*/ 0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 h="99">
                    <a:moveTo>
                      <a:pt x="0" y="0"/>
                    </a:moveTo>
                    <a:lnTo>
                      <a:pt x="34" y="99"/>
                    </a:lnTo>
                    <a:lnTo>
                      <a:pt x="67" y="0"/>
                    </a:lnTo>
                    <a:lnTo>
                      <a:pt x="34" y="31"/>
                    </a:lnTo>
                    <a:lnTo>
                      <a:pt x="0" y="0"/>
                    </a:lnTo>
                    <a:close/>
                  </a:path>
                </a:pathLst>
              </a:custGeom>
              <a:solidFill>
                <a:srgbClr val="FF0000"/>
              </a:solidFill>
              <a:ln w="28575" cmpd="sng">
                <a:solidFill>
                  <a:srgbClr val="FF0000"/>
                </a:solidFill>
                <a:round/>
                <a:headEnd/>
                <a:tailEnd/>
              </a:ln>
            </p:spPr>
            <p:txBody>
              <a:bodyPr/>
              <a:lstStyle/>
              <a:p>
                <a:endParaRPr lang="zh-CN" altLang="en-US"/>
              </a:p>
            </p:txBody>
          </p:sp>
          <p:sp>
            <p:nvSpPr>
              <p:cNvPr id="65603" name="Freeform 32"/>
              <p:cNvSpPr>
                <a:spLocks/>
              </p:cNvSpPr>
              <p:nvPr/>
            </p:nvSpPr>
            <p:spPr bwMode="auto">
              <a:xfrm>
                <a:off x="4246" y="1872"/>
                <a:ext cx="57" cy="87"/>
              </a:xfrm>
              <a:custGeom>
                <a:avLst/>
                <a:gdLst>
                  <a:gd name="T0" fmla="*/ 3 w 67"/>
                  <a:gd name="T1" fmla="*/ 4 h 99"/>
                  <a:gd name="T2" fmla="*/ 3 w 67"/>
                  <a:gd name="T3" fmla="*/ 0 h 99"/>
                  <a:gd name="T4" fmla="*/ 0 w 67"/>
                  <a:gd name="T5" fmla="*/ 4 h 99"/>
                  <a:gd name="T6" fmla="*/ 3 w 67"/>
                  <a:gd name="T7" fmla="*/ 4 h 99"/>
                  <a:gd name="T8" fmla="*/ 3 w 67"/>
                  <a:gd name="T9" fmla="*/ 4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 h="99">
                    <a:moveTo>
                      <a:pt x="67" y="99"/>
                    </a:moveTo>
                    <a:lnTo>
                      <a:pt x="33" y="0"/>
                    </a:lnTo>
                    <a:lnTo>
                      <a:pt x="0" y="99"/>
                    </a:lnTo>
                    <a:lnTo>
                      <a:pt x="33" y="68"/>
                    </a:lnTo>
                    <a:lnTo>
                      <a:pt x="67" y="99"/>
                    </a:lnTo>
                    <a:close/>
                  </a:path>
                </a:pathLst>
              </a:custGeom>
              <a:solidFill>
                <a:srgbClr val="FF0000"/>
              </a:solidFill>
              <a:ln w="28575" cmpd="sng">
                <a:solidFill>
                  <a:srgbClr val="FF0000"/>
                </a:solidFill>
                <a:round/>
                <a:headEnd/>
                <a:tailEnd/>
              </a:ln>
            </p:spPr>
            <p:txBody>
              <a:bodyPr/>
              <a:lstStyle/>
              <a:p>
                <a:endParaRPr lang="zh-CN" altLang="en-US"/>
              </a:p>
            </p:txBody>
          </p:sp>
          <p:sp>
            <p:nvSpPr>
              <p:cNvPr id="65604" name="Line 33"/>
              <p:cNvSpPr>
                <a:spLocks noChangeShapeType="1"/>
              </p:cNvSpPr>
              <p:nvPr/>
            </p:nvSpPr>
            <p:spPr bwMode="auto">
              <a:xfrm flipH="1" flipV="1">
                <a:off x="3871" y="2018"/>
                <a:ext cx="808" cy="186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605" name="Freeform 34"/>
              <p:cNvSpPr>
                <a:spLocks/>
              </p:cNvSpPr>
              <p:nvPr/>
            </p:nvSpPr>
            <p:spPr bwMode="auto">
              <a:xfrm>
                <a:off x="4641" y="3846"/>
                <a:ext cx="62" cy="92"/>
              </a:xfrm>
              <a:custGeom>
                <a:avLst/>
                <a:gdLst>
                  <a:gd name="T0" fmla="*/ 0 w 72"/>
                  <a:gd name="T1" fmla="*/ 4 h 104"/>
                  <a:gd name="T2" fmla="*/ 3 w 72"/>
                  <a:gd name="T3" fmla="*/ 6 h 104"/>
                  <a:gd name="T4" fmla="*/ 3 w 72"/>
                  <a:gd name="T5" fmla="*/ 0 h 104"/>
                  <a:gd name="T6" fmla="*/ 3 w 72"/>
                  <a:gd name="T7" fmla="*/ 4 h 104"/>
                  <a:gd name="T8" fmla="*/ 0 w 72"/>
                  <a:gd name="T9" fmla="*/ 4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 h="104">
                    <a:moveTo>
                      <a:pt x="0" y="28"/>
                    </a:moveTo>
                    <a:lnTo>
                      <a:pt x="72" y="104"/>
                    </a:lnTo>
                    <a:lnTo>
                      <a:pt x="61" y="0"/>
                    </a:lnTo>
                    <a:lnTo>
                      <a:pt x="44" y="42"/>
                    </a:lnTo>
                    <a:lnTo>
                      <a:pt x="0" y="28"/>
                    </a:lnTo>
                    <a:close/>
                  </a:path>
                </a:pathLst>
              </a:custGeom>
              <a:solidFill>
                <a:srgbClr val="FF0000"/>
              </a:solidFill>
              <a:ln w="28575" cmpd="sng">
                <a:solidFill>
                  <a:srgbClr val="FF0000"/>
                </a:solidFill>
                <a:round/>
                <a:headEnd/>
                <a:tailEnd/>
              </a:ln>
            </p:spPr>
            <p:txBody>
              <a:bodyPr/>
              <a:lstStyle/>
              <a:p>
                <a:endParaRPr lang="zh-CN" altLang="en-US"/>
              </a:p>
            </p:txBody>
          </p:sp>
          <p:sp>
            <p:nvSpPr>
              <p:cNvPr id="65606" name="Freeform 35"/>
              <p:cNvSpPr>
                <a:spLocks/>
              </p:cNvSpPr>
              <p:nvPr/>
            </p:nvSpPr>
            <p:spPr bwMode="auto">
              <a:xfrm>
                <a:off x="3847" y="1965"/>
                <a:ext cx="62" cy="92"/>
              </a:xfrm>
              <a:custGeom>
                <a:avLst/>
                <a:gdLst>
                  <a:gd name="T0" fmla="*/ 3 w 72"/>
                  <a:gd name="T1" fmla="*/ 4 h 104"/>
                  <a:gd name="T2" fmla="*/ 0 w 72"/>
                  <a:gd name="T3" fmla="*/ 0 h 104"/>
                  <a:gd name="T4" fmla="*/ 3 w 72"/>
                  <a:gd name="T5" fmla="*/ 6 h 104"/>
                  <a:gd name="T6" fmla="*/ 3 w 72"/>
                  <a:gd name="T7" fmla="*/ 4 h 104"/>
                  <a:gd name="T8" fmla="*/ 3 w 72"/>
                  <a:gd name="T9" fmla="*/ 4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 h="104">
                    <a:moveTo>
                      <a:pt x="72" y="76"/>
                    </a:moveTo>
                    <a:lnTo>
                      <a:pt x="0" y="0"/>
                    </a:lnTo>
                    <a:lnTo>
                      <a:pt x="11" y="104"/>
                    </a:lnTo>
                    <a:lnTo>
                      <a:pt x="28" y="62"/>
                    </a:lnTo>
                    <a:lnTo>
                      <a:pt x="72" y="76"/>
                    </a:lnTo>
                    <a:close/>
                  </a:path>
                </a:pathLst>
              </a:custGeom>
              <a:solidFill>
                <a:srgbClr val="FF0000"/>
              </a:solidFill>
              <a:ln w="28575" cmpd="sng">
                <a:solidFill>
                  <a:srgbClr val="FF0000"/>
                </a:solidFill>
                <a:round/>
                <a:headEnd/>
                <a:tailEnd/>
              </a:ln>
            </p:spPr>
            <p:txBody>
              <a:bodyPr/>
              <a:lstStyle/>
              <a:p>
                <a:endParaRPr lang="zh-CN" altLang="en-US"/>
              </a:p>
            </p:txBody>
          </p:sp>
        </p:grpSp>
        <p:grpSp>
          <p:nvGrpSpPr>
            <p:cNvPr id="65580" name="Group 36"/>
            <p:cNvGrpSpPr>
              <a:grpSpLocks/>
            </p:cNvGrpSpPr>
            <p:nvPr/>
          </p:nvGrpSpPr>
          <p:grpSpPr bwMode="auto">
            <a:xfrm>
              <a:off x="1462" y="2524"/>
              <a:ext cx="340" cy="411"/>
              <a:chOff x="4176" y="491"/>
              <a:chExt cx="340" cy="411"/>
            </a:xfrm>
          </p:grpSpPr>
          <p:sp>
            <p:nvSpPr>
              <p:cNvPr id="65581" name="Oval 37"/>
              <p:cNvSpPr>
                <a:spLocks noChangeArrowheads="1"/>
              </p:cNvSpPr>
              <p:nvPr/>
            </p:nvSpPr>
            <p:spPr bwMode="auto">
              <a:xfrm>
                <a:off x="4176" y="575"/>
                <a:ext cx="242" cy="248"/>
              </a:xfrm>
              <a:prstGeom prst="ellipse">
                <a:avLst/>
              </a:prstGeom>
              <a:solidFill>
                <a:schemeClr val="folHlink"/>
              </a:solidFill>
              <a:ln w="28575">
                <a:solidFill>
                  <a:srgbClr val="FF0000"/>
                </a:solidFill>
                <a:round/>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65582" name="Rectangle 38"/>
              <p:cNvSpPr>
                <a:spLocks noChangeArrowheads="1"/>
              </p:cNvSpPr>
              <p:nvPr/>
            </p:nvSpPr>
            <p:spPr bwMode="auto">
              <a:xfrm>
                <a:off x="4214" y="491"/>
                <a:ext cx="302"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500" dirty="0">
                    <a:solidFill>
                      <a:schemeClr val="bg1"/>
                    </a:solidFill>
                    <a:latin typeface="Bookman Old Style" panose="02050604050505020204" pitchFamily="18" charset="0"/>
                    <a:ea typeface="楷体_GB2312"/>
                  </a:rPr>
                  <a:t>+</a:t>
                </a:r>
                <a:endParaRPr lang="en-US" altLang="zh-CN" sz="2500" b="0" dirty="0">
                  <a:solidFill>
                    <a:schemeClr val="bg1"/>
                  </a:solidFill>
                  <a:ea typeface="楷体_GB2312"/>
                </a:endParaRPr>
              </a:p>
            </p:txBody>
          </p:sp>
        </p:grpSp>
      </p:grpSp>
      <p:grpSp>
        <p:nvGrpSpPr>
          <p:cNvPr id="157735" name="Group 39"/>
          <p:cNvGrpSpPr>
            <a:grpSpLocks/>
          </p:cNvGrpSpPr>
          <p:nvPr/>
        </p:nvGrpSpPr>
        <p:grpSpPr bwMode="auto">
          <a:xfrm>
            <a:off x="5412829" y="3916363"/>
            <a:ext cx="1895475" cy="2298700"/>
            <a:chOff x="528" y="1488"/>
            <a:chExt cx="2103" cy="2486"/>
          </a:xfrm>
        </p:grpSpPr>
        <p:sp>
          <p:nvSpPr>
            <p:cNvPr id="157736" name="Rectangle 40"/>
            <p:cNvSpPr>
              <a:spLocks noChangeArrowheads="1"/>
            </p:cNvSpPr>
            <p:nvPr/>
          </p:nvSpPr>
          <p:spPr bwMode="auto">
            <a:xfrm>
              <a:off x="863" y="1488"/>
              <a:ext cx="1768" cy="395"/>
            </a:xfrm>
            <a:prstGeom prst="rect">
              <a:avLst/>
            </a:prstGeom>
            <a:noFill/>
            <a:ln>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FF"/>
                  </a:solidFill>
                  <a:miter lim="800000"/>
                  <a:headEnd/>
                  <a:tailEnd/>
                </a14:hiddenLine>
              </a:ext>
            </a:extLst>
          </p:spPr>
          <p:txBody>
            <a:bodyPr lIns="0" tIns="0" rIns="0" bIns="0">
              <a:spAutoFit/>
            </a:bodyPr>
            <a:lstStyle/>
            <a:p>
              <a:pPr eaLnBrk="1" hangingPunct="1">
                <a:defRPr/>
              </a:pPr>
              <a:endParaRPr lang="zh-CN" altLang="zh-CN" sz="2400">
                <a:solidFill>
                  <a:srgbClr val="0000FF"/>
                </a:solidFill>
                <a:effectLst>
                  <a:outerShdw blurRad="38100" dist="38100" dir="2700000" algn="tl">
                    <a:srgbClr val="C0C0C0"/>
                  </a:outerShdw>
                </a:effectLst>
                <a:latin typeface="宋体" charset="-122"/>
                <a:ea typeface="宋体" charset="-122"/>
                <a:cs typeface="+mn-cs"/>
              </a:endParaRPr>
            </a:p>
          </p:txBody>
        </p:sp>
        <p:grpSp>
          <p:nvGrpSpPr>
            <p:cNvPr id="65549" name="Group 41"/>
            <p:cNvGrpSpPr>
              <a:grpSpLocks/>
            </p:cNvGrpSpPr>
            <p:nvPr/>
          </p:nvGrpSpPr>
          <p:grpSpPr bwMode="auto">
            <a:xfrm>
              <a:off x="528" y="1930"/>
              <a:ext cx="1989" cy="2044"/>
              <a:chOff x="777" y="1930"/>
              <a:chExt cx="1989" cy="2044"/>
            </a:xfrm>
          </p:grpSpPr>
          <p:sp>
            <p:nvSpPr>
              <p:cNvPr id="65553" name="Line 42"/>
              <p:cNvSpPr>
                <a:spLocks noChangeShapeType="1"/>
              </p:cNvSpPr>
              <p:nvPr/>
            </p:nvSpPr>
            <p:spPr bwMode="auto">
              <a:xfrm flipH="1">
                <a:off x="777" y="2993"/>
                <a:ext cx="1989" cy="1"/>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54" name="Freeform 43"/>
              <p:cNvSpPr>
                <a:spLocks/>
              </p:cNvSpPr>
              <p:nvPr/>
            </p:nvSpPr>
            <p:spPr bwMode="auto">
              <a:xfrm>
                <a:off x="1019" y="2965"/>
                <a:ext cx="85" cy="59"/>
              </a:xfrm>
              <a:custGeom>
                <a:avLst/>
                <a:gdLst>
                  <a:gd name="T0" fmla="*/ 0 w 99"/>
                  <a:gd name="T1" fmla="*/ 4 h 67"/>
                  <a:gd name="T2" fmla="*/ 3 w 99"/>
                  <a:gd name="T3" fmla="*/ 4 h 67"/>
                  <a:gd name="T4" fmla="*/ 0 w 99"/>
                  <a:gd name="T5" fmla="*/ 0 h 67"/>
                  <a:gd name="T6" fmla="*/ 3 w 99"/>
                  <a:gd name="T7" fmla="*/ 4 h 67"/>
                  <a:gd name="T8" fmla="*/ 0 w 99"/>
                  <a:gd name="T9" fmla="*/ 4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 h="67">
                    <a:moveTo>
                      <a:pt x="0" y="67"/>
                    </a:moveTo>
                    <a:lnTo>
                      <a:pt x="99" y="33"/>
                    </a:lnTo>
                    <a:lnTo>
                      <a:pt x="0" y="0"/>
                    </a:lnTo>
                    <a:lnTo>
                      <a:pt x="31" y="33"/>
                    </a:lnTo>
                    <a:lnTo>
                      <a:pt x="0" y="67"/>
                    </a:lnTo>
                    <a:close/>
                  </a:path>
                </a:pathLst>
              </a:custGeom>
              <a:solidFill>
                <a:srgbClr val="FF0000"/>
              </a:solidFill>
              <a:ln w="28575" cmpd="sng">
                <a:solidFill>
                  <a:srgbClr val="0000FF"/>
                </a:solidFill>
                <a:round/>
                <a:headEnd/>
                <a:tailEnd/>
              </a:ln>
            </p:spPr>
            <p:txBody>
              <a:bodyPr/>
              <a:lstStyle/>
              <a:p>
                <a:endParaRPr lang="zh-CN" altLang="en-US"/>
              </a:p>
            </p:txBody>
          </p:sp>
          <p:sp>
            <p:nvSpPr>
              <p:cNvPr id="65555" name="Freeform 44"/>
              <p:cNvSpPr>
                <a:spLocks/>
              </p:cNvSpPr>
              <p:nvPr/>
            </p:nvSpPr>
            <p:spPr bwMode="auto">
              <a:xfrm>
                <a:off x="2352" y="2965"/>
                <a:ext cx="85" cy="59"/>
              </a:xfrm>
              <a:custGeom>
                <a:avLst/>
                <a:gdLst>
                  <a:gd name="T0" fmla="*/ 3 w 99"/>
                  <a:gd name="T1" fmla="*/ 0 h 67"/>
                  <a:gd name="T2" fmla="*/ 0 w 99"/>
                  <a:gd name="T3" fmla="*/ 4 h 67"/>
                  <a:gd name="T4" fmla="*/ 3 w 99"/>
                  <a:gd name="T5" fmla="*/ 4 h 67"/>
                  <a:gd name="T6" fmla="*/ 3 w 99"/>
                  <a:gd name="T7" fmla="*/ 4 h 67"/>
                  <a:gd name="T8" fmla="*/ 3 w 99"/>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 h="67">
                    <a:moveTo>
                      <a:pt x="99" y="0"/>
                    </a:moveTo>
                    <a:lnTo>
                      <a:pt x="0" y="34"/>
                    </a:lnTo>
                    <a:lnTo>
                      <a:pt x="99" y="67"/>
                    </a:lnTo>
                    <a:lnTo>
                      <a:pt x="68" y="34"/>
                    </a:lnTo>
                    <a:lnTo>
                      <a:pt x="99" y="0"/>
                    </a:lnTo>
                    <a:close/>
                  </a:path>
                </a:pathLst>
              </a:custGeom>
              <a:solidFill>
                <a:srgbClr val="FF0000"/>
              </a:solidFill>
              <a:ln w="28575" cmpd="sng">
                <a:solidFill>
                  <a:srgbClr val="0000FF"/>
                </a:solidFill>
                <a:round/>
                <a:headEnd/>
                <a:tailEnd/>
              </a:ln>
            </p:spPr>
            <p:txBody>
              <a:bodyPr/>
              <a:lstStyle/>
              <a:p>
                <a:endParaRPr lang="zh-CN" altLang="en-US"/>
              </a:p>
            </p:txBody>
          </p:sp>
          <p:sp>
            <p:nvSpPr>
              <p:cNvPr id="65556" name="Line 45"/>
              <p:cNvSpPr>
                <a:spLocks noChangeShapeType="1"/>
              </p:cNvSpPr>
              <p:nvPr/>
            </p:nvSpPr>
            <p:spPr bwMode="auto">
              <a:xfrm flipH="1" flipV="1">
                <a:off x="797" y="2613"/>
                <a:ext cx="1846" cy="766"/>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57" name="Freeform 46"/>
              <p:cNvSpPr>
                <a:spLocks/>
              </p:cNvSpPr>
              <p:nvPr/>
            </p:nvSpPr>
            <p:spPr bwMode="auto">
              <a:xfrm>
                <a:off x="1056" y="2688"/>
                <a:ext cx="90" cy="59"/>
              </a:xfrm>
              <a:custGeom>
                <a:avLst/>
                <a:gdLst>
                  <a:gd name="T0" fmla="*/ 0 w 105"/>
                  <a:gd name="T1" fmla="*/ 4 h 67"/>
                  <a:gd name="T2" fmla="*/ 3 w 105"/>
                  <a:gd name="T3" fmla="*/ 4 h 67"/>
                  <a:gd name="T4" fmla="*/ 3 w 105"/>
                  <a:gd name="T5" fmla="*/ 0 h 67"/>
                  <a:gd name="T6" fmla="*/ 3 w 105"/>
                  <a:gd name="T7" fmla="*/ 4 h 67"/>
                  <a:gd name="T8" fmla="*/ 0 w 105"/>
                  <a:gd name="T9" fmla="*/ 4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5" h="67">
                    <a:moveTo>
                      <a:pt x="0" y="62"/>
                    </a:moveTo>
                    <a:lnTo>
                      <a:pt x="105" y="67"/>
                    </a:lnTo>
                    <a:lnTo>
                      <a:pt x="25" y="0"/>
                    </a:lnTo>
                    <a:lnTo>
                      <a:pt x="42" y="42"/>
                    </a:lnTo>
                    <a:lnTo>
                      <a:pt x="0" y="62"/>
                    </a:lnTo>
                    <a:close/>
                  </a:path>
                </a:pathLst>
              </a:custGeom>
              <a:solidFill>
                <a:srgbClr val="FF0000"/>
              </a:solidFill>
              <a:ln w="28575" cmpd="sng">
                <a:solidFill>
                  <a:srgbClr val="0000FF"/>
                </a:solidFill>
                <a:round/>
                <a:headEnd/>
                <a:tailEnd/>
              </a:ln>
            </p:spPr>
            <p:txBody>
              <a:bodyPr/>
              <a:lstStyle/>
              <a:p>
                <a:endParaRPr lang="zh-CN" altLang="en-US"/>
              </a:p>
            </p:txBody>
          </p:sp>
          <p:sp>
            <p:nvSpPr>
              <p:cNvPr id="65558" name="Freeform 47"/>
              <p:cNvSpPr>
                <a:spLocks/>
              </p:cNvSpPr>
              <p:nvPr/>
            </p:nvSpPr>
            <p:spPr bwMode="auto">
              <a:xfrm>
                <a:off x="2256" y="3216"/>
                <a:ext cx="90" cy="59"/>
              </a:xfrm>
              <a:custGeom>
                <a:avLst/>
                <a:gdLst>
                  <a:gd name="T0" fmla="*/ 3 w 105"/>
                  <a:gd name="T1" fmla="*/ 4 h 67"/>
                  <a:gd name="T2" fmla="*/ 0 w 105"/>
                  <a:gd name="T3" fmla="*/ 0 h 67"/>
                  <a:gd name="T4" fmla="*/ 3 w 105"/>
                  <a:gd name="T5" fmla="*/ 4 h 67"/>
                  <a:gd name="T6" fmla="*/ 3 w 105"/>
                  <a:gd name="T7" fmla="*/ 4 h 67"/>
                  <a:gd name="T8" fmla="*/ 3 w 105"/>
                  <a:gd name="T9" fmla="*/ 4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5" h="67">
                    <a:moveTo>
                      <a:pt x="105" y="5"/>
                    </a:moveTo>
                    <a:lnTo>
                      <a:pt x="0" y="0"/>
                    </a:lnTo>
                    <a:lnTo>
                      <a:pt x="80" y="67"/>
                    </a:lnTo>
                    <a:lnTo>
                      <a:pt x="63" y="25"/>
                    </a:lnTo>
                    <a:lnTo>
                      <a:pt x="105" y="5"/>
                    </a:lnTo>
                    <a:close/>
                  </a:path>
                </a:pathLst>
              </a:custGeom>
              <a:solidFill>
                <a:srgbClr val="FF0000"/>
              </a:solidFill>
              <a:ln w="28575" cmpd="sng">
                <a:solidFill>
                  <a:srgbClr val="0000FF"/>
                </a:solidFill>
                <a:round/>
                <a:headEnd/>
                <a:tailEnd/>
              </a:ln>
            </p:spPr>
            <p:txBody>
              <a:bodyPr/>
              <a:lstStyle/>
              <a:p>
                <a:endParaRPr lang="zh-CN" altLang="en-US"/>
              </a:p>
            </p:txBody>
          </p:sp>
          <p:sp>
            <p:nvSpPr>
              <p:cNvPr id="65559" name="Line 48"/>
              <p:cNvSpPr>
                <a:spLocks noChangeShapeType="1"/>
              </p:cNvSpPr>
              <p:nvPr/>
            </p:nvSpPr>
            <p:spPr bwMode="auto">
              <a:xfrm flipH="1" flipV="1">
                <a:off x="1000" y="2296"/>
                <a:ext cx="1460" cy="1411"/>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60" name="Freeform 49"/>
              <p:cNvSpPr>
                <a:spLocks/>
              </p:cNvSpPr>
              <p:nvPr/>
            </p:nvSpPr>
            <p:spPr bwMode="auto">
              <a:xfrm>
                <a:off x="1152" y="2448"/>
                <a:ext cx="82" cy="81"/>
              </a:xfrm>
              <a:custGeom>
                <a:avLst/>
                <a:gdLst>
                  <a:gd name="T0" fmla="*/ 0 w 95"/>
                  <a:gd name="T1" fmla="*/ 4 h 92"/>
                  <a:gd name="T2" fmla="*/ 3 w 95"/>
                  <a:gd name="T3" fmla="*/ 4 h 92"/>
                  <a:gd name="T4" fmla="*/ 3 w 95"/>
                  <a:gd name="T5" fmla="*/ 0 h 92"/>
                  <a:gd name="T6" fmla="*/ 3 w 95"/>
                  <a:gd name="T7" fmla="*/ 4 h 92"/>
                  <a:gd name="T8" fmla="*/ 0 w 95"/>
                  <a:gd name="T9" fmla="*/ 4 h 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5" h="92">
                    <a:moveTo>
                      <a:pt x="0" y="48"/>
                    </a:moveTo>
                    <a:lnTo>
                      <a:pt x="95" y="92"/>
                    </a:lnTo>
                    <a:lnTo>
                      <a:pt x="46" y="0"/>
                    </a:lnTo>
                    <a:lnTo>
                      <a:pt x="46" y="45"/>
                    </a:lnTo>
                    <a:lnTo>
                      <a:pt x="0" y="48"/>
                    </a:lnTo>
                    <a:close/>
                  </a:path>
                </a:pathLst>
              </a:custGeom>
              <a:solidFill>
                <a:srgbClr val="FF0000"/>
              </a:solidFill>
              <a:ln w="28575" cmpd="sng">
                <a:solidFill>
                  <a:srgbClr val="0000FF"/>
                </a:solidFill>
                <a:round/>
                <a:headEnd/>
                <a:tailEnd/>
              </a:ln>
            </p:spPr>
            <p:txBody>
              <a:bodyPr/>
              <a:lstStyle/>
              <a:p>
                <a:endParaRPr lang="zh-CN" altLang="en-US"/>
              </a:p>
            </p:txBody>
          </p:sp>
          <p:sp>
            <p:nvSpPr>
              <p:cNvPr id="65561" name="Freeform 50"/>
              <p:cNvSpPr>
                <a:spLocks/>
              </p:cNvSpPr>
              <p:nvPr/>
            </p:nvSpPr>
            <p:spPr bwMode="auto">
              <a:xfrm>
                <a:off x="2160" y="3408"/>
                <a:ext cx="82" cy="81"/>
              </a:xfrm>
              <a:custGeom>
                <a:avLst/>
                <a:gdLst>
                  <a:gd name="T0" fmla="*/ 3 w 95"/>
                  <a:gd name="T1" fmla="*/ 4 h 92"/>
                  <a:gd name="T2" fmla="*/ 0 w 95"/>
                  <a:gd name="T3" fmla="*/ 0 h 92"/>
                  <a:gd name="T4" fmla="*/ 3 w 95"/>
                  <a:gd name="T5" fmla="*/ 4 h 92"/>
                  <a:gd name="T6" fmla="*/ 3 w 95"/>
                  <a:gd name="T7" fmla="*/ 4 h 92"/>
                  <a:gd name="T8" fmla="*/ 3 w 95"/>
                  <a:gd name="T9" fmla="*/ 4 h 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5" h="92">
                    <a:moveTo>
                      <a:pt x="95" y="44"/>
                    </a:moveTo>
                    <a:lnTo>
                      <a:pt x="0" y="0"/>
                    </a:lnTo>
                    <a:lnTo>
                      <a:pt x="49" y="92"/>
                    </a:lnTo>
                    <a:lnTo>
                      <a:pt x="49" y="47"/>
                    </a:lnTo>
                    <a:lnTo>
                      <a:pt x="95" y="44"/>
                    </a:lnTo>
                    <a:close/>
                  </a:path>
                </a:pathLst>
              </a:custGeom>
              <a:solidFill>
                <a:srgbClr val="FF0000"/>
              </a:solidFill>
              <a:ln w="28575" cmpd="sng">
                <a:solidFill>
                  <a:srgbClr val="0000FF"/>
                </a:solidFill>
                <a:round/>
                <a:headEnd/>
                <a:tailEnd/>
              </a:ln>
            </p:spPr>
            <p:txBody>
              <a:bodyPr/>
              <a:lstStyle/>
              <a:p>
                <a:endParaRPr lang="zh-CN" altLang="en-US"/>
              </a:p>
            </p:txBody>
          </p:sp>
          <p:sp>
            <p:nvSpPr>
              <p:cNvPr id="65562" name="Line 51"/>
              <p:cNvSpPr>
                <a:spLocks noChangeShapeType="1"/>
              </p:cNvSpPr>
              <p:nvPr/>
            </p:nvSpPr>
            <p:spPr bwMode="auto">
              <a:xfrm flipH="1">
                <a:off x="1367" y="2027"/>
                <a:ext cx="785" cy="1858"/>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63" name="Freeform 52"/>
              <p:cNvSpPr>
                <a:spLocks/>
              </p:cNvSpPr>
              <p:nvPr/>
            </p:nvSpPr>
            <p:spPr bwMode="auto">
              <a:xfrm>
                <a:off x="1476" y="3504"/>
                <a:ext cx="60" cy="92"/>
              </a:xfrm>
              <a:custGeom>
                <a:avLst/>
                <a:gdLst>
                  <a:gd name="T0" fmla="*/ 3 w 70"/>
                  <a:gd name="T1" fmla="*/ 6 h 104"/>
                  <a:gd name="T2" fmla="*/ 3 w 70"/>
                  <a:gd name="T3" fmla="*/ 0 h 104"/>
                  <a:gd name="T4" fmla="*/ 0 w 70"/>
                  <a:gd name="T5" fmla="*/ 4 h 104"/>
                  <a:gd name="T6" fmla="*/ 3 w 70"/>
                  <a:gd name="T7" fmla="*/ 4 h 104"/>
                  <a:gd name="T8" fmla="*/ 3 w 70"/>
                  <a:gd name="T9" fmla="*/ 6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 h="104">
                    <a:moveTo>
                      <a:pt x="62" y="104"/>
                    </a:moveTo>
                    <a:lnTo>
                      <a:pt x="70" y="0"/>
                    </a:lnTo>
                    <a:lnTo>
                      <a:pt x="0" y="78"/>
                    </a:lnTo>
                    <a:lnTo>
                      <a:pt x="43" y="62"/>
                    </a:lnTo>
                    <a:lnTo>
                      <a:pt x="62" y="104"/>
                    </a:lnTo>
                    <a:close/>
                  </a:path>
                </a:pathLst>
              </a:custGeom>
              <a:solidFill>
                <a:srgbClr val="FF0000"/>
              </a:solidFill>
              <a:ln w="28575" cmpd="sng">
                <a:solidFill>
                  <a:srgbClr val="0000FF"/>
                </a:solidFill>
                <a:round/>
                <a:headEnd/>
                <a:tailEnd/>
              </a:ln>
            </p:spPr>
            <p:txBody>
              <a:bodyPr/>
              <a:lstStyle/>
              <a:p>
                <a:endParaRPr lang="zh-CN" altLang="en-US"/>
              </a:p>
            </p:txBody>
          </p:sp>
          <p:sp>
            <p:nvSpPr>
              <p:cNvPr id="65564" name="Freeform 53"/>
              <p:cNvSpPr>
                <a:spLocks/>
              </p:cNvSpPr>
              <p:nvPr/>
            </p:nvSpPr>
            <p:spPr bwMode="auto">
              <a:xfrm>
                <a:off x="2016" y="2260"/>
                <a:ext cx="60" cy="92"/>
              </a:xfrm>
              <a:custGeom>
                <a:avLst/>
                <a:gdLst>
                  <a:gd name="T0" fmla="*/ 3 w 70"/>
                  <a:gd name="T1" fmla="*/ 0 h 104"/>
                  <a:gd name="T2" fmla="*/ 0 w 70"/>
                  <a:gd name="T3" fmla="*/ 6 h 104"/>
                  <a:gd name="T4" fmla="*/ 3 w 70"/>
                  <a:gd name="T5" fmla="*/ 4 h 104"/>
                  <a:gd name="T6" fmla="*/ 3 w 70"/>
                  <a:gd name="T7" fmla="*/ 4 h 104"/>
                  <a:gd name="T8" fmla="*/ 3 w 70"/>
                  <a:gd name="T9" fmla="*/ 0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 h="104">
                    <a:moveTo>
                      <a:pt x="8" y="0"/>
                    </a:moveTo>
                    <a:lnTo>
                      <a:pt x="0" y="104"/>
                    </a:lnTo>
                    <a:lnTo>
                      <a:pt x="70" y="26"/>
                    </a:lnTo>
                    <a:lnTo>
                      <a:pt x="27" y="42"/>
                    </a:lnTo>
                    <a:lnTo>
                      <a:pt x="8" y="0"/>
                    </a:lnTo>
                    <a:close/>
                  </a:path>
                </a:pathLst>
              </a:custGeom>
              <a:solidFill>
                <a:srgbClr val="FF0000"/>
              </a:solidFill>
              <a:ln w="28575" cmpd="sng">
                <a:solidFill>
                  <a:srgbClr val="0000FF"/>
                </a:solidFill>
                <a:round/>
                <a:headEnd/>
                <a:tailEnd/>
              </a:ln>
            </p:spPr>
            <p:txBody>
              <a:bodyPr/>
              <a:lstStyle/>
              <a:p>
                <a:endParaRPr lang="zh-CN" altLang="en-US"/>
              </a:p>
            </p:txBody>
          </p:sp>
          <p:sp>
            <p:nvSpPr>
              <p:cNvPr id="65565" name="Line 54"/>
              <p:cNvSpPr>
                <a:spLocks noChangeShapeType="1"/>
              </p:cNvSpPr>
              <p:nvPr/>
            </p:nvSpPr>
            <p:spPr bwMode="auto">
              <a:xfrm flipH="1">
                <a:off x="837" y="2645"/>
                <a:ext cx="1870" cy="697"/>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66" name="Freeform 55"/>
              <p:cNvSpPr>
                <a:spLocks/>
              </p:cNvSpPr>
              <p:nvPr/>
            </p:nvSpPr>
            <p:spPr bwMode="auto">
              <a:xfrm>
                <a:off x="1104" y="3207"/>
                <a:ext cx="89" cy="57"/>
              </a:xfrm>
              <a:custGeom>
                <a:avLst/>
                <a:gdLst>
                  <a:gd name="T0" fmla="*/ 3 w 104"/>
                  <a:gd name="T1" fmla="*/ 4 h 65"/>
                  <a:gd name="T2" fmla="*/ 3 w 104"/>
                  <a:gd name="T3" fmla="*/ 0 h 65"/>
                  <a:gd name="T4" fmla="*/ 0 w 104"/>
                  <a:gd name="T5" fmla="*/ 2 h 65"/>
                  <a:gd name="T6" fmla="*/ 3 w 104"/>
                  <a:gd name="T7" fmla="*/ 4 h 65"/>
                  <a:gd name="T8" fmla="*/ 3 w 104"/>
                  <a:gd name="T9" fmla="*/ 4 h 6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4" h="65">
                    <a:moveTo>
                      <a:pt x="22" y="65"/>
                    </a:moveTo>
                    <a:lnTo>
                      <a:pt x="104" y="0"/>
                    </a:lnTo>
                    <a:lnTo>
                      <a:pt x="0" y="2"/>
                    </a:lnTo>
                    <a:lnTo>
                      <a:pt x="40" y="23"/>
                    </a:lnTo>
                    <a:lnTo>
                      <a:pt x="22" y="65"/>
                    </a:lnTo>
                    <a:close/>
                  </a:path>
                </a:pathLst>
              </a:custGeom>
              <a:solidFill>
                <a:srgbClr val="FF0000"/>
              </a:solidFill>
              <a:ln w="28575" cmpd="sng">
                <a:solidFill>
                  <a:srgbClr val="0000FF"/>
                </a:solidFill>
                <a:round/>
                <a:headEnd/>
                <a:tailEnd/>
              </a:ln>
            </p:spPr>
            <p:txBody>
              <a:bodyPr/>
              <a:lstStyle/>
              <a:p>
                <a:endParaRPr lang="zh-CN" altLang="en-US"/>
              </a:p>
            </p:txBody>
          </p:sp>
          <p:sp>
            <p:nvSpPr>
              <p:cNvPr id="65567" name="Freeform 56"/>
              <p:cNvSpPr>
                <a:spLocks/>
              </p:cNvSpPr>
              <p:nvPr/>
            </p:nvSpPr>
            <p:spPr bwMode="auto">
              <a:xfrm>
                <a:off x="2352" y="2727"/>
                <a:ext cx="89" cy="57"/>
              </a:xfrm>
              <a:custGeom>
                <a:avLst/>
                <a:gdLst>
                  <a:gd name="T0" fmla="*/ 3 w 104"/>
                  <a:gd name="T1" fmla="*/ 0 h 65"/>
                  <a:gd name="T2" fmla="*/ 0 w 104"/>
                  <a:gd name="T3" fmla="*/ 4 h 65"/>
                  <a:gd name="T4" fmla="*/ 3 w 104"/>
                  <a:gd name="T5" fmla="*/ 4 h 65"/>
                  <a:gd name="T6" fmla="*/ 3 w 104"/>
                  <a:gd name="T7" fmla="*/ 4 h 65"/>
                  <a:gd name="T8" fmla="*/ 3 w 104"/>
                  <a:gd name="T9" fmla="*/ 0 h 6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4" h="65">
                    <a:moveTo>
                      <a:pt x="82" y="0"/>
                    </a:moveTo>
                    <a:lnTo>
                      <a:pt x="0" y="65"/>
                    </a:lnTo>
                    <a:lnTo>
                      <a:pt x="104" y="63"/>
                    </a:lnTo>
                    <a:lnTo>
                      <a:pt x="64" y="42"/>
                    </a:lnTo>
                    <a:lnTo>
                      <a:pt x="82" y="0"/>
                    </a:lnTo>
                    <a:close/>
                  </a:path>
                </a:pathLst>
              </a:custGeom>
              <a:solidFill>
                <a:srgbClr val="FF0000"/>
              </a:solidFill>
              <a:ln w="28575" cmpd="sng">
                <a:solidFill>
                  <a:srgbClr val="0000FF"/>
                </a:solidFill>
                <a:round/>
                <a:headEnd/>
                <a:tailEnd/>
              </a:ln>
            </p:spPr>
            <p:txBody>
              <a:bodyPr/>
              <a:lstStyle/>
              <a:p>
                <a:endParaRPr lang="zh-CN" altLang="en-US"/>
              </a:p>
            </p:txBody>
          </p:sp>
          <p:sp>
            <p:nvSpPr>
              <p:cNvPr id="65568" name="Line 57"/>
              <p:cNvSpPr>
                <a:spLocks noChangeShapeType="1"/>
              </p:cNvSpPr>
              <p:nvPr/>
            </p:nvSpPr>
            <p:spPr bwMode="auto">
              <a:xfrm flipV="1">
                <a:off x="1056" y="2234"/>
                <a:ext cx="1440" cy="1427"/>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69" name="Freeform 58"/>
              <p:cNvSpPr>
                <a:spLocks/>
              </p:cNvSpPr>
              <p:nvPr/>
            </p:nvSpPr>
            <p:spPr bwMode="auto">
              <a:xfrm>
                <a:off x="2208" y="2448"/>
                <a:ext cx="81" cy="82"/>
              </a:xfrm>
              <a:custGeom>
                <a:avLst/>
                <a:gdLst>
                  <a:gd name="T0" fmla="*/ 3 w 94"/>
                  <a:gd name="T1" fmla="*/ 0 h 93"/>
                  <a:gd name="T2" fmla="*/ 0 w 94"/>
                  <a:gd name="T3" fmla="*/ 4 h 93"/>
                  <a:gd name="T4" fmla="*/ 3 w 94"/>
                  <a:gd name="T5" fmla="*/ 4 h 93"/>
                  <a:gd name="T6" fmla="*/ 3 w 94"/>
                  <a:gd name="T7" fmla="*/ 4 h 93"/>
                  <a:gd name="T8" fmla="*/ 3 w 94"/>
                  <a:gd name="T9" fmla="*/ 0 h 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4" h="93">
                    <a:moveTo>
                      <a:pt x="48" y="0"/>
                    </a:moveTo>
                    <a:lnTo>
                      <a:pt x="0" y="93"/>
                    </a:lnTo>
                    <a:lnTo>
                      <a:pt x="94" y="48"/>
                    </a:lnTo>
                    <a:lnTo>
                      <a:pt x="49" y="46"/>
                    </a:lnTo>
                    <a:lnTo>
                      <a:pt x="48" y="0"/>
                    </a:lnTo>
                    <a:close/>
                  </a:path>
                </a:pathLst>
              </a:custGeom>
              <a:solidFill>
                <a:srgbClr val="FF0000"/>
              </a:solidFill>
              <a:ln w="28575" cmpd="sng">
                <a:solidFill>
                  <a:srgbClr val="0000FF"/>
                </a:solidFill>
                <a:round/>
                <a:headEnd/>
                <a:tailEnd/>
              </a:ln>
            </p:spPr>
            <p:txBody>
              <a:bodyPr/>
              <a:lstStyle/>
              <a:p>
                <a:endParaRPr lang="zh-CN" altLang="en-US"/>
              </a:p>
            </p:txBody>
          </p:sp>
          <p:sp>
            <p:nvSpPr>
              <p:cNvPr id="65570" name="Freeform 59"/>
              <p:cNvSpPr>
                <a:spLocks/>
              </p:cNvSpPr>
              <p:nvPr/>
            </p:nvSpPr>
            <p:spPr bwMode="auto">
              <a:xfrm>
                <a:off x="1237" y="3395"/>
                <a:ext cx="81" cy="82"/>
              </a:xfrm>
              <a:custGeom>
                <a:avLst/>
                <a:gdLst>
                  <a:gd name="T0" fmla="*/ 3 w 94"/>
                  <a:gd name="T1" fmla="*/ 4 h 93"/>
                  <a:gd name="T2" fmla="*/ 3 w 94"/>
                  <a:gd name="T3" fmla="*/ 0 h 93"/>
                  <a:gd name="T4" fmla="*/ 0 w 94"/>
                  <a:gd name="T5" fmla="*/ 4 h 93"/>
                  <a:gd name="T6" fmla="*/ 3 w 94"/>
                  <a:gd name="T7" fmla="*/ 4 h 93"/>
                  <a:gd name="T8" fmla="*/ 3 w 94"/>
                  <a:gd name="T9" fmla="*/ 4 h 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4" h="93">
                    <a:moveTo>
                      <a:pt x="46" y="93"/>
                    </a:moveTo>
                    <a:lnTo>
                      <a:pt x="94" y="0"/>
                    </a:lnTo>
                    <a:lnTo>
                      <a:pt x="0" y="45"/>
                    </a:lnTo>
                    <a:lnTo>
                      <a:pt x="45" y="47"/>
                    </a:lnTo>
                    <a:lnTo>
                      <a:pt x="46" y="93"/>
                    </a:lnTo>
                    <a:close/>
                  </a:path>
                </a:pathLst>
              </a:custGeom>
              <a:solidFill>
                <a:srgbClr val="FF0000"/>
              </a:solidFill>
              <a:ln w="28575" cmpd="sng">
                <a:solidFill>
                  <a:srgbClr val="0000FF"/>
                </a:solidFill>
                <a:round/>
                <a:headEnd/>
                <a:tailEnd/>
              </a:ln>
            </p:spPr>
            <p:txBody>
              <a:bodyPr/>
              <a:lstStyle/>
              <a:p>
                <a:endParaRPr lang="zh-CN" altLang="en-US"/>
              </a:p>
            </p:txBody>
          </p:sp>
          <p:sp>
            <p:nvSpPr>
              <p:cNvPr id="65571" name="Line 60"/>
              <p:cNvSpPr>
                <a:spLocks noChangeShapeType="1"/>
              </p:cNvSpPr>
              <p:nvPr/>
            </p:nvSpPr>
            <p:spPr bwMode="auto">
              <a:xfrm flipV="1">
                <a:off x="1730" y="1930"/>
                <a:ext cx="1" cy="2044"/>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72" name="Freeform 61"/>
              <p:cNvSpPr>
                <a:spLocks/>
              </p:cNvSpPr>
              <p:nvPr/>
            </p:nvSpPr>
            <p:spPr bwMode="auto">
              <a:xfrm>
                <a:off x="1695" y="2208"/>
                <a:ext cx="57" cy="87"/>
              </a:xfrm>
              <a:custGeom>
                <a:avLst/>
                <a:gdLst>
                  <a:gd name="T0" fmla="*/ 0 w 67"/>
                  <a:gd name="T1" fmla="*/ 0 h 99"/>
                  <a:gd name="T2" fmla="*/ 3 w 67"/>
                  <a:gd name="T3" fmla="*/ 4 h 99"/>
                  <a:gd name="T4" fmla="*/ 3 w 67"/>
                  <a:gd name="T5" fmla="*/ 0 h 99"/>
                  <a:gd name="T6" fmla="*/ 3 w 67"/>
                  <a:gd name="T7" fmla="*/ 4 h 99"/>
                  <a:gd name="T8" fmla="*/ 0 w 67"/>
                  <a:gd name="T9" fmla="*/ 0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 h="99">
                    <a:moveTo>
                      <a:pt x="0" y="0"/>
                    </a:moveTo>
                    <a:lnTo>
                      <a:pt x="34" y="99"/>
                    </a:lnTo>
                    <a:lnTo>
                      <a:pt x="67" y="0"/>
                    </a:lnTo>
                    <a:lnTo>
                      <a:pt x="34" y="31"/>
                    </a:lnTo>
                    <a:lnTo>
                      <a:pt x="0" y="0"/>
                    </a:lnTo>
                    <a:close/>
                  </a:path>
                </a:pathLst>
              </a:custGeom>
              <a:solidFill>
                <a:srgbClr val="FF0000"/>
              </a:solidFill>
              <a:ln w="28575" cmpd="sng">
                <a:solidFill>
                  <a:srgbClr val="0000FF"/>
                </a:solidFill>
                <a:round/>
                <a:headEnd/>
                <a:tailEnd/>
              </a:ln>
            </p:spPr>
            <p:txBody>
              <a:bodyPr/>
              <a:lstStyle/>
              <a:p>
                <a:endParaRPr lang="zh-CN" altLang="en-US"/>
              </a:p>
            </p:txBody>
          </p:sp>
          <p:sp>
            <p:nvSpPr>
              <p:cNvPr id="65573" name="Freeform 62"/>
              <p:cNvSpPr>
                <a:spLocks/>
              </p:cNvSpPr>
              <p:nvPr/>
            </p:nvSpPr>
            <p:spPr bwMode="auto">
              <a:xfrm>
                <a:off x="1700" y="3575"/>
                <a:ext cx="57" cy="87"/>
              </a:xfrm>
              <a:custGeom>
                <a:avLst/>
                <a:gdLst>
                  <a:gd name="T0" fmla="*/ 3 w 67"/>
                  <a:gd name="T1" fmla="*/ 4 h 99"/>
                  <a:gd name="T2" fmla="*/ 3 w 67"/>
                  <a:gd name="T3" fmla="*/ 0 h 99"/>
                  <a:gd name="T4" fmla="*/ 0 w 67"/>
                  <a:gd name="T5" fmla="*/ 4 h 99"/>
                  <a:gd name="T6" fmla="*/ 3 w 67"/>
                  <a:gd name="T7" fmla="*/ 4 h 99"/>
                  <a:gd name="T8" fmla="*/ 3 w 67"/>
                  <a:gd name="T9" fmla="*/ 4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 h="99">
                    <a:moveTo>
                      <a:pt x="67" y="99"/>
                    </a:moveTo>
                    <a:lnTo>
                      <a:pt x="33" y="0"/>
                    </a:lnTo>
                    <a:lnTo>
                      <a:pt x="0" y="99"/>
                    </a:lnTo>
                    <a:lnTo>
                      <a:pt x="33" y="68"/>
                    </a:lnTo>
                    <a:lnTo>
                      <a:pt x="67" y="99"/>
                    </a:lnTo>
                    <a:close/>
                  </a:path>
                </a:pathLst>
              </a:custGeom>
              <a:solidFill>
                <a:srgbClr val="FF0000"/>
              </a:solidFill>
              <a:ln w="28575" cmpd="sng">
                <a:solidFill>
                  <a:srgbClr val="0000FF"/>
                </a:solidFill>
                <a:round/>
                <a:headEnd/>
                <a:tailEnd/>
              </a:ln>
            </p:spPr>
            <p:txBody>
              <a:bodyPr/>
              <a:lstStyle/>
              <a:p>
                <a:endParaRPr lang="zh-CN" altLang="en-US"/>
              </a:p>
            </p:txBody>
          </p:sp>
          <p:sp>
            <p:nvSpPr>
              <p:cNvPr id="65574" name="Line 63"/>
              <p:cNvSpPr>
                <a:spLocks noChangeShapeType="1"/>
              </p:cNvSpPr>
              <p:nvPr/>
            </p:nvSpPr>
            <p:spPr bwMode="auto">
              <a:xfrm flipH="1" flipV="1">
                <a:off x="1327" y="2018"/>
                <a:ext cx="808" cy="1867"/>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75" name="Freeform 64"/>
              <p:cNvSpPr>
                <a:spLocks/>
              </p:cNvSpPr>
              <p:nvPr/>
            </p:nvSpPr>
            <p:spPr bwMode="auto">
              <a:xfrm>
                <a:off x="1403" y="2256"/>
                <a:ext cx="62" cy="92"/>
              </a:xfrm>
              <a:custGeom>
                <a:avLst/>
                <a:gdLst>
                  <a:gd name="T0" fmla="*/ 0 w 72"/>
                  <a:gd name="T1" fmla="*/ 4 h 104"/>
                  <a:gd name="T2" fmla="*/ 3 w 72"/>
                  <a:gd name="T3" fmla="*/ 6 h 104"/>
                  <a:gd name="T4" fmla="*/ 3 w 72"/>
                  <a:gd name="T5" fmla="*/ 0 h 104"/>
                  <a:gd name="T6" fmla="*/ 3 w 72"/>
                  <a:gd name="T7" fmla="*/ 4 h 104"/>
                  <a:gd name="T8" fmla="*/ 0 w 72"/>
                  <a:gd name="T9" fmla="*/ 4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 h="104">
                    <a:moveTo>
                      <a:pt x="0" y="28"/>
                    </a:moveTo>
                    <a:lnTo>
                      <a:pt x="72" y="104"/>
                    </a:lnTo>
                    <a:lnTo>
                      <a:pt x="61" y="0"/>
                    </a:lnTo>
                    <a:lnTo>
                      <a:pt x="44" y="42"/>
                    </a:lnTo>
                    <a:lnTo>
                      <a:pt x="0" y="28"/>
                    </a:lnTo>
                    <a:close/>
                  </a:path>
                </a:pathLst>
              </a:custGeom>
              <a:solidFill>
                <a:srgbClr val="FF0000"/>
              </a:solidFill>
              <a:ln w="28575" cmpd="sng">
                <a:solidFill>
                  <a:srgbClr val="0000FF"/>
                </a:solidFill>
                <a:round/>
                <a:headEnd/>
                <a:tailEnd/>
              </a:ln>
            </p:spPr>
            <p:txBody>
              <a:bodyPr/>
              <a:lstStyle/>
              <a:p>
                <a:endParaRPr lang="zh-CN" altLang="en-US"/>
              </a:p>
            </p:txBody>
          </p:sp>
          <p:sp>
            <p:nvSpPr>
              <p:cNvPr id="65576" name="Freeform 65"/>
              <p:cNvSpPr>
                <a:spLocks/>
              </p:cNvSpPr>
              <p:nvPr/>
            </p:nvSpPr>
            <p:spPr bwMode="auto">
              <a:xfrm>
                <a:off x="1954" y="3508"/>
                <a:ext cx="62" cy="92"/>
              </a:xfrm>
              <a:custGeom>
                <a:avLst/>
                <a:gdLst>
                  <a:gd name="T0" fmla="*/ 3 w 72"/>
                  <a:gd name="T1" fmla="*/ 4 h 104"/>
                  <a:gd name="T2" fmla="*/ 0 w 72"/>
                  <a:gd name="T3" fmla="*/ 0 h 104"/>
                  <a:gd name="T4" fmla="*/ 3 w 72"/>
                  <a:gd name="T5" fmla="*/ 6 h 104"/>
                  <a:gd name="T6" fmla="*/ 3 w 72"/>
                  <a:gd name="T7" fmla="*/ 4 h 104"/>
                  <a:gd name="T8" fmla="*/ 3 w 72"/>
                  <a:gd name="T9" fmla="*/ 4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 h="104">
                    <a:moveTo>
                      <a:pt x="72" y="76"/>
                    </a:moveTo>
                    <a:lnTo>
                      <a:pt x="0" y="0"/>
                    </a:lnTo>
                    <a:lnTo>
                      <a:pt x="11" y="104"/>
                    </a:lnTo>
                    <a:lnTo>
                      <a:pt x="28" y="62"/>
                    </a:lnTo>
                    <a:lnTo>
                      <a:pt x="72" y="76"/>
                    </a:lnTo>
                    <a:close/>
                  </a:path>
                </a:pathLst>
              </a:custGeom>
              <a:solidFill>
                <a:srgbClr val="FF0000"/>
              </a:solidFill>
              <a:ln w="28575" cmpd="sng">
                <a:solidFill>
                  <a:srgbClr val="0000FF"/>
                </a:solidFill>
                <a:round/>
                <a:headEnd/>
                <a:tailEnd/>
              </a:ln>
            </p:spPr>
            <p:txBody>
              <a:bodyPr/>
              <a:lstStyle/>
              <a:p>
                <a:endParaRPr lang="zh-CN" altLang="en-US"/>
              </a:p>
            </p:txBody>
          </p:sp>
        </p:grpSp>
        <p:grpSp>
          <p:nvGrpSpPr>
            <p:cNvPr id="65550" name="Group 66"/>
            <p:cNvGrpSpPr>
              <a:grpSpLocks/>
            </p:cNvGrpSpPr>
            <p:nvPr/>
          </p:nvGrpSpPr>
          <p:grpSpPr bwMode="auto">
            <a:xfrm>
              <a:off x="1358" y="2854"/>
              <a:ext cx="255" cy="264"/>
              <a:chOff x="1440" y="2851"/>
              <a:chExt cx="255" cy="264"/>
            </a:xfrm>
          </p:grpSpPr>
          <p:sp>
            <p:nvSpPr>
              <p:cNvPr id="65551" name="Oval 67"/>
              <p:cNvSpPr>
                <a:spLocks noChangeArrowheads="1"/>
              </p:cNvSpPr>
              <p:nvPr/>
            </p:nvSpPr>
            <p:spPr bwMode="auto">
              <a:xfrm>
                <a:off x="1440" y="2851"/>
                <a:ext cx="255" cy="264"/>
              </a:xfrm>
              <a:prstGeom prst="ellipse">
                <a:avLst/>
              </a:prstGeom>
              <a:solidFill>
                <a:srgbClr val="CCFFFF"/>
              </a:solidFill>
              <a:ln w="28575">
                <a:solidFill>
                  <a:srgbClr val="0000FF"/>
                </a:solidFill>
                <a:round/>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65552" name="Rectangle 68"/>
              <p:cNvSpPr>
                <a:spLocks noChangeArrowheads="1"/>
              </p:cNvSpPr>
              <p:nvPr/>
            </p:nvSpPr>
            <p:spPr bwMode="auto">
              <a:xfrm>
                <a:off x="1487" y="2967"/>
                <a:ext cx="155" cy="56"/>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pSp>
      </p:grpSp>
      <p:sp>
        <p:nvSpPr>
          <p:cNvPr id="157765" name="Text Box 69"/>
          <p:cNvSpPr txBox="1">
            <a:spLocks noChangeArrowheads="1"/>
          </p:cNvSpPr>
          <p:nvPr/>
        </p:nvSpPr>
        <p:spPr bwMode="auto">
          <a:xfrm>
            <a:off x="2455221" y="6372355"/>
            <a:ext cx="5520933" cy="52540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800">
                <a:solidFill>
                  <a:srgbClr val="FF3300"/>
                </a:solidFill>
                <a:ea typeface="楷体_GB2312"/>
              </a:rPr>
              <a:t>正电荷                       </a:t>
            </a:r>
            <a:r>
              <a:rPr lang="zh-CN" altLang="en-US" sz="2800">
                <a:solidFill>
                  <a:schemeClr val="hlink"/>
                </a:solidFill>
                <a:ea typeface="楷体_GB2312"/>
              </a:rPr>
              <a:t>负电荷</a:t>
            </a:r>
          </a:p>
        </p:txBody>
      </p:sp>
      <p:pic>
        <p:nvPicPr>
          <p:cNvPr id="60427" name="Picture 4" descr="2319c"/>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9413" y="1873182"/>
            <a:ext cx="2058987" cy="210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5628251"/>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7698"/>
                                        </p:tgtEl>
                                        <p:attrNameLst>
                                          <p:attrName>style.visibility</p:attrName>
                                        </p:attrNameLst>
                                      </p:cBhvr>
                                      <p:to>
                                        <p:strVal val="visible"/>
                                      </p:to>
                                    </p:set>
                                    <p:animEffect transition="in" filter="wipe(left)">
                                      <p:cBhvr>
                                        <p:cTn id="7" dur="500"/>
                                        <p:tgtEl>
                                          <p:spTgt spid="1576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7700"/>
                                        </p:tgtEl>
                                        <p:attrNameLst>
                                          <p:attrName>style.visibility</p:attrName>
                                        </p:attrNameLst>
                                      </p:cBhvr>
                                      <p:to>
                                        <p:strVal val="visible"/>
                                      </p:to>
                                    </p:set>
                                    <p:animEffect transition="in" filter="wipe(left)">
                                      <p:cBhvr>
                                        <p:cTn id="12" dur="500"/>
                                        <p:tgtEl>
                                          <p:spTgt spid="1577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7699"/>
                                        </p:tgtEl>
                                        <p:attrNameLst>
                                          <p:attrName>style.visibility</p:attrName>
                                        </p:attrNameLst>
                                      </p:cBhvr>
                                      <p:to>
                                        <p:strVal val="visible"/>
                                      </p:to>
                                    </p:set>
                                    <p:animEffect transition="in" filter="wipe(left)">
                                      <p:cBhvr>
                                        <p:cTn id="17" dur="500"/>
                                        <p:tgtEl>
                                          <p:spTgt spid="15769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157701">
                                            <p:txEl>
                                              <p:pRg st="0" end="0"/>
                                            </p:txEl>
                                          </p:spTgt>
                                        </p:tgtEl>
                                        <p:attrNameLst>
                                          <p:attrName>style.visibility</p:attrName>
                                        </p:attrNameLst>
                                      </p:cBhvr>
                                      <p:to>
                                        <p:strVal val="visible"/>
                                      </p:to>
                                    </p:set>
                                    <p:animEffect transition="in" filter="wipe(left)">
                                      <p:cBhvr>
                                        <p:cTn id="22" dur="75"/>
                                        <p:tgtEl>
                                          <p:spTgt spid="157701">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157703"/>
                                        </p:tgtEl>
                                        <p:attrNameLst>
                                          <p:attrName>style.visibility</p:attrName>
                                        </p:attrNameLst>
                                      </p:cBhvr>
                                      <p:to>
                                        <p:strVal val="visible"/>
                                      </p:to>
                                    </p:set>
                                    <p:animEffect transition="in" filter="wipe(down)">
                                      <p:cBhvr>
                                        <p:cTn id="27" dur="500"/>
                                        <p:tgtEl>
                                          <p:spTgt spid="15770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7702"/>
                                        </p:tgtEl>
                                        <p:attrNameLst>
                                          <p:attrName>style.visibility</p:attrName>
                                        </p:attrNameLst>
                                      </p:cBhvr>
                                      <p:to>
                                        <p:strVal val="visible"/>
                                      </p:to>
                                    </p:set>
                                    <p:animEffect transition="in" filter="wipe(left)">
                                      <p:cBhvr>
                                        <p:cTn id="32" dur="500"/>
                                        <p:tgtEl>
                                          <p:spTgt spid="15770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nodeType="clickEffect">
                                  <p:stCondLst>
                                    <p:cond delay="0"/>
                                  </p:stCondLst>
                                  <p:childTnLst>
                                    <p:set>
                                      <p:cBhvr>
                                        <p:cTn id="36" dur="1" fill="hold">
                                          <p:stCondLst>
                                            <p:cond delay="0"/>
                                          </p:stCondLst>
                                        </p:cTn>
                                        <p:tgtEl>
                                          <p:spTgt spid="157704"/>
                                        </p:tgtEl>
                                        <p:attrNameLst>
                                          <p:attrName>style.visibility</p:attrName>
                                        </p:attrNameLst>
                                      </p:cBhvr>
                                      <p:to>
                                        <p:strVal val="visible"/>
                                      </p:to>
                                    </p:set>
                                    <p:animEffect transition="in" filter="box(out)">
                                      <p:cBhvr>
                                        <p:cTn id="37" dur="500"/>
                                        <p:tgtEl>
                                          <p:spTgt spid="15770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0"/>
                                          </p:stCondLst>
                                        </p:cTn>
                                        <p:tgtEl>
                                          <p:spTgt spid="60427"/>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4" presetClass="entr" presetSubtype="16" fill="hold" nodeType="clickEffect">
                                  <p:stCondLst>
                                    <p:cond delay="0"/>
                                  </p:stCondLst>
                                  <p:childTnLst>
                                    <p:set>
                                      <p:cBhvr>
                                        <p:cTn id="45" dur="1" fill="hold">
                                          <p:stCondLst>
                                            <p:cond delay="0"/>
                                          </p:stCondLst>
                                        </p:cTn>
                                        <p:tgtEl>
                                          <p:spTgt spid="157735"/>
                                        </p:tgtEl>
                                        <p:attrNameLst>
                                          <p:attrName>style.visibility</p:attrName>
                                        </p:attrNameLst>
                                      </p:cBhvr>
                                      <p:to>
                                        <p:strVal val="visible"/>
                                      </p:to>
                                    </p:set>
                                    <p:animEffect transition="in" filter="box(in)">
                                      <p:cBhvr>
                                        <p:cTn id="46" dur="500"/>
                                        <p:tgtEl>
                                          <p:spTgt spid="15773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157765"/>
                                        </p:tgtEl>
                                        <p:attrNameLst>
                                          <p:attrName>style.visibility</p:attrName>
                                        </p:attrNameLst>
                                      </p:cBhvr>
                                      <p:to>
                                        <p:strVal val="visible"/>
                                      </p:to>
                                    </p:set>
                                    <p:animEffect transition="in" filter="wipe(down)">
                                      <p:cBhvr>
                                        <p:cTn id="51" dur="500"/>
                                        <p:tgtEl>
                                          <p:spTgt spid="1577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8" grpId="0" autoUpdateAnimBg="0"/>
      <p:bldP spid="157699" grpId="0" autoUpdateAnimBg="0"/>
      <p:bldP spid="157700" grpId="0" animBg="1" autoUpdateAnimBg="0"/>
      <p:bldP spid="157701" grpId="0" build="p" autoUpdateAnimBg="0"/>
      <p:bldP spid="157702" grpId="0" autoUpdateAnimBg="0"/>
      <p:bldP spid="15776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722" name="Picture 2" descr="10-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4525" y="2932113"/>
            <a:ext cx="2519363" cy="377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724" name="Picture 4" descr="10-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15888"/>
            <a:ext cx="2155825" cy="265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0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7900" y="247650"/>
            <a:ext cx="2354263"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726" name="Rectangle 6"/>
          <p:cNvSpPr>
            <a:spLocks noChangeArrowheads="1"/>
          </p:cNvSpPr>
          <p:nvPr/>
        </p:nvSpPr>
        <p:spPr bwMode="auto">
          <a:xfrm>
            <a:off x="0" y="6156325"/>
            <a:ext cx="42116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000">
                <a:solidFill>
                  <a:schemeClr val="accent2"/>
                </a:solidFill>
                <a:latin typeface="Bookman Old Style" panose="02050604050505020204" pitchFamily="18" charset="0"/>
                <a:ea typeface="楷体_GB2312"/>
              </a:rPr>
              <a:t>一对异号不等量点电荷的电场线</a:t>
            </a:r>
          </a:p>
        </p:txBody>
      </p:sp>
      <p:pic>
        <p:nvPicPr>
          <p:cNvPr id="57" name="Picture 4" descr="2320b"/>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13550" y="404813"/>
            <a:ext cx="2266950" cy="213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58727" name="Group 7"/>
          <p:cNvGrpSpPr>
            <a:grpSpLocks/>
          </p:cNvGrpSpPr>
          <p:nvPr/>
        </p:nvGrpSpPr>
        <p:grpSpPr bwMode="auto">
          <a:xfrm>
            <a:off x="539750" y="3933825"/>
            <a:ext cx="2522538" cy="2316163"/>
            <a:chOff x="763" y="288"/>
            <a:chExt cx="4181" cy="3840"/>
          </a:xfrm>
        </p:grpSpPr>
        <p:sp>
          <p:nvSpPr>
            <p:cNvPr id="66569" name="Arc 8"/>
            <p:cNvSpPr>
              <a:spLocks/>
            </p:cNvSpPr>
            <p:nvPr/>
          </p:nvSpPr>
          <p:spPr bwMode="auto">
            <a:xfrm>
              <a:off x="1021" y="288"/>
              <a:ext cx="996" cy="1920"/>
            </a:xfrm>
            <a:custGeom>
              <a:avLst/>
              <a:gdLst>
                <a:gd name="T0" fmla="*/ 0 w 20366"/>
                <a:gd name="T1" fmla="*/ 0 h 21600"/>
                <a:gd name="T2" fmla="*/ 0 w 20366"/>
                <a:gd name="T3" fmla="*/ 0 h 21600"/>
                <a:gd name="T4" fmla="*/ 0 w 20366"/>
                <a:gd name="T5" fmla="*/ 0 h 21600"/>
                <a:gd name="T6" fmla="*/ 0 60000 65536"/>
                <a:gd name="T7" fmla="*/ 0 60000 65536"/>
                <a:gd name="T8" fmla="*/ 0 60000 65536"/>
              </a:gdLst>
              <a:ahLst/>
              <a:cxnLst>
                <a:cxn ang="T6">
                  <a:pos x="T0" y="T1"/>
                </a:cxn>
                <a:cxn ang="T7">
                  <a:pos x="T2" y="T3"/>
                </a:cxn>
                <a:cxn ang="T8">
                  <a:pos x="T4" y="T5"/>
                </a:cxn>
              </a:cxnLst>
              <a:rect l="0" t="0" r="r" b="b"/>
              <a:pathLst>
                <a:path w="20366" h="21600" fill="none" extrusionOk="0">
                  <a:moveTo>
                    <a:pt x="20366" y="21600"/>
                  </a:moveTo>
                  <a:cubicBezTo>
                    <a:pt x="11211" y="21600"/>
                    <a:pt x="3050" y="15828"/>
                    <a:pt x="0" y="7196"/>
                  </a:cubicBezTo>
                </a:path>
                <a:path w="20366" h="21600" stroke="0" extrusionOk="0">
                  <a:moveTo>
                    <a:pt x="20366" y="21600"/>
                  </a:moveTo>
                  <a:cubicBezTo>
                    <a:pt x="11211" y="21600"/>
                    <a:pt x="3050" y="15828"/>
                    <a:pt x="0" y="7196"/>
                  </a:cubicBezTo>
                  <a:lnTo>
                    <a:pt x="20366" y="0"/>
                  </a:lnTo>
                  <a:lnTo>
                    <a:pt x="20366" y="21600"/>
                  </a:lnTo>
                  <a:close/>
                </a:path>
              </a:pathLst>
            </a:custGeom>
            <a:noFill/>
            <a:ln w="19050" cap="rnd">
              <a:solidFill>
                <a:schemeClr val="accent2"/>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6570" name="Group 9"/>
            <p:cNvGrpSpPr>
              <a:grpSpLocks/>
            </p:cNvGrpSpPr>
            <p:nvPr/>
          </p:nvGrpSpPr>
          <p:grpSpPr bwMode="auto">
            <a:xfrm>
              <a:off x="763" y="440"/>
              <a:ext cx="4181" cy="3688"/>
              <a:chOff x="763" y="440"/>
              <a:chExt cx="4181" cy="3688"/>
            </a:xfrm>
          </p:grpSpPr>
          <p:sp>
            <p:nvSpPr>
              <p:cNvPr id="66571" name="Arc 10"/>
              <p:cNvSpPr>
                <a:spLocks/>
              </p:cNvSpPr>
              <p:nvPr/>
            </p:nvSpPr>
            <p:spPr bwMode="auto">
              <a:xfrm>
                <a:off x="812" y="1392"/>
                <a:ext cx="1205" cy="816"/>
              </a:xfrm>
              <a:custGeom>
                <a:avLst/>
                <a:gdLst>
                  <a:gd name="T0" fmla="*/ 0 w 20087"/>
                  <a:gd name="T1" fmla="*/ 0 h 21600"/>
                  <a:gd name="T2" fmla="*/ 0 w 20087"/>
                  <a:gd name="T3" fmla="*/ 0 h 21600"/>
                  <a:gd name="T4" fmla="*/ 0 w 20087"/>
                  <a:gd name="T5" fmla="*/ 0 h 21600"/>
                  <a:gd name="T6" fmla="*/ 0 60000 65536"/>
                  <a:gd name="T7" fmla="*/ 0 60000 65536"/>
                  <a:gd name="T8" fmla="*/ 0 60000 65536"/>
                </a:gdLst>
                <a:ahLst/>
                <a:cxnLst>
                  <a:cxn ang="T6">
                    <a:pos x="T0" y="T1"/>
                  </a:cxn>
                  <a:cxn ang="T7">
                    <a:pos x="T2" y="T3"/>
                  </a:cxn>
                  <a:cxn ang="T8">
                    <a:pos x="T4" y="T5"/>
                  </a:cxn>
                </a:cxnLst>
                <a:rect l="0" t="0" r="r" b="b"/>
                <a:pathLst>
                  <a:path w="20087" h="21600" fill="none" extrusionOk="0">
                    <a:moveTo>
                      <a:pt x="20087" y="21600"/>
                    </a:moveTo>
                    <a:cubicBezTo>
                      <a:pt x="11223" y="21600"/>
                      <a:pt x="3259" y="16185"/>
                      <a:pt x="0" y="7942"/>
                    </a:cubicBezTo>
                  </a:path>
                  <a:path w="20087" h="21600" stroke="0" extrusionOk="0">
                    <a:moveTo>
                      <a:pt x="20087" y="21600"/>
                    </a:moveTo>
                    <a:cubicBezTo>
                      <a:pt x="11223" y="21600"/>
                      <a:pt x="3259" y="16185"/>
                      <a:pt x="0" y="7942"/>
                    </a:cubicBezTo>
                    <a:lnTo>
                      <a:pt x="20087" y="0"/>
                    </a:lnTo>
                    <a:lnTo>
                      <a:pt x="20087" y="21600"/>
                    </a:lnTo>
                    <a:close/>
                  </a:path>
                </a:pathLst>
              </a:custGeom>
              <a:noFill/>
              <a:ln w="19050" cap="rnd">
                <a:solidFill>
                  <a:schemeClr val="accent2"/>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2" name="Arc 11"/>
              <p:cNvSpPr>
                <a:spLocks/>
              </p:cNvSpPr>
              <p:nvPr/>
            </p:nvSpPr>
            <p:spPr bwMode="auto">
              <a:xfrm rot="10800000">
                <a:off x="1402" y="2208"/>
                <a:ext cx="566" cy="1728"/>
              </a:xfrm>
              <a:custGeom>
                <a:avLst/>
                <a:gdLst>
                  <a:gd name="T0" fmla="*/ 0 w 21209"/>
                  <a:gd name="T1" fmla="*/ 0 h 21600"/>
                  <a:gd name="T2" fmla="*/ 0 w 21209"/>
                  <a:gd name="T3" fmla="*/ 0 h 21600"/>
                  <a:gd name="T4" fmla="*/ 0 w 21209"/>
                  <a:gd name="T5" fmla="*/ 0 h 21600"/>
                  <a:gd name="T6" fmla="*/ 0 60000 65536"/>
                  <a:gd name="T7" fmla="*/ 0 60000 65536"/>
                  <a:gd name="T8" fmla="*/ 0 60000 65536"/>
                </a:gdLst>
                <a:ahLst/>
                <a:cxnLst>
                  <a:cxn ang="T6">
                    <a:pos x="T0" y="T1"/>
                  </a:cxn>
                  <a:cxn ang="T7">
                    <a:pos x="T2" y="T3"/>
                  </a:cxn>
                  <a:cxn ang="T8">
                    <a:pos x="T4" y="T5"/>
                  </a:cxn>
                </a:cxnLst>
                <a:rect l="0" t="0" r="r" b="b"/>
                <a:pathLst>
                  <a:path w="21209" h="21600" fill="none" extrusionOk="0">
                    <a:moveTo>
                      <a:pt x="21208" y="4091"/>
                    </a:moveTo>
                    <a:cubicBezTo>
                      <a:pt x="19247" y="14256"/>
                      <a:pt x="10351" y="21599"/>
                      <a:pt x="0" y="21600"/>
                    </a:cubicBezTo>
                  </a:path>
                  <a:path w="21209" h="21600" stroke="0" extrusionOk="0">
                    <a:moveTo>
                      <a:pt x="21208" y="4091"/>
                    </a:moveTo>
                    <a:cubicBezTo>
                      <a:pt x="19247" y="14256"/>
                      <a:pt x="10351" y="21599"/>
                      <a:pt x="0" y="21600"/>
                    </a:cubicBezTo>
                    <a:lnTo>
                      <a:pt x="0" y="0"/>
                    </a:lnTo>
                    <a:lnTo>
                      <a:pt x="21208" y="4091"/>
                    </a:lnTo>
                    <a:close/>
                  </a:path>
                </a:pathLst>
              </a:custGeom>
              <a:noFill/>
              <a:ln w="19050" cap="rnd">
                <a:solidFill>
                  <a:schemeClr val="accent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3" name="Arc 12"/>
              <p:cNvSpPr>
                <a:spLocks/>
              </p:cNvSpPr>
              <p:nvPr/>
            </p:nvSpPr>
            <p:spPr bwMode="auto">
              <a:xfrm rot="1860000">
                <a:off x="1831" y="578"/>
                <a:ext cx="768" cy="1605"/>
              </a:xfrm>
              <a:custGeom>
                <a:avLst/>
                <a:gdLst>
                  <a:gd name="T0" fmla="*/ 0 w 21600"/>
                  <a:gd name="T1" fmla="*/ 0 h 21248"/>
                  <a:gd name="T2" fmla="*/ 0 w 21600"/>
                  <a:gd name="T3" fmla="*/ 0 h 21248"/>
                  <a:gd name="T4" fmla="*/ 0 w 21600"/>
                  <a:gd name="T5" fmla="*/ 0 h 21248"/>
                  <a:gd name="T6" fmla="*/ 0 60000 65536"/>
                  <a:gd name="T7" fmla="*/ 0 60000 65536"/>
                  <a:gd name="T8" fmla="*/ 0 60000 65536"/>
                </a:gdLst>
                <a:ahLst/>
                <a:cxnLst>
                  <a:cxn ang="T6">
                    <a:pos x="T0" y="T1"/>
                  </a:cxn>
                  <a:cxn ang="T7">
                    <a:pos x="T2" y="T3"/>
                  </a:cxn>
                  <a:cxn ang="T8">
                    <a:pos x="T4" y="T5"/>
                  </a:cxn>
                </a:cxnLst>
                <a:rect l="0" t="0" r="r" b="b"/>
                <a:pathLst>
                  <a:path w="21600" h="21248" fill="none" extrusionOk="0">
                    <a:moveTo>
                      <a:pt x="17717" y="21248"/>
                    </a:moveTo>
                    <a:cubicBezTo>
                      <a:pt x="7455" y="19373"/>
                      <a:pt x="0" y="10432"/>
                      <a:pt x="0" y="0"/>
                    </a:cubicBezTo>
                  </a:path>
                  <a:path w="21600" h="21248" stroke="0" extrusionOk="0">
                    <a:moveTo>
                      <a:pt x="17717" y="21248"/>
                    </a:moveTo>
                    <a:cubicBezTo>
                      <a:pt x="7455" y="19373"/>
                      <a:pt x="0" y="10432"/>
                      <a:pt x="0" y="0"/>
                    </a:cubicBezTo>
                    <a:lnTo>
                      <a:pt x="21600" y="0"/>
                    </a:lnTo>
                    <a:lnTo>
                      <a:pt x="17717" y="21248"/>
                    </a:lnTo>
                    <a:close/>
                  </a:path>
                </a:pathLst>
              </a:custGeom>
              <a:noFill/>
              <a:ln w="19050" cap="rnd">
                <a:solidFill>
                  <a:schemeClr val="accent2"/>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4" name="Arc 13"/>
              <p:cNvSpPr>
                <a:spLocks/>
              </p:cNvSpPr>
              <p:nvPr/>
            </p:nvSpPr>
            <p:spPr bwMode="auto">
              <a:xfrm rot="-360000">
                <a:off x="1926" y="726"/>
                <a:ext cx="2114" cy="1488"/>
              </a:xfrm>
              <a:custGeom>
                <a:avLst/>
                <a:gdLst>
                  <a:gd name="T0" fmla="*/ 0 w 21600"/>
                  <a:gd name="T1" fmla="*/ 0 h 19179"/>
                  <a:gd name="T2" fmla="*/ 0 w 21600"/>
                  <a:gd name="T3" fmla="*/ 0 h 19179"/>
                  <a:gd name="T4" fmla="*/ 0 w 21600"/>
                  <a:gd name="T5" fmla="*/ 0 h 19179"/>
                  <a:gd name="T6" fmla="*/ 0 60000 65536"/>
                  <a:gd name="T7" fmla="*/ 0 60000 65536"/>
                  <a:gd name="T8" fmla="*/ 0 60000 65536"/>
                </a:gdLst>
                <a:ahLst/>
                <a:cxnLst>
                  <a:cxn ang="T6">
                    <a:pos x="T0" y="T1"/>
                  </a:cxn>
                  <a:cxn ang="T7">
                    <a:pos x="T2" y="T3"/>
                  </a:cxn>
                  <a:cxn ang="T8">
                    <a:pos x="T4" y="T5"/>
                  </a:cxn>
                </a:cxnLst>
                <a:rect l="0" t="0" r="r" b="b"/>
                <a:pathLst>
                  <a:path w="21600" h="19179" fill="none" extrusionOk="0">
                    <a:moveTo>
                      <a:pt x="0" y="19179"/>
                    </a:moveTo>
                    <a:cubicBezTo>
                      <a:pt x="0" y="11109"/>
                      <a:pt x="4498" y="3712"/>
                      <a:pt x="11663" y="-1"/>
                    </a:cubicBezTo>
                  </a:path>
                  <a:path w="21600" h="19179" stroke="0" extrusionOk="0">
                    <a:moveTo>
                      <a:pt x="0" y="19179"/>
                    </a:moveTo>
                    <a:cubicBezTo>
                      <a:pt x="0" y="11109"/>
                      <a:pt x="4498" y="3712"/>
                      <a:pt x="11663" y="-1"/>
                    </a:cubicBezTo>
                    <a:lnTo>
                      <a:pt x="21600" y="19179"/>
                    </a:lnTo>
                    <a:lnTo>
                      <a:pt x="0" y="19179"/>
                    </a:lnTo>
                    <a:close/>
                  </a:path>
                </a:pathLst>
              </a:custGeom>
              <a:noFill/>
              <a:ln w="19050" cap="rnd">
                <a:solidFill>
                  <a:schemeClr val="accent2"/>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5" name="Arc 14"/>
              <p:cNvSpPr>
                <a:spLocks/>
              </p:cNvSpPr>
              <p:nvPr/>
            </p:nvSpPr>
            <p:spPr bwMode="auto">
              <a:xfrm rot="-1320000">
                <a:off x="3037" y="440"/>
                <a:ext cx="1381" cy="624"/>
              </a:xfrm>
              <a:custGeom>
                <a:avLst/>
                <a:gdLst>
                  <a:gd name="T0" fmla="*/ 0 w 22194"/>
                  <a:gd name="T1" fmla="*/ 0 h 21600"/>
                  <a:gd name="T2" fmla="*/ 0 w 22194"/>
                  <a:gd name="T3" fmla="*/ 0 h 21600"/>
                  <a:gd name="T4" fmla="*/ 0 w 22194"/>
                  <a:gd name="T5" fmla="*/ 0 h 21600"/>
                  <a:gd name="T6" fmla="*/ 0 60000 65536"/>
                  <a:gd name="T7" fmla="*/ 0 60000 65536"/>
                  <a:gd name="T8" fmla="*/ 0 60000 65536"/>
                </a:gdLst>
                <a:ahLst/>
                <a:cxnLst>
                  <a:cxn ang="T6">
                    <a:pos x="T0" y="T1"/>
                  </a:cxn>
                  <a:cxn ang="T7">
                    <a:pos x="T2" y="T3"/>
                  </a:cxn>
                  <a:cxn ang="T8">
                    <a:pos x="T4" y="T5"/>
                  </a:cxn>
                </a:cxnLst>
                <a:rect l="0" t="0" r="r" b="b"/>
                <a:pathLst>
                  <a:path w="22194" h="21600" fill="none" extrusionOk="0">
                    <a:moveTo>
                      <a:pt x="0" y="8"/>
                    </a:moveTo>
                    <a:cubicBezTo>
                      <a:pt x="197" y="2"/>
                      <a:pt x="395" y="-1"/>
                      <a:pt x="594" y="0"/>
                    </a:cubicBezTo>
                    <a:cubicBezTo>
                      <a:pt x="12523" y="0"/>
                      <a:pt x="22194" y="9670"/>
                      <a:pt x="22194" y="21600"/>
                    </a:cubicBezTo>
                  </a:path>
                  <a:path w="22194" h="21600" stroke="0" extrusionOk="0">
                    <a:moveTo>
                      <a:pt x="0" y="8"/>
                    </a:moveTo>
                    <a:cubicBezTo>
                      <a:pt x="197" y="2"/>
                      <a:pt x="395" y="-1"/>
                      <a:pt x="594" y="0"/>
                    </a:cubicBezTo>
                    <a:cubicBezTo>
                      <a:pt x="12523" y="0"/>
                      <a:pt x="22194" y="9670"/>
                      <a:pt x="22194" y="21600"/>
                    </a:cubicBezTo>
                    <a:lnTo>
                      <a:pt x="594" y="21600"/>
                    </a:lnTo>
                    <a:lnTo>
                      <a:pt x="0" y="8"/>
                    </a:lnTo>
                    <a:close/>
                  </a:path>
                </a:pathLst>
              </a:custGeom>
              <a:noFill/>
              <a:ln w="1905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6" name="Arc 15"/>
              <p:cNvSpPr>
                <a:spLocks/>
              </p:cNvSpPr>
              <p:nvPr/>
            </p:nvSpPr>
            <p:spPr bwMode="auto">
              <a:xfrm rot="-6780000">
                <a:off x="3468" y="750"/>
                <a:ext cx="984" cy="1515"/>
              </a:xfrm>
              <a:custGeom>
                <a:avLst/>
                <a:gdLst>
                  <a:gd name="T0" fmla="*/ 0 w 21564"/>
                  <a:gd name="T1" fmla="*/ 0 h 21600"/>
                  <a:gd name="T2" fmla="*/ 0 w 21564"/>
                  <a:gd name="T3" fmla="*/ 0 h 21600"/>
                  <a:gd name="T4" fmla="*/ 0 w 21564"/>
                  <a:gd name="T5" fmla="*/ 0 h 21600"/>
                  <a:gd name="T6" fmla="*/ 0 60000 65536"/>
                  <a:gd name="T7" fmla="*/ 0 60000 65536"/>
                  <a:gd name="T8" fmla="*/ 0 60000 65536"/>
                </a:gdLst>
                <a:ahLst/>
                <a:cxnLst>
                  <a:cxn ang="T6">
                    <a:pos x="T0" y="T1"/>
                  </a:cxn>
                  <a:cxn ang="T7">
                    <a:pos x="T2" y="T3"/>
                  </a:cxn>
                  <a:cxn ang="T8">
                    <a:pos x="T4" y="T5"/>
                  </a:cxn>
                </a:cxnLst>
                <a:rect l="0" t="0" r="r" b="b"/>
                <a:pathLst>
                  <a:path w="21564" h="21600" fill="none" extrusionOk="0">
                    <a:moveTo>
                      <a:pt x="21564" y="21600"/>
                    </a:moveTo>
                    <a:cubicBezTo>
                      <a:pt x="10121" y="21600"/>
                      <a:pt x="664" y="12676"/>
                      <a:pt x="0" y="1253"/>
                    </a:cubicBezTo>
                  </a:path>
                  <a:path w="21564" h="21600" stroke="0" extrusionOk="0">
                    <a:moveTo>
                      <a:pt x="21564" y="21600"/>
                    </a:moveTo>
                    <a:cubicBezTo>
                      <a:pt x="10121" y="21600"/>
                      <a:pt x="664" y="12676"/>
                      <a:pt x="0" y="1253"/>
                    </a:cubicBezTo>
                    <a:lnTo>
                      <a:pt x="21564" y="0"/>
                    </a:lnTo>
                    <a:lnTo>
                      <a:pt x="21564" y="21600"/>
                    </a:lnTo>
                    <a:close/>
                  </a:path>
                </a:pathLst>
              </a:custGeom>
              <a:noFill/>
              <a:ln w="1905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7" name="Arc 16"/>
              <p:cNvSpPr>
                <a:spLocks/>
              </p:cNvSpPr>
              <p:nvPr/>
            </p:nvSpPr>
            <p:spPr bwMode="auto">
              <a:xfrm>
                <a:off x="2035" y="961"/>
                <a:ext cx="1584" cy="1440"/>
              </a:xfrm>
              <a:custGeom>
                <a:avLst/>
                <a:gdLst>
                  <a:gd name="T0" fmla="*/ 0 w 21603"/>
                  <a:gd name="T1" fmla="*/ 0 h 21600"/>
                  <a:gd name="T2" fmla="*/ 0 w 21603"/>
                  <a:gd name="T3" fmla="*/ 0 h 21600"/>
                  <a:gd name="T4" fmla="*/ 0 w 21603"/>
                  <a:gd name="T5" fmla="*/ 0 h 21600"/>
                  <a:gd name="T6" fmla="*/ 0 60000 65536"/>
                  <a:gd name="T7" fmla="*/ 0 60000 65536"/>
                  <a:gd name="T8" fmla="*/ 0 60000 65536"/>
                </a:gdLst>
                <a:ahLst/>
                <a:cxnLst>
                  <a:cxn ang="T6">
                    <a:pos x="T0" y="T1"/>
                  </a:cxn>
                  <a:cxn ang="T7">
                    <a:pos x="T2" y="T3"/>
                  </a:cxn>
                  <a:cxn ang="T8">
                    <a:pos x="T4" y="T5"/>
                  </a:cxn>
                </a:cxnLst>
                <a:rect l="0" t="0" r="r" b="b"/>
                <a:pathLst>
                  <a:path w="21603" h="21600" fill="none" extrusionOk="0">
                    <a:moveTo>
                      <a:pt x="-1" y="18286"/>
                    </a:moveTo>
                    <a:cubicBezTo>
                      <a:pt x="1633" y="7762"/>
                      <a:pt x="10693" y="-1"/>
                      <a:pt x="21344" y="0"/>
                    </a:cubicBezTo>
                    <a:cubicBezTo>
                      <a:pt x="21430" y="0"/>
                      <a:pt x="21516" y="0"/>
                      <a:pt x="21603" y="1"/>
                    </a:cubicBezTo>
                  </a:path>
                  <a:path w="21603" h="21600" stroke="0" extrusionOk="0">
                    <a:moveTo>
                      <a:pt x="-1" y="18286"/>
                    </a:moveTo>
                    <a:cubicBezTo>
                      <a:pt x="1633" y="7762"/>
                      <a:pt x="10693" y="-1"/>
                      <a:pt x="21344" y="0"/>
                    </a:cubicBezTo>
                    <a:cubicBezTo>
                      <a:pt x="21430" y="0"/>
                      <a:pt x="21516" y="0"/>
                      <a:pt x="21603" y="1"/>
                    </a:cubicBezTo>
                    <a:lnTo>
                      <a:pt x="21344" y="21600"/>
                    </a:lnTo>
                    <a:lnTo>
                      <a:pt x="-1" y="18286"/>
                    </a:lnTo>
                    <a:close/>
                  </a:path>
                </a:pathLst>
              </a:custGeom>
              <a:noFill/>
              <a:ln w="19050" cap="rnd">
                <a:solidFill>
                  <a:schemeClr val="accent2"/>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8" name="Arc 17"/>
              <p:cNvSpPr>
                <a:spLocks/>
              </p:cNvSpPr>
              <p:nvPr/>
            </p:nvSpPr>
            <p:spPr bwMode="auto">
              <a:xfrm>
                <a:off x="3624" y="962"/>
                <a:ext cx="360" cy="432"/>
              </a:xfrm>
              <a:custGeom>
                <a:avLst/>
                <a:gdLst>
                  <a:gd name="T0" fmla="*/ 0 w 22972"/>
                  <a:gd name="T1" fmla="*/ 0 h 21600"/>
                  <a:gd name="T2" fmla="*/ 0 w 22972"/>
                  <a:gd name="T3" fmla="*/ 0 h 21600"/>
                  <a:gd name="T4" fmla="*/ 0 w 22972"/>
                  <a:gd name="T5" fmla="*/ 0 h 21600"/>
                  <a:gd name="T6" fmla="*/ 0 60000 65536"/>
                  <a:gd name="T7" fmla="*/ 0 60000 65536"/>
                  <a:gd name="T8" fmla="*/ 0 60000 65536"/>
                </a:gdLst>
                <a:ahLst/>
                <a:cxnLst>
                  <a:cxn ang="T6">
                    <a:pos x="T0" y="T1"/>
                  </a:cxn>
                  <a:cxn ang="T7">
                    <a:pos x="T2" y="T3"/>
                  </a:cxn>
                  <a:cxn ang="T8">
                    <a:pos x="T4" y="T5"/>
                  </a:cxn>
                </a:cxnLst>
                <a:rect l="0" t="0" r="r" b="b"/>
                <a:pathLst>
                  <a:path w="22972" h="21600" fill="none" extrusionOk="0">
                    <a:moveTo>
                      <a:pt x="-1" y="64"/>
                    </a:moveTo>
                    <a:cubicBezTo>
                      <a:pt x="555" y="21"/>
                      <a:pt x="1112" y="-1"/>
                      <a:pt x="1670" y="0"/>
                    </a:cubicBezTo>
                    <a:cubicBezTo>
                      <a:pt x="12219" y="0"/>
                      <a:pt x="21226" y="7620"/>
                      <a:pt x="22972" y="18024"/>
                    </a:cubicBezTo>
                  </a:path>
                  <a:path w="22972" h="21600" stroke="0" extrusionOk="0">
                    <a:moveTo>
                      <a:pt x="-1" y="64"/>
                    </a:moveTo>
                    <a:cubicBezTo>
                      <a:pt x="555" y="21"/>
                      <a:pt x="1112" y="-1"/>
                      <a:pt x="1670" y="0"/>
                    </a:cubicBezTo>
                    <a:cubicBezTo>
                      <a:pt x="12219" y="0"/>
                      <a:pt x="21226" y="7620"/>
                      <a:pt x="22972" y="18024"/>
                    </a:cubicBezTo>
                    <a:lnTo>
                      <a:pt x="1670" y="21600"/>
                    </a:lnTo>
                    <a:lnTo>
                      <a:pt x="-1" y="64"/>
                    </a:lnTo>
                    <a:close/>
                  </a:path>
                </a:pathLst>
              </a:custGeom>
              <a:noFill/>
              <a:ln w="1905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9" name="Arc 18"/>
              <p:cNvSpPr>
                <a:spLocks/>
              </p:cNvSpPr>
              <p:nvPr/>
            </p:nvSpPr>
            <p:spPr bwMode="auto">
              <a:xfrm rot="10800000">
                <a:off x="2137" y="1297"/>
                <a:ext cx="1848" cy="928"/>
              </a:xfrm>
              <a:custGeom>
                <a:avLst/>
                <a:gdLst>
                  <a:gd name="T0" fmla="*/ 0 w 21600"/>
                  <a:gd name="T1" fmla="*/ 0 h 14149"/>
                  <a:gd name="T2" fmla="*/ 0 w 21600"/>
                  <a:gd name="T3" fmla="*/ 0 h 14149"/>
                  <a:gd name="T4" fmla="*/ 0 w 21600"/>
                  <a:gd name="T5" fmla="*/ 0 h 14149"/>
                  <a:gd name="T6" fmla="*/ 0 60000 65536"/>
                  <a:gd name="T7" fmla="*/ 0 60000 65536"/>
                  <a:gd name="T8" fmla="*/ 0 60000 65536"/>
                </a:gdLst>
                <a:ahLst/>
                <a:cxnLst>
                  <a:cxn ang="T6">
                    <a:pos x="T0" y="T1"/>
                  </a:cxn>
                  <a:cxn ang="T7">
                    <a:pos x="T2" y="T3"/>
                  </a:cxn>
                  <a:cxn ang="T8">
                    <a:pos x="T4" y="T5"/>
                  </a:cxn>
                </a:cxnLst>
                <a:rect l="0" t="0" r="r" b="b"/>
                <a:pathLst>
                  <a:path w="21600" h="14149" fill="none" extrusionOk="0">
                    <a:moveTo>
                      <a:pt x="0" y="14149"/>
                    </a:moveTo>
                    <a:cubicBezTo>
                      <a:pt x="0" y="8951"/>
                      <a:pt x="1874" y="3927"/>
                      <a:pt x="5279" y="0"/>
                    </a:cubicBezTo>
                  </a:path>
                  <a:path w="21600" h="14149" stroke="0" extrusionOk="0">
                    <a:moveTo>
                      <a:pt x="0" y="14149"/>
                    </a:moveTo>
                    <a:cubicBezTo>
                      <a:pt x="0" y="8951"/>
                      <a:pt x="1874" y="3927"/>
                      <a:pt x="5279" y="0"/>
                    </a:cubicBezTo>
                    <a:lnTo>
                      <a:pt x="21600" y="14149"/>
                    </a:lnTo>
                    <a:lnTo>
                      <a:pt x="0" y="14149"/>
                    </a:lnTo>
                    <a:close/>
                  </a:path>
                </a:pathLst>
              </a:custGeom>
              <a:noFill/>
              <a:ln w="1905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0" name="Arc 19"/>
              <p:cNvSpPr>
                <a:spLocks/>
              </p:cNvSpPr>
              <p:nvPr/>
            </p:nvSpPr>
            <p:spPr bwMode="auto">
              <a:xfrm>
                <a:off x="2009" y="1345"/>
                <a:ext cx="1160" cy="2160"/>
              </a:xfrm>
              <a:custGeom>
                <a:avLst/>
                <a:gdLst>
                  <a:gd name="T0" fmla="*/ 0 w 16833"/>
                  <a:gd name="T1" fmla="*/ 0 h 21595"/>
                  <a:gd name="T2" fmla="*/ 0 w 16833"/>
                  <a:gd name="T3" fmla="*/ 0 h 21595"/>
                  <a:gd name="T4" fmla="*/ 0 w 16833"/>
                  <a:gd name="T5" fmla="*/ 0 h 21595"/>
                  <a:gd name="T6" fmla="*/ 0 60000 65536"/>
                  <a:gd name="T7" fmla="*/ 0 60000 65536"/>
                  <a:gd name="T8" fmla="*/ 0 60000 65536"/>
                </a:gdLst>
                <a:ahLst/>
                <a:cxnLst>
                  <a:cxn ang="T6">
                    <a:pos x="T0" y="T1"/>
                  </a:cxn>
                  <a:cxn ang="T7">
                    <a:pos x="T2" y="T3"/>
                  </a:cxn>
                  <a:cxn ang="T8">
                    <a:pos x="T4" y="T5"/>
                  </a:cxn>
                </a:cxnLst>
                <a:rect l="0" t="0" r="r" b="b"/>
                <a:pathLst>
                  <a:path w="16833" h="21595" fill="none" extrusionOk="0">
                    <a:moveTo>
                      <a:pt x="-1" y="8059"/>
                    </a:moveTo>
                    <a:cubicBezTo>
                      <a:pt x="4001" y="3083"/>
                      <a:pt x="9999" y="132"/>
                      <a:pt x="16382" y="-1"/>
                    </a:cubicBezTo>
                  </a:path>
                  <a:path w="16833" h="21595" stroke="0" extrusionOk="0">
                    <a:moveTo>
                      <a:pt x="-1" y="8059"/>
                    </a:moveTo>
                    <a:cubicBezTo>
                      <a:pt x="4001" y="3083"/>
                      <a:pt x="9999" y="132"/>
                      <a:pt x="16382" y="-1"/>
                    </a:cubicBezTo>
                    <a:lnTo>
                      <a:pt x="16833" y="21595"/>
                    </a:lnTo>
                    <a:lnTo>
                      <a:pt x="-1" y="8059"/>
                    </a:lnTo>
                    <a:close/>
                  </a:path>
                </a:pathLst>
              </a:custGeom>
              <a:noFill/>
              <a:ln w="19050" cap="rnd">
                <a:solidFill>
                  <a:schemeClr val="accent2"/>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1" name="Arc 20"/>
              <p:cNvSpPr>
                <a:spLocks/>
              </p:cNvSpPr>
              <p:nvPr/>
            </p:nvSpPr>
            <p:spPr bwMode="auto">
              <a:xfrm>
                <a:off x="3071" y="1345"/>
                <a:ext cx="324" cy="349"/>
              </a:xfrm>
              <a:custGeom>
                <a:avLst/>
                <a:gdLst>
                  <a:gd name="T0" fmla="*/ 0 w 13257"/>
                  <a:gd name="T1" fmla="*/ 0 h 21600"/>
                  <a:gd name="T2" fmla="*/ 0 w 13257"/>
                  <a:gd name="T3" fmla="*/ 0 h 21600"/>
                  <a:gd name="T4" fmla="*/ 0 w 13257"/>
                  <a:gd name="T5" fmla="*/ 0 h 21600"/>
                  <a:gd name="T6" fmla="*/ 0 60000 65536"/>
                  <a:gd name="T7" fmla="*/ 0 60000 65536"/>
                  <a:gd name="T8" fmla="*/ 0 60000 65536"/>
                </a:gdLst>
                <a:ahLst/>
                <a:cxnLst>
                  <a:cxn ang="T6">
                    <a:pos x="T0" y="T1"/>
                  </a:cxn>
                  <a:cxn ang="T7">
                    <a:pos x="T2" y="T3"/>
                  </a:cxn>
                  <a:cxn ang="T8">
                    <a:pos x="T4" y="T5"/>
                  </a:cxn>
                </a:cxnLst>
                <a:rect l="0" t="0" r="r" b="b"/>
                <a:pathLst>
                  <a:path w="13257" h="21600" fill="none" extrusionOk="0">
                    <a:moveTo>
                      <a:pt x="0" y="0"/>
                    </a:moveTo>
                    <a:cubicBezTo>
                      <a:pt x="13" y="0"/>
                      <a:pt x="27" y="-1"/>
                      <a:pt x="41" y="0"/>
                    </a:cubicBezTo>
                    <a:cubicBezTo>
                      <a:pt x="4824" y="0"/>
                      <a:pt x="9473" y="1588"/>
                      <a:pt x="13257" y="4514"/>
                    </a:cubicBezTo>
                  </a:path>
                  <a:path w="13257" h="21600" stroke="0" extrusionOk="0">
                    <a:moveTo>
                      <a:pt x="0" y="0"/>
                    </a:moveTo>
                    <a:cubicBezTo>
                      <a:pt x="13" y="0"/>
                      <a:pt x="27" y="-1"/>
                      <a:pt x="41" y="0"/>
                    </a:cubicBezTo>
                    <a:cubicBezTo>
                      <a:pt x="4824" y="0"/>
                      <a:pt x="9473" y="1588"/>
                      <a:pt x="13257" y="4514"/>
                    </a:cubicBezTo>
                    <a:lnTo>
                      <a:pt x="41" y="21600"/>
                    </a:lnTo>
                    <a:lnTo>
                      <a:pt x="0" y="0"/>
                    </a:lnTo>
                    <a:close/>
                  </a:path>
                </a:pathLst>
              </a:custGeom>
              <a:noFill/>
              <a:ln w="1905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2" name="Arc 21"/>
              <p:cNvSpPr>
                <a:spLocks/>
              </p:cNvSpPr>
              <p:nvPr/>
            </p:nvSpPr>
            <p:spPr bwMode="auto">
              <a:xfrm>
                <a:off x="2033" y="1732"/>
                <a:ext cx="1040" cy="813"/>
              </a:xfrm>
              <a:custGeom>
                <a:avLst/>
                <a:gdLst>
                  <a:gd name="T0" fmla="*/ 0 w 19503"/>
                  <a:gd name="T1" fmla="*/ 0 h 21510"/>
                  <a:gd name="T2" fmla="*/ 0 w 19503"/>
                  <a:gd name="T3" fmla="*/ 0 h 21510"/>
                  <a:gd name="T4" fmla="*/ 0 w 19503"/>
                  <a:gd name="T5" fmla="*/ 0 h 21510"/>
                  <a:gd name="T6" fmla="*/ 0 60000 65536"/>
                  <a:gd name="T7" fmla="*/ 0 60000 65536"/>
                  <a:gd name="T8" fmla="*/ 0 60000 65536"/>
                </a:gdLst>
                <a:ahLst/>
                <a:cxnLst>
                  <a:cxn ang="T6">
                    <a:pos x="T0" y="T1"/>
                  </a:cxn>
                  <a:cxn ang="T7">
                    <a:pos x="T2" y="T3"/>
                  </a:cxn>
                  <a:cxn ang="T8">
                    <a:pos x="T4" y="T5"/>
                  </a:cxn>
                </a:cxnLst>
                <a:rect l="0" t="0" r="r" b="b"/>
                <a:pathLst>
                  <a:path w="19503" h="21510" fill="none" extrusionOk="0">
                    <a:moveTo>
                      <a:pt x="-1" y="12225"/>
                    </a:moveTo>
                    <a:cubicBezTo>
                      <a:pt x="3277" y="5341"/>
                      <a:pt x="9941" y="694"/>
                      <a:pt x="17534" y="-1"/>
                    </a:cubicBezTo>
                  </a:path>
                  <a:path w="19503" h="21510" stroke="0" extrusionOk="0">
                    <a:moveTo>
                      <a:pt x="-1" y="12225"/>
                    </a:moveTo>
                    <a:cubicBezTo>
                      <a:pt x="3277" y="5341"/>
                      <a:pt x="9941" y="694"/>
                      <a:pt x="17534" y="-1"/>
                    </a:cubicBezTo>
                    <a:lnTo>
                      <a:pt x="19503" y="21510"/>
                    </a:lnTo>
                    <a:lnTo>
                      <a:pt x="-1" y="12225"/>
                    </a:lnTo>
                    <a:close/>
                  </a:path>
                </a:pathLst>
              </a:custGeom>
              <a:noFill/>
              <a:ln w="19050" cap="rnd">
                <a:solidFill>
                  <a:schemeClr val="accent2"/>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3" name="Arc 22"/>
              <p:cNvSpPr>
                <a:spLocks/>
              </p:cNvSpPr>
              <p:nvPr/>
            </p:nvSpPr>
            <p:spPr bwMode="auto">
              <a:xfrm>
                <a:off x="2952" y="1729"/>
                <a:ext cx="553" cy="528"/>
              </a:xfrm>
              <a:custGeom>
                <a:avLst/>
                <a:gdLst>
                  <a:gd name="T0" fmla="*/ 0 w 22622"/>
                  <a:gd name="T1" fmla="*/ 0 h 21600"/>
                  <a:gd name="T2" fmla="*/ 0 w 22622"/>
                  <a:gd name="T3" fmla="*/ 0 h 21600"/>
                  <a:gd name="T4" fmla="*/ 0 w 22622"/>
                  <a:gd name="T5" fmla="*/ 0 h 21600"/>
                  <a:gd name="T6" fmla="*/ 0 60000 65536"/>
                  <a:gd name="T7" fmla="*/ 0 60000 65536"/>
                  <a:gd name="T8" fmla="*/ 0 60000 65536"/>
                </a:gdLst>
                <a:ahLst/>
                <a:cxnLst>
                  <a:cxn ang="T6">
                    <a:pos x="T0" y="T1"/>
                  </a:cxn>
                  <a:cxn ang="T7">
                    <a:pos x="T2" y="T3"/>
                  </a:cxn>
                  <a:cxn ang="T8">
                    <a:pos x="T4" y="T5"/>
                  </a:cxn>
                </a:cxnLst>
                <a:rect l="0" t="0" r="r" b="b"/>
                <a:pathLst>
                  <a:path w="22622" h="21600" fill="none" extrusionOk="0">
                    <a:moveTo>
                      <a:pt x="0" y="24"/>
                    </a:moveTo>
                    <a:cubicBezTo>
                      <a:pt x="340" y="8"/>
                      <a:pt x="681" y="-1"/>
                      <a:pt x="1022" y="0"/>
                    </a:cubicBezTo>
                    <a:cubicBezTo>
                      <a:pt x="12951" y="0"/>
                      <a:pt x="22622" y="9670"/>
                      <a:pt x="22622" y="21600"/>
                    </a:cubicBezTo>
                  </a:path>
                  <a:path w="22622" h="21600" stroke="0" extrusionOk="0">
                    <a:moveTo>
                      <a:pt x="0" y="24"/>
                    </a:moveTo>
                    <a:cubicBezTo>
                      <a:pt x="340" y="8"/>
                      <a:pt x="681" y="-1"/>
                      <a:pt x="1022" y="0"/>
                    </a:cubicBezTo>
                    <a:cubicBezTo>
                      <a:pt x="12951" y="0"/>
                      <a:pt x="22622" y="9670"/>
                      <a:pt x="22622" y="21600"/>
                    </a:cubicBezTo>
                    <a:lnTo>
                      <a:pt x="1022" y="21600"/>
                    </a:lnTo>
                    <a:lnTo>
                      <a:pt x="0" y="24"/>
                    </a:lnTo>
                    <a:close/>
                  </a:path>
                </a:pathLst>
              </a:custGeom>
              <a:noFill/>
              <a:ln w="1905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4" name="Arc 23"/>
              <p:cNvSpPr>
                <a:spLocks/>
              </p:cNvSpPr>
              <p:nvPr/>
            </p:nvSpPr>
            <p:spPr bwMode="auto">
              <a:xfrm rot="-9060000">
                <a:off x="3231" y="1492"/>
                <a:ext cx="475" cy="598"/>
              </a:xfrm>
              <a:custGeom>
                <a:avLst/>
                <a:gdLst>
                  <a:gd name="T0" fmla="*/ 0 w 24375"/>
                  <a:gd name="T1" fmla="*/ 0 h 21600"/>
                  <a:gd name="T2" fmla="*/ 0 w 24375"/>
                  <a:gd name="T3" fmla="*/ 0 h 21600"/>
                  <a:gd name="T4" fmla="*/ 0 w 24375"/>
                  <a:gd name="T5" fmla="*/ 0 h 21600"/>
                  <a:gd name="T6" fmla="*/ 0 60000 65536"/>
                  <a:gd name="T7" fmla="*/ 0 60000 65536"/>
                  <a:gd name="T8" fmla="*/ 0 60000 65536"/>
                </a:gdLst>
                <a:ahLst/>
                <a:cxnLst>
                  <a:cxn ang="T6">
                    <a:pos x="T0" y="T1"/>
                  </a:cxn>
                  <a:cxn ang="T7">
                    <a:pos x="T2" y="T3"/>
                  </a:cxn>
                  <a:cxn ang="T8">
                    <a:pos x="T4" y="T5"/>
                  </a:cxn>
                </a:cxnLst>
                <a:rect l="0" t="0" r="r" b="b"/>
                <a:pathLst>
                  <a:path w="24375" h="21600" fill="none" extrusionOk="0">
                    <a:moveTo>
                      <a:pt x="24375" y="21421"/>
                    </a:moveTo>
                    <a:cubicBezTo>
                      <a:pt x="23454" y="21540"/>
                      <a:pt x="22527" y="21599"/>
                      <a:pt x="21600" y="21600"/>
                    </a:cubicBezTo>
                    <a:cubicBezTo>
                      <a:pt x="9670" y="21600"/>
                      <a:pt x="0" y="11929"/>
                      <a:pt x="0" y="0"/>
                    </a:cubicBezTo>
                  </a:path>
                  <a:path w="24375" h="21600" stroke="0" extrusionOk="0">
                    <a:moveTo>
                      <a:pt x="24375" y="21421"/>
                    </a:moveTo>
                    <a:cubicBezTo>
                      <a:pt x="23454" y="21540"/>
                      <a:pt x="22527" y="21599"/>
                      <a:pt x="21600" y="21600"/>
                    </a:cubicBezTo>
                    <a:cubicBezTo>
                      <a:pt x="9670" y="21600"/>
                      <a:pt x="0" y="11929"/>
                      <a:pt x="0" y="0"/>
                    </a:cubicBezTo>
                    <a:lnTo>
                      <a:pt x="21600" y="0"/>
                    </a:lnTo>
                    <a:lnTo>
                      <a:pt x="24375" y="21421"/>
                    </a:lnTo>
                    <a:close/>
                  </a:path>
                </a:pathLst>
              </a:custGeom>
              <a:noFill/>
              <a:ln w="1905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5" name="Arc 24"/>
              <p:cNvSpPr>
                <a:spLocks/>
              </p:cNvSpPr>
              <p:nvPr/>
            </p:nvSpPr>
            <p:spPr bwMode="auto">
              <a:xfrm rot="-10440000">
                <a:off x="1924" y="2358"/>
                <a:ext cx="2114" cy="1494"/>
              </a:xfrm>
              <a:custGeom>
                <a:avLst/>
                <a:gdLst>
                  <a:gd name="T0" fmla="*/ 0 w 21600"/>
                  <a:gd name="T1" fmla="*/ 0 h 19260"/>
                  <a:gd name="T2" fmla="*/ 0 w 21600"/>
                  <a:gd name="T3" fmla="*/ 0 h 19260"/>
                  <a:gd name="T4" fmla="*/ 0 w 21600"/>
                  <a:gd name="T5" fmla="*/ 0 h 19260"/>
                  <a:gd name="T6" fmla="*/ 0 60000 65536"/>
                  <a:gd name="T7" fmla="*/ 0 60000 65536"/>
                  <a:gd name="T8" fmla="*/ 0 60000 65536"/>
                </a:gdLst>
                <a:ahLst/>
                <a:cxnLst>
                  <a:cxn ang="T6">
                    <a:pos x="T0" y="T1"/>
                  </a:cxn>
                  <a:cxn ang="T7">
                    <a:pos x="T2" y="T3"/>
                  </a:cxn>
                  <a:cxn ang="T8">
                    <a:pos x="T4" y="T5"/>
                  </a:cxn>
                </a:cxnLst>
                <a:rect l="0" t="0" r="r" b="b"/>
                <a:pathLst>
                  <a:path w="21600" h="19260" fill="none" extrusionOk="0">
                    <a:moveTo>
                      <a:pt x="9778" y="-1"/>
                    </a:moveTo>
                    <a:cubicBezTo>
                      <a:pt x="17030" y="3682"/>
                      <a:pt x="21600" y="11126"/>
                      <a:pt x="21600" y="19260"/>
                    </a:cubicBezTo>
                  </a:path>
                  <a:path w="21600" h="19260" stroke="0" extrusionOk="0">
                    <a:moveTo>
                      <a:pt x="9778" y="-1"/>
                    </a:moveTo>
                    <a:cubicBezTo>
                      <a:pt x="17030" y="3682"/>
                      <a:pt x="21600" y="11126"/>
                      <a:pt x="21600" y="19260"/>
                    </a:cubicBezTo>
                    <a:lnTo>
                      <a:pt x="0" y="19260"/>
                    </a:lnTo>
                    <a:lnTo>
                      <a:pt x="9778" y="-1"/>
                    </a:lnTo>
                    <a:close/>
                  </a:path>
                </a:pathLst>
              </a:custGeom>
              <a:noFill/>
              <a:ln w="1905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6" name="Arc 25"/>
              <p:cNvSpPr>
                <a:spLocks/>
              </p:cNvSpPr>
              <p:nvPr/>
            </p:nvSpPr>
            <p:spPr bwMode="auto">
              <a:xfrm rot="-9900000">
                <a:off x="3021" y="3519"/>
                <a:ext cx="1410" cy="538"/>
              </a:xfrm>
              <a:custGeom>
                <a:avLst/>
                <a:gdLst>
                  <a:gd name="T0" fmla="*/ 0 w 24732"/>
                  <a:gd name="T1" fmla="*/ 0 h 21600"/>
                  <a:gd name="T2" fmla="*/ 0 w 24732"/>
                  <a:gd name="T3" fmla="*/ 0 h 21600"/>
                  <a:gd name="T4" fmla="*/ 0 w 24732"/>
                  <a:gd name="T5" fmla="*/ 0 h 21600"/>
                  <a:gd name="T6" fmla="*/ 0 60000 65536"/>
                  <a:gd name="T7" fmla="*/ 0 60000 65536"/>
                  <a:gd name="T8" fmla="*/ 0 60000 65536"/>
                </a:gdLst>
                <a:ahLst/>
                <a:cxnLst>
                  <a:cxn ang="T6">
                    <a:pos x="T0" y="T1"/>
                  </a:cxn>
                  <a:cxn ang="T7">
                    <a:pos x="T2" y="T3"/>
                  </a:cxn>
                  <a:cxn ang="T8">
                    <a:pos x="T4" y="T5"/>
                  </a:cxn>
                </a:cxnLst>
                <a:rect l="0" t="0" r="r" b="b"/>
                <a:pathLst>
                  <a:path w="24732" h="21600" fill="none" extrusionOk="0">
                    <a:moveTo>
                      <a:pt x="0" y="20637"/>
                    </a:moveTo>
                    <a:cubicBezTo>
                      <a:pt x="515" y="9093"/>
                      <a:pt x="10024" y="-1"/>
                      <a:pt x="21579" y="0"/>
                    </a:cubicBezTo>
                    <a:cubicBezTo>
                      <a:pt x="22634" y="0"/>
                      <a:pt x="23688" y="77"/>
                      <a:pt x="24731" y="231"/>
                    </a:cubicBezTo>
                  </a:path>
                  <a:path w="24732" h="21600" stroke="0" extrusionOk="0">
                    <a:moveTo>
                      <a:pt x="0" y="20637"/>
                    </a:moveTo>
                    <a:cubicBezTo>
                      <a:pt x="515" y="9093"/>
                      <a:pt x="10024" y="-1"/>
                      <a:pt x="21579" y="0"/>
                    </a:cubicBezTo>
                    <a:cubicBezTo>
                      <a:pt x="22634" y="0"/>
                      <a:pt x="23688" y="77"/>
                      <a:pt x="24731" y="231"/>
                    </a:cubicBezTo>
                    <a:lnTo>
                      <a:pt x="21579" y="21600"/>
                    </a:lnTo>
                    <a:lnTo>
                      <a:pt x="0" y="20637"/>
                    </a:lnTo>
                    <a:close/>
                  </a:path>
                </a:pathLst>
              </a:custGeom>
              <a:noFill/>
              <a:ln w="19050" cap="rnd">
                <a:solidFill>
                  <a:schemeClr val="accent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7" name="Arc 26"/>
              <p:cNvSpPr>
                <a:spLocks/>
              </p:cNvSpPr>
              <p:nvPr/>
            </p:nvSpPr>
            <p:spPr bwMode="auto">
              <a:xfrm rot="-4020000">
                <a:off x="3400" y="2238"/>
                <a:ext cx="1091" cy="1527"/>
              </a:xfrm>
              <a:custGeom>
                <a:avLst/>
                <a:gdLst>
                  <a:gd name="T0" fmla="*/ 0 w 23504"/>
                  <a:gd name="T1" fmla="*/ 0 h 21600"/>
                  <a:gd name="T2" fmla="*/ 0 w 23504"/>
                  <a:gd name="T3" fmla="*/ 0 h 21600"/>
                  <a:gd name="T4" fmla="*/ 0 w 23504"/>
                  <a:gd name="T5" fmla="*/ 0 h 21600"/>
                  <a:gd name="T6" fmla="*/ 0 60000 65536"/>
                  <a:gd name="T7" fmla="*/ 0 60000 65536"/>
                  <a:gd name="T8" fmla="*/ 0 60000 65536"/>
                </a:gdLst>
                <a:ahLst/>
                <a:cxnLst>
                  <a:cxn ang="T6">
                    <a:pos x="T0" y="T1"/>
                  </a:cxn>
                  <a:cxn ang="T7">
                    <a:pos x="T2" y="T3"/>
                  </a:cxn>
                  <a:cxn ang="T8">
                    <a:pos x="T4" y="T5"/>
                  </a:cxn>
                </a:cxnLst>
                <a:rect l="0" t="0" r="r" b="b"/>
                <a:pathLst>
                  <a:path w="23504" h="21600" fill="none" extrusionOk="0">
                    <a:moveTo>
                      <a:pt x="23504" y="1260"/>
                    </a:moveTo>
                    <a:cubicBezTo>
                      <a:pt x="22836" y="12680"/>
                      <a:pt x="13380" y="21599"/>
                      <a:pt x="1941" y="21600"/>
                    </a:cubicBezTo>
                    <a:cubicBezTo>
                      <a:pt x="1293" y="21600"/>
                      <a:pt x="645" y="21570"/>
                      <a:pt x="0" y="21512"/>
                    </a:cubicBezTo>
                  </a:path>
                  <a:path w="23504" h="21600" stroke="0" extrusionOk="0">
                    <a:moveTo>
                      <a:pt x="23504" y="1260"/>
                    </a:moveTo>
                    <a:cubicBezTo>
                      <a:pt x="22836" y="12680"/>
                      <a:pt x="13380" y="21599"/>
                      <a:pt x="1941" y="21600"/>
                    </a:cubicBezTo>
                    <a:cubicBezTo>
                      <a:pt x="1293" y="21600"/>
                      <a:pt x="645" y="21570"/>
                      <a:pt x="0" y="21512"/>
                    </a:cubicBezTo>
                    <a:lnTo>
                      <a:pt x="1941" y="0"/>
                    </a:lnTo>
                    <a:lnTo>
                      <a:pt x="23504" y="1260"/>
                    </a:lnTo>
                    <a:close/>
                  </a:path>
                </a:pathLst>
              </a:custGeom>
              <a:noFill/>
              <a:ln w="1905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8" name="Arc 27"/>
              <p:cNvSpPr>
                <a:spLocks/>
              </p:cNvSpPr>
              <p:nvPr/>
            </p:nvSpPr>
            <p:spPr bwMode="auto">
              <a:xfrm rot="10800000">
                <a:off x="2015" y="2209"/>
                <a:ext cx="1604" cy="1440"/>
              </a:xfrm>
              <a:custGeom>
                <a:avLst/>
                <a:gdLst>
                  <a:gd name="T0" fmla="*/ 0 w 21873"/>
                  <a:gd name="T1" fmla="*/ 0 h 21600"/>
                  <a:gd name="T2" fmla="*/ 0 w 21873"/>
                  <a:gd name="T3" fmla="*/ 0 h 21600"/>
                  <a:gd name="T4" fmla="*/ 0 w 21873"/>
                  <a:gd name="T5" fmla="*/ 0 h 21600"/>
                  <a:gd name="T6" fmla="*/ 0 60000 65536"/>
                  <a:gd name="T7" fmla="*/ 0 60000 65536"/>
                  <a:gd name="T8" fmla="*/ 0 60000 65536"/>
                </a:gdLst>
                <a:ahLst/>
                <a:cxnLst>
                  <a:cxn ang="T6">
                    <a:pos x="T0" y="T1"/>
                  </a:cxn>
                  <a:cxn ang="T7">
                    <a:pos x="T2" y="T3"/>
                  </a:cxn>
                  <a:cxn ang="T8">
                    <a:pos x="T4" y="T5"/>
                  </a:cxn>
                </a:cxnLst>
                <a:rect l="0" t="0" r="r" b="b"/>
                <a:pathLst>
                  <a:path w="21873" h="21600" fill="none" extrusionOk="0">
                    <a:moveTo>
                      <a:pt x="-1" y="1"/>
                    </a:moveTo>
                    <a:cubicBezTo>
                      <a:pt x="90" y="0"/>
                      <a:pt x="181" y="-1"/>
                      <a:pt x="273" y="0"/>
                    </a:cubicBezTo>
                    <a:cubicBezTo>
                      <a:pt x="12202" y="0"/>
                      <a:pt x="21873" y="9670"/>
                      <a:pt x="21873" y="21600"/>
                    </a:cubicBezTo>
                  </a:path>
                  <a:path w="21873" h="21600" stroke="0" extrusionOk="0">
                    <a:moveTo>
                      <a:pt x="-1" y="1"/>
                    </a:moveTo>
                    <a:cubicBezTo>
                      <a:pt x="90" y="0"/>
                      <a:pt x="181" y="-1"/>
                      <a:pt x="273" y="0"/>
                    </a:cubicBezTo>
                    <a:cubicBezTo>
                      <a:pt x="12202" y="0"/>
                      <a:pt x="21873" y="9670"/>
                      <a:pt x="21873" y="21600"/>
                    </a:cubicBezTo>
                    <a:lnTo>
                      <a:pt x="273" y="21600"/>
                    </a:lnTo>
                    <a:lnTo>
                      <a:pt x="-1" y="1"/>
                    </a:lnTo>
                    <a:close/>
                  </a:path>
                </a:pathLst>
              </a:custGeom>
              <a:noFill/>
              <a:ln w="19050" cap="rnd">
                <a:solidFill>
                  <a:schemeClr val="accent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9" name="Arc 28"/>
              <p:cNvSpPr>
                <a:spLocks/>
              </p:cNvSpPr>
              <p:nvPr/>
            </p:nvSpPr>
            <p:spPr bwMode="auto">
              <a:xfrm>
                <a:off x="2136" y="2257"/>
                <a:ext cx="1848" cy="928"/>
              </a:xfrm>
              <a:custGeom>
                <a:avLst/>
                <a:gdLst>
                  <a:gd name="T0" fmla="*/ 0 w 21600"/>
                  <a:gd name="T1" fmla="*/ 0 h 14155"/>
                  <a:gd name="T2" fmla="*/ 0 w 21600"/>
                  <a:gd name="T3" fmla="*/ 0 h 14155"/>
                  <a:gd name="T4" fmla="*/ 0 w 21600"/>
                  <a:gd name="T5" fmla="*/ 0 h 14155"/>
                  <a:gd name="T6" fmla="*/ 0 60000 65536"/>
                  <a:gd name="T7" fmla="*/ 0 60000 65536"/>
                  <a:gd name="T8" fmla="*/ 0 60000 65536"/>
                </a:gdLst>
                <a:ahLst/>
                <a:cxnLst>
                  <a:cxn ang="T6">
                    <a:pos x="T0" y="T1"/>
                  </a:cxn>
                  <a:cxn ang="T7">
                    <a:pos x="T2" y="T3"/>
                  </a:cxn>
                  <a:cxn ang="T8">
                    <a:pos x="T4" y="T5"/>
                  </a:cxn>
                </a:cxnLst>
                <a:rect l="0" t="0" r="r" b="b"/>
                <a:pathLst>
                  <a:path w="21600" h="14155" fill="none" extrusionOk="0">
                    <a:moveTo>
                      <a:pt x="16315" y="0"/>
                    </a:moveTo>
                    <a:cubicBezTo>
                      <a:pt x="19723" y="3928"/>
                      <a:pt x="21600" y="8954"/>
                      <a:pt x="21600" y="14155"/>
                    </a:cubicBezTo>
                  </a:path>
                  <a:path w="21600" h="14155" stroke="0" extrusionOk="0">
                    <a:moveTo>
                      <a:pt x="16315" y="0"/>
                    </a:moveTo>
                    <a:cubicBezTo>
                      <a:pt x="19723" y="3928"/>
                      <a:pt x="21600" y="8954"/>
                      <a:pt x="21600" y="14155"/>
                    </a:cubicBezTo>
                    <a:lnTo>
                      <a:pt x="0" y="14155"/>
                    </a:lnTo>
                    <a:lnTo>
                      <a:pt x="16315" y="0"/>
                    </a:lnTo>
                    <a:close/>
                  </a:path>
                </a:pathLst>
              </a:custGeom>
              <a:noFill/>
              <a:ln w="1905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0" name="Arc 29"/>
              <p:cNvSpPr>
                <a:spLocks/>
              </p:cNvSpPr>
              <p:nvPr/>
            </p:nvSpPr>
            <p:spPr bwMode="auto">
              <a:xfrm rot="10800000">
                <a:off x="3624" y="3169"/>
                <a:ext cx="361" cy="480"/>
              </a:xfrm>
              <a:custGeom>
                <a:avLst/>
                <a:gdLst>
                  <a:gd name="T0" fmla="*/ 0 w 23206"/>
                  <a:gd name="T1" fmla="*/ 0 h 21600"/>
                  <a:gd name="T2" fmla="*/ 0 w 23206"/>
                  <a:gd name="T3" fmla="*/ 0 h 21600"/>
                  <a:gd name="T4" fmla="*/ 0 w 23206"/>
                  <a:gd name="T5" fmla="*/ 0 h 21600"/>
                  <a:gd name="T6" fmla="*/ 0 60000 65536"/>
                  <a:gd name="T7" fmla="*/ 0 60000 65536"/>
                  <a:gd name="T8" fmla="*/ 0 60000 65536"/>
                </a:gdLst>
                <a:ahLst/>
                <a:cxnLst>
                  <a:cxn ang="T6">
                    <a:pos x="T0" y="T1"/>
                  </a:cxn>
                  <a:cxn ang="T7">
                    <a:pos x="T2" y="T3"/>
                  </a:cxn>
                  <a:cxn ang="T8">
                    <a:pos x="T4" y="T5"/>
                  </a:cxn>
                </a:cxnLst>
                <a:rect l="0" t="0" r="r" b="b"/>
                <a:pathLst>
                  <a:path w="23206" h="21600" fill="none" extrusionOk="0">
                    <a:moveTo>
                      <a:pt x="0" y="21600"/>
                    </a:moveTo>
                    <a:cubicBezTo>
                      <a:pt x="0" y="9670"/>
                      <a:pt x="9670" y="0"/>
                      <a:pt x="21600" y="0"/>
                    </a:cubicBezTo>
                    <a:cubicBezTo>
                      <a:pt x="22135" y="0"/>
                      <a:pt x="22671" y="19"/>
                      <a:pt x="23206" y="59"/>
                    </a:cubicBezTo>
                  </a:path>
                  <a:path w="23206" h="21600" stroke="0" extrusionOk="0">
                    <a:moveTo>
                      <a:pt x="0" y="21600"/>
                    </a:moveTo>
                    <a:cubicBezTo>
                      <a:pt x="0" y="9670"/>
                      <a:pt x="9670" y="0"/>
                      <a:pt x="21600" y="0"/>
                    </a:cubicBezTo>
                    <a:cubicBezTo>
                      <a:pt x="22135" y="0"/>
                      <a:pt x="22671" y="19"/>
                      <a:pt x="23206" y="59"/>
                    </a:cubicBezTo>
                    <a:lnTo>
                      <a:pt x="21600" y="21600"/>
                    </a:lnTo>
                    <a:lnTo>
                      <a:pt x="0" y="21600"/>
                    </a:lnTo>
                    <a:close/>
                  </a:path>
                </a:pathLst>
              </a:custGeom>
              <a:noFill/>
              <a:ln w="1905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1" name="Arc 30"/>
              <p:cNvSpPr>
                <a:spLocks/>
              </p:cNvSpPr>
              <p:nvPr/>
            </p:nvSpPr>
            <p:spPr bwMode="auto">
              <a:xfrm rot="10800000">
                <a:off x="2036" y="960"/>
                <a:ext cx="1276" cy="2207"/>
              </a:xfrm>
              <a:custGeom>
                <a:avLst/>
                <a:gdLst>
                  <a:gd name="T0" fmla="*/ 0 w 17144"/>
                  <a:gd name="T1" fmla="*/ 0 h 21567"/>
                  <a:gd name="T2" fmla="*/ 0 w 17144"/>
                  <a:gd name="T3" fmla="*/ 0 h 21567"/>
                  <a:gd name="T4" fmla="*/ 0 w 17144"/>
                  <a:gd name="T5" fmla="*/ 0 h 21567"/>
                  <a:gd name="T6" fmla="*/ 0 60000 65536"/>
                  <a:gd name="T7" fmla="*/ 0 60000 65536"/>
                  <a:gd name="T8" fmla="*/ 0 60000 65536"/>
                </a:gdLst>
                <a:ahLst/>
                <a:cxnLst>
                  <a:cxn ang="T6">
                    <a:pos x="T0" y="T1"/>
                  </a:cxn>
                  <a:cxn ang="T7">
                    <a:pos x="T2" y="T3"/>
                  </a:cxn>
                  <a:cxn ang="T8">
                    <a:pos x="T4" y="T5"/>
                  </a:cxn>
                </a:cxnLst>
                <a:rect l="0" t="0" r="r" b="b"/>
                <a:pathLst>
                  <a:path w="17144" h="21567" fill="none" extrusionOk="0">
                    <a:moveTo>
                      <a:pt x="1194" y="0"/>
                    </a:moveTo>
                    <a:cubicBezTo>
                      <a:pt x="7486" y="348"/>
                      <a:pt x="13311" y="3426"/>
                      <a:pt x="17144" y="8427"/>
                    </a:cubicBezTo>
                  </a:path>
                  <a:path w="17144" h="21567" stroke="0" extrusionOk="0">
                    <a:moveTo>
                      <a:pt x="1194" y="0"/>
                    </a:moveTo>
                    <a:cubicBezTo>
                      <a:pt x="7486" y="348"/>
                      <a:pt x="13311" y="3426"/>
                      <a:pt x="17144" y="8427"/>
                    </a:cubicBezTo>
                    <a:lnTo>
                      <a:pt x="0" y="21567"/>
                    </a:lnTo>
                    <a:lnTo>
                      <a:pt x="1194" y="0"/>
                    </a:lnTo>
                    <a:close/>
                  </a:path>
                </a:pathLst>
              </a:custGeom>
              <a:noFill/>
              <a:ln w="19050" cap="rnd">
                <a:solidFill>
                  <a:schemeClr val="accent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2" name="Arc 31"/>
              <p:cNvSpPr>
                <a:spLocks/>
              </p:cNvSpPr>
              <p:nvPr/>
            </p:nvSpPr>
            <p:spPr bwMode="auto">
              <a:xfrm rot="-1740000">
                <a:off x="3250" y="2371"/>
                <a:ext cx="493" cy="724"/>
              </a:xfrm>
              <a:custGeom>
                <a:avLst/>
                <a:gdLst>
                  <a:gd name="T0" fmla="*/ 0 w 24429"/>
                  <a:gd name="T1" fmla="*/ 0 h 24788"/>
                  <a:gd name="T2" fmla="*/ 0 w 24429"/>
                  <a:gd name="T3" fmla="*/ 0 h 24788"/>
                  <a:gd name="T4" fmla="*/ 0 w 24429"/>
                  <a:gd name="T5" fmla="*/ 0 h 24788"/>
                  <a:gd name="T6" fmla="*/ 0 60000 65536"/>
                  <a:gd name="T7" fmla="*/ 0 60000 65536"/>
                  <a:gd name="T8" fmla="*/ 0 60000 65536"/>
                </a:gdLst>
                <a:ahLst/>
                <a:cxnLst>
                  <a:cxn ang="T6">
                    <a:pos x="T0" y="T1"/>
                  </a:cxn>
                  <a:cxn ang="T7">
                    <a:pos x="T2" y="T3"/>
                  </a:cxn>
                  <a:cxn ang="T8">
                    <a:pos x="T4" y="T5"/>
                  </a:cxn>
                </a:cxnLst>
                <a:rect l="0" t="0" r="r" b="b"/>
                <a:pathLst>
                  <a:path w="24429" h="24788" fill="none" extrusionOk="0">
                    <a:moveTo>
                      <a:pt x="24192" y="-1"/>
                    </a:moveTo>
                    <a:cubicBezTo>
                      <a:pt x="24349" y="1055"/>
                      <a:pt x="24429" y="2120"/>
                      <a:pt x="24429" y="3188"/>
                    </a:cubicBezTo>
                    <a:cubicBezTo>
                      <a:pt x="24429" y="15117"/>
                      <a:pt x="14758" y="24788"/>
                      <a:pt x="2829" y="24788"/>
                    </a:cubicBezTo>
                    <a:cubicBezTo>
                      <a:pt x="1882" y="24788"/>
                      <a:pt x="937" y="24725"/>
                      <a:pt x="0" y="24601"/>
                    </a:cubicBezTo>
                  </a:path>
                  <a:path w="24429" h="24788" stroke="0" extrusionOk="0">
                    <a:moveTo>
                      <a:pt x="24192" y="-1"/>
                    </a:moveTo>
                    <a:cubicBezTo>
                      <a:pt x="24349" y="1055"/>
                      <a:pt x="24429" y="2120"/>
                      <a:pt x="24429" y="3188"/>
                    </a:cubicBezTo>
                    <a:cubicBezTo>
                      <a:pt x="24429" y="15117"/>
                      <a:pt x="14758" y="24788"/>
                      <a:pt x="2829" y="24788"/>
                    </a:cubicBezTo>
                    <a:cubicBezTo>
                      <a:pt x="1882" y="24788"/>
                      <a:pt x="937" y="24725"/>
                      <a:pt x="0" y="24601"/>
                    </a:cubicBezTo>
                    <a:lnTo>
                      <a:pt x="2829" y="3188"/>
                    </a:lnTo>
                    <a:lnTo>
                      <a:pt x="24192" y="-1"/>
                    </a:lnTo>
                    <a:close/>
                  </a:path>
                </a:pathLst>
              </a:custGeom>
              <a:noFill/>
              <a:ln w="1905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3" name="Arc 32"/>
              <p:cNvSpPr>
                <a:spLocks/>
              </p:cNvSpPr>
              <p:nvPr/>
            </p:nvSpPr>
            <p:spPr bwMode="auto">
              <a:xfrm rot="9540000">
                <a:off x="3151" y="2702"/>
                <a:ext cx="225" cy="518"/>
              </a:xfrm>
              <a:custGeom>
                <a:avLst/>
                <a:gdLst>
                  <a:gd name="T0" fmla="*/ 0 w 11090"/>
                  <a:gd name="T1" fmla="*/ 0 h 21600"/>
                  <a:gd name="T2" fmla="*/ 0 w 11090"/>
                  <a:gd name="T3" fmla="*/ 0 h 21600"/>
                  <a:gd name="T4" fmla="*/ 0 w 11090"/>
                  <a:gd name="T5" fmla="*/ 0 h 21600"/>
                  <a:gd name="T6" fmla="*/ 0 60000 65536"/>
                  <a:gd name="T7" fmla="*/ 0 60000 65536"/>
                  <a:gd name="T8" fmla="*/ 0 60000 65536"/>
                </a:gdLst>
                <a:ahLst/>
                <a:cxnLst>
                  <a:cxn ang="T6">
                    <a:pos x="T0" y="T1"/>
                  </a:cxn>
                  <a:cxn ang="T7">
                    <a:pos x="T2" y="T3"/>
                  </a:cxn>
                  <a:cxn ang="T8">
                    <a:pos x="T4" y="T5"/>
                  </a:cxn>
                </a:cxnLst>
                <a:rect l="0" t="0" r="r" b="b"/>
                <a:pathLst>
                  <a:path w="11090" h="21600" fill="none" extrusionOk="0">
                    <a:moveTo>
                      <a:pt x="0" y="0"/>
                    </a:moveTo>
                    <a:cubicBezTo>
                      <a:pt x="16" y="0"/>
                      <a:pt x="32" y="-1"/>
                      <a:pt x="49" y="0"/>
                    </a:cubicBezTo>
                    <a:cubicBezTo>
                      <a:pt x="3935" y="0"/>
                      <a:pt x="7749" y="1048"/>
                      <a:pt x="11089" y="3035"/>
                    </a:cubicBezTo>
                  </a:path>
                  <a:path w="11090" h="21600" stroke="0" extrusionOk="0">
                    <a:moveTo>
                      <a:pt x="0" y="0"/>
                    </a:moveTo>
                    <a:cubicBezTo>
                      <a:pt x="16" y="0"/>
                      <a:pt x="32" y="-1"/>
                      <a:pt x="49" y="0"/>
                    </a:cubicBezTo>
                    <a:cubicBezTo>
                      <a:pt x="3935" y="0"/>
                      <a:pt x="7749" y="1048"/>
                      <a:pt x="11089" y="3035"/>
                    </a:cubicBezTo>
                    <a:lnTo>
                      <a:pt x="49" y="21600"/>
                    </a:lnTo>
                    <a:lnTo>
                      <a:pt x="0" y="0"/>
                    </a:lnTo>
                    <a:close/>
                  </a:path>
                </a:pathLst>
              </a:custGeom>
              <a:noFill/>
              <a:ln w="1905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4" name="Arc 33"/>
              <p:cNvSpPr>
                <a:spLocks/>
              </p:cNvSpPr>
              <p:nvPr/>
            </p:nvSpPr>
            <p:spPr bwMode="auto">
              <a:xfrm rot="10320000">
                <a:off x="2036" y="1971"/>
                <a:ext cx="1132" cy="813"/>
              </a:xfrm>
              <a:custGeom>
                <a:avLst/>
                <a:gdLst>
                  <a:gd name="T0" fmla="*/ 0 w 21227"/>
                  <a:gd name="T1" fmla="*/ 0 h 21512"/>
                  <a:gd name="T2" fmla="*/ 0 w 21227"/>
                  <a:gd name="T3" fmla="*/ 0 h 21512"/>
                  <a:gd name="T4" fmla="*/ 0 w 21227"/>
                  <a:gd name="T5" fmla="*/ 0 h 21512"/>
                  <a:gd name="T6" fmla="*/ 0 60000 65536"/>
                  <a:gd name="T7" fmla="*/ 0 60000 65536"/>
                  <a:gd name="T8" fmla="*/ 0 60000 65536"/>
                </a:gdLst>
                <a:ahLst/>
                <a:cxnLst>
                  <a:cxn ang="T6">
                    <a:pos x="T0" y="T1"/>
                  </a:cxn>
                  <a:cxn ang="T7">
                    <a:pos x="T2" y="T3"/>
                  </a:cxn>
                  <a:cxn ang="T8">
                    <a:pos x="T4" y="T5"/>
                  </a:cxn>
                </a:cxnLst>
                <a:rect l="0" t="0" r="r" b="b"/>
                <a:pathLst>
                  <a:path w="21227" h="21512" fill="none" extrusionOk="0">
                    <a:moveTo>
                      <a:pt x="1948" y="0"/>
                    </a:moveTo>
                    <a:cubicBezTo>
                      <a:pt x="11568" y="871"/>
                      <a:pt x="19439" y="8023"/>
                      <a:pt x="21226" y="17515"/>
                    </a:cubicBezTo>
                  </a:path>
                  <a:path w="21227" h="21512" stroke="0" extrusionOk="0">
                    <a:moveTo>
                      <a:pt x="1948" y="0"/>
                    </a:moveTo>
                    <a:cubicBezTo>
                      <a:pt x="11568" y="871"/>
                      <a:pt x="19439" y="8023"/>
                      <a:pt x="21226" y="17515"/>
                    </a:cubicBezTo>
                    <a:lnTo>
                      <a:pt x="0" y="21512"/>
                    </a:lnTo>
                    <a:lnTo>
                      <a:pt x="1948" y="0"/>
                    </a:lnTo>
                    <a:close/>
                  </a:path>
                </a:pathLst>
              </a:custGeom>
              <a:noFill/>
              <a:ln w="19050" cap="rnd">
                <a:solidFill>
                  <a:schemeClr val="accent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5" name="Arc 34"/>
              <p:cNvSpPr>
                <a:spLocks/>
              </p:cNvSpPr>
              <p:nvPr/>
            </p:nvSpPr>
            <p:spPr bwMode="auto">
              <a:xfrm rot="10800000">
                <a:off x="2976" y="2209"/>
                <a:ext cx="528" cy="518"/>
              </a:xfrm>
              <a:custGeom>
                <a:avLst/>
                <a:gdLst>
                  <a:gd name="T0" fmla="*/ 0 w 21600"/>
                  <a:gd name="T1" fmla="*/ 0 h 21210"/>
                  <a:gd name="T2" fmla="*/ 0 w 21600"/>
                  <a:gd name="T3" fmla="*/ 0 h 21210"/>
                  <a:gd name="T4" fmla="*/ 0 w 21600"/>
                  <a:gd name="T5" fmla="*/ 0 h 21210"/>
                  <a:gd name="T6" fmla="*/ 0 60000 65536"/>
                  <a:gd name="T7" fmla="*/ 0 60000 65536"/>
                  <a:gd name="T8" fmla="*/ 0 60000 65536"/>
                </a:gdLst>
                <a:ahLst/>
                <a:cxnLst>
                  <a:cxn ang="T6">
                    <a:pos x="T0" y="T1"/>
                  </a:cxn>
                  <a:cxn ang="T7">
                    <a:pos x="T2" y="T3"/>
                  </a:cxn>
                  <a:cxn ang="T8">
                    <a:pos x="T4" y="T5"/>
                  </a:cxn>
                </a:cxnLst>
                <a:rect l="0" t="0" r="r" b="b"/>
                <a:pathLst>
                  <a:path w="21600" h="21210" fill="none" extrusionOk="0">
                    <a:moveTo>
                      <a:pt x="0" y="21210"/>
                    </a:moveTo>
                    <a:cubicBezTo>
                      <a:pt x="0" y="10856"/>
                      <a:pt x="7346" y="1959"/>
                      <a:pt x="17513" y="0"/>
                    </a:cubicBezTo>
                  </a:path>
                  <a:path w="21600" h="21210" stroke="0" extrusionOk="0">
                    <a:moveTo>
                      <a:pt x="0" y="21210"/>
                    </a:moveTo>
                    <a:cubicBezTo>
                      <a:pt x="0" y="10856"/>
                      <a:pt x="7346" y="1959"/>
                      <a:pt x="17513" y="0"/>
                    </a:cubicBezTo>
                    <a:lnTo>
                      <a:pt x="21600" y="21210"/>
                    </a:lnTo>
                    <a:lnTo>
                      <a:pt x="0" y="21210"/>
                    </a:lnTo>
                    <a:close/>
                  </a:path>
                </a:pathLst>
              </a:custGeom>
              <a:noFill/>
              <a:ln w="1905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6" name="Arc 35"/>
              <p:cNvSpPr>
                <a:spLocks/>
              </p:cNvSpPr>
              <p:nvPr/>
            </p:nvSpPr>
            <p:spPr bwMode="auto">
              <a:xfrm rot="9240000">
                <a:off x="1735" y="2264"/>
                <a:ext cx="768" cy="1601"/>
              </a:xfrm>
              <a:custGeom>
                <a:avLst/>
                <a:gdLst>
                  <a:gd name="T0" fmla="*/ 0 w 21600"/>
                  <a:gd name="T1" fmla="*/ 0 h 21195"/>
                  <a:gd name="T2" fmla="*/ 0 w 21600"/>
                  <a:gd name="T3" fmla="*/ 0 h 21195"/>
                  <a:gd name="T4" fmla="*/ 0 w 21600"/>
                  <a:gd name="T5" fmla="*/ 0 h 21195"/>
                  <a:gd name="T6" fmla="*/ 0 60000 65536"/>
                  <a:gd name="T7" fmla="*/ 0 60000 65536"/>
                  <a:gd name="T8" fmla="*/ 0 60000 65536"/>
                </a:gdLst>
                <a:ahLst/>
                <a:cxnLst>
                  <a:cxn ang="T6">
                    <a:pos x="T0" y="T1"/>
                  </a:cxn>
                  <a:cxn ang="T7">
                    <a:pos x="T2" y="T3"/>
                  </a:cxn>
                  <a:cxn ang="T8">
                    <a:pos x="T4" y="T5"/>
                  </a:cxn>
                </a:cxnLst>
                <a:rect l="0" t="0" r="r" b="b"/>
                <a:pathLst>
                  <a:path w="21600" h="21195" fill="none" extrusionOk="0">
                    <a:moveTo>
                      <a:pt x="21600" y="0"/>
                    </a:moveTo>
                    <a:cubicBezTo>
                      <a:pt x="21600" y="10323"/>
                      <a:pt x="14294" y="19204"/>
                      <a:pt x="4163" y="21194"/>
                    </a:cubicBezTo>
                  </a:path>
                  <a:path w="21600" h="21195" stroke="0" extrusionOk="0">
                    <a:moveTo>
                      <a:pt x="21600" y="0"/>
                    </a:moveTo>
                    <a:cubicBezTo>
                      <a:pt x="21600" y="10323"/>
                      <a:pt x="14294" y="19204"/>
                      <a:pt x="4163" y="21194"/>
                    </a:cubicBezTo>
                    <a:lnTo>
                      <a:pt x="0" y="0"/>
                    </a:lnTo>
                    <a:lnTo>
                      <a:pt x="21600" y="0"/>
                    </a:lnTo>
                    <a:close/>
                  </a:path>
                </a:pathLst>
              </a:custGeom>
              <a:noFill/>
              <a:ln w="19050" cap="rnd">
                <a:solidFill>
                  <a:schemeClr val="accent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7" name="Arc 36"/>
              <p:cNvSpPr>
                <a:spLocks/>
              </p:cNvSpPr>
              <p:nvPr/>
            </p:nvSpPr>
            <p:spPr bwMode="auto">
              <a:xfrm>
                <a:off x="1537" y="781"/>
                <a:ext cx="480" cy="1427"/>
              </a:xfrm>
              <a:custGeom>
                <a:avLst/>
                <a:gdLst>
                  <a:gd name="T0" fmla="*/ 0 w 21600"/>
                  <a:gd name="T1" fmla="*/ 0 h 29198"/>
                  <a:gd name="T2" fmla="*/ 0 w 21600"/>
                  <a:gd name="T3" fmla="*/ 0 h 29198"/>
                  <a:gd name="T4" fmla="*/ 0 w 21600"/>
                  <a:gd name="T5" fmla="*/ 0 h 29198"/>
                  <a:gd name="T6" fmla="*/ 0 60000 65536"/>
                  <a:gd name="T7" fmla="*/ 0 60000 65536"/>
                  <a:gd name="T8" fmla="*/ 0 60000 65536"/>
                </a:gdLst>
                <a:ahLst/>
                <a:cxnLst>
                  <a:cxn ang="T6">
                    <a:pos x="T0" y="T1"/>
                  </a:cxn>
                  <a:cxn ang="T7">
                    <a:pos x="T2" y="T3"/>
                  </a:cxn>
                  <a:cxn ang="T8">
                    <a:pos x="T4" y="T5"/>
                  </a:cxn>
                </a:cxnLst>
                <a:rect l="0" t="0" r="r" b="b"/>
                <a:pathLst>
                  <a:path w="21600" h="29198" fill="none" extrusionOk="0">
                    <a:moveTo>
                      <a:pt x="21600" y="29198"/>
                    </a:moveTo>
                    <a:cubicBezTo>
                      <a:pt x="9670" y="29198"/>
                      <a:pt x="0" y="19527"/>
                      <a:pt x="0" y="7598"/>
                    </a:cubicBezTo>
                    <a:cubicBezTo>
                      <a:pt x="-1" y="5003"/>
                      <a:pt x="467" y="2429"/>
                      <a:pt x="1380" y="0"/>
                    </a:cubicBezTo>
                  </a:path>
                  <a:path w="21600" h="29198" stroke="0" extrusionOk="0">
                    <a:moveTo>
                      <a:pt x="21600" y="29198"/>
                    </a:moveTo>
                    <a:cubicBezTo>
                      <a:pt x="9670" y="29198"/>
                      <a:pt x="0" y="19527"/>
                      <a:pt x="0" y="7598"/>
                    </a:cubicBezTo>
                    <a:cubicBezTo>
                      <a:pt x="-1" y="5003"/>
                      <a:pt x="467" y="2429"/>
                      <a:pt x="1380" y="0"/>
                    </a:cubicBezTo>
                    <a:lnTo>
                      <a:pt x="21600" y="7598"/>
                    </a:lnTo>
                    <a:lnTo>
                      <a:pt x="21600" y="29198"/>
                    </a:lnTo>
                    <a:close/>
                  </a:path>
                </a:pathLst>
              </a:custGeom>
              <a:noFill/>
              <a:ln w="19050" cap="rnd">
                <a:solidFill>
                  <a:schemeClr val="accent2"/>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8" name="Arc 37"/>
              <p:cNvSpPr>
                <a:spLocks/>
              </p:cNvSpPr>
              <p:nvPr/>
            </p:nvSpPr>
            <p:spPr bwMode="auto">
              <a:xfrm rot="10800000">
                <a:off x="973" y="2208"/>
                <a:ext cx="996" cy="1920"/>
              </a:xfrm>
              <a:custGeom>
                <a:avLst/>
                <a:gdLst>
                  <a:gd name="T0" fmla="*/ 0 w 20363"/>
                  <a:gd name="T1" fmla="*/ 0 h 21600"/>
                  <a:gd name="T2" fmla="*/ 0 w 20363"/>
                  <a:gd name="T3" fmla="*/ 0 h 21600"/>
                  <a:gd name="T4" fmla="*/ 0 w 20363"/>
                  <a:gd name="T5" fmla="*/ 0 h 21600"/>
                  <a:gd name="T6" fmla="*/ 0 60000 65536"/>
                  <a:gd name="T7" fmla="*/ 0 60000 65536"/>
                  <a:gd name="T8" fmla="*/ 0 60000 65536"/>
                </a:gdLst>
                <a:ahLst/>
                <a:cxnLst>
                  <a:cxn ang="T6">
                    <a:pos x="T0" y="T1"/>
                  </a:cxn>
                  <a:cxn ang="T7">
                    <a:pos x="T2" y="T3"/>
                  </a:cxn>
                  <a:cxn ang="T8">
                    <a:pos x="T4" y="T5"/>
                  </a:cxn>
                </a:cxnLst>
                <a:rect l="0" t="0" r="r" b="b"/>
                <a:pathLst>
                  <a:path w="20363" h="21600" fill="none" extrusionOk="0">
                    <a:moveTo>
                      <a:pt x="20363" y="7204"/>
                    </a:moveTo>
                    <a:cubicBezTo>
                      <a:pt x="17310" y="15832"/>
                      <a:pt x="9152" y="21599"/>
                      <a:pt x="0" y="21600"/>
                    </a:cubicBezTo>
                  </a:path>
                  <a:path w="20363" h="21600" stroke="0" extrusionOk="0">
                    <a:moveTo>
                      <a:pt x="20363" y="7204"/>
                    </a:moveTo>
                    <a:cubicBezTo>
                      <a:pt x="17310" y="15832"/>
                      <a:pt x="9152" y="21599"/>
                      <a:pt x="0" y="21600"/>
                    </a:cubicBezTo>
                    <a:lnTo>
                      <a:pt x="0" y="0"/>
                    </a:lnTo>
                    <a:lnTo>
                      <a:pt x="20363" y="7204"/>
                    </a:lnTo>
                    <a:close/>
                  </a:path>
                </a:pathLst>
              </a:custGeom>
              <a:noFill/>
              <a:ln w="19050" cap="rnd">
                <a:solidFill>
                  <a:schemeClr val="accent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9" name="Arc 38"/>
              <p:cNvSpPr>
                <a:spLocks/>
              </p:cNvSpPr>
              <p:nvPr/>
            </p:nvSpPr>
            <p:spPr bwMode="auto">
              <a:xfrm rot="10500000">
                <a:off x="763" y="2256"/>
                <a:ext cx="1273" cy="816"/>
              </a:xfrm>
              <a:custGeom>
                <a:avLst/>
                <a:gdLst>
                  <a:gd name="T0" fmla="*/ 0 w 21219"/>
                  <a:gd name="T1" fmla="*/ 0 h 21600"/>
                  <a:gd name="T2" fmla="*/ 0 w 21219"/>
                  <a:gd name="T3" fmla="*/ 0 h 21600"/>
                  <a:gd name="T4" fmla="*/ 0 w 21219"/>
                  <a:gd name="T5" fmla="*/ 0 h 21600"/>
                  <a:gd name="T6" fmla="*/ 0 60000 65536"/>
                  <a:gd name="T7" fmla="*/ 0 60000 65536"/>
                  <a:gd name="T8" fmla="*/ 0 60000 65536"/>
                </a:gdLst>
                <a:ahLst/>
                <a:cxnLst>
                  <a:cxn ang="T6">
                    <a:pos x="T0" y="T1"/>
                  </a:cxn>
                  <a:cxn ang="T7">
                    <a:pos x="T2" y="T3"/>
                  </a:cxn>
                  <a:cxn ang="T8">
                    <a:pos x="T4" y="T5"/>
                  </a:cxn>
                </a:cxnLst>
                <a:rect l="0" t="0" r="r" b="b"/>
                <a:pathLst>
                  <a:path w="21219" h="21600" fill="none" extrusionOk="0">
                    <a:moveTo>
                      <a:pt x="21219" y="7948"/>
                    </a:moveTo>
                    <a:cubicBezTo>
                      <a:pt x="17958" y="16187"/>
                      <a:pt x="9996" y="21599"/>
                      <a:pt x="1135" y="21600"/>
                    </a:cubicBezTo>
                    <a:cubicBezTo>
                      <a:pt x="756" y="21600"/>
                      <a:pt x="378" y="21590"/>
                      <a:pt x="-1" y="21570"/>
                    </a:cubicBezTo>
                  </a:path>
                  <a:path w="21219" h="21600" stroke="0" extrusionOk="0">
                    <a:moveTo>
                      <a:pt x="21219" y="7948"/>
                    </a:moveTo>
                    <a:cubicBezTo>
                      <a:pt x="17958" y="16187"/>
                      <a:pt x="9996" y="21599"/>
                      <a:pt x="1135" y="21600"/>
                    </a:cubicBezTo>
                    <a:cubicBezTo>
                      <a:pt x="756" y="21600"/>
                      <a:pt x="378" y="21590"/>
                      <a:pt x="-1" y="21570"/>
                    </a:cubicBezTo>
                    <a:lnTo>
                      <a:pt x="1135" y="0"/>
                    </a:lnTo>
                    <a:lnTo>
                      <a:pt x="21219" y="7948"/>
                    </a:lnTo>
                    <a:close/>
                  </a:path>
                </a:pathLst>
              </a:custGeom>
              <a:noFill/>
              <a:ln w="19050" cap="rnd">
                <a:solidFill>
                  <a:schemeClr val="accent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00" name="Line 39"/>
              <p:cNvSpPr>
                <a:spLocks noChangeShapeType="1"/>
              </p:cNvSpPr>
              <p:nvPr/>
            </p:nvSpPr>
            <p:spPr bwMode="auto">
              <a:xfrm>
                <a:off x="2208" y="2256"/>
                <a:ext cx="576" cy="0"/>
              </a:xfrm>
              <a:prstGeom prst="line">
                <a:avLst/>
              </a:prstGeom>
              <a:noFill/>
              <a:ln w="19050">
                <a:solidFill>
                  <a:schemeClr val="accent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01" name="Line 40"/>
              <p:cNvSpPr>
                <a:spLocks noChangeShapeType="1"/>
              </p:cNvSpPr>
              <p:nvPr/>
            </p:nvSpPr>
            <p:spPr bwMode="auto">
              <a:xfrm>
                <a:off x="2784" y="2256"/>
                <a:ext cx="576" cy="0"/>
              </a:xfrm>
              <a:prstGeom prst="line">
                <a:avLst/>
              </a:prstGeom>
              <a:noFill/>
              <a:ln w="1905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6602" name="Group 41"/>
              <p:cNvGrpSpPr>
                <a:grpSpLocks/>
              </p:cNvGrpSpPr>
              <p:nvPr/>
            </p:nvGrpSpPr>
            <p:grpSpPr bwMode="auto">
              <a:xfrm>
                <a:off x="1920" y="2112"/>
                <a:ext cx="193" cy="193"/>
                <a:chOff x="1152" y="1296"/>
                <a:chExt cx="193" cy="193"/>
              </a:xfrm>
            </p:grpSpPr>
            <p:sp>
              <p:nvSpPr>
                <p:cNvPr id="66615" name="Oval 42"/>
                <p:cNvSpPr>
                  <a:spLocks noChangeArrowheads="1"/>
                </p:cNvSpPr>
                <p:nvPr/>
              </p:nvSpPr>
              <p:spPr bwMode="auto">
                <a:xfrm>
                  <a:off x="1152" y="1296"/>
                  <a:ext cx="193" cy="193"/>
                </a:xfrm>
                <a:prstGeom prst="ellipse">
                  <a:avLst/>
                </a:prstGeom>
                <a:gradFill rotWithShape="0">
                  <a:gsLst>
                    <a:gs pos="0">
                      <a:srgbClr val="FF6600"/>
                    </a:gs>
                    <a:gs pos="100000">
                      <a:srgbClr val="762F00"/>
                    </a:gs>
                  </a:gsLst>
                  <a:path path="shape">
                    <a:fillToRect l="50000" t="50000" r="50000" b="50000"/>
                  </a:path>
                </a:gra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66616" name="Line 43"/>
                <p:cNvSpPr>
                  <a:spLocks noChangeShapeType="1"/>
                </p:cNvSpPr>
                <p:nvPr/>
              </p:nvSpPr>
              <p:spPr bwMode="auto">
                <a:xfrm>
                  <a:off x="1152" y="1398"/>
                  <a:ext cx="193"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17" name="Line 44"/>
                <p:cNvSpPr>
                  <a:spLocks noChangeShapeType="1"/>
                </p:cNvSpPr>
                <p:nvPr/>
              </p:nvSpPr>
              <p:spPr bwMode="auto">
                <a:xfrm>
                  <a:off x="1248" y="1296"/>
                  <a:ext cx="0" cy="192"/>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6603" name="Group 45"/>
              <p:cNvGrpSpPr>
                <a:grpSpLocks/>
              </p:cNvGrpSpPr>
              <p:nvPr/>
            </p:nvGrpSpPr>
            <p:grpSpPr bwMode="auto">
              <a:xfrm>
                <a:off x="3600" y="2277"/>
                <a:ext cx="1344" cy="0"/>
                <a:chOff x="3600" y="2256"/>
                <a:chExt cx="1344" cy="0"/>
              </a:xfrm>
            </p:grpSpPr>
            <p:sp>
              <p:nvSpPr>
                <p:cNvPr id="66613" name="Line 46"/>
                <p:cNvSpPr>
                  <a:spLocks noChangeShapeType="1"/>
                </p:cNvSpPr>
                <p:nvPr/>
              </p:nvSpPr>
              <p:spPr bwMode="auto">
                <a:xfrm flipH="1">
                  <a:off x="4272" y="2256"/>
                  <a:ext cx="672" cy="0"/>
                </a:xfrm>
                <a:prstGeom prst="line">
                  <a:avLst/>
                </a:prstGeom>
                <a:noFill/>
                <a:ln w="19050">
                  <a:solidFill>
                    <a:schemeClr val="accent2"/>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14" name="Line 47"/>
                <p:cNvSpPr>
                  <a:spLocks noChangeShapeType="1"/>
                </p:cNvSpPr>
                <p:nvPr/>
              </p:nvSpPr>
              <p:spPr bwMode="auto">
                <a:xfrm flipH="1">
                  <a:off x="3600" y="2256"/>
                  <a:ext cx="672" cy="0"/>
                </a:xfrm>
                <a:prstGeom prst="line">
                  <a:avLst/>
                </a:prstGeom>
                <a:noFill/>
                <a:ln w="19050">
                  <a:solidFill>
                    <a:schemeClr val="accent2"/>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6604" name="Group 48"/>
              <p:cNvGrpSpPr>
                <a:grpSpLocks/>
              </p:cNvGrpSpPr>
              <p:nvPr/>
            </p:nvGrpSpPr>
            <p:grpSpPr bwMode="auto">
              <a:xfrm>
                <a:off x="3504" y="1200"/>
                <a:ext cx="1248" cy="1056"/>
                <a:chOff x="3504" y="1200"/>
                <a:chExt cx="1248" cy="1056"/>
              </a:xfrm>
            </p:grpSpPr>
            <p:sp>
              <p:nvSpPr>
                <p:cNvPr id="66611" name="Arc 49"/>
                <p:cNvSpPr>
                  <a:spLocks/>
                </p:cNvSpPr>
                <p:nvPr/>
              </p:nvSpPr>
              <p:spPr bwMode="auto">
                <a:xfrm>
                  <a:off x="3504" y="1200"/>
                  <a:ext cx="1248" cy="105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905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12" name="Arc 50"/>
                <p:cNvSpPr>
                  <a:spLocks/>
                </p:cNvSpPr>
                <p:nvPr/>
              </p:nvSpPr>
              <p:spPr bwMode="auto">
                <a:xfrm>
                  <a:off x="3504" y="1207"/>
                  <a:ext cx="1248" cy="785"/>
                </a:xfrm>
                <a:custGeom>
                  <a:avLst/>
                  <a:gdLst>
                    <a:gd name="T0" fmla="*/ 0 w 21600"/>
                    <a:gd name="T1" fmla="*/ 0 h 16066"/>
                    <a:gd name="T2" fmla="*/ 0 w 21600"/>
                    <a:gd name="T3" fmla="*/ 0 h 16066"/>
                    <a:gd name="T4" fmla="*/ 0 w 21600"/>
                    <a:gd name="T5" fmla="*/ 0 h 16066"/>
                    <a:gd name="T6" fmla="*/ 0 60000 65536"/>
                    <a:gd name="T7" fmla="*/ 0 60000 65536"/>
                    <a:gd name="T8" fmla="*/ 0 60000 65536"/>
                  </a:gdLst>
                  <a:ahLst/>
                  <a:cxnLst>
                    <a:cxn ang="T6">
                      <a:pos x="T0" y="T1"/>
                    </a:cxn>
                    <a:cxn ang="T7">
                      <a:pos x="T2" y="T3"/>
                    </a:cxn>
                    <a:cxn ang="T8">
                      <a:pos x="T4" y="T5"/>
                    </a:cxn>
                  </a:cxnLst>
                  <a:rect l="0" t="0" r="r" b="b"/>
                  <a:pathLst>
                    <a:path w="21600" h="16066" fill="none" extrusionOk="0">
                      <a:moveTo>
                        <a:pt x="21600" y="0"/>
                      </a:moveTo>
                      <a:cubicBezTo>
                        <a:pt x="21600" y="6129"/>
                        <a:pt x="18996" y="11969"/>
                        <a:pt x="14437" y="16066"/>
                      </a:cubicBezTo>
                    </a:path>
                    <a:path w="21600" h="16066" stroke="0" extrusionOk="0">
                      <a:moveTo>
                        <a:pt x="21600" y="0"/>
                      </a:moveTo>
                      <a:cubicBezTo>
                        <a:pt x="21600" y="6129"/>
                        <a:pt x="18996" y="11969"/>
                        <a:pt x="14437" y="16066"/>
                      </a:cubicBezTo>
                      <a:lnTo>
                        <a:pt x="0" y="0"/>
                      </a:lnTo>
                      <a:lnTo>
                        <a:pt x="21600" y="0"/>
                      </a:lnTo>
                      <a:close/>
                    </a:path>
                  </a:pathLst>
                </a:custGeom>
                <a:noFill/>
                <a:ln w="19050" cap="rnd">
                  <a:solidFill>
                    <a:schemeClr val="accent2"/>
                  </a:solidFill>
                  <a:round/>
                  <a:headEnd type="none"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6605" name="Group 51"/>
              <p:cNvGrpSpPr>
                <a:grpSpLocks/>
              </p:cNvGrpSpPr>
              <p:nvPr/>
            </p:nvGrpSpPr>
            <p:grpSpPr bwMode="auto">
              <a:xfrm flipV="1">
                <a:off x="3600" y="2298"/>
                <a:ext cx="1248" cy="1056"/>
                <a:chOff x="3504" y="1200"/>
                <a:chExt cx="1248" cy="1056"/>
              </a:xfrm>
            </p:grpSpPr>
            <p:sp>
              <p:nvSpPr>
                <p:cNvPr id="66609" name="Arc 52"/>
                <p:cNvSpPr>
                  <a:spLocks/>
                </p:cNvSpPr>
                <p:nvPr/>
              </p:nvSpPr>
              <p:spPr bwMode="auto">
                <a:xfrm>
                  <a:off x="3504" y="1200"/>
                  <a:ext cx="1248" cy="105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905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10" name="Arc 53"/>
                <p:cNvSpPr>
                  <a:spLocks/>
                </p:cNvSpPr>
                <p:nvPr/>
              </p:nvSpPr>
              <p:spPr bwMode="auto">
                <a:xfrm>
                  <a:off x="3504" y="1207"/>
                  <a:ext cx="1248" cy="785"/>
                </a:xfrm>
                <a:custGeom>
                  <a:avLst/>
                  <a:gdLst>
                    <a:gd name="T0" fmla="*/ 0 w 21600"/>
                    <a:gd name="T1" fmla="*/ 0 h 16066"/>
                    <a:gd name="T2" fmla="*/ 0 w 21600"/>
                    <a:gd name="T3" fmla="*/ 0 h 16066"/>
                    <a:gd name="T4" fmla="*/ 0 w 21600"/>
                    <a:gd name="T5" fmla="*/ 0 h 16066"/>
                    <a:gd name="T6" fmla="*/ 0 60000 65536"/>
                    <a:gd name="T7" fmla="*/ 0 60000 65536"/>
                    <a:gd name="T8" fmla="*/ 0 60000 65536"/>
                  </a:gdLst>
                  <a:ahLst/>
                  <a:cxnLst>
                    <a:cxn ang="T6">
                      <a:pos x="T0" y="T1"/>
                    </a:cxn>
                    <a:cxn ang="T7">
                      <a:pos x="T2" y="T3"/>
                    </a:cxn>
                    <a:cxn ang="T8">
                      <a:pos x="T4" y="T5"/>
                    </a:cxn>
                  </a:cxnLst>
                  <a:rect l="0" t="0" r="r" b="b"/>
                  <a:pathLst>
                    <a:path w="21600" h="16066" fill="none" extrusionOk="0">
                      <a:moveTo>
                        <a:pt x="21600" y="0"/>
                      </a:moveTo>
                      <a:cubicBezTo>
                        <a:pt x="21600" y="6129"/>
                        <a:pt x="18996" y="11969"/>
                        <a:pt x="14437" y="16066"/>
                      </a:cubicBezTo>
                    </a:path>
                    <a:path w="21600" h="16066" stroke="0" extrusionOk="0">
                      <a:moveTo>
                        <a:pt x="21600" y="0"/>
                      </a:moveTo>
                      <a:cubicBezTo>
                        <a:pt x="21600" y="6129"/>
                        <a:pt x="18996" y="11969"/>
                        <a:pt x="14437" y="16066"/>
                      </a:cubicBezTo>
                      <a:lnTo>
                        <a:pt x="0" y="0"/>
                      </a:lnTo>
                      <a:lnTo>
                        <a:pt x="21600" y="0"/>
                      </a:lnTo>
                      <a:close/>
                    </a:path>
                  </a:pathLst>
                </a:custGeom>
                <a:noFill/>
                <a:ln w="19050" cap="rnd">
                  <a:solidFill>
                    <a:schemeClr val="accent2"/>
                  </a:solidFill>
                  <a:round/>
                  <a:headEnd type="none"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6606" name="Group 54"/>
              <p:cNvGrpSpPr>
                <a:grpSpLocks/>
              </p:cNvGrpSpPr>
              <p:nvPr/>
            </p:nvGrpSpPr>
            <p:grpSpPr bwMode="auto">
              <a:xfrm>
                <a:off x="3408" y="2160"/>
                <a:ext cx="193" cy="193"/>
                <a:chOff x="1728" y="1036"/>
                <a:chExt cx="193" cy="193"/>
              </a:xfrm>
            </p:grpSpPr>
            <p:sp>
              <p:nvSpPr>
                <p:cNvPr id="158775" name="Oval 55"/>
                <p:cNvSpPr>
                  <a:spLocks noChangeArrowheads="1"/>
                </p:cNvSpPr>
                <p:nvPr/>
              </p:nvSpPr>
              <p:spPr bwMode="auto">
                <a:xfrm>
                  <a:off x="1727" y="1035"/>
                  <a:ext cx="195" cy="195"/>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spcBef>
                      <a:spcPct val="20000"/>
                    </a:spcBef>
                    <a:defRPr/>
                  </a:pPr>
                  <a:endParaRPr lang="zh-CN" altLang="en-US">
                    <a:ea typeface="楷体_GB2312" pitchFamily="49" charset="-122"/>
                    <a:cs typeface="+mn-cs"/>
                  </a:endParaRPr>
                </a:p>
              </p:txBody>
            </p:sp>
            <p:sp>
              <p:nvSpPr>
                <p:cNvPr id="66608" name="Line 56"/>
                <p:cNvSpPr>
                  <a:spLocks noChangeShapeType="1"/>
                </p:cNvSpPr>
                <p:nvPr/>
              </p:nvSpPr>
              <p:spPr bwMode="auto">
                <a:xfrm>
                  <a:off x="1728" y="1138"/>
                  <a:ext cx="193"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pic>
        <p:nvPicPr>
          <p:cNvPr id="58" name="Picture 4" descr="2321b"/>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7275" y="385763"/>
            <a:ext cx="2173288" cy="220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0839101"/>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58724"/>
                                        </p:tgtEl>
                                        <p:attrNameLst>
                                          <p:attrName>style.visibility</p:attrName>
                                        </p:attrNameLst>
                                      </p:cBhvr>
                                      <p:to>
                                        <p:strVal val="visible"/>
                                      </p:to>
                                    </p:set>
                                    <p:animEffect transition="in" filter="wipe(down)">
                                      <p:cBhvr>
                                        <p:cTn id="7" dur="500"/>
                                        <p:tgtEl>
                                          <p:spTgt spid="1587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58"/>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47109"/>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57"/>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8" presetClass="entr" presetSubtype="6" fill="hold" grpId="0" nodeType="clickEffect">
                                  <p:stCondLst>
                                    <p:cond delay="0"/>
                                  </p:stCondLst>
                                  <p:childTnLst>
                                    <p:set>
                                      <p:cBhvr>
                                        <p:cTn id="23" dur="1" fill="hold">
                                          <p:stCondLst>
                                            <p:cond delay="0"/>
                                          </p:stCondLst>
                                        </p:cTn>
                                        <p:tgtEl>
                                          <p:spTgt spid="158726"/>
                                        </p:tgtEl>
                                        <p:attrNameLst>
                                          <p:attrName>style.visibility</p:attrName>
                                        </p:attrNameLst>
                                      </p:cBhvr>
                                      <p:to>
                                        <p:strVal val="visible"/>
                                      </p:to>
                                    </p:set>
                                    <p:animEffect transition="in" filter="strips(downRight)">
                                      <p:cBhvr>
                                        <p:cTn id="24" dur="500"/>
                                        <p:tgtEl>
                                          <p:spTgt spid="15872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 presetClass="entr" presetSubtype="32" fill="hold" nodeType="clickEffect">
                                  <p:stCondLst>
                                    <p:cond delay="0"/>
                                  </p:stCondLst>
                                  <p:childTnLst>
                                    <p:set>
                                      <p:cBhvr>
                                        <p:cTn id="28" dur="1" fill="hold">
                                          <p:stCondLst>
                                            <p:cond delay="0"/>
                                          </p:stCondLst>
                                        </p:cTn>
                                        <p:tgtEl>
                                          <p:spTgt spid="158727"/>
                                        </p:tgtEl>
                                        <p:attrNameLst>
                                          <p:attrName>style.visibility</p:attrName>
                                        </p:attrNameLst>
                                      </p:cBhvr>
                                      <p:to>
                                        <p:strVal val="visible"/>
                                      </p:to>
                                    </p:set>
                                    <p:animEffect transition="in" filter="box(out)">
                                      <p:cBhvr>
                                        <p:cTn id="29" dur="500"/>
                                        <p:tgtEl>
                                          <p:spTgt spid="15872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nodeType="clickEffect">
                                  <p:stCondLst>
                                    <p:cond delay="0"/>
                                  </p:stCondLst>
                                  <p:childTnLst>
                                    <p:set>
                                      <p:cBhvr>
                                        <p:cTn id="33" dur="1" fill="hold">
                                          <p:stCondLst>
                                            <p:cond delay="0"/>
                                          </p:stCondLst>
                                        </p:cTn>
                                        <p:tgtEl>
                                          <p:spTgt spid="158722"/>
                                        </p:tgtEl>
                                        <p:attrNameLst>
                                          <p:attrName>style.visibility</p:attrName>
                                        </p:attrNameLst>
                                      </p:cBhvr>
                                      <p:to>
                                        <p:strVal val="visible"/>
                                      </p:to>
                                    </p:set>
                                    <p:anim calcmode="lin" valueType="num">
                                      <p:cBhvr additive="base">
                                        <p:cTn id="34" dur="500" fill="hold"/>
                                        <p:tgtEl>
                                          <p:spTgt spid="158722"/>
                                        </p:tgtEl>
                                        <p:attrNameLst>
                                          <p:attrName>ppt_x</p:attrName>
                                        </p:attrNameLst>
                                      </p:cBhvr>
                                      <p:tavLst>
                                        <p:tav tm="0">
                                          <p:val>
                                            <p:strVal val="#ppt_x"/>
                                          </p:val>
                                        </p:tav>
                                        <p:tav tm="100000">
                                          <p:val>
                                            <p:strVal val="#ppt_x"/>
                                          </p:val>
                                        </p:tav>
                                      </p:tavLst>
                                    </p:anim>
                                    <p:anim calcmode="lin" valueType="num">
                                      <p:cBhvr additive="base">
                                        <p:cTn id="35" dur="500" fill="hold"/>
                                        <p:tgtEl>
                                          <p:spTgt spid="1587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6"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ext Box 2"/>
          <p:cNvSpPr txBox="1">
            <a:spLocks noChangeArrowheads="1"/>
          </p:cNvSpPr>
          <p:nvPr/>
        </p:nvSpPr>
        <p:spPr bwMode="auto">
          <a:xfrm>
            <a:off x="152400" y="142875"/>
            <a:ext cx="3124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3333FF"/>
                </a:solidFill>
                <a:ea typeface="楷体_GB2312"/>
              </a:rPr>
              <a:t>3</a:t>
            </a:r>
            <a:r>
              <a:rPr lang="zh-CN" altLang="en-US" sz="2800">
                <a:solidFill>
                  <a:srgbClr val="3333FF"/>
                </a:solidFill>
                <a:ea typeface="楷体_GB2312"/>
              </a:rPr>
              <a:t>、电场线密度</a:t>
            </a:r>
            <a:endParaRPr lang="zh-CN" altLang="en-US" sz="2400" b="0">
              <a:ea typeface="楷体_GB2312"/>
            </a:endParaRPr>
          </a:p>
        </p:txBody>
      </p:sp>
      <p:sp>
        <p:nvSpPr>
          <p:cNvPr id="159747" name="Text Box 3"/>
          <p:cNvSpPr txBox="1">
            <a:spLocks noChangeArrowheads="1"/>
          </p:cNvSpPr>
          <p:nvPr/>
        </p:nvSpPr>
        <p:spPr bwMode="auto">
          <a:xfrm>
            <a:off x="228600" y="685800"/>
            <a:ext cx="54102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定义：经过电场中任一点，作一面积元</a:t>
            </a:r>
            <a:r>
              <a:rPr lang="en-US" altLang="zh-CN" sz="2400">
                <a:ea typeface="楷体_GB2312"/>
              </a:rPr>
              <a:t>d</a:t>
            </a:r>
            <a:r>
              <a:rPr lang="en-US" altLang="zh-CN" sz="2400" i="1">
                <a:ea typeface="楷体_GB2312"/>
              </a:rPr>
              <a:t>S</a:t>
            </a:r>
            <a:r>
              <a:rPr lang="zh-CN" altLang="en-US" sz="2400">
                <a:ea typeface="楷体_GB2312"/>
              </a:rPr>
              <a:t>，并使它与该点的场强垂直，若通过</a:t>
            </a:r>
            <a:r>
              <a:rPr lang="en-US" altLang="zh-CN" sz="2400">
                <a:ea typeface="楷体_GB2312"/>
              </a:rPr>
              <a:t>d</a:t>
            </a:r>
            <a:r>
              <a:rPr lang="en-US" altLang="zh-CN" sz="2400" i="1">
                <a:ea typeface="楷体_GB2312"/>
              </a:rPr>
              <a:t>S</a:t>
            </a:r>
            <a:r>
              <a:rPr lang="zh-CN" altLang="en-US" sz="2400">
                <a:ea typeface="楷体_GB2312"/>
              </a:rPr>
              <a:t>面的电场线条数为</a:t>
            </a:r>
            <a:r>
              <a:rPr lang="en-US" altLang="zh-CN" sz="2400">
                <a:ea typeface="楷体_GB2312"/>
              </a:rPr>
              <a:t>d</a:t>
            </a:r>
            <a:r>
              <a:rPr lang="en-US" altLang="zh-CN" sz="2400" i="1">
                <a:ea typeface="楷体_GB2312"/>
              </a:rPr>
              <a:t>N</a:t>
            </a:r>
            <a:r>
              <a:rPr lang="zh-CN" altLang="en-US" sz="2400">
                <a:ea typeface="楷体_GB2312"/>
              </a:rPr>
              <a:t>，则电场线密度为</a:t>
            </a:r>
            <a:r>
              <a:rPr lang="en-US" altLang="zh-CN" sz="2400">
                <a:ea typeface="楷体_GB2312"/>
              </a:rPr>
              <a:t>d</a:t>
            </a:r>
            <a:r>
              <a:rPr lang="en-US" altLang="zh-CN" sz="2400" i="1">
                <a:ea typeface="楷体_GB2312"/>
              </a:rPr>
              <a:t>N</a:t>
            </a:r>
            <a:r>
              <a:rPr lang="en-US" altLang="zh-CN" sz="2400">
                <a:ea typeface="楷体_GB2312"/>
              </a:rPr>
              <a:t>/d</a:t>
            </a:r>
            <a:r>
              <a:rPr lang="en-US" altLang="zh-CN" sz="2400" i="1">
                <a:ea typeface="楷体_GB2312"/>
              </a:rPr>
              <a:t>S</a:t>
            </a:r>
            <a:r>
              <a:rPr lang="zh-CN" altLang="en-US" sz="2400">
                <a:ea typeface="楷体_GB2312"/>
              </a:rPr>
              <a:t>。</a:t>
            </a:r>
            <a:endParaRPr lang="zh-CN" altLang="en-US" sz="3600">
              <a:solidFill>
                <a:srgbClr val="FF3300"/>
              </a:solidFill>
              <a:ea typeface="楷体_GB2312"/>
            </a:endParaRPr>
          </a:p>
        </p:txBody>
      </p:sp>
      <p:pic>
        <p:nvPicPr>
          <p:cNvPr id="1597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0613" y="304800"/>
            <a:ext cx="2649537" cy="2135188"/>
          </a:xfrm>
          <a:prstGeom prst="rect">
            <a:avLst/>
          </a:prstGeom>
          <a:noFill/>
          <a:ln w="12700">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59749" name="Object 5"/>
          <p:cNvGraphicFramePr>
            <a:graphicFrameLocks noChangeAspect="1"/>
          </p:cNvGraphicFramePr>
          <p:nvPr/>
        </p:nvGraphicFramePr>
        <p:xfrm>
          <a:off x="2916238" y="2276475"/>
          <a:ext cx="1173162" cy="849313"/>
        </p:xfrm>
        <a:graphic>
          <a:graphicData uri="http://schemas.openxmlformats.org/presentationml/2006/ole">
            <mc:AlternateContent xmlns:mc="http://schemas.openxmlformats.org/markup-compatibility/2006">
              <mc:Choice xmlns:v="urn:schemas-microsoft-com:vml" Requires="v">
                <p:oleObj spid="_x0000_s166199" name="公式" r:id="rId4" imgW="558558" imgH="406224" progId="Equation.3">
                  <p:embed/>
                </p:oleObj>
              </mc:Choice>
              <mc:Fallback>
                <p:oleObj name="公式" r:id="rId4" imgW="558558" imgH="406224" progId="Equation.3">
                  <p:embed/>
                  <p:pic>
                    <p:nvPicPr>
                      <p:cNvPr id="15974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6238" y="2276475"/>
                        <a:ext cx="1173162" cy="849313"/>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9750" name="Text Box 6"/>
          <p:cNvSpPr txBox="1">
            <a:spLocks noChangeArrowheads="1"/>
          </p:cNvSpPr>
          <p:nvPr/>
        </p:nvSpPr>
        <p:spPr bwMode="auto">
          <a:xfrm>
            <a:off x="250825" y="3284538"/>
            <a:ext cx="44656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3333FF"/>
                </a:solidFill>
                <a:ea typeface="楷体_GB2312"/>
              </a:rPr>
              <a:t>4</a:t>
            </a:r>
            <a:r>
              <a:rPr lang="zh-CN" altLang="en-US" sz="2800">
                <a:solidFill>
                  <a:srgbClr val="3333FF"/>
                </a:solidFill>
                <a:ea typeface="楷体_GB2312"/>
              </a:rPr>
              <a:t>、静电场的电场线性质</a:t>
            </a:r>
            <a:endParaRPr lang="zh-CN" altLang="en-US" sz="2400" b="0">
              <a:ea typeface="楷体_GB2312"/>
            </a:endParaRPr>
          </a:p>
        </p:txBody>
      </p:sp>
      <p:sp>
        <p:nvSpPr>
          <p:cNvPr id="159751" name="Text Box 7"/>
          <p:cNvSpPr txBox="1">
            <a:spLocks noChangeArrowheads="1"/>
          </p:cNvSpPr>
          <p:nvPr/>
        </p:nvSpPr>
        <p:spPr bwMode="auto">
          <a:xfrm>
            <a:off x="457200" y="3821113"/>
            <a:ext cx="801687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a:ea typeface="楷体_GB2312"/>
              </a:rPr>
              <a:t>1)</a:t>
            </a:r>
            <a:r>
              <a:rPr lang="zh-CN" altLang="en-US" sz="2000">
                <a:ea typeface="楷体_GB2312"/>
              </a:rPr>
              <a:t>、电场线总是</a:t>
            </a:r>
            <a:r>
              <a:rPr lang="zh-CN" altLang="en-US" sz="2000">
                <a:latin typeface="宋体" panose="02010600030101010101" pitchFamily="2" charset="-122"/>
                <a:ea typeface="楷体_GB2312"/>
              </a:rPr>
              <a:t>起始于正电荷（或来自于无穷远），终止于负电荷（或终止于无穷远），不是闭合曲线，它们不会在没有电荷的地方中断</a:t>
            </a:r>
            <a:r>
              <a:rPr lang="zh-CN" altLang="en-US" sz="2000">
                <a:solidFill>
                  <a:srgbClr val="FF3300"/>
                </a:solidFill>
                <a:latin typeface="宋体" panose="02010600030101010101" pitchFamily="2" charset="-122"/>
                <a:ea typeface="楷体_GB2312"/>
              </a:rPr>
              <a:t> </a:t>
            </a:r>
            <a:r>
              <a:rPr lang="zh-CN" altLang="en-US" sz="2000">
                <a:latin typeface="宋体" panose="02010600030101010101" pitchFamily="2" charset="-122"/>
                <a:ea typeface="楷体_GB2312"/>
              </a:rPr>
              <a:t>；</a:t>
            </a:r>
          </a:p>
          <a:p>
            <a:pPr eaLnBrk="1" hangingPunct="1">
              <a:spcBef>
                <a:spcPct val="0"/>
              </a:spcBef>
              <a:buFontTx/>
              <a:buNone/>
            </a:pPr>
            <a:endParaRPr lang="en-US" altLang="zh-CN" sz="2000">
              <a:latin typeface="宋体" panose="02010600030101010101" pitchFamily="2" charset="-122"/>
              <a:ea typeface="楷体_GB2312"/>
            </a:endParaRPr>
          </a:p>
          <a:p>
            <a:pPr eaLnBrk="1" hangingPunct="1">
              <a:spcBef>
                <a:spcPct val="0"/>
              </a:spcBef>
              <a:buFontTx/>
              <a:buNone/>
            </a:pPr>
            <a:endParaRPr lang="en-US" altLang="zh-CN" sz="2000">
              <a:latin typeface="宋体" panose="02010600030101010101" pitchFamily="2" charset="-122"/>
              <a:ea typeface="楷体_GB2312"/>
            </a:endParaRPr>
          </a:p>
          <a:p>
            <a:pPr eaLnBrk="1" hangingPunct="1">
              <a:spcBef>
                <a:spcPct val="0"/>
              </a:spcBef>
              <a:buFontTx/>
              <a:buNone/>
            </a:pPr>
            <a:endParaRPr lang="en-US" altLang="zh-CN" sz="2000">
              <a:latin typeface="宋体" panose="02010600030101010101" pitchFamily="2" charset="-122"/>
              <a:ea typeface="楷体_GB2312"/>
            </a:endParaRPr>
          </a:p>
          <a:p>
            <a:pPr eaLnBrk="1" hangingPunct="1">
              <a:spcBef>
                <a:spcPct val="0"/>
              </a:spcBef>
              <a:buFontTx/>
              <a:buNone/>
            </a:pPr>
            <a:endParaRPr lang="en-US" altLang="zh-CN" sz="2000">
              <a:latin typeface="宋体" panose="02010600030101010101" pitchFamily="2" charset="-122"/>
              <a:ea typeface="楷体_GB2312"/>
            </a:endParaRPr>
          </a:p>
          <a:p>
            <a:pPr eaLnBrk="1" hangingPunct="1">
              <a:spcBef>
                <a:spcPct val="0"/>
              </a:spcBef>
              <a:buFontTx/>
              <a:buNone/>
            </a:pPr>
            <a:endParaRPr lang="en-US" altLang="zh-CN" sz="2000">
              <a:latin typeface="宋体" panose="02010600030101010101" pitchFamily="2" charset="-122"/>
              <a:ea typeface="楷体_GB2312"/>
            </a:endParaRPr>
          </a:p>
          <a:p>
            <a:pPr eaLnBrk="1" hangingPunct="1">
              <a:spcBef>
                <a:spcPct val="0"/>
              </a:spcBef>
              <a:buFontTx/>
              <a:buNone/>
            </a:pPr>
            <a:endParaRPr lang="zh-CN" altLang="en-US" sz="2000">
              <a:latin typeface="宋体" panose="02010600030101010101" pitchFamily="2" charset="-122"/>
              <a:ea typeface="楷体_GB2312"/>
            </a:endParaRPr>
          </a:p>
          <a:p>
            <a:pPr eaLnBrk="1" hangingPunct="1">
              <a:spcBef>
                <a:spcPct val="0"/>
              </a:spcBef>
              <a:buFontTx/>
              <a:buNone/>
            </a:pPr>
            <a:r>
              <a:rPr lang="en-US" altLang="zh-CN" sz="2000">
                <a:ea typeface="楷体_GB2312"/>
              </a:rPr>
              <a:t>2)</a:t>
            </a:r>
            <a:r>
              <a:rPr lang="zh-CN" altLang="en-US" sz="2000">
                <a:ea typeface="楷体_GB2312"/>
              </a:rPr>
              <a:t>、任何两条电场线都不能相交。</a:t>
            </a:r>
          </a:p>
        </p:txBody>
      </p:sp>
      <p:sp>
        <p:nvSpPr>
          <p:cNvPr id="159752" name="Text Box 8"/>
          <p:cNvSpPr txBox="1">
            <a:spLocks noChangeArrowheads="1"/>
          </p:cNvSpPr>
          <p:nvPr/>
        </p:nvSpPr>
        <p:spPr bwMode="auto">
          <a:xfrm>
            <a:off x="5029200" y="2667000"/>
            <a:ext cx="4114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ea typeface="楷体_GB2312"/>
              </a:rPr>
              <a:t>对于匀强电场，电场线密度处处相等，而且方向处处一致。</a:t>
            </a:r>
            <a:endParaRPr lang="zh-CN" altLang="en-US">
              <a:solidFill>
                <a:srgbClr val="FF3300"/>
              </a:solidFill>
              <a:ea typeface="楷体_GB2312"/>
            </a:endParaRPr>
          </a:p>
        </p:txBody>
      </p:sp>
      <p:sp>
        <p:nvSpPr>
          <p:cNvPr id="159754" name="Line 10"/>
          <p:cNvSpPr>
            <a:spLocks noChangeShapeType="1"/>
          </p:cNvSpPr>
          <p:nvPr/>
        </p:nvSpPr>
        <p:spPr bwMode="auto">
          <a:xfrm>
            <a:off x="5772150" y="5925517"/>
            <a:ext cx="685800" cy="457200"/>
          </a:xfrm>
          <a:prstGeom prst="line">
            <a:avLst/>
          </a:prstGeom>
          <a:noFill/>
          <a:ln w="19050">
            <a:solidFill>
              <a:srgbClr val="FF3300"/>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9755" name="Group 11"/>
          <p:cNvGrpSpPr>
            <a:grpSpLocks/>
          </p:cNvGrpSpPr>
          <p:nvPr/>
        </p:nvGrpSpPr>
        <p:grpSpPr bwMode="auto">
          <a:xfrm>
            <a:off x="5707063" y="5522292"/>
            <a:ext cx="914400" cy="457200"/>
            <a:chOff x="4088" y="2764"/>
            <a:chExt cx="576" cy="288"/>
          </a:xfrm>
        </p:grpSpPr>
        <p:sp>
          <p:nvSpPr>
            <p:cNvPr id="67602" name="Line 12"/>
            <p:cNvSpPr>
              <a:spLocks noChangeShapeType="1"/>
            </p:cNvSpPr>
            <p:nvPr/>
          </p:nvSpPr>
          <p:spPr bwMode="auto">
            <a:xfrm flipV="1">
              <a:off x="4136" y="2764"/>
              <a:ext cx="528" cy="240"/>
            </a:xfrm>
            <a:prstGeom prst="line">
              <a:avLst/>
            </a:prstGeom>
            <a:noFill/>
            <a:ln w="19050">
              <a:solidFill>
                <a:srgbClr val="FF3300"/>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03" name="Oval 13"/>
            <p:cNvSpPr>
              <a:spLocks noChangeArrowheads="1"/>
            </p:cNvSpPr>
            <p:nvPr/>
          </p:nvSpPr>
          <p:spPr bwMode="auto">
            <a:xfrm>
              <a:off x="4088" y="3004"/>
              <a:ext cx="48" cy="48"/>
            </a:xfrm>
            <a:prstGeom prst="ellipse">
              <a:avLst/>
            </a:prstGeom>
            <a:solidFill>
              <a:schemeClr val="accent1"/>
            </a:solidFill>
            <a:ln w="19050">
              <a:solidFill>
                <a:schemeClr val="accent2"/>
              </a:solidFill>
              <a:round/>
              <a:headEnd type="none" w="med" len="lg"/>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pSp>
      <p:grpSp>
        <p:nvGrpSpPr>
          <p:cNvPr id="159758" name="Group 14"/>
          <p:cNvGrpSpPr>
            <a:grpSpLocks/>
          </p:cNvGrpSpPr>
          <p:nvPr/>
        </p:nvGrpSpPr>
        <p:grpSpPr bwMode="auto">
          <a:xfrm>
            <a:off x="4716463" y="5325442"/>
            <a:ext cx="2686050" cy="1112838"/>
            <a:chOff x="3537" y="1920"/>
            <a:chExt cx="1692" cy="701"/>
          </a:xfrm>
        </p:grpSpPr>
        <p:sp>
          <p:nvSpPr>
            <p:cNvPr id="67600" name="Freeform 15"/>
            <p:cNvSpPr>
              <a:spLocks/>
            </p:cNvSpPr>
            <p:nvPr/>
          </p:nvSpPr>
          <p:spPr bwMode="auto">
            <a:xfrm>
              <a:off x="3537" y="2140"/>
              <a:ext cx="1344" cy="481"/>
            </a:xfrm>
            <a:custGeom>
              <a:avLst/>
              <a:gdLst>
                <a:gd name="T0" fmla="*/ 0 w 1344"/>
                <a:gd name="T1" fmla="*/ 504 h 480"/>
                <a:gd name="T2" fmla="*/ 672 w 1344"/>
                <a:gd name="T3" fmla="*/ 144 h 480"/>
                <a:gd name="T4" fmla="*/ 1344 w 1344"/>
                <a:gd name="T5" fmla="*/ 0 h 480"/>
                <a:gd name="T6" fmla="*/ 0 60000 65536"/>
                <a:gd name="T7" fmla="*/ 0 60000 65536"/>
                <a:gd name="T8" fmla="*/ 0 60000 65536"/>
              </a:gdLst>
              <a:ahLst/>
              <a:cxnLst>
                <a:cxn ang="T6">
                  <a:pos x="T0" y="T1"/>
                </a:cxn>
                <a:cxn ang="T7">
                  <a:pos x="T2" y="T3"/>
                </a:cxn>
                <a:cxn ang="T8">
                  <a:pos x="T4" y="T5"/>
                </a:cxn>
              </a:cxnLst>
              <a:rect l="0" t="0" r="r" b="b"/>
              <a:pathLst>
                <a:path w="1344" h="480">
                  <a:moveTo>
                    <a:pt x="0" y="480"/>
                  </a:moveTo>
                  <a:cubicBezTo>
                    <a:pt x="224" y="352"/>
                    <a:pt x="448" y="224"/>
                    <a:pt x="672" y="144"/>
                  </a:cubicBezTo>
                  <a:cubicBezTo>
                    <a:pt x="896" y="64"/>
                    <a:pt x="1120" y="32"/>
                    <a:pt x="1344" y="0"/>
                  </a:cubicBezTo>
                </a:path>
              </a:pathLst>
            </a:custGeom>
            <a:noFill/>
            <a:ln w="19050" cap="flat" cmpd="sng">
              <a:solidFill>
                <a:schemeClr val="accent2"/>
              </a:solidFill>
              <a:prstDash val="solid"/>
              <a:round/>
              <a:headEnd type="none"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7601" name="Object 16"/>
            <p:cNvGraphicFramePr>
              <a:graphicFrameLocks noChangeAspect="1"/>
            </p:cNvGraphicFramePr>
            <p:nvPr/>
          </p:nvGraphicFramePr>
          <p:xfrm>
            <a:off x="4944" y="1920"/>
            <a:ext cx="285" cy="388"/>
          </p:xfrm>
          <a:graphic>
            <a:graphicData uri="http://schemas.openxmlformats.org/presentationml/2006/ole">
              <mc:AlternateContent xmlns:mc="http://schemas.openxmlformats.org/markup-compatibility/2006">
                <mc:Choice xmlns:v="urn:schemas-microsoft-com:vml" Requires="v">
                  <p:oleObj spid="_x0000_s166200" name="Equation" r:id="rId6" imgW="177646" imgH="241091" progId="Equation.3">
                    <p:embed/>
                  </p:oleObj>
                </mc:Choice>
                <mc:Fallback>
                  <p:oleObj name="Equation" r:id="rId6" imgW="177646" imgH="241091" progId="Equation.3">
                    <p:embed/>
                    <p:pic>
                      <p:nvPicPr>
                        <p:cNvPr id="67601" name="Object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44" y="1920"/>
                          <a:ext cx="285" cy="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59761" name="Group 17"/>
          <p:cNvGrpSpPr>
            <a:grpSpLocks/>
          </p:cNvGrpSpPr>
          <p:nvPr/>
        </p:nvGrpSpPr>
        <p:grpSpPr bwMode="auto">
          <a:xfrm>
            <a:off x="4716463" y="5522292"/>
            <a:ext cx="2413000" cy="1403350"/>
            <a:chOff x="3537" y="2044"/>
            <a:chExt cx="1520" cy="884"/>
          </a:xfrm>
        </p:grpSpPr>
        <p:sp>
          <p:nvSpPr>
            <p:cNvPr id="67598" name="Freeform 18"/>
            <p:cNvSpPr>
              <a:spLocks/>
            </p:cNvSpPr>
            <p:nvPr/>
          </p:nvSpPr>
          <p:spPr bwMode="auto">
            <a:xfrm>
              <a:off x="3537" y="2044"/>
              <a:ext cx="1152" cy="672"/>
            </a:xfrm>
            <a:custGeom>
              <a:avLst/>
              <a:gdLst>
                <a:gd name="T0" fmla="*/ 0 w 1152"/>
                <a:gd name="T1" fmla="*/ 0 h 672"/>
                <a:gd name="T2" fmla="*/ 624 w 1152"/>
                <a:gd name="T3" fmla="*/ 240 h 672"/>
                <a:gd name="T4" fmla="*/ 1152 w 1152"/>
                <a:gd name="T5" fmla="*/ 672 h 672"/>
                <a:gd name="T6" fmla="*/ 0 60000 65536"/>
                <a:gd name="T7" fmla="*/ 0 60000 65536"/>
                <a:gd name="T8" fmla="*/ 0 60000 65536"/>
              </a:gdLst>
              <a:ahLst/>
              <a:cxnLst>
                <a:cxn ang="T6">
                  <a:pos x="T0" y="T1"/>
                </a:cxn>
                <a:cxn ang="T7">
                  <a:pos x="T2" y="T3"/>
                </a:cxn>
                <a:cxn ang="T8">
                  <a:pos x="T4" y="T5"/>
                </a:cxn>
              </a:cxnLst>
              <a:rect l="0" t="0" r="r" b="b"/>
              <a:pathLst>
                <a:path w="1152" h="672">
                  <a:moveTo>
                    <a:pt x="0" y="0"/>
                  </a:moveTo>
                  <a:cubicBezTo>
                    <a:pt x="216" y="64"/>
                    <a:pt x="432" y="128"/>
                    <a:pt x="624" y="240"/>
                  </a:cubicBezTo>
                  <a:cubicBezTo>
                    <a:pt x="816" y="352"/>
                    <a:pt x="984" y="512"/>
                    <a:pt x="1152" y="672"/>
                  </a:cubicBezTo>
                </a:path>
              </a:pathLst>
            </a:custGeom>
            <a:noFill/>
            <a:ln w="19050" cap="flat" cmpd="sng">
              <a:solidFill>
                <a:schemeClr val="accent2"/>
              </a:solidFill>
              <a:prstDash val="solid"/>
              <a:round/>
              <a:headEnd type="none"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7599" name="Object 19"/>
            <p:cNvGraphicFramePr>
              <a:graphicFrameLocks noChangeAspect="1"/>
            </p:cNvGraphicFramePr>
            <p:nvPr/>
          </p:nvGraphicFramePr>
          <p:xfrm>
            <a:off x="4752" y="2544"/>
            <a:ext cx="305" cy="384"/>
          </p:xfrm>
          <a:graphic>
            <a:graphicData uri="http://schemas.openxmlformats.org/presentationml/2006/ole">
              <mc:AlternateContent xmlns:mc="http://schemas.openxmlformats.org/markup-compatibility/2006">
                <mc:Choice xmlns:v="urn:schemas-microsoft-com:vml" Requires="v">
                  <p:oleObj spid="_x0000_s166201" name="Equation" r:id="rId8" imgW="190417" imgH="241195" progId="Equation.3">
                    <p:embed/>
                  </p:oleObj>
                </mc:Choice>
                <mc:Fallback>
                  <p:oleObj name="Equation" r:id="rId8" imgW="190417" imgH="241195" progId="Equation.3">
                    <p:embed/>
                    <p:pic>
                      <p:nvPicPr>
                        <p:cNvPr id="67599"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52" y="2544"/>
                          <a:ext cx="305"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59764" name="Text Box 20"/>
          <p:cNvSpPr txBox="1">
            <a:spLocks noChangeArrowheads="1"/>
          </p:cNvSpPr>
          <p:nvPr/>
        </p:nvSpPr>
        <p:spPr bwMode="auto">
          <a:xfrm>
            <a:off x="5273675" y="5401642"/>
            <a:ext cx="1143000"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9600">
                <a:solidFill>
                  <a:srgbClr val="FF3300"/>
                </a:solidFill>
                <a:latin typeface="Century Schoolbook" panose="02040604050505020304" pitchFamily="18" charset="0"/>
                <a:ea typeface="楷体_GB2312"/>
                <a:sym typeface="Symbol" panose="05050102010706020507" pitchFamily="18" charset="2"/>
              </a:rPr>
              <a:t></a:t>
            </a:r>
            <a:endParaRPr lang="en-US" altLang="zh-CN" sz="3600">
              <a:ea typeface="楷体_GB2312"/>
            </a:endParaRPr>
          </a:p>
        </p:txBody>
      </p:sp>
      <p:pic>
        <p:nvPicPr>
          <p:cNvPr id="2" name="图片 1">
            <a:extLst>
              <a:ext uri="{FF2B5EF4-FFF2-40B4-BE49-F238E27FC236}">
                <a16:creationId xmlns:a16="http://schemas.microsoft.com/office/drawing/2014/main" id="{43215B1A-CBE7-4CE3-BC8E-AC1D77D83714}"/>
              </a:ext>
            </a:extLst>
          </p:cNvPr>
          <p:cNvPicPr>
            <a:picLocks noChangeAspect="1"/>
          </p:cNvPicPr>
          <p:nvPr/>
        </p:nvPicPr>
        <p:blipFill>
          <a:blip r:embed="rId10"/>
          <a:stretch>
            <a:fillRect/>
          </a:stretch>
        </p:blipFill>
        <p:spPr>
          <a:xfrm>
            <a:off x="1214952" y="4494550"/>
            <a:ext cx="2621521" cy="1461321"/>
          </a:xfrm>
          <a:prstGeom prst="rect">
            <a:avLst/>
          </a:prstGeom>
        </p:spPr>
      </p:pic>
    </p:spTree>
    <p:extLst>
      <p:ext uri="{BB962C8B-B14F-4D97-AF65-F5344CB8AC3E}">
        <p14:creationId xmlns:p14="http://schemas.microsoft.com/office/powerpoint/2010/main" val="1987523843"/>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9746"/>
                                        </p:tgtEl>
                                        <p:attrNameLst>
                                          <p:attrName>style.visibility</p:attrName>
                                        </p:attrNameLst>
                                      </p:cBhvr>
                                      <p:to>
                                        <p:strVal val="visible"/>
                                      </p:to>
                                    </p:set>
                                    <p:animEffect transition="in" filter="wipe(left)">
                                      <p:cBhvr>
                                        <p:cTn id="7" dur="500"/>
                                        <p:tgtEl>
                                          <p:spTgt spid="1597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59748"/>
                                        </p:tgtEl>
                                        <p:attrNameLst>
                                          <p:attrName>style.visibility</p:attrName>
                                        </p:attrNameLst>
                                      </p:cBhvr>
                                      <p:to>
                                        <p:strVal val="visible"/>
                                      </p:to>
                                    </p:set>
                                    <p:animEffect transition="in" filter="wipe(left)">
                                      <p:cBhvr>
                                        <p:cTn id="12" dur="500"/>
                                        <p:tgtEl>
                                          <p:spTgt spid="1597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159747">
                                            <p:txEl>
                                              <p:pRg st="0" end="0"/>
                                            </p:txEl>
                                          </p:spTgt>
                                        </p:tgtEl>
                                        <p:attrNameLst>
                                          <p:attrName>style.visibility</p:attrName>
                                        </p:attrNameLst>
                                      </p:cBhvr>
                                      <p:to>
                                        <p:strVal val="visible"/>
                                      </p:to>
                                    </p:set>
                                    <p:animEffect transition="in" filter="wipe(left)">
                                      <p:cBhvr>
                                        <p:cTn id="17" dur="75"/>
                                        <p:tgtEl>
                                          <p:spTgt spid="159747">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59749"/>
                                        </p:tgtEl>
                                        <p:attrNameLst>
                                          <p:attrName>style.visibility</p:attrName>
                                        </p:attrNameLst>
                                      </p:cBhvr>
                                      <p:to>
                                        <p:strVal val="visible"/>
                                      </p:to>
                                    </p:set>
                                    <p:animEffect transition="in" filter="wipe(left)">
                                      <p:cBhvr>
                                        <p:cTn id="22" dur="500"/>
                                        <p:tgtEl>
                                          <p:spTgt spid="15974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159752">
                                            <p:txEl>
                                              <p:pRg st="0" end="0"/>
                                            </p:txEl>
                                          </p:spTgt>
                                        </p:tgtEl>
                                        <p:attrNameLst>
                                          <p:attrName>style.visibility</p:attrName>
                                        </p:attrNameLst>
                                      </p:cBhvr>
                                      <p:to>
                                        <p:strVal val="visible"/>
                                      </p:to>
                                    </p:set>
                                    <p:animEffect transition="in" filter="wipe(left)">
                                      <p:cBhvr>
                                        <p:cTn id="27" dur="75"/>
                                        <p:tgtEl>
                                          <p:spTgt spid="159752">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9750"/>
                                        </p:tgtEl>
                                        <p:attrNameLst>
                                          <p:attrName>style.visibility</p:attrName>
                                        </p:attrNameLst>
                                      </p:cBhvr>
                                      <p:to>
                                        <p:strVal val="visible"/>
                                      </p:to>
                                    </p:set>
                                    <p:animEffect transition="in" filter="wipe(left)">
                                      <p:cBhvr>
                                        <p:cTn id="32" dur="500"/>
                                        <p:tgtEl>
                                          <p:spTgt spid="15975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lt">
                                    <p:tmPct val="100000"/>
                                  </p:iterate>
                                  <p:childTnLst>
                                    <p:set>
                                      <p:cBhvr>
                                        <p:cTn id="36" dur="1" fill="hold">
                                          <p:stCondLst>
                                            <p:cond delay="0"/>
                                          </p:stCondLst>
                                        </p:cTn>
                                        <p:tgtEl>
                                          <p:spTgt spid="159751">
                                            <p:txEl>
                                              <p:pRg st="0" end="0"/>
                                            </p:txEl>
                                          </p:spTgt>
                                        </p:tgtEl>
                                        <p:attrNameLst>
                                          <p:attrName>style.visibility</p:attrName>
                                        </p:attrNameLst>
                                      </p:cBhvr>
                                      <p:to>
                                        <p:strVal val="visible"/>
                                      </p:to>
                                    </p:set>
                                    <p:animEffect transition="in" filter="wipe(left)">
                                      <p:cBhvr>
                                        <p:cTn id="37" dur="75"/>
                                        <p:tgtEl>
                                          <p:spTgt spid="159751">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lt">
                                    <p:tmPct val="100000"/>
                                  </p:iterate>
                                  <p:childTnLst>
                                    <p:set>
                                      <p:cBhvr>
                                        <p:cTn id="41" dur="1" fill="hold">
                                          <p:stCondLst>
                                            <p:cond delay="0"/>
                                          </p:stCondLst>
                                        </p:cTn>
                                        <p:tgtEl>
                                          <p:spTgt spid="159751">
                                            <p:txEl>
                                              <p:pRg st="7" end="7"/>
                                            </p:txEl>
                                          </p:spTgt>
                                        </p:tgtEl>
                                        <p:attrNameLst>
                                          <p:attrName>style.visibility</p:attrName>
                                        </p:attrNameLst>
                                      </p:cBhvr>
                                      <p:to>
                                        <p:strVal val="visible"/>
                                      </p:to>
                                    </p:set>
                                    <p:animEffect transition="in" filter="wipe(left)">
                                      <p:cBhvr>
                                        <p:cTn id="42" dur="75"/>
                                        <p:tgtEl>
                                          <p:spTgt spid="15975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59758"/>
                                        </p:tgtEl>
                                        <p:attrNameLst>
                                          <p:attrName>style.visibility</p:attrName>
                                        </p:attrNameLst>
                                      </p:cBhvr>
                                      <p:to>
                                        <p:strVal val="visible"/>
                                      </p:to>
                                    </p:set>
                                    <p:animEffect transition="in" filter="wipe(left)">
                                      <p:cBhvr>
                                        <p:cTn id="51" dur="500"/>
                                        <p:tgtEl>
                                          <p:spTgt spid="15975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159761"/>
                                        </p:tgtEl>
                                        <p:attrNameLst>
                                          <p:attrName>style.visibility</p:attrName>
                                        </p:attrNameLst>
                                      </p:cBhvr>
                                      <p:to>
                                        <p:strVal val="visible"/>
                                      </p:to>
                                    </p:set>
                                    <p:animEffect transition="in" filter="wipe(up)">
                                      <p:cBhvr>
                                        <p:cTn id="56" dur="500"/>
                                        <p:tgtEl>
                                          <p:spTgt spid="159761"/>
                                        </p:tgtEl>
                                      </p:cBhvr>
                                    </p:animEffect>
                                  </p:childTnLst>
                                </p:cTn>
                              </p:par>
                            </p:childTnLst>
                          </p:cTn>
                        </p:par>
                      </p:childTnLst>
                    </p:cTn>
                  </p:par>
                  <p:par>
                    <p:cTn id="57" fill="hold">
                      <p:stCondLst>
                        <p:cond delay="indefinite"/>
                      </p:stCondLst>
                      <p:childTnLst>
                        <p:par>
                          <p:cTn id="58" fill="hold">
                            <p:stCondLst>
                              <p:cond delay="0"/>
                            </p:stCondLst>
                            <p:childTnLst>
                              <p:par>
                                <p:cTn id="59" presetID="23" presetClass="entr" presetSubtype="32" fill="hold" grpId="0" nodeType="clickEffect">
                                  <p:stCondLst>
                                    <p:cond delay="0"/>
                                  </p:stCondLst>
                                  <p:childTnLst>
                                    <p:set>
                                      <p:cBhvr>
                                        <p:cTn id="60" dur="1" fill="hold">
                                          <p:stCondLst>
                                            <p:cond delay="0"/>
                                          </p:stCondLst>
                                        </p:cTn>
                                        <p:tgtEl>
                                          <p:spTgt spid="159764"/>
                                        </p:tgtEl>
                                        <p:attrNameLst>
                                          <p:attrName>style.visibility</p:attrName>
                                        </p:attrNameLst>
                                      </p:cBhvr>
                                      <p:to>
                                        <p:strVal val="visible"/>
                                      </p:to>
                                    </p:set>
                                    <p:anim calcmode="lin" valueType="num">
                                      <p:cBhvr>
                                        <p:cTn id="61" dur="500" fill="hold"/>
                                        <p:tgtEl>
                                          <p:spTgt spid="159764"/>
                                        </p:tgtEl>
                                        <p:attrNameLst>
                                          <p:attrName>ppt_w</p:attrName>
                                        </p:attrNameLst>
                                      </p:cBhvr>
                                      <p:tavLst>
                                        <p:tav tm="0">
                                          <p:val>
                                            <p:strVal val="4*#ppt_w"/>
                                          </p:val>
                                        </p:tav>
                                        <p:tav tm="100000">
                                          <p:val>
                                            <p:strVal val="#ppt_w"/>
                                          </p:val>
                                        </p:tav>
                                      </p:tavLst>
                                    </p:anim>
                                    <p:anim calcmode="lin" valueType="num">
                                      <p:cBhvr>
                                        <p:cTn id="62" dur="500" fill="hold"/>
                                        <p:tgtEl>
                                          <p:spTgt spid="159764"/>
                                        </p:tgtEl>
                                        <p:attrNameLst>
                                          <p:attrName>ppt_h</p:attrName>
                                        </p:attrNameLst>
                                      </p:cBhvr>
                                      <p:tavLst>
                                        <p:tav tm="0">
                                          <p:val>
                                            <p:strVal val="4*#ppt_h"/>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59755"/>
                                        </p:tgtEl>
                                        <p:attrNameLst>
                                          <p:attrName>style.visibility</p:attrName>
                                        </p:attrNameLst>
                                      </p:cBhvr>
                                      <p:to>
                                        <p:strVal val="visible"/>
                                      </p:to>
                                    </p:set>
                                    <p:animEffect transition="in" filter="wipe(left)">
                                      <p:cBhvr>
                                        <p:cTn id="67" dur="500"/>
                                        <p:tgtEl>
                                          <p:spTgt spid="159755"/>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59754"/>
                                        </p:tgtEl>
                                        <p:attrNameLst>
                                          <p:attrName>style.visibility</p:attrName>
                                        </p:attrNameLst>
                                      </p:cBhvr>
                                      <p:to>
                                        <p:strVal val="visible"/>
                                      </p:to>
                                    </p:set>
                                    <p:animEffect transition="in" filter="wipe(left)">
                                      <p:cBhvr>
                                        <p:cTn id="72" dur="500"/>
                                        <p:tgtEl>
                                          <p:spTgt spid="1597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6" grpId="0" autoUpdateAnimBg="0"/>
      <p:bldP spid="159747" grpId="0" build="p" autoUpdateAnimBg="0"/>
      <p:bldP spid="159750" grpId="0" autoUpdateAnimBg="0"/>
      <p:bldP spid="159751" grpId="0" build="p" autoUpdateAnimBg="0"/>
      <p:bldP spid="159752" grpId="0" build="p" autoUpdateAnimBg="0"/>
      <p:bldP spid="159764"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ext Box 2"/>
          <p:cNvSpPr txBox="1">
            <a:spLocks noChangeArrowheads="1"/>
          </p:cNvSpPr>
          <p:nvPr/>
        </p:nvSpPr>
        <p:spPr bwMode="auto">
          <a:xfrm>
            <a:off x="171200" y="36423"/>
            <a:ext cx="829964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0">
                <a:solidFill>
                  <a:schemeClr val="accent2"/>
                </a:solidFill>
                <a:latin typeface="Century Schoolbook" panose="02040604050505020304" pitchFamily="18" charset="0"/>
                <a:ea typeface="楷体_GB2312"/>
              </a:rPr>
              <a:t>3)</a:t>
            </a:r>
            <a:r>
              <a:rPr lang="en-US" altLang="zh-CN" sz="2800">
                <a:solidFill>
                  <a:schemeClr val="accent2"/>
                </a:solidFill>
                <a:latin typeface="Century Schoolbook" panose="02040604050505020304" pitchFamily="18" charset="0"/>
                <a:ea typeface="楷体_GB2312"/>
              </a:rPr>
              <a:t>.</a:t>
            </a:r>
            <a:r>
              <a:rPr lang="zh-CN" altLang="en-US" sz="2800">
                <a:solidFill>
                  <a:schemeClr val="accent2"/>
                </a:solidFill>
                <a:latin typeface="Century Schoolbook" panose="02040604050505020304" pitchFamily="18" charset="0"/>
                <a:ea typeface="楷体_GB2312"/>
              </a:rPr>
              <a:t>电场线</a:t>
            </a:r>
            <a:r>
              <a:rPr lang="zh-CN" altLang="en-US" sz="2800" dirty="0">
                <a:solidFill>
                  <a:schemeClr val="accent2"/>
                </a:solidFill>
                <a:latin typeface="Century Schoolbook" panose="02040604050505020304" pitchFamily="18" charset="0"/>
                <a:ea typeface="楷体_GB2312"/>
              </a:rPr>
              <a:t>密处场强大</a:t>
            </a:r>
            <a:r>
              <a:rPr lang="zh-CN" altLang="en-US" sz="2800">
                <a:solidFill>
                  <a:schemeClr val="accent2"/>
                </a:solidFill>
                <a:latin typeface="Century Schoolbook" panose="02040604050505020304" pitchFamily="18" charset="0"/>
                <a:ea typeface="楷体_GB2312"/>
              </a:rPr>
              <a:t>，电场线</a:t>
            </a:r>
            <a:r>
              <a:rPr lang="zh-CN" altLang="en-US" sz="2800" dirty="0">
                <a:solidFill>
                  <a:schemeClr val="accent2"/>
                </a:solidFill>
                <a:latin typeface="Century Schoolbook" panose="02040604050505020304" pitchFamily="18" charset="0"/>
                <a:ea typeface="楷体_GB2312"/>
              </a:rPr>
              <a:t>疏处场强小。</a:t>
            </a:r>
          </a:p>
        </p:txBody>
      </p:sp>
      <p:sp>
        <p:nvSpPr>
          <p:cNvPr id="160771" name="Text Box 3"/>
          <p:cNvSpPr txBox="1">
            <a:spLocks noChangeArrowheads="1"/>
          </p:cNvSpPr>
          <p:nvPr/>
        </p:nvSpPr>
        <p:spPr bwMode="auto">
          <a:xfrm>
            <a:off x="141289" y="923231"/>
            <a:ext cx="5005386"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500" b="0" dirty="0">
                <a:solidFill>
                  <a:schemeClr val="accent2"/>
                </a:solidFill>
                <a:latin typeface="Century Schoolbook" panose="02040604050505020304" pitchFamily="18" charset="0"/>
                <a:ea typeface="楷体_GB2312"/>
              </a:rPr>
              <a:t>4)</a:t>
            </a:r>
            <a:r>
              <a:rPr lang="en-US" altLang="zh-CN" sz="2500" dirty="0">
                <a:solidFill>
                  <a:schemeClr val="accent2"/>
                </a:solidFill>
                <a:latin typeface="Century Schoolbook" panose="02040604050505020304" pitchFamily="18" charset="0"/>
                <a:ea typeface="楷体_GB2312"/>
              </a:rPr>
              <a:t>.</a:t>
            </a:r>
            <a:r>
              <a:rPr lang="zh-CN" altLang="en-US" sz="2500" dirty="0">
                <a:solidFill>
                  <a:schemeClr val="accent2"/>
                </a:solidFill>
                <a:latin typeface="Century Schoolbook" panose="02040604050505020304" pitchFamily="18" charset="0"/>
                <a:ea typeface="楷体_GB2312"/>
              </a:rPr>
              <a:t>正电荷在电场力的作用下，沿电场线运动，电场力做功，电势能减小，因此</a:t>
            </a:r>
            <a:r>
              <a:rPr lang="zh-CN" altLang="en-US" sz="2500">
                <a:solidFill>
                  <a:schemeClr val="accent2"/>
                </a:solidFill>
                <a:latin typeface="Century Schoolbook" panose="02040604050505020304" pitchFamily="18" charset="0"/>
                <a:ea typeface="楷体_GB2312"/>
              </a:rPr>
              <a:t>，沿电场线方向</a:t>
            </a:r>
            <a:r>
              <a:rPr lang="zh-CN" altLang="en-US" sz="2500" dirty="0">
                <a:solidFill>
                  <a:schemeClr val="accent2"/>
                </a:solidFill>
                <a:latin typeface="Century Schoolbook" panose="02040604050505020304" pitchFamily="18" charset="0"/>
                <a:ea typeface="楷体_GB2312"/>
              </a:rPr>
              <a:t>为电势降低的方向。</a:t>
            </a:r>
          </a:p>
        </p:txBody>
      </p:sp>
      <p:grpSp>
        <p:nvGrpSpPr>
          <p:cNvPr id="160772" name="Group 4"/>
          <p:cNvGrpSpPr>
            <a:grpSpLocks/>
          </p:cNvGrpSpPr>
          <p:nvPr/>
        </p:nvGrpSpPr>
        <p:grpSpPr bwMode="auto">
          <a:xfrm>
            <a:off x="5451475" y="404813"/>
            <a:ext cx="3368675" cy="2057400"/>
            <a:chOff x="3312" y="2880"/>
            <a:chExt cx="2122" cy="1296"/>
          </a:xfrm>
        </p:grpSpPr>
        <p:grpSp>
          <p:nvGrpSpPr>
            <p:cNvPr id="68619" name="Group 5"/>
            <p:cNvGrpSpPr>
              <a:grpSpLocks/>
            </p:cNvGrpSpPr>
            <p:nvPr/>
          </p:nvGrpSpPr>
          <p:grpSpPr bwMode="auto">
            <a:xfrm>
              <a:off x="3312" y="3092"/>
              <a:ext cx="1562" cy="926"/>
              <a:chOff x="3504" y="1556"/>
              <a:chExt cx="1562" cy="926"/>
            </a:xfrm>
          </p:grpSpPr>
          <p:sp>
            <p:nvSpPr>
              <p:cNvPr id="68630" name="Freeform 6"/>
              <p:cNvSpPr>
                <a:spLocks/>
              </p:cNvSpPr>
              <p:nvPr/>
            </p:nvSpPr>
            <p:spPr bwMode="auto">
              <a:xfrm>
                <a:off x="3504" y="1556"/>
                <a:ext cx="1481" cy="750"/>
              </a:xfrm>
              <a:custGeom>
                <a:avLst/>
                <a:gdLst>
                  <a:gd name="T0" fmla="*/ 0 w 1481"/>
                  <a:gd name="T1" fmla="*/ 750 h 750"/>
                  <a:gd name="T2" fmla="*/ 703 w 1481"/>
                  <a:gd name="T3" fmla="*/ 281 h 750"/>
                  <a:gd name="T4" fmla="*/ 1481 w 1481"/>
                  <a:gd name="T5" fmla="*/ 0 h 750"/>
                  <a:gd name="T6" fmla="*/ 0 60000 65536"/>
                  <a:gd name="T7" fmla="*/ 0 60000 65536"/>
                  <a:gd name="T8" fmla="*/ 0 60000 65536"/>
                </a:gdLst>
                <a:ahLst/>
                <a:cxnLst>
                  <a:cxn ang="T6">
                    <a:pos x="T0" y="T1"/>
                  </a:cxn>
                  <a:cxn ang="T7">
                    <a:pos x="T2" y="T3"/>
                  </a:cxn>
                  <a:cxn ang="T8">
                    <a:pos x="T4" y="T5"/>
                  </a:cxn>
                </a:cxnLst>
                <a:rect l="0" t="0" r="r" b="b"/>
                <a:pathLst>
                  <a:path w="1481" h="750">
                    <a:moveTo>
                      <a:pt x="0" y="750"/>
                    </a:moveTo>
                    <a:cubicBezTo>
                      <a:pt x="117" y="672"/>
                      <a:pt x="456" y="406"/>
                      <a:pt x="703" y="281"/>
                    </a:cubicBezTo>
                    <a:cubicBezTo>
                      <a:pt x="950" y="156"/>
                      <a:pt x="1319" y="59"/>
                      <a:pt x="1481" y="0"/>
                    </a:cubicBezTo>
                  </a:path>
                </a:pathLst>
              </a:custGeom>
              <a:noFill/>
              <a:ln w="19050" cap="flat" cmpd="sng">
                <a:solidFill>
                  <a:schemeClr val="accent2"/>
                </a:solidFill>
                <a:prstDash val="solid"/>
                <a:round/>
                <a:headEnd type="none" w="med" len="me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31" name="Freeform 7"/>
              <p:cNvSpPr>
                <a:spLocks/>
              </p:cNvSpPr>
              <p:nvPr/>
            </p:nvSpPr>
            <p:spPr bwMode="auto">
              <a:xfrm>
                <a:off x="3552" y="1968"/>
                <a:ext cx="1514" cy="415"/>
              </a:xfrm>
              <a:custGeom>
                <a:avLst/>
                <a:gdLst>
                  <a:gd name="T0" fmla="*/ 0 w 1514"/>
                  <a:gd name="T1" fmla="*/ 415 h 415"/>
                  <a:gd name="T2" fmla="*/ 788 w 1514"/>
                  <a:gd name="T3" fmla="*/ 74 h 415"/>
                  <a:gd name="T4" fmla="*/ 1514 w 1514"/>
                  <a:gd name="T5" fmla="*/ 0 h 415"/>
                  <a:gd name="T6" fmla="*/ 0 60000 65536"/>
                  <a:gd name="T7" fmla="*/ 0 60000 65536"/>
                  <a:gd name="T8" fmla="*/ 0 60000 65536"/>
                </a:gdLst>
                <a:ahLst/>
                <a:cxnLst>
                  <a:cxn ang="T6">
                    <a:pos x="T0" y="T1"/>
                  </a:cxn>
                  <a:cxn ang="T7">
                    <a:pos x="T2" y="T3"/>
                  </a:cxn>
                  <a:cxn ang="T8">
                    <a:pos x="T4" y="T5"/>
                  </a:cxn>
                </a:cxnLst>
                <a:rect l="0" t="0" r="r" b="b"/>
                <a:pathLst>
                  <a:path w="1514" h="415">
                    <a:moveTo>
                      <a:pt x="0" y="415"/>
                    </a:moveTo>
                    <a:cubicBezTo>
                      <a:pt x="131" y="358"/>
                      <a:pt x="536" y="143"/>
                      <a:pt x="788" y="74"/>
                    </a:cubicBezTo>
                    <a:cubicBezTo>
                      <a:pt x="1040" y="5"/>
                      <a:pt x="1363" y="15"/>
                      <a:pt x="1514" y="0"/>
                    </a:cubicBezTo>
                  </a:path>
                </a:pathLst>
              </a:custGeom>
              <a:noFill/>
              <a:ln w="19050" cap="flat" cmpd="sng">
                <a:solidFill>
                  <a:schemeClr val="accent2"/>
                </a:solidFill>
                <a:prstDash val="solid"/>
                <a:round/>
                <a:headEnd type="none" w="med" len="me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32" name="Freeform 8"/>
              <p:cNvSpPr>
                <a:spLocks/>
              </p:cNvSpPr>
              <p:nvPr/>
            </p:nvSpPr>
            <p:spPr bwMode="auto">
              <a:xfrm>
                <a:off x="3607" y="2271"/>
                <a:ext cx="1433" cy="211"/>
              </a:xfrm>
              <a:custGeom>
                <a:avLst/>
                <a:gdLst>
                  <a:gd name="T0" fmla="*/ 0 w 1433"/>
                  <a:gd name="T1" fmla="*/ 211 h 211"/>
                  <a:gd name="T2" fmla="*/ 445 w 1433"/>
                  <a:gd name="T3" fmla="*/ 62 h 211"/>
                  <a:gd name="T4" fmla="*/ 970 w 1433"/>
                  <a:gd name="T5" fmla="*/ 3 h 211"/>
                  <a:gd name="T6" fmla="*/ 1433 w 1433"/>
                  <a:gd name="T7" fmla="*/ 81 h 21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33" h="211">
                    <a:moveTo>
                      <a:pt x="0" y="211"/>
                    </a:moveTo>
                    <a:cubicBezTo>
                      <a:pt x="74" y="185"/>
                      <a:pt x="283" y="97"/>
                      <a:pt x="445" y="62"/>
                    </a:cubicBezTo>
                    <a:cubicBezTo>
                      <a:pt x="607" y="27"/>
                      <a:pt x="805" y="0"/>
                      <a:pt x="970" y="3"/>
                    </a:cubicBezTo>
                    <a:cubicBezTo>
                      <a:pt x="1135" y="6"/>
                      <a:pt x="1337" y="65"/>
                      <a:pt x="1433" y="81"/>
                    </a:cubicBezTo>
                  </a:path>
                </a:pathLst>
              </a:custGeom>
              <a:noFill/>
              <a:ln w="19050" cap="flat" cmpd="sng">
                <a:solidFill>
                  <a:schemeClr val="accent2"/>
                </a:solidFill>
                <a:prstDash val="solid"/>
                <a:round/>
                <a:headEnd type="none" w="med" len="me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8620" name="Group 9"/>
            <p:cNvGrpSpPr>
              <a:grpSpLocks/>
            </p:cNvGrpSpPr>
            <p:nvPr/>
          </p:nvGrpSpPr>
          <p:grpSpPr bwMode="auto">
            <a:xfrm>
              <a:off x="3696" y="3456"/>
              <a:ext cx="576" cy="315"/>
              <a:chOff x="3888" y="1920"/>
              <a:chExt cx="576" cy="315"/>
            </a:xfrm>
          </p:grpSpPr>
          <p:sp>
            <p:nvSpPr>
              <p:cNvPr id="68628" name="Oval 10"/>
              <p:cNvSpPr>
                <a:spLocks noChangeArrowheads="1"/>
              </p:cNvSpPr>
              <p:nvPr/>
            </p:nvSpPr>
            <p:spPr bwMode="auto">
              <a:xfrm>
                <a:off x="3888" y="2187"/>
                <a:ext cx="48" cy="48"/>
              </a:xfrm>
              <a:prstGeom prst="ellipse">
                <a:avLst/>
              </a:prstGeom>
              <a:solidFill>
                <a:schemeClr val="accent1"/>
              </a:solidFill>
              <a:ln w="19050">
                <a:solidFill>
                  <a:schemeClr val="tx1"/>
                </a:solidFill>
                <a:round/>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68629" name="Line 11"/>
              <p:cNvSpPr>
                <a:spLocks noChangeShapeType="1"/>
              </p:cNvSpPr>
              <p:nvPr/>
            </p:nvSpPr>
            <p:spPr bwMode="auto">
              <a:xfrm flipV="1">
                <a:off x="3888" y="1920"/>
                <a:ext cx="576" cy="288"/>
              </a:xfrm>
              <a:prstGeom prst="line">
                <a:avLst/>
              </a:prstGeom>
              <a:noFill/>
              <a:ln w="19050">
                <a:solidFill>
                  <a:srgbClr val="FF33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8621" name="Group 12"/>
            <p:cNvGrpSpPr>
              <a:grpSpLocks/>
            </p:cNvGrpSpPr>
            <p:nvPr/>
          </p:nvGrpSpPr>
          <p:grpSpPr bwMode="auto">
            <a:xfrm>
              <a:off x="4368" y="3456"/>
              <a:ext cx="672" cy="96"/>
              <a:chOff x="4560" y="1920"/>
              <a:chExt cx="672" cy="96"/>
            </a:xfrm>
          </p:grpSpPr>
          <p:sp>
            <p:nvSpPr>
              <p:cNvPr id="68626" name="Oval 13"/>
              <p:cNvSpPr>
                <a:spLocks noChangeArrowheads="1"/>
              </p:cNvSpPr>
              <p:nvPr/>
            </p:nvSpPr>
            <p:spPr bwMode="auto">
              <a:xfrm>
                <a:off x="4560" y="1968"/>
                <a:ext cx="48" cy="48"/>
              </a:xfrm>
              <a:prstGeom prst="ellipse">
                <a:avLst/>
              </a:prstGeom>
              <a:solidFill>
                <a:schemeClr val="accent1"/>
              </a:solidFill>
              <a:ln w="19050">
                <a:solidFill>
                  <a:schemeClr val="tx1"/>
                </a:solidFill>
                <a:round/>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68627" name="Line 14"/>
              <p:cNvSpPr>
                <a:spLocks noChangeShapeType="1"/>
              </p:cNvSpPr>
              <p:nvPr/>
            </p:nvSpPr>
            <p:spPr bwMode="auto">
              <a:xfrm flipV="1">
                <a:off x="4608" y="1920"/>
                <a:ext cx="624" cy="68"/>
              </a:xfrm>
              <a:prstGeom prst="line">
                <a:avLst/>
              </a:prstGeom>
              <a:noFill/>
              <a:ln w="19050">
                <a:solidFill>
                  <a:srgbClr val="FF33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68622" name="Object 15"/>
            <p:cNvGraphicFramePr>
              <a:graphicFrameLocks noChangeAspect="1"/>
            </p:cNvGraphicFramePr>
            <p:nvPr/>
          </p:nvGraphicFramePr>
          <p:xfrm>
            <a:off x="3600" y="3936"/>
            <a:ext cx="247" cy="240"/>
          </p:xfrm>
          <a:graphic>
            <a:graphicData uri="http://schemas.openxmlformats.org/presentationml/2006/ole">
              <mc:AlternateContent xmlns:mc="http://schemas.openxmlformats.org/markup-compatibility/2006">
                <mc:Choice xmlns:v="urn:schemas-microsoft-com:vml" Requires="v">
                  <p:oleObj spid="_x0000_s167326" name="公式" r:id="rId3" imgW="393529" imgH="380835" progId="Equation.3">
                    <p:embed/>
                  </p:oleObj>
                </mc:Choice>
                <mc:Fallback>
                  <p:oleObj name="公式" r:id="rId3" imgW="393529" imgH="380835" progId="Equation.3">
                    <p:embed/>
                    <p:pic>
                      <p:nvPicPr>
                        <p:cNvPr id="68622"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0" y="3936"/>
                          <a:ext cx="247"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623" name="Object 16"/>
            <p:cNvGraphicFramePr>
              <a:graphicFrameLocks noChangeAspect="1"/>
            </p:cNvGraphicFramePr>
            <p:nvPr/>
          </p:nvGraphicFramePr>
          <p:xfrm>
            <a:off x="4368" y="3888"/>
            <a:ext cx="240" cy="240"/>
          </p:xfrm>
          <a:graphic>
            <a:graphicData uri="http://schemas.openxmlformats.org/presentationml/2006/ole">
              <mc:AlternateContent xmlns:mc="http://schemas.openxmlformats.org/markup-compatibility/2006">
                <mc:Choice xmlns:v="urn:schemas-microsoft-com:vml" Requires="v">
                  <p:oleObj spid="_x0000_s167327" name="公式" r:id="rId5" imgW="380835" imgH="380835" progId="Equation.3">
                    <p:embed/>
                  </p:oleObj>
                </mc:Choice>
                <mc:Fallback>
                  <p:oleObj name="公式" r:id="rId5" imgW="380835" imgH="380835" progId="Equation.3">
                    <p:embed/>
                    <p:pic>
                      <p:nvPicPr>
                        <p:cNvPr id="68623"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68" y="3888"/>
                          <a:ext cx="24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624" name="Object 17"/>
            <p:cNvGraphicFramePr>
              <a:graphicFrameLocks noChangeAspect="1"/>
            </p:cNvGraphicFramePr>
            <p:nvPr/>
          </p:nvGraphicFramePr>
          <p:xfrm>
            <a:off x="3936" y="2880"/>
            <a:ext cx="349" cy="387"/>
          </p:xfrm>
          <a:graphic>
            <a:graphicData uri="http://schemas.openxmlformats.org/presentationml/2006/ole">
              <mc:AlternateContent xmlns:mc="http://schemas.openxmlformats.org/markup-compatibility/2006">
                <mc:Choice xmlns:v="urn:schemas-microsoft-com:vml" Requires="v">
                  <p:oleObj spid="_x0000_s167328" name="Equation" r:id="rId7" imgW="215713" imgH="241091" progId="Equation.3">
                    <p:embed/>
                  </p:oleObj>
                </mc:Choice>
                <mc:Fallback>
                  <p:oleObj name="Equation" r:id="rId7" imgW="215713" imgH="241091" progId="Equation.3">
                    <p:embed/>
                    <p:pic>
                      <p:nvPicPr>
                        <p:cNvPr id="68624"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36" y="2880"/>
                          <a:ext cx="349" cy="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625" name="Object 18"/>
            <p:cNvGraphicFramePr>
              <a:graphicFrameLocks noChangeAspect="1"/>
            </p:cNvGraphicFramePr>
            <p:nvPr/>
          </p:nvGraphicFramePr>
          <p:xfrm>
            <a:off x="5088" y="3216"/>
            <a:ext cx="346" cy="387"/>
          </p:xfrm>
          <a:graphic>
            <a:graphicData uri="http://schemas.openxmlformats.org/presentationml/2006/ole">
              <mc:AlternateContent xmlns:mc="http://schemas.openxmlformats.org/markup-compatibility/2006">
                <mc:Choice xmlns:v="urn:schemas-microsoft-com:vml" Requires="v">
                  <p:oleObj spid="_x0000_s167329" name="Equation" r:id="rId9" imgW="215713" imgH="241091" progId="Equation.3">
                    <p:embed/>
                  </p:oleObj>
                </mc:Choice>
                <mc:Fallback>
                  <p:oleObj name="Equation" r:id="rId9" imgW="215713" imgH="241091" progId="Equation.3">
                    <p:embed/>
                    <p:pic>
                      <p:nvPicPr>
                        <p:cNvPr id="68625"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88" y="3216"/>
                          <a:ext cx="346" cy="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60787" name="Text Box 19"/>
          <p:cNvSpPr txBox="1">
            <a:spLocks noChangeArrowheads="1"/>
          </p:cNvSpPr>
          <p:nvPr/>
        </p:nvSpPr>
        <p:spPr bwMode="auto">
          <a:xfrm>
            <a:off x="320675" y="2876266"/>
            <a:ext cx="15240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FF3300"/>
                </a:solidFill>
                <a:ea typeface="楷体_GB2312"/>
              </a:rPr>
              <a:t>电场线的作用：</a:t>
            </a:r>
          </a:p>
        </p:txBody>
      </p:sp>
      <p:sp>
        <p:nvSpPr>
          <p:cNvPr id="160788" name="Text Box 20"/>
          <p:cNvSpPr txBox="1">
            <a:spLocks noChangeArrowheads="1"/>
          </p:cNvSpPr>
          <p:nvPr/>
        </p:nvSpPr>
        <p:spPr bwMode="auto">
          <a:xfrm>
            <a:off x="1844675" y="2668304"/>
            <a:ext cx="34639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chemeClr val="accent2"/>
                </a:solidFill>
                <a:ea typeface="楷体_GB2312"/>
              </a:rPr>
              <a:t>说明场强的方向；</a:t>
            </a:r>
          </a:p>
        </p:txBody>
      </p:sp>
      <p:sp>
        <p:nvSpPr>
          <p:cNvPr id="160789" name="Text Box 21"/>
          <p:cNvSpPr txBox="1">
            <a:spLocks noChangeArrowheads="1"/>
          </p:cNvSpPr>
          <p:nvPr/>
        </p:nvSpPr>
        <p:spPr bwMode="auto">
          <a:xfrm>
            <a:off x="1860550" y="3201704"/>
            <a:ext cx="35909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chemeClr val="accent2"/>
                </a:solidFill>
                <a:ea typeface="楷体_GB2312"/>
              </a:rPr>
              <a:t>说明电场的强弱；</a:t>
            </a:r>
          </a:p>
        </p:txBody>
      </p:sp>
      <p:sp>
        <p:nvSpPr>
          <p:cNvPr id="160790" name="Text Box 22"/>
          <p:cNvSpPr txBox="1">
            <a:spLocks noChangeArrowheads="1"/>
          </p:cNvSpPr>
          <p:nvPr/>
        </p:nvSpPr>
        <p:spPr bwMode="auto">
          <a:xfrm>
            <a:off x="1860550" y="3735104"/>
            <a:ext cx="4311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dirty="0">
                <a:solidFill>
                  <a:schemeClr val="accent2"/>
                </a:solidFill>
                <a:ea typeface="楷体_GB2312"/>
              </a:rPr>
              <a:t>说明电场的整体分布。</a:t>
            </a:r>
          </a:p>
        </p:txBody>
      </p:sp>
      <p:sp>
        <p:nvSpPr>
          <p:cNvPr id="160791" name="Text Box 23"/>
          <p:cNvSpPr txBox="1">
            <a:spLocks noChangeArrowheads="1"/>
          </p:cNvSpPr>
          <p:nvPr/>
        </p:nvSpPr>
        <p:spPr bwMode="auto">
          <a:xfrm>
            <a:off x="304800" y="4584439"/>
            <a:ext cx="51482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dirty="0">
                <a:solidFill>
                  <a:srgbClr val="3333FF"/>
                </a:solidFill>
                <a:ea typeface="楷体_GB2312"/>
              </a:rPr>
              <a:t>5</a:t>
            </a:r>
            <a:r>
              <a:rPr lang="zh-CN" altLang="en-US" sz="2800" dirty="0">
                <a:solidFill>
                  <a:srgbClr val="3333FF"/>
                </a:solidFill>
                <a:ea typeface="楷体_GB2312"/>
              </a:rPr>
              <a:t>、关于电场线的几点说明</a:t>
            </a:r>
            <a:endParaRPr lang="zh-CN" altLang="en-US" sz="2400" b="0" dirty="0">
              <a:ea typeface="楷体_GB2312"/>
            </a:endParaRPr>
          </a:p>
        </p:txBody>
      </p:sp>
      <p:sp>
        <p:nvSpPr>
          <p:cNvPr id="160792" name="Text Box 24"/>
          <p:cNvSpPr txBox="1">
            <a:spLocks noChangeArrowheads="1"/>
          </p:cNvSpPr>
          <p:nvPr/>
        </p:nvSpPr>
        <p:spPr bwMode="auto">
          <a:xfrm>
            <a:off x="405457" y="5225790"/>
            <a:ext cx="839787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r>
              <a:rPr lang="zh-CN" altLang="en-US" sz="2400">
                <a:ea typeface="楷体_GB2312"/>
              </a:rPr>
              <a:t>电场线是人为画出的，在实际电场中并不存在；</a:t>
            </a:r>
          </a:p>
          <a:p>
            <a:pPr eaLnBrk="1" hangingPunct="1">
              <a:spcBef>
                <a:spcPct val="0"/>
              </a:spcBef>
            </a:pPr>
            <a:r>
              <a:rPr lang="zh-CN" altLang="en-US" sz="2400">
                <a:ea typeface="楷体_GB2312"/>
              </a:rPr>
              <a:t>电场线可以形象地、直观地表现电场的总体情况</a:t>
            </a:r>
            <a:r>
              <a:rPr lang="en-US" altLang="zh-CN" sz="2400">
                <a:ea typeface="楷体_GB2312"/>
              </a:rPr>
              <a:t>;</a:t>
            </a:r>
          </a:p>
          <a:p>
            <a:pPr eaLnBrk="1" hangingPunct="1">
              <a:spcBef>
                <a:spcPct val="0"/>
              </a:spcBef>
            </a:pPr>
            <a:r>
              <a:rPr lang="zh-CN" altLang="en-US" sz="2400">
                <a:ea typeface="楷体_GB2312"/>
              </a:rPr>
              <a:t>电场线图形可以用实验演示出来。</a:t>
            </a:r>
          </a:p>
        </p:txBody>
      </p:sp>
    </p:spTree>
    <p:extLst>
      <p:ext uri="{BB962C8B-B14F-4D97-AF65-F5344CB8AC3E}">
        <p14:creationId xmlns:p14="http://schemas.microsoft.com/office/powerpoint/2010/main" val="2131638037"/>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60770"/>
                                        </p:tgtEl>
                                        <p:attrNameLst>
                                          <p:attrName>style.visibility</p:attrName>
                                        </p:attrNameLst>
                                      </p:cBhvr>
                                      <p:to>
                                        <p:strVal val="visible"/>
                                      </p:to>
                                    </p:set>
                                    <p:animEffect transition="in" filter="strips(downRight)">
                                      <p:cBhvr>
                                        <p:cTn id="7" dur="500"/>
                                        <p:tgtEl>
                                          <p:spTgt spid="1607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0771"/>
                                        </p:tgtEl>
                                        <p:attrNameLst>
                                          <p:attrName>style.visibility</p:attrName>
                                        </p:attrNameLst>
                                      </p:cBhvr>
                                      <p:to>
                                        <p:strVal val="visible"/>
                                      </p:to>
                                    </p:set>
                                    <p:animEffect transition="in" filter="wipe(left)">
                                      <p:cBhvr>
                                        <p:cTn id="12" dur="500"/>
                                        <p:tgtEl>
                                          <p:spTgt spid="1607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60772"/>
                                        </p:tgtEl>
                                        <p:attrNameLst>
                                          <p:attrName>style.visibility</p:attrName>
                                        </p:attrNameLst>
                                      </p:cBhvr>
                                      <p:to>
                                        <p:strVal val="visible"/>
                                      </p:to>
                                    </p:set>
                                    <p:animEffect transition="in" filter="wipe(left)">
                                      <p:cBhvr>
                                        <p:cTn id="17" dur="500"/>
                                        <p:tgtEl>
                                          <p:spTgt spid="16077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16" fill="hold" grpId="0" nodeType="clickEffect">
                                  <p:stCondLst>
                                    <p:cond delay="0"/>
                                  </p:stCondLst>
                                  <p:childTnLst>
                                    <p:set>
                                      <p:cBhvr>
                                        <p:cTn id="21" dur="1" fill="hold">
                                          <p:stCondLst>
                                            <p:cond delay="0"/>
                                          </p:stCondLst>
                                        </p:cTn>
                                        <p:tgtEl>
                                          <p:spTgt spid="160787"/>
                                        </p:tgtEl>
                                        <p:attrNameLst>
                                          <p:attrName>style.visibility</p:attrName>
                                        </p:attrNameLst>
                                      </p:cBhvr>
                                      <p:to>
                                        <p:strVal val="visible"/>
                                      </p:to>
                                    </p:set>
                                    <p:anim calcmode="lin" valueType="num">
                                      <p:cBhvr>
                                        <p:cTn id="22" dur="500" fill="hold"/>
                                        <p:tgtEl>
                                          <p:spTgt spid="160787"/>
                                        </p:tgtEl>
                                        <p:attrNameLst>
                                          <p:attrName>ppt_w</p:attrName>
                                        </p:attrNameLst>
                                      </p:cBhvr>
                                      <p:tavLst>
                                        <p:tav tm="0">
                                          <p:val>
                                            <p:fltVal val="0"/>
                                          </p:val>
                                        </p:tav>
                                        <p:tav tm="100000">
                                          <p:val>
                                            <p:strVal val="#ppt_w"/>
                                          </p:val>
                                        </p:tav>
                                      </p:tavLst>
                                    </p:anim>
                                    <p:anim calcmode="lin" valueType="num">
                                      <p:cBhvr>
                                        <p:cTn id="23" dur="500" fill="hold"/>
                                        <p:tgtEl>
                                          <p:spTgt spid="160787"/>
                                        </p:tgtEl>
                                        <p:attrNameLst>
                                          <p:attrName>ppt_h</p:attrName>
                                        </p:attrNameLst>
                                      </p:cBhvr>
                                      <p:tavLst>
                                        <p:tav tm="0">
                                          <p:val>
                                            <p:fltVal val="0"/>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60788"/>
                                        </p:tgtEl>
                                        <p:attrNameLst>
                                          <p:attrName>style.visibility</p:attrName>
                                        </p:attrNameLst>
                                      </p:cBhvr>
                                      <p:to>
                                        <p:strVal val="visible"/>
                                      </p:to>
                                    </p:set>
                                    <p:animEffect transition="in" filter="wipe(left)">
                                      <p:cBhvr>
                                        <p:cTn id="28" dur="500"/>
                                        <p:tgtEl>
                                          <p:spTgt spid="16078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60789"/>
                                        </p:tgtEl>
                                        <p:attrNameLst>
                                          <p:attrName>style.visibility</p:attrName>
                                        </p:attrNameLst>
                                      </p:cBhvr>
                                      <p:to>
                                        <p:strVal val="visible"/>
                                      </p:to>
                                    </p:set>
                                    <p:animEffect transition="in" filter="wipe(left)">
                                      <p:cBhvr>
                                        <p:cTn id="33" dur="500"/>
                                        <p:tgtEl>
                                          <p:spTgt spid="16078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60790"/>
                                        </p:tgtEl>
                                        <p:attrNameLst>
                                          <p:attrName>style.visibility</p:attrName>
                                        </p:attrNameLst>
                                      </p:cBhvr>
                                      <p:to>
                                        <p:strVal val="visible"/>
                                      </p:to>
                                    </p:set>
                                    <p:animEffect transition="in" filter="wipe(left)">
                                      <p:cBhvr>
                                        <p:cTn id="38" dur="500"/>
                                        <p:tgtEl>
                                          <p:spTgt spid="160790"/>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60791"/>
                                        </p:tgtEl>
                                        <p:attrNameLst>
                                          <p:attrName>style.visibility</p:attrName>
                                        </p:attrNameLst>
                                      </p:cBhvr>
                                      <p:to>
                                        <p:strVal val="visible"/>
                                      </p:to>
                                    </p:set>
                                    <p:animEffect transition="in" filter="wipe(left)">
                                      <p:cBhvr>
                                        <p:cTn id="41" dur="500"/>
                                        <p:tgtEl>
                                          <p:spTgt spid="160791"/>
                                        </p:tgtEl>
                                      </p:cBhvr>
                                    </p:animEffect>
                                  </p:childTnLst>
                                </p:cTn>
                              </p:par>
                              <p:par>
                                <p:cTn id="42" presetID="22" presetClass="entr" presetSubtype="8" fill="hold" grpId="0" nodeType="withEffect">
                                  <p:stCondLst>
                                    <p:cond delay="0"/>
                                  </p:stCondLst>
                                  <p:iterate type="lt">
                                    <p:tmPct val="100000"/>
                                  </p:iterate>
                                  <p:childTnLst>
                                    <p:set>
                                      <p:cBhvr>
                                        <p:cTn id="43" dur="1" fill="hold">
                                          <p:stCondLst>
                                            <p:cond delay="0"/>
                                          </p:stCondLst>
                                        </p:cTn>
                                        <p:tgtEl>
                                          <p:spTgt spid="160792">
                                            <p:txEl>
                                              <p:pRg st="0" end="0"/>
                                            </p:txEl>
                                          </p:spTgt>
                                        </p:tgtEl>
                                        <p:attrNameLst>
                                          <p:attrName>style.visibility</p:attrName>
                                        </p:attrNameLst>
                                      </p:cBhvr>
                                      <p:to>
                                        <p:strVal val="visible"/>
                                      </p:to>
                                    </p:set>
                                    <p:animEffect transition="in" filter="wipe(left)">
                                      <p:cBhvr>
                                        <p:cTn id="44" dur="75"/>
                                        <p:tgtEl>
                                          <p:spTgt spid="160792">
                                            <p:txEl>
                                              <p:pRg st="0" end="0"/>
                                            </p:txEl>
                                          </p:spTgt>
                                        </p:tgtEl>
                                      </p:cBhvr>
                                    </p:animEffect>
                                  </p:childTnLst>
                                </p:cTn>
                              </p:par>
                              <p:par>
                                <p:cTn id="45" presetID="22" presetClass="entr" presetSubtype="8" fill="hold" grpId="0" nodeType="withEffect">
                                  <p:stCondLst>
                                    <p:cond delay="0"/>
                                  </p:stCondLst>
                                  <p:iterate type="lt">
                                    <p:tmPct val="100000"/>
                                  </p:iterate>
                                  <p:childTnLst>
                                    <p:set>
                                      <p:cBhvr>
                                        <p:cTn id="46" dur="1" fill="hold">
                                          <p:stCondLst>
                                            <p:cond delay="0"/>
                                          </p:stCondLst>
                                        </p:cTn>
                                        <p:tgtEl>
                                          <p:spTgt spid="160792">
                                            <p:txEl>
                                              <p:pRg st="1" end="1"/>
                                            </p:txEl>
                                          </p:spTgt>
                                        </p:tgtEl>
                                        <p:attrNameLst>
                                          <p:attrName>style.visibility</p:attrName>
                                        </p:attrNameLst>
                                      </p:cBhvr>
                                      <p:to>
                                        <p:strVal val="visible"/>
                                      </p:to>
                                    </p:set>
                                    <p:animEffect transition="in" filter="wipe(left)">
                                      <p:cBhvr>
                                        <p:cTn id="47" dur="75"/>
                                        <p:tgtEl>
                                          <p:spTgt spid="160792">
                                            <p:txEl>
                                              <p:pRg st="1" end="1"/>
                                            </p:txEl>
                                          </p:spTgt>
                                        </p:tgtEl>
                                      </p:cBhvr>
                                    </p:animEffect>
                                  </p:childTnLst>
                                </p:cTn>
                              </p:par>
                              <p:par>
                                <p:cTn id="48" presetID="22" presetClass="entr" presetSubtype="8" fill="hold" grpId="0" nodeType="withEffect">
                                  <p:stCondLst>
                                    <p:cond delay="0"/>
                                  </p:stCondLst>
                                  <p:iterate type="lt">
                                    <p:tmPct val="100000"/>
                                  </p:iterate>
                                  <p:childTnLst>
                                    <p:set>
                                      <p:cBhvr>
                                        <p:cTn id="49" dur="1" fill="hold">
                                          <p:stCondLst>
                                            <p:cond delay="0"/>
                                          </p:stCondLst>
                                        </p:cTn>
                                        <p:tgtEl>
                                          <p:spTgt spid="160792">
                                            <p:txEl>
                                              <p:pRg st="2" end="2"/>
                                            </p:txEl>
                                          </p:spTgt>
                                        </p:tgtEl>
                                        <p:attrNameLst>
                                          <p:attrName>style.visibility</p:attrName>
                                        </p:attrNameLst>
                                      </p:cBhvr>
                                      <p:to>
                                        <p:strVal val="visible"/>
                                      </p:to>
                                    </p:set>
                                    <p:animEffect transition="in" filter="wipe(left)">
                                      <p:cBhvr>
                                        <p:cTn id="50" dur="75"/>
                                        <p:tgtEl>
                                          <p:spTgt spid="16079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0" grpId="0" autoUpdateAnimBg="0"/>
      <p:bldP spid="160771" grpId="0" autoUpdateAnimBg="0"/>
      <p:bldP spid="160787" grpId="0" autoUpdateAnimBg="0"/>
      <p:bldP spid="160788" grpId="0" autoUpdateAnimBg="0"/>
      <p:bldP spid="160789" grpId="0" autoUpdateAnimBg="0"/>
      <p:bldP spid="160790" grpId="0" autoUpdateAnimBg="0"/>
      <p:bldP spid="160791" grpId="0" autoUpdateAnimBg="0"/>
      <p:bldP spid="160792" grpId="0" build="p"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5444166-79FD-4FD0-92B0-DAD59A874EE4}" type="slidenum">
              <a:rPr lang="en-US" altLang="zh-CN" sz="1400" smtClean="0">
                <a:ea typeface="楷体_GB2312"/>
              </a:rPr>
              <a:pPr>
                <a:spcBef>
                  <a:spcPct val="0"/>
                </a:spcBef>
                <a:buFontTx/>
                <a:buNone/>
              </a:pPr>
              <a:t>61</a:t>
            </a:fld>
            <a:endParaRPr lang="en-US" altLang="zh-CN" sz="1400">
              <a:ea typeface="楷体_GB2312"/>
            </a:endParaRPr>
          </a:p>
        </p:txBody>
      </p:sp>
      <p:pic>
        <p:nvPicPr>
          <p:cNvPr id="69635" name="Picture 33" descr="WLDIAN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7925" y="188913"/>
            <a:ext cx="2438400" cy="171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9" name="Text Box 3"/>
          <p:cNvSpPr txBox="1">
            <a:spLocks noChangeArrowheads="1"/>
          </p:cNvSpPr>
          <p:nvPr/>
        </p:nvSpPr>
        <p:spPr bwMode="auto">
          <a:xfrm>
            <a:off x="609600" y="381000"/>
            <a:ext cx="3124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zh-CN" altLang="en-US" sz="2800" dirty="0">
                <a:solidFill>
                  <a:srgbClr val="FF0033"/>
                </a:solidFill>
                <a:effectLst>
                  <a:outerShdw blurRad="38100" dist="38100" dir="2700000" algn="tl">
                    <a:srgbClr val="C0C0C0"/>
                  </a:outerShdw>
                </a:effectLst>
                <a:latin typeface="黑体" pitchFamily="49" charset="-122"/>
                <a:ea typeface="黑体" pitchFamily="49" charset="-122"/>
                <a:cs typeface="+mn-cs"/>
              </a:rPr>
              <a:t>电场线的画法</a:t>
            </a:r>
          </a:p>
        </p:txBody>
      </p:sp>
      <p:sp>
        <p:nvSpPr>
          <p:cNvPr id="39941" name="Text Box 5"/>
          <p:cNvSpPr txBox="1">
            <a:spLocks noChangeArrowheads="1"/>
          </p:cNvSpPr>
          <p:nvPr/>
        </p:nvSpPr>
        <p:spPr bwMode="auto">
          <a:xfrm>
            <a:off x="419100" y="1268413"/>
            <a:ext cx="7543800" cy="158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zh-CN" altLang="en-US" sz="2400">
                <a:solidFill>
                  <a:srgbClr val="FF3300"/>
                </a:solidFill>
                <a:ea typeface="楷体_GB2312"/>
              </a:rPr>
              <a:t>规定</a:t>
            </a:r>
            <a:r>
              <a:rPr lang="zh-CN" altLang="en-US" sz="2400">
                <a:solidFill>
                  <a:schemeClr val="accent2"/>
                </a:solidFill>
                <a:ea typeface="楷体_GB2312"/>
              </a:rPr>
              <a:t> </a:t>
            </a:r>
          </a:p>
          <a:p>
            <a:pPr>
              <a:lnSpc>
                <a:spcPct val="60000"/>
              </a:lnSpc>
              <a:spcBef>
                <a:spcPct val="50000"/>
              </a:spcBef>
              <a:buFontTx/>
              <a:buNone/>
            </a:pPr>
            <a:r>
              <a:rPr lang="zh-CN" altLang="en-US" sz="2400">
                <a:solidFill>
                  <a:srgbClr val="FF3300"/>
                </a:solidFill>
                <a:ea typeface="楷体_GB2312"/>
              </a:rPr>
              <a:t>   </a:t>
            </a:r>
            <a:r>
              <a:rPr lang="zh-CN" altLang="en-US" sz="2400">
                <a:solidFill>
                  <a:srgbClr val="CC0000"/>
                </a:solidFill>
                <a:ea typeface="楷体_GB2312"/>
              </a:rPr>
              <a:t>方向：</a:t>
            </a:r>
            <a:r>
              <a:rPr lang="zh-CN" altLang="en-US" sz="2400">
                <a:solidFill>
                  <a:schemeClr val="tx2"/>
                </a:solidFill>
                <a:ea typeface="楷体_GB2312"/>
              </a:rPr>
              <a:t>力线上每一点的切线方向为电场方向；</a:t>
            </a:r>
          </a:p>
          <a:p>
            <a:pPr>
              <a:lnSpc>
                <a:spcPct val="30000"/>
              </a:lnSpc>
              <a:spcBef>
                <a:spcPct val="50000"/>
              </a:spcBef>
              <a:buFontTx/>
              <a:buNone/>
            </a:pPr>
            <a:endParaRPr lang="zh-CN" altLang="en-US" sz="2400">
              <a:solidFill>
                <a:schemeClr val="tx2"/>
              </a:solidFill>
              <a:ea typeface="楷体_GB2312"/>
            </a:endParaRPr>
          </a:p>
          <a:p>
            <a:pPr>
              <a:lnSpc>
                <a:spcPct val="60000"/>
              </a:lnSpc>
              <a:spcBef>
                <a:spcPct val="50000"/>
              </a:spcBef>
              <a:buFontTx/>
              <a:buNone/>
            </a:pPr>
            <a:r>
              <a:rPr lang="zh-CN" altLang="en-US" sz="2400">
                <a:solidFill>
                  <a:schemeClr val="tx2"/>
                </a:solidFill>
                <a:ea typeface="楷体_GB2312"/>
              </a:rPr>
              <a:t>   </a:t>
            </a:r>
            <a:r>
              <a:rPr lang="zh-CN" altLang="en-US" sz="2400">
                <a:solidFill>
                  <a:srgbClr val="CC0000"/>
                </a:solidFill>
                <a:ea typeface="楷体_GB2312"/>
              </a:rPr>
              <a:t>大小：</a:t>
            </a:r>
          </a:p>
        </p:txBody>
      </p:sp>
      <p:sp>
        <p:nvSpPr>
          <p:cNvPr id="39943" name="AutoShape 7"/>
          <p:cNvSpPr>
            <a:spLocks/>
          </p:cNvSpPr>
          <p:nvPr/>
        </p:nvSpPr>
        <p:spPr bwMode="auto">
          <a:xfrm>
            <a:off x="1763713" y="2500313"/>
            <a:ext cx="228600" cy="609600"/>
          </a:xfrm>
          <a:prstGeom prst="leftBrace">
            <a:avLst>
              <a:gd name="adj1" fmla="val 22222"/>
              <a:gd name="adj2" fmla="val 50000"/>
            </a:avLst>
          </a:prstGeom>
          <a:noFill/>
          <a:ln w="38100">
            <a:solidFill>
              <a:srgbClr val="000099"/>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39944" name="Text Box 8"/>
          <p:cNvSpPr txBox="1">
            <a:spLocks noChangeArrowheads="1"/>
          </p:cNvSpPr>
          <p:nvPr/>
        </p:nvSpPr>
        <p:spPr bwMode="auto">
          <a:xfrm>
            <a:off x="2066925" y="2225675"/>
            <a:ext cx="1001713"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buFontTx/>
              <a:buNone/>
            </a:pPr>
            <a:r>
              <a:rPr lang="zh-CN" altLang="en-US" sz="2400">
                <a:solidFill>
                  <a:srgbClr val="000099"/>
                </a:solidFill>
                <a:ea typeface="楷体_GB2312"/>
              </a:rPr>
              <a:t>定性</a:t>
            </a:r>
          </a:p>
          <a:p>
            <a:pPr>
              <a:lnSpc>
                <a:spcPct val="120000"/>
              </a:lnSpc>
              <a:buFontTx/>
              <a:buNone/>
            </a:pPr>
            <a:r>
              <a:rPr lang="zh-CN" altLang="en-US" sz="2400">
                <a:solidFill>
                  <a:srgbClr val="000099"/>
                </a:solidFill>
                <a:ea typeface="楷体_GB2312"/>
              </a:rPr>
              <a:t>定量</a:t>
            </a:r>
          </a:p>
        </p:txBody>
      </p:sp>
      <p:sp>
        <p:nvSpPr>
          <p:cNvPr id="39945" name="Text Box 9"/>
          <p:cNvSpPr txBox="1">
            <a:spLocks noChangeArrowheads="1"/>
          </p:cNvSpPr>
          <p:nvPr/>
        </p:nvSpPr>
        <p:spPr bwMode="auto">
          <a:xfrm>
            <a:off x="3078163" y="2244725"/>
            <a:ext cx="46482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buFontTx/>
              <a:buNone/>
            </a:pPr>
            <a:r>
              <a:rPr lang="zh-CN" altLang="en-US" sz="2400">
                <a:solidFill>
                  <a:srgbClr val="CC0000"/>
                </a:solidFill>
                <a:ea typeface="楷体_GB2312"/>
              </a:rPr>
              <a:t>疏密</a:t>
            </a:r>
          </a:p>
          <a:p>
            <a:pPr>
              <a:lnSpc>
                <a:spcPct val="120000"/>
              </a:lnSpc>
              <a:buFontTx/>
              <a:buNone/>
            </a:pPr>
            <a:r>
              <a:rPr lang="zh-CN" altLang="en-US" sz="2400">
                <a:solidFill>
                  <a:srgbClr val="CC0000"/>
                </a:solidFill>
                <a:ea typeface="楷体_GB2312"/>
              </a:rPr>
              <a:t>垂直面积   规定条数</a:t>
            </a:r>
          </a:p>
        </p:txBody>
      </p:sp>
      <p:sp>
        <p:nvSpPr>
          <p:cNvPr id="39946" name="Text Box 10"/>
          <p:cNvSpPr txBox="1">
            <a:spLocks noChangeArrowheads="1"/>
          </p:cNvSpPr>
          <p:nvPr/>
        </p:nvSpPr>
        <p:spPr bwMode="auto">
          <a:xfrm>
            <a:off x="609600" y="3886200"/>
            <a:ext cx="7772400"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800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solidFill>
                  <a:srgbClr val="FF0000"/>
                </a:solidFill>
                <a:ea typeface="楷体_GB2312"/>
              </a:rPr>
              <a:t>定量规定：</a:t>
            </a:r>
            <a:r>
              <a:rPr lang="zh-CN" altLang="en-US" sz="2400">
                <a:solidFill>
                  <a:srgbClr val="000066"/>
                </a:solidFill>
                <a:ea typeface="楷体_GB2312"/>
              </a:rPr>
              <a:t>在电场中任一点处，通过垂直于场强 </a:t>
            </a:r>
            <a:r>
              <a:rPr lang="en-US" altLang="zh-CN" sz="2400" i="1">
                <a:solidFill>
                  <a:srgbClr val="000066"/>
                </a:solidFill>
                <a:ea typeface="楷体_GB2312"/>
              </a:rPr>
              <a:t>E</a:t>
            </a:r>
            <a:r>
              <a:rPr lang="zh-CN" altLang="en-US" sz="2400">
                <a:solidFill>
                  <a:srgbClr val="000066"/>
                </a:solidFill>
                <a:ea typeface="楷体_GB2312"/>
              </a:rPr>
              <a:t>单位面积的电场线数等于该点电场强度的数值。</a:t>
            </a:r>
          </a:p>
        </p:txBody>
      </p:sp>
      <p:grpSp>
        <p:nvGrpSpPr>
          <p:cNvPr id="42054" name="Group 1094"/>
          <p:cNvGrpSpPr>
            <a:grpSpLocks/>
          </p:cNvGrpSpPr>
          <p:nvPr/>
        </p:nvGrpSpPr>
        <p:grpSpPr bwMode="auto">
          <a:xfrm>
            <a:off x="2667000" y="4876800"/>
            <a:ext cx="3097213" cy="1358900"/>
            <a:chOff x="1680" y="3072"/>
            <a:chExt cx="1951" cy="856"/>
          </a:xfrm>
        </p:grpSpPr>
        <p:sp>
          <p:nvSpPr>
            <p:cNvPr id="69644" name="Oval 12"/>
            <p:cNvSpPr>
              <a:spLocks noChangeArrowheads="1"/>
            </p:cNvSpPr>
            <p:nvPr/>
          </p:nvSpPr>
          <p:spPr bwMode="auto">
            <a:xfrm>
              <a:off x="2308" y="3072"/>
              <a:ext cx="520" cy="856"/>
            </a:xfrm>
            <a:prstGeom prst="ellipse">
              <a:avLst/>
            </a:prstGeom>
            <a:solidFill>
              <a:srgbClr val="66FF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69645" name="Line 13"/>
            <p:cNvSpPr>
              <a:spLocks noChangeShapeType="1"/>
            </p:cNvSpPr>
            <p:nvPr/>
          </p:nvSpPr>
          <p:spPr bwMode="auto">
            <a:xfrm>
              <a:off x="2640" y="3308"/>
              <a:ext cx="672" cy="0"/>
            </a:xfrm>
            <a:prstGeom prst="line">
              <a:avLst/>
            </a:prstGeom>
            <a:noFill/>
            <a:ln w="12700">
              <a:solidFill>
                <a:srgbClr val="CC0066"/>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46" name="Line 14"/>
            <p:cNvSpPr>
              <a:spLocks noChangeShapeType="1"/>
            </p:cNvSpPr>
            <p:nvPr/>
          </p:nvSpPr>
          <p:spPr bwMode="auto">
            <a:xfrm>
              <a:off x="2736" y="3404"/>
              <a:ext cx="672" cy="0"/>
            </a:xfrm>
            <a:prstGeom prst="line">
              <a:avLst/>
            </a:prstGeom>
            <a:noFill/>
            <a:ln w="12700">
              <a:solidFill>
                <a:srgbClr val="CC0066"/>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47" name="Line 15"/>
            <p:cNvSpPr>
              <a:spLocks noChangeShapeType="1"/>
            </p:cNvSpPr>
            <p:nvPr/>
          </p:nvSpPr>
          <p:spPr bwMode="auto">
            <a:xfrm>
              <a:off x="2688" y="3500"/>
              <a:ext cx="672" cy="0"/>
            </a:xfrm>
            <a:prstGeom prst="line">
              <a:avLst/>
            </a:prstGeom>
            <a:noFill/>
            <a:ln w="12700">
              <a:solidFill>
                <a:srgbClr val="CC0066"/>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48" name="Line 16"/>
            <p:cNvSpPr>
              <a:spLocks noChangeShapeType="1"/>
            </p:cNvSpPr>
            <p:nvPr/>
          </p:nvSpPr>
          <p:spPr bwMode="auto">
            <a:xfrm>
              <a:off x="2688" y="3692"/>
              <a:ext cx="672" cy="0"/>
            </a:xfrm>
            <a:prstGeom prst="line">
              <a:avLst/>
            </a:prstGeom>
            <a:noFill/>
            <a:ln w="12700">
              <a:solidFill>
                <a:srgbClr val="CC0066"/>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49" name="Line 17"/>
            <p:cNvSpPr>
              <a:spLocks noChangeShapeType="1"/>
            </p:cNvSpPr>
            <p:nvPr/>
          </p:nvSpPr>
          <p:spPr bwMode="auto">
            <a:xfrm>
              <a:off x="2448" y="3644"/>
              <a:ext cx="672" cy="0"/>
            </a:xfrm>
            <a:prstGeom prst="line">
              <a:avLst/>
            </a:prstGeom>
            <a:noFill/>
            <a:ln w="12700">
              <a:solidFill>
                <a:srgbClr val="CC0066"/>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0" name="Line 18"/>
            <p:cNvSpPr>
              <a:spLocks noChangeShapeType="1"/>
            </p:cNvSpPr>
            <p:nvPr/>
          </p:nvSpPr>
          <p:spPr bwMode="auto">
            <a:xfrm>
              <a:off x="2400" y="3404"/>
              <a:ext cx="672" cy="0"/>
            </a:xfrm>
            <a:prstGeom prst="line">
              <a:avLst/>
            </a:prstGeom>
            <a:noFill/>
            <a:ln w="12700">
              <a:solidFill>
                <a:srgbClr val="CC0066"/>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1" name="Line 19"/>
            <p:cNvSpPr>
              <a:spLocks noChangeShapeType="1"/>
            </p:cNvSpPr>
            <p:nvPr/>
          </p:nvSpPr>
          <p:spPr bwMode="auto">
            <a:xfrm>
              <a:off x="2496" y="3836"/>
              <a:ext cx="672" cy="0"/>
            </a:xfrm>
            <a:prstGeom prst="line">
              <a:avLst/>
            </a:prstGeom>
            <a:noFill/>
            <a:ln w="12700">
              <a:solidFill>
                <a:srgbClr val="CC0066"/>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2" name="Line 20"/>
            <p:cNvSpPr>
              <a:spLocks noChangeShapeType="1"/>
            </p:cNvSpPr>
            <p:nvPr/>
          </p:nvSpPr>
          <p:spPr bwMode="auto">
            <a:xfrm>
              <a:off x="2544" y="3212"/>
              <a:ext cx="672" cy="0"/>
            </a:xfrm>
            <a:prstGeom prst="line">
              <a:avLst/>
            </a:prstGeom>
            <a:noFill/>
            <a:ln w="12700">
              <a:solidFill>
                <a:srgbClr val="CC0066"/>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3" name="Line 21"/>
            <p:cNvSpPr>
              <a:spLocks noChangeShapeType="1"/>
            </p:cNvSpPr>
            <p:nvPr/>
          </p:nvSpPr>
          <p:spPr bwMode="auto">
            <a:xfrm flipH="1">
              <a:off x="1920" y="3212"/>
              <a:ext cx="432" cy="0"/>
            </a:xfrm>
            <a:prstGeom prst="line">
              <a:avLst/>
            </a:prstGeom>
            <a:noFill/>
            <a:ln w="12700">
              <a:solidFill>
                <a:srgbClr val="CC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4" name="Line 22"/>
            <p:cNvSpPr>
              <a:spLocks noChangeShapeType="1"/>
            </p:cNvSpPr>
            <p:nvPr/>
          </p:nvSpPr>
          <p:spPr bwMode="auto">
            <a:xfrm flipH="1">
              <a:off x="1680" y="3404"/>
              <a:ext cx="624" cy="0"/>
            </a:xfrm>
            <a:prstGeom prst="line">
              <a:avLst/>
            </a:prstGeom>
            <a:noFill/>
            <a:ln w="12700">
              <a:solidFill>
                <a:srgbClr val="CC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5" name="Line 23"/>
            <p:cNvSpPr>
              <a:spLocks noChangeShapeType="1"/>
            </p:cNvSpPr>
            <p:nvPr/>
          </p:nvSpPr>
          <p:spPr bwMode="auto">
            <a:xfrm flipH="1">
              <a:off x="1920" y="3500"/>
              <a:ext cx="384" cy="0"/>
            </a:xfrm>
            <a:prstGeom prst="line">
              <a:avLst/>
            </a:prstGeom>
            <a:noFill/>
            <a:ln w="12700">
              <a:solidFill>
                <a:srgbClr val="CC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6" name="Line 24"/>
            <p:cNvSpPr>
              <a:spLocks noChangeShapeType="1"/>
            </p:cNvSpPr>
            <p:nvPr/>
          </p:nvSpPr>
          <p:spPr bwMode="auto">
            <a:xfrm flipH="1">
              <a:off x="1680" y="3644"/>
              <a:ext cx="624" cy="0"/>
            </a:xfrm>
            <a:prstGeom prst="line">
              <a:avLst/>
            </a:prstGeom>
            <a:noFill/>
            <a:ln w="12700">
              <a:solidFill>
                <a:srgbClr val="CC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7" name="Line 25"/>
            <p:cNvSpPr>
              <a:spLocks noChangeShapeType="1"/>
            </p:cNvSpPr>
            <p:nvPr/>
          </p:nvSpPr>
          <p:spPr bwMode="auto">
            <a:xfrm flipH="1">
              <a:off x="1872" y="3692"/>
              <a:ext cx="432" cy="0"/>
            </a:xfrm>
            <a:prstGeom prst="line">
              <a:avLst/>
            </a:prstGeom>
            <a:noFill/>
            <a:ln w="12700">
              <a:solidFill>
                <a:srgbClr val="CC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8" name="Line 26"/>
            <p:cNvSpPr>
              <a:spLocks noChangeShapeType="1"/>
            </p:cNvSpPr>
            <p:nvPr/>
          </p:nvSpPr>
          <p:spPr bwMode="auto">
            <a:xfrm flipH="1">
              <a:off x="1824" y="3836"/>
              <a:ext cx="528" cy="0"/>
            </a:xfrm>
            <a:prstGeom prst="line">
              <a:avLst/>
            </a:prstGeom>
            <a:noFill/>
            <a:ln w="12700">
              <a:solidFill>
                <a:srgbClr val="CC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9" name="Line 27"/>
            <p:cNvSpPr>
              <a:spLocks noChangeShapeType="1"/>
            </p:cNvSpPr>
            <p:nvPr/>
          </p:nvSpPr>
          <p:spPr bwMode="auto">
            <a:xfrm flipH="1">
              <a:off x="1872" y="3308"/>
              <a:ext cx="432" cy="0"/>
            </a:xfrm>
            <a:prstGeom prst="line">
              <a:avLst/>
            </a:prstGeom>
            <a:noFill/>
            <a:ln w="12700">
              <a:solidFill>
                <a:srgbClr val="CC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69660" name="Object 30"/>
            <p:cNvGraphicFramePr>
              <a:graphicFrameLocks noChangeAspect="1"/>
            </p:cNvGraphicFramePr>
            <p:nvPr/>
          </p:nvGraphicFramePr>
          <p:xfrm>
            <a:off x="3408" y="3312"/>
            <a:ext cx="223" cy="260"/>
          </p:xfrm>
          <a:graphic>
            <a:graphicData uri="http://schemas.openxmlformats.org/presentationml/2006/ole">
              <mc:AlternateContent xmlns:mc="http://schemas.openxmlformats.org/markup-compatibility/2006">
                <mc:Choice xmlns:v="urn:schemas-microsoft-com:vml" Requires="v">
                  <p:oleObj spid="_x0000_s168244" name="公式" r:id="rId5" imgW="66735" imgH="95434" progId="Equation.3">
                    <p:embed/>
                  </p:oleObj>
                </mc:Choice>
                <mc:Fallback>
                  <p:oleObj name="公式" r:id="rId5" imgW="66735" imgH="95434" progId="Equation.3">
                    <p:embed/>
                    <p:pic>
                      <p:nvPicPr>
                        <p:cNvPr id="69660"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8" y="3312"/>
                          <a:ext cx="223" cy="2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61" name="Object 31"/>
            <p:cNvGraphicFramePr>
              <a:graphicFrameLocks noChangeAspect="1"/>
            </p:cNvGraphicFramePr>
            <p:nvPr/>
          </p:nvGraphicFramePr>
          <p:xfrm>
            <a:off x="2463" y="3412"/>
            <a:ext cx="181" cy="236"/>
          </p:xfrm>
          <a:graphic>
            <a:graphicData uri="http://schemas.openxmlformats.org/presentationml/2006/ole">
              <mc:AlternateContent xmlns:mc="http://schemas.openxmlformats.org/markup-compatibility/2006">
                <mc:Choice xmlns:v="urn:schemas-microsoft-com:vml" Requires="v">
                  <p:oleObj spid="_x0000_s168245" name="公式" r:id="rId7" imgW="126780" imgH="164814" progId="Equation.3">
                    <p:embed/>
                  </p:oleObj>
                </mc:Choice>
                <mc:Fallback>
                  <p:oleObj name="公式" r:id="rId7" imgW="126780" imgH="164814" progId="Equation.3">
                    <p:embed/>
                    <p:pic>
                      <p:nvPicPr>
                        <p:cNvPr id="69661" name="Object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63" y="3412"/>
                          <a:ext cx="181"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42055" name="Object 1095"/>
          <p:cNvGraphicFramePr>
            <a:graphicFrameLocks noChangeAspect="1"/>
          </p:cNvGraphicFramePr>
          <p:nvPr/>
        </p:nvGraphicFramePr>
        <p:xfrm>
          <a:off x="5943600" y="4724400"/>
          <a:ext cx="1524000" cy="1141413"/>
        </p:xfrm>
        <a:graphic>
          <a:graphicData uri="http://schemas.openxmlformats.org/presentationml/2006/ole">
            <mc:AlternateContent xmlns:mc="http://schemas.openxmlformats.org/markup-compatibility/2006">
              <mc:Choice xmlns:v="urn:schemas-microsoft-com:vml" Requires="v">
                <p:oleObj spid="_x0000_s168246" name="公式" r:id="rId9" imgW="609600" imgH="457200" progId="Equation.3">
                  <p:embed/>
                </p:oleObj>
              </mc:Choice>
              <mc:Fallback>
                <p:oleObj name="公式" r:id="rId9" imgW="609600" imgH="457200" progId="Equation.3">
                  <p:embed/>
                  <p:pic>
                    <p:nvPicPr>
                      <p:cNvPr id="42055" name="Object 109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43600" y="4724400"/>
                        <a:ext cx="1524000" cy="1141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86316522"/>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994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94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94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39945"/>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9946">
                                            <p:txEl>
                                              <p:pRg st="0" end="0"/>
                                            </p:txEl>
                                          </p:spTgt>
                                        </p:tgtEl>
                                        <p:attrNameLst>
                                          <p:attrName>style.visibility</p:attrName>
                                        </p:attrNameLst>
                                      </p:cBhvr>
                                      <p:to>
                                        <p:strVal val="visible"/>
                                      </p:to>
                                    </p:set>
                                    <p:animEffect transition="in" filter="blinds(horizontal)">
                                      <p:cBhvr>
                                        <p:cTn id="21" dur="500"/>
                                        <p:tgtEl>
                                          <p:spTgt spid="39946">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42054"/>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42055"/>
                                        </p:tgtEl>
                                        <p:attrNameLst>
                                          <p:attrName>style.visibility</p:attrName>
                                        </p:attrNameLst>
                                      </p:cBhvr>
                                      <p:to>
                                        <p:strVal val="visible"/>
                                      </p:to>
                                    </p:set>
                                    <p:animEffect transition="in" filter="blinds(horizontal)">
                                      <p:cBhvr>
                                        <p:cTn id="30" dur="500"/>
                                        <p:tgtEl>
                                          <p:spTgt spid="420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1" grpId="0" autoUpdateAnimBg="0"/>
      <p:bldP spid="39943" grpId="0" animBg="1"/>
      <p:bldP spid="39944" grpId="0"/>
      <p:bldP spid="39945" grpId="0" autoUpdateAnimBg="0"/>
      <p:bldP spid="39946" grpId="0" build="p"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ext Box 2"/>
          <p:cNvSpPr txBox="1">
            <a:spLocks noChangeArrowheads="1"/>
          </p:cNvSpPr>
          <p:nvPr/>
        </p:nvSpPr>
        <p:spPr bwMode="auto">
          <a:xfrm>
            <a:off x="152400" y="152400"/>
            <a:ext cx="4359275" cy="579438"/>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a:solidFill>
                  <a:schemeClr val="folHlink"/>
                </a:solidFill>
                <a:latin typeface="Arial" panose="020B0604020202020204" pitchFamily="34" charset="0"/>
                <a:ea typeface="楷体_GB2312"/>
              </a:rPr>
              <a:t>二、电通量</a:t>
            </a:r>
          </a:p>
        </p:txBody>
      </p:sp>
      <p:sp>
        <p:nvSpPr>
          <p:cNvPr id="161795" name="Text Box 3"/>
          <p:cNvSpPr txBox="1">
            <a:spLocks noChangeArrowheads="1"/>
          </p:cNvSpPr>
          <p:nvPr/>
        </p:nvSpPr>
        <p:spPr bwMode="auto">
          <a:xfrm>
            <a:off x="304800" y="838200"/>
            <a:ext cx="8083550" cy="1249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3333FF"/>
                </a:solidFill>
                <a:ea typeface="楷体_GB2312"/>
              </a:rPr>
              <a:t>1</a:t>
            </a:r>
            <a:r>
              <a:rPr lang="zh-CN" altLang="en-US" sz="2800">
                <a:solidFill>
                  <a:srgbClr val="3333FF"/>
                </a:solidFill>
                <a:ea typeface="楷体_GB2312"/>
              </a:rPr>
              <a:t>、定义</a:t>
            </a:r>
            <a:endParaRPr lang="zh-CN" altLang="en-US" sz="2400">
              <a:ea typeface="楷体_GB2312"/>
            </a:endParaRPr>
          </a:p>
          <a:p>
            <a:pPr lvl="1" eaLnBrk="1" hangingPunct="1">
              <a:spcBef>
                <a:spcPct val="0"/>
              </a:spcBef>
              <a:buFontTx/>
              <a:buNone/>
            </a:pPr>
            <a:r>
              <a:rPr lang="zh-CN" altLang="en-US" sz="2400">
                <a:ea typeface="楷体_GB2312"/>
              </a:rPr>
              <a:t>通过电场中某一面的电场线的条数叫做通过这一面元的</a:t>
            </a:r>
            <a:r>
              <a:rPr lang="zh-CN" altLang="en-US" sz="2400">
                <a:solidFill>
                  <a:srgbClr val="FF3300"/>
                </a:solidFill>
                <a:ea typeface="楷体_GB2312"/>
              </a:rPr>
              <a:t>电场强度通量</a:t>
            </a:r>
            <a:r>
              <a:rPr lang="zh-CN" altLang="en-US" sz="2400">
                <a:ea typeface="楷体_GB2312"/>
              </a:rPr>
              <a:t>。</a:t>
            </a:r>
          </a:p>
        </p:txBody>
      </p:sp>
      <p:sp>
        <p:nvSpPr>
          <p:cNvPr id="161796" name="Text Box 4"/>
          <p:cNvSpPr txBox="1">
            <a:spLocks noChangeArrowheads="1"/>
          </p:cNvSpPr>
          <p:nvPr/>
        </p:nvSpPr>
        <p:spPr bwMode="auto">
          <a:xfrm>
            <a:off x="365125" y="2147888"/>
            <a:ext cx="40544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3333FF"/>
                </a:solidFill>
                <a:ea typeface="楷体_GB2312"/>
              </a:rPr>
              <a:t>2</a:t>
            </a:r>
            <a:r>
              <a:rPr lang="zh-CN" altLang="en-US" sz="2800">
                <a:solidFill>
                  <a:srgbClr val="3333FF"/>
                </a:solidFill>
                <a:ea typeface="楷体_GB2312"/>
              </a:rPr>
              <a:t>、匀强电场的电通量</a:t>
            </a:r>
            <a:endParaRPr lang="zh-CN" altLang="en-US" sz="3600">
              <a:solidFill>
                <a:srgbClr val="FF3300"/>
              </a:solidFill>
              <a:ea typeface="楷体_GB2312"/>
            </a:endParaRPr>
          </a:p>
        </p:txBody>
      </p:sp>
      <p:sp>
        <p:nvSpPr>
          <p:cNvPr id="161797" name="Text Box 5"/>
          <p:cNvSpPr txBox="1">
            <a:spLocks noChangeArrowheads="1"/>
          </p:cNvSpPr>
          <p:nvPr/>
        </p:nvSpPr>
        <p:spPr bwMode="auto">
          <a:xfrm>
            <a:off x="34925" y="2667000"/>
            <a:ext cx="4794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a:ea typeface="楷体_GB2312"/>
              </a:rPr>
              <a:t>1)</a:t>
            </a:r>
            <a:r>
              <a:rPr lang="zh-CN" altLang="en-US" sz="2400">
                <a:ea typeface="楷体_GB2312"/>
              </a:rPr>
              <a:t>、平面</a:t>
            </a:r>
            <a:r>
              <a:rPr lang="en-US" altLang="zh-CN" sz="2400">
                <a:ea typeface="楷体_GB2312"/>
              </a:rPr>
              <a:t>S</a:t>
            </a:r>
            <a:r>
              <a:rPr lang="zh-CN" altLang="en-US" sz="2400">
                <a:ea typeface="楷体_GB2312"/>
              </a:rPr>
              <a:t>的面法线方向与</a:t>
            </a:r>
            <a:r>
              <a:rPr lang="en-US" altLang="zh-CN" sz="2400">
                <a:ea typeface="楷体_GB2312"/>
              </a:rPr>
              <a:t>E</a:t>
            </a:r>
            <a:r>
              <a:rPr lang="zh-CN" altLang="en-US" sz="2400">
                <a:ea typeface="楷体_GB2312"/>
              </a:rPr>
              <a:t>平行时</a:t>
            </a:r>
            <a:endParaRPr lang="zh-CN" altLang="en-US" sz="3600">
              <a:solidFill>
                <a:srgbClr val="FF3300"/>
              </a:solidFill>
              <a:ea typeface="楷体_GB2312"/>
            </a:endParaRPr>
          </a:p>
        </p:txBody>
      </p:sp>
      <p:graphicFrame>
        <p:nvGraphicFramePr>
          <p:cNvPr id="161798" name="Object 6"/>
          <p:cNvGraphicFramePr>
            <a:graphicFrameLocks noChangeAspect="1"/>
          </p:cNvGraphicFramePr>
          <p:nvPr/>
        </p:nvGraphicFramePr>
        <p:xfrm>
          <a:off x="2152650" y="3200400"/>
          <a:ext cx="1712913" cy="717550"/>
        </p:xfrm>
        <a:graphic>
          <a:graphicData uri="http://schemas.openxmlformats.org/presentationml/2006/ole">
            <mc:AlternateContent xmlns:mc="http://schemas.openxmlformats.org/markup-compatibility/2006">
              <mc:Choice xmlns:v="urn:schemas-microsoft-com:vml" Requires="v">
                <p:oleObj spid="_x0000_s169982" name="Equation" r:id="rId3" imgW="545863" imgH="228501" progId="Equation.DSMT4">
                  <p:embed/>
                </p:oleObj>
              </mc:Choice>
              <mc:Fallback>
                <p:oleObj name="Equation" r:id="rId3" imgW="545863" imgH="228501" progId="Equation.DSMT4">
                  <p:embed/>
                  <p:pic>
                    <p:nvPicPr>
                      <p:cNvPr id="161798"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2650" y="3200400"/>
                        <a:ext cx="1712913" cy="71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1799" name="Text Box 7"/>
          <p:cNvSpPr txBox="1">
            <a:spLocks noChangeArrowheads="1"/>
          </p:cNvSpPr>
          <p:nvPr/>
        </p:nvSpPr>
        <p:spPr bwMode="auto">
          <a:xfrm>
            <a:off x="179388" y="3962400"/>
            <a:ext cx="41259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a:ea typeface="楷体_GB2312"/>
              </a:rPr>
              <a:t>2)</a:t>
            </a:r>
            <a:r>
              <a:rPr lang="zh-CN" altLang="en-US" sz="2400">
                <a:ea typeface="楷体_GB2312"/>
              </a:rPr>
              <a:t>、平面</a:t>
            </a:r>
            <a:r>
              <a:rPr lang="en-US" altLang="zh-CN" sz="2400">
                <a:ea typeface="楷体_GB2312"/>
              </a:rPr>
              <a:t>S</a:t>
            </a:r>
            <a:r>
              <a:rPr lang="zh-CN" altLang="en-US" sz="2400">
                <a:ea typeface="楷体_GB2312"/>
              </a:rPr>
              <a:t>与</a:t>
            </a:r>
            <a:r>
              <a:rPr lang="en-US" altLang="zh-CN" sz="2400" i="1">
                <a:ea typeface="楷体_GB2312"/>
              </a:rPr>
              <a:t>E</a:t>
            </a:r>
            <a:r>
              <a:rPr lang="zh-CN" altLang="en-US" sz="2400">
                <a:ea typeface="楷体_GB2312"/>
              </a:rPr>
              <a:t>有夹角</a:t>
            </a:r>
            <a:r>
              <a:rPr lang="en-US" altLang="zh-CN" sz="2400" i="1">
                <a:ea typeface="楷体_GB2312"/>
              </a:rPr>
              <a:t>θ</a:t>
            </a:r>
            <a:r>
              <a:rPr lang="zh-CN" altLang="en-US" sz="2400">
                <a:ea typeface="楷体_GB2312"/>
              </a:rPr>
              <a:t>时</a:t>
            </a:r>
            <a:endParaRPr lang="zh-CN" altLang="en-US" sz="3600">
              <a:solidFill>
                <a:srgbClr val="FF3300"/>
              </a:solidFill>
              <a:ea typeface="楷体_GB2312"/>
            </a:endParaRPr>
          </a:p>
        </p:txBody>
      </p:sp>
      <p:graphicFrame>
        <p:nvGraphicFramePr>
          <p:cNvPr id="161800" name="Object 8"/>
          <p:cNvGraphicFramePr>
            <a:graphicFrameLocks noChangeAspect="1"/>
          </p:cNvGraphicFramePr>
          <p:nvPr/>
        </p:nvGraphicFramePr>
        <p:xfrm>
          <a:off x="1558925" y="5181600"/>
          <a:ext cx="2344738" cy="620713"/>
        </p:xfrm>
        <a:graphic>
          <a:graphicData uri="http://schemas.openxmlformats.org/presentationml/2006/ole">
            <mc:AlternateContent xmlns:mc="http://schemas.openxmlformats.org/markup-compatibility/2006">
              <mc:Choice xmlns:v="urn:schemas-microsoft-com:vml" Requires="v">
                <p:oleObj spid="_x0000_s169983" name="Equation" r:id="rId5" imgW="863225" imgH="228501" progId="Equation.DSMT4">
                  <p:embed/>
                </p:oleObj>
              </mc:Choice>
              <mc:Fallback>
                <p:oleObj name="Equation" r:id="rId5" imgW="863225" imgH="228501" progId="Equation.DSMT4">
                  <p:embed/>
                  <p:pic>
                    <p:nvPicPr>
                      <p:cNvPr id="16180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58925" y="5181600"/>
                        <a:ext cx="2344738" cy="620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1801" name="Text Box 9"/>
          <p:cNvSpPr txBox="1">
            <a:spLocks noChangeArrowheads="1"/>
          </p:cNvSpPr>
          <p:nvPr/>
        </p:nvSpPr>
        <p:spPr bwMode="auto">
          <a:xfrm>
            <a:off x="611188" y="4572000"/>
            <a:ext cx="28273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引入</a:t>
            </a:r>
            <a:r>
              <a:rPr lang="zh-CN" altLang="en-US" sz="2800">
                <a:solidFill>
                  <a:srgbClr val="FF3300"/>
                </a:solidFill>
                <a:ea typeface="楷体_GB2312"/>
              </a:rPr>
              <a:t>面积矢量</a:t>
            </a:r>
          </a:p>
        </p:txBody>
      </p:sp>
      <p:graphicFrame>
        <p:nvGraphicFramePr>
          <p:cNvPr id="161802" name="Object 10"/>
          <p:cNvGraphicFramePr>
            <a:graphicFrameLocks noChangeAspect="1"/>
          </p:cNvGraphicFramePr>
          <p:nvPr/>
        </p:nvGraphicFramePr>
        <p:xfrm>
          <a:off x="3581400" y="4572000"/>
          <a:ext cx="1250950" cy="576263"/>
        </p:xfrm>
        <a:graphic>
          <a:graphicData uri="http://schemas.openxmlformats.org/presentationml/2006/ole">
            <mc:AlternateContent xmlns:mc="http://schemas.openxmlformats.org/markup-compatibility/2006">
              <mc:Choice xmlns:v="urn:schemas-microsoft-com:vml" Requires="v">
                <p:oleObj spid="_x0000_s239616" name="公式" r:id="rId7" imgW="520474" imgH="241195" progId="Equation.3">
                  <p:embed/>
                </p:oleObj>
              </mc:Choice>
              <mc:Fallback>
                <p:oleObj name="公式" r:id="rId7" imgW="520474" imgH="241195" progId="Equation.3">
                  <p:embed/>
                  <p:pic>
                    <p:nvPicPr>
                      <p:cNvPr id="161802"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1400" y="4572000"/>
                        <a:ext cx="1250950"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1803" name="Object 11"/>
          <p:cNvGraphicFramePr>
            <a:graphicFrameLocks noChangeAspect="1"/>
          </p:cNvGraphicFramePr>
          <p:nvPr/>
        </p:nvGraphicFramePr>
        <p:xfrm>
          <a:off x="1589088" y="5943600"/>
          <a:ext cx="3346450" cy="650875"/>
        </p:xfrm>
        <a:graphic>
          <a:graphicData uri="http://schemas.openxmlformats.org/presentationml/2006/ole">
            <mc:AlternateContent xmlns:mc="http://schemas.openxmlformats.org/markup-compatibility/2006">
              <mc:Choice xmlns:v="urn:schemas-microsoft-com:vml" Requires="v">
                <p:oleObj spid="_x0000_s239617" name="Equation" r:id="rId9" imgW="1231366" imgH="241195" progId="Equation.DSMT4">
                  <p:embed/>
                </p:oleObj>
              </mc:Choice>
              <mc:Fallback>
                <p:oleObj name="Equation" r:id="rId9" imgW="1231366" imgH="241195" progId="Equation.DSMT4">
                  <p:embed/>
                  <p:pic>
                    <p:nvPicPr>
                      <p:cNvPr id="161803"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89088" y="5943600"/>
                        <a:ext cx="3346450"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61804" name="Group 12"/>
          <p:cNvGrpSpPr>
            <a:grpSpLocks/>
          </p:cNvGrpSpPr>
          <p:nvPr/>
        </p:nvGrpSpPr>
        <p:grpSpPr bwMode="auto">
          <a:xfrm>
            <a:off x="6096000" y="4264025"/>
            <a:ext cx="2366963" cy="2478088"/>
            <a:chOff x="3840" y="2325"/>
            <a:chExt cx="1491" cy="1561"/>
          </a:xfrm>
        </p:grpSpPr>
        <p:grpSp>
          <p:nvGrpSpPr>
            <p:cNvPr id="71695" name="Group 13"/>
            <p:cNvGrpSpPr>
              <a:grpSpLocks/>
            </p:cNvGrpSpPr>
            <p:nvPr/>
          </p:nvGrpSpPr>
          <p:grpSpPr bwMode="auto">
            <a:xfrm>
              <a:off x="3840" y="2325"/>
              <a:ext cx="1491" cy="1561"/>
              <a:chOff x="3837" y="1288"/>
              <a:chExt cx="1491" cy="1590"/>
            </a:xfrm>
          </p:grpSpPr>
          <p:graphicFrame>
            <p:nvGraphicFramePr>
              <p:cNvPr id="71697" name="Object 14"/>
              <p:cNvGraphicFramePr>
                <a:graphicFrameLocks noChangeAspect="1"/>
              </p:cNvGraphicFramePr>
              <p:nvPr/>
            </p:nvGraphicFramePr>
            <p:xfrm>
              <a:off x="3837" y="2557"/>
              <a:ext cx="447" cy="321"/>
            </p:xfrm>
            <a:graphic>
              <a:graphicData uri="http://schemas.openxmlformats.org/presentationml/2006/ole">
                <mc:AlternateContent xmlns:mc="http://schemas.openxmlformats.org/markup-compatibility/2006">
                  <mc:Choice xmlns:v="urn:schemas-microsoft-com:vml" Requires="v">
                    <p:oleObj spid="_x0000_s239618" name="公式" r:id="rId11" imgW="279279" imgH="215806" progId="Equation.3">
                      <p:embed/>
                    </p:oleObj>
                  </mc:Choice>
                  <mc:Fallback>
                    <p:oleObj name="公式" r:id="rId11" imgW="279279" imgH="215806" progId="Equation.3">
                      <p:embed/>
                      <p:pic>
                        <p:nvPicPr>
                          <p:cNvPr id="71697"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37" y="2557"/>
                            <a:ext cx="447"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698" name="Freeform 15"/>
              <p:cNvSpPr>
                <a:spLocks noChangeArrowheads="1"/>
              </p:cNvSpPr>
              <p:nvPr/>
            </p:nvSpPr>
            <p:spPr bwMode="auto">
              <a:xfrm>
                <a:off x="4022" y="2171"/>
                <a:ext cx="1045" cy="490"/>
              </a:xfrm>
              <a:custGeom>
                <a:avLst/>
                <a:gdLst>
                  <a:gd name="T0" fmla="*/ 0 w 656"/>
                  <a:gd name="T1" fmla="*/ 0 h 328"/>
                  <a:gd name="T2" fmla="*/ 46778270 w 656"/>
                  <a:gd name="T3" fmla="*/ 5008595 h 328"/>
                  <a:gd name="T4" fmla="*/ 0 60000 65536"/>
                  <a:gd name="T5" fmla="*/ 0 60000 65536"/>
                </a:gdLst>
                <a:ahLst/>
                <a:cxnLst>
                  <a:cxn ang="T4">
                    <a:pos x="T0" y="T1"/>
                  </a:cxn>
                  <a:cxn ang="T5">
                    <a:pos x="T2" y="T3"/>
                  </a:cxn>
                </a:cxnLst>
                <a:rect l="0" t="0" r="r" b="b"/>
                <a:pathLst>
                  <a:path w="656" h="328">
                    <a:moveTo>
                      <a:pt x="0" y="0"/>
                    </a:moveTo>
                    <a:lnTo>
                      <a:pt x="656" y="328"/>
                    </a:lnTo>
                  </a:path>
                </a:pathLst>
              </a:custGeom>
              <a:solidFill>
                <a:srgbClr val="FFFFFF"/>
              </a:solidFill>
              <a:ln w="38100" cap="flat"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1699" name="Line 16"/>
              <p:cNvSpPr>
                <a:spLocks noChangeShapeType="1"/>
              </p:cNvSpPr>
              <p:nvPr/>
            </p:nvSpPr>
            <p:spPr bwMode="auto">
              <a:xfrm flipH="1">
                <a:off x="4036" y="1881"/>
                <a:ext cx="233" cy="287"/>
              </a:xfrm>
              <a:prstGeom prst="line">
                <a:avLst/>
              </a:prstGeom>
              <a:noFill/>
              <a:ln w="381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1700" name="Line 17"/>
              <p:cNvSpPr>
                <a:spLocks noChangeShapeType="1"/>
              </p:cNvSpPr>
              <p:nvPr/>
            </p:nvSpPr>
            <p:spPr bwMode="auto">
              <a:xfrm>
                <a:off x="4269" y="1881"/>
                <a:ext cx="1049" cy="475"/>
              </a:xfrm>
              <a:prstGeom prst="line">
                <a:avLst/>
              </a:prstGeom>
              <a:noFill/>
              <a:ln w="381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1701" name="Freeform 18"/>
              <p:cNvSpPr>
                <a:spLocks noChangeArrowheads="1"/>
              </p:cNvSpPr>
              <p:nvPr/>
            </p:nvSpPr>
            <p:spPr bwMode="auto">
              <a:xfrm>
                <a:off x="5068" y="2356"/>
                <a:ext cx="260" cy="316"/>
              </a:xfrm>
              <a:custGeom>
                <a:avLst/>
                <a:gdLst>
                  <a:gd name="T0" fmla="*/ 11999845 w 163"/>
                  <a:gd name="T1" fmla="*/ 0 h 211"/>
                  <a:gd name="T2" fmla="*/ 0 w 163"/>
                  <a:gd name="T3" fmla="*/ 3414781 h 211"/>
                  <a:gd name="T4" fmla="*/ 0 60000 65536"/>
                  <a:gd name="T5" fmla="*/ 0 60000 65536"/>
                </a:gdLst>
                <a:ahLst/>
                <a:cxnLst>
                  <a:cxn ang="T4">
                    <a:pos x="T0" y="T1"/>
                  </a:cxn>
                  <a:cxn ang="T5">
                    <a:pos x="T2" y="T3"/>
                  </a:cxn>
                </a:cxnLst>
                <a:rect l="0" t="0" r="r" b="b"/>
                <a:pathLst>
                  <a:path w="163" h="211">
                    <a:moveTo>
                      <a:pt x="163" y="0"/>
                    </a:moveTo>
                    <a:lnTo>
                      <a:pt x="0" y="211"/>
                    </a:lnTo>
                  </a:path>
                </a:pathLst>
              </a:custGeom>
              <a:solidFill>
                <a:srgbClr val="FFFFFF"/>
              </a:solidFill>
              <a:ln w="38100" cap="flat"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1702" name="Freeform 19"/>
              <p:cNvSpPr>
                <a:spLocks noChangeArrowheads="1"/>
              </p:cNvSpPr>
              <p:nvPr/>
            </p:nvSpPr>
            <p:spPr bwMode="auto">
              <a:xfrm>
                <a:off x="3920" y="2261"/>
                <a:ext cx="255" cy="321"/>
              </a:xfrm>
              <a:custGeom>
                <a:avLst/>
                <a:gdLst>
                  <a:gd name="T0" fmla="*/ 11526674 w 160"/>
                  <a:gd name="T1" fmla="*/ 0 h 215"/>
                  <a:gd name="T2" fmla="*/ 0 w 160"/>
                  <a:gd name="T3" fmla="*/ 3235764 h 215"/>
                  <a:gd name="T4" fmla="*/ 0 60000 65536"/>
                  <a:gd name="T5" fmla="*/ 0 60000 65536"/>
                </a:gdLst>
                <a:ahLst/>
                <a:cxnLst>
                  <a:cxn ang="T4">
                    <a:pos x="T0" y="T1"/>
                  </a:cxn>
                  <a:cxn ang="T5">
                    <a:pos x="T2" y="T3"/>
                  </a:cxn>
                </a:cxnLst>
                <a:rect l="0" t="0" r="r" b="b"/>
                <a:pathLst>
                  <a:path w="160" h="215">
                    <a:moveTo>
                      <a:pt x="160" y="0"/>
                    </a:moveTo>
                    <a:lnTo>
                      <a:pt x="0" y="215"/>
                    </a:lnTo>
                  </a:path>
                </a:pathLst>
              </a:custGeom>
              <a:solidFill>
                <a:srgbClr val="FFFFFF"/>
              </a:solidFill>
              <a:ln w="38100" cap="flat"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1703" name="Freeform 20"/>
              <p:cNvSpPr>
                <a:spLocks noChangeArrowheads="1"/>
              </p:cNvSpPr>
              <p:nvPr/>
            </p:nvSpPr>
            <p:spPr bwMode="auto">
              <a:xfrm>
                <a:off x="3907" y="2577"/>
                <a:ext cx="1153" cy="102"/>
              </a:xfrm>
              <a:custGeom>
                <a:avLst/>
                <a:gdLst>
                  <a:gd name="T0" fmla="*/ 0 w 724"/>
                  <a:gd name="T1" fmla="*/ 0 h 68"/>
                  <a:gd name="T2" fmla="*/ 51273098 w 724"/>
                  <a:gd name="T3" fmla="*/ 1149057 h 68"/>
                  <a:gd name="T4" fmla="*/ 0 60000 65536"/>
                  <a:gd name="T5" fmla="*/ 0 60000 65536"/>
                </a:gdLst>
                <a:ahLst/>
                <a:cxnLst>
                  <a:cxn ang="T4">
                    <a:pos x="T0" y="T1"/>
                  </a:cxn>
                  <a:cxn ang="T5">
                    <a:pos x="T2" y="T3"/>
                  </a:cxn>
                </a:cxnLst>
                <a:rect l="0" t="0" r="r" b="b"/>
                <a:pathLst>
                  <a:path w="724" h="68">
                    <a:moveTo>
                      <a:pt x="0" y="0"/>
                    </a:moveTo>
                    <a:lnTo>
                      <a:pt x="724" y="68"/>
                    </a:lnTo>
                  </a:path>
                </a:pathLst>
              </a:custGeom>
              <a:solidFill>
                <a:srgbClr val="FFFFFF"/>
              </a:solidFill>
              <a:ln w="38100">
                <a:solidFill>
                  <a:srgbClr val="0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1704" name="Line 21"/>
              <p:cNvSpPr>
                <a:spLocks noChangeShapeType="1"/>
              </p:cNvSpPr>
              <p:nvPr/>
            </p:nvSpPr>
            <p:spPr bwMode="auto">
              <a:xfrm flipV="1">
                <a:off x="4608" y="1741"/>
                <a:ext cx="349" cy="473"/>
              </a:xfrm>
              <a:prstGeom prst="line">
                <a:avLst/>
              </a:prstGeom>
              <a:noFill/>
              <a:ln w="38100">
                <a:solidFill>
                  <a:srgbClr val="0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1705" name="Line 22"/>
              <p:cNvSpPr>
                <a:spLocks noChangeShapeType="1"/>
              </p:cNvSpPr>
              <p:nvPr/>
            </p:nvSpPr>
            <p:spPr bwMode="auto">
              <a:xfrm flipV="1">
                <a:off x="4608" y="1454"/>
                <a:ext cx="0" cy="789"/>
              </a:xfrm>
              <a:prstGeom prst="line">
                <a:avLst/>
              </a:prstGeom>
              <a:noFill/>
              <a:ln w="38100">
                <a:solidFill>
                  <a:srgbClr val="0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71706" name="Object 23"/>
              <p:cNvGraphicFramePr>
                <a:graphicFrameLocks noChangeAspect="1"/>
              </p:cNvGraphicFramePr>
              <p:nvPr/>
            </p:nvGraphicFramePr>
            <p:xfrm>
              <a:off x="4560" y="2208"/>
              <a:ext cx="318" cy="246"/>
            </p:xfrm>
            <a:graphic>
              <a:graphicData uri="http://schemas.openxmlformats.org/presentationml/2006/ole">
                <mc:AlternateContent xmlns:mc="http://schemas.openxmlformats.org/markup-compatibility/2006">
                  <mc:Choice xmlns:v="urn:schemas-microsoft-com:vml" Requires="v">
                    <p:oleObj spid="_x0000_s239619" name="公式" r:id="rId13" imgW="215619" imgH="177569" progId="Equation.3">
                      <p:embed/>
                    </p:oleObj>
                  </mc:Choice>
                  <mc:Fallback>
                    <p:oleObj name="公式" r:id="rId13" imgW="215619" imgH="177569" progId="Equation.3">
                      <p:embed/>
                      <p:pic>
                        <p:nvPicPr>
                          <p:cNvPr id="71706" name="Object 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60" y="2208"/>
                            <a:ext cx="318"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07" name="Object 24"/>
              <p:cNvGraphicFramePr>
                <a:graphicFrameLocks noChangeAspect="1"/>
              </p:cNvGraphicFramePr>
              <p:nvPr/>
            </p:nvGraphicFramePr>
            <p:xfrm>
              <a:off x="4991" y="1523"/>
              <a:ext cx="283" cy="370"/>
            </p:xfrm>
            <a:graphic>
              <a:graphicData uri="http://schemas.openxmlformats.org/presentationml/2006/ole">
                <mc:AlternateContent xmlns:mc="http://schemas.openxmlformats.org/markup-compatibility/2006">
                  <mc:Choice xmlns:v="urn:schemas-microsoft-com:vml" Requires="v">
                    <p:oleObj spid="_x0000_s239620" name="公式" r:id="rId15" imgW="165028" imgH="228501" progId="Equation.3">
                      <p:embed/>
                    </p:oleObj>
                  </mc:Choice>
                  <mc:Fallback>
                    <p:oleObj name="公式" r:id="rId15" imgW="165028" imgH="228501" progId="Equation.3">
                      <p:embed/>
                      <p:pic>
                        <p:nvPicPr>
                          <p:cNvPr id="71707" name="Object 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991" y="1523"/>
                            <a:ext cx="283" cy="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08" name="Object 25"/>
              <p:cNvGraphicFramePr>
                <a:graphicFrameLocks noChangeAspect="1"/>
              </p:cNvGraphicFramePr>
              <p:nvPr/>
            </p:nvGraphicFramePr>
            <p:xfrm>
              <a:off x="4613" y="1730"/>
              <a:ext cx="241" cy="285"/>
            </p:xfrm>
            <a:graphic>
              <a:graphicData uri="http://schemas.openxmlformats.org/presentationml/2006/ole">
                <mc:AlternateContent xmlns:mc="http://schemas.openxmlformats.org/markup-compatibility/2006">
                  <mc:Choice xmlns:v="urn:schemas-microsoft-com:vml" Requires="v">
                    <p:oleObj spid="_x0000_s239621" name="公式" r:id="rId17" imgW="139579" imgH="177646" progId="Equation.3">
                      <p:embed/>
                    </p:oleObj>
                  </mc:Choice>
                  <mc:Fallback>
                    <p:oleObj name="公式" r:id="rId17" imgW="139579" imgH="177646" progId="Equation.3">
                      <p:embed/>
                      <p:pic>
                        <p:nvPicPr>
                          <p:cNvPr id="71708" name="Object 2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613" y="1730"/>
                            <a:ext cx="241"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09" name="Object 26"/>
              <p:cNvGraphicFramePr>
                <a:graphicFrameLocks noChangeAspect="1"/>
              </p:cNvGraphicFramePr>
              <p:nvPr/>
            </p:nvGraphicFramePr>
            <p:xfrm flipH="1">
              <a:off x="4709" y="1288"/>
              <a:ext cx="169" cy="403"/>
            </p:xfrm>
            <a:graphic>
              <a:graphicData uri="http://schemas.openxmlformats.org/presentationml/2006/ole">
                <mc:AlternateContent xmlns:mc="http://schemas.openxmlformats.org/markup-compatibility/2006">
                  <mc:Choice xmlns:v="urn:schemas-microsoft-com:vml" Requires="v">
                    <p:oleObj spid="_x0000_s239622" name="公式" r:id="rId19" imgW="114151" imgH="215619" progId="Equation.3">
                      <p:embed/>
                    </p:oleObj>
                  </mc:Choice>
                  <mc:Fallback>
                    <p:oleObj name="公式" r:id="rId19" imgW="114151" imgH="215619" progId="Equation.3">
                      <p:embed/>
                      <p:pic>
                        <p:nvPicPr>
                          <p:cNvPr id="71709" name="Object 2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flipH="1">
                            <a:off x="4709" y="1288"/>
                            <a:ext cx="1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71696" name="Object 27"/>
            <p:cNvGraphicFramePr>
              <a:graphicFrameLocks noChangeAspect="1"/>
            </p:cNvGraphicFramePr>
            <p:nvPr/>
          </p:nvGraphicFramePr>
          <p:xfrm>
            <a:off x="4694" y="2341"/>
            <a:ext cx="238" cy="317"/>
          </p:xfrm>
          <a:graphic>
            <a:graphicData uri="http://schemas.openxmlformats.org/presentationml/2006/ole">
              <mc:AlternateContent xmlns:mc="http://schemas.openxmlformats.org/markup-compatibility/2006">
                <mc:Choice xmlns:v="urn:schemas-microsoft-com:vml" Requires="v">
                  <p:oleObj spid="_x0000_s239623" name="公式" r:id="rId21" imgW="152268" imgH="203024" progId="Equation.3">
                    <p:embed/>
                  </p:oleObj>
                </mc:Choice>
                <mc:Fallback>
                  <p:oleObj name="公式" r:id="rId21" imgW="152268" imgH="203024" progId="Equation.3">
                    <p:embed/>
                    <p:pic>
                      <p:nvPicPr>
                        <p:cNvPr id="71696" name="Object 2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694" y="2341"/>
                          <a:ext cx="238" cy="3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pic>
        <p:nvPicPr>
          <p:cNvPr id="161820" name="Picture 28" descr="image1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932363" y="1968500"/>
            <a:ext cx="3871912" cy="189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94" name="Text Box 29"/>
          <p:cNvSpPr txBox="1">
            <a:spLocks noChangeArrowheads="1"/>
          </p:cNvSpPr>
          <p:nvPr/>
        </p:nvSpPr>
        <p:spPr bwMode="auto">
          <a:xfrm>
            <a:off x="6948488" y="333375"/>
            <a:ext cx="180975" cy="6413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zh-CN" sz="3600">
              <a:solidFill>
                <a:srgbClr val="FF3300"/>
              </a:solidFill>
              <a:ea typeface="楷体_GB2312"/>
            </a:endParaRPr>
          </a:p>
        </p:txBody>
      </p:sp>
    </p:spTree>
    <p:extLst>
      <p:ext uri="{BB962C8B-B14F-4D97-AF65-F5344CB8AC3E}">
        <p14:creationId xmlns:p14="http://schemas.microsoft.com/office/powerpoint/2010/main" val="3966063848"/>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1794"/>
                                        </p:tgtEl>
                                        <p:attrNameLst>
                                          <p:attrName>style.visibility</p:attrName>
                                        </p:attrNameLst>
                                      </p:cBhvr>
                                      <p:to>
                                        <p:strVal val="visible"/>
                                      </p:to>
                                    </p:set>
                                    <p:animEffect transition="in" filter="wipe(left)">
                                      <p:cBhvr>
                                        <p:cTn id="7" dur="500"/>
                                        <p:tgtEl>
                                          <p:spTgt spid="1617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161795">
                                            <p:txEl>
                                              <p:pRg st="0" end="0"/>
                                            </p:txEl>
                                          </p:spTgt>
                                        </p:tgtEl>
                                        <p:attrNameLst>
                                          <p:attrName>style.visibility</p:attrName>
                                        </p:attrNameLst>
                                      </p:cBhvr>
                                      <p:to>
                                        <p:strVal val="visible"/>
                                      </p:to>
                                    </p:set>
                                    <p:animEffect transition="in" filter="wipe(left)">
                                      <p:cBhvr>
                                        <p:cTn id="12" dur="75"/>
                                        <p:tgtEl>
                                          <p:spTgt spid="16179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161795">
                                            <p:txEl>
                                              <p:pRg st="1" end="1"/>
                                            </p:txEl>
                                          </p:spTgt>
                                        </p:tgtEl>
                                        <p:attrNameLst>
                                          <p:attrName>style.visibility</p:attrName>
                                        </p:attrNameLst>
                                      </p:cBhvr>
                                      <p:to>
                                        <p:strVal val="visible"/>
                                      </p:to>
                                    </p:set>
                                    <p:animEffect transition="in" filter="wipe(left)">
                                      <p:cBhvr>
                                        <p:cTn id="17" dur="75"/>
                                        <p:tgtEl>
                                          <p:spTgt spid="161795">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1796"/>
                                        </p:tgtEl>
                                        <p:attrNameLst>
                                          <p:attrName>style.visibility</p:attrName>
                                        </p:attrNameLst>
                                      </p:cBhvr>
                                      <p:to>
                                        <p:strVal val="visible"/>
                                      </p:to>
                                    </p:set>
                                    <p:animEffect transition="in" filter="wipe(left)">
                                      <p:cBhvr>
                                        <p:cTn id="22" dur="500"/>
                                        <p:tgtEl>
                                          <p:spTgt spid="16179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161820"/>
                                        </p:tgtEl>
                                        <p:attrNameLst>
                                          <p:attrName>style.visibility</p:attrName>
                                        </p:attrNameLst>
                                      </p:cBhvr>
                                      <p:to>
                                        <p:strVal val="visible"/>
                                      </p:to>
                                    </p:set>
                                    <p:animEffect transition="in" filter="wipe(down)">
                                      <p:cBhvr>
                                        <p:cTn id="27" dur="500"/>
                                        <p:tgtEl>
                                          <p:spTgt spid="16182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1797"/>
                                        </p:tgtEl>
                                        <p:attrNameLst>
                                          <p:attrName>style.visibility</p:attrName>
                                        </p:attrNameLst>
                                      </p:cBhvr>
                                      <p:to>
                                        <p:strVal val="visible"/>
                                      </p:to>
                                    </p:set>
                                    <p:animEffect transition="in" filter="wipe(left)">
                                      <p:cBhvr>
                                        <p:cTn id="32" dur="500"/>
                                        <p:tgtEl>
                                          <p:spTgt spid="16179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61798"/>
                                        </p:tgtEl>
                                        <p:attrNameLst>
                                          <p:attrName>style.visibility</p:attrName>
                                        </p:attrNameLst>
                                      </p:cBhvr>
                                      <p:to>
                                        <p:strVal val="visible"/>
                                      </p:to>
                                    </p:set>
                                    <p:animEffect transition="in" filter="wipe(left)">
                                      <p:cBhvr>
                                        <p:cTn id="37" dur="500"/>
                                        <p:tgtEl>
                                          <p:spTgt spid="16179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1799"/>
                                        </p:tgtEl>
                                        <p:attrNameLst>
                                          <p:attrName>style.visibility</p:attrName>
                                        </p:attrNameLst>
                                      </p:cBhvr>
                                      <p:to>
                                        <p:strVal val="visible"/>
                                      </p:to>
                                    </p:set>
                                    <p:animEffect transition="in" filter="wipe(left)">
                                      <p:cBhvr>
                                        <p:cTn id="42" dur="500"/>
                                        <p:tgtEl>
                                          <p:spTgt spid="16179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61801"/>
                                        </p:tgtEl>
                                        <p:attrNameLst>
                                          <p:attrName>style.visibility</p:attrName>
                                        </p:attrNameLst>
                                      </p:cBhvr>
                                      <p:to>
                                        <p:strVal val="visible"/>
                                      </p:to>
                                    </p:set>
                                    <p:animEffect transition="in" filter="wipe(left)">
                                      <p:cBhvr>
                                        <p:cTn id="47" dur="500"/>
                                        <p:tgtEl>
                                          <p:spTgt spid="16180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nodeType="clickEffect">
                                  <p:stCondLst>
                                    <p:cond delay="0"/>
                                  </p:stCondLst>
                                  <p:childTnLst>
                                    <p:set>
                                      <p:cBhvr>
                                        <p:cTn id="51" dur="1" fill="hold">
                                          <p:stCondLst>
                                            <p:cond delay="0"/>
                                          </p:stCondLst>
                                        </p:cTn>
                                        <p:tgtEl>
                                          <p:spTgt spid="161804"/>
                                        </p:tgtEl>
                                        <p:attrNameLst>
                                          <p:attrName>style.visibility</p:attrName>
                                        </p:attrNameLst>
                                      </p:cBhvr>
                                      <p:to>
                                        <p:strVal val="visible"/>
                                      </p:to>
                                    </p:set>
                                    <p:animEffect transition="in" filter="wipe(down)">
                                      <p:cBhvr>
                                        <p:cTn id="52" dur="500"/>
                                        <p:tgtEl>
                                          <p:spTgt spid="16180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61802"/>
                                        </p:tgtEl>
                                        <p:attrNameLst>
                                          <p:attrName>style.visibility</p:attrName>
                                        </p:attrNameLst>
                                      </p:cBhvr>
                                      <p:to>
                                        <p:strVal val="visible"/>
                                      </p:to>
                                    </p:set>
                                    <p:animEffect transition="in" filter="wipe(left)">
                                      <p:cBhvr>
                                        <p:cTn id="57" dur="500"/>
                                        <p:tgtEl>
                                          <p:spTgt spid="16180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161800"/>
                                        </p:tgtEl>
                                        <p:attrNameLst>
                                          <p:attrName>style.visibility</p:attrName>
                                        </p:attrNameLst>
                                      </p:cBhvr>
                                      <p:to>
                                        <p:strVal val="visible"/>
                                      </p:to>
                                    </p:set>
                                    <p:animEffect transition="in" filter="wipe(left)">
                                      <p:cBhvr>
                                        <p:cTn id="62" dur="500"/>
                                        <p:tgtEl>
                                          <p:spTgt spid="16180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161803"/>
                                        </p:tgtEl>
                                        <p:attrNameLst>
                                          <p:attrName>style.visibility</p:attrName>
                                        </p:attrNameLst>
                                      </p:cBhvr>
                                      <p:to>
                                        <p:strVal val="visible"/>
                                      </p:to>
                                    </p:set>
                                    <p:animEffect transition="in" filter="wipe(left)">
                                      <p:cBhvr>
                                        <p:cTn id="67" dur="500"/>
                                        <p:tgtEl>
                                          <p:spTgt spid="1618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4" grpId="0" animBg="1" autoUpdateAnimBg="0"/>
      <p:bldP spid="161795" grpId="0" build="p" bldLvl="2" autoUpdateAnimBg="0"/>
      <p:bldP spid="161796" grpId="0" autoUpdateAnimBg="0"/>
      <p:bldP spid="161797" grpId="0" autoUpdateAnimBg="0"/>
      <p:bldP spid="161799" grpId="0" autoUpdateAnimBg="0"/>
      <p:bldP spid="161801"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818" name="Picture 2" descr="image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5288" y="2138363"/>
            <a:ext cx="3560762" cy="474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819" name="Text Box 3"/>
          <p:cNvSpPr txBox="1">
            <a:spLocks noChangeArrowheads="1"/>
          </p:cNvSpPr>
          <p:nvPr/>
        </p:nvSpPr>
        <p:spPr bwMode="auto">
          <a:xfrm>
            <a:off x="76200" y="142875"/>
            <a:ext cx="46402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3333FF"/>
                </a:solidFill>
                <a:ea typeface="楷体_GB2312"/>
              </a:rPr>
              <a:t>3</a:t>
            </a:r>
            <a:r>
              <a:rPr lang="zh-CN" altLang="en-US" sz="2800">
                <a:solidFill>
                  <a:srgbClr val="3333FF"/>
                </a:solidFill>
                <a:ea typeface="楷体_GB2312"/>
              </a:rPr>
              <a:t>、非均匀电场的电通量</a:t>
            </a:r>
            <a:endParaRPr lang="zh-CN" altLang="en-US" sz="3600">
              <a:solidFill>
                <a:srgbClr val="FF3300"/>
              </a:solidFill>
              <a:ea typeface="楷体_GB2312"/>
            </a:endParaRPr>
          </a:p>
        </p:txBody>
      </p:sp>
      <p:sp>
        <p:nvSpPr>
          <p:cNvPr id="162820" name="Text Box 4"/>
          <p:cNvSpPr txBox="1">
            <a:spLocks noChangeArrowheads="1"/>
          </p:cNvSpPr>
          <p:nvPr/>
        </p:nvSpPr>
        <p:spPr bwMode="auto">
          <a:xfrm>
            <a:off x="395288" y="650875"/>
            <a:ext cx="14144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微元</a:t>
            </a:r>
            <a:r>
              <a:rPr lang="en-US" altLang="zh-CN" sz="2400">
                <a:ea typeface="楷体_GB2312"/>
              </a:rPr>
              <a:t>d</a:t>
            </a:r>
            <a:r>
              <a:rPr lang="en-US" altLang="zh-CN" sz="2400" i="1">
                <a:ea typeface="楷体_GB2312"/>
              </a:rPr>
              <a:t>S</a:t>
            </a:r>
            <a:endParaRPr lang="en-US" altLang="zh-CN" sz="2400">
              <a:ea typeface="楷体_GB2312"/>
            </a:endParaRPr>
          </a:p>
        </p:txBody>
      </p:sp>
      <p:graphicFrame>
        <p:nvGraphicFramePr>
          <p:cNvPr id="162821" name="Object 5"/>
          <p:cNvGraphicFramePr>
            <a:graphicFrameLocks noChangeAspect="1"/>
          </p:cNvGraphicFramePr>
          <p:nvPr/>
        </p:nvGraphicFramePr>
        <p:xfrm>
          <a:off x="2346325" y="762000"/>
          <a:ext cx="2041525" cy="566738"/>
        </p:xfrm>
        <a:graphic>
          <a:graphicData uri="http://schemas.openxmlformats.org/presentationml/2006/ole">
            <mc:AlternateContent xmlns:mc="http://schemas.openxmlformats.org/markup-compatibility/2006">
              <mc:Choice xmlns:v="urn:schemas-microsoft-com:vml" Requires="v">
                <p:oleObj spid="_x0000_s170802" name="Equation" r:id="rId4" imgW="863225" imgH="241195" progId="Equation.DSMT4">
                  <p:embed/>
                </p:oleObj>
              </mc:Choice>
              <mc:Fallback>
                <p:oleObj name="Equation" r:id="rId4" imgW="863225" imgH="241195" progId="Equation.DSMT4">
                  <p:embed/>
                  <p:pic>
                    <p:nvPicPr>
                      <p:cNvPr id="162821"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46325" y="762000"/>
                        <a:ext cx="2041525" cy="566738"/>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2822" name="Object 6"/>
          <p:cNvGraphicFramePr>
            <a:graphicFrameLocks noChangeAspect="1"/>
          </p:cNvGraphicFramePr>
          <p:nvPr/>
        </p:nvGraphicFramePr>
        <p:xfrm>
          <a:off x="2439988" y="1295400"/>
          <a:ext cx="1700212" cy="698500"/>
        </p:xfrm>
        <a:graphic>
          <a:graphicData uri="http://schemas.openxmlformats.org/presentationml/2006/ole">
            <mc:AlternateContent xmlns:mc="http://schemas.openxmlformats.org/markup-compatibility/2006">
              <mc:Choice xmlns:v="urn:schemas-microsoft-com:vml" Requires="v">
                <p:oleObj spid="_x0000_s170803" name="Equation" r:id="rId6" imgW="927100" imgH="381000" progId="Equation.DSMT4">
                  <p:embed/>
                </p:oleObj>
              </mc:Choice>
              <mc:Fallback>
                <p:oleObj name="Equation" r:id="rId6" imgW="927100" imgH="381000" progId="Equation.DSMT4">
                  <p:embed/>
                  <p:pic>
                    <p:nvPicPr>
                      <p:cNvPr id="162822"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39988" y="1295400"/>
                        <a:ext cx="1700212"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2823" name="Text Box 7"/>
          <p:cNvSpPr txBox="1">
            <a:spLocks noChangeArrowheads="1"/>
          </p:cNvSpPr>
          <p:nvPr/>
        </p:nvSpPr>
        <p:spPr bwMode="auto">
          <a:xfrm>
            <a:off x="323850" y="1828800"/>
            <a:ext cx="2003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对封闭曲面</a:t>
            </a:r>
            <a:endParaRPr lang="zh-CN" altLang="en-US" sz="3600">
              <a:solidFill>
                <a:srgbClr val="FF3300"/>
              </a:solidFill>
              <a:ea typeface="楷体_GB2312"/>
            </a:endParaRPr>
          </a:p>
        </p:txBody>
      </p:sp>
      <p:graphicFrame>
        <p:nvGraphicFramePr>
          <p:cNvPr id="162824" name="Object 8"/>
          <p:cNvGraphicFramePr>
            <a:graphicFrameLocks noChangeAspect="1"/>
          </p:cNvGraphicFramePr>
          <p:nvPr/>
        </p:nvGraphicFramePr>
        <p:xfrm>
          <a:off x="2511425" y="1989138"/>
          <a:ext cx="2222500" cy="889000"/>
        </p:xfrm>
        <a:graphic>
          <a:graphicData uri="http://schemas.openxmlformats.org/presentationml/2006/ole">
            <mc:AlternateContent xmlns:mc="http://schemas.openxmlformats.org/markup-compatibility/2006">
              <mc:Choice xmlns:v="urn:schemas-microsoft-com:vml" Requires="v">
                <p:oleObj spid="_x0000_s170804" name="Equation" r:id="rId8" imgW="952087" imgH="380835" progId="Equation.DSMT4">
                  <p:embed/>
                </p:oleObj>
              </mc:Choice>
              <mc:Fallback>
                <p:oleObj name="Equation" r:id="rId8" imgW="952087" imgH="380835" progId="Equation.DSMT4">
                  <p:embed/>
                  <p:pic>
                    <p:nvPicPr>
                      <p:cNvPr id="162824"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11425" y="1989138"/>
                        <a:ext cx="2222500" cy="889000"/>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2825" name="Text Box 9"/>
          <p:cNvSpPr txBox="1">
            <a:spLocks noChangeArrowheads="1"/>
          </p:cNvSpPr>
          <p:nvPr/>
        </p:nvSpPr>
        <p:spPr bwMode="auto">
          <a:xfrm>
            <a:off x="0" y="2781300"/>
            <a:ext cx="3209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3333FF"/>
                </a:solidFill>
                <a:ea typeface="楷体_GB2312"/>
              </a:rPr>
              <a:t>4</a:t>
            </a:r>
            <a:r>
              <a:rPr lang="zh-CN" altLang="en-US" sz="2800">
                <a:solidFill>
                  <a:srgbClr val="3333FF"/>
                </a:solidFill>
                <a:ea typeface="楷体_GB2312"/>
              </a:rPr>
              <a:t>、方向的规定</a:t>
            </a:r>
            <a:endParaRPr lang="zh-CN" altLang="en-US" sz="2800" b="0">
              <a:ea typeface="楷体_GB2312"/>
            </a:endParaRPr>
          </a:p>
        </p:txBody>
      </p:sp>
      <p:sp>
        <p:nvSpPr>
          <p:cNvPr id="162826" name="Text Box 10"/>
          <p:cNvSpPr txBox="1">
            <a:spLocks noChangeArrowheads="1"/>
          </p:cNvSpPr>
          <p:nvPr/>
        </p:nvSpPr>
        <p:spPr bwMode="auto">
          <a:xfrm>
            <a:off x="0" y="3284538"/>
            <a:ext cx="563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r>
              <a:rPr lang="zh-CN" altLang="en-US" sz="2400">
                <a:ea typeface="楷体_GB2312"/>
              </a:rPr>
              <a:t>闭合曲面外法线方向</a:t>
            </a:r>
            <a:r>
              <a:rPr lang="en-US" altLang="zh-CN" sz="2400">
                <a:ea typeface="楷体_GB2312"/>
              </a:rPr>
              <a:t>(</a:t>
            </a:r>
            <a:r>
              <a:rPr lang="zh-CN" altLang="en-US" sz="2400">
                <a:ea typeface="楷体_GB2312"/>
              </a:rPr>
              <a:t>自内向外</a:t>
            </a:r>
            <a:r>
              <a:rPr lang="en-US" altLang="zh-CN" sz="2400">
                <a:ea typeface="楷体_GB2312"/>
              </a:rPr>
              <a:t>) </a:t>
            </a:r>
            <a:r>
              <a:rPr lang="zh-CN" altLang="en-US" sz="2400">
                <a:ea typeface="楷体_GB2312"/>
              </a:rPr>
              <a:t>为正。</a:t>
            </a:r>
          </a:p>
        </p:txBody>
      </p:sp>
      <p:sp>
        <p:nvSpPr>
          <p:cNvPr id="162827" name="Text Box 11"/>
          <p:cNvSpPr txBox="1">
            <a:spLocks noChangeArrowheads="1"/>
          </p:cNvSpPr>
          <p:nvPr/>
        </p:nvSpPr>
        <p:spPr bwMode="auto">
          <a:xfrm>
            <a:off x="250825" y="4005263"/>
            <a:ext cx="5562600" cy="261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5000"/>
              </a:lnSpc>
              <a:spcBef>
                <a:spcPct val="0"/>
              </a:spcBef>
            </a:pPr>
            <a:r>
              <a:rPr lang="zh-CN" altLang="en-US" sz="2400">
                <a:ea typeface="楷体_GB2312"/>
              </a:rPr>
              <a:t>在电场线由内向外穿出的地方</a:t>
            </a:r>
            <a:r>
              <a:rPr lang="en-US" altLang="zh-CN" sz="2400">
                <a:ea typeface="楷体_GB2312"/>
              </a:rPr>
              <a:t>E</a:t>
            </a:r>
            <a:r>
              <a:rPr lang="zh-CN" altLang="en-US" sz="2400">
                <a:ea typeface="楷体_GB2312"/>
              </a:rPr>
              <a:t>与</a:t>
            </a:r>
            <a:r>
              <a:rPr lang="en-US" altLang="zh-CN" sz="2400">
                <a:ea typeface="楷体_GB2312"/>
              </a:rPr>
              <a:t>dS</a:t>
            </a:r>
            <a:r>
              <a:rPr lang="zh-CN" altLang="en-US" sz="2400">
                <a:ea typeface="楷体_GB2312"/>
              </a:rPr>
              <a:t>的夹角</a:t>
            </a:r>
            <a:r>
              <a:rPr lang="zh-CN" altLang="en-US" sz="2400" i="1">
                <a:ea typeface="楷体_GB2312"/>
                <a:sym typeface="Symbol" panose="05050102010706020507" pitchFamily="18" charset="2"/>
              </a:rPr>
              <a:t></a:t>
            </a:r>
            <a:r>
              <a:rPr lang="en-US" altLang="zh-CN" sz="2400">
                <a:ea typeface="楷体_GB2312"/>
              </a:rPr>
              <a:t>&lt;90</a:t>
            </a:r>
            <a:r>
              <a:rPr lang="en-US" altLang="zh-CN" sz="2400" baseline="30000">
                <a:ea typeface="楷体_GB2312"/>
              </a:rPr>
              <a:t>0</a:t>
            </a:r>
            <a:r>
              <a:rPr lang="en-US" altLang="zh-CN" sz="2400">
                <a:ea typeface="楷体_GB2312"/>
              </a:rPr>
              <a:t>,cos</a:t>
            </a:r>
            <a:r>
              <a:rPr lang="en-US" altLang="zh-CN" sz="2400" i="1">
                <a:ea typeface="楷体_GB2312"/>
                <a:sym typeface="Symbol" panose="05050102010706020507" pitchFamily="18" charset="2"/>
              </a:rPr>
              <a:t>&gt;</a:t>
            </a:r>
            <a:r>
              <a:rPr lang="en-US" altLang="zh-CN" sz="2400">
                <a:ea typeface="楷体_GB2312"/>
                <a:sym typeface="Symbol" panose="05050102010706020507" pitchFamily="18" charset="2"/>
              </a:rPr>
              <a:t>0, </a:t>
            </a:r>
            <a:r>
              <a:rPr lang="zh-CN" altLang="en-US" sz="2400">
                <a:ea typeface="楷体_GB2312"/>
                <a:sym typeface="Symbol" panose="05050102010706020507" pitchFamily="18" charset="2"/>
              </a:rPr>
              <a:t>如</a:t>
            </a:r>
            <a:r>
              <a:rPr lang="en-US" altLang="zh-CN" sz="2400">
                <a:ea typeface="楷体_GB2312"/>
                <a:sym typeface="Symbol" panose="05050102010706020507" pitchFamily="18" charset="2"/>
              </a:rPr>
              <a:t>A</a:t>
            </a:r>
            <a:r>
              <a:rPr lang="zh-CN" altLang="en-US" sz="2400">
                <a:ea typeface="楷体_GB2312"/>
                <a:sym typeface="Symbol" panose="05050102010706020507" pitchFamily="18" charset="2"/>
              </a:rPr>
              <a:t>点；</a:t>
            </a:r>
          </a:p>
          <a:p>
            <a:pPr eaLnBrk="1" hangingPunct="1">
              <a:lnSpc>
                <a:spcPct val="115000"/>
              </a:lnSpc>
              <a:spcBef>
                <a:spcPct val="0"/>
              </a:spcBef>
            </a:pPr>
            <a:r>
              <a:rPr lang="zh-CN" altLang="en-US" sz="2400">
                <a:ea typeface="楷体_GB2312"/>
                <a:sym typeface="Symbol" panose="05050102010706020507" pitchFamily="18" charset="2"/>
              </a:rPr>
              <a:t>在电场穿入的地方</a:t>
            </a:r>
            <a:r>
              <a:rPr lang="en-US" altLang="zh-CN" sz="2400">
                <a:ea typeface="楷体_GB2312"/>
                <a:sym typeface="Symbol" panose="05050102010706020507" pitchFamily="18" charset="2"/>
              </a:rPr>
              <a:t>90</a:t>
            </a:r>
            <a:r>
              <a:rPr lang="en-US" altLang="zh-CN" sz="2400" baseline="30000">
                <a:ea typeface="楷体_GB2312"/>
                <a:sym typeface="Symbol" panose="05050102010706020507" pitchFamily="18" charset="2"/>
              </a:rPr>
              <a:t>0</a:t>
            </a:r>
            <a:r>
              <a:rPr lang="en-US" altLang="zh-CN" sz="2400">
                <a:ea typeface="楷体_GB2312"/>
                <a:sym typeface="Symbol" panose="05050102010706020507" pitchFamily="18" charset="2"/>
              </a:rPr>
              <a:t>&lt;</a:t>
            </a:r>
            <a:r>
              <a:rPr lang="en-US" altLang="zh-CN" sz="2400" i="1">
                <a:ea typeface="楷体_GB2312"/>
                <a:sym typeface="Symbol" panose="05050102010706020507" pitchFamily="18" charset="2"/>
              </a:rPr>
              <a:t></a:t>
            </a:r>
            <a:r>
              <a:rPr lang="en-US" altLang="zh-CN" sz="2400">
                <a:ea typeface="楷体_GB2312"/>
              </a:rPr>
              <a:t>&lt;180</a:t>
            </a:r>
            <a:r>
              <a:rPr lang="en-US" altLang="zh-CN" sz="2400" baseline="30000">
                <a:ea typeface="楷体_GB2312"/>
              </a:rPr>
              <a:t>0</a:t>
            </a:r>
            <a:r>
              <a:rPr lang="en-US" altLang="zh-CN" sz="2400">
                <a:ea typeface="楷体_GB2312"/>
              </a:rPr>
              <a:t>,cos</a:t>
            </a:r>
            <a:r>
              <a:rPr lang="en-US" altLang="zh-CN" sz="2400" i="1">
                <a:ea typeface="楷体_GB2312"/>
                <a:sym typeface="Symbol" panose="05050102010706020507" pitchFamily="18" charset="2"/>
              </a:rPr>
              <a:t>&lt;</a:t>
            </a:r>
            <a:r>
              <a:rPr lang="en-US" altLang="zh-CN" sz="2400">
                <a:ea typeface="楷体_GB2312"/>
                <a:sym typeface="Symbol" panose="05050102010706020507" pitchFamily="18" charset="2"/>
              </a:rPr>
              <a:t>0,</a:t>
            </a:r>
            <a:r>
              <a:rPr lang="zh-CN" altLang="en-US" sz="2400">
                <a:ea typeface="楷体_GB2312"/>
                <a:sym typeface="Symbol" panose="05050102010706020507" pitchFamily="18" charset="2"/>
              </a:rPr>
              <a:t>如</a:t>
            </a:r>
            <a:r>
              <a:rPr lang="en-US" altLang="zh-CN" sz="2400">
                <a:ea typeface="楷体_GB2312"/>
                <a:sym typeface="Symbol" panose="05050102010706020507" pitchFamily="18" charset="2"/>
              </a:rPr>
              <a:t>B</a:t>
            </a:r>
            <a:r>
              <a:rPr lang="zh-CN" altLang="en-US" sz="2400">
                <a:ea typeface="楷体_GB2312"/>
                <a:sym typeface="Symbol" panose="05050102010706020507" pitchFamily="18" charset="2"/>
              </a:rPr>
              <a:t>点</a:t>
            </a:r>
            <a:r>
              <a:rPr lang="en-US" altLang="zh-CN" sz="2400">
                <a:ea typeface="楷体_GB2312"/>
                <a:sym typeface="Symbol" panose="05050102010706020507" pitchFamily="18" charset="2"/>
              </a:rPr>
              <a:t>;</a:t>
            </a:r>
          </a:p>
          <a:p>
            <a:pPr eaLnBrk="1" hangingPunct="1">
              <a:lnSpc>
                <a:spcPct val="115000"/>
              </a:lnSpc>
              <a:spcBef>
                <a:spcPct val="0"/>
              </a:spcBef>
            </a:pPr>
            <a:r>
              <a:rPr lang="zh-CN" altLang="en-US" sz="2400">
                <a:ea typeface="楷体_GB2312"/>
                <a:sym typeface="Symbol" panose="05050102010706020507" pitchFamily="18" charset="2"/>
              </a:rPr>
              <a:t>在电场线与曲面相切的地方</a:t>
            </a:r>
            <a:r>
              <a:rPr lang="zh-CN" altLang="en-US" sz="2400" i="1">
                <a:ea typeface="楷体_GB2312"/>
                <a:sym typeface="Symbol" panose="05050102010706020507" pitchFamily="18" charset="2"/>
              </a:rPr>
              <a:t></a:t>
            </a:r>
            <a:r>
              <a:rPr lang="en-US" altLang="zh-CN" sz="2400" i="1">
                <a:ea typeface="楷体_GB2312"/>
                <a:sym typeface="Symbol" panose="05050102010706020507" pitchFamily="18" charset="2"/>
              </a:rPr>
              <a:t>=</a:t>
            </a:r>
            <a:r>
              <a:rPr lang="en-US" altLang="zh-CN" sz="2400">
                <a:ea typeface="楷体_GB2312"/>
              </a:rPr>
              <a:t>0,cos</a:t>
            </a:r>
            <a:r>
              <a:rPr lang="en-US" altLang="zh-CN" sz="2400" i="1">
                <a:ea typeface="楷体_GB2312"/>
                <a:sym typeface="Symbol" panose="05050102010706020507" pitchFamily="18" charset="2"/>
              </a:rPr>
              <a:t>=</a:t>
            </a:r>
            <a:r>
              <a:rPr lang="en-US" altLang="zh-CN" sz="2400">
                <a:ea typeface="楷体_GB2312"/>
                <a:sym typeface="Symbol" panose="05050102010706020507" pitchFamily="18" charset="2"/>
              </a:rPr>
              <a:t>0, </a:t>
            </a:r>
            <a:r>
              <a:rPr lang="zh-CN" altLang="en-US" sz="2400">
                <a:ea typeface="楷体_GB2312"/>
                <a:sym typeface="Symbol" panose="05050102010706020507" pitchFamily="18" charset="2"/>
              </a:rPr>
              <a:t>如</a:t>
            </a:r>
            <a:r>
              <a:rPr lang="en-US" altLang="zh-CN" sz="2400">
                <a:ea typeface="楷体_GB2312"/>
                <a:sym typeface="Symbol" panose="05050102010706020507" pitchFamily="18" charset="2"/>
              </a:rPr>
              <a:t>C</a:t>
            </a:r>
            <a:r>
              <a:rPr lang="zh-CN" altLang="en-US" sz="2400">
                <a:ea typeface="楷体_GB2312"/>
                <a:sym typeface="Symbol" panose="05050102010706020507" pitchFamily="18" charset="2"/>
              </a:rPr>
              <a:t>点</a:t>
            </a:r>
            <a:endParaRPr lang="en-US" altLang="en-US" sz="2400">
              <a:ea typeface="楷体_GB2312"/>
              <a:sym typeface="Symbol" panose="05050102010706020507" pitchFamily="18" charset="2"/>
            </a:endParaRPr>
          </a:p>
        </p:txBody>
      </p:sp>
      <p:grpSp>
        <p:nvGrpSpPr>
          <p:cNvPr id="162828" name="Group 12"/>
          <p:cNvGrpSpPr>
            <a:grpSpLocks/>
          </p:cNvGrpSpPr>
          <p:nvPr/>
        </p:nvGrpSpPr>
        <p:grpSpPr bwMode="auto">
          <a:xfrm>
            <a:off x="5943600" y="69850"/>
            <a:ext cx="2438400" cy="2368550"/>
            <a:chOff x="3504" y="0"/>
            <a:chExt cx="1536" cy="1492"/>
          </a:xfrm>
        </p:grpSpPr>
        <p:sp>
          <p:nvSpPr>
            <p:cNvPr id="72720" name="Rectangle 13"/>
            <p:cNvSpPr>
              <a:spLocks noChangeArrowheads="1"/>
            </p:cNvSpPr>
            <p:nvPr/>
          </p:nvSpPr>
          <p:spPr bwMode="auto">
            <a:xfrm>
              <a:off x="3504" y="0"/>
              <a:ext cx="1536" cy="1440"/>
            </a:xfrm>
            <a:prstGeom prst="rect">
              <a:avLst/>
            </a:prstGeom>
            <a:solidFill>
              <a:srgbClr val="00FFFF"/>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pSp>
          <p:nvGrpSpPr>
            <p:cNvPr id="72721" name="Group 14"/>
            <p:cNvGrpSpPr>
              <a:grpSpLocks/>
            </p:cNvGrpSpPr>
            <p:nvPr/>
          </p:nvGrpSpPr>
          <p:grpSpPr bwMode="auto">
            <a:xfrm>
              <a:off x="3504" y="0"/>
              <a:ext cx="1502" cy="1492"/>
              <a:chOff x="3934" y="465"/>
              <a:chExt cx="1502" cy="1492"/>
            </a:xfrm>
          </p:grpSpPr>
          <p:graphicFrame>
            <p:nvGraphicFramePr>
              <p:cNvPr id="72722" name="Object 15"/>
              <p:cNvGraphicFramePr>
                <a:graphicFrameLocks noChangeAspect="1"/>
              </p:cNvGraphicFramePr>
              <p:nvPr/>
            </p:nvGraphicFramePr>
            <p:xfrm>
              <a:off x="4887" y="732"/>
              <a:ext cx="121" cy="168"/>
            </p:xfrm>
            <a:graphic>
              <a:graphicData uri="http://schemas.openxmlformats.org/presentationml/2006/ole">
                <mc:AlternateContent xmlns:mc="http://schemas.openxmlformats.org/markup-compatibility/2006">
                  <mc:Choice xmlns:v="urn:schemas-microsoft-com:vml" Requires="v">
                    <p:oleObj spid="_x0000_s170805" name="公式" r:id="rId10" imgW="203112" imgH="279279" progId="Equation.3">
                      <p:embed/>
                    </p:oleObj>
                  </mc:Choice>
                  <mc:Fallback>
                    <p:oleObj name="公式" r:id="rId10" imgW="203112" imgH="279279" progId="Equation.3">
                      <p:embed/>
                      <p:pic>
                        <p:nvPicPr>
                          <p:cNvPr id="72722"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87" y="732"/>
                            <a:ext cx="121" cy="1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723" name="Freeform 16"/>
              <p:cNvSpPr>
                <a:spLocks/>
              </p:cNvSpPr>
              <p:nvPr/>
            </p:nvSpPr>
            <p:spPr bwMode="auto">
              <a:xfrm>
                <a:off x="4077" y="492"/>
                <a:ext cx="1030" cy="1216"/>
              </a:xfrm>
              <a:custGeom>
                <a:avLst/>
                <a:gdLst>
                  <a:gd name="T0" fmla="*/ 24 w 1030"/>
                  <a:gd name="T1" fmla="*/ 420 h 1216"/>
                  <a:gd name="T2" fmla="*/ 146 w 1030"/>
                  <a:gd name="T3" fmla="*/ 153 h 1216"/>
                  <a:gd name="T4" fmla="*/ 413 w 1030"/>
                  <a:gd name="T5" fmla="*/ 31 h 1216"/>
                  <a:gd name="T6" fmla="*/ 724 w 1030"/>
                  <a:gd name="T7" fmla="*/ 342 h 1216"/>
                  <a:gd name="T8" fmla="*/ 924 w 1030"/>
                  <a:gd name="T9" fmla="*/ 631 h 1216"/>
                  <a:gd name="T10" fmla="*/ 1002 w 1030"/>
                  <a:gd name="T11" fmla="*/ 887 h 1216"/>
                  <a:gd name="T12" fmla="*/ 757 w 1030"/>
                  <a:gd name="T13" fmla="*/ 975 h 1216"/>
                  <a:gd name="T14" fmla="*/ 557 w 1030"/>
                  <a:gd name="T15" fmla="*/ 1175 h 1216"/>
                  <a:gd name="T16" fmla="*/ 546 w 1030"/>
                  <a:gd name="T17" fmla="*/ 1175 h 1216"/>
                  <a:gd name="T18" fmla="*/ 446 w 1030"/>
                  <a:gd name="T19" fmla="*/ 931 h 1216"/>
                  <a:gd name="T20" fmla="*/ 290 w 1030"/>
                  <a:gd name="T21" fmla="*/ 709 h 1216"/>
                  <a:gd name="T22" fmla="*/ 24 w 1030"/>
                  <a:gd name="T23" fmla="*/ 420 h 12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30" h="1216">
                    <a:moveTo>
                      <a:pt x="24" y="420"/>
                    </a:moveTo>
                    <a:cubicBezTo>
                      <a:pt x="0" y="327"/>
                      <a:pt x="81" y="218"/>
                      <a:pt x="146" y="153"/>
                    </a:cubicBezTo>
                    <a:cubicBezTo>
                      <a:pt x="211" y="88"/>
                      <a:pt x="317" y="0"/>
                      <a:pt x="413" y="31"/>
                    </a:cubicBezTo>
                    <a:cubicBezTo>
                      <a:pt x="509" y="62"/>
                      <a:pt x="639" y="242"/>
                      <a:pt x="724" y="342"/>
                    </a:cubicBezTo>
                    <a:cubicBezTo>
                      <a:pt x="809" y="442"/>
                      <a:pt x="878" y="540"/>
                      <a:pt x="924" y="631"/>
                    </a:cubicBezTo>
                    <a:cubicBezTo>
                      <a:pt x="970" y="722"/>
                      <a:pt x="1030" y="830"/>
                      <a:pt x="1002" y="887"/>
                    </a:cubicBezTo>
                    <a:cubicBezTo>
                      <a:pt x="974" y="944"/>
                      <a:pt x="831" y="927"/>
                      <a:pt x="757" y="975"/>
                    </a:cubicBezTo>
                    <a:cubicBezTo>
                      <a:pt x="683" y="1023"/>
                      <a:pt x="592" y="1142"/>
                      <a:pt x="557" y="1175"/>
                    </a:cubicBezTo>
                    <a:cubicBezTo>
                      <a:pt x="522" y="1208"/>
                      <a:pt x="564" y="1216"/>
                      <a:pt x="546" y="1175"/>
                    </a:cubicBezTo>
                    <a:cubicBezTo>
                      <a:pt x="528" y="1134"/>
                      <a:pt x="489" y="1009"/>
                      <a:pt x="446" y="931"/>
                    </a:cubicBezTo>
                    <a:cubicBezTo>
                      <a:pt x="403" y="853"/>
                      <a:pt x="360" y="794"/>
                      <a:pt x="290" y="709"/>
                    </a:cubicBezTo>
                    <a:cubicBezTo>
                      <a:pt x="220" y="624"/>
                      <a:pt x="48" y="513"/>
                      <a:pt x="24" y="420"/>
                    </a:cubicBezTo>
                    <a:close/>
                  </a:path>
                </a:pathLst>
              </a:custGeom>
              <a:solidFill>
                <a:srgbClr val="FFFFC1"/>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4" name="Oval 17" descr="浅色上对角线"/>
              <p:cNvSpPr>
                <a:spLocks noChangeArrowheads="1"/>
              </p:cNvSpPr>
              <p:nvPr/>
            </p:nvSpPr>
            <p:spPr bwMode="auto">
              <a:xfrm rot="-1689800">
                <a:off x="4560" y="928"/>
                <a:ext cx="122" cy="189"/>
              </a:xfrm>
              <a:prstGeom prst="ellipse">
                <a:avLst/>
              </a:prstGeom>
              <a:pattFill prst="ltUpDiag">
                <a:fgClr>
                  <a:schemeClr val="tx1"/>
                </a:fgClr>
                <a:bgClr>
                  <a:schemeClr val="bg1"/>
                </a:bgClr>
              </a:patt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72725" name="Arc 18"/>
              <p:cNvSpPr>
                <a:spLocks/>
              </p:cNvSpPr>
              <p:nvPr/>
            </p:nvSpPr>
            <p:spPr bwMode="auto">
              <a:xfrm rot="-1631349">
                <a:off x="4467" y="501"/>
                <a:ext cx="826" cy="576"/>
              </a:xfrm>
              <a:custGeom>
                <a:avLst/>
                <a:gdLst>
                  <a:gd name="T0" fmla="*/ 0 w 17264"/>
                  <a:gd name="T1" fmla="*/ 0 h 21600"/>
                  <a:gd name="T2" fmla="*/ 0 w 17264"/>
                  <a:gd name="T3" fmla="*/ 0 h 21600"/>
                  <a:gd name="T4" fmla="*/ 0 w 17264"/>
                  <a:gd name="T5" fmla="*/ 0 h 21600"/>
                  <a:gd name="T6" fmla="*/ 0 60000 65536"/>
                  <a:gd name="T7" fmla="*/ 0 60000 65536"/>
                  <a:gd name="T8" fmla="*/ 0 60000 65536"/>
                </a:gdLst>
                <a:ahLst/>
                <a:cxnLst>
                  <a:cxn ang="T6">
                    <a:pos x="T0" y="T1"/>
                  </a:cxn>
                  <a:cxn ang="T7">
                    <a:pos x="T2" y="T3"/>
                  </a:cxn>
                  <a:cxn ang="T8">
                    <a:pos x="T4" y="T5"/>
                  </a:cxn>
                </a:cxnLst>
                <a:rect l="0" t="0" r="r" b="b"/>
                <a:pathLst>
                  <a:path w="17264" h="21600" fill="none" extrusionOk="0">
                    <a:moveTo>
                      <a:pt x="-1" y="0"/>
                    </a:moveTo>
                    <a:cubicBezTo>
                      <a:pt x="6789" y="0"/>
                      <a:pt x="13183" y="3192"/>
                      <a:pt x="17263" y="8618"/>
                    </a:cubicBezTo>
                  </a:path>
                  <a:path w="17264" h="21600" stroke="0" extrusionOk="0">
                    <a:moveTo>
                      <a:pt x="-1" y="0"/>
                    </a:moveTo>
                    <a:cubicBezTo>
                      <a:pt x="6789" y="0"/>
                      <a:pt x="13183" y="3192"/>
                      <a:pt x="17263" y="8618"/>
                    </a:cubicBezTo>
                    <a:lnTo>
                      <a:pt x="0" y="21600"/>
                    </a:lnTo>
                    <a:lnTo>
                      <a:pt x="-1" y="0"/>
                    </a:lnTo>
                    <a:close/>
                  </a:path>
                </a:pathLst>
              </a:custGeom>
              <a:noFill/>
              <a:ln w="19050">
                <a:solidFill>
                  <a:schemeClr val="tx1"/>
                </a:solidFill>
                <a:round/>
                <a:headEnd/>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6" name="Line 19"/>
              <p:cNvSpPr>
                <a:spLocks noChangeShapeType="1"/>
              </p:cNvSpPr>
              <p:nvPr/>
            </p:nvSpPr>
            <p:spPr bwMode="auto">
              <a:xfrm flipV="1">
                <a:off x="4623" y="814"/>
                <a:ext cx="515" cy="220"/>
              </a:xfrm>
              <a:prstGeom prst="line">
                <a:avLst/>
              </a:prstGeom>
              <a:noFill/>
              <a:ln w="19050">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7" name="Line 20"/>
              <p:cNvSpPr>
                <a:spLocks noChangeShapeType="1"/>
              </p:cNvSpPr>
              <p:nvPr/>
            </p:nvSpPr>
            <p:spPr bwMode="auto">
              <a:xfrm flipV="1">
                <a:off x="4623" y="590"/>
                <a:ext cx="356" cy="444"/>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8" name="Arc 21"/>
              <p:cNvSpPr>
                <a:spLocks/>
              </p:cNvSpPr>
              <p:nvPr/>
            </p:nvSpPr>
            <p:spPr bwMode="auto">
              <a:xfrm rot="-1416357">
                <a:off x="4668" y="659"/>
                <a:ext cx="518" cy="576"/>
              </a:xfrm>
              <a:custGeom>
                <a:avLst/>
                <a:gdLst>
                  <a:gd name="T0" fmla="*/ 0 w 16201"/>
                  <a:gd name="T1" fmla="*/ 0 h 21600"/>
                  <a:gd name="T2" fmla="*/ 0 w 16201"/>
                  <a:gd name="T3" fmla="*/ 0 h 21600"/>
                  <a:gd name="T4" fmla="*/ 0 w 16201"/>
                  <a:gd name="T5" fmla="*/ 0 h 21600"/>
                  <a:gd name="T6" fmla="*/ 0 60000 65536"/>
                  <a:gd name="T7" fmla="*/ 0 60000 65536"/>
                  <a:gd name="T8" fmla="*/ 0 60000 65536"/>
                </a:gdLst>
                <a:ahLst/>
                <a:cxnLst>
                  <a:cxn ang="T6">
                    <a:pos x="T0" y="T1"/>
                  </a:cxn>
                  <a:cxn ang="T7">
                    <a:pos x="T2" y="T3"/>
                  </a:cxn>
                  <a:cxn ang="T8">
                    <a:pos x="T4" y="T5"/>
                  </a:cxn>
                </a:cxnLst>
                <a:rect l="0" t="0" r="r" b="b"/>
                <a:pathLst>
                  <a:path w="16201" h="21600" fill="none" extrusionOk="0">
                    <a:moveTo>
                      <a:pt x="-1" y="0"/>
                    </a:moveTo>
                    <a:cubicBezTo>
                      <a:pt x="6199" y="0"/>
                      <a:pt x="12100" y="2663"/>
                      <a:pt x="16200" y="7314"/>
                    </a:cubicBezTo>
                  </a:path>
                  <a:path w="16201" h="21600" stroke="0" extrusionOk="0">
                    <a:moveTo>
                      <a:pt x="-1" y="0"/>
                    </a:moveTo>
                    <a:cubicBezTo>
                      <a:pt x="6199" y="0"/>
                      <a:pt x="12100" y="2663"/>
                      <a:pt x="16200" y="7314"/>
                    </a:cubicBezTo>
                    <a:lnTo>
                      <a:pt x="0" y="21600"/>
                    </a:lnTo>
                    <a:lnTo>
                      <a:pt x="-1" y="0"/>
                    </a:lnTo>
                    <a:close/>
                  </a:path>
                </a:pathLst>
              </a:custGeom>
              <a:noFill/>
              <a:ln w="19050">
                <a:solidFill>
                  <a:schemeClr val="tx1"/>
                </a:solidFill>
                <a:round/>
                <a:headEnd/>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9" name="Arc 22"/>
              <p:cNvSpPr>
                <a:spLocks/>
              </p:cNvSpPr>
              <p:nvPr/>
            </p:nvSpPr>
            <p:spPr bwMode="auto">
              <a:xfrm rot="-1067934">
                <a:off x="4711" y="929"/>
                <a:ext cx="557" cy="576"/>
              </a:xfrm>
              <a:custGeom>
                <a:avLst/>
                <a:gdLst>
                  <a:gd name="T0" fmla="*/ 0 w 16201"/>
                  <a:gd name="T1" fmla="*/ 0 h 21600"/>
                  <a:gd name="T2" fmla="*/ 0 w 16201"/>
                  <a:gd name="T3" fmla="*/ 0 h 21600"/>
                  <a:gd name="T4" fmla="*/ 0 w 16201"/>
                  <a:gd name="T5" fmla="*/ 0 h 21600"/>
                  <a:gd name="T6" fmla="*/ 0 60000 65536"/>
                  <a:gd name="T7" fmla="*/ 0 60000 65536"/>
                  <a:gd name="T8" fmla="*/ 0 60000 65536"/>
                </a:gdLst>
                <a:ahLst/>
                <a:cxnLst>
                  <a:cxn ang="T6">
                    <a:pos x="T0" y="T1"/>
                  </a:cxn>
                  <a:cxn ang="T7">
                    <a:pos x="T2" y="T3"/>
                  </a:cxn>
                  <a:cxn ang="T8">
                    <a:pos x="T4" y="T5"/>
                  </a:cxn>
                </a:cxnLst>
                <a:rect l="0" t="0" r="r" b="b"/>
                <a:pathLst>
                  <a:path w="16201" h="21600" fill="none" extrusionOk="0">
                    <a:moveTo>
                      <a:pt x="-1" y="0"/>
                    </a:moveTo>
                    <a:cubicBezTo>
                      <a:pt x="6199" y="0"/>
                      <a:pt x="12100" y="2663"/>
                      <a:pt x="16200" y="7314"/>
                    </a:cubicBezTo>
                  </a:path>
                  <a:path w="16201" h="21600" stroke="0" extrusionOk="0">
                    <a:moveTo>
                      <a:pt x="-1" y="0"/>
                    </a:moveTo>
                    <a:cubicBezTo>
                      <a:pt x="6199" y="0"/>
                      <a:pt x="12100" y="2663"/>
                      <a:pt x="16200" y="7314"/>
                    </a:cubicBezTo>
                    <a:lnTo>
                      <a:pt x="0" y="21600"/>
                    </a:lnTo>
                    <a:lnTo>
                      <a:pt x="-1" y="0"/>
                    </a:lnTo>
                    <a:close/>
                  </a:path>
                </a:pathLst>
              </a:custGeom>
              <a:noFill/>
              <a:ln w="19050">
                <a:solidFill>
                  <a:schemeClr val="tx1"/>
                </a:solidFill>
                <a:round/>
                <a:headEnd/>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0" name="Arc 23"/>
              <p:cNvSpPr>
                <a:spLocks/>
              </p:cNvSpPr>
              <p:nvPr/>
            </p:nvSpPr>
            <p:spPr bwMode="auto">
              <a:xfrm rot="-437348">
                <a:off x="4757" y="1070"/>
                <a:ext cx="518" cy="576"/>
              </a:xfrm>
              <a:custGeom>
                <a:avLst/>
                <a:gdLst>
                  <a:gd name="T0" fmla="*/ 0 w 16201"/>
                  <a:gd name="T1" fmla="*/ 0 h 21600"/>
                  <a:gd name="T2" fmla="*/ 0 w 16201"/>
                  <a:gd name="T3" fmla="*/ 0 h 21600"/>
                  <a:gd name="T4" fmla="*/ 0 w 16201"/>
                  <a:gd name="T5" fmla="*/ 0 h 21600"/>
                  <a:gd name="T6" fmla="*/ 0 60000 65536"/>
                  <a:gd name="T7" fmla="*/ 0 60000 65536"/>
                  <a:gd name="T8" fmla="*/ 0 60000 65536"/>
                </a:gdLst>
                <a:ahLst/>
                <a:cxnLst>
                  <a:cxn ang="T6">
                    <a:pos x="T0" y="T1"/>
                  </a:cxn>
                  <a:cxn ang="T7">
                    <a:pos x="T2" y="T3"/>
                  </a:cxn>
                  <a:cxn ang="T8">
                    <a:pos x="T4" y="T5"/>
                  </a:cxn>
                </a:cxnLst>
                <a:rect l="0" t="0" r="r" b="b"/>
                <a:pathLst>
                  <a:path w="16201" h="21600" fill="none" extrusionOk="0">
                    <a:moveTo>
                      <a:pt x="-1" y="0"/>
                    </a:moveTo>
                    <a:cubicBezTo>
                      <a:pt x="6199" y="0"/>
                      <a:pt x="12100" y="2663"/>
                      <a:pt x="16200" y="7314"/>
                    </a:cubicBezTo>
                  </a:path>
                  <a:path w="16201" h="21600" stroke="0" extrusionOk="0">
                    <a:moveTo>
                      <a:pt x="-1" y="0"/>
                    </a:moveTo>
                    <a:cubicBezTo>
                      <a:pt x="6199" y="0"/>
                      <a:pt x="12100" y="2663"/>
                      <a:pt x="16200" y="7314"/>
                    </a:cubicBezTo>
                    <a:lnTo>
                      <a:pt x="0" y="21600"/>
                    </a:lnTo>
                    <a:lnTo>
                      <a:pt x="-1" y="0"/>
                    </a:lnTo>
                    <a:close/>
                  </a:path>
                </a:pathLst>
              </a:custGeom>
              <a:noFill/>
              <a:ln w="19050">
                <a:solidFill>
                  <a:schemeClr val="tx1"/>
                </a:solidFill>
                <a:round/>
                <a:headEnd/>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1" name="Arc 24"/>
              <p:cNvSpPr>
                <a:spLocks/>
              </p:cNvSpPr>
              <p:nvPr/>
            </p:nvSpPr>
            <p:spPr bwMode="auto">
              <a:xfrm rot="476437">
                <a:off x="4746" y="1237"/>
                <a:ext cx="518" cy="576"/>
              </a:xfrm>
              <a:custGeom>
                <a:avLst/>
                <a:gdLst>
                  <a:gd name="T0" fmla="*/ 0 w 16201"/>
                  <a:gd name="T1" fmla="*/ 0 h 21600"/>
                  <a:gd name="T2" fmla="*/ 0 w 16201"/>
                  <a:gd name="T3" fmla="*/ 0 h 21600"/>
                  <a:gd name="T4" fmla="*/ 0 w 16201"/>
                  <a:gd name="T5" fmla="*/ 0 h 21600"/>
                  <a:gd name="T6" fmla="*/ 0 60000 65536"/>
                  <a:gd name="T7" fmla="*/ 0 60000 65536"/>
                  <a:gd name="T8" fmla="*/ 0 60000 65536"/>
                </a:gdLst>
                <a:ahLst/>
                <a:cxnLst>
                  <a:cxn ang="T6">
                    <a:pos x="T0" y="T1"/>
                  </a:cxn>
                  <a:cxn ang="T7">
                    <a:pos x="T2" y="T3"/>
                  </a:cxn>
                  <a:cxn ang="T8">
                    <a:pos x="T4" y="T5"/>
                  </a:cxn>
                </a:cxnLst>
                <a:rect l="0" t="0" r="r" b="b"/>
                <a:pathLst>
                  <a:path w="16201" h="21600" fill="none" extrusionOk="0">
                    <a:moveTo>
                      <a:pt x="-1" y="0"/>
                    </a:moveTo>
                    <a:cubicBezTo>
                      <a:pt x="6199" y="0"/>
                      <a:pt x="12100" y="2663"/>
                      <a:pt x="16200" y="7314"/>
                    </a:cubicBezTo>
                  </a:path>
                  <a:path w="16201" h="21600" stroke="0" extrusionOk="0">
                    <a:moveTo>
                      <a:pt x="-1" y="0"/>
                    </a:moveTo>
                    <a:cubicBezTo>
                      <a:pt x="6199" y="0"/>
                      <a:pt x="12100" y="2663"/>
                      <a:pt x="16200" y="7314"/>
                    </a:cubicBezTo>
                    <a:lnTo>
                      <a:pt x="0" y="21600"/>
                    </a:lnTo>
                    <a:lnTo>
                      <a:pt x="-1" y="0"/>
                    </a:lnTo>
                    <a:close/>
                  </a:path>
                </a:pathLst>
              </a:custGeom>
              <a:noFill/>
              <a:ln w="19050">
                <a:solidFill>
                  <a:schemeClr val="tx1"/>
                </a:solidFill>
                <a:round/>
                <a:headEnd/>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2" name="Arc 25"/>
              <p:cNvSpPr>
                <a:spLocks/>
              </p:cNvSpPr>
              <p:nvPr/>
            </p:nvSpPr>
            <p:spPr bwMode="auto">
              <a:xfrm rot="-2859880">
                <a:off x="4126" y="872"/>
                <a:ext cx="191" cy="576"/>
              </a:xfrm>
              <a:custGeom>
                <a:avLst/>
                <a:gdLst>
                  <a:gd name="T0" fmla="*/ 0 w 7158"/>
                  <a:gd name="T1" fmla="*/ 0 h 21600"/>
                  <a:gd name="T2" fmla="*/ 0 w 7158"/>
                  <a:gd name="T3" fmla="*/ 0 h 21600"/>
                  <a:gd name="T4" fmla="*/ 0 w 7158"/>
                  <a:gd name="T5" fmla="*/ 0 h 21600"/>
                  <a:gd name="T6" fmla="*/ 0 60000 65536"/>
                  <a:gd name="T7" fmla="*/ 0 60000 65536"/>
                  <a:gd name="T8" fmla="*/ 0 60000 65536"/>
                </a:gdLst>
                <a:ahLst/>
                <a:cxnLst>
                  <a:cxn ang="T6">
                    <a:pos x="T0" y="T1"/>
                  </a:cxn>
                  <a:cxn ang="T7">
                    <a:pos x="T2" y="T3"/>
                  </a:cxn>
                  <a:cxn ang="T8">
                    <a:pos x="T4" y="T5"/>
                  </a:cxn>
                </a:cxnLst>
                <a:rect l="0" t="0" r="r" b="b"/>
                <a:pathLst>
                  <a:path w="7158" h="21600" fill="none" extrusionOk="0">
                    <a:moveTo>
                      <a:pt x="-1" y="0"/>
                    </a:moveTo>
                    <a:cubicBezTo>
                      <a:pt x="2437" y="0"/>
                      <a:pt x="4858" y="412"/>
                      <a:pt x="7158" y="1220"/>
                    </a:cubicBezTo>
                  </a:path>
                  <a:path w="7158" h="21600" stroke="0" extrusionOk="0">
                    <a:moveTo>
                      <a:pt x="-1" y="0"/>
                    </a:moveTo>
                    <a:cubicBezTo>
                      <a:pt x="2437" y="0"/>
                      <a:pt x="4858" y="412"/>
                      <a:pt x="7158" y="1220"/>
                    </a:cubicBezTo>
                    <a:lnTo>
                      <a:pt x="0" y="21600"/>
                    </a:lnTo>
                    <a:lnTo>
                      <a:pt x="-1" y="0"/>
                    </a:lnTo>
                    <a:close/>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3" name="Arc 26"/>
              <p:cNvSpPr>
                <a:spLocks/>
              </p:cNvSpPr>
              <p:nvPr/>
            </p:nvSpPr>
            <p:spPr bwMode="auto">
              <a:xfrm rot="-2400362">
                <a:off x="4154" y="992"/>
                <a:ext cx="221" cy="576"/>
              </a:xfrm>
              <a:custGeom>
                <a:avLst/>
                <a:gdLst>
                  <a:gd name="T0" fmla="*/ 0 w 8283"/>
                  <a:gd name="T1" fmla="*/ 0 h 21600"/>
                  <a:gd name="T2" fmla="*/ 0 w 8283"/>
                  <a:gd name="T3" fmla="*/ 0 h 21600"/>
                  <a:gd name="T4" fmla="*/ 0 w 8283"/>
                  <a:gd name="T5" fmla="*/ 0 h 21600"/>
                  <a:gd name="T6" fmla="*/ 0 60000 65536"/>
                  <a:gd name="T7" fmla="*/ 0 60000 65536"/>
                  <a:gd name="T8" fmla="*/ 0 60000 65536"/>
                </a:gdLst>
                <a:ahLst/>
                <a:cxnLst>
                  <a:cxn ang="T6">
                    <a:pos x="T0" y="T1"/>
                  </a:cxn>
                  <a:cxn ang="T7">
                    <a:pos x="T2" y="T3"/>
                  </a:cxn>
                  <a:cxn ang="T8">
                    <a:pos x="T4" y="T5"/>
                  </a:cxn>
                </a:cxnLst>
                <a:rect l="0" t="0" r="r" b="b"/>
                <a:pathLst>
                  <a:path w="8283" h="21600" fill="none" extrusionOk="0">
                    <a:moveTo>
                      <a:pt x="-1" y="0"/>
                    </a:moveTo>
                    <a:cubicBezTo>
                      <a:pt x="2842" y="0"/>
                      <a:pt x="5657" y="561"/>
                      <a:pt x="8282" y="1651"/>
                    </a:cubicBezTo>
                  </a:path>
                  <a:path w="8283" h="21600" stroke="0" extrusionOk="0">
                    <a:moveTo>
                      <a:pt x="-1" y="0"/>
                    </a:moveTo>
                    <a:cubicBezTo>
                      <a:pt x="2842" y="0"/>
                      <a:pt x="5657" y="561"/>
                      <a:pt x="8282" y="1651"/>
                    </a:cubicBezTo>
                    <a:lnTo>
                      <a:pt x="0" y="21600"/>
                    </a:lnTo>
                    <a:lnTo>
                      <a:pt x="-1" y="0"/>
                    </a:lnTo>
                    <a:close/>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4" name="Arc 27"/>
              <p:cNvSpPr>
                <a:spLocks/>
              </p:cNvSpPr>
              <p:nvPr/>
            </p:nvSpPr>
            <p:spPr bwMode="auto">
              <a:xfrm rot="-2507608">
                <a:off x="4265" y="1103"/>
                <a:ext cx="221" cy="576"/>
              </a:xfrm>
              <a:custGeom>
                <a:avLst/>
                <a:gdLst>
                  <a:gd name="T0" fmla="*/ 0 w 8283"/>
                  <a:gd name="T1" fmla="*/ 0 h 21600"/>
                  <a:gd name="T2" fmla="*/ 0 w 8283"/>
                  <a:gd name="T3" fmla="*/ 0 h 21600"/>
                  <a:gd name="T4" fmla="*/ 0 w 8283"/>
                  <a:gd name="T5" fmla="*/ 0 h 21600"/>
                  <a:gd name="T6" fmla="*/ 0 60000 65536"/>
                  <a:gd name="T7" fmla="*/ 0 60000 65536"/>
                  <a:gd name="T8" fmla="*/ 0 60000 65536"/>
                </a:gdLst>
                <a:ahLst/>
                <a:cxnLst>
                  <a:cxn ang="T6">
                    <a:pos x="T0" y="T1"/>
                  </a:cxn>
                  <a:cxn ang="T7">
                    <a:pos x="T2" y="T3"/>
                  </a:cxn>
                  <a:cxn ang="T8">
                    <a:pos x="T4" y="T5"/>
                  </a:cxn>
                </a:cxnLst>
                <a:rect l="0" t="0" r="r" b="b"/>
                <a:pathLst>
                  <a:path w="8283" h="21600" fill="none" extrusionOk="0">
                    <a:moveTo>
                      <a:pt x="-1" y="0"/>
                    </a:moveTo>
                    <a:cubicBezTo>
                      <a:pt x="2842" y="0"/>
                      <a:pt x="5657" y="561"/>
                      <a:pt x="8282" y="1651"/>
                    </a:cubicBezTo>
                  </a:path>
                  <a:path w="8283" h="21600" stroke="0" extrusionOk="0">
                    <a:moveTo>
                      <a:pt x="-1" y="0"/>
                    </a:moveTo>
                    <a:cubicBezTo>
                      <a:pt x="2842" y="0"/>
                      <a:pt x="5657" y="561"/>
                      <a:pt x="8282" y="1651"/>
                    </a:cubicBezTo>
                    <a:lnTo>
                      <a:pt x="0" y="21600"/>
                    </a:lnTo>
                    <a:lnTo>
                      <a:pt x="-1" y="0"/>
                    </a:lnTo>
                    <a:close/>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5" name="Arc 28"/>
              <p:cNvSpPr>
                <a:spLocks/>
              </p:cNvSpPr>
              <p:nvPr/>
            </p:nvSpPr>
            <p:spPr bwMode="auto">
              <a:xfrm rot="-2311298">
                <a:off x="4308" y="1186"/>
                <a:ext cx="241" cy="576"/>
              </a:xfrm>
              <a:custGeom>
                <a:avLst/>
                <a:gdLst>
                  <a:gd name="T0" fmla="*/ 0 w 9022"/>
                  <a:gd name="T1" fmla="*/ 0 h 21600"/>
                  <a:gd name="T2" fmla="*/ 0 w 9022"/>
                  <a:gd name="T3" fmla="*/ 0 h 21600"/>
                  <a:gd name="T4" fmla="*/ 0 w 9022"/>
                  <a:gd name="T5" fmla="*/ 0 h 21600"/>
                  <a:gd name="T6" fmla="*/ 0 60000 65536"/>
                  <a:gd name="T7" fmla="*/ 0 60000 65536"/>
                  <a:gd name="T8" fmla="*/ 0 60000 65536"/>
                </a:gdLst>
                <a:ahLst/>
                <a:cxnLst>
                  <a:cxn ang="T6">
                    <a:pos x="T0" y="T1"/>
                  </a:cxn>
                  <a:cxn ang="T7">
                    <a:pos x="T2" y="T3"/>
                  </a:cxn>
                  <a:cxn ang="T8">
                    <a:pos x="T4" y="T5"/>
                  </a:cxn>
                </a:cxnLst>
                <a:rect l="0" t="0" r="r" b="b"/>
                <a:pathLst>
                  <a:path w="9022" h="21600" fill="none" extrusionOk="0">
                    <a:moveTo>
                      <a:pt x="-1" y="0"/>
                    </a:moveTo>
                    <a:cubicBezTo>
                      <a:pt x="3114" y="0"/>
                      <a:pt x="6192" y="673"/>
                      <a:pt x="9021" y="1974"/>
                    </a:cubicBezTo>
                  </a:path>
                  <a:path w="9022" h="21600" stroke="0" extrusionOk="0">
                    <a:moveTo>
                      <a:pt x="-1" y="0"/>
                    </a:moveTo>
                    <a:cubicBezTo>
                      <a:pt x="3114" y="0"/>
                      <a:pt x="6192" y="673"/>
                      <a:pt x="9021" y="1974"/>
                    </a:cubicBezTo>
                    <a:lnTo>
                      <a:pt x="0" y="21600"/>
                    </a:lnTo>
                    <a:lnTo>
                      <a:pt x="-1" y="0"/>
                    </a:lnTo>
                    <a:close/>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6" name="Arc 29"/>
              <p:cNvSpPr>
                <a:spLocks/>
              </p:cNvSpPr>
              <p:nvPr/>
            </p:nvSpPr>
            <p:spPr bwMode="auto">
              <a:xfrm rot="-1863434">
                <a:off x="4347" y="1301"/>
                <a:ext cx="242" cy="553"/>
              </a:xfrm>
              <a:custGeom>
                <a:avLst/>
                <a:gdLst>
                  <a:gd name="T0" fmla="*/ 0 w 9376"/>
                  <a:gd name="T1" fmla="*/ 0 h 21600"/>
                  <a:gd name="T2" fmla="*/ 0 w 9376"/>
                  <a:gd name="T3" fmla="*/ 0 h 21600"/>
                  <a:gd name="T4" fmla="*/ 0 w 9376"/>
                  <a:gd name="T5" fmla="*/ 0 h 21600"/>
                  <a:gd name="T6" fmla="*/ 0 60000 65536"/>
                  <a:gd name="T7" fmla="*/ 0 60000 65536"/>
                  <a:gd name="T8" fmla="*/ 0 60000 65536"/>
                </a:gdLst>
                <a:ahLst/>
                <a:cxnLst>
                  <a:cxn ang="T6">
                    <a:pos x="T0" y="T1"/>
                  </a:cxn>
                  <a:cxn ang="T7">
                    <a:pos x="T2" y="T3"/>
                  </a:cxn>
                  <a:cxn ang="T8">
                    <a:pos x="T4" y="T5"/>
                  </a:cxn>
                </a:cxnLst>
                <a:rect l="0" t="0" r="r" b="b"/>
                <a:pathLst>
                  <a:path w="9376" h="21600" fill="none" extrusionOk="0">
                    <a:moveTo>
                      <a:pt x="-1" y="0"/>
                    </a:moveTo>
                    <a:cubicBezTo>
                      <a:pt x="3246" y="0"/>
                      <a:pt x="6451" y="731"/>
                      <a:pt x="9375" y="2141"/>
                    </a:cubicBezTo>
                  </a:path>
                  <a:path w="9376" h="21600" stroke="0" extrusionOk="0">
                    <a:moveTo>
                      <a:pt x="-1" y="0"/>
                    </a:moveTo>
                    <a:cubicBezTo>
                      <a:pt x="3246" y="0"/>
                      <a:pt x="6451" y="731"/>
                      <a:pt x="9375" y="2141"/>
                    </a:cubicBezTo>
                    <a:lnTo>
                      <a:pt x="0" y="21600"/>
                    </a:lnTo>
                    <a:lnTo>
                      <a:pt x="-1" y="0"/>
                    </a:lnTo>
                    <a:close/>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7" name="Arc 30"/>
              <p:cNvSpPr>
                <a:spLocks/>
              </p:cNvSpPr>
              <p:nvPr/>
            </p:nvSpPr>
            <p:spPr bwMode="auto">
              <a:xfrm rot="363457">
                <a:off x="4813" y="809"/>
                <a:ext cx="72" cy="9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chemeClr val="tx1"/>
                </a:solidFill>
                <a:round/>
                <a:headEnd type="none" w="sm" len="lg"/>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8" name="Rectangle 31"/>
              <p:cNvSpPr>
                <a:spLocks noChangeArrowheads="1"/>
              </p:cNvSpPr>
              <p:nvPr/>
            </p:nvSpPr>
            <p:spPr bwMode="auto">
              <a:xfrm>
                <a:off x="4642" y="1231"/>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0" i="1">
                    <a:ea typeface="楷体_GB2312"/>
                  </a:rPr>
                  <a:t>S</a:t>
                </a:r>
              </a:p>
            </p:txBody>
          </p:sp>
          <p:sp>
            <p:nvSpPr>
              <p:cNvPr id="72739" name="Rectangle 32"/>
              <p:cNvSpPr>
                <a:spLocks noChangeArrowheads="1"/>
              </p:cNvSpPr>
              <p:nvPr/>
            </p:nvSpPr>
            <p:spPr bwMode="auto">
              <a:xfrm>
                <a:off x="4953" y="465"/>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0" i="1">
                    <a:ea typeface="楷体_GB2312"/>
                  </a:rPr>
                  <a:t>n</a:t>
                </a:r>
              </a:p>
            </p:txBody>
          </p:sp>
          <p:sp>
            <p:nvSpPr>
              <p:cNvPr id="72740" name="Rectangle 33"/>
              <p:cNvSpPr>
                <a:spLocks noChangeArrowheads="1"/>
              </p:cNvSpPr>
              <p:nvPr/>
            </p:nvSpPr>
            <p:spPr bwMode="auto">
              <a:xfrm>
                <a:off x="4231" y="819"/>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0" i="1">
                    <a:ea typeface="楷体_GB2312"/>
                  </a:rPr>
                  <a:t>dS</a:t>
                </a:r>
              </a:p>
            </p:txBody>
          </p:sp>
          <p:sp>
            <p:nvSpPr>
              <p:cNvPr id="72741" name="Text Box 34"/>
              <p:cNvSpPr txBox="1">
                <a:spLocks noChangeArrowheads="1"/>
              </p:cNvSpPr>
              <p:nvPr/>
            </p:nvSpPr>
            <p:spPr bwMode="auto">
              <a:xfrm>
                <a:off x="4655" y="1669"/>
                <a:ext cx="3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endParaRPr lang="zh-CN" altLang="zh-CN" sz="2400" b="0">
                  <a:ea typeface="楷体_GB2312"/>
                </a:endParaRPr>
              </a:p>
            </p:txBody>
          </p:sp>
          <p:graphicFrame>
            <p:nvGraphicFramePr>
              <p:cNvPr id="72742" name="Object 35"/>
              <p:cNvGraphicFramePr>
                <a:graphicFrameLocks noChangeAspect="1"/>
              </p:cNvGraphicFramePr>
              <p:nvPr/>
            </p:nvGraphicFramePr>
            <p:xfrm>
              <a:off x="5277" y="1119"/>
              <a:ext cx="159" cy="191"/>
            </p:xfrm>
            <a:graphic>
              <a:graphicData uri="http://schemas.openxmlformats.org/presentationml/2006/ole">
                <mc:AlternateContent xmlns:mc="http://schemas.openxmlformats.org/markup-compatibility/2006">
                  <mc:Choice xmlns:v="urn:schemas-microsoft-com:vml" Requires="v">
                    <p:oleObj spid="_x0000_s170806" name="公式" r:id="rId12" imgW="253780" imgH="304536" progId="Equation.3">
                      <p:embed/>
                    </p:oleObj>
                  </mc:Choice>
                  <mc:Fallback>
                    <p:oleObj name="公式" r:id="rId12" imgW="253780" imgH="304536" progId="Equation.3">
                      <p:embed/>
                      <p:pic>
                        <p:nvPicPr>
                          <p:cNvPr id="72742" name="Object 3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77" y="1119"/>
                            <a:ext cx="159"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aphicFrame>
        <p:nvGraphicFramePr>
          <p:cNvPr id="162852" name="Object 36"/>
          <p:cNvGraphicFramePr>
            <a:graphicFrameLocks noChangeAspect="1"/>
          </p:cNvGraphicFramePr>
          <p:nvPr/>
        </p:nvGraphicFramePr>
        <p:xfrm>
          <a:off x="3924300" y="4524375"/>
          <a:ext cx="1409700" cy="415925"/>
        </p:xfrm>
        <a:graphic>
          <a:graphicData uri="http://schemas.openxmlformats.org/presentationml/2006/ole">
            <mc:AlternateContent xmlns:mc="http://schemas.openxmlformats.org/markup-compatibility/2006">
              <mc:Choice xmlns:v="urn:schemas-microsoft-com:vml" Requires="v">
                <p:oleObj spid="_x0000_s170807" name="Equation" r:id="rId14" imgW="469696" imgH="165028" progId="Equation.DSMT4">
                  <p:embed/>
                </p:oleObj>
              </mc:Choice>
              <mc:Fallback>
                <p:oleObj name="Equation" r:id="rId14" imgW="469696" imgH="165028" progId="Equation.DSMT4">
                  <p:embed/>
                  <p:pic>
                    <p:nvPicPr>
                      <p:cNvPr id="162852" name="Object 3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24300" y="4524375"/>
                        <a:ext cx="1409700" cy="41592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2853" name="Object 37"/>
          <p:cNvGraphicFramePr>
            <a:graphicFrameLocks noChangeAspect="1"/>
          </p:cNvGraphicFramePr>
          <p:nvPr/>
        </p:nvGraphicFramePr>
        <p:xfrm>
          <a:off x="1547813" y="5316538"/>
          <a:ext cx="1409700" cy="414337"/>
        </p:xfrm>
        <a:graphic>
          <a:graphicData uri="http://schemas.openxmlformats.org/presentationml/2006/ole">
            <mc:AlternateContent xmlns:mc="http://schemas.openxmlformats.org/markup-compatibility/2006">
              <mc:Choice xmlns:v="urn:schemas-microsoft-com:vml" Requires="v">
                <p:oleObj spid="_x0000_s170808" name="Equation" r:id="rId16" imgW="469696" imgH="165028" progId="Equation.DSMT4">
                  <p:embed/>
                </p:oleObj>
              </mc:Choice>
              <mc:Fallback>
                <p:oleObj name="Equation" r:id="rId16" imgW="469696" imgH="165028" progId="Equation.DSMT4">
                  <p:embed/>
                  <p:pic>
                    <p:nvPicPr>
                      <p:cNvPr id="162853" name="Object 3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47813" y="5316538"/>
                        <a:ext cx="1409700" cy="414337"/>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2854" name="Object 38"/>
          <p:cNvGraphicFramePr>
            <a:graphicFrameLocks noChangeAspect="1"/>
          </p:cNvGraphicFramePr>
          <p:nvPr/>
        </p:nvGraphicFramePr>
        <p:xfrm>
          <a:off x="2051050" y="6108700"/>
          <a:ext cx="1409700" cy="415925"/>
        </p:xfrm>
        <a:graphic>
          <a:graphicData uri="http://schemas.openxmlformats.org/presentationml/2006/ole">
            <mc:AlternateContent xmlns:mc="http://schemas.openxmlformats.org/markup-compatibility/2006">
              <mc:Choice xmlns:v="urn:schemas-microsoft-com:vml" Requires="v">
                <p:oleObj spid="_x0000_s170809" name="Equation" r:id="rId18" imgW="469696" imgH="165028" progId="Equation.DSMT4">
                  <p:embed/>
                </p:oleObj>
              </mc:Choice>
              <mc:Fallback>
                <p:oleObj name="Equation" r:id="rId18" imgW="469696" imgH="165028" progId="Equation.DSMT4">
                  <p:embed/>
                  <p:pic>
                    <p:nvPicPr>
                      <p:cNvPr id="162854" name="Object 3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051050" y="6108700"/>
                        <a:ext cx="1409700" cy="415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707664917"/>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2819"/>
                                        </p:tgtEl>
                                        <p:attrNameLst>
                                          <p:attrName>style.visibility</p:attrName>
                                        </p:attrNameLst>
                                      </p:cBhvr>
                                      <p:to>
                                        <p:strVal val="visible"/>
                                      </p:to>
                                    </p:set>
                                    <p:animEffect transition="in" filter="wipe(left)">
                                      <p:cBhvr>
                                        <p:cTn id="7" dur="500"/>
                                        <p:tgtEl>
                                          <p:spTgt spid="1628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2820"/>
                                        </p:tgtEl>
                                        <p:attrNameLst>
                                          <p:attrName>style.visibility</p:attrName>
                                        </p:attrNameLst>
                                      </p:cBhvr>
                                      <p:to>
                                        <p:strVal val="visible"/>
                                      </p:to>
                                    </p:set>
                                    <p:animEffect transition="in" filter="wipe(left)">
                                      <p:cBhvr>
                                        <p:cTn id="12" dur="500"/>
                                        <p:tgtEl>
                                          <p:spTgt spid="1628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62828"/>
                                        </p:tgtEl>
                                        <p:attrNameLst>
                                          <p:attrName>style.visibility</p:attrName>
                                        </p:attrNameLst>
                                      </p:cBhvr>
                                      <p:to>
                                        <p:strVal val="visible"/>
                                      </p:to>
                                    </p:set>
                                    <p:animEffect transition="in" filter="dissolve">
                                      <p:cBhvr>
                                        <p:cTn id="17" dur="500"/>
                                        <p:tgtEl>
                                          <p:spTgt spid="1628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62821"/>
                                        </p:tgtEl>
                                        <p:attrNameLst>
                                          <p:attrName>style.visibility</p:attrName>
                                        </p:attrNameLst>
                                      </p:cBhvr>
                                      <p:to>
                                        <p:strVal val="visible"/>
                                      </p:to>
                                    </p:set>
                                    <p:animEffect transition="in" filter="wipe(left)">
                                      <p:cBhvr>
                                        <p:cTn id="22" dur="500"/>
                                        <p:tgtEl>
                                          <p:spTgt spid="16282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62822"/>
                                        </p:tgtEl>
                                        <p:attrNameLst>
                                          <p:attrName>style.visibility</p:attrName>
                                        </p:attrNameLst>
                                      </p:cBhvr>
                                      <p:to>
                                        <p:strVal val="visible"/>
                                      </p:to>
                                    </p:set>
                                    <p:animEffect transition="in" filter="wipe(left)">
                                      <p:cBhvr>
                                        <p:cTn id="27" dur="500"/>
                                        <p:tgtEl>
                                          <p:spTgt spid="16282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2823"/>
                                        </p:tgtEl>
                                        <p:attrNameLst>
                                          <p:attrName>style.visibility</p:attrName>
                                        </p:attrNameLst>
                                      </p:cBhvr>
                                      <p:to>
                                        <p:strVal val="visible"/>
                                      </p:to>
                                    </p:set>
                                    <p:animEffect transition="in" filter="wipe(left)">
                                      <p:cBhvr>
                                        <p:cTn id="32" dur="500"/>
                                        <p:tgtEl>
                                          <p:spTgt spid="16282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62824"/>
                                        </p:tgtEl>
                                        <p:attrNameLst>
                                          <p:attrName>style.visibility</p:attrName>
                                        </p:attrNameLst>
                                      </p:cBhvr>
                                      <p:to>
                                        <p:strVal val="visible"/>
                                      </p:to>
                                    </p:set>
                                    <p:animEffect transition="in" filter="wipe(left)">
                                      <p:cBhvr>
                                        <p:cTn id="37" dur="500"/>
                                        <p:tgtEl>
                                          <p:spTgt spid="16282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2825"/>
                                        </p:tgtEl>
                                        <p:attrNameLst>
                                          <p:attrName>style.visibility</p:attrName>
                                        </p:attrNameLst>
                                      </p:cBhvr>
                                      <p:to>
                                        <p:strVal val="visible"/>
                                      </p:to>
                                    </p:set>
                                    <p:animEffect transition="in" filter="wipe(left)">
                                      <p:cBhvr>
                                        <p:cTn id="42" dur="500"/>
                                        <p:tgtEl>
                                          <p:spTgt spid="16282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62826"/>
                                        </p:tgtEl>
                                        <p:attrNameLst>
                                          <p:attrName>style.visibility</p:attrName>
                                        </p:attrNameLst>
                                      </p:cBhvr>
                                      <p:to>
                                        <p:strVal val="visible"/>
                                      </p:to>
                                    </p:set>
                                    <p:animEffect transition="in" filter="wipe(left)">
                                      <p:cBhvr>
                                        <p:cTn id="47" dur="500"/>
                                        <p:tgtEl>
                                          <p:spTgt spid="16282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nodeType="clickEffect">
                                  <p:stCondLst>
                                    <p:cond delay="0"/>
                                  </p:stCondLst>
                                  <p:childTnLst>
                                    <p:set>
                                      <p:cBhvr>
                                        <p:cTn id="51" dur="1" fill="hold">
                                          <p:stCondLst>
                                            <p:cond delay="0"/>
                                          </p:stCondLst>
                                        </p:cTn>
                                        <p:tgtEl>
                                          <p:spTgt spid="162818"/>
                                        </p:tgtEl>
                                        <p:attrNameLst>
                                          <p:attrName>style.visibility</p:attrName>
                                        </p:attrNameLst>
                                      </p:cBhvr>
                                      <p:to>
                                        <p:strVal val="visible"/>
                                      </p:to>
                                    </p:set>
                                    <p:animEffect transition="in" filter="wipe(down)">
                                      <p:cBhvr>
                                        <p:cTn id="52" dur="500"/>
                                        <p:tgtEl>
                                          <p:spTgt spid="16281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62827"/>
                                        </p:tgtEl>
                                        <p:attrNameLst>
                                          <p:attrName>style.visibility</p:attrName>
                                        </p:attrNameLst>
                                      </p:cBhvr>
                                      <p:to>
                                        <p:strVal val="visible"/>
                                      </p:to>
                                    </p:set>
                                    <p:animEffect transition="in" filter="wipe(left)">
                                      <p:cBhvr>
                                        <p:cTn id="57" dur="500"/>
                                        <p:tgtEl>
                                          <p:spTgt spid="16282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5" fill="hold" nodeType="clickEffect">
                                  <p:stCondLst>
                                    <p:cond delay="0"/>
                                  </p:stCondLst>
                                  <p:childTnLst>
                                    <p:set>
                                      <p:cBhvr>
                                        <p:cTn id="61" dur="1" fill="hold">
                                          <p:stCondLst>
                                            <p:cond delay="0"/>
                                          </p:stCondLst>
                                        </p:cTn>
                                        <p:tgtEl>
                                          <p:spTgt spid="162852"/>
                                        </p:tgtEl>
                                        <p:attrNameLst>
                                          <p:attrName>style.visibility</p:attrName>
                                        </p:attrNameLst>
                                      </p:cBhvr>
                                      <p:to>
                                        <p:strVal val="visible"/>
                                      </p:to>
                                    </p:set>
                                    <p:animEffect transition="in" filter="blinds(vertical)">
                                      <p:cBhvr>
                                        <p:cTn id="62" dur="500"/>
                                        <p:tgtEl>
                                          <p:spTgt spid="16285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5" fill="hold" nodeType="clickEffect">
                                  <p:stCondLst>
                                    <p:cond delay="0"/>
                                  </p:stCondLst>
                                  <p:childTnLst>
                                    <p:set>
                                      <p:cBhvr>
                                        <p:cTn id="66" dur="1" fill="hold">
                                          <p:stCondLst>
                                            <p:cond delay="0"/>
                                          </p:stCondLst>
                                        </p:cTn>
                                        <p:tgtEl>
                                          <p:spTgt spid="162853"/>
                                        </p:tgtEl>
                                        <p:attrNameLst>
                                          <p:attrName>style.visibility</p:attrName>
                                        </p:attrNameLst>
                                      </p:cBhvr>
                                      <p:to>
                                        <p:strVal val="visible"/>
                                      </p:to>
                                    </p:set>
                                    <p:animEffect transition="in" filter="blinds(vertical)">
                                      <p:cBhvr>
                                        <p:cTn id="67" dur="500"/>
                                        <p:tgtEl>
                                          <p:spTgt spid="16285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5" fill="hold" nodeType="clickEffect">
                                  <p:stCondLst>
                                    <p:cond delay="0"/>
                                  </p:stCondLst>
                                  <p:childTnLst>
                                    <p:set>
                                      <p:cBhvr>
                                        <p:cTn id="71" dur="1" fill="hold">
                                          <p:stCondLst>
                                            <p:cond delay="0"/>
                                          </p:stCondLst>
                                        </p:cTn>
                                        <p:tgtEl>
                                          <p:spTgt spid="162854"/>
                                        </p:tgtEl>
                                        <p:attrNameLst>
                                          <p:attrName>style.visibility</p:attrName>
                                        </p:attrNameLst>
                                      </p:cBhvr>
                                      <p:to>
                                        <p:strVal val="visible"/>
                                      </p:to>
                                    </p:set>
                                    <p:animEffect transition="in" filter="blinds(vertical)">
                                      <p:cBhvr>
                                        <p:cTn id="72" dur="500"/>
                                        <p:tgtEl>
                                          <p:spTgt spid="1628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autoUpdateAnimBg="0"/>
      <p:bldP spid="162820" grpId="0" autoUpdateAnimBg="0"/>
      <p:bldP spid="162823" grpId="0" autoUpdateAnimBg="0"/>
      <p:bldP spid="162825" grpId="0" autoUpdateAnimBg="0"/>
      <p:bldP spid="162826" grpId="0" autoUpdateAnimBg="0"/>
      <p:bldP spid="162827"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Text Box 2"/>
          <p:cNvSpPr txBox="1">
            <a:spLocks noChangeArrowheads="1"/>
          </p:cNvSpPr>
          <p:nvPr/>
        </p:nvSpPr>
        <p:spPr bwMode="auto">
          <a:xfrm>
            <a:off x="296863" y="115888"/>
            <a:ext cx="6867525" cy="579437"/>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a:solidFill>
                  <a:schemeClr val="folHlink"/>
                </a:solidFill>
                <a:latin typeface="Arial" panose="020B0604020202020204" pitchFamily="34" charset="0"/>
                <a:ea typeface="楷体_GB2312"/>
              </a:rPr>
              <a:t>7-3</a:t>
            </a:r>
            <a:r>
              <a:rPr lang="zh-CN" altLang="en-US">
                <a:solidFill>
                  <a:schemeClr val="folHlink"/>
                </a:solidFill>
                <a:latin typeface="Arial" panose="020B0604020202020204" pitchFamily="34" charset="0"/>
                <a:ea typeface="楷体_GB2312"/>
              </a:rPr>
              <a:t>、高斯定理（</a:t>
            </a:r>
            <a:r>
              <a:rPr lang="en-US" altLang="zh-CN">
                <a:solidFill>
                  <a:schemeClr val="folHlink"/>
                </a:solidFill>
                <a:latin typeface="Arial" panose="020B0604020202020204" pitchFamily="34" charset="0"/>
                <a:ea typeface="楷体_GB2312"/>
              </a:rPr>
              <a:t>Gauss’ Law</a:t>
            </a:r>
            <a:r>
              <a:rPr lang="zh-CN" altLang="en-US">
                <a:solidFill>
                  <a:schemeClr val="folHlink"/>
                </a:solidFill>
                <a:latin typeface="Arial" panose="020B0604020202020204" pitchFamily="34" charset="0"/>
                <a:ea typeface="楷体_GB2312"/>
              </a:rPr>
              <a:t>）</a:t>
            </a:r>
          </a:p>
        </p:txBody>
      </p:sp>
      <p:sp>
        <p:nvSpPr>
          <p:cNvPr id="163843" name="Text Box 3"/>
          <p:cNvSpPr txBox="1">
            <a:spLocks noChangeArrowheads="1"/>
          </p:cNvSpPr>
          <p:nvPr/>
        </p:nvSpPr>
        <p:spPr bwMode="auto">
          <a:xfrm>
            <a:off x="762000" y="609600"/>
            <a:ext cx="74644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a:solidFill>
                  <a:srgbClr val="FF3300"/>
                </a:solidFill>
                <a:ea typeface="楷体_GB2312"/>
              </a:rPr>
              <a:t>高斯（</a:t>
            </a:r>
            <a:r>
              <a:rPr lang="en-US" altLang="zh-CN">
                <a:solidFill>
                  <a:srgbClr val="FF3300"/>
                </a:solidFill>
                <a:ea typeface="楷体_GB2312"/>
              </a:rPr>
              <a:t>Carl Friedrich Gauss 1777~1855</a:t>
            </a:r>
            <a:r>
              <a:rPr lang="zh-CN" altLang="en-US">
                <a:solidFill>
                  <a:srgbClr val="FF3300"/>
                </a:solidFill>
                <a:ea typeface="楷体_GB2312"/>
              </a:rPr>
              <a:t>）</a:t>
            </a:r>
            <a:endParaRPr lang="zh-CN" altLang="en-US" sz="3600">
              <a:solidFill>
                <a:srgbClr val="FF3300"/>
              </a:solidFill>
              <a:ea typeface="楷体_GB2312"/>
            </a:endParaRPr>
          </a:p>
        </p:txBody>
      </p:sp>
      <p:sp>
        <p:nvSpPr>
          <p:cNvPr id="163844" name="Line 4"/>
          <p:cNvSpPr>
            <a:spLocks noChangeShapeType="1"/>
          </p:cNvSpPr>
          <p:nvPr/>
        </p:nvSpPr>
        <p:spPr bwMode="auto">
          <a:xfrm>
            <a:off x="0" y="1143000"/>
            <a:ext cx="9144000" cy="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6384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219200"/>
            <a:ext cx="1903413"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3846" name="Text Box 6"/>
          <p:cNvSpPr txBox="1">
            <a:spLocks noChangeArrowheads="1"/>
          </p:cNvSpPr>
          <p:nvPr/>
        </p:nvSpPr>
        <p:spPr bwMode="auto">
          <a:xfrm>
            <a:off x="288925" y="3810000"/>
            <a:ext cx="2073275"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德国数学家、天文学家和物理学家。高斯在数学上的建树颇丰，有“数学王子”美称。</a:t>
            </a:r>
          </a:p>
        </p:txBody>
      </p:sp>
      <p:sp>
        <p:nvSpPr>
          <p:cNvPr id="163847" name="Text Box 7"/>
          <p:cNvSpPr txBox="1">
            <a:spLocks noChangeArrowheads="1"/>
          </p:cNvSpPr>
          <p:nvPr/>
        </p:nvSpPr>
        <p:spPr bwMode="auto">
          <a:xfrm>
            <a:off x="2514600" y="1295400"/>
            <a:ext cx="6629400" cy="556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高斯长期从事于数学并将数学应用于物理学、天文学和大地测量学等领域的研究，主要成就：</a:t>
            </a:r>
          </a:p>
          <a:p>
            <a:pPr eaLnBrk="1" hangingPunct="1">
              <a:spcBef>
                <a:spcPct val="0"/>
              </a:spcBef>
              <a:buFontTx/>
              <a:buNone/>
            </a:pPr>
            <a:endParaRPr lang="zh-CN" altLang="en-US" sz="2400">
              <a:ea typeface="楷体_GB2312"/>
            </a:endParaRPr>
          </a:p>
          <a:p>
            <a:pPr eaLnBrk="1" hangingPunct="1">
              <a:spcBef>
                <a:spcPct val="0"/>
              </a:spcBef>
              <a:buFontTx/>
              <a:buNone/>
            </a:pPr>
            <a:r>
              <a:rPr lang="en-US" altLang="zh-CN" sz="2400">
                <a:ea typeface="楷体_GB2312"/>
              </a:rPr>
              <a:t>(1)</a:t>
            </a:r>
            <a:r>
              <a:rPr lang="zh-CN" altLang="en-US" sz="2400">
                <a:ea typeface="楷体_GB2312"/>
              </a:rPr>
              <a:t>物理学和地磁学：关于静电学、温差电和摩擦电的研究、利用绝对单位（长度、质量和时间）法则量度非力学量以及地磁分布的理论研究。</a:t>
            </a:r>
          </a:p>
          <a:p>
            <a:pPr eaLnBrk="1" hangingPunct="1">
              <a:spcBef>
                <a:spcPct val="0"/>
              </a:spcBef>
              <a:buFontTx/>
              <a:buNone/>
            </a:pPr>
            <a:r>
              <a:rPr lang="en-US" altLang="zh-CN" sz="2400">
                <a:ea typeface="楷体_GB2312"/>
              </a:rPr>
              <a:t>(2)</a:t>
            </a:r>
            <a:r>
              <a:rPr lang="zh-CN" altLang="en-US" sz="2400">
                <a:ea typeface="楷体_GB2312"/>
              </a:rPr>
              <a:t>光学 ：利用几何学知识研究光学系统近轴光线行为和成像，建立高斯光学。</a:t>
            </a:r>
          </a:p>
          <a:p>
            <a:pPr eaLnBrk="1" hangingPunct="1">
              <a:spcBef>
                <a:spcPct val="0"/>
              </a:spcBef>
              <a:buFontTx/>
              <a:buNone/>
            </a:pPr>
            <a:r>
              <a:rPr lang="en-US" altLang="zh-CN" sz="2400">
                <a:ea typeface="楷体_GB2312"/>
              </a:rPr>
              <a:t>(3)</a:t>
            </a:r>
            <a:r>
              <a:rPr lang="zh-CN" altLang="en-US" sz="2400">
                <a:ea typeface="楷体_GB2312"/>
              </a:rPr>
              <a:t>天文学和大地测量学中：如小行星轨道的计算，地球大小和形状的理论研究等。</a:t>
            </a:r>
          </a:p>
          <a:p>
            <a:pPr eaLnBrk="1" hangingPunct="1">
              <a:spcBef>
                <a:spcPct val="0"/>
              </a:spcBef>
              <a:buFontTx/>
              <a:buNone/>
            </a:pPr>
            <a:r>
              <a:rPr lang="en-US" altLang="zh-CN" sz="2400">
                <a:ea typeface="楷体_GB2312"/>
              </a:rPr>
              <a:t>(4)</a:t>
            </a:r>
            <a:r>
              <a:rPr lang="zh-CN" altLang="en-US" sz="2400">
                <a:ea typeface="楷体_GB2312"/>
              </a:rPr>
              <a:t>试验数据处理：结合试验数据的测算，发展了概率统计理论和误差理论，发明了最小二乘法，引入高斯误差曲线。 </a:t>
            </a:r>
          </a:p>
          <a:p>
            <a:pPr eaLnBrk="1" hangingPunct="1">
              <a:spcBef>
                <a:spcPct val="0"/>
              </a:spcBef>
              <a:buFontTx/>
              <a:buNone/>
            </a:pPr>
            <a:r>
              <a:rPr lang="en-US" altLang="zh-CN" sz="2400">
                <a:ea typeface="楷体_GB2312"/>
              </a:rPr>
              <a:t>(5)</a:t>
            </a:r>
            <a:r>
              <a:rPr lang="zh-CN" altLang="en-US" sz="2400">
                <a:ea typeface="楷体_GB2312"/>
              </a:rPr>
              <a:t>高斯还创立了电磁量的绝对单位制。</a:t>
            </a:r>
          </a:p>
        </p:txBody>
      </p:sp>
      <p:pic>
        <p:nvPicPr>
          <p:cNvPr id="229378" name="Picture 2" descr="https://pics1.baidu.com/feed/a08b87d6277f9e2f8e13b6e090308828b999f3c5.jpeg@f_auto?token=83984341d3e001cbfe1caae1e1712b54">
            <a:extLst>
              <a:ext uri="{FF2B5EF4-FFF2-40B4-BE49-F238E27FC236}">
                <a16:creationId xmlns:a16="http://schemas.microsoft.com/office/drawing/2014/main" id="{BF924566-B40B-43C2-BAF4-4F7639BB546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04" t="8968" r="16109" b="8968"/>
          <a:stretch/>
        </p:blipFill>
        <p:spPr bwMode="auto">
          <a:xfrm>
            <a:off x="293237" y="1079899"/>
            <a:ext cx="8060365" cy="59999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842"/>
                                        </p:tgtEl>
                                        <p:attrNameLst>
                                          <p:attrName>style.visibility</p:attrName>
                                        </p:attrNameLst>
                                      </p:cBhvr>
                                      <p:to>
                                        <p:strVal val="visible"/>
                                      </p:to>
                                    </p:set>
                                    <p:animEffect transition="in" filter="wipe(left)">
                                      <p:cBhvr>
                                        <p:cTn id="7" dur="500"/>
                                        <p:tgtEl>
                                          <p:spTgt spid="1638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43"/>
                                        </p:tgtEl>
                                        <p:attrNameLst>
                                          <p:attrName>style.visibility</p:attrName>
                                        </p:attrNameLst>
                                      </p:cBhvr>
                                      <p:to>
                                        <p:strVal val="visible"/>
                                      </p:to>
                                    </p:set>
                                    <p:animEffect transition="in" filter="wipe(left)">
                                      <p:cBhvr>
                                        <p:cTn id="12" dur="500"/>
                                        <p:tgtEl>
                                          <p:spTgt spid="1638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3844"/>
                                        </p:tgtEl>
                                        <p:attrNameLst>
                                          <p:attrName>style.visibility</p:attrName>
                                        </p:attrNameLst>
                                      </p:cBhvr>
                                      <p:to>
                                        <p:strVal val="visible"/>
                                      </p:to>
                                    </p:set>
                                    <p:animEffect transition="in" filter="wipe(left)">
                                      <p:cBhvr>
                                        <p:cTn id="17" dur="500"/>
                                        <p:tgtEl>
                                          <p:spTgt spid="16384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163845"/>
                                        </p:tgtEl>
                                        <p:attrNameLst>
                                          <p:attrName>style.visibility</p:attrName>
                                        </p:attrNameLst>
                                      </p:cBhvr>
                                      <p:to>
                                        <p:strVal val="visible"/>
                                      </p:to>
                                    </p:set>
                                    <p:animEffect transition="in" filter="box(out)">
                                      <p:cBhvr>
                                        <p:cTn id="22" dur="500"/>
                                        <p:tgtEl>
                                          <p:spTgt spid="16384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163846"/>
                                        </p:tgtEl>
                                        <p:attrNameLst>
                                          <p:attrName>style.visibility</p:attrName>
                                        </p:attrNameLst>
                                      </p:cBhvr>
                                      <p:to>
                                        <p:strVal val="visible"/>
                                      </p:to>
                                    </p:set>
                                    <p:animEffect transition="in" filter="wipe(left)">
                                      <p:cBhvr>
                                        <p:cTn id="27" dur="75"/>
                                        <p:tgtEl>
                                          <p:spTgt spid="16384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lt">
                                    <p:tmPct val="100000"/>
                                  </p:iterate>
                                  <p:childTnLst>
                                    <p:set>
                                      <p:cBhvr>
                                        <p:cTn id="31" dur="1" fill="hold">
                                          <p:stCondLst>
                                            <p:cond delay="0"/>
                                          </p:stCondLst>
                                        </p:cTn>
                                        <p:tgtEl>
                                          <p:spTgt spid="163847">
                                            <p:txEl>
                                              <p:pRg st="0" end="0"/>
                                            </p:txEl>
                                          </p:spTgt>
                                        </p:tgtEl>
                                        <p:attrNameLst>
                                          <p:attrName>style.visibility</p:attrName>
                                        </p:attrNameLst>
                                      </p:cBhvr>
                                      <p:to>
                                        <p:strVal val="visible"/>
                                      </p:to>
                                    </p:set>
                                    <p:animEffect transition="in" filter="wipe(left)">
                                      <p:cBhvr>
                                        <p:cTn id="32" dur="75"/>
                                        <p:tgtEl>
                                          <p:spTgt spid="163847">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iterate type="lt">
                                    <p:tmPct val="100000"/>
                                  </p:iterate>
                                  <p:childTnLst>
                                    <p:set>
                                      <p:cBhvr>
                                        <p:cTn id="36" dur="1" fill="hold">
                                          <p:stCondLst>
                                            <p:cond delay="0"/>
                                          </p:stCondLst>
                                        </p:cTn>
                                        <p:tgtEl>
                                          <p:spTgt spid="163847">
                                            <p:txEl>
                                              <p:pRg st="2" end="2"/>
                                            </p:txEl>
                                          </p:spTgt>
                                        </p:tgtEl>
                                        <p:attrNameLst>
                                          <p:attrName>style.visibility</p:attrName>
                                        </p:attrNameLst>
                                      </p:cBhvr>
                                      <p:to>
                                        <p:strVal val="visible"/>
                                      </p:to>
                                    </p:set>
                                    <p:animEffect transition="in" filter="wipe(left)">
                                      <p:cBhvr>
                                        <p:cTn id="37" dur="75"/>
                                        <p:tgtEl>
                                          <p:spTgt spid="163847">
                                            <p:txEl>
                                              <p:pRg st="2" end="2"/>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lt">
                                    <p:tmPct val="100000"/>
                                  </p:iterate>
                                  <p:childTnLst>
                                    <p:set>
                                      <p:cBhvr>
                                        <p:cTn id="41" dur="1" fill="hold">
                                          <p:stCondLst>
                                            <p:cond delay="0"/>
                                          </p:stCondLst>
                                        </p:cTn>
                                        <p:tgtEl>
                                          <p:spTgt spid="163847">
                                            <p:txEl>
                                              <p:pRg st="3" end="3"/>
                                            </p:txEl>
                                          </p:spTgt>
                                        </p:tgtEl>
                                        <p:attrNameLst>
                                          <p:attrName>style.visibility</p:attrName>
                                        </p:attrNameLst>
                                      </p:cBhvr>
                                      <p:to>
                                        <p:strVal val="visible"/>
                                      </p:to>
                                    </p:set>
                                    <p:animEffect transition="in" filter="wipe(left)">
                                      <p:cBhvr>
                                        <p:cTn id="42" dur="75"/>
                                        <p:tgtEl>
                                          <p:spTgt spid="163847">
                                            <p:txEl>
                                              <p:pRg st="3" end="3"/>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iterate type="lt">
                                    <p:tmPct val="100000"/>
                                  </p:iterate>
                                  <p:childTnLst>
                                    <p:set>
                                      <p:cBhvr>
                                        <p:cTn id="46" dur="1" fill="hold">
                                          <p:stCondLst>
                                            <p:cond delay="0"/>
                                          </p:stCondLst>
                                        </p:cTn>
                                        <p:tgtEl>
                                          <p:spTgt spid="163847">
                                            <p:txEl>
                                              <p:pRg st="4" end="4"/>
                                            </p:txEl>
                                          </p:spTgt>
                                        </p:tgtEl>
                                        <p:attrNameLst>
                                          <p:attrName>style.visibility</p:attrName>
                                        </p:attrNameLst>
                                      </p:cBhvr>
                                      <p:to>
                                        <p:strVal val="visible"/>
                                      </p:to>
                                    </p:set>
                                    <p:animEffect transition="in" filter="wipe(left)">
                                      <p:cBhvr>
                                        <p:cTn id="47" dur="75"/>
                                        <p:tgtEl>
                                          <p:spTgt spid="163847">
                                            <p:txEl>
                                              <p:pRg st="4" end="4"/>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iterate type="lt">
                                    <p:tmPct val="100000"/>
                                  </p:iterate>
                                  <p:childTnLst>
                                    <p:set>
                                      <p:cBhvr>
                                        <p:cTn id="51" dur="1" fill="hold">
                                          <p:stCondLst>
                                            <p:cond delay="0"/>
                                          </p:stCondLst>
                                        </p:cTn>
                                        <p:tgtEl>
                                          <p:spTgt spid="163847">
                                            <p:txEl>
                                              <p:pRg st="5" end="5"/>
                                            </p:txEl>
                                          </p:spTgt>
                                        </p:tgtEl>
                                        <p:attrNameLst>
                                          <p:attrName>style.visibility</p:attrName>
                                        </p:attrNameLst>
                                      </p:cBhvr>
                                      <p:to>
                                        <p:strVal val="visible"/>
                                      </p:to>
                                    </p:set>
                                    <p:animEffect transition="in" filter="wipe(left)">
                                      <p:cBhvr>
                                        <p:cTn id="52" dur="75"/>
                                        <p:tgtEl>
                                          <p:spTgt spid="163847">
                                            <p:txEl>
                                              <p:pRg st="5" end="5"/>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iterate type="lt">
                                    <p:tmPct val="100000"/>
                                  </p:iterate>
                                  <p:childTnLst>
                                    <p:set>
                                      <p:cBhvr>
                                        <p:cTn id="56" dur="1" fill="hold">
                                          <p:stCondLst>
                                            <p:cond delay="0"/>
                                          </p:stCondLst>
                                        </p:cTn>
                                        <p:tgtEl>
                                          <p:spTgt spid="163847">
                                            <p:txEl>
                                              <p:pRg st="6" end="6"/>
                                            </p:txEl>
                                          </p:spTgt>
                                        </p:tgtEl>
                                        <p:attrNameLst>
                                          <p:attrName>style.visibility</p:attrName>
                                        </p:attrNameLst>
                                      </p:cBhvr>
                                      <p:to>
                                        <p:strVal val="visible"/>
                                      </p:to>
                                    </p:set>
                                    <p:animEffect transition="in" filter="wipe(left)">
                                      <p:cBhvr>
                                        <p:cTn id="57" dur="75"/>
                                        <p:tgtEl>
                                          <p:spTgt spid="163847">
                                            <p:txEl>
                                              <p:pRg st="6" end="6"/>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2293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2" grpId="0" animBg="1" autoUpdateAnimBg="0"/>
      <p:bldP spid="163843" grpId="0" autoUpdateAnimBg="0"/>
      <p:bldP spid="163844" grpId="0" animBg="1"/>
      <p:bldP spid="163846" grpId="0" autoUpdateAnimBg="0"/>
      <p:bldP spid="163847" grpId="0" build="p"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Text Box 2"/>
          <p:cNvSpPr txBox="1">
            <a:spLocks noChangeArrowheads="1"/>
          </p:cNvSpPr>
          <p:nvPr/>
        </p:nvSpPr>
        <p:spPr bwMode="auto">
          <a:xfrm>
            <a:off x="0" y="153988"/>
            <a:ext cx="4343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3333FF"/>
                </a:solidFill>
                <a:ea typeface="楷体_GB2312"/>
              </a:rPr>
              <a:t>1</a:t>
            </a:r>
            <a:r>
              <a:rPr lang="zh-CN" altLang="en-US" sz="2800">
                <a:solidFill>
                  <a:srgbClr val="3333FF"/>
                </a:solidFill>
                <a:ea typeface="楷体_GB2312"/>
              </a:rPr>
              <a:t>、高斯定理的内容</a:t>
            </a:r>
            <a:endParaRPr lang="zh-CN" altLang="en-US" sz="2800" i="1">
              <a:ea typeface="楷体_GB2312"/>
            </a:endParaRPr>
          </a:p>
        </p:txBody>
      </p:sp>
      <p:sp>
        <p:nvSpPr>
          <p:cNvPr id="164867" name="Text Box 3"/>
          <p:cNvSpPr txBox="1">
            <a:spLocks noChangeArrowheads="1"/>
          </p:cNvSpPr>
          <p:nvPr/>
        </p:nvSpPr>
        <p:spPr bwMode="auto">
          <a:xfrm>
            <a:off x="609600" y="685800"/>
            <a:ext cx="8305800" cy="1309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在任意的静电场中</a:t>
            </a:r>
            <a:r>
              <a:rPr lang="en-US" altLang="zh-CN" sz="2400">
                <a:ea typeface="楷体_GB2312"/>
              </a:rPr>
              <a:t>,</a:t>
            </a:r>
            <a:r>
              <a:rPr lang="zh-CN" altLang="en-US" sz="2400">
                <a:ea typeface="楷体_GB2312"/>
              </a:rPr>
              <a:t>通过任一闭合曲面的电场强度的通量，等于该曲面所包围的所有电荷的代数和除以</a:t>
            </a:r>
            <a:r>
              <a:rPr lang="en-US" altLang="zh-CN" i="1">
                <a:ea typeface="楷体_GB2312"/>
              </a:rPr>
              <a:t>ε</a:t>
            </a:r>
            <a:r>
              <a:rPr lang="en-US" altLang="zh-CN" sz="2400" baseline="-25000">
                <a:ea typeface="楷体_GB2312"/>
              </a:rPr>
              <a:t>0</a:t>
            </a:r>
            <a:r>
              <a:rPr lang="zh-CN" altLang="en-US" sz="2400">
                <a:ea typeface="楷体_GB2312"/>
              </a:rPr>
              <a:t>，与封闭曲面外的电荷无关。</a:t>
            </a:r>
            <a:endParaRPr lang="zh-CN" altLang="en-US" sz="2800">
              <a:ea typeface="楷体_GB2312"/>
            </a:endParaRPr>
          </a:p>
        </p:txBody>
      </p:sp>
      <p:graphicFrame>
        <p:nvGraphicFramePr>
          <p:cNvPr id="164868" name="Object 4"/>
          <p:cNvGraphicFramePr>
            <a:graphicFrameLocks noChangeAspect="1"/>
          </p:cNvGraphicFramePr>
          <p:nvPr/>
        </p:nvGraphicFramePr>
        <p:xfrm>
          <a:off x="1373188" y="2114550"/>
          <a:ext cx="4602162" cy="1169988"/>
        </p:xfrm>
        <a:graphic>
          <a:graphicData uri="http://schemas.openxmlformats.org/presentationml/2006/ole">
            <mc:AlternateContent xmlns:mc="http://schemas.openxmlformats.org/markup-compatibility/2006">
              <mc:Choice xmlns:v="urn:schemas-microsoft-com:vml" Requires="v">
                <p:oleObj spid="_x0000_s77159" name="Equation" r:id="rId3" imgW="1637589" imgH="444307" progId="Equation.DSMT4">
                  <p:embed/>
                </p:oleObj>
              </mc:Choice>
              <mc:Fallback>
                <p:oleObj name="Equation" r:id="rId3" imgW="1637589" imgH="444307"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3188" y="2114550"/>
                        <a:ext cx="4602162" cy="1169988"/>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4869" name="Text Box 5"/>
          <p:cNvSpPr txBox="1">
            <a:spLocks noChangeArrowheads="1"/>
          </p:cNvSpPr>
          <p:nvPr/>
        </p:nvSpPr>
        <p:spPr bwMode="auto">
          <a:xfrm>
            <a:off x="79375" y="2971800"/>
            <a:ext cx="5284788"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3333FF"/>
                </a:solidFill>
                <a:ea typeface="楷体_GB2312"/>
              </a:rPr>
              <a:t>2</a:t>
            </a:r>
            <a:r>
              <a:rPr lang="zh-CN" altLang="en-US" sz="2800">
                <a:solidFill>
                  <a:srgbClr val="3333FF"/>
                </a:solidFill>
                <a:ea typeface="楷体_GB2312"/>
              </a:rPr>
              <a:t>、证明</a:t>
            </a:r>
          </a:p>
          <a:p>
            <a:pPr lvl="1" eaLnBrk="1" hangingPunct="1">
              <a:spcBef>
                <a:spcPct val="0"/>
              </a:spcBef>
              <a:buFontTx/>
              <a:buNone/>
            </a:pPr>
            <a:r>
              <a:rPr lang="zh-CN" altLang="en-US" sz="2400">
                <a:ea typeface="楷体_GB2312"/>
              </a:rPr>
              <a:t>出发点：库仑定律和叠加原理</a:t>
            </a:r>
          </a:p>
        </p:txBody>
      </p:sp>
      <p:sp>
        <p:nvSpPr>
          <p:cNvPr id="164870" name="Text Box 6"/>
          <p:cNvSpPr txBox="1">
            <a:spLocks noChangeArrowheads="1"/>
          </p:cNvSpPr>
          <p:nvPr/>
        </p:nvSpPr>
        <p:spPr bwMode="auto">
          <a:xfrm>
            <a:off x="381000" y="4495800"/>
            <a:ext cx="56705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球面上各点的场强方向与其径向相同。</a:t>
            </a:r>
          </a:p>
          <a:p>
            <a:pPr eaLnBrk="1" hangingPunct="1">
              <a:spcBef>
                <a:spcPct val="0"/>
              </a:spcBef>
              <a:buFontTx/>
              <a:buNone/>
            </a:pPr>
            <a:r>
              <a:rPr lang="zh-CN" altLang="en-US" sz="2400">
                <a:ea typeface="楷体_GB2312"/>
              </a:rPr>
              <a:t>球面上各点的场强大小由库仑定律给出。</a:t>
            </a:r>
          </a:p>
        </p:txBody>
      </p:sp>
      <p:sp>
        <p:nvSpPr>
          <p:cNvPr id="164871" name="Text Box 7"/>
          <p:cNvSpPr txBox="1">
            <a:spLocks noChangeArrowheads="1"/>
          </p:cNvSpPr>
          <p:nvPr/>
        </p:nvSpPr>
        <p:spPr bwMode="auto">
          <a:xfrm>
            <a:off x="304800" y="4038600"/>
            <a:ext cx="657066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r>
              <a:rPr lang="en-US" altLang="zh-CN" sz="2400">
                <a:solidFill>
                  <a:srgbClr val="FF3300"/>
                </a:solidFill>
                <a:ea typeface="楷体_GB2312"/>
              </a:rPr>
              <a:t>(1)</a:t>
            </a:r>
            <a:r>
              <a:rPr lang="zh-CN" altLang="en-US" sz="2400">
                <a:solidFill>
                  <a:srgbClr val="FF3300"/>
                </a:solidFill>
                <a:ea typeface="楷体_GB2312"/>
              </a:rPr>
              <a:t>通过一个与点电荷</a:t>
            </a:r>
            <a:r>
              <a:rPr lang="en-US" altLang="zh-CN" sz="2400" i="1">
                <a:solidFill>
                  <a:srgbClr val="FF3300"/>
                </a:solidFill>
                <a:ea typeface="楷体_GB2312"/>
              </a:rPr>
              <a:t>q </a:t>
            </a:r>
            <a:r>
              <a:rPr lang="zh-CN" altLang="en-US" sz="2400">
                <a:solidFill>
                  <a:srgbClr val="FF3300"/>
                </a:solidFill>
                <a:ea typeface="楷体_GB2312"/>
              </a:rPr>
              <a:t>同心的球面</a:t>
            </a:r>
            <a:r>
              <a:rPr lang="en-US" altLang="zh-CN" sz="2400">
                <a:solidFill>
                  <a:srgbClr val="FF3300"/>
                </a:solidFill>
                <a:ea typeface="楷体_GB2312"/>
              </a:rPr>
              <a:t>S</a:t>
            </a:r>
            <a:r>
              <a:rPr lang="zh-CN" altLang="en-US" sz="2400">
                <a:solidFill>
                  <a:srgbClr val="FF3300"/>
                </a:solidFill>
                <a:ea typeface="楷体_GB2312"/>
              </a:rPr>
              <a:t>的电通量</a:t>
            </a:r>
            <a:endParaRPr lang="zh-CN" altLang="en-US" sz="3600">
              <a:solidFill>
                <a:srgbClr val="FF3300"/>
              </a:solidFill>
              <a:ea typeface="楷体_GB2312"/>
            </a:endParaRPr>
          </a:p>
        </p:txBody>
      </p:sp>
      <p:graphicFrame>
        <p:nvGraphicFramePr>
          <p:cNvPr id="164872" name="Object 8"/>
          <p:cNvGraphicFramePr>
            <a:graphicFrameLocks noChangeAspect="1"/>
          </p:cNvGraphicFramePr>
          <p:nvPr/>
        </p:nvGraphicFramePr>
        <p:xfrm>
          <a:off x="1219200" y="5486400"/>
          <a:ext cx="2057400" cy="955675"/>
        </p:xfrm>
        <a:graphic>
          <a:graphicData uri="http://schemas.openxmlformats.org/presentationml/2006/ole">
            <mc:AlternateContent xmlns:mc="http://schemas.openxmlformats.org/markup-compatibility/2006">
              <mc:Choice xmlns:v="urn:schemas-microsoft-com:vml" Requires="v">
                <p:oleObj spid="_x0000_s77160" name="公式" r:id="rId5" imgW="952087" imgH="444307" progId="Equation.3">
                  <p:embed/>
                </p:oleObj>
              </mc:Choice>
              <mc:Fallback>
                <p:oleObj name="公式" r:id="rId5" imgW="952087" imgH="444307"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9200" y="5486400"/>
                        <a:ext cx="2057400" cy="95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4873" name="Object 9"/>
          <p:cNvGraphicFramePr>
            <a:graphicFrameLocks noChangeAspect="1"/>
          </p:cNvGraphicFramePr>
          <p:nvPr/>
        </p:nvGraphicFramePr>
        <p:xfrm>
          <a:off x="3733800" y="5588000"/>
          <a:ext cx="1752600" cy="636588"/>
        </p:xfrm>
        <a:graphic>
          <a:graphicData uri="http://schemas.openxmlformats.org/presentationml/2006/ole">
            <mc:AlternateContent xmlns:mc="http://schemas.openxmlformats.org/markup-compatibility/2006">
              <mc:Choice xmlns:v="urn:schemas-microsoft-com:vml" Requires="v">
                <p:oleObj spid="_x0000_s77161" name="公式" r:id="rId7" imgW="660113" imgH="241195" progId="Equation.3">
                  <p:embed/>
                </p:oleObj>
              </mc:Choice>
              <mc:Fallback>
                <p:oleObj name="公式" r:id="rId7" imgW="660113" imgH="241195"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33800" y="5588000"/>
                        <a:ext cx="1752600" cy="636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64874" name="Group 10"/>
          <p:cNvGrpSpPr>
            <a:grpSpLocks/>
          </p:cNvGrpSpPr>
          <p:nvPr/>
        </p:nvGrpSpPr>
        <p:grpSpPr bwMode="auto">
          <a:xfrm>
            <a:off x="6232525" y="2259013"/>
            <a:ext cx="2682875" cy="2236787"/>
            <a:chOff x="-1" y="792"/>
            <a:chExt cx="20002" cy="18132"/>
          </a:xfrm>
        </p:grpSpPr>
        <p:grpSp>
          <p:nvGrpSpPr>
            <p:cNvPr id="76811" name="Group 11"/>
            <p:cNvGrpSpPr>
              <a:grpSpLocks/>
            </p:cNvGrpSpPr>
            <p:nvPr/>
          </p:nvGrpSpPr>
          <p:grpSpPr bwMode="auto">
            <a:xfrm>
              <a:off x="-1" y="1038"/>
              <a:ext cx="20002" cy="17886"/>
              <a:chOff x="-1" y="880"/>
              <a:chExt cx="20002" cy="17886"/>
            </a:xfrm>
          </p:grpSpPr>
          <p:sp>
            <p:nvSpPr>
              <p:cNvPr id="76813" name="Line 12"/>
              <p:cNvSpPr>
                <a:spLocks noChangeShapeType="1"/>
              </p:cNvSpPr>
              <p:nvPr/>
            </p:nvSpPr>
            <p:spPr bwMode="auto">
              <a:xfrm>
                <a:off x="11815" y="8320"/>
                <a:ext cx="1369" cy="6"/>
              </a:xfrm>
              <a:prstGeom prst="line">
                <a:avLst/>
              </a:prstGeom>
              <a:noFill/>
              <a:ln w="9525">
                <a:solidFill>
                  <a:srgbClr val="0000FF"/>
                </a:solidFill>
                <a:round/>
                <a:headEnd type="non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76814" name="Group 13"/>
              <p:cNvGrpSpPr>
                <a:grpSpLocks/>
              </p:cNvGrpSpPr>
              <p:nvPr/>
            </p:nvGrpSpPr>
            <p:grpSpPr bwMode="auto">
              <a:xfrm>
                <a:off x="-1" y="880"/>
                <a:ext cx="20002" cy="17886"/>
                <a:chOff x="-2" y="299"/>
                <a:chExt cx="20002" cy="17886"/>
              </a:xfrm>
            </p:grpSpPr>
            <p:grpSp>
              <p:nvGrpSpPr>
                <p:cNvPr id="76815" name="Group 14"/>
                <p:cNvGrpSpPr>
                  <a:grpSpLocks/>
                </p:cNvGrpSpPr>
                <p:nvPr/>
              </p:nvGrpSpPr>
              <p:grpSpPr bwMode="auto">
                <a:xfrm>
                  <a:off x="-2" y="299"/>
                  <a:ext cx="20002" cy="17886"/>
                  <a:chOff x="-2" y="299"/>
                  <a:chExt cx="20002" cy="17886"/>
                </a:xfrm>
              </p:grpSpPr>
              <p:sp>
                <p:nvSpPr>
                  <p:cNvPr id="76817" name="Line 15"/>
                  <p:cNvSpPr>
                    <a:spLocks noChangeShapeType="1"/>
                  </p:cNvSpPr>
                  <p:nvPr/>
                </p:nvSpPr>
                <p:spPr bwMode="auto">
                  <a:xfrm>
                    <a:off x="17040" y="2825"/>
                    <a:ext cx="1824" cy="6"/>
                  </a:xfrm>
                  <a:prstGeom prst="line">
                    <a:avLst/>
                  </a:prstGeom>
                  <a:noFill/>
                  <a:ln w="9525">
                    <a:solidFill>
                      <a:srgbClr val="800080"/>
                    </a:solidFill>
                    <a:round/>
                    <a:headEnd type="non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76818" name="Group 16"/>
                  <p:cNvGrpSpPr>
                    <a:grpSpLocks/>
                  </p:cNvGrpSpPr>
                  <p:nvPr/>
                </p:nvGrpSpPr>
                <p:grpSpPr bwMode="auto">
                  <a:xfrm>
                    <a:off x="-2" y="299"/>
                    <a:ext cx="20002" cy="17886"/>
                    <a:chOff x="0" y="0"/>
                    <a:chExt cx="20000" cy="20000"/>
                  </a:xfrm>
                </p:grpSpPr>
                <p:grpSp>
                  <p:nvGrpSpPr>
                    <p:cNvPr id="76819" name="Group 17"/>
                    <p:cNvGrpSpPr>
                      <a:grpSpLocks/>
                    </p:cNvGrpSpPr>
                    <p:nvPr/>
                  </p:nvGrpSpPr>
                  <p:grpSpPr bwMode="auto">
                    <a:xfrm>
                      <a:off x="0" y="0"/>
                      <a:ext cx="17955" cy="20000"/>
                      <a:chOff x="0" y="0"/>
                      <a:chExt cx="19999" cy="20000"/>
                    </a:xfrm>
                  </p:grpSpPr>
                  <p:grpSp>
                    <p:nvGrpSpPr>
                      <p:cNvPr id="76821" name="Group 18"/>
                      <p:cNvGrpSpPr>
                        <a:grpSpLocks/>
                      </p:cNvGrpSpPr>
                      <p:nvPr/>
                    </p:nvGrpSpPr>
                    <p:grpSpPr bwMode="auto">
                      <a:xfrm>
                        <a:off x="0" y="0"/>
                        <a:ext cx="19872" cy="20000"/>
                        <a:chOff x="0" y="0"/>
                        <a:chExt cx="19999" cy="20000"/>
                      </a:xfrm>
                    </p:grpSpPr>
                    <p:grpSp>
                      <p:nvGrpSpPr>
                        <p:cNvPr id="76823" name="Group 19"/>
                        <p:cNvGrpSpPr>
                          <a:grpSpLocks/>
                        </p:cNvGrpSpPr>
                        <p:nvPr/>
                      </p:nvGrpSpPr>
                      <p:grpSpPr bwMode="auto">
                        <a:xfrm>
                          <a:off x="0" y="0"/>
                          <a:ext cx="19999" cy="20000"/>
                          <a:chOff x="0" y="0"/>
                          <a:chExt cx="19999" cy="20000"/>
                        </a:xfrm>
                      </p:grpSpPr>
                      <p:grpSp>
                        <p:nvGrpSpPr>
                          <p:cNvPr id="76825" name="Group 20"/>
                          <p:cNvGrpSpPr>
                            <a:grpSpLocks/>
                          </p:cNvGrpSpPr>
                          <p:nvPr/>
                        </p:nvGrpSpPr>
                        <p:grpSpPr bwMode="auto">
                          <a:xfrm>
                            <a:off x="0" y="0"/>
                            <a:ext cx="19999" cy="20000"/>
                            <a:chOff x="0" y="0"/>
                            <a:chExt cx="19999" cy="20000"/>
                          </a:xfrm>
                        </p:grpSpPr>
                        <p:sp>
                          <p:nvSpPr>
                            <p:cNvPr id="76827" name="Oval 21"/>
                            <p:cNvSpPr>
                              <a:spLocks noChangeArrowheads="1"/>
                            </p:cNvSpPr>
                            <p:nvPr/>
                          </p:nvSpPr>
                          <p:spPr bwMode="auto">
                            <a:xfrm>
                              <a:off x="2675" y="2684"/>
                              <a:ext cx="14395" cy="15169"/>
                            </a:xfrm>
                            <a:prstGeom prst="ellipse">
                              <a:avLst/>
                            </a:prstGeom>
                            <a:noFill/>
                            <a:ln w="25400">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76828" name="Line 22"/>
                            <p:cNvSpPr>
                              <a:spLocks noChangeShapeType="1"/>
                            </p:cNvSpPr>
                            <p:nvPr/>
                          </p:nvSpPr>
                          <p:spPr bwMode="auto">
                            <a:xfrm flipV="1">
                              <a:off x="0" y="10332"/>
                              <a:ext cx="19999" cy="141"/>
                            </a:xfrm>
                            <a:prstGeom prst="line">
                              <a:avLst/>
                            </a:prstGeom>
                            <a:noFill/>
                            <a:ln w="9525">
                              <a:solidFill>
                                <a:srgbClr val="800080"/>
                              </a:solidFill>
                              <a:round/>
                              <a:headEnd type="triangl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6829" name="Line 23"/>
                            <p:cNvSpPr>
                              <a:spLocks noChangeShapeType="1"/>
                            </p:cNvSpPr>
                            <p:nvPr/>
                          </p:nvSpPr>
                          <p:spPr bwMode="auto">
                            <a:xfrm>
                              <a:off x="9933" y="0"/>
                              <a:ext cx="6" cy="20000"/>
                            </a:xfrm>
                            <a:prstGeom prst="line">
                              <a:avLst/>
                            </a:prstGeom>
                            <a:noFill/>
                            <a:ln w="9525">
                              <a:solidFill>
                                <a:srgbClr val="800080"/>
                              </a:solidFill>
                              <a:round/>
                              <a:headEnd type="triangl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6830" name="Line 24"/>
                            <p:cNvSpPr>
                              <a:spLocks noChangeShapeType="1"/>
                            </p:cNvSpPr>
                            <p:nvPr/>
                          </p:nvSpPr>
                          <p:spPr bwMode="auto">
                            <a:xfrm flipV="1">
                              <a:off x="3056" y="2684"/>
                              <a:ext cx="13632" cy="15706"/>
                            </a:xfrm>
                            <a:prstGeom prst="line">
                              <a:avLst/>
                            </a:prstGeom>
                            <a:noFill/>
                            <a:ln w="9525">
                              <a:solidFill>
                                <a:srgbClr val="800080"/>
                              </a:solidFill>
                              <a:round/>
                              <a:headEnd type="triangl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6831" name="Line 25"/>
                            <p:cNvSpPr>
                              <a:spLocks noChangeShapeType="1"/>
                            </p:cNvSpPr>
                            <p:nvPr/>
                          </p:nvSpPr>
                          <p:spPr bwMode="auto">
                            <a:xfrm>
                              <a:off x="2165" y="3757"/>
                              <a:ext cx="15287" cy="13291"/>
                            </a:xfrm>
                            <a:prstGeom prst="line">
                              <a:avLst/>
                            </a:prstGeom>
                            <a:noFill/>
                            <a:ln w="9525">
                              <a:solidFill>
                                <a:srgbClr val="800080"/>
                              </a:solidFill>
                              <a:round/>
                              <a:headEnd type="triangl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6832" name="Line 26"/>
                            <p:cNvSpPr>
                              <a:spLocks noChangeShapeType="1"/>
                            </p:cNvSpPr>
                            <p:nvPr/>
                          </p:nvSpPr>
                          <p:spPr bwMode="auto">
                            <a:xfrm flipV="1">
                              <a:off x="9678" y="6575"/>
                              <a:ext cx="6246" cy="3898"/>
                            </a:xfrm>
                            <a:prstGeom prst="line">
                              <a:avLst/>
                            </a:prstGeom>
                            <a:noFill/>
                            <a:ln w="25400">
                              <a:solidFill>
                                <a:srgbClr val="0000FF"/>
                              </a:solidFill>
                              <a:round/>
                              <a:headEnd type="non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6833" name="Line 27"/>
                            <p:cNvSpPr>
                              <a:spLocks noChangeShapeType="1"/>
                            </p:cNvSpPr>
                            <p:nvPr/>
                          </p:nvSpPr>
                          <p:spPr bwMode="auto">
                            <a:xfrm flipV="1">
                              <a:off x="16172" y="4965"/>
                              <a:ext cx="2299" cy="1483"/>
                            </a:xfrm>
                            <a:prstGeom prst="line">
                              <a:avLst/>
                            </a:prstGeom>
                            <a:noFill/>
                            <a:ln w="25400">
                              <a:solidFill>
                                <a:srgbClr val="800080"/>
                              </a:solidFill>
                              <a:round/>
                              <a:headEnd type="non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6834" name="Line 28"/>
                            <p:cNvSpPr>
                              <a:spLocks noChangeShapeType="1"/>
                            </p:cNvSpPr>
                            <p:nvPr/>
                          </p:nvSpPr>
                          <p:spPr bwMode="auto">
                            <a:xfrm>
                              <a:off x="15536" y="5636"/>
                              <a:ext cx="1025" cy="2019"/>
                            </a:xfrm>
                            <a:prstGeom prst="line">
                              <a:avLst/>
                            </a:prstGeom>
                            <a:noFill/>
                            <a:ln w="25400">
                              <a:solidFill>
                                <a:srgbClr val="FF00FF"/>
                              </a:solidFill>
                              <a:round/>
                              <a:headEnd type="none" w="med" len="sm"/>
                              <a:tailEnd type="non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76826" name="AutoShape 29"/>
                          <p:cNvSpPr>
                            <a:spLocks noChangeArrowheads="1"/>
                          </p:cNvSpPr>
                          <p:nvPr/>
                        </p:nvSpPr>
                        <p:spPr bwMode="auto">
                          <a:xfrm>
                            <a:off x="9168" y="8071"/>
                            <a:ext cx="3318" cy="3898"/>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a:solidFill>
                                  <a:srgbClr val="FF0000"/>
                                </a:solidFill>
                                <a:ea typeface="楷体_GB2312"/>
                                <a:sym typeface="Symbol" panose="05050102010706020507" pitchFamily="18" charset="2"/>
                              </a:rPr>
                              <a:t></a:t>
                            </a:r>
                            <a:endParaRPr lang="en-US" altLang="zh-CN" sz="1000" b="0">
                              <a:ea typeface="楷体_GB2312"/>
                            </a:endParaRPr>
                          </a:p>
                        </p:txBody>
                      </p:sp>
                    </p:grpSp>
                    <p:sp>
                      <p:nvSpPr>
                        <p:cNvPr id="76824" name="AutoShape 30"/>
                        <p:cNvSpPr>
                          <a:spLocks noChangeArrowheads="1"/>
                        </p:cNvSpPr>
                        <p:nvPr/>
                      </p:nvSpPr>
                      <p:spPr bwMode="auto">
                        <a:xfrm>
                          <a:off x="8023" y="5649"/>
                          <a:ext cx="2936" cy="4294"/>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i="1">
                              <a:solidFill>
                                <a:srgbClr val="FF0000"/>
                              </a:solidFill>
                              <a:ea typeface="楷体_GB2312"/>
                            </a:rPr>
                            <a:t>q</a:t>
                          </a:r>
                          <a:endParaRPr lang="en-US" altLang="zh-CN" sz="1000" b="0">
                            <a:ea typeface="楷体_GB2312"/>
                          </a:endParaRPr>
                        </a:p>
                      </p:txBody>
                    </p:sp>
                  </p:grpSp>
                  <p:sp>
                    <p:nvSpPr>
                      <p:cNvPr id="76822" name="AutoShape 31"/>
                      <p:cNvSpPr>
                        <a:spLocks noChangeArrowheads="1"/>
                      </p:cNvSpPr>
                      <p:nvPr/>
                    </p:nvSpPr>
                    <p:spPr bwMode="auto">
                      <a:xfrm>
                        <a:off x="16956" y="5777"/>
                        <a:ext cx="3043" cy="2556"/>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1600">
                            <a:solidFill>
                              <a:srgbClr val="FF00FF"/>
                            </a:solidFill>
                            <a:ea typeface="楷体_GB2312"/>
                          </a:rPr>
                          <a:t>d</a:t>
                        </a:r>
                        <a:r>
                          <a:rPr lang="en-US" altLang="zh-CN" sz="1600" i="1">
                            <a:solidFill>
                              <a:srgbClr val="FF00FF"/>
                            </a:solidFill>
                            <a:ea typeface="楷体_GB2312"/>
                          </a:rPr>
                          <a:t>S</a:t>
                        </a:r>
                        <a:endParaRPr lang="en-US" altLang="zh-CN" sz="1600">
                          <a:solidFill>
                            <a:srgbClr val="FF00FF"/>
                          </a:solidFill>
                          <a:ea typeface="楷体_GB2312"/>
                        </a:endParaRPr>
                      </a:p>
                      <a:p>
                        <a:pPr algn="just" eaLnBrk="1" hangingPunct="1">
                          <a:spcBef>
                            <a:spcPct val="0"/>
                          </a:spcBef>
                          <a:buFontTx/>
                          <a:buNone/>
                        </a:pPr>
                        <a:endParaRPr lang="en-US" altLang="zh-CN" sz="1000" b="0">
                          <a:ea typeface="楷体_GB2312"/>
                        </a:endParaRPr>
                      </a:p>
                    </p:txBody>
                  </p:sp>
                </p:grpSp>
                <p:sp>
                  <p:nvSpPr>
                    <p:cNvPr id="76820" name="AutoShape 32"/>
                    <p:cNvSpPr>
                      <a:spLocks noChangeArrowheads="1"/>
                    </p:cNvSpPr>
                    <p:nvPr/>
                  </p:nvSpPr>
                  <p:spPr bwMode="auto">
                    <a:xfrm>
                      <a:off x="17040" y="2556"/>
                      <a:ext cx="2960" cy="3630"/>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i="1">
                          <a:solidFill>
                            <a:srgbClr val="800080"/>
                          </a:solidFill>
                          <a:ea typeface="楷体_GB2312"/>
                        </a:rPr>
                        <a:t>E</a:t>
                      </a:r>
                      <a:endParaRPr lang="en-US" altLang="zh-CN" sz="2200">
                        <a:solidFill>
                          <a:srgbClr val="800080"/>
                        </a:solidFill>
                        <a:ea typeface="楷体_GB2312"/>
                      </a:endParaRPr>
                    </a:p>
                    <a:p>
                      <a:pPr algn="just" eaLnBrk="1" hangingPunct="1">
                        <a:spcBef>
                          <a:spcPct val="0"/>
                        </a:spcBef>
                        <a:buFontTx/>
                        <a:buNone/>
                      </a:pPr>
                      <a:endParaRPr lang="en-US" altLang="zh-CN" sz="1000" b="0">
                        <a:ea typeface="楷体_GB2312"/>
                      </a:endParaRPr>
                    </a:p>
                  </p:txBody>
                </p:sp>
              </p:grpSp>
            </p:grpSp>
            <p:sp>
              <p:nvSpPr>
                <p:cNvPr id="76816" name="AutoShape 33"/>
                <p:cNvSpPr>
                  <a:spLocks noChangeArrowheads="1"/>
                </p:cNvSpPr>
                <p:nvPr/>
              </p:nvSpPr>
              <p:spPr bwMode="auto">
                <a:xfrm>
                  <a:off x="11928" y="6899"/>
                  <a:ext cx="2050" cy="2766"/>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i="1">
                      <a:solidFill>
                        <a:srgbClr val="0000FF"/>
                      </a:solidFill>
                      <a:ea typeface="楷体_GB2312"/>
                    </a:rPr>
                    <a:t>r</a:t>
                  </a:r>
                  <a:endParaRPr lang="en-US" altLang="zh-CN" sz="1000" b="0">
                    <a:ea typeface="楷体_GB2312"/>
                  </a:endParaRPr>
                </a:p>
              </p:txBody>
            </p:sp>
          </p:grpSp>
        </p:grpSp>
        <p:sp>
          <p:nvSpPr>
            <p:cNvPr id="76812" name="AutoShape 34"/>
            <p:cNvSpPr>
              <a:spLocks noChangeArrowheads="1"/>
            </p:cNvSpPr>
            <p:nvPr/>
          </p:nvSpPr>
          <p:spPr bwMode="auto">
            <a:xfrm>
              <a:off x="5680" y="792"/>
              <a:ext cx="3641" cy="2886"/>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i="1">
                  <a:solidFill>
                    <a:srgbClr val="0000FF"/>
                  </a:solidFill>
                  <a:ea typeface="楷体_GB2312"/>
                </a:rPr>
                <a:t>S</a:t>
              </a:r>
              <a:endParaRPr lang="en-US" altLang="zh-CN" sz="1000" b="0">
                <a:ea typeface="楷体_GB2312"/>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4866"/>
                                        </p:tgtEl>
                                        <p:attrNameLst>
                                          <p:attrName>style.visibility</p:attrName>
                                        </p:attrNameLst>
                                      </p:cBhvr>
                                      <p:to>
                                        <p:strVal val="visible"/>
                                      </p:to>
                                    </p:set>
                                    <p:animEffect transition="in" filter="wipe(left)">
                                      <p:cBhvr>
                                        <p:cTn id="7" dur="500"/>
                                        <p:tgtEl>
                                          <p:spTgt spid="1648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164867">
                                            <p:txEl>
                                              <p:pRg st="0" end="0"/>
                                            </p:txEl>
                                          </p:spTgt>
                                        </p:tgtEl>
                                        <p:attrNameLst>
                                          <p:attrName>style.visibility</p:attrName>
                                        </p:attrNameLst>
                                      </p:cBhvr>
                                      <p:to>
                                        <p:strVal val="visible"/>
                                      </p:to>
                                    </p:set>
                                    <p:animEffect transition="in" filter="wipe(left)">
                                      <p:cBhvr>
                                        <p:cTn id="12" dur="75"/>
                                        <p:tgtEl>
                                          <p:spTgt spid="16486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64868"/>
                                        </p:tgtEl>
                                        <p:attrNameLst>
                                          <p:attrName>style.visibility</p:attrName>
                                        </p:attrNameLst>
                                      </p:cBhvr>
                                      <p:to>
                                        <p:strVal val="visible"/>
                                      </p:to>
                                    </p:set>
                                    <p:animEffect transition="in" filter="wipe(left)">
                                      <p:cBhvr>
                                        <p:cTn id="17" dur="500"/>
                                        <p:tgtEl>
                                          <p:spTgt spid="16486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4869">
                                            <p:txEl>
                                              <p:pRg st="0" end="0"/>
                                            </p:txEl>
                                          </p:spTgt>
                                        </p:tgtEl>
                                        <p:attrNameLst>
                                          <p:attrName>style.visibility</p:attrName>
                                        </p:attrNameLst>
                                      </p:cBhvr>
                                      <p:to>
                                        <p:strVal val="visible"/>
                                      </p:to>
                                    </p:set>
                                    <p:animEffect transition="in" filter="wipe(left)">
                                      <p:cBhvr>
                                        <p:cTn id="22" dur="500"/>
                                        <p:tgtEl>
                                          <p:spTgt spid="164869">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4869">
                                            <p:txEl>
                                              <p:pRg st="1" end="1"/>
                                            </p:txEl>
                                          </p:spTgt>
                                        </p:tgtEl>
                                        <p:attrNameLst>
                                          <p:attrName>style.visibility</p:attrName>
                                        </p:attrNameLst>
                                      </p:cBhvr>
                                      <p:to>
                                        <p:strVal val="visible"/>
                                      </p:to>
                                    </p:set>
                                    <p:animEffect transition="in" filter="wipe(left)">
                                      <p:cBhvr>
                                        <p:cTn id="27" dur="500"/>
                                        <p:tgtEl>
                                          <p:spTgt spid="164869">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4871"/>
                                        </p:tgtEl>
                                        <p:attrNameLst>
                                          <p:attrName>style.visibility</p:attrName>
                                        </p:attrNameLst>
                                      </p:cBhvr>
                                      <p:to>
                                        <p:strVal val="visible"/>
                                      </p:to>
                                    </p:set>
                                    <p:animEffect transition="in" filter="wipe(left)">
                                      <p:cBhvr>
                                        <p:cTn id="32" dur="500"/>
                                        <p:tgtEl>
                                          <p:spTgt spid="16487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nodeType="clickEffect">
                                  <p:stCondLst>
                                    <p:cond delay="0"/>
                                  </p:stCondLst>
                                  <p:childTnLst>
                                    <p:set>
                                      <p:cBhvr>
                                        <p:cTn id="36" dur="1" fill="hold">
                                          <p:stCondLst>
                                            <p:cond delay="0"/>
                                          </p:stCondLst>
                                        </p:cTn>
                                        <p:tgtEl>
                                          <p:spTgt spid="164874"/>
                                        </p:tgtEl>
                                        <p:attrNameLst>
                                          <p:attrName>style.visibility</p:attrName>
                                        </p:attrNameLst>
                                      </p:cBhvr>
                                      <p:to>
                                        <p:strVal val="visible"/>
                                      </p:to>
                                    </p:set>
                                    <p:anim calcmode="lin" valueType="num">
                                      <p:cBhvr additive="base">
                                        <p:cTn id="37" dur="500" fill="hold"/>
                                        <p:tgtEl>
                                          <p:spTgt spid="164874"/>
                                        </p:tgtEl>
                                        <p:attrNameLst>
                                          <p:attrName>ppt_x</p:attrName>
                                        </p:attrNameLst>
                                      </p:cBhvr>
                                      <p:tavLst>
                                        <p:tav tm="0">
                                          <p:val>
                                            <p:strVal val="1+#ppt_w/2"/>
                                          </p:val>
                                        </p:tav>
                                        <p:tav tm="100000">
                                          <p:val>
                                            <p:strVal val="#ppt_x"/>
                                          </p:val>
                                        </p:tav>
                                      </p:tavLst>
                                    </p:anim>
                                    <p:anim calcmode="lin" valueType="num">
                                      <p:cBhvr additive="base">
                                        <p:cTn id="38" dur="500" fill="hold"/>
                                        <p:tgtEl>
                                          <p:spTgt spid="164874"/>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iterate type="lt">
                                    <p:tmPct val="100000"/>
                                  </p:iterate>
                                  <p:childTnLst>
                                    <p:set>
                                      <p:cBhvr>
                                        <p:cTn id="42" dur="1" fill="hold">
                                          <p:stCondLst>
                                            <p:cond delay="0"/>
                                          </p:stCondLst>
                                        </p:cTn>
                                        <p:tgtEl>
                                          <p:spTgt spid="164870">
                                            <p:txEl>
                                              <p:pRg st="0" end="0"/>
                                            </p:txEl>
                                          </p:spTgt>
                                        </p:tgtEl>
                                        <p:attrNameLst>
                                          <p:attrName>style.visibility</p:attrName>
                                        </p:attrNameLst>
                                      </p:cBhvr>
                                      <p:to>
                                        <p:strVal val="visible"/>
                                      </p:to>
                                    </p:set>
                                    <p:animEffect transition="in" filter="wipe(left)">
                                      <p:cBhvr>
                                        <p:cTn id="43" dur="75"/>
                                        <p:tgtEl>
                                          <p:spTgt spid="164870">
                                            <p:txEl>
                                              <p:pRg st="0" end="0"/>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iterate type="lt">
                                    <p:tmPct val="100000"/>
                                  </p:iterate>
                                  <p:childTnLst>
                                    <p:set>
                                      <p:cBhvr>
                                        <p:cTn id="47" dur="1" fill="hold">
                                          <p:stCondLst>
                                            <p:cond delay="0"/>
                                          </p:stCondLst>
                                        </p:cTn>
                                        <p:tgtEl>
                                          <p:spTgt spid="164870">
                                            <p:txEl>
                                              <p:pRg st="1" end="1"/>
                                            </p:txEl>
                                          </p:spTgt>
                                        </p:tgtEl>
                                        <p:attrNameLst>
                                          <p:attrName>style.visibility</p:attrName>
                                        </p:attrNameLst>
                                      </p:cBhvr>
                                      <p:to>
                                        <p:strVal val="visible"/>
                                      </p:to>
                                    </p:set>
                                    <p:animEffect transition="in" filter="wipe(left)">
                                      <p:cBhvr>
                                        <p:cTn id="48" dur="75"/>
                                        <p:tgtEl>
                                          <p:spTgt spid="164870">
                                            <p:txEl>
                                              <p:pRg st="1" end="1"/>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164872"/>
                                        </p:tgtEl>
                                        <p:attrNameLst>
                                          <p:attrName>style.visibility</p:attrName>
                                        </p:attrNameLst>
                                      </p:cBhvr>
                                      <p:to>
                                        <p:strVal val="visible"/>
                                      </p:to>
                                    </p:set>
                                    <p:animEffect transition="in" filter="wipe(left)">
                                      <p:cBhvr>
                                        <p:cTn id="53" dur="500"/>
                                        <p:tgtEl>
                                          <p:spTgt spid="16487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164873"/>
                                        </p:tgtEl>
                                        <p:attrNameLst>
                                          <p:attrName>style.visibility</p:attrName>
                                        </p:attrNameLst>
                                      </p:cBhvr>
                                      <p:to>
                                        <p:strVal val="visible"/>
                                      </p:to>
                                    </p:set>
                                    <p:animEffect transition="in" filter="wipe(left)">
                                      <p:cBhvr>
                                        <p:cTn id="58" dur="500"/>
                                        <p:tgtEl>
                                          <p:spTgt spid="1648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6" grpId="0" autoUpdateAnimBg="0"/>
      <p:bldP spid="164867" grpId="0" build="p" autoUpdateAnimBg="0"/>
      <p:bldP spid="164869" grpId="0" build="p" bldLvl="2" autoUpdateAnimBg="0"/>
      <p:bldP spid="164870" grpId="0" build="p" autoUpdateAnimBg="0"/>
      <p:bldP spid="164871"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5890" name="Object 2"/>
          <p:cNvGraphicFramePr>
            <a:graphicFrameLocks noChangeAspect="1"/>
          </p:cNvGraphicFramePr>
          <p:nvPr>
            <p:extLst>
              <p:ext uri="{D42A27DB-BD31-4B8C-83A1-F6EECF244321}">
                <p14:modId xmlns:p14="http://schemas.microsoft.com/office/powerpoint/2010/main" val="4156578148"/>
              </p:ext>
            </p:extLst>
          </p:nvPr>
        </p:nvGraphicFramePr>
        <p:xfrm>
          <a:off x="387350" y="136525"/>
          <a:ext cx="5175250" cy="1055688"/>
        </p:xfrm>
        <a:graphic>
          <a:graphicData uri="http://schemas.openxmlformats.org/presentationml/2006/ole">
            <mc:AlternateContent xmlns:mc="http://schemas.openxmlformats.org/markup-compatibility/2006">
              <mc:Choice xmlns:v="urn:schemas-microsoft-com:vml" Requires="v">
                <p:oleObj spid="_x0000_s78394" name="Equation" r:id="rId3" imgW="2171520" imgH="444240" progId="Equation.DSMT4">
                  <p:embed/>
                </p:oleObj>
              </mc:Choice>
              <mc:Fallback>
                <p:oleObj name="Equation" r:id="rId3" imgW="2171520" imgH="444240" progId="Equation.DSMT4">
                  <p:embed/>
                  <p:pic>
                    <p:nvPicPr>
                      <p:cNvPr id="0" name="Object 2"/>
                      <p:cNvPicPr>
                        <a:picLocks noChangeAspect="1" noChangeArrowheads="1"/>
                      </p:cNvPicPr>
                      <p:nvPr/>
                    </p:nvPicPr>
                    <p:blipFill>
                      <a:blip r:embed="rId4"/>
                      <a:srcRect/>
                      <a:stretch>
                        <a:fillRect/>
                      </a:stretch>
                    </p:blipFill>
                    <p:spPr bwMode="auto">
                      <a:xfrm>
                        <a:off x="387350" y="136525"/>
                        <a:ext cx="5175250" cy="1055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5891" name="Object 3"/>
          <p:cNvGraphicFramePr>
            <a:graphicFrameLocks noChangeAspect="1"/>
          </p:cNvGraphicFramePr>
          <p:nvPr>
            <p:extLst>
              <p:ext uri="{D42A27DB-BD31-4B8C-83A1-F6EECF244321}">
                <p14:modId xmlns:p14="http://schemas.microsoft.com/office/powerpoint/2010/main" val="1371254669"/>
              </p:ext>
            </p:extLst>
          </p:nvPr>
        </p:nvGraphicFramePr>
        <p:xfrm>
          <a:off x="239713" y="1203325"/>
          <a:ext cx="7897812" cy="1054100"/>
        </p:xfrm>
        <a:graphic>
          <a:graphicData uri="http://schemas.openxmlformats.org/presentationml/2006/ole">
            <mc:AlternateContent xmlns:mc="http://schemas.openxmlformats.org/markup-compatibility/2006">
              <mc:Choice xmlns:v="urn:schemas-microsoft-com:vml" Requires="v">
                <p:oleObj spid="_x0000_s78395" name="Equation" r:id="rId5" imgW="3314520" imgH="444240" progId="Equation.DSMT4">
                  <p:embed/>
                </p:oleObj>
              </mc:Choice>
              <mc:Fallback>
                <p:oleObj name="Equation" r:id="rId5" imgW="3314520" imgH="444240" progId="Equation.DSMT4">
                  <p:embed/>
                  <p:pic>
                    <p:nvPicPr>
                      <p:cNvPr id="0" name="Object 3"/>
                      <p:cNvPicPr>
                        <a:picLocks noChangeAspect="1" noChangeArrowheads="1"/>
                      </p:cNvPicPr>
                      <p:nvPr/>
                    </p:nvPicPr>
                    <p:blipFill>
                      <a:blip r:embed="rId6"/>
                      <a:srcRect/>
                      <a:stretch>
                        <a:fillRect/>
                      </a:stretch>
                    </p:blipFill>
                    <p:spPr bwMode="auto">
                      <a:xfrm>
                        <a:off x="239713" y="1203325"/>
                        <a:ext cx="7897812"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5892" name="Text Box 4"/>
          <p:cNvSpPr txBox="1">
            <a:spLocks noChangeArrowheads="1"/>
          </p:cNvSpPr>
          <p:nvPr/>
        </p:nvSpPr>
        <p:spPr bwMode="auto">
          <a:xfrm>
            <a:off x="381000" y="2489200"/>
            <a:ext cx="642302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此结果与球面的半径无关。或者说，通过各球面的电场线总条数相等。</a:t>
            </a:r>
            <a:r>
              <a:rPr lang="zh-CN" altLang="en-US" sz="2400">
                <a:solidFill>
                  <a:srgbClr val="3333FF"/>
                </a:solidFill>
                <a:ea typeface="楷体_GB2312"/>
              </a:rPr>
              <a:t>从 </a:t>
            </a:r>
            <a:r>
              <a:rPr lang="en-US" altLang="zh-CN" sz="2400" i="1">
                <a:solidFill>
                  <a:srgbClr val="3333FF"/>
                </a:solidFill>
                <a:ea typeface="楷体_GB2312"/>
              </a:rPr>
              <a:t>q</a:t>
            </a:r>
            <a:r>
              <a:rPr lang="zh-CN" altLang="en-US" sz="2400">
                <a:solidFill>
                  <a:srgbClr val="3333FF"/>
                </a:solidFill>
                <a:ea typeface="楷体_GB2312"/>
              </a:rPr>
              <a:t>发出的电场线连续的延伸到无穷远。</a:t>
            </a:r>
            <a:endParaRPr lang="zh-CN" altLang="en-US" sz="2400">
              <a:ea typeface="楷体_GB2312"/>
            </a:endParaRPr>
          </a:p>
        </p:txBody>
      </p:sp>
      <p:grpSp>
        <p:nvGrpSpPr>
          <p:cNvPr id="165893" name="Group 5"/>
          <p:cNvGrpSpPr>
            <a:grpSpLocks/>
          </p:cNvGrpSpPr>
          <p:nvPr/>
        </p:nvGrpSpPr>
        <p:grpSpPr bwMode="auto">
          <a:xfrm>
            <a:off x="6858000" y="2667000"/>
            <a:ext cx="1857375" cy="1500188"/>
            <a:chOff x="4320" y="1680"/>
            <a:chExt cx="1170" cy="945"/>
          </a:xfrm>
        </p:grpSpPr>
        <p:sp>
          <p:nvSpPr>
            <p:cNvPr id="77847" name="Oval 6"/>
            <p:cNvSpPr>
              <a:spLocks noChangeArrowheads="1"/>
            </p:cNvSpPr>
            <p:nvPr/>
          </p:nvSpPr>
          <p:spPr bwMode="auto">
            <a:xfrm>
              <a:off x="4320" y="1809"/>
              <a:ext cx="864" cy="816"/>
            </a:xfrm>
            <a:prstGeom prst="ellipse">
              <a:avLst/>
            </a:prstGeom>
            <a:noFill/>
            <a:ln w="412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aphicFrame>
          <p:nvGraphicFramePr>
            <p:cNvPr id="77848" name="Object 7"/>
            <p:cNvGraphicFramePr>
              <a:graphicFrameLocks noChangeAspect="1"/>
            </p:cNvGraphicFramePr>
            <p:nvPr/>
          </p:nvGraphicFramePr>
          <p:xfrm>
            <a:off x="4512" y="2256"/>
            <a:ext cx="258" cy="336"/>
          </p:xfrm>
          <a:graphic>
            <a:graphicData uri="http://schemas.openxmlformats.org/presentationml/2006/ole">
              <mc:AlternateContent xmlns:mc="http://schemas.openxmlformats.org/markup-compatibility/2006">
                <mc:Choice xmlns:v="urn:schemas-microsoft-com:vml" Requires="v">
                  <p:oleObj spid="_x0000_s78396" name="公式" r:id="rId7" imgW="126780" imgH="164814" progId="Equation.3">
                    <p:embed/>
                  </p:oleObj>
                </mc:Choice>
                <mc:Fallback>
                  <p:oleObj name="公式" r:id="rId7" imgW="126780" imgH="164814"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12" y="2256"/>
                          <a:ext cx="25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7849" name="Oval 8"/>
            <p:cNvSpPr>
              <a:spLocks noChangeArrowheads="1"/>
            </p:cNvSpPr>
            <p:nvPr/>
          </p:nvSpPr>
          <p:spPr bwMode="auto">
            <a:xfrm>
              <a:off x="4752" y="2224"/>
              <a:ext cx="48" cy="48"/>
            </a:xfrm>
            <a:prstGeom prst="ellipse">
              <a:avLst/>
            </a:prstGeom>
            <a:solidFill>
              <a:srgbClr val="CC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77850" name="Line 9"/>
            <p:cNvSpPr>
              <a:spLocks noChangeShapeType="1"/>
            </p:cNvSpPr>
            <p:nvPr/>
          </p:nvSpPr>
          <p:spPr bwMode="auto">
            <a:xfrm flipV="1">
              <a:off x="4800" y="2112"/>
              <a:ext cx="336" cy="144"/>
            </a:xfrm>
            <a:prstGeom prst="line">
              <a:avLst/>
            </a:prstGeom>
            <a:noFill/>
            <a:ln w="38100">
              <a:solidFill>
                <a:schemeClr val="tx1"/>
              </a:solidFill>
              <a:round/>
              <a:headEnd/>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51" name="Line 10"/>
            <p:cNvSpPr>
              <a:spLocks noChangeShapeType="1"/>
            </p:cNvSpPr>
            <p:nvPr/>
          </p:nvSpPr>
          <p:spPr bwMode="auto">
            <a:xfrm rot="21166043" flipV="1">
              <a:off x="5184" y="1985"/>
              <a:ext cx="306" cy="96"/>
            </a:xfrm>
            <a:prstGeom prst="line">
              <a:avLst/>
            </a:prstGeom>
            <a:noFill/>
            <a:ln w="41275">
              <a:solidFill>
                <a:srgbClr val="3333FF"/>
              </a:solidFill>
              <a:round/>
              <a:headEnd/>
              <a:tailEnd type="arrow"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7852" name="Object 11"/>
            <p:cNvGraphicFramePr>
              <a:graphicFrameLocks noChangeAspect="1"/>
            </p:cNvGraphicFramePr>
            <p:nvPr/>
          </p:nvGraphicFramePr>
          <p:xfrm>
            <a:off x="4656" y="1872"/>
            <a:ext cx="258" cy="310"/>
          </p:xfrm>
          <a:graphic>
            <a:graphicData uri="http://schemas.openxmlformats.org/presentationml/2006/ole">
              <mc:AlternateContent xmlns:mc="http://schemas.openxmlformats.org/markup-compatibility/2006">
                <mc:Choice xmlns:v="urn:schemas-microsoft-com:vml" Requires="v">
                  <p:oleObj spid="_x0000_s78397" name="公式" r:id="rId9" imgW="126835" imgH="152202" progId="Equation.3">
                    <p:embed/>
                  </p:oleObj>
                </mc:Choice>
                <mc:Fallback>
                  <p:oleObj name="公式" r:id="rId9" imgW="126835" imgH="152202"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56" y="1872"/>
                          <a:ext cx="258"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7853" name="Object 12"/>
            <p:cNvGraphicFramePr>
              <a:graphicFrameLocks noChangeAspect="1"/>
            </p:cNvGraphicFramePr>
            <p:nvPr/>
          </p:nvGraphicFramePr>
          <p:xfrm>
            <a:off x="5088" y="1680"/>
            <a:ext cx="288" cy="363"/>
          </p:xfrm>
          <a:graphic>
            <a:graphicData uri="http://schemas.openxmlformats.org/presentationml/2006/ole">
              <mc:AlternateContent xmlns:mc="http://schemas.openxmlformats.org/markup-compatibility/2006">
                <mc:Choice xmlns:v="urn:schemas-microsoft-com:vml" Requires="v">
                  <p:oleObj spid="_x0000_s78398" name="公式" r:id="rId11" imgW="152334" imgH="190417" progId="Equation.3">
                    <p:embed/>
                  </p:oleObj>
                </mc:Choice>
                <mc:Fallback>
                  <p:oleObj name="公式" r:id="rId11" imgW="152334" imgH="190417"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88" y="1680"/>
                          <a:ext cx="288"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65901" name="Text Box 13"/>
          <p:cNvSpPr txBox="1">
            <a:spLocks noChangeArrowheads="1"/>
          </p:cNvSpPr>
          <p:nvPr/>
        </p:nvSpPr>
        <p:spPr bwMode="auto">
          <a:xfrm>
            <a:off x="304800" y="3962400"/>
            <a:ext cx="518795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solidFill>
                  <a:srgbClr val="FF3300"/>
                </a:solidFill>
                <a:ea typeface="楷体_GB2312"/>
              </a:rPr>
              <a:t>（</a:t>
            </a:r>
            <a:r>
              <a:rPr lang="en-US" altLang="zh-CN" sz="2400">
                <a:solidFill>
                  <a:srgbClr val="FF3300"/>
                </a:solidFill>
                <a:ea typeface="楷体_GB2312"/>
              </a:rPr>
              <a:t>2</a:t>
            </a:r>
            <a:r>
              <a:rPr lang="zh-CN" altLang="en-US" sz="2400">
                <a:solidFill>
                  <a:srgbClr val="FF3300"/>
                </a:solidFill>
                <a:ea typeface="楷体_GB2312"/>
              </a:rPr>
              <a:t>）包围点电荷</a:t>
            </a:r>
            <a:r>
              <a:rPr lang="en-US" altLang="zh-CN" sz="2400" i="1">
                <a:solidFill>
                  <a:srgbClr val="FF3300"/>
                </a:solidFill>
                <a:ea typeface="楷体_GB2312"/>
              </a:rPr>
              <a:t>q</a:t>
            </a:r>
            <a:r>
              <a:rPr lang="zh-CN" altLang="en-US" sz="2400">
                <a:solidFill>
                  <a:srgbClr val="FF3300"/>
                </a:solidFill>
                <a:ea typeface="楷体_GB2312"/>
              </a:rPr>
              <a:t>的任意封闭曲面</a:t>
            </a:r>
            <a:r>
              <a:rPr lang="en-US" altLang="zh-CN" sz="2400">
                <a:solidFill>
                  <a:srgbClr val="FF3300"/>
                </a:solidFill>
                <a:ea typeface="楷体_GB2312"/>
              </a:rPr>
              <a:t>S'</a:t>
            </a:r>
            <a:endParaRPr lang="en-US" altLang="zh-CN" sz="2400">
              <a:ea typeface="楷体_GB2312"/>
            </a:endParaRPr>
          </a:p>
        </p:txBody>
      </p:sp>
      <p:grpSp>
        <p:nvGrpSpPr>
          <p:cNvPr id="165902" name="Group 14"/>
          <p:cNvGrpSpPr>
            <a:grpSpLocks/>
          </p:cNvGrpSpPr>
          <p:nvPr/>
        </p:nvGrpSpPr>
        <p:grpSpPr bwMode="auto">
          <a:xfrm>
            <a:off x="6629400" y="4267200"/>
            <a:ext cx="2273300" cy="2247900"/>
            <a:chOff x="5800" y="9613"/>
            <a:chExt cx="3581" cy="3540"/>
          </a:xfrm>
        </p:grpSpPr>
        <p:sp>
          <p:nvSpPr>
            <p:cNvPr id="77833" name="Oval 15"/>
            <p:cNvSpPr>
              <a:spLocks noChangeArrowheads="1"/>
            </p:cNvSpPr>
            <p:nvPr/>
          </p:nvSpPr>
          <p:spPr bwMode="auto">
            <a:xfrm>
              <a:off x="6280" y="9973"/>
              <a:ext cx="2681" cy="2681"/>
            </a:xfrm>
            <a:prstGeom prst="ellipse">
              <a:avLst/>
            </a:prstGeom>
            <a:noFill/>
            <a:ln w="25400">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77834" name="Line 16"/>
            <p:cNvSpPr>
              <a:spLocks noChangeShapeType="1"/>
            </p:cNvSpPr>
            <p:nvPr/>
          </p:nvSpPr>
          <p:spPr bwMode="auto">
            <a:xfrm>
              <a:off x="5800" y="11353"/>
              <a:ext cx="3581" cy="1"/>
            </a:xfrm>
            <a:prstGeom prst="line">
              <a:avLst/>
            </a:prstGeom>
            <a:noFill/>
            <a:ln w="9525">
              <a:solidFill>
                <a:srgbClr val="800080"/>
              </a:solidFill>
              <a:round/>
              <a:headEnd type="triangl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7835" name="Line 17"/>
            <p:cNvSpPr>
              <a:spLocks noChangeShapeType="1"/>
            </p:cNvSpPr>
            <p:nvPr/>
          </p:nvSpPr>
          <p:spPr bwMode="auto">
            <a:xfrm>
              <a:off x="7600" y="9633"/>
              <a:ext cx="1" cy="3501"/>
            </a:xfrm>
            <a:prstGeom prst="line">
              <a:avLst/>
            </a:prstGeom>
            <a:noFill/>
            <a:ln w="9525">
              <a:solidFill>
                <a:srgbClr val="800080"/>
              </a:solidFill>
              <a:round/>
              <a:headEnd type="triangl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7836" name="Line 18"/>
            <p:cNvSpPr>
              <a:spLocks noChangeShapeType="1"/>
            </p:cNvSpPr>
            <p:nvPr/>
          </p:nvSpPr>
          <p:spPr bwMode="auto">
            <a:xfrm flipV="1">
              <a:off x="6360" y="9953"/>
              <a:ext cx="2521" cy="2721"/>
            </a:xfrm>
            <a:prstGeom prst="line">
              <a:avLst/>
            </a:prstGeom>
            <a:noFill/>
            <a:ln w="9525">
              <a:solidFill>
                <a:srgbClr val="800080"/>
              </a:solidFill>
              <a:round/>
              <a:headEnd type="triangl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7837" name="Line 19"/>
            <p:cNvSpPr>
              <a:spLocks noChangeShapeType="1"/>
            </p:cNvSpPr>
            <p:nvPr/>
          </p:nvSpPr>
          <p:spPr bwMode="auto">
            <a:xfrm>
              <a:off x="6260" y="10133"/>
              <a:ext cx="2661" cy="2461"/>
            </a:xfrm>
            <a:prstGeom prst="line">
              <a:avLst/>
            </a:prstGeom>
            <a:noFill/>
            <a:ln w="9525">
              <a:solidFill>
                <a:srgbClr val="800080"/>
              </a:solidFill>
              <a:round/>
              <a:headEnd type="triangl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7838" name="AutoShape 20"/>
            <p:cNvSpPr>
              <a:spLocks noChangeArrowheads="1"/>
            </p:cNvSpPr>
            <p:nvPr/>
          </p:nvSpPr>
          <p:spPr bwMode="auto">
            <a:xfrm>
              <a:off x="7480" y="11013"/>
              <a:ext cx="481" cy="621"/>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a:solidFill>
                    <a:srgbClr val="FF0000"/>
                  </a:solidFill>
                  <a:ea typeface="楷体_GB2312"/>
                  <a:sym typeface="Symbol" panose="05050102010706020507" pitchFamily="18" charset="2"/>
                </a:rPr>
                <a:t></a:t>
              </a:r>
              <a:endParaRPr lang="en-US" altLang="zh-CN" sz="1000" b="0">
                <a:ea typeface="楷体_GB2312"/>
              </a:endParaRPr>
            </a:p>
          </p:txBody>
        </p:sp>
        <p:sp>
          <p:nvSpPr>
            <p:cNvPr id="77839" name="AutoShape 21"/>
            <p:cNvSpPr>
              <a:spLocks noChangeArrowheads="1"/>
            </p:cNvSpPr>
            <p:nvPr/>
          </p:nvSpPr>
          <p:spPr bwMode="auto">
            <a:xfrm>
              <a:off x="7340" y="10693"/>
              <a:ext cx="401" cy="621"/>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i="1">
                  <a:solidFill>
                    <a:srgbClr val="FF0000"/>
                  </a:solidFill>
                  <a:ea typeface="楷体_GB2312"/>
                </a:rPr>
                <a:t>q</a:t>
              </a:r>
              <a:endParaRPr lang="en-US" altLang="zh-CN" sz="1000" b="0">
                <a:ea typeface="楷体_GB2312"/>
              </a:endParaRPr>
            </a:p>
          </p:txBody>
        </p:sp>
        <p:sp>
          <p:nvSpPr>
            <p:cNvPr id="77840" name="AutoShape 22"/>
            <p:cNvSpPr>
              <a:spLocks noChangeArrowheads="1"/>
            </p:cNvSpPr>
            <p:nvPr/>
          </p:nvSpPr>
          <p:spPr bwMode="auto">
            <a:xfrm>
              <a:off x="8220" y="9613"/>
              <a:ext cx="581" cy="541"/>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i="1">
                  <a:solidFill>
                    <a:srgbClr val="0000FF"/>
                  </a:solidFill>
                  <a:ea typeface="楷体_GB2312"/>
                </a:rPr>
                <a:t>S</a:t>
              </a:r>
              <a:endParaRPr lang="en-US" altLang="zh-CN" sz="1000" b="0">
                <a:ea typeface="楷体_GB2312"/>
              </a:endParaRPr>
            </a:p>
          </p:txBody>
        </p:sp>
        <p:sp>
          <p:nvSpPr>
            <p:cNvPr id="77841" name="AutoShape 23"/>
            <p:cNvSpPr>
              <a:spLocks noChangeArrowheads="1"/>
            </p:cNvSpPr>
            <p:nvPr/>
          </p:nvSpPr>
          <p:spPr bwMode="auto">
            <a:xfrm>
              <a:off x="8120" y="10773"/>
              <a:ext cx="481" cy="501"/>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i="1">
                  <a:solidFill>
                    <a:srgbClr val="0000FF"/>
                  </a:solidFill>
                  <a:ea typeface="楷体_GB2312"/>
                </a:rPr>
                <a:t>S</a:t>
              </a:r>
              <a:r>
                <a:rPr lang="en-US" altLang="zh-CN" sz="2200">
                  <a:solidFill>
                    <a:srgbClr val="0000FF"/>
                  </a:solidFill>
                  <a:ea typeface="楷体_GB2312"/>
                  <a:sym typeface="Symbol" panose="05050102010706020507" pitchFamily="18" charset="2"/>
                </a:rPr>
                <a:t></a:t>
              </a:r>
              <a:endParaRPr lang="en-US" altLang="zh-CN" sz="1000" b="0">
                <a:ea typeface="楷体_GB2312"/>
              </a:endParaRPr>
            </a:p>
          </p:txBody>
        </p:sp>
        <p:sp>
          <p:nvSpPr>
            <p:cNvPr id="77842" name="Arc 24"/>
            <p:cNvSpPr>
              <a:spLocks/>
            </p:cNvSpPr>
            <p:nvPr/>
          </p:nvSpPr>
          <p:spPr bwMode="auto">
            <a:xfrm flipH="1" flipV="1">
              <a:off x="6921" y="10712"/>
              <a:ext cx="667" cy="1329"/>
            </a:xfrm>
            <a:custGeom>
              <a:avLst/>
              <a:gdLst>
                <a:gd name="T0" fmla="*/ 0 w 25697"/>
                <a:gd name="T1" fmla="*/ 0 h 21600"/>
                <a:gd name="T2" fmla="*/ 0 w 25697"/>
                <a:gd name="T3" fmla="*/ 0 h 21600"/>
                <a:gd name="T4" fmla="*/ 0 w 25697"/>
                <a:gd name="T5" fmla="*/ 0 h 21600"/>
                <a:gd name="T6" fmla="*/ 0 60000 65536"/>
                <a:gd name="T7" fmla="*/ 0 60000 65536"/>
                <a:gd name="T8" fmla="*/ 0 60000 65536"/>
              </a:gdLst>
              <a:ahLst/>
              <a:cxnLst>
                <a:cxn ang="T6">
                  <a:pos x="T0" y="T1"/>
                </a:cxn>
                <a:cxn ang="T7">
                  <a:pos x="T2" y="T3"/>
                </a:cxn>
                <a:cxn ang="T8">
                  <a:pos x="T4" y="T5"/>
                </a:cxn>
              </a:cxnLst>
              <a:rect l="0" t="0" r="r" b="b"/>
              <a:pathLst>
                <a:path w="25697" h="21600" fill="none" extrusionOk="0">
                  <a:moveTo>
                    <a:pt x="0" y="392"/>
                  </a:moveTo>
                  <a:cubicBezTo>
                    <a:pt x="1350" y="131"/>
                    <a:pt x="2721" y="-1"/>
                    <a:pt x="4097" y="0"/>
                  </a:cubicBezTo>
                  <a:cubicBezTo>
                    <a:pt x="16026" y="0"/>
                    <a:pt x="25697" y="9670"/>
                    <a:pt x="25697" y="21600"/>
                  </a:cubicBezTo>
                </a:path>
                <a:path w="25697" h="21600" stroke="0" extrusionOk="0">
                  <a:moveTo>
                    <a:pt x="0" y="392"/>
                  </a:moveTo>
                  <a:cubicBezTo>
                    <a:pt x="1350" y="131"/>
                    <a:pt x="2721" y="-1"/>
                    <a:pt x="4097" y="0"/>
                  </a:cubicBezTo>
                  <a:cubicBezTo>
                    <a:pt x="16026" y="0"/>
                    <a:pt x="25697" y="9670"/>
                    <a:pt x="25697" y="21600"/>
                  </a:cubicBezTo>
                  <a:lnTo>
                    <a:pt x="4097" y="21600"/>
                  </a:lnTo>
                  <a:lnTo>
                    <a:pt x="0" y="392"/>
                  </a:lnTo>
                  <a:close/>
                </a:path>
              </a:pathLst>
            </a:custGeom>
            <a:noFill/>
            <a:ln w="25400">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7843" name="Arc 25"/>
            <p:cNvSpPr>
              <a:spLocks/>
            </p:cNvSpPr>
            <p:nvPr/>
          </p:nvSpPr>
          <p:spPr bwMode="auto">
            <a:xfrm flipH="1">
              <a:off x="6920" y="10381"/>
              <a:ext cx="821" cy="37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7844" name="Arc 26"/>
            <p:cNvSpPr>
              <a:spLocks/>
            </p:cNvSpPr>
            <p:nvPr/>
          </p:nvSpPr>
          <p:spPr bwMode="auto">
            <a:xfrm flipV="1">
              <a:off x="7520" y="11100"/>
              <a:ext cx="541" cy="93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7845" name="Arc 27"/>
            <p:cNvSpPr>
              <a:spLocks/>
            </p:cNvSpPr>
            <p:nvPr/>
          </p:nvSpPr>
          <p:spPr bwMode="auto">
            <a:xfrm>
              <a:off x="7720" y="10380"/>
              <a:ext cx="321" cy="781"/>
            </a:xfrm>
            <a:custGeom>
              <a:avLst/>
              <a:gdLst>
                <a:gd name="T0" fmla="*/ 0 w 21600"/>
                <a:gd name="T1" fmla="*/ 0 h 25458"/>
                <a:gd name="T2" fmla="*/ 0 w 21600"/>
                <a:gd name="T3" fmla="*/ 0 h 25458"/>
                <a:gd name="T4" fmla="*/ 0 w 21600"/>
                <a:gd name="T5" fmla="*/ 0 h 25458"/>
                <a:gd name="T6" fmla="*/ 0 60000 65536"/>
                <a:gd name="T7" fmla="*/ 0 60000 65536"/>
                <a:gd name="T8" fmla="*/ 0 60000 65536"/>
              </a:gdLst>
              <a:ahLst/>
              <a:cxnLst>
                <a:cxn ang="T6">
                  <a:pos x="T0" y="T1"/>
                </a:cxn>
                <a:cxn ang="T7">
                  <a:pos x="T2" y="T3"/>
                </a:cxn>
                <a:cxn ang="T8">
                  <a:pos x="T4" y="T5"/>
                </a:cxn>
              </a:cxnLst>
              <a:rect l="0" t="0" r="r" b="b"/>
              <a:pathLst>
                <a:path w="21600" h="25458" fill="none" extrusionOk="0">
                  <a:moveTo>
                    <a:pt x="-1" y="0"/>
                  </a:moveTo>
                  <a:cubicBezTo>
                    <a:pt x="11929" y="0"/>
                    <a:pt x="21600" y="9670"/>
                    <a:pt x="21600" y="21600"/>
                  </a:cubicBezTo>
                  <a:cubicBezTo>
                    <a:pt x="21600" y="22893"/>
                    <a:pt x="21483" y="24184"/>
                    <a:pt x="21252" y="25457"/>
                  </a:cubicBezTo>
                </a:path>
                <a:path w="21600" h="25458" stroke="0" extrusionOk="0">
                  <a:moveTo>
                    <a:pt x="-1" y="0"/>
                  </a:moveTo>
                  <a:cubicBezTo>
                    <a:pt x="11929" y="0"/>
                    <a:pt x="21600" y="9670"/>
                    <a:pt x="21600" y="21600"/>
                  </a:cubicBezTo>
                  <a:cubicBezTo>
                    <a:pt x="21600" y="22893"/>
                    <a:pt x="21483" y="24184"/>
                    <a:pt x="21252" y="25457"/>
                  </a:cubicBezTo>
                  <a:lnTo>
                    <a:pt x="0" y="21600"/>
                  </a:lnTo>
                  <a:lnTo>
                    <a:pt x="-1" y="0"/>
                  </a:lnTo>
                  <a:close/>
                </a:path>
              </a:pathLst>
            </a:custGeom>
            <a:noFill/>
            <a:ln w="25400">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7846" name="Rectangle 28"/>
            <p:cNvSpPr>
              <a:spLocks noChangeArrowheads="1"/>
            </p:cNvSpPr>
            <p:nvPr/>
          </p:nvSpPr>
          <p:spPr bwMode="auto">
            <a:xfrm>
              <a:off x="7680" y="12752"/>
              <a:ext cx="1121" cy="4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zh-CN" altLang="en-US" sz="1600">
                  <a:solidFill>
                    <a:srgbClr val="800080"/>
                  </a:solidFill>
                  <a:ea typeface="楷体_GB2312"/>
                </a:rPr>
                <a:t>电场线</a:t>
              </a:r>
              <a:endParaRPr lang="zh-CN" altLang="en-US" sz="1000" b="0">
                <a:ea typeface="楷体_GB2312"/>
              </a:endParaRPr>
            </a:p>
          </p:txBody>
        </p:sp>
      </p:grpSp>
      <p:sp>
        <p:nvSpPr>
          <p:cNvPr id="165917" name="Text Box 29"/>
          <p:cNvSpPr txBox="1">
            <a:spLocks noChangeArrowheads="1"/>
          </p:cNvSpPr>
          <p:nvPr/>
        </p:nvSpPr>
        <p:spPr bwMode="auto">
          <a:xfrm>
            <a:off x="381000" y="4800600"/>
            <a:ext cx="577532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对于任意一个闭合曲面</a:t>
            </a:r>
            <a:r>
              <a:rPr lang="en-US" altLang="zh-CN" sz="2400" i="1">
                <a:ea typeface="楷体_GB2312"/>
              </a:rPr>
              <a:t>S’</a:t>
            </a:r>
            <a:r>
              <a:rPr lang="zh-CN" altLang="en-US" sz="2400">
                <a:ea typeface="楷体_GB2312"/>
              </a:rPr>
              <a:t>，只要电荷被包围在</a:t>
            </a:r>
            <a:r>
              <a:rPr lang="en-US" altLang="zh-CN" sz="2400" i="1">
                <a:ea typeface="楷体_GB2312"/>
              </a:rPr>
              <a:t>S’</a:t>
            </a:r>
            <a:r>
              <a:rPr lang="zh-CN" altLang="en-US" sz="2400">
                <a:ea typeface="楷体_GB2312"/>
              </a:rPr>
              <a:t>面内，由于电场线是连续的，在没有电荷的地方不中断，因而穿过闭合曲面</a:t>
            </a:r>
            <a:r>
              <a:rPr lang="en-US" altLang="zh-CN" sz="2400" i="1">
                <a:ea typeface="楷体_GB2312"/>
              </a:rPr>
              <a:t>S’</a:t>
            </a:r>
            <a:r>
              <a:rPr lang="zh-CN" altLang="en-US" sz="2400">
                <a:ea typeface="楷体_GB2312"/>
              </a:rPr>
              <a:t>与</a:t>
            </a:r>
            <a:r>
              <a:rPr lang="en-US" altLang="zh-CN" sz="2400" i="1">
                <a:ea typeface="楷体_GB2312"/>
              </a:rPr>
              <a:t>S</a:t>
            </a:r>
            <a:r>
              <a:rPr lang="zh-CN" altLang="en-US" sz="2400">
                <a:ea typeface="楷体_GB2312"/>
              </a:rPr>
              <a:t>的电场线数目是一样的。</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65893"/>
                                        </p:tgtEl>
                                        <p:attrNameLst>
                                          <p:attrName>style.visibility</p:attrName>
                                        </p:attrNameLst>
                                      </p:cBhvr>
                                      <p:to>
                                        <p:strVal val="visible"/>
                                      </p:to>
                                    </p:set>
                                    <p:animEffect transition="in" filter="wipe(left)">
                                      <p:cBhvr>
                                        <p:cTn id="7" dur="500"/>
                                        <p:tgtEl>
                                          <p:spTgt spid="1658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65890"/>
                                        </p:tgtEl>
                                        <p:attrNameLst>
                                          <p:attrName>style.visibility</p:attrName>
                                        </p:attrNameLst>
                                      </p:cBhvr>
                                      <p:to>
                                        <p:strVal val="visible"/>
                                      </p:to>
                                    </p:set>
                                    <p:animEffect transition="in" filter="wipe(left)">
                                      <p:cBhvr>
                                        <p:cTn id="12" dur="500"/>
                                        <p:tgtEl>
                                          <p:spTgt spid="1658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65891"/>
                                        </p:tgtEl>
                                        <p:attrNameLst>
                                          <p:attrName>style.visibility</p:attrName>
                                        </p:attrNameLst>
                                      </p:cBhvr>
                                      <p:to>
                                        <p:strVal val="visible"/>
                                      </p:to>
                                    </p:set>
                                    <p:animEffect transition="in" filter="wipe(left)">
                                      <p:cBhvr>
                                        <p:cTn id="17" dur="500"/>
                                        <p:tgtEl>
                                          <p:spTgt spid="16589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165892">
                                            <p:txEl>
                                              <p:pRg st="0" end="0"/>
                                            </p:txEl>
                                          </p:spTgt>
                                        </p:tgtEl>
                                        <p:attrNameLst>
                                          <p:attrName>style.visibility</p:attrName>
                                        </p:attrNameLst>
                                      </p:cBhvr>
                                      <p:to>
                                        <p:strVal val="visible"/>
                                      </p:to>
                                    </p:set>
                                    <p:animEffect transition="in" filter="wipe(left)">
                                      <p:cBhvr>
                                        <p:cTn id="22" dur="75"/>
                                        <p:tgtEl>
                                          <p:spTgt spid="165892">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5901"/>
                                        </p:tgtEl>
                                        <p:attrNameLst>
                                          <p:attrName>style.visibility</p:attrName>
                                        </p:attrNameLst>
                                      </p:cBhvr>
                                      <p:to>
                                        <p:strVal val="visible"/>
                                      </p:to>
                                    </p:set>
                                    <p:animEffect transition="in" filter="wipe(left)">
                                      <p:cBhvr>
                                        <p:cTn id="27" dur="500"/>
                                        <p:tgtEl>
                                          <p:spTgt spid="16590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2" fill="hold" nodeType="clickEffect">
                                  <p:stCondLst>
                                    <p:cond delay="0"/>
                                  </p:stCondLst>
                                  <p:childTnLst>
                                    <p:set>
                                      <p:cBhvr>
                                        <p:cTn id="31" dur="1" fill="hold">
                                          <p:stCondLst>
                                            <p:cond delay="0"/>
                                          </p:stCondLst>
                                        </p:cTn>
                                        <p:tgtEl>
                                          <p:spTgt spid="165902"/>
                                        </p:tgtEl>
                                        <p:attrNameLst>
                                          <p:attrName>style.visibility</p:attrName>
                                        </p:attrNameLst>
                                      </p:cBhvr>
                                      <p:to>
                                        <p:strVal val="visible"/>
                                      </p:to>
                                    </p:set>
                                    <p:anim calcmode="lin" valueType="num">
                                      <p:cBhvr additive="base">
                                        <p:cTn id="32" dur="500" fill="hold"/>
                                        <p:tgtEl>
                                          <p:spTgt spid="165902"/>
                                        </p:tgtEl>
                                        <p:attrNameLst>
                                          <p:attrName>ppt_x</p:attrName>
                                        </p:attrNameLst>
                                      </p:cBhvr>
                                      <p:tavLst>
                                        <p:tav tm="0">
                                          <p:val>
                                            <p:strVal val="1+#ppt_w/2"/>
                                          </p:val>
                                        </p:tav>
                                        <p:tav tm="100000">
                                          <p:val>
                                            <p:strVal val="#ppt_x"/>
                                          </p:val>
                                        </p:tav>
                                      </p:tavLst>
                                    </p:anim>
                                    <p:anim calcmode="lin" valueType="num">
                                      <p:cBhvr additive="base">
                                        <p:cTn id="33" dur="500" fill="hold"/>
                                        <p:tgtEl>
                                          <p:spTgt spid="165902"/>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iterate type="lt">
                                    <p:tmPct val="100000"/>
                                  </p:iterate>
                                  <p:childTnLst>
                                    <p:set>
                                      <p:cBhvr>
                                        <p:cTn id="37" dur="1" fill="hold">
                                          <p:stCondLst>
                                            <p:cond delay="0"/>
                                          </p:stCondLst>
                                        </p:cTn>
                                        <p:tgtEl>
                                          <p:spTgt spid="165917">
                                            <p:txEl>
                                              <p:pRg st="0" end="0"/>
                                            </p:txEl>
                                          </p:spTgt>
                                        </p:tgtEl>
                                        <p:attrNameLst>
                                          <p:attrName>style.visibility</p:attrName>
                                        </p:attrNameLst>
                                      </p:cBhvr>
                                      <p:to>
                                        <p:strVal val="visible"/>
                                      </p:to>
                                    </p:set>
                                    <p:animEffect transition="in" filter="wipe(left)">
                                      <p:cBhvr>
                                        <p:cTn id="38" dur="75"/>
                                        <p:tgtEl>
                                          <p:spTgt spid="1659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2" grpId="0" build="p" autoUpdateAnimBg="0"/>
      <p:bldP spid="165901" grpId="0" autoUpdateAnimBg="0"/>
      <p:bldP spid="165917" grpId="0" build="p"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Text Box 2"/>
          <p:cNvSpPr txBox="1">
            <a:spLocks noChangeArrowheads="1"/>
          </p:cNvSpPr>
          <p:nvPr/>
        </p:nvSpPr>
        <p:spPr bwMode="auto">
          <a:xfrm>
            <a:off x="457200" y="914400"/>
            <a:ext cx="45720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由于</a:t>
            </a:r>
            <a:r>
              <a:rPr lang="zh-CN" altLang="en-US" sz="2400">
                <a:solidFill>
                  <a:srgbClr val="3333FF"/>
                </a:solidFill>
                <a:ea typeface="楷体_GB2312"/>
              </a:rPr>
              <a:t>电场线的连续性</a:t>
            </a:r>
            <a:r>
              <a:rPr lang="zh-CN" altLang="en-US" sz="2400">
                <a:ea typeface="楷体_GB2312"/>
              </a:rPr>
              <a:t>可知，穿入与穿出任一闭合曲面的电通量应该相等。所以当闭合曲面无电荷时，电通量为零。</a:t>
            </a:r>
          </a:p>
        </p:txBody>
      </p:sp>
      <p:sp>
        <p:nvSpPr>
          <p:cNvPr id="166915" name="Text Box 3"/>
          <p:cNvSpPr txBox="1">
            <a:spLocks noChangeArrowheads="1"/>
          </p:cNvSpPr>
          <p:nvPr/>
        </p:nvSpPr>
        <p:spPr bwMode="auto">
          <a:xfrm>
            <a:off x="179388" y="188913"/>
            <a:ext cx="7943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r>
              <a:rPr lang="zh-CN" altLang="en-US" sz="2400">
                <a:solidFill>
                  <a:srgbClr val="FF3300"/>
                </a:solidFill>
                <a:ea typeface="楷体_GB2312"/>
              </a:rPr>
              <a:t>（</a:t>
            </a:r>
            <a:r>
              <a:rPr lang="en-US" altLang="zh-CN" sz="2400">
                <a:solidFill>
                  <a:srgbClr val="FF3300"/>
                </a:solidFill>
                <a:ea typeface="楷体_GB2312"/>
              </a:rPr>
              <a:t>3</a:t>
            </a:r>
            <a:r>
              <a:rPr lang="zh-CN" altLang="en-US" sz="2400">
                <a:solidFill>
                  <a:srgbClr val="FF3300"/>
                </a:solidFill>
                <a:ea typeface="楷体_GB2312"/>
              </a:rPr>
              <a:t>）通过不包围点电荷的任意闭合曲面的电通量为零</a:t>
            </a:r>
          </a:p>
        </p:txBody>
      </p:sp>
      <p:grpSp>
        <p:nvGrpSpPr>
          <p:cNvPr id="166921" name="Group 9"/>
          <p:cNvGrpSpPr>
            <a:grpSpLocks/>
          </p:cNvGrpSpPr>
          <p:nvPr/>
        </p:nvGrpSpPr>
        <p:grpSpPr bwMode="auto">
          <a:xfrm>
            <a:off x="6642100" y="2971800"/>
            <a:ext cx="2273300" cy="1930400"/>
            <a:chOff x="6060" y="1993"/>
            <a:chExt cx="3581" cy="3040"/>
          </a:xfrm>
        </p:grpSpPr>
        <p:sp>
          <p:nvSpPr>
            <p:cNvPr id="78877" name="Line 10"/>
            <p:cNvSpPr>
              <a:spLocks noChangeShapeType="1"/>
            </p:cNvSpPr>
            <p:nvPr/>
          </p:nvSpPr>
          <p:spPr bwMode="auto">
            <a:xfrm>
              <a:off x="6060" y="3369"/>
              <a:ext cx="3581" cy="1"/>
            </a:xfrm>
            <a:prstGeom prst="line">
              <a:avLst/>
            </a:prstGeom>
            <a:noFill/>
            <a:ln w="9525">
              <a:solidFill>
                <a:srgbClr val="800080"/>
              </a:solidFill>
              <a:round/>
              <a:headEnd type="triangl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8878" name="Line 11"/>
            <p:cNvSpPr>
              <a:spLocks noChangeShapeType="1"/>
            </p:cNvSpPr>
            <p:nvPr/>
          </p:nvSpPr>
          <p:spPr bwMode="auto">
            <a:xfrm>
              <a:off x="7880" y="1993"/>
              <a:ext cx="1" cy="2881"/>
            </a:xfrm>
            <a:prstGeom prst="line">
              <a:avLst/>
            </a:prstGeom>
            <a:noFill/>
            <a:ln w="9525">
              <a:solidFill>
                <a:srgbClr val="800080"/>
              </a:solidFill>
              <a:round/>
              <a:headEnd type="triangl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8879" name="Line 12"/>
            <p:cNvSpPr>
              <a:spLocks noChangeShapeType="1"/>
            </p:cNvSpPr>
            <p:nvPr/>
          </p:nvSpPr>
          <p:spPr bwMode="auto">
            <a:xfrm>
              <a:off x="6720" y="2273"/>
              <a:ext cx="2401" cy="2301"/>
            </a:xfrm>
            <a:prstGeom prst="line">
              <a:avLst/>
            </a:prstGeom>
            <a:noFill/>
            <a:ln w="9525">
              <a:solidFill>
                <a:srgbClr val="800080"/>
              </a:solidFill>
              <a:round/>
              <a:headEnd type="triangl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8880" name="AutoShape 13"/>
            <p:cNvSpPr>
              <a:spLocks noChangeArrowheads="1"/>
            </p:cNvSpPr>
            <p:nvPr/>
          </p:nvSpPr>
          <p:spPr bwMode="auto">
            <a:xfrm>
              <a:off x="7760" y="3012"/>
              <a:ext cx="1021" cy="661"/>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a:solidFill>
                    <a:srgbClr val="FF0000"/>
                  </a:solidFill>
                  <a:ea typeface="楷体_GB2312"/>
                  <a:sym typeface="Symbol" panose="05050102010706020507" pitchFamily="18" charset="2"/>
                </a:rPr>
                <a:t></a:t>
              </a:r>
              <a:r>
                <a:rPr lang="en-US" altLang="zh-CN" sz="2200">
                  <a:solidFill>
                    <a:srgbClr val="FF0000"/>
                  </a:solidFill>
                  <a:ea typeface="楷体_GB2312"/>
                </a:rPr>
                <a:t>  </a:t>
              </a:r>
              <a:r>
                <a:rPr lang="en-US" altLang="zh-CN" sz="2200" i="1">
                  <a:solidFill>
                    <a:srgbClr val="FF0000"/>
                  </a:solidFill>
                  <a:ea typeface="楷体_GB2312"/>
                </a:rPr>
                <a:t>q</a:t>
              </a:r>
              <a:endParaRPr lang="en-US" altLang="zh-CN" sz="1000" b="0">
                <a:ea typeface="楷体_GB2312"/>
              </a:endParaRPr>
            </a:p>
          </p:txBody>
        </p:sp>
        <p:sp>
          <p:nvSpPr>
            <p:cNvPr id="78881" name="AutoShape 14"/>
            <p:cNvSpPr>
              <a:spLocks noChangeArrowheads="1"/>
            </p:cNvSpPr>
            <p:nvPr/>
          </p:nvSpPr>
          <p:spPr bwMode="auto">
            <a:xfrm>
              <a:off x="6160" y="2352"/>
              <a:ext cx="501" cy="481"/>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i="1">
                  <a:solidFill>
                    <a:srgbClr val="0000FF"/>
                  </a:solidFill>
                  <a:ea typeface="楷体_GB2312"/>
                </a:rPr>
                <a:t>S</a:t>
              </a:r>
              <a:r>
                <a:rPr lang="en-US" altLang="zh-CN" sz="2200">
                  <a:solidFill>
                    <a:srgbClr val="0000FF"/>
                  </a:solidFill>
                  <a:ea typeface="楷体_GB2312"/>
                  <a:sym typeface="Symbol" panose="05050102010706020507" pitchFamily="18" charset="2"/>
                </a:rPr>
                <a:t></a:t>
              </a:r>
              <a:endParaRPr lang="en-US" altLang="zh-CN" sz="1000" b="0">
                <a:ea typeface="楷体_GB2312"/>
              </a:endParaRPr>
            </a:p>
          </p:txBody>
        </p:sp>
        <p:sp>
          <p:nvSpPr>
            <p:cNvPr id="78882" name="Arc 15"/>
            <p:cNvSpPr>
              <a:spLocks/>
            </p:cNvSpPr>
            <p:nvPr/>
          </p:nvSpPr>
          <p:spPr bwMode="auto">
            <a:xfrm flipH="1" flipV="1">
              <a:off x="6460" y="2994"/>
              <a:ext cx="541" cy="114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8883" name="Arc 16"/>
            <p:cNvSpPr>
              <a:spLocks/>
            </p:cNvSpPr>
            <p:nvPr/>
          </p:nvSpPr>
          <p:spPr bwMode="auto">
            <a:xfrm flipH="1">
              <a:off x="6480" y="2675"/>
              <a:ext cx="561" cy="345"/>
            </a:xfrm>
            <a:custGeom>
              <a:avLst/>
              <a:gdLst>
                <a:gd name="T0" fmla="*/ 0 w 21600"/>
                <a:gd name="T1" fmla="*/ 0 h 28582"/>
                <a:gd name="T2" fmla="*/ 0 w 21600"/>
                <a:gd name="T3" fmla="*/ 0 h 28582"/>
                <a:gd name="T4" fmla="*/ 0 w 21600"/>
                <a:gd name="T5" fmla="*/ 0 h 28582"/>
                <a:gd name="T6" fmla="*/ 0 60000 65536"/>
                <a:gd name="T7" fmla="*/ 0 60000 65536"/>
                <a:gd name="T8" fmla="*/ 0 60000 65536"/>
              </a:gdLst>
              <a:ahLst/>
              <a:cxnLst>
                <a:cxn ang="T6">
                  <a:pos x="T0" y="T1"/>
                </a:cxn>
                <a:cxn ang="T7">
                  <a:pos x="T2" y="T3"/>
                </a:cxn>
                <a:cxn ang="T8">
                  <a:pos x="T4" y="T5"/>
                </a:cxn>
              </a:cxnLst>
              <a:rect l="0" t="0" r="r" b="b"/>
              <a:pathLst>
                <a:path w="21600" h="28582" fill="none" extrusionOk="0">
                  <a:moveTo>
                    <a:pt x="-1" y="0"/>
                  </a:moveTo>
                  <a:cubicBezTo>
                    <a:pt x="11929" y="0"/>
                    <a:pt x="21600" y="9670"/>
                    <a:pt x="21600" y="21600"/>
                  </a:cubicBezTo>
                  <a:cubicBezTo>
                    <a:pt x="21600" y="23975"/>
                    <a:pt x="21208" y="26334"/>
                    <a:pt x="20440" y="28582"/>
                  </a:cubicBezTo>
                </a:path>
                <a:path w="21600" h="28582" stroke="0" extrusionOk="0">
                  <a:moveTo>
                    <a:pt x="-1" y="0"/>
                  </a:moveTo>
                  <a:cubicBezTo>
                    <a:pt x="11929" y="0"/>
                    <a:pt x="21600" y="9670"/>
                    <a:pt x="21600" y="21600"/>
                  </a:cubicBezTo>
                  <a:cubicBezTo>
                    <a:pt x="21600" y="23975"/>
                    <a:pt x="21208" y="26334"/>
                    <a:pt x="20440" y="28582"/>
                  </a:cubicBezTo>
                  <a:lnTo>
                    <a:pt x="0" y="21600"/>
                  </a:lnTo>
                  <a:lnTo>
                    <a:pt x="-1" y="0"/>
                  </a:lnTo>
                  <a:close/>
                </a:path>
              </a:pathLst>
            </a:custGeom>
            <a:noFill/>
            <a:ln w="25400">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8884" name="Arc 17"/>
            <p:cNvSpPr>
              <a:spLocks/>
            </p:cNvSpPr>
            <p:nvPr/>
          </p:nvSpPr>
          <p:spPr bwMode="auto">
            <a:xfrm flipV="1">
              <a:off x="6952" y="3175"/>
              <a:ext cx="569" cy="961"/>
            </a:xfrm>
            <a:custGeom>
              <a:avLst/>
              <a:gdLst>
                <a:gd name="T0" fmla="*/ 0 w 25569"/>
                <a:gd name="T1" fmla="*/ 0 h 21600"/>
                <a:gd name="T2" fmla="*/ 0 w 25569"/>
                <a:gd name="T3" fmla="*/ 0 h 21600"/>
                <a:gd name="T4" fmla="*/ 0 w 25569"/>
                <a:gd name="T5" fmla="*/ 0 h 21600"/>
                <a:gd name="T6" fmla="*/ 0 60000 65536"/>
                <a:gd name="T7" fmla="*/ 0 60000 65536"/>
                <a:gd name="T8" fmla="*/ 0 60000 65536"/>
              </a:gdLst>
              <a:ahLst/>
              <a:cxnLst>
                <a:cxn ang="T6">
                  <a:pos x="T0" y="T1"/>
                </a:cxn>
                <a:cxn ang="T7">
                  <a:pos x="T2" y="T3"/>
                </a:cxn>
                <a:cxn ang="T8">
                  <a:pos x="T4" y="T5"/>
                </a:cxn>
              </a:cxnLst>
              <a:rect l="0" t="0" r="r" b="b"/>
              <a:pathLst>
                <a:path w="25569" h="21600" fill="none" extrusionOk="0">
                  <a:moveTo>
                    <a:pt x="-1" y="367"/>
                  </a:moveTo>
                  <a:cubicBezTo>
                    <a:pt x="1308" y="123"/>
                    <a:pt x="2637" y="-1"/>
                    <a:pt x="3969" y="0"/>
                  </a:cubicBezTo>
                  <a:cubicBezTo>
                    <a:pt x="15898" y="0"/>
                    <a:pt x="25569" y="9670"/>
                    <a:pt x="25569" y="21600"/>
                  </a:cubicBezTo>
                </a:path>
                <a:path w="25569" h="21600" stroke="0" extrusionOk="0">
                  <a:moveTo>
                    <a:pt x="-1" y="367"/>
                  </a:moveTo>
                  <a:cubicBezTo>
                    <a:pt x="1308" y="123"/>
                    <a:pt x="2637" y="-1"/>
                    <a:pt x="3969" y="0"/>
                  </a:cubicBezTo>
                  <a:cubicBezTo>
                    <a:pt x="15898" y="0"/>
                    <a:pt x="25569" y="9670"/>
                    <a:pt x="25569" y="21600"/>
                  </a:cubicBezTo>
                  <a:lnTo>
                    <a:pt x="3969" y="21600"/>
                  </a:lnTo>
                  <a:lnTo>
                    <a:pt x="-1" y="367"/>
                  </a:lnTo>
                  <a:close/>
                </a:path>
              </a:pathLst>
            </a:custGeom>
            <a:noFill/>
            <a:ln w="25400">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8885" name="Line 18"/>
            <p:cNvSpPr>
              <a:spLocks noChangeShapeType="1"/>
            </p:cNvSpPr>
            <p:nvPr/>
          </p:nvSpPr>
          <p:spPr bwMode="auto">
            <a:xfrm flipV="1">
              <a:off x="6260" y="2354"/>
              <a:ext cx="2881" cy="2301"/>
            </a:xfrm>
            <a:prstGeom prst="line">
              <a:avLst/>
            </a:prstGeom>
            <a:noFill/>
            <a:ln w="9525">
              <a:solidFill>
                <a:srgbClr val="800080"/>
              </a:solidFill>
              <a:round/>
              <a:headEnd type="triangl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8886" name="Arc 19"/>
            <p:cNvSpPr>
              <a:spLocks/>
            </p:cNvSpPr>
            <p:nvPr/>
          </p:nvSpPr>
          <p:spPr bwMode="auto">
            <a:xfrm>
              <a:off x="7020" y="2679"/>
              <a:ext cx="501" cy="50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8887" name="Rectangle 20"/>
            <p:cNvSpPr>
              <a:spLocks noChangeArrowheads="1"/>
            </p:cNvSpPr>
            <p:nvPr/>
          </p:nvSpPr>
          <p:spPr bwMode="auto">
            <a:xfrm>
              <a:off x="7900" y="4492"/>
              <a:ext cx="1161" cy="5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zh-CN" altLang="en-US" sz="1600">
                  <a:solidFill>
                    <a:srgbClr val="800080"/>
                  </a:solidFill>
                  <a:ea typeface="楷体_GB2312"/>
                </a:rPr>
                <a:t>电场线</a:t>
              </a:r>
              <a:endParaRPr lang="zh-CN" altLang="en-US" sz="1000" b="0">
                <a:ea typeface="楷体_GB2312"/>
              </a:endParaRPr>
            </a:p>
            <a:p>
              <a:pPr algn="just" eaLnBrk="1" hangingPunct="1">
                <a:spcBef>
                  <a:spcPct val="0"/>
                </a:spcBef>
                <a:buFontTx/>
                <a:buNone/>
              </a:pPr>
              <a:endParaRPr lang="en-US" altLang="zh-CN" sz="1000" b="0">
                <a:ea typeface="楷体_GB2312"/>
              </a:endParaRPr>
            </a:p>
          </p:txBody>
        </p:sp>
      </p:grpSp>
      <p:grpSp>
        <p:nvGrpSpPr>
          <p:cNvPr id="166933" name="Group 21"/>
          <p:cNvGrpSpPr>
            <a:grpSpLocks/>
          </p:cNvGrpSpPr>
          <p:nvPr/>
        </p:nvGrpSpPr>
        <p:grpSpPr bwMode="auto">
          <a:xfrm>
            <a:off x="5232400" y="333375"/>
            <a:ext cx="3911600" cy="2909888"/>
            <a:chOff x="3346" y="2304"/>
            <a:chExt cx="2464" cy="1833"/>
          </a:xfrm>
        </p:grpSpPr>
        <p:grpSp>
          <p:nvGrpSpPr>
            <p:cNvPr id="78860" name="Group 22"/>
            <p:cNvGrpSpPr>
              <a:grpSpLocks/>
            </p:cNvGrpSpPr>
            <p:nvPr/>
          </p:nvGrpSpPr>
          <p:grpSpPr bwMode="auto">
            <a:xfrm>
              <a:off x="4265" y="2452"/>
              <a:ext cx="1307" cy="1392"/>
              <a:chOff x="2729" y="1440"/>
              <a:chExt cx="1307" cy="1392"/>
            </a:xfrm>
          </p:grpSpPr>
          <p:sp>
            <p:nvSpPr>
              <p:cNvPr id="78875" name="Freeform 23"/>
              <p:cNvSpPr>
                <a:spLocks/>
              </p:cNvSpPr>
              <p:nvPr/>
            </p:nvSpPr>
            <p:spPr bwMode="auto">
              <a:xfrm rot="1163557">
                <a:off x="2729" y="1666"/>
                <a:ext cx="1307" cy="1166"/>
              </a:xfrm>
              <a:custGeom>
                <a:avLst/>
                <a:gdLst>
                  <a:gd name="T0" fmla="*/ 67086 w 1002"/>
                  <a:gd name="T1" fmla="*/ 6950233 h 767"/>
                  <a:gd name="T2" fmla="*/ 237174 w 1002"/>
                  <a:gd name="T3" fmla="*/ 943546 h 767"/>
                  <a:gd name="T4" fmla="*/ 450222 w 1002"/>
                  <a:gd name="T5" fmla="*/ 1193628 h 767"/>
                  <a:gd name="T6" fmla="*/ 584228 w 1002"/>
                  <a:gd name="T7" fmla="*/ 7901679 h 767"/>
                  <a:gd name="T8" fmla="*/ 419548 w 1002"/>
                  <a:gd name="T9" fmla="*/ 14150622 h 767"/>
                  <a:gd name="T10" fmla="*/ 194600 w 1002"/>
                  <a:gd name="T11" fmla="*/ 17524757 h 767"/>
                  <a:gd name="T12" fmla="*/ 36640 w 1002"/>
                  <a:gd name="T13" fmla="*/ 15828515 h 767"/>
                  <a:gd name="T14" fmla="*/ 5992 w 1002"/>
                  <a:gd name="T15" fmla="*/ 12456597 h 767"/>
                  <a:gd name="T16" fmla="*/ 67086 w 1002"/>
                  <a:gd name="T17" fmla="*/ 6950233 h 7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002" h="767">
                    <a:moveTo>
                      <a:pt x="114" y="299"/>
                    </a:moveTo>
                    <a:cubicBezTo>
                      <a:pt x="179" y="216"/>
                      <a:pt x="295" y="82"/>
                      <a:pt x="403" y="41"/>
                    </a:cubicBezTo>
                    <a:cubicBezTo>
                      <a:pt x="511" y="0"/>
                      <a:pt x="667" y="1"/>
                      <a:pt x="765" y="51"/>
                    </a:cubicBezTo>
                    <a:cubicBezTo>
                      <a:pt x="863" y="101"/>
                      <a:pt x="1002" y="248"/>
                      <a:pt x="993" y="341"/>
                    </a:cubicBezTo>
                    <a:cubicBezTo>
                      <a:pt x="984" y="434"/>
                      <a:pt x="823" y="541"/>
                      <a:pt x="713" y="610"/>
                    </a:cubicBezTo>
                    <a:cubicBezTo>
                      <a:pt x="603" y="679"/>
                      <a:pt x="439" y="743"/>
                      <a:pt x="331" y="755"/>
                    </a:cubicBezTo>
                    <a:cubicBezTo>
                      <a:pt x="223" y="767"/>
                      <a:pt x="115" y="718"/>
                      <a:pt x="62" y="682"/>
                    </a:cubicBezTo>
                    <a:cubicBezTo>
                      <a:pt x="9" y="646"/>
                      <a:pt x="0" y="601"/>
                      <a:pt x="10" y="537"/>
                    </a:cubicBezTo>
                    <a:cubicBezTo>
                      <a:pt x="20" y="473"/>
                      <a:pt x="49" y="382"/>
                      <a:pt x="114" y="299"/>
                    </a:cubicBezTo>
                    <a:close/>
                  </a:path>
                </a:pathLst>
              </a:custGeom>
              <a:gradFill rotWithShape="0">
                <a:gsLst>
                  <a:gs pos="0">
                    <a:srgbClr val="B5FFB5"/>
                  </a:gs>
                  <a:gs pos="100000">
                    <a:srgbClr val="3C553C"/>
                  </a:gs>
                </a:gsLst>
                <a:path path="rect">
                  <a:fillToRect l="50000" t="50000" r="50000" b="50000"/>
                </a:path>
              </a:gradFill>
              <a:ln>
                <a:noFill/>
              </a:ln>
              <a:effectLst/>
              <a:extLst>
                <a:ext uri="{91240B29-F687-4F45-9708-019B960494DF}">
                  <a14:hiddenLine xmlns:a14="http://schemas.microsoft.com/office/drawing/2010/main" w="19050" cap="flat" cmpd="sng">
                    <a:solidFill>
                      <a:schemeClr val="tx1"/>
                    </a:solidFill>
                    <a:prstDash val="solid"/>
                    <a:round/>
                    <a:headEnd type="none" w="med" len="me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76" name="Text Box 24"/>
              <p:cNvSpPr txBox="1">
                <a:spLocks noChangeArrowheads="1"/>
              </p:cNvSpPr>
              <p:nvPr/>
            </p:nvSpPr>
            <p:spPr bwMode="auto">
              <a:xfrm>
                <a:off x="3377" y="1440"/>
                <a:ext cx="27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0" i="1">
                    <a:ea typeface="楷体_GB2312"/>
                  </a:rPr>
                  <a:t>S</a:t>
                </a:r>
              </a:p>
            </p:txBody>
          </p:sp>
        </p:grpSp>
        <p:grpSp>
          <p:nvGrpSpPr>
            <p:cNvPr id="78861" name="Group 25"/>
            <p:cNvGrpSpPr>
              <a:grpSpLocks/>
            </p:cNvGrpSpPr>
            <p:nvPr/>
          </p:nvGrpSpPr>
          <p:grpSpPr bwMode="auto">
            <a:xfrm>
              <a:off x="3346" y="3849"/>
              <a:ext cx="302" cy="288"/>
              <a:chOff x="1810" y="2837"/>
              <a:chExt cx="302" cy="288"/>
            </a:xfrm>
          </p:grpSpPr>
          <p:sp>
            <p:nvSpPr>
              <p:cNvPr id="78873" name="Rectangle 26"/>
              <p:cNvSpPr>
                <a:spLocks noChangeArrowheads="1"/>
              </p:cNvSpPr>
              <p:nvPr/>
            </p:nvSpPr>
            <p:spPr bwMode="auto">
              <a:xfrm>
                <a:off x="1810" y="2837"/>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a:ea typeface="楷体_GB2312"/>
                  </a:rPr>
                  <a:t> </a:t>
                </a:r>
                <a:r>
                  <a:rPr lang="en-US" altLang="zh-CN" sz="2400" i="1">
                    <a:ea typeface="楷体_GB2312"/>
                  </a:rPr>
                  <a:t>q</a:t>
                </a:r>
              </a:p>
            </p:txBody>
          </p:sp>
          <p:sp>
            <p:nvSpPr>
              <p:cNvPr id="78874" name="Oval 27"/>
              <p:cNvSpPr>
                <a:spLocks noChangeArrowheads="1"/>
              </p:cNvSpPr>
              <p:nvPr/>
            </p:nvSpPr>
            <p:spPr bwMode="auto">
              <a:xfrm>
                <a:off x="2064" y="2976"/>
                <a:ext cx="48" cy="48"/>
              </a:xfrm>
              <a:prstGeom prst="ellipse">
                <a:avLst/>
              </a:prstGeom>
              <a:solidFill>
                <a:srgbClr val="0D00BA"/>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pSp>
        <p:grpSp>
          <p:nvGrpSpPr>
            <p:cNvPr id="78862" name="Group 28"/>
            <p:cNvGrpSpPr>
              <a:grpSpLocks/>
            </p:cNvGrpSpPr>
            <p:nvPr/>
          </p:nvGrpSpPr>
          <p:grpSpPr bwMode="auto">
            <a:xfrm>
              <a:off x="3597" y="2304"/>
              <a:ext cx="2213" cy="1776"/>
              <a:chOff x="3789" y="2352"/>
              <a:chExt cx="2213" cy="1776"/>
            </a:xfrm>
          </p:grpSpPr>
          <p:sp>
            <p:nvSpPr>
              <p:cNvPr id="78863" name="Line 29"/>
              <p:cNvSpPr>
                <a:spLocks noChangeShapeType="1"/>
              </p:cNvSpPr>
              <p:nvPr/>
            </p:nvSpPr>
            <p:spPr bwMode="auto">
              <a:xfrm flipV="1">
                <a:off x="3838" y="3556"/>
                <a:ext cx="2162" cy="501"/>
              </a:xfrm>
              <a:prstGeom prst="line">
                <a:avLst/>
              </a:prstGeom>
              <a:noFill/>
              <a:ln w="28575">
                <a:solidFill>
                  <a:srgbClr val="FF0066"/>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4" name="Line 30"/>
              <p:cNvSpPr>
                <a:spLocks noChangeShapeType="1"/>
              </p:cNvSpPr>
              <p:nvPr/>
            </p:nvSpPr>
            <p:spPr bwMode="auto">
              <a:xfrm rot="156727" flipV="1">
                <a:off x="3828" y="2352"/>
                <a:ext cx="1279" cy="1776"/>
              </a:xfrm>
              <a:prstGeom prst="line">
                <a:avLst/>
              </a:prstGeom>
              <a:noFill/>
              <a:ln w="28575">
                <a:solidFill>
                  <a:srgbClr val="FF0066"/>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8865" name="Group 31"/>
              <p:cNvGrpSpPr>
                <a:grpSpLocks/>
              </p:cNvGrpSpPr>
              <p:nvPr/>
            </p:nvGrpSpPr>
            <p:grpSpPr bwMode="auto">
              <a:xfrm>
                <a:off x="3789" y="2696"/>
                <a:ext cx="2019" cy="1390"/>
                <a:chOff x="3789" y="2696"/>
                <a:chExt cx="2019" cy="1390"/>
              </a:xfrm>
            </p:grpSpPr>
            <p:sp>
              <p:nvSpPr>
                <p:cNvPr id="78870" name="Line 32"/>
                <p:cNvSpPr>
                  <a:spLocks noChangeShapeType="1"/>
                </p:cNvSpPr>
                <p:nvPr/>
              </p:nvSpPr>
              <p:spPr bwMode="auto">
                <a:xfrm flipV="1">
                  <a:off x="3789" y="3613"/>
                  <a:ext cx="675" cy="473"/>
                </a:xfrm>
                <a:prstGeom prst="line">
                  <a:avLst/>
                </a:prstGeom>
                <a:noFill/>
                <a:ln w="28575">
                  <a:solidFill>
                    <a:srgbClr val="FF0066"/>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71" name="Line 33"/>
                <p:cNvSpPr>
                  <a:spLocks noChangeShapeType="1"/>
                </p:cNvSpPr>
                <p:nvPr/>
              </p:nvSpPr>
              <p:spPr bwMode="auto">
                <a:xfrm flipV="1">
                  <a:off x="5469" y="2696"/>
                  <a:ext cx="339" cy="236"/>
                </a:xfrm>
                <a:prstGeom prst="line">
                  <a:avLst/>
                </a:prstGeom>
                <a:noFill/>
                <a:ln w="28575">
                  <a:solidFill>
                    <a:srgbClr val="FF0066"/>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72" name="Line 34"/>
                <p:cNvSpPr>
                  <a:spLocks noChangeShapeType="1"/>
                </p:cNvSpPr>
                <p:nvPr/>
              </p:nvSpPr>
              <p:spPr bwMode="auto">
                <a:xfrm flipV="1">
                  <a:off x="4608" y="2963"/>
                  <a:ext cx="817" cy="573"/>
                </a:xfrm>
                <a:prstGeom prst="line">
                  <a:avLst/>
                </a:prstGeom>
                <a:noFill/>
                <a:ln w="28575">
                  <a:solidFill>
                    <a:srgbClr val="FF0066"/>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8866" name="Group 35"/>
              <p:cNvGrpSpPr>
                <a:grpSpLocks/>
              </p:cNvGrpSpPr>
              <p:nvPr/>
            </p:nvGrpSpPr>
            <p:grpSpPr bwMode="auto">
              <a:xfrm>
                <a:off x="3790" y="2976"/>
                <a:ext cx="2212" cy="1114"/>
                <a:chOff x="3790" y="2976"/>
                <a:chExt cx="2212" cy="1114"/>
              </a:xfrm>
            </p:grpSpPr>
            <p:sp>
              <p:nvSpPr>
                <p:cNvPr id="78867" name="Line 36"/>
                <p:cNvSpPr>
                  <a:spLocks noChangeShapeType="1"/>
                </p:cNvSpPr>
                <p:nvPr/>
              </p:nvSpPr>
              <p:spPr bwMode="auto">
                <a:xfrm flipV="1">
                  <a:off x="3790" y="3704"/>
                  <a:ext cx="770" cy="386"/>
                </a:xfrm>
                <a:prstGeom prst="line">
                  <a:avLst/>
                </a:prstGeom>
                <a:noFill/>
                <a:ln w="28575">
                  <a:solidFill>
                    <a:srgbClr val="FF0066"/>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8" name="Line 37"/>
                <p:cNvSpPr>
                  <a:spLocks noChangeShapeType="1"/>
                </p:cNvSpPr>
                <p:nvPr/>
              </p:nvSpPr>
              <p:spPr bwMode="auto">
                <a:xfrm rot="473990" flipV="1">
                  <a:off x="4589" y="3045"/>
                  <a:ext cx="1060" cy="742"/>
                </a:xfrm>
                <a:prstGeom prst="line">
                  <a:avLst/>
                </a:prstGeom>
                <a:noFill/>
                <a:ln w="28575">
                  <a:solidFill>
                    <a:srgbClr val="FF0066"/>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9" name="Line 38"/>
                <p:cNvSpPr>
                  <a:spLocks noChangeShapeType="1"/>
                </p:cNvSpPr>
                <p:nvPr/>
              </p:nvSpPr>
              <p:spPr bwMode="auto">
                <a:xfrm flipV="1">
                  <a:off x="5664" y="2976"/>
                  <a:ext cx="338" cy="169"/>
                </a:xfrm>
                <a:prstGeom prst="line">
                  <a:avLst/>
                </a:prstGeom>
                <a:noFill/>
                <a:ln w="28575">
                  <a:solidFill>
                    <a:srgbClr val="FF0066"/>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sp>
        <p:nvSpPr>
          <p:cNvPr id="78854" name="Line 46"/>
          <p:cNvSpPr>
            <a:spLocks noChangeShapeType="1"/>
          </p:cNvSpPr>
          <p:nvPr/>
        </p:nvSpPr>
        <p:spPr bwMode="auto">
          <a:xfrm>
            <a:off x="6877050" y="1557338"/>
            <a:ext cx="1008063" cy="93503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5" name="Text Box 4"/>
          <p:cNvSpPr txBox="1">
            <a:spLocks noChangeArrowheads="1"/>
          </p:cNvSpPr>
          <p:nvPr/>
        </p:nvSpPr>
        <p:spPr bwMode="auto">
          <a:xfrm>
            <a:off x="228600" y="2781300"/>
            <a:ext cx="4273550"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r>
              <a:rPr lang="zh-CN" altLang="en-US" sz="2400">
                <a:solidFill>
                  <a:srgbClr val="FF3300"/>
                </a:solidFill>
                <a:ea typeface="楷体_GB2312"/>
              </a:rPr>
              <a:t>多个点电荷的电通量等于它们单独存在时的电通量的代数和</a:t>
            </a:r>
            <a:endParaRPr lang="zh-CN" altLang="en-US" sz="2800">
              <a:ea typeface="楷体_GB2312"/>
            </a:endParaRPr>
          </a:p>
        </p:txBody>
      </p:sp>
      <p:sp>
        <p:nvSpPr>
          <p:cNvPr id="36" name="Text Box 5"/>
          <p:cNvSpPr txBox="1">
            <a:spLocks noChangeArrowheads="1"/>
          </p:cNvSpPr>
          <p:nvPr/>
        </p:nvSpPr>
        <p:spPr bwMode="auto">
          <a:xfrm>
            <a:off x="534988" y="3581400"/>
            <a:ext cx="3894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利用</a:t>
            </a:r>
            <a:r>
              <a:rPr lang="zh-CN" altLang="en-US" sz="2400">
                <a:solidFill>
                  <a:srgbClr val="3333FF"/>
                </a:solidFill>
                <a:ea typeface="楷体_GB2312"/>
              </a:rPr>
              <a:t>场强叠加原理</a:t>
            </a:r>
            <a:r>
              <a:rPr lang="zh-CN" altLang="en-US" sz="2400">
                <a:ea typeface="楷体_GB2312"/>
              </a:rPr>
              <a:t>可证</a:t>
            </a:r>
          </a:p>
        </p:txBody>
      </p:sp>
      <p:graphicFrame>
        <p:nvGraphicFramePr>
          <p:cNvPr id="37" name="Object 6"/>
          <p:cNvGraphicFramePr>
            <a:graphicFrameLocks noChangeAspect="1"/>
          </p:cNvGraphicFramePr>
          <p:nvPr>
            <p:extLst>
              <p:ext uri="{D42A27DB-BD31-4B8C-83A1-F6EECF244321}">
                <p14:modId xmlns:p14="http://schemas.microsoft.com/office/powerpoint/2010/main" val="1743231078"/>
              </p:ext>
            </p:extLst>
          </p:nvPr>
        </p:nvGraphicFramePr>
        <p:xfrm>
          <a:off x="514350" y="3965575"/>
          <a:ext cx="5824538" cy="1689100"/>
        </p:xfrm>
        <a:graphic>
          <a:graphicData uri="http://schemas.openxmlformats.org/presentationml/2006/ole">
            <mc:AlternateContent xmlns:mc="http://schemas.openxmlformats.org/markup-compatibility/2006">
              <mc:Choice xmlns:v="urn:schemas-microsoft-com:vml" Requires="v">
                <p:oleObj spid="_x0000_s79104" name="Equation" r:id="rId3" imgW="2666880" imgH="774360" progId="Equation.DSMT4">
                  <p:embed/>
                </p:oleObj>
              </mc:Choice>
              <mc:Fallback>
                <p:oleObj name="Equation" r:id="rId3" imgW="2666880" imgH="774360" progId="Equation.DSMT4">
                  <p:embed/>
                  <p:pic>
                    <p:nvPicPr>
                      <p:cNvPr id="0" name="Object 6"/>
                      <p:cNvPicPr>
                        <a:picLocks noChangeAspect="1" noChangeArrowheads="1"/>
                      </p:cNvPicPr>
                      <p:nvPr/>
                    </p:nvPicPr>
                    <p:blipFill>
                      <a:blip r:embed="rId4"/>
                      <a:srcRect/>
                      <a:stretch>
                        <a:fillRect/>
                      </a:stretch>
                    </p:blipFill>
                    <p:spPr bwMode="auto">
                      <a:xfrm>
                        <a:off x="514350" y="3965575"/>
                        <a:ext cx="5824538" cy="168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 name="Object 7"/>
          <p:cNvGraphicFramePr>
            <a:graphicFrameLocks noChangeAspect="1"/>
          </p:cNvGraphicFramePr>
          <p:nvPr>
            <p:extLst>
              <p:ext uri="{D42A27DB-BD31-4B8C-83A1-F6EECF244321}">
                <p14:modId xmlns:p14="http://schemas.microsoft.com/office/powerpoint/2010/main" val="2054714004"/>
              </p:ext>
            </p:extLst>
          </p:nvPr>
        </p:nvGraphicFramePr>
        <p:xfrm>
          <a:off x="1346200" y="5697538"/>
          <a:ext cx="2606675" cy="1198562"/>
        </p:xfrm>
        <a:graphic>
          <a:graphicData uri="http://schemas.openxmlformats.org/presentationml/2006/ole">
            <mc:AlternateContent xmlns:mc="http://schemas.openxmlformats.org/markup-compatibility/2006">
              <mc:Choice xmlns:v="urn:schemas-microsoft-com:vml" Requires="v">
                <p:oleObj spid="_x0000_s79105" name="Equation" r:id="rId5" imgW="1104840" imgH="507960" progId="Equation.DSMT4">
                  <p:embed/>
                </p:oleObj>
              </mc:Choice>
              <mc:Fallback>
                <p:oleObj name="Equation" r:id="rId5" imgW="1104840" imgH="507960" progId="Equation.DSMT4">
                  <p:embed/>
                  <p:pic>
                    <p:nvPicPr>
                      <p:cNvPr id="0" name="Object 7"/>
                      <p:cNvPicPr>
                        <a:picLocks noChangeAspect="1" noChangeArrowheads="1"/>
                      </p:cNvPicPr>
                      <p:nvPr/>
                    </p:nvPicPr>
                    <p:blipFill>
                      <a:blip r:embed="rId6"/>
                      <a:srcRect/>
                      <a:stretch>
                        <a:fillRect/>
                      </a:stretch>
                    </p:blipFill>
                    <p:spPr bwMode="auto">
                      <a:xfrm>
                        <a:off x="1346200" y="5697538"/>
                        <a:ext cx="2606675" cy="1198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 name="AutoShape 8"/>
          <p:cNvSpPr>
            <a:spLocks noChangeArrowheads="1"/>
          </p:cNvSpPr>
          <p:nvPr/>
        </p:nvSpPr>
        <p:spPr bwMode="auto">
          <a:xfrm>
            <a:off x="5091113" y="5540375"/>
            <a:ext cx="2625725" cy="1143000"/>
          </a:xfrm>
          <a:prstGeom prst="cloudCallout">
            <a:avLst>
              <a:gd name="adj1" fmla="val -78037"/>
              <a:gd name="adj2" fmla="val 17551"/>
            </a:avLst>
          </a:prstGeom>
          <a:solidFill>
            <a:srgbClr val="FFFF66"/>
          </a:solidFill>
          <a:ln w="12700">
            <a:solidFill>
              <a:srgbClr val="FF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zh-CN" altLang="en-US" sz="2400">
                <a:solidFill>
                  <a:srgbClr val="FF3300"/>
                </a:solidFill>
                <a:ea typeface="楷体_GB2312"/>
              </a:rPr>
              <a:t>连续分布</a:t>
            </a:r>
            <a:endParaRPr lang="zh-CN" altLang="en-US" sz="3600">
              <a:solidFill>
                <a:srgbClr val="FF3300"/>
              </a:solidFill>
              <a:ea typeface="楷体_GB231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6915"/>
                                        </p:tgtEl>
                                        <p:attrNameLst>
                                          <p:attrName>style.visibility</p:attrName>
                                        </p:attrNameLst>
                                      </p:cBhvr>
                                      <p:to>
                                        <p:strVal val="visible"/>
                                      </p:to>
                                    </p:set>
                                    <p:animEffect transition="in" filter="wipe(left)">
                                      <p:cBhvr>
                                        <p:cTn id="7" dur="500"/>
                                        <p:tgtEl>
                                          <p:spTgt spid="1669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66933"/>
                                        </p:tgtEl>
                                        <p:attrNameLst>
                                          <p:attrName>style.visibility</p:attrName>
                                        </p:attrNameLst>
                                      </p:cBhvr>
                                      <p:to>
                                        <p:strVal val="visible"/>
                                      </p:to>
                                    </p:set>
                                    <p:animEffect transition="in" filter="dissolve">
                                      <p:cBhvr>
                                        <p:cTn id="12" dur="500"/>
                                        <p:tgtEl>
                                          <p:spTgt spid="1669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nodeType="clickEffect">
                                  <p:stCondLst>
                                    <p:cond delay="0"/>
                                  </p:stCondLst>
                                  <p:childTnLst>
                                    <p:set>
                                      <p:cBhvr>
                                        <p:cTn id="16" dur="1" fill="hold">
                                          <p:stCondLst>
                                            <p:cond delay="0"/>
                                          </p:stCondLst>
                                        </p:cTn>
                                        <p:tgtEl>
                                          <p:spTgt spid="166921"/>
                                        </p:tgtEl>
                                        <p:attrNameLst>
                                          <p:attrName>style.visibility</p:attrName>
                                        </p:attrNameLst>
                                      </p:cBhvr>
                                      <p:to>
                                        <p:strVal val="visible"/>
                                      </p:to>
                                    </p:set>
                                    <p:anim calcmode="lin" valueType="num">
                                      <p:cBhvr additive="base">
                                        <p:cTn id="17" dur="500" fill="hold"/>
                                        <p:tgtEl>
                                          <p:spTgt spid="166921"/>
                                        </p:tgtEl>
                                        <p:attrNameLst>
                                          <p:attrName>ppt_x</p:attrName>
                                        </p:attrNameLst>
                                      </p:cBhvr>
                                      <p:tavLst>
                                        <p:tav tm="0">
                                          <p:val>
                                            <p:strVal val="1+#ppt_w/2"/>
                                          </p:val>
                                        </p:tav>
                                        <p:tav tm="100000">
                                          <p:val>
                                            <p:strVal val="#ppt_x"/>
                                          </p:val>
                                        </p:tav>
                                      </p:tavLst>
                                    </p:anim>
                                    <p:anim calcmode="lin" valueType="num">
                                      <p:cBhvr additive="base">
                                        <p:cTn id="18" dur="500" fill="hold"/>
                                        <p:tgtEl>
                                          <p:spTgt spid="166921"/>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iterate type="lt">
                                    <p:tmPct val="100000"/>
                                  </p:iterate>
                                  <p:childTnLst>
                                    <p:set>
                                      <p:cBhvr>
                                        <p:cTn id="22" dur="1" fill="hold">
                                          <p:stCondLst>
                                            <p:cond delay="0"/>
                                          </p:stCondLst>
                                        </p:cTn>
                                        <p:tgtEl>
                                          <p:spTgt spid="166914">
                                            <p:txEl>
                                              <p:pRg st="0" end="0"/>
                                            </p:txEl>
                                          </p:spTgt>
                                        </p:tgtEl>
                                        <p:attrNameLst>
                                          <p:attrName>style.visibility</p:attrName>
                                        </p:attrNameLst>
                                      </p:cBhvr>
                                      <p:to>
                                        <p:strVal val="visible"/>
                                      </p:to>
                                    </p:set>
                                    <p:animEffect transition="in" filter="wipe(left)">
                                      <p:cBhvr>
                                        <p:cTn id="23" dur="75"/>
                                        <p:tgtEl>
                                          <p:spTgt spid="166914">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iterate type="lt">
                                    <p:tmPct val="100000"/>
                                  </p:iterate>
                                  <p:childTnLst>
                                    <p:set>
                                      <p:cBhvr>
                                        <p:cTn id="27" dur="1" fill="hold">
                                          <p:stCondLst>
                                            <p:cond delay="0"/>
                                          </p:stCondLst>
                                        </p:cTn>
                                        <p:tgtEl>
                                          <p:spTgt spid="35">
                                            <p:txEl>
                                              <p:pRg st="0" end="0"/>
                                            </p:txEl>
                                          </p:spTgt>
                                        </p:tgtEl>
                                        <p:attrNameLst>
                                          <p:attrName>style.visibility</p:attrName>
                                        </p:attrNameLst>
                                      </p:cBhvr>
                                      <p:to>
                                        <p:strVal val="visible"/>
                                      </p:to>
                                    </p:set>
                                    <p:animEffect transition="in" filter="wipe(left)">
                                      <p:cBhvr>
                                        <p:cTn id="28" dur="75"/>
                                        <p:tgtEl>
                                          <p:spTgt spid="35">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wipe(left)">
                                      <p:cBhvr>
                                        <p:cTn id="33" dur="500"/>
                                        <p:tgtEl>
                                          <p:spTgt spid="3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wipe(left)">
                                      <p:cBhvr>
                                        <p:cTn id="38" dur="500"/>
                                        <p:tgtEl>
                                          <p:spTgt spid="3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wipe(left)">
                                      <p:cBhvr>
                                        <p:cTn id="43" dur="500"/>
                                        <p:tgtEl>
                                          <p:spTgt spid="3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39"/>
                                        </p:tgtEl>
                                        <p:attrNameLst>
                                          <p:attrName>style.visibility</p:attrName>
                                        </p:attrNameLst>
                                      </p:cBhvr>
                                      <p:to>
                                        <p:strVal val="visible"/>
                                      </p:to>
                                    </p:set>
                                    <p:animEffect transition="in" filter="wipe(left)">
                                      <p:cBhvr>
                                        <p:cTn id="48"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4" grpId="0" build="p" autoUpdateAnimBg="0"/>
      <p:bldP spid="166915" grpId="0" autoUpdateAnimBg="0"/>
      <p:bldP spid="35" grpId="0" build="p" autoUpdateAnimBg="0"/>
      <p:bldP spid="36" grpId="0" autoUpdateAnimBg="0"/>
      <p:bldP spid="39" grpId="0" animBg="1"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7" name="Text Box 3"/>
          <p:cNvSpPr txBox="1">
            <a:spLocks noChangeArrowheads="1"/>
          </p:cNvSpPr>
          <p:nvPr/>
        </p:nvSpPr>
        <p:spPr bwMode="auto">
          <a:xfrm>
            <a:off x="0" y="87313"/>
            <a:ext cx="8640763" cy="1201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3333FF"/>
                </a:solidFill>
                <a:ea typeface="楷体_GB2312"/>
              </a:rPr>
              <a:t>高斯定理：</a:t>
            </a:r>
            <a:r>
              <a:rPr lang="zh-CN" altLang="en-US" sz="2400">
                <a:ea typeface="楷体_GB2312"/>
              </a:rPr>
              <a:t>在任意的静电场中</a:t>
            </a:r>
            <a:r>
              <a:rPr lang="en-US" altLang="zh-CN" sz="2400">
                <a:ea typeface="楷体_GB2312"/>
              </a:rPr>
              <a:t>,</a:t>
            </a:r>
            <a:r>
              <a:rPr lang="zh-CN" altLang="en-US" sz="2400">
                <a:ea typeface="楷体_GB2312"/>
              </a:rPr>
              <a:t>通过任一闭合曲面的电场强度的通量，等于该曲面所包围的所有电荷的代数和除以</a:t>
            </a:r>
            <a:r>
              <a:rPr lang="en-US" altLang="zh-CN" sz="2400" i="1">
                <a:ea typeface="楷体_GB2312"/>
              </a:rPr>
              <a:t>ε</a:t>
            </a:r>
            <a:r>
              <a:rPr lang="en-US" altLang="zh-CN" sz="2400" baseline="-25000">
                <a:ea typeface="楷体_GB2312"/>
              </a:rPr>
              <a:t>0</a:t>
            </a:r>
            <a:r>
              <a:rPr lang="zh-CN" altLang="en-US" sz="2400">
                <a:ea typeface="楷体_GB2312"/>
              </a:rPr>
              <a:t>，与封闭曲面外的电荷无关。</a:t>
            </a:r>
          </a:p>
        </p:txBody>
      </p:sp>
      <p:graphicFrame>
        <p:nvGraphicFramePr>
          <p:cNvPr id="241668" name="Object 4"/>
          <p:cNvGraphicFramePr>
            <a:graphicFrameLocks noChangeAspect="1"/>
          </p:cNvGraphicFramePr>
          <p:nvPr/>
        </p:nvGraphicFramePr>
        <p:xfrm>
          <a:off x="985838" y="1320800"/>
          <a:ext cx="3724275" cy="946150"/>
        </p:xfrm>
        <a:graphic>
          <a:graphicData uri="http://schemas.openxmlformats.org/presentationml/2006/ole">
            <mc:AlternateContent xmlns:mc="http://schemas.openxmlformats.org/markup-compatibility/2006">
              <mc:Choice xmlns:v="urn:schemas-microsoft-com:vml" Requires="v">
                <p:oleObj spid="_x0000_s80004" name="Equation" r:id="rId3" imgW="1637589" imgH="444307" progId="Equation.DSMT4">
                  <p:embed/>
                </p:oleObj>
              </mc:Choice>
              <mc:Fallback>
                <p:oleObj name="Equation" r:id="rId3" imgW="1637589" imgH="444307"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5838" y="1320800"/>
                        <a:ext cx="3724275" cy="946150"/>
                      </a:xfrm>
                      <a:prstGeom prst="rect">
                        <a:avLst/>
                      </a:prstGeom>
                      <a:gradFill rotWithShape="0">
                        <a:gsLst>
                          <a:gs pos="0">
                            <a:schemeClr val="accent1"/>
                          </a:gs>
                          <a:gs pos="50000">
                            <a:srgbClr val="FFFFFF"/>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9876" name="Group 43"/>
          <p:cNvGrpSpPr>
            <a:grpSpLocks/>
          </p:cNvGrpSpPr>
          <p:nvPr/>
        </p:nvGrpSpPr>
        <p:grpSpPr bwMode="auto">
          <a:xfrm>
            <a:off x="5322888" y="862013"/>
            <a:ext cx="2408237" cy="2206625"/>
            <a:chOff x="0" y="0"/>
            <a:chExt cx="19999" cy="20000"/>
          </a:xfrm>
        </p:grpSpPr>
        <p:grpSp>
          <p:nvGrpSpPr>
            <p:cNvPr id="79882" name="Group 44"/>
            <p:cNvGrpSpPr>
              <a:grpSpLocks/>
            </p:cNvGrpSpPr>
            <p:nvPr/>
          </p:nvGrpSpPr>
          <p:grpSpPr bwMode="auto">
            <a:xfrm>
              <a:off x="0" y="0"/>
              <a:ext cx="19872" cy="20000"/>
              <a:chOff x="0" y="0"/>
              <a:chExt cx="19999" cy="20000"/>
            </a:xfrm>
          </p:grpSpPr>
          <p:grpSp>
            <p:nvGrpSpPr>
              <p:cNvPr id="79884" name="Group 45"/>
              <p:cNvGrpSpPr>
                <a:grpSpLocks/>
              </p:cNvGrpSpPr>
              <p:nvPr/>
            </p:nvGrpSpPr>
            <p:grpSpPr bwMode="auto">
              <a:xfrm>
                <a:off x="0" y="0"/>
                <a:ext cx="19999" cy="20000"/>
                <a:chOff x="0" y="0"/>
                <a:chExt cx="19999" cy="20000"/>
              </a:xfrm>
            </p:grpSpPr>
            <p:grpSp>
              <p:nvGrpSpPr>
                <p:cNvPr id="79886" name="Group 46"/>
                <p:cNvGrpSpPr>
                  <a:grpSpLocks/>
                </p:cNvGrpSpPr>
                <p:nvPr/>
              </p:nvGrpSpPr>
              <p:grpSpPr bwMode="auto">
                <a:xfrm>
                  <a:off x="0" y="0"/>
                  <a:ext cx="19999" cy="20000"/>
                  <a:chOff x="0" y="0"/>
                  <a:chExt cx="19999" cy="20000"/>
                </a:xfrm>
              </p:grpSpPr>
              <p:sp>
                <p:nvSpPr>
                  <p:cNvPr id="79888" name="Oval 47"/>
                  <p:cNvSpPr>
                    <a:spLocks noChangeArrowheads="1"/>
                  </p:cNvSpPr>
                  <p:nvPr/>
                </p:nvSpPr>
                <p:spPr bwMode="auto">
                  <a:xfrm>
                    <a:off x="2675" y="2684"/>
                    <a:ext cx="14395" cy="15169"/>
                  </a:xfrm>
                  <a:prstGeom prst="ellipse">
                    <a:avLst/>
                  </a:prstGeom>
                  <a:noFill/>
                  <a:ln w="25400">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79889" name="Line 48"/>
                  <p:cNvSpPr>
                    <a:spLocks noChangeShapeType="1"/>
                  </p:cNvSpPr>
                  <p:nvPr/>
                </p:nvSpPr>
                <p:spPr bwMode="auto">
                  <a:xfrm flipV="1">
                    <a:off x="0" y="10332"/>
                    <a:ext cx="19999" cy="141"/>
                  </a:xfrm>
                  <a:prstGeom prst="line">
                    <a:avLst/>
                  </a:prstGeom>
                  <a:noFill/>
                  <a:ln w="9525">
                    <a:solidFill>
                      <a:srgbClr val="800080"/>
                    </a:solidFill>
                    <a:round/>
                    <a:headEnd type="triangl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890" name="Line 49"/>
                  <p:cNvSpPr>
                    <a:spLocks noChangeShapeType="1"/>
                  </p:cNvSpPr>
                  <p:nvPr/>
                </p:nvSpPr>
                <p:spPr bwMode="auto">
                  <a:xfrm>
                    <a:off x="9933" y="0"/>
                    <a:ext cx="6" cy="20000"/>
                  </a:xfrm>
                  <a:prstGeom prst="line">
                    <a:avLst/>
                  </a:prstGeom>
                  <a:noFill/>
                  <a:ln w="9525">
                    <a:solidFill>
                      <a:srgbClr val="800080"/>
                    </a:solidFill>
                    <a:round/>
                    <a:headEnd type="triangl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891" name="Line 50"/>
                  <p:cNvSpPr>
                    <a:spLocks noChangeShapeType="1"/>
                  </p:cNvSpPr>
                  <p:nvPr/>
                </p:nvSpPr>
                <p:spPr bwMode="auto">
                  <a:xfrm flipV="1">
                    <a:off x="3056" y="2684"/>
                    <a:ext cx="13632" cy="15706"/>
                  </a:xfrm>
                  <a:prstGeom prst="line">
                    <a:avLst/>
                  </a:prstGeom>
                  <a:noFill/>
                  <a:ln w="9525">
                    <a:solidFill>
                      <a:srgbClr val="800080"/>
                    </a:solidFill>
                    <a:round/>
                    <a:headEnd type="triangl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892" name="Line 51"/>
                  <p:cNvSpPr>
                    <a:spLocks noChangeShapeType="1"/>
                  </p:cNvSpPr>
                  <p:nvPr/>
                </p:nvSpPr>
                <p:spPr bwMode="auto">
                  <a:xfrm>
                    <a:off x="2165" y="3757"/>
                    <a:ext cx="15287" cy="13291"/>
                  </a:xfrm>
                  <a:prstGeom prst="line">
                    <a:avLst/>
                  </a:prstGeom>
                  <a:noFill/>
                  <a:ln w="9525">
                    <a:solidFill>
                      <a:srgbClr val="800080"/>
                    </a:solidFill>
                    <a:round/>
                    <a:headEnd type="triangl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893" name="Line 52"/>
                  <p:cNvSpPr>
                    <a:spLocks noChangeShapeType="1"/>
                  </p:cNvSpPr>
                  <p:nvPr/>
                </p:nvSpPr>
                <p:spPr bwMode="auto">
                  <a:xfrm flipV="1">
                    <a:off x="9678" y="6575"/>
                    <a:ext cx="6246" cy="3898"/>
                  </a:xfrm>
                  <a:prstGeom prst="line">
                    <a:avLst/>
                  </a:prstGeom>
                  <a:noFill/>
                  <a:ln w="25400">
                    <a:solidFill>
                      <a:srgbClr val="0000FF"/>
                    </a:solidFill>
                    <a:round/>
                    <a:headEnd type="non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894" name="Line 53"/>
                  <p:cNvSpPr>
                    <a:spLocks noChangeShapeType="1"/>
                  </p:cNvSpPr>
                  <p:nvPr/>
                </p:nvSpPr>
                <p:spPr bwMode="auto">
                  <a:xfrm flipV="1">
                    <a:off x="16172" y="4965"/>
                    <a:ext cx="2299" cy="1483"/>
                  </a:xfrm>
                  <a:prstGeom prst="line">
                    <a:avLst/>
                  </a:prstGeom>
                  <a:noFill/>
                  <a:ln w="25400">
                    <a:solidFill>
                      <a:srgbClr val="800080"/>
                    </a:solidFill>
                    <a:round/>
                    <a:headEnd type="non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895" name="Line 54"/>
                  <p:cNvSpPr>
                    <a:spLocks noChangeShapeType="1"/>
                  </p:cNvSpPr>
                  <p:nvPr/>
                </p:nvSpPr>
                <p:spPr bwMode="auto">
                  <a:xfrm>
                    <a:off x="15536" y="5636"/>
                    <a:ext cx="1025" cy="2019"/>
                  </a:xfrm>
                  <a:prstGeom prst="line">
                    <a:avLst/>
                  </a:prstGeom>
                  <a:noFill/>
                  <a:ln w="25400">
                    <a:solidFill>
                      <a:srgbClr val="FF00FF"/>
                    </a:solidFill>
                    <a:round/>
                    <a:headEnd type="none" w="med" len="sm"/>
                    <a:tailEnd type="non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79887" name="AutoShape 55"/>
                <p:cNvSpPr>
                  <a:spLocks noChangeArrowheads="1"/>
                </p:cNvSpPr>
                <p:nvPr/>
              </p:nvSpPr>
              <p:spPr bwMode="auto">
                <a:xfrm>
                  <a:off x="9168" y="8071"/>
                  <a:ext cx="3318" cy="3898"/>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a:solidFill>
                        <a:srgbClr val="FF0000"/>
                      </a:solidFill>
                      <a:ea typeface="楷体_GB2312"/>
                      <a:sym typeface="Symbol" panose="05050102010706020507" pitchFamily="18" charset="2"/>
                    </a:rPr>
                    <a:t></a:t>
                  </a:r>
                  <a:endParaRPr lang="en-US" altLang="zh-CN" sz="1000" b="0">
                    <a:ea typeface="楷体_GB2312"/>
                  </a:endParaRPr>
                </a:p>
              </p:txBody>
            </p:sp>
          </p:grpSp>
          <p:sp>
            <p:nvSpPr>
              <p:cNvPr id="79885" name="AutoShape 56"/>
              <p:cNvSpPr>
                <a:spLocks noChangeArrowheads="1"/>
              </p:cNvSpPr>
              <p:nvPr/>
            </p:nvSpPr>
            <p:spPr bwMode="auto">
              <a:xfrm>
                <a:off x="8023" y="5649"/>
                <a:ext cx="2936" cy="4294"/>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i="1">
                    <a:solidFill>
                      <a:srgbClr val="FF0000"/>
                    </a:solidFill>
                    <a:ea typeface="楷体_GB2312"/>
                  </a:rPr>
                  <a:t>q</a:t>
                </a:r>
                <a:endParaRPr lang="en-US" altLang="zh-CN" sz="1000" b="0">
                  <a:ea typeface="楷体_GB2312"/>
                </a:endParaRPr>
              </a:p>
            </p:txBody>
          </p:sp>
        </p:grpSp>
        <p:sp>
          <p:nvSpPr>
            <p:cNvPr id="79883" name="AutoShape 57"/>
            <p:cNvSpPr>
              <a:spLocks noChangeArrowheads="1"/>
            </p:cNvSpPr>
            <p:nvPr/>
          </p:nvSpPr>
          <p:spPr bwMode="auto">
            <a:xfrm>
              <a:off x="16956" y="5777"/>
              <a:ext cx="3043" cy="2556"/>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en-US" altLang="zh-CN" sz="1600">
                <a:solidFill>
                  <a:srgbClr val="FF00FF"/>
                </a:solidFill>
                <a:ea typeface="楷体_GB2312"/>
              </a:endParaRPr>
            </a:p>
            <a:p>
              <a:pPr algn="just" eaLnBrk="1" hangingPunct="1">
                <a:spcBef>
                  <a:spcPct val="0"/>
                </a:spcBef>
                <a:buFontTx/>
                <a:buNone/>
              </a:pPr>
              <a:endParaRPr lang="en-US" altLang="zh-CN" sz="1000" b="0">
                <a:ea typeface="楷体_GB2312"/>
              </a:endParaRPr>
            </a:p>
          </p:txBody>
        </p:sp>
      </p:grpSp>
      <p:sp>
        <p:nvSpPr>
          <p:cNvPr id="79877" name="AutoShape 58"/>
          <p:cNvSpPr>
            <a:spLocks noChangeArrowheads="1"/>
          </p:cNvSpPr>
          <p:nvPr/>
        </p:nvSpPr>
        <p:spPr bwMode="auto">
          <a:xfrm>
            <a:off x="8066088" y="1409700"/>
            <a:ext cx="396875" cy="400050"/>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i="1">
                <a:solidFill>
                  <a:srgbClr val="800080"/>
                </a:solidFill>
                <a:ea typeface="楷体_GB2312"/>
              </a:rPr>
              <a:t>E</a:t>
            </a:r>
            <a:endParaRPr lang="en-US" altLang="zh-CN" sz="2200">
              <a:solidFill>
                <a:srgbClr val="800080"/>
              </a:solidFill>
              <a:ea typeface="楷体_GB2312"/>
            </a:endParaRPr>
          </a:p>
          <a:p>
            <a:pPr algn="just" eaLnBrk="1" hangingPunct="1">
              <a:spcBef>
                <a:spcPct val="0"/>
              </a:spcBef>
              <a:buFontTx/>
              <a:buNone/>
            </a:pPr>
            <a:endParaRPr lang="en-US" altLang="zh-CN" sz="1000" b="0">
              <a:ea typeface="楷体_GB2312"/>
            </a:endParaRPr>
          </a:p>
        </p:txBody>
      </p:sp>
      <p:sp>
        <p:nvSpPr>
          <p:cNvPr id="79878" name="AutoShape 60"/>
          <p:cNvSpPr>
            <a:spLocks noChangeArrowheads="1"/>
          </p:cNvSpPr>
          <p:nvPr/>
        </p:nvSpPr>
        <p:spPr bwMode="auto">
          <a:xfrm>
            <a:off x="7313613" y="2170113"/>
            <a:ext cx="488950" cy="355600"/>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200" i="1">
                <a:solidFill>
                  <a:srgbClr val="0000FF"/>
                </a:solidFill>
                <a:ea typeface="楷体_GB2312"/>
              </a:rPr>
              <a:t>S</a:t>
            </a:r>
            <a:endParaRPr lang="en-US" altLang="zh-CN" sz="1000" b="0">
              <a:ea typeface="楷体_GB2312"/>
            </a:endParaRPr>
          </a:p>
        </p:txBody>
      </p:sp>
      <p:sp>
        <p:nvSpPr>
          <p:cNvPr id="79879" name="AutoShape 55"/>
          <p:cNvSpPr>
            <a:spLocks noChangeArrowheads="1"/>
          </p:cNvSpPr>
          <p:nvPr/>
        </p:nvSpPr>
        <p:spPr bwMode="auto">
          <a:xfrm>
            <a:off x="7405688" y="3860800"/>
            <a:ext cx="396875" cy="430213"/>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en-US" altLang="zh-CN" sz="1000" b="0">
              <a:ea typeface="楷体_GB2312"/>
            </a:endParaRPr>
          </a:p>
        </p:txBody>
      </p:sp>
      <p:sp>
        <p:nvSpPr>
          <p:cNvPr id="23" name="Text Box 2"/>
          <p:cNvSpPr txBox="1">
            <a:spLocks noChangeArrowheads="1"/>
          </p:cNvSpPr>
          <p:nvPr/>
        </p:nvSpPr>
        <p:spPr bwMode="auto">
          <a:xfrm>
            <a:off x="171450" y="2455863"/>
            <a:ext cx="45116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3333FF"/>
                </a:solidFill>
                <a:ea typeface="楷体_GB2312"/>
              </a:rPr>
              <a:t>3</a:t>
            </a:r>
            <a:r>
              <a:rPr lang="zh-CN" altLang="en-US" sz="2800">
                <a:solidFill>
                  <a:srgbClr val="3333FF"/>
                </a:solidFill>
                <a:ea typeface="楷体_GB2312"/>
              </a:rPr>
              <a:t>、关于高斯定理的说明</a:t>
            </a:r>
            <a:endParaRPr lang="zh-CN" altLang="en-US" sz="2400" b="0">
              <a:ea typeface="楷体_GB2312"/>
            </a:endParaRPr>
          </a:p>
        </p:txBody>
      </p:sp>
      <p:sp>
        <p:nvSpPr>
          <p:cNvPr id="24" name="Text Box 3"/>
          <p:cNvSpPr txBox="1">
            <a:spLocks noChangeArrowheads="1"/>
          </p:cNvSpPr>
          <p:nvPr/>
        </p:nvSpPr>
        <p:spPr bwMode="auto">
          <a:xfrm>
            <a:off x="298450" y="2844800"/>
            <a:ext cx="8845550" cy="390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AutoNum type="arabicPeriod"/>
            </a:pPr>
            <a:r>
              <a:rPr lang="zh-CN" altLang="en-US" sz="2000">
                <a:ea typeface="楷体_GB2312"/>
              </a:rPr>
              <a:t>高斯定理是反映静电场性质（</a:t>
            </a:r>
            <a:r>
              <a:rPr lang="zh-CN" altLang="en-US" sz="2000">
                <a:solidFill>
                  <a:srgbClr val="FF3300"/>
                </a:solidFill>
                <a:ea typeface="楷体_GB2312"/>
              </a:rPr>
              <a:t>有源性</a:t>
            </a:r>
            <a:r>
              <a:rPr lang="zh-CN" altLang="en-US" sz="2000">
                <a:ea typeface="楷体_GB2312"/>
              </a:rPr>
              <a:t>）的一条基本定理；</a:t>
            </a:r>
          </a:p>
          <a:p>
            <a:pPr eaLnBrk="1" hangingPunct="1">
              <a:lnSpc>
                <a:spcPct val="120000"/>
              </a:lnSpc>
              <a:spcBef>
                <a:spcPct val="0"/>
              </a:spcBef>
              <a:buFontTx/>
              <a:buAutoNum type="arabicPeriod"/>
            </a:pPr>
            <a:r>
              <a:rPr lang="zh-CN" altLang="en-US" sz="2000">
                <a:ea typeface="楷体_GB2312"/>
              </a:rPr>
              <a:t>是在</a:t>
            </a:r>
            <a:r>
              <a:rPr lang="zh-CN" altLang="en-US" sz="2000">
                <a:solidFill>
                  <a:srgbClr val="FF3300"/>
                </a:solidFill>
                <a:ea typeface="楷体_GB2312"/>
              </a:rPr>
              <a:t>库仑定律</a:t>
            </a:r>
            <a:r>
              <a:rPr lang="zh-CN" altLang="en-US" sz="2000">
                <a:ea typeface="楷体_GB2312"/>
              </a:rPr>
              <a:t>的基础上得出的，但它的应用范围比库仑定律更为广泛；</a:t>
            </a:r>
          </a:p>
          <a:p>
            <a:pPr eaLnBrk="1" hangingPunct="1">
              <a:lnSpc>
                <a:spcPct val="120000"/>
              </a:lnSpc>
              <a:spcBef>
                <a:spcPct val="0"/>
              </a:spcBef>
              <a:buFontTx/>
              <a:buAutoNum type="arabicPeriod"/>
            </a:pPr>
            <a:r>
              <a:rPr lang="zh-CN" altLang="en-US" sz="2000">
                <a:ea typeface="楷体_GB2312"/>
              </a:rPr>
              <a:t>高斯定理中的</a:t>
            </a:r>
            <a:r>
              <a:rPr lang="zh-CN" altLang="en-US" sz="2000">
                <a:solidFill>
                  <a:srgbClr val="FF3300"/>
                </a:solidFill>
                <a:ea typeface="楷体_GB2312"/>
              </a:rPr>
              <a:t>电场强度是封闭曲面内和曲面外的电荷共同产生</a:t>
            </a:r>
            <a:r>
              <a:rPr lang="zh-CN" altLang="en-US" sz="2000">
                <a:ea typeface="楷体_GB2312"/>
              </a:rPr>
              <a:t>的，并非只有曲面内的电荷确定；</a:t>
            </a:r>
          </a:p>
          <a:p>
            <a:pPr eaLnBrk="1" hangingPunct="1">
              <a:lnSpc>
                <a:spcPct val="120000"/>
              </a:lnSpc>
              <a:spcBef>
                <a:spcPct val="0"/>
              </a:spcBef>
              <a:buFontTx/>
              <a:buAutoNum type="arabicPeriod"/>
            </a:pPr>
            <a:r>
              <a:rPr lang="zh-CN" altLang="en-US" sz="2000">
                <a:ea typeface="楷体_GB2312"/>
              </a:rPr>
              <a:t>若高斯面内的电荷的电量为零，则通过高斯面的</a:t>
            </a:r>
            <a:r>
              <a:rPr lang="zh-CN" altLang="en-US" sz="2000">
                <a:solidFill>
                  <a:srgbClr val="FF3300"/>
                </a:solidFill>
                <a:ea typeface="楷体_GB2312"/>
              </a:rPr>
              <a:t>电通量</a:t>
            </a:r>
            <a:r>
              <a:rPr lang="zh-CN" altLang="en-US" sz="2000">
                <a:ea typeface="楷体_GB2312"/>
              </a:rPr>
              <a:t>为零，但高斯面上各点的</a:t>
            </a:r>
            <a:r>
              <a:rPr lang="zh-CN" altLang="en-US" sz="2000">
                <a:solidFill>
                  <a:srgbClr val="FF3300"/>
                </a:solidFill>
                <a:ea typeface="楷体_GB2312"/>
              </a:rPr>
              <a:t>电场强度并不一定为零</a:t>
            </a:r>
            <a:r>
              <a:rPr lang="zh-CN" altLang="en-US" sz="2000">
                <a:ea typeface="楷体_GB2312"/>
              </a:rPr>
              <a:t>；</a:t>
            </a:r>
          </a:p>
          <a:p>
            <a:pPr eaLnBrk="1" hangingPunct="1">
              <a:lnSpc>
                <a:spcPct val="120000"/>
              </a:lnSpc>
              <a:buFontTx/>
              <a:buAutoNum type="arabicPeriod"/>
            </a:pPr>
            <a:r>
              <a:rPr lang="zh-CN" altLang="en-US" sz="2000">
                <a:ea typeface="楷体_GB2312"/>
              </a:rPr>
              <a:t>通过任意闭合曲面的电通量只决定于它所</a:t>
            </a:r>
            <a:r>
              <a:rPr lang="zh-CN" altLang="en-US" sz="2000">
                <a:solidFill>
                  <a:srgbClr val="FF3300"/>
                </a:solidFill>
                <a:ea typeface="楷体_GB2312"/>
              </a:rPr>
              <a:t>包围的电荷的代数和</a:t>
            </a:r>
            <a:r>
              <a:rPr lang="zh-CN" altLang="en-US" sz="2000">
                <a:ea typeface="楷体_GB2312"/>
              </a:rPr>
              <a:t>，</a:t>
            </a:r>
            <a:r>
              <a:rPr lang="zh-CN" altLang="en-US" sz="2000">
                <a:solidFill>
                  <a:srgbClr val="FF3300"/>
                </a:solidFill>
                <a:ea typeface="楷体_GB2312"/>
              </a:rPr>
              <a:t>闭合曲面外的电荷</a:t>
            </a:r>
            <a:r>
              <a:rPr lang="zh-CN" altLang="en-US" sz="2000">
                <a:ea typeface="楷体_GB2312"/>
              </a:rPr>
              <a:t>对电通量无贡献。但电荷的空间分布会影响闭合面上各点处的场强大小和方向；</a:t>
            </a:r>
          </a:p>
          <a:p>
            <a:pPr eaLnBrk="1" hangingPunct="1">
              <a:lnSpc>
                <a:spcPct val="120000"/>
              </a:lnSpc>
              <a:buFontTx/>
              <a:buAutoNum type="arabicPeriod"/>
            </a:pPr>
            <a:r>
              <a:rPr lang="zh-CN" altLang="en-US" sz="2000">
                <a:solidFill>
                  <a:srgbClr val="FF3300"/>
                </a:solidFill>
                <a:ea typeface="楷体_GB2312"/>
              </a:rPr>
              <a:t>高斯定理中所说的闭合曲面，通常称为高斯面</a:t>
            </a:r>
            <a:r>
              <a:rPr lang="zh-CN" altLang="en-US" sz="2000">
                <a:ea typeface="楷体_GB2312"/>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241667">
                                            <p:txEl>
                                              <p:pRg st="0" end="0"/>
                                            </p:txEl>
                                          </p:spTgt>
                                        </p:tgtEl>
                                        <p:attrNameLst>
                                          <p:attrName>style.visibility</p:attrName>
                                        </p:attrNameLst>
                                      </p:cBhvr>
                                      <p:to>
                                        <p:strVal val="visible"/>
                                      </p:to>
                                    </p:set>
                                    <p:animEffect transition="in" filter="wipe(left)">
                                      <p:cBhvr>
                                        <p:cTn id="7" dur="75"/>
                                        <p:tgtEl>
                                          <p:spTgt spid="2416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41668"/>
                                        </p:tgtEl>
                                        <p:attrNameLst>
                                          <p:attrName>style.visibility</p:attrName>
                                        </p:attrNameLst>
                                      </p:cBhvr>
                                      <p:to>
                                        <p:strVal val="visible"/>
                                      </p:to>
                                    </p:set>
                                    <p:animEffect transition="in" filter="wipe(left)">
                                      <p:cBhvr>
                                        <p:cTn id="12" dur="500"/>
                                        <p:tgtEl>
                                          <p:spTgt spid="24166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23">
                                            <p:txEl>
                                              <p:pRg st="0" end="0"/>
                                            </p:txEl>
                                          </p:spTgt>
                                        </p:tgtEl>
                                        <p:attrNameLst>
                                          <p:attrName>style.visibility</p:attrName>
                                        </p:attrNameLst>
                                      </p:cBhvr>
                                      <p:to>
                                        <p:strVal val="visible"/>
                                      </p:to>
                                    </p:set>
                                    <p:animEffect transition="in" filter="wipe(left)">
                                      <p:cBhvr>
                                        <p:cTn id="17" dur="75"/>
                                        <p:tgtEl>
                                          <p:spTgt spid="23">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24">
                                            <p:txEl>
                                              <p:pRg st="0" end="0"/>
                                            </p:txEl>
                                          </p:spTgt>
                                        </p:tgtEl>
                                        <p:attrNameLst>
                                          <p:attrName>style.visibility</p:attrName>
                                        </p:attrNameLst>
                                      </p:cBhvr>
                                      <p:to>
                                        <p:strVal val="visible"/>
                                      </p:to>
                                    </p:set>
                                    <p:animEffect transition="in" filter="wipe(left)">
                                      <p:cBhvr>
                                        <p:cTn id="22" dur="75"/>
                                        <p:tgtEl>
                                          <p:spTgt spid="24">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24">
                                            <p:txEl>
                                              <p:pRg st="1" end="1"/>
                                            </p:txEl>
                                          </p:spTgt>
                                        </p:tgtEl>
                                        <p:attrNameLst>
                                          <p:attrName>style.visibility</p:attrName>
                                        </p:attrNameLst>
                                      </p:cBhvr>
                                      <p:to>
                                        <p:strVal val="visible"/>
                                      </p:to>
                                    </p:set>
                                    <p:animEffect transition="in" filter="wipe(left)">
                                      <p:cBhvr>
                                        <p:cTn id="27" dur="75"/>
                                        <p:tgtEl>
                                          <p:spTgt spid="24">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lt">
                                    <p:tmPct val="100000"/>
                                  </p:iterate>
                                  <p:childTnLst>
                                    <p:set>
                                      <p:cBhvr>
                                        <p:cTn id="31" dur="1" fill="hold">
                                          <p:stCondLst>
                                            <p:cond delay="0"/>
                                          </p:stCondLst>
                                        </p:cTn>
                                        <p:tgtEl>
                                          <p:spTgt spid="24">
                                            <p:txEl>
                                              <p:pRg st="2" end="2"/>
                                            </p:txEl>
                                          </p:spTgt>
                                        </p:tgtEl>
                                        <p:attrNameLst>
                                          <p:attrName>style.visibility</p:attrName>
                                        </p:attrNameLst>
                                      </p:cBhvr>
                                      <p:to>
                                        <p:strVal val="visible"/>
                                      </p:to>
                                    </p:set>
                                    <p:animEffect transition="in" filter="wipe(left)">
                                      <p:cBhvr>
                                        <p:cTn id="32" dur="75"/>
                                        <p:tgtEl>
                                          <p:spTgt spid="24">
                                            <p:txEl>
                                              <p:pRg st="2" end="2"/>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iterate type="lt">
                                    <p:tmPct val="100000"/>
                                  </p:iterate>
                                  <p:childTnLst>
                                    <p:set>
                                      <p:cBhvr>
                                        <p:cTn id="36" dur="1" fill="hold">
                                          <p:stCondLst>
                                            <p:cond delay="0"/>
                                          </p:stCondLst>
                                        </p:cTn>
                                        <p:tgtEl>
                                          <p:spTgt spid="24">
                                            <p:txEl>
                                              <p:pRg st="3" end="3"/>
                                            </p:txEl>
                                          </p:spTgt>
                                        </p:tgtEl>
                                        <p:attrNameLst>
                                          <p:attrName>style.visibility</p:attrName>
                                        </p:attrNameLst>
                                      </p:cBhvr>
                                      <p:to>
                                        <p:strVal val="visible"/>
                                      </p:to>
                                    </p:set>
                                    <p:animEffect transition="in" filter="wipe(left)">
                                      <p:cBhvr>
                                        <p:cTn id="37" dur="75"/>
                                        <p:tgtEl>
                                          <p:spTgt spid="24">
                                            <p:txEl>
                                              <p:pRg st="3" end="3"/>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lt">
                                    <p:tmPct val="100000"/>
                                  </p:iterate>
                                  <p:childTnLst>
                                    <p:set>
                                      <p:cBhvr>
                                        <p:cTn id="41" dur="1" fill="hold">
                                          <p:stCondLst>
                                            <p:cond delay="0"/>
                                          </p:stCondLst>
                                        </p:cTn>
                                        <p:tgtEl>
                                          <p:spTgt spid="24">
                                            <p:txEl>
                                              <p:pRg st="4" end="4"/>
                                            </p:txEl>
                                          </p:spTgt>
                                        </p:tgtEl>
                                        <p:attrNameLst>
                                          <p:attrName>style.visibility</p:attrName>
                                        </p:attrNameLst>
                                      </p:cBhvr>
                                      <p:to>
                                        <p:strVal val="visible"/>
                                      </p:to>
                                    </p:set>
                                    <p:animEffect transition="in" filter="wipe(left)">
                                      <p:cBhvr>
                                        <p:cTn id="42" dur="75"/>
                                        <p:tgtEl>
                                          <p:spTgt spid="24">
                                            <p:txEl>
                                              <p:pRg st="4" end="4"/>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iterate type="lt">
                                    <p:tmPct val="100000"/>
                                  </p:iterate>
                                  <p:childTnLst>
                                    <p:set>
                                      <p:cBhvr>
                                        <p:cTn id="46" dur="1" fill="hold">
                                          <p:stCondLst>
                                            <p:cond delay="0"/>
                                          </p:stCondLst>
                                        </p:cTn>
                                        <p:tgtEl>
                                          <p:spTgt spid="24">
                                            <p:txEl>
                                              <p:pRg st="5" end="5"/>
                                            </p:txEl>
                                          </p:spTgt>
                                        </p:tgtEl>
                                        <p:attrNameLst>
                                          <p:attrName>style.visibility</p:attrName>
                                        </p:attrNameLst>
                                      </p:cBhvr>
                                      <p:to>
                                        <p:strVal val="visible"/>
                                      </p:to>
                                    </p:set>
                                    <p:animEffect transition="in" filter="wipe(left)">
                                      <p:cBhvr>
                                        <p:cTn id="47" dur="75"/>
                                        <p:tgtEl>
                                          <p:spTgt spid="2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67" grpId="0" build="p" autoUpdateAnimBg="0"/>
      <p:bldP spid="23" grpId="0" build="p" autoUpdateAnimBg="0"/>
      <p:bldP spid="24" grpId="0" build="p"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9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14450"/>
            <a:ext cx="5299075" cy="554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8963" name="Text Box 3"/>
          <p:cNvSpPr txBox="1">
            <a:spLocks noChangeArrowheads="1"/>
          </p:cNvSpPr>
          <p:nvPr/>
        </p:nvSpPr>
        <p:spPr bwMode="auto">
          <a:xfrm>
            <a:off x="2987675" y="5589588"/>
            <a:ext cx="500063" cy="5191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chemeClr val="folHlink"/>
                </a:solidFill>
                <a:ea typeface="楷体_GB2312"/>
              </a:rPr>
              <a:t>S</a:t>
            </a:r>
            <a:r>
              <a:rPr lang="en-US" altLang="zh-CN" sz="2800" baseline="-25000">
                <a:solidFill>
                  <a:schemeClr val="folHlink"/>
                </a:solidFill>
                <a:ea typeface="楷体_GB2312"/>
              </a:rPr>
              <a:t>1</a:t>
            </a:r>
          </a:p>
        </p:txBody>
      </p:sp>
      <p:sp>
        <p:nvSpPr>
          <p:cNvPr id="168964" name="Text Box 4"/>
          <p:cNvSpPr txBox="1">
            <a:spLocks noChangeArrowheads="1"/>
          </p:cNvSpPr>
          <p:nvPr/>
        </p:nvSpPr>
        <p:spPr bwMode="auto">
          <a:xfrm>
            <a:off x="2700338" y="2636838"/>
            <a:ext cx="587375" cy="6413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a:solidFill>
                  <a:srgbClr val="FF3300"/>
                </a:solidFill>
                <a:ea typeface="楷体_GB2312"/>
              </a:rPr>
              <a:t>S</a:t>
            </a:r>
            <a:r>
              <a:rPr lang="en-US" altLang="zh-CN" sz="3600" baseline="-25000">
                <a:solidFill>
                  <a:srgbClr val="FF3300"/>
                </a:solidFill>
                <a:ea typeface="楷体_GB2312"/>
              </a:rPr>
              <a:t>2</a:t>
            </a:r>
          </a:p>
        </p:txBody>
      </p:sp>
      <p:sp>
        <p:nvSpPr>
          <p:cNvPr id="168965" name="Text Box 5"/>
          <p:cNvSpPr txBox="1">
            <a:spLocks noChangeArrowheads="1"/>
          </p:cNvSpPr>
          <p:nvPr/>
        </p:nvSpPr>
        <p:spPr bwMode="auto">
          <a:xfrm>
            <a:off x="1187450" y="3292475"/>
            <a:ext cx="587375" cy="6413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a:solidFill>
                  <a:srgbClr val="FF3300"/>
                </a:solidFill>
                <a:ea typeface="楷体_GB2312"/>
              </a:rPr>
              <a:t>S</a:t>
            </a:r>
            <a:r>
              <a:rPr lang="en-US" altLang="zh-CN" sz="3600" baseline="-25000">
                <a:solidFill>
                  <a:srgbClr val="FF3300"/>
                </a:solidFill>
                <a:ea typeface="楷体_GB2312"/>
              </a:rPr>
              <a:t>3</a:t>
            </a:r>
          </a:p>
        </p:txBody>
      </p:sp>
      <p:sp>
        <p:nvSpPr>
          <p:cNvPr id="168966" name="Text Box 6"/>
          <p:cNvSpPr txBox="1">
            <a:spLocks noChangeArrowheads="1"/>
          </p:cNvSpPr>
          <p:nvPr/>
        </p:nvSpPr>
        <p:spPr bwMode="auto">
          <a:xfrm>
            <a:off x="1547813" y="1484313"/>
            <a:ext cx="587375" cy="6413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a:solidFill>
                  <a:srgbClr val="FF3300"/>
                </a:solidFill>
                <a:ea typeface="楷体_GB2312"/>
              </a:rPr>
              <a:t>S</a:t>
            </a:r>
            <a:r>
              <a:rPr lang="en-US" altLang="zh-CN" sz="3600" baseline="-25000">
                <a:solidFill>
                  <a:srgbClr val="FF3300"/>
                </a:solidFill>
                <a:ea typeface="楷体_GB2312"/>
              </a:rPr>
              <a:t>4</a:t>
            </a:r>
          </a:p>
        </p:txBody>
      </p:sp>
      <p:sp>
        <p:nvSpPr>
          <p:cNvPr id="168967" name="Text Box 7"/>
          <p:cNvSpPr txBox="1">
            <a:spLocks noChangeArrowheads="1"/>
          </p:cNvSpPr>
          <p:nvPr/>
        </p:nvSpPr>
        <p:spPr bwMode="auto">
          <a:xfrm>
            <a:off x="0" y="692150"/>
            <a:ext cx="88931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FF3300"/>
                </a:solidFill>
                <a:ea typeface="楷体_GB2312"/>
              </a:rPr>
              <a:t>1</a:t>
            </a:r>
            <a:r>
              <a:rPr lang="zh-CN" altLang="en-US" sz="2800">
                <a:solidFill>
                  <a:srgbClr val="FF3300"/>
                </a:solidFill>
                <a:ea typeface="楷体_GB2312"/>
              </a:rPr>
              <a:t>、电通量的计算：</a:t>
            </a:r>
            <a:r>
              <a:rPr lang="zh-CN" altLang="en-US" sz="2800">
                <a:solidFill>
                  <a:srgbClr val="3333FF"/>
                </a:solidFill>
                <a:ea typeface="楷体_GB2312"/>
              </a:rPr>
              <a:t>电偶极子电场中不同回路的电通量</a:t>
            </a:r>
          </a:p>
        </p:txBody>
      </p:sp>
      <p:graphicFrame>
        <p:nvGraphicFramePr>
          <p:cNvPr id="168968" name="Object 8"/>
          <p:cNvGraphicFramePr>
            <a:graphicFrameLocks noChangeAspect="1"/>
          </p:cNvGraphicFramePr>
          <p:nvPr/>
        </p:nvGraphicFramePr>
        <p:xfrm>
          <a:off x="5918200" y="2708275"/>
          <a:ext cx="1897063" cy="622300"/>
        </p:xfrm>
        <a:graphic>
          <a:graphicData uri="http://schemas.openxmlformats.org/presentationml/2006/ole">
            <mc:AlternateContent xmlns:mc="http://schemas.openxmlformats.org/markup-compatibility/2006">
              <mc:Choice xmlns:v="urn:schemas-microsoft-com:vml" Requires="v">
                <p:oleObj spid="_x0000_s81341" name="Equation" r:id="rId4" imgW="698500" imgH="228600" progId="Equation.DSMT4">
                  <p:embed/>
                </p:oleObj>
              </mc:Choice>
              <mc:Fallback>
                <p:oleObj name="Equation" r:id="rId4" imgW="698500" imgH="228600" progId="Equation.DSMT4">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18200" y="2708275"/>
                        <a:ext cx="1897063"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8969" name="Object 9"/>
          <p:cNvGraphicFramePr>
            <a:graphicFrameLocks noChangeAspect="1"/>
          </p:cNvGraphicFramePr>
          <p:nvPr/>
        </p:nvGraphicFramePr>
        <p:xfrm>
          <a:off x="5645150" y="1898650"/>
          <a:ext cx="2098675" cy="620713"/>
        </p:xfrm>
        <a:graphic>
          <a:graphicData uri="http://schemas.openxmlformats.org/presentationml/2006/ole">
            <mc:AlternateContent xmlns:mc="http://schemas.openxmlformats.org/markup-compatibility/2006">
              <mc:Choice xmlns:v="urn:schemas-microsoft-com:vml" Requires="v">
                <p:oleObj spid="_x0000_s81342" name="Equation" r:id="rId6" imgW="774364" imgH="228501" progId="Equation.DSMT4">
                  <p:embed/>
                </p:oleObj>
              </mc:Choice>
              <mc:Fallback>
                <p:oleObj name="Equation" r:id="rId6" imgW="774364" imgH="228501"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45150" y="1898650"/>
                        <a:ext cx="2098675" cy="620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8970" name="Object 10"/>
          <p:cNvGraphicFramePr>
            <a:graphicFrameLocks noChangeAspect="1"/>
          </p:cNvGraphicFramePr>
          <p:nvPr/>
        </p:nvGraphicFramePr>
        <p:xfrm>
          <a:off x="5940425" y="3573463"/>
          <a:ext cx="1274763" cy="622300"/>
        </p:xfrm>
        <a:graphic>
          <a:graphicData uri="http://schemas.openxmlformats.org/presentationml/2006/ole">
            <mc:AlternateContent xmlns:mc="http://schemas.openxmlformats.org/markup-compatibility/2006">
              <mc:Choice xmlns:v="urn:schemas-microsoft-com:vml" Requires="v">
                <p:oleObj spid="_x0000_s81343" name="Equation" r:id="rId8" imgW="469900" imgH="228600" progId="Equation.DSMT4">
                  <p:embed/>
                </p:oleObj>
              </mc:Choice>
              <mc:Fallback>
                <p:oleObj name="Equation" r:id="rId8" imgW="469900" imgH="228600"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40425" y="3573463"/>
                        <a:ext cx="1274763"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8971" name="Object 11"/>
          <p:cNvGraphicFramePr>
            <a:graphicFrameLocks noChangeAspect="1"/>
          </p:cNvGraphicFramePr>
          <p:nvPr/>
        </p:nvGraphicFramePr>
        <p:xfrm>
          <a:off x="5413375" y="4365625"/>
          <a:ext cx="3409950" cy="620713"/>
        </p:xfrm>
        <a:graphic>
          <a:graphicData uri="http://schemas.openxmlformats.org/presentationml/2006/ole">
            <mc:AlternateContent xmlns:mc="http://schemas.openxmlformats.org/markup-compatibility/2006">
              <mc:Choice xmlns:v="urn:schemas-microsoft-com:vml" Requires="v">
                <p:oleObj spid="_x0000_s81344" name="Equation" r:id="rId10" imgW="1257300" imgH="228600" progId="Equation.DSMT4">
                  <p:embed/>
                </p:oleObj>
              </mc:Choice>
              <mc:Fallback>
                <p:oleObj name="Equation" r:id="rId10" imgW="1257300" imgH="228600"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13375" y="4365625"/>
                        <a:ext cx="3409950" cy="620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8972" name="Text Box 12"/>
          <p:cNvSpPr txBox="1">
            <a:spLocks noChangeArrowheads="1"/>
          </p:cNvSpPr>
          <p:nvPr/>
        </p:nvSpPr>
        <p:spPr bwMode="auto">
          <a:xfrm>
            <a:off x="228600" y="77788"/>
            <a:ext cx="5257800" cy="579437"/>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a:solidFill>
                  <a:schemeClr val="folHlink"/>
                </a:solidFill>
                <a:latin typeface="Arial" panose="020B0604020202020204" pitchFamily="34" charset="0"/>
                <a:ea typeface="楷体_GB2312"/>
              </a:rPr>
              <a:t>四、高斯定律应用举例</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8972"/>
                                        </p:tgtEl>
                                        <p:attrNameLst>
                                          <p:attrName>style.visibility</p:attrName>
                                        </p:attrNameLst>
                                      </p:cBhvr>
                                      <p:to>
                                        <p:strVal val="visible"/>
                                      </p:to>
                                    </p:set>
                                    <p:animEffect transition="in" filter="wipe(left)">
                                      <p:cBhvr>
                                        <p:cTn id="7" dur="500"/>
                                        <p:tgtEl>
                                          <p:spTgt spid="1689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8967"/>
                                        </p:tgtEl>
                                        <p:attrNameLst>
                                          <p:attrName>style.visibility</p:attrName>
                                        </p:attrNameLst>
                                      </p:cBhvr>
                                      <p:to>
                                        <p:strVal val="visible"/>
                                      </p:to>
                                    </p:set>
                                    <p:animEffect transition="in" filter="wipe(left)">
                                      <p:cBhvr>
                                        <p:cTn id="12" dur="500"/>
                                        <p:tgtEl>
                                          <p:spTgt spid="16896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68962"/>
                                        </p:tgtEl>
                                        <p:attrNameLst>
                                          <p:attrName>style.visibility</p:attrName>
                                        </p:attrNameLst>
                                      </p:cBhvr>
                                      <p:to>
                                        <p:strVal val="visible"/>
                                      </p:to>
                                    </p:set>
                                    <p:animEffect transition="in" filter="blinds(horizontal)">
                                      <p:cBhvr>
                                        <p:cTn id="17" dur="500"/>
                                        <p:tgtEl>
                                          <p:spTgt spid="16896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1" nodeType="clickEffect">
                                  <p:stCondLst>
                                    <p:cond delay="0"/>
                                  </p:stCondLst>
                                  <p:childTnLst>
                                    <p:set>
                                      <p:cBhvr>
                                        <p:cTn id="21" dur="1" fill="hold">
                                          <p:stCondLst>
                                            <p:cond delay="0"/>
                                          </p:stCondLst>
                                        </p:cTn>
                                        <p:tgtEl>
                                          <p:spTgt spid="168963"/>
                                        </p:tgtEl>
                                        <p:attrNameLst>
                                          <p:attrName>style.visibility</p:attrName>
                                        </p:attrNameLst>
                                      </p:cBhvr>
                                      <p:to>
                                        <p:strVal val="visible"/>
                                      </p:to>
                                    </p:set>
                                    <p:animEffect transition="in" filter="blinds(horizontal)">
                                      <p:cBhvr>
                                        <p:cTn id="22" dur="500"/>
                                        <p:tgtEl>
                                          <p:spTgt spid="16896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6" presetClass="emph" presetSubtype="0" fill="hold" grpId="0" nodeType="clickEffect">
                                  <p:stCondLst>
                                    <p:cond delay="0"/>
                                  </p:stCondLst>
                                  <p:childTnLst>
                                    <p:animScale>
                                      <p:cBhvr>
                                        <p:cTn id="26" dur="2000" fill="hold"/>
                                        <p:tgtEl>
                                          <p:spTgt spid="168963"/>
                                        </p:tgtEl>
                                      </p:cBhvr>
                                      <p:by x="150000" y="150000"/>
                                    </p:animScale>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68969"/>
                                        </p:tgtEl>
                                        <p:attrNameLst>
                                          <p:attrName>style.visibility</p:attrName>
                                        </p:attrNameLst>
                                      </p:cBhvr>
                                      <p:to>
                                        <p:strVal val="visible"/>
                                      </p:to>
                                    </p:set>
                                    <p:animEffect transition="in" filter="wipe(left)">
                                      <p:cBhvr>
                                        <p:cTn id="31" dur="500"/>
                                        <p:tgtEl>
                                          <p:spTgt spid="16896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grpId="1" nodeType="clickEffect">
                                  <p:stCondLst>
                                    <p:cond delay="0"/>
                                  </p:stCondLst>
                                  <p:childTnLst>
                                    <p:set>
                                      <p:cBhvr>
                                        <p:cTn id="35" dur="1" fill="hold">
                                          <p:stCondLst>
                                            <p:cond delay="0"/>
                                          </p:stCondLst>
                                        </p:cTn>
                                        <p:tgtEl>
                                          <p:spTgt spid="168964"/>
                                        </p:tgtEl>
                                        <p:attrNameLst>
                                          <p:attrName>style.visibility</p:attrName>
                                        </p:attrNameLst>
                                      </p:cBhvr>
                                      <p:to>
                                        <p:strVal val="visible"/>
                                      </p:to>
                                    </p:set>
                                    <p:animEffect transition="in" filter="blinds(horizontal)">
                                      <p:cBhvr>
                                        <p:cTn id="36" dur="500"/>
                                        <p:tgtEl>
                                          <p:spTgt spid="16896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6" presetClass="emph" presetSubtype="0" fill="hold" grpId="0" nodeType="clickEffect">
                                  <p:stCondLst>
                                    <p:cond delay="0"/>
                                  </p:stCondLst>
                                  <p:childTnLst>
                                    <p:animScale>
                                      <p:cBhvr>
                                        <p:cTn id="40" dur="2000" fill="hold"/>
                                        <p:tgtEl>
                                          <p:spTgt spid="168964"/>
                                        </p:tgtEl>
                                      </p:cBhvr>
                                      <p:by x="150000" y="150000"/>
                                    </p:animScale>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168968"/>
                                        </p:tgtEl>
                                        <p:attrNameLst>
                                          <p:attrName>style.visibility</p:attrName>
                                        </p:attrNameLst>
                                      </p:cBhvr>
                                      <p:to>
                                        <p:strVal val="visible"/>
                                      </p:to>
                                    </p:set>
                                    <p:animEffect transition="in" filter="wipe(left)">
                                      <p:cBhvr>
                                        <p:cTn id="45" dur="500"/>
                                        <p:tgtEl>
                                          <p:spTgt spid="16896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grpId="1" nodeType="clickEffect">
                                  <p:stCondLst>
                                    <p:cond delay="0"/>
                                  </p:stCondLst>
                                  <p:childTnLst>
                                    <p:set>
                                      <p:cBhvr>
                                        <p:cTn id="49" dur="1" fill="hold">
                                          <p:stCondLst>
                                            <p:cond delay="0"/>
                                          </p:stCondLst>
                                        </p:cTn>
                                        <p:tgtEl>
                                          <p:spTgt spid="168965"/>
                                        </p:tgtEl>
                                        <p:attrNameLst>
                                          <p:attrName>style.visibility</p:attrName>
                                        </p:attrNameLst>
                                      </p:cBhvr>
                                      <p:to>
                                        <p:strVal val="visible"/>
                                      </p:to>
                                    </p:set>
                                    <p:animEffect transition="in" filter="blinds(horizontal)">
                                      <p:cBhvr>
                                        <p:cTn id="50" dur="500"/>
                                        <p:tgtEl>
                                          <p:spTgt spid="16896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6" presetClass="emph" presetSubtype="0" fill="hold" grpId="0" nodeType="clickEffect">
                                  <p:stCondLst>
                                    <p:cond delay="0"/>
                                  </p:stCondLst>
                                  <p:childTnLst>
                                    <p:animScale>
                                      <p:cBhvr>
                                        <p:cTn id="54" dur="2000" fill="hold"/>
                                        <p:tgtEl>
                                          <p:spTgt spid="168965"/>
                                        </p:tgtEl>
                                      </p:cBhvr>
                                      <p:by x="150000" y="150000"/>
                                    </p:animScale>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168970"/>
                                        </p:tgtEl>
                                        <p:attrNameLst>
                                          <p:attrName>style.visibility</p:attrName>
                                        </p:attrNameLst>
                                      </p:cBhvr>
                                      <p:to>
                                        <p:strVal val="visible"/>
                                      </p:to>
                                    </p:set>
                                    <p:animEffect transition="in" filter="wipe(left)">
                                      <p:cBhvr>
                                        <p:cTn id="59" dur="500"/>
                                        <p:tgtEl>
                                          <p:spTgt spid="168970"/>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10" fill="hold" grpId="1" nodeType="clickEffect">
                                  <p:stCondLst>
                                    <p:cond delay="0"/>
                                  </p:stCondLst>
                                  <p:childTnLst>
                                    <p:set>
                                      <p:cBhvr>
                                        <p:cTn id="63" dur="1" fill="hold">
                                          <p:stCondLst>
                                            <p:cond delay="0"/>
                                          </p:stCondLst>
                                        </p:cTn>
                                        <p:tgtEl>
                                          <p:spTgt spid="168966"/>
                                        </p:tgtEl>
                                        <p:attrNameLst>
                                          <p:attrName>style.visibility</p:attrName>
                                        </p:attrNameLst>
                                      </p:cBhvr>
                                      <p:to>
                                        <p:strVal val="visible"/>
                                      </p:to>
                                    </p:set>
                                    <p:animEffect transition="in" filter="blinds(horizontal)">
                                      <p:cBhvr>
                                        <p:cTn id="64" dur="500"/>
                                        <p:tgtEl>
                                          <p:spTgt spid="168966"/>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6" presetClass="emph" presetSubtype="0" fill="hold" grpId="0" nodeType="clickEffect">
                                  <p:stCondLst>
                                    <p:cond delay="0"/>
                                  </p:stCondLst>
                                  <p:childTnLst>
                                    <p:animScale>
                                      <p:cBhvr>
                                        <p:cTn id="68" dur="2000" fill="hold"/>
                                        <p:tgtEl>
                                          <p:spTgt spid="168966"/>
                                        </p:tgtEl>
                                      </p:cBhvr>
                                      <p:by x="150000" y="150000"/>
                                    </p:animScale>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168971"/>
                                        </p:tgtEl>
                                        <p:attrNameLst>
                                          <p:attrName>style.visibility</p:attrName>
                                        </p:attrNameLst>
                                      </p:cBhvr>
                                      <p:to>
                                        <p:strVal val="visible"/>
                                      </p:to>
                                    </p:set>
                                    <p:animEffect transition="in" filter="wipe(left)">
                                      <p:cBhvr>
                                        <p:cTn id="73" dur="500"/>
                                        <p:tgtEl>
                                          <p:spTgt spid="1689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3" grpId="0"/>
      <p:bldP spid="168963" grpId="1"/>
      <p:bldP spid="168964" grpId="0"/>
      <p:bldP spid="168964" grpId="1"/>
      <p:bldP spid="168965" grpId="0"/>
      <p:bldP spid="168965" grpId="1"/>
      <p:bldP spid="168966" grpId="0"/>
      <p:bldP spid="168966" grpId="1"/>
      <p:bldP spid="168967" grpId="0" autoUpdateAnimBg="0"/>
      <p:bldP spid="168972" grpId="0" animBg="1"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7" name="Text Box 3"/>
          <p:cNvSpPr txBox="1">
            <a:spLocks noChangeArrowheads="1"/>
          </p:cNvSpPr>
          <p:nvPr/>
        </p:nvSpPr>
        <p:spPr bwMode="auto">
          <a:xfrm>
            <a:off x="441325" y="404813"/>
            <a:ext cx="832167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400">
                <a:solidFill>
                  <a:srgbClr val="FF3300"/>
                </a:solidFill>
                <a:ea typeface="楷体_GB2312"/>
              </a:rPr>
              <a:t>2</a:t>
            </a:r>
            <a:r>
              <a:rPr lang="zh-CN" altLang="en-US" sz="2400">
                <a:solidFill>
                  <a:srgbClr val="FF3300"/>
                </a:solidFill>
                <a:ea typeface="楷体_GB2312"/>
              </a:rPr>
              <a:t>、场强的计算：</a:t>
            </a:r>
            <a:r>
              <a:rPr lang="zh-CN" altLang="en-US" sz="2400">
                <a:ea typeface="楷体_GB2312"/>
              </a:rPr>
              <a:t>高斯定理的一个重要应用是用来计算带电体周围电场的电场强度。实际上</a:t>
            </a:r>
            <a:r>
              <a:rPr lang="en-US" altLang="zh-CN" sz="2400">
                <a:ea typeface="楷体_GB2312"/>
              </a:rPr>
              <a:t>,</a:t>
            </a:r>
            <a:r>
              <a:rPr lang="zh-CN" altLang="en-US" sz="2400">
                <a:ea typeface="楷体_GB2312"/>
              </a:rPr>
              <a:t>只有在</a:t>
            </a:r>
            <a:r>
              <a:rPr lang="zh-CN" altLang="en-US" sz="2400">
                <a:solidFill>
                  <a:srgbClr val="3333FF"/>
                </a:solidFill>
                <a:ea typeface="楷体_GB2312"/>
              </a:rPr>
              <a:t>场强分布具有一定的对称性</a:t>
            </a:r>
            <a:r>
              <a:rPr lang="zh-CN" altLang="en-US" sz="2400">
                <a:ea typeface="楷体_GB2312"/>
              </a:rPr>
              <a:t>时，才能比较方便应用高斯定理求出场强。求解的关键是选取适当的高斯面。常见的具有对称性分布的源电荷有：</a:t>
            </a:r>
          </a:p>
        </p:txBody>
      </p:sp>
      <p:sp>
        <p:nvSpPr>
          <p:cNvPr id="169988" name="Text Box 4"/>
          <p:cNvSpPr txBox="1">
            <a:spLocks noChangeArrowheads="1"/>
          </p:cNvSpPr>
          <p:nvPr/>
        </p:nvSpPr>
        <p:spPr bwMode="auto">
          <a:xfrm>
            <a:off x="533400" y="4876800"/>
            <a:ext cx="23622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solidFill>
                  <a:srgbClr val="FF3300"/>
                </a:solidFill>
                <a:ea typeface="楷体_GB2312"/>
              </a:rPr>
              <a:t>球对称分布：</a:t>
            </a:r>
            <a:r>
              <a:rPr lang="zh-CN" altLang="en-US" sz="2400">
                <a:ea typeface="楷体_GB2312"/>
              </a:rPr>
              <a:t>包括均匀带电的</a:t>
            </a:r>
            <a:r>
              <a:rPr lang="zh-CN" altLang="en-US" sz="2400">
                <a:solidFill>
                  <a:srgbClr val="FF3300"/>
                </a:solidFill>
                <a:ea typeface="楷体_GB2312"/>
              </a:rPr>
              <a:t>球面</a:t>
            </a:r>
            <a:r>
              <a:rPr lang="zh-CN" altLang="en-US" sz="2400">
                <a:ea typeface="楷体_GB2312"/>
              </a:rPr>
              <a:t>，</a:t>
            </a:r>
            <a:r>
              <a:rPr lang="zh-CN" altLang="en-US" sz="2400">
                <a:solidFill>
                  <a:srgbClr val="FF3300"/>
                </a:solidFill>
                <a:ea typeface="楷体_GB2312"/>
              </a:rPr>
              <a:t>球体</a:t>
            </a:r>
            <a:r>
              <a:rPr lang="zh-CN" altLang="en-US" sz="2400">
                <a:ea typeface="楷体_GB2312"/>
              </a:rPr>
              <a:t>和</a:t>
            </a:r>
            <a:r>
              <a:rPr lang="zh-CN" altLang="en-US" sz="2400">
                <a:solidFill>
                  <a:srgbClr val="FF3300"/>
                </a:solidFill>
                <a:ea typeface="楷体_GB2312"/>
              </a:rPr>
              <a:t>多层同心球壳</a:t>
            </a:r>
            <a:r>
              <a:rPr lang="zh-CN" altLang="en-US" sz="2400">
                <a:ea typeface="楷体_GB2312"/>
              </a:rPr>
              <a:t>等</a:t>
            </a:r>
          </a:p>
        </p:txBody>
      </p:sp>
      <p:pic>
        <p:nvPicPr>
          <p:cNvPr id="16998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590800"/>
            <a:ext cx="2057400" cy="1985963"/>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999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2514600"/>
            <a:ext cx="1614488" cy="2133600"/>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999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2514600"/>
            <a:ext cx="2006600" cy="2209800"/>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9992" name="Text Box 8"/>
          <p:cNvSpPr txBox="1">
            <a:spLocks noChangeArrowheads="1"/>
          </p:cNvSpPr>
          <p:nvPr/>
        </p:nvSpPr>
        <p:spPr bwMode="auto">
          <a:xfrm>
            <a:off x="6248400" y="4941888"/>
            <a:ext cx="257175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solidFill>
                  <a:srgbClr val="FF3300"/>
                </a:solidFill>
                <a:ea typeface="楷体_GB2312"/>
              </a:rPr>
              <a:t>无限大平面电荷：</a:t>
            </a:r>
            <a:r>
              <a:rPr lang="zh-CN" altLang="en-US" sz="2400">
                <a:ea typeface="楷体_GB2312"/>
              </a:rPr>
              <a:t>包括无限大的均匀</a:t>
            </a:r>
            <a:r>
              <a:rPr lang="zh-CN" altLang="en-US" sz="2400">
                <a:solidFill>
                  <a:srgbClr val="FF3300"/>
                </a:solidFill>
                <a:ea typeface="楷体_GB2312"/>
              </a:rPr>
              <a:t>带电平面</a:t>
            </a:r>
            <a:r>
              <a:rPr lang="zh-CN" altLang="en-US" sz="2400">
                <a:ea typeface="楷体_GB2312"/>
              </a:rPr>
              <a:t>，</a:t>
            </a:r>
            <a:r>
              <a:rPr lang="zh-CN" altLang="en-US" sz="2400">
                <a:solidFill>
                  <a:srgbClr val="FF3300"/>
                </a:solidFill>
                <a:ea typeface="楷体_GB2312"/>
              </a:rPr>
              <a:t>平板</a:t>
            </a:r>
            <a:r>
              <a:rPr lang="zh-CN" altLang="en-US" sz="2400">
                <a:ea typeface="楷体_GB2312"/>
              </a:rPr>
              <a:t>等。</a:t>
            </a:r>
          </a:p>
        </p:txBody>
      </p:sp>
      <p:sp>
        <p:nvSpPr>
          <p:cNvPr id="169993" name="Text Box 9"/>
          <p:cNvSpPr txBox="1">
            <a:spLocks noChangeArrowheads="1"/>
          </p:cNvSpPr>
          <p:nvPr/>
        </p:nvSpPr>
        <p:spPr bwMode="auto">
          <a:xfrm>
            <a:off x="3581400" y="4940300"/>
            <a:ext cx="25146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solidFill>
                  <a:srgbClr val="FF3300"/>
                </a:solidFill>
                <a:ea typeface="楷体_GB2312"/>
              </a:rPr>
              <a:t>轴对称分布：</a:t>
            </a:r>
            <a:r>
              <a:rPr lang="zh-CN" altLang="en-US" sz="2400">
                <a:ea typeface="楷体_GB2312"/>
              </a:rPr>
              <a:t>包括无限长均匀带电的</a:t>
            </a:r>
            <a:r>
              <a:rPr lang="zh-CN" altLang="en-US" sz="2400">
                <a:solidFill>
                  <a:srgbClr val="FF3300"/>
                </a:solidFill>
                <a:ea typeface="楷体_GB2312"/>
              </a:rPr>
              <a:t>直线</a:t>
            </a:r>
            <a:r>
              <a:rPr lang="zh-CN" altLang="en-US" sz="2400">
                <a:ea typeface="楷体_GB2312"/>
              </a:rPr>
              <a:t>，</a:t>
            </a:r>
            <a:r>
              <a:rPr lang="zh-CN" altLang="en-US" sz="2400">
                <a:solidFill>
                  <a:srgbClr val="FF3300"/>
                </a:solidFill>
                <a:ea typeface="楷体_GB2312"/>
              </a:rPr>
              <a:t>圆柱体</a:t>
            </a:r>
            <a:r>
              <a:rPr lang="zh-CN" altLang="en-US" sz="2400">
                <a:ea typeface="楷体_GB2312"/>
              </a:rPr>
              <a:t>，</a:t>
            </a:r>
            <a:r>
              <a:rPr lang="zh-CN" altLang="en-US" sz="2400">
                <a:solidFill>
                  <a:srgbClr val="FF3300"/>
                </a:solidFill>
                <a:ea typeface="楷体_GB2312"/>
              </a:rPr>
              <a:t>圆柱面</a:t>
            </a:r>
            <a:r>
              <a:rPr lang="zh-CN" altLang="en-US" sz="2400">
                <a:ea typeface="楷体_GB2312"/>
              </a:rPr>
              <a:t>等；</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169987">
                                            <p:txEl>
                                              <p:pRg st="0" end="0"/>
                                            </p:txEl>
                                          </p:spTgt>
                                        </p:tgtEl>
                                        <p:attrNameLst>
                                          <p:attrName>style.visibility</p:attrName>
                                        </p:attrNameLst>
                                      </p:cBhvr>
                                      <p:to>
                                        <p:strVal val="visible"/>
                                      </p:to>
                                    </p:set>
                                    <p:animEffect transition="in" filter="wipe(left)">
                                      <p:cBhvr>
                                        <p:cTn id="7" dur="75"/>
                                        <p:tgtEl>
                                          <p:spTgt spid="1699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69989"/>
                                        </p:tgtEl>
                                        <p:attrNameLst>
                                          <p:attrName>style.visibility</p:attrName>
                                        </p:attrNameLst>
                                      </p:cBhvr>
                                      <p:to>
                                        <p:strVal val="visible"/>
                                      </p:to>
                                    </p:set>
                                    <p:animEffect transition="in" filter="wipe(left)">
                                      <p:cBhvr>
                                        <p:cTn id="12" dur="500"/>
                                        <p:tgtEl>
                                          <p:spTgt spid="1699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169988"/>
                                        </p:tgtEl>
                                        <p:attrNameLst>
                                          <p:attrName>style.visibility</p:attrName>
                                        </p:attrNameLst>
                                      </p:cBhvr>
                                      <p:to>
                                        <p:strVal val="visible"/>
                                      </p:to>
                                    </p:set>
                                    <p:animEffect transition="in" filter="wipe(left)">
                                      <p:cBhvr>
                                        <p:cTn id="17" dur="75"/>
                                        <p:tgtEl>
                                          <p:spTgt spid="1699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69990"/>
                                        </p:tgtEl>
                                        <p:attrNameLst>
                                          <p:attrName>style.visibility</p:attrName>
                                        </p:attrNameLst>
                                      </p:cBhvr>
                                      <p:to>
                                        <p:strVal val="visible"/>
                                      </p:to>
                                    </p:set>
                                    <p:animEffect transition="in" filter="wipe(left)">
                                      <p:cBhvr>
                                        <p:cTn id="22" dur="500"/>
                                        <p:tgtEl>
                                          <p:spTgt spid="16999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169993"/>
                                        </p:tgtEl>
                                        <p:attrNameLst>
                                          <p:attrName>style.visibility</p:attrName>
                                        </p:attrNameLst>
                                      </p:cBhvr>
                                      <p:to>
                                        <p:strVal val="visible"/>
                                      </p:to>
                                    </p:set>
                                    <p:animEffect transition="in" filter="wipe(left)">
                                      <p:cBhvr>
                                        <p:cTn id="27" dur="75"/>
                                        <p:tgtEl>
                                          <p:spTgt spid="16999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69991"/>
                                        </p:tgtEl>
                                        <p:attrNameLst>
                                          <p:attrName>style.visibility</p:attrName>
                                        </p:attrNameLst>
                                      </p:cBhvr>
                                      <p:to>
                                        <p:strVal val="visible"/>
                                      </p:to>
                                    </p:set>
                                    <p:animEffect transition="in" filter="wipe(left)">
                                      <p:cBhvr>
                                        <p:cTn id="32" dur="500"/>
                                        <p:tgtEl>
                                          <p:spTgt spid="16999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iterate type="lt">
                                    <p:tmPct val="100000"/>
                                  </p:iterate>
                                  <p:childTnLst>
                                    <p:set>
                                      <p:cBhvr>
                                        <p:cTn id="36" dur="1" fill="hold">
                                          <p:stCondLst>
                                            <p:cond delay="0"/>
                                          </p:stCondLst>
                                        </p:cTn>
                                        <p:tgtEl>
                                          <p:spTgt spid="169992"/>
                                        </p:tgtEl>
                                        <p:attrNameLst>
                                          <p:attrName>style.visibility</p:attrName>
                                        </p:attrNameLst>
                                      </p:cBhvr>
                                      <p:to>
                                        <p:strVal val="visible"/>
                                      </p:to>
                                    </p:set>
                                    <p:animEffect transition="in" filter="wipe(left)">
                                      <p:cBhvr>
                                        <p:cTn id="37" dur="75"/>
                                        <p:tgtEl>
                                          <p:spTgt spid="1699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7" grpId="0" build="p" autoUpdateAnimBg="0"/>
      <p:bldP spid="169988" grpId="0" autoUpdateAnimBg="0"/>
      <p:bldP spid="169992" grpId="0" autoUpdateAnimBg="0"/>
      <p:bldP spid="169993"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ext Box 2"/>
          <p:cNvSpPr txBox="1">
            <a:spLocks noChangeArrowheads="1"/>
          </p:cNvSpPr>
          <p:nvPr/>
        </p:nvSpPr>
        <p:spPr bwMode="auto">
          <a:xfrm>
            <a:off x="212725" y="152400"/>
            <a:ext cx="4359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800">
                <a:solidFill>
                  <a:srgbClr val="3333FF"/>
                </a:solidFill>
                <a:ea typeface="楷体_GB2312"/>
              </a:rPr>
              <a:t>高斯定理应用步骤：</a:t>
            </a:r>
          </a:p>
        </p:txBody>
      </p:sp>
      <p:sp>
        <p:nvSpPr>
          <p:cNvPr id="171011" name="Text Box 3"/>
          <p:cNvSpPr txBox="1">
            <a:spLocks noChangeArrowheads="1"/>
          </p:cNvSpPr>
          <p:nvPr/>
        </p:nvSpPr>
        <p:spPr bwMode="auto">
          <a:xfrm>
            <a:off x="533400" y="1524000"/>
            <a:ext cx="786447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400">
                <a:ea typeface="楷体_GB2312"/>
              </a:rPr>
              <a:t>1.</a:t>
            </a:r>
            <a:r>
              <a:rPr lang="zh-CN" altLang="en-US" sz="2400">
                <a:solidFill>
                  <a:srgbClr val="FF3300"/>
                </a:solidFill>
                <a:ea typeface="楷体_GB2312"/>
              </a:rPr>
              <a:t>进行对称性分析</a:t>
            </a:r>
            <a:r>
              <a:rPr lang="zh-CN" altLang="en-US" sz="2400">
                <a:ea typeface="楷体_GB2312"/>
              </a:rPr>
              <a:t>，即由电荷分布的对称性，分析场强分布的对称性，判断能否用高斯定理来求电场强度的分布（常见的对称性有球对称性、轴对称性、面对称性等）；</a:t>
            </a:r>
          </a:p>
        </p:txBody>
      </p:sp>
      <p:sp>
        <p:nvSpPr>
          <p:cNvPr id="171012" name="Text Box 4"/>
          <p:cNvSpPr txBox="1">
            <a:spLocks noChangeArrowheads="1"/>
          </p:cNvSpPr>
          <p:nvPr/>
        </p:nvSpPr>
        <p:spPr bwMode="auto">
          <a:xfrm>
            <a:off x="533400" y="2873375"/>
            <a:ext cx="7924800"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400">
                <a:ea typeface="楷体_GB2312"/>
              </a:rPr>
              <a:t>2.</a:t>
            </a:r>
            <a:r>
              <a:rPr lang="zh-CN" altLang="en-US" sz="2400">
                <a:ea typeface="楷体_GB2312"/>
              </a:rPr>
              <a:t>根据场强分布的特点，作</a:t>
            </a:r>
            <a:r>
              <a:rPr lang="zh-CN" altLang="en-US" sz="2400">
                <a:solidFill>
                  <a:srgbClr val="FF3300"/>
                </a:solidFill>
                <a:ea typeface="楷体_GB2312"/>
              </a:rPr>
              <a:t>适当的高斯面</a:t>
            </a:r>
            <a:r>
              <a:rPr lang="zh-CN" altLang="en-US" sz="2400">
                <a:ea typeface="楷体_GB2312"/>
              </a:rPr>
              <a:t>，要求：</a:t>
            </a:r>
          </a:p>
          <a:p>
            <a:pPr lvl="1" eaLnBrk="1" hangingPunct="1">
              <a:buFontTx/>
              <a:buNone/>
            </a:pPr>
            <a:r>
              <a:rPr lang="zh-CN" altLang="en-US" sz="2400">
                <a:ea typeface="楷体_GB2312"/>
              </a:rPr>
              <a:t>①待求场强的场点应在此高斯面上，</a:t>
            </a:r>
          </a:p>
          <a:p>
            <a:pPr lvl="1" eaLnBrk="1" hangingPunct="1">
              <a:buFontTx/>
              <a:buNone/>
            </a:pPr>
            <a:r>
              <a:rPr lang="zh-CN" altLang="en-US" sz="2400">
                <a:ea typeface="楷体_GB2312"/>
              </a:rPr>
              <a:t>②穿过该高斯面的电通量容易计算。</a:t>
            </a:r>
          </a:p>
          <a:p>
            <a:pPr eaLnBrk="1" hangingPunct="1">
              <a:buFontTx/>
              <a:buNone/>
            </a:pPr>
            <a:r>
              <a:rPr lang="zh-CN" altLang="en-US" sz="2400">
                <a:ea typeface="楷体_GB2312"/>
              </a:rPr>
              <a:t>一般地，高斯面各面元的</a:t>
            </a:r>
            <a:r>
              <a:rPr lang="zh-CN" altLang="en-US" sz="2400">
                <a:solidFill>
                  <a:schemeClr val="folHlink"/>
                </a:solidFill>
                <a:ea typeface="楷体_GB2312"/>
              </a:rPr>
              <a:t>法线矢量</a:t>
            </a:r>
            <a:r>
              <a:rPr lang="en-US" altLang="zh-CN" sz="2400" i="1">
                <a:solidFill>
                  <a:schemeClr val="folHlink"/>
                </a:solidFill>
                <a:ea typeface="楷体_GB2312"/>
              </a:rPr>
              <a:t>n</a:t>
            </a:r>
            <a:r>
              <a:rPr lang="zh-CN" altLang="en-US" sz="2400">
                <a:solidFill>
                  <a:schemeClr val="folHlink"/>
                </a:solidFill>
                <a:ea typeface="楷体_GB2312"/>
              </a:rPr>
              <a:t>与</a:t>
            </a:r>
            <a:r>
              <a:rPr lang="en-US" altLang="zh-CN" sz="2400" i="1">
                <a:solidFill>
                  <a:schemeClr val="folHlink"/>
                </a:solidFill>
                <a:ea typeface="楷体_GB2312"/>
              </a:rPr>
              <a:t>E</a:t>
            </a:r>
            <a:r>
              <a:rPr lang="zh-CN" altLang="en-US" sz="2400">
                <a:solidFill>
                  <a:schemeClr val="folHlink"/>
                </a:solidFill>
                <a:ea typeface="楷体_GB2312"/>
              </a:rPr>
              <a:t>平行或垂直</a:t>
            </a:r>
            <a:r>
              <a:rPr lang="zh-CN" altLang="en-US" sz="2400">
                <a:ea typeface="楷体_GB2312"/>
              </a:rPr>
              <a:t>，</a:t>
            </a:r>
            <a:r>
              <a:rPr lang="en-US" altLang="zh-CN" sz="2400" i="1">
                <a:ea typeface="楷体_GB2312"/>
              </a:rPr>
              <a:t>n</a:t>
            </a:r>
            <a:r>
              <a:rPr lang="zh-CN" altLang="en-US" sz="2400">
                <a:ea typeface="楷体_GB2312"/>
              </a:rPr>
              <a:t>与</a:t>
            </a:r>
            <a:r>
              <a:rPr lang="en-US" altLang="zh-CN" sz="2400" i="1">
                <a:ea typeface="楷体_GB2312"/>
              </a:rPr>
              <a:t>E</a:t>
            </a:r>
            <a:r>
              <a:rPr lang="zh-CN" altLang="en-US" sz="2400">
                <a:ea typeface="楷体_GB2312"/>
              </a:rPr>
              <a:t>平行时，</a:t>
            </a:r>
            <a:r>
              <a:rPr lang="en-US" altLang="zh-CN" sz="2400" i="1">
                <a:ea typeface="楷体_GB2312"/>
              </a:rPr>
              <a:t>E</a:t>
            </a:r>
            <a:r>
              <a:rPr lang="zh-CN" altLang="en-US" sz="2400">
                <a:ea typeface="楷体_GB2312"/>
              </a:rPr>
              <a:t>的大小要求处处相等，使得</a:t>
            </a:r>
            <a:r>
              <a:rPr lang="en-US" altLang="zh-CN" sz="2400" i="1">
                <a:ea typeface="楷体_GB2312"/>
              </a:rPr>
              <a:t>E</a:t>
            </a:r>
            <a:r>
              <a:rPr lang="zh-CN" altLang="en-US" sz="2400">
                <a:ea typeface="楷体_GB2312"/>
              </a:rPr>
              <a:t>能提到积分号外面；</a:t>
            </a:r>
          </a:p>
        </p:txBody>
      </p:sp>
      <p:sp>
        <p:nvSpPr>
          <p:cNvPr id="171013" name="Text Box 5"/>
          <p:cNvSpPr txBox="1">
            <a:spLocks noChangeArrowheads="1"/>
          </p:cNvSpPr>
          <p:nvPr/>
        </p:nvSpPr>
        <p:spPr bwMode="auto">
          <a:xfrm>
            <a:off x="593725" y="5559425"/>
            <a:ext cx="80930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400">
                <a:ea typeface="楷体_GB2312"/>
              </a:rPr>
              <a:t>3.</a:t>
            </a:r>
            <a:r>
              <a:rPr lang="zh-CN" altLang="en-US" sz="2400">
                <a:solidFill>
                  <a:srgbClr val="FF3300"/>
                </a:solidFill>
                <a:ea typeface="楷体_GB2312"/>
              </a:rPr>
              <a:t>计算电通量和高斯面内所包围的电荷的代数和</a:t>
            </a:r>
            <a:r>
              <a:rPr lang="zh-CN" altLang="en-US" sz="2400">
                <a:ea typeface="楷体_GB2312"/>
              </a:rPr>
              <a:t>，最后由高斯定理求出场强。 </a:t>
            </a:r>
          </a:p>
        </p:txBody>
      </p:sp>
      <p:graphicFrame>
        <p:nvGraphicFramePr>
          <p:cNvPr id="171014" name="Object 6"/>
          <p:cNvGraphicFramePr>
            <a:graphicFrameLocks noChangeAspect="1"/>
          </p:cNvGraphicFramePr>
          <p:nvPr/>
        </p:nvGraphicFramePr>
        <p:xfrm>
          <a:off x="3602038" y="188913"/>
          <a:ext cx="4602162" cy="1169987"/>
        </p:xfrm>
        <a:graphic>
          <a:graphicData uri="http://schemas.openxmlformats.org/presentationml/2006/ole">
            <mc:AlternateContent xmlns:mc="http://schemas.openxmlformats.org/markup-compatibility/2006">
              <mc:Choice xmlns:v="urn:schemas-microsoft-com:vml" Requires="v">
                <p:oleObj spid="_x0000_s83059" name="Equation" r:id="rId3" imgW="1637589" imgH="444307" progId="Equation.DSMT4">
                  <p:embed/>
                </p:oleObj>
              </mc:Choice>
              <mc:Fallback>
                <p:oleObj name="Equation" r:id="rId3" imgW="1637589" imgH="444307"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2038" y="188913"/>
                        <a:ext cx="4602162" cy="1169987"/>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71014"/>
                                        </p:tgtEl>
                                        <p:attrNameLst>
                                          <p:attrName>style.visibility</p:attrName>
                                        </p:attrNameLst>
                                      </p:cBhvr>
                                      <p:to>
                                        <p:strVal val="visible"/>
                                      </p:to>
                                    </p:set>
                                    <p:animEffect transition="in" filter="wipe(left)">
                                      <p:cBhvr>
                                        <p:cTn id="7" dur="500"/>
                                        <p:tgtEl>
                                          <p:spTgt spid="1710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1010"/>
                                        </p:tgtEl>
                                        <p:attrNameLst>
                                          <p:attrName>style.visibility</p:attrName>
                                        </p:attrNameLst>
                                      </p:cBhvr>
                                      <p:to>
                                        <p:strVal val="visible"/>
                                      </p:to>
                                    </p:set>
                                    <p:animEffect transition="in" filter="wipe(left)">
                                      <p:cBhvr>
                                        <p:cTn id="12" dur="500"/>
                                        <p:tgtEl>
                                          <p:spTgt spid="1710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171011">
                                            <p:txEl>
                                              <p:pRg st="0" end="0"/>
                                            </p:txEl>
                                          </p:spTgt>
                                        </p:tgtEl>
                                        <p:attrNameLst>
                                          <p:attrName>style.visibility</p:attrName>
                                        </p:attrNameLst>
                                      </p:cBhvr>
                                      <p:to>
                                        <p:strVal val="visible"/>
                                      </p:to>
                                    </p:set>
                                    <p:animEffect transition="in" filter="wipe(left)">
                                      <p:cBhvr>
                                        <p:cTn id="17" dur="75"/>
                                        <p:tgtEl>
                                          <p:spTgt spid="171011">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171012">
                                            <p:txEl>
                                              <p:pRg st="0" end="0"/>
                                            </p:txEl>
                                          </p:spTgt>
                                        </p:tgtEl>
                                        <p:attrNameLst>
                                          <p:attrName>style.visibility</p:attrName>
                                        </p:attrNameLst>
                                      </p:cBhvr>
                                      <p:to>
                                        <p:strVal val="visible"/>
                                      </p:to>
                                    </p:set>
                                    <p:animEffect transition="in" filter="wipe(left)">
                                      <p:cBhvr>
                                        <p:cTn id="22" dur="75"/>
                                        <p:tgtEl>
                                          <p:spTgt spid="171012">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171012">
                                            <p:txEl>
                                              <p:pRg st="1" end="1"/>
                                            </p:txEl>
                                          </p:spTgt>
                                        </p:tgtEl>
                                        <p:attrNameLst>
                                          <p:attrName>style.visibility</p:attrName>
                                        </p:attrNameLst>
                                      </p:cBhvr>
                                      <p:to>
                                        <p:strVal val="visible"/>
                                      </p:to>
                                    </p:set>
                                    <p:animEffect transition="in" filter="wipe(left)">
                                      <p:cBhvr>
                                        <p:cTn id="27" dur="75"/>
                                        <p:tgtEl>
                                          <p:spTgt spid="171012">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lt">
                                    <p:tmPct val="100000"/>
                                  </p:iterate>
                                  <p:childTnLst>
                                    <p:set>
                                      <p:cBhvr>
                                        <p:cTn id="31" dur="1" fill="hold">
                                          <p:stCondLst>
                                            <p:cond delay="0"/>
                                          </p:stCondLst>
                                        </p:cTn>
                                        <p:tgtEl>
                                          <p:spTgt spid="171012">
                                            <p:txEl>
                                              <p:pRg st="2" end="2"/>
                                            </p:txEl>
                                          </p:spTgt>
                                        </p:tgtEl>
                                        <p:attrNameLst>
                                          <p:attrName>style.visibility</p:attrName>
                                        </p:attrNameLst>
                                      </p:cBhvr>
                                      <p:to>
                                        <p:strVal val="visible"/>
                                      </p:to>
                                    </p:set>
                                    <p:animEffect transition="in" filter="wipe(left)">
                                      <p:cBhvr>
                                        <p:cTn id="32" dur="75"/>
                                        <p:tgtEl>
                                          <p:spTgt spid="171012">
                                            <p:txEl>
                                              <p:pRg st="2" end="2"/>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iterate type="lt">
                                    <p:tmPct val="100000"/>
                                  </p:iterate>
                                  <p:childTnLst>
                                    <p:set>
                                      <p:cBhvr>
                                        <p:cTn id="36" dur="1" fill="hold">
                                          <p:stCondLst>
                                            <p:cond delay="0"/>
                                          </p:stCondLst>
                                        </p:cTn>
                                        <p:tgtEl>
                                          <p:spTgt spid="171012">
                                            <p:txEl>
                                              <p:pRg st="3" end="3"/>
                                            </p:txEl>
                                          </p:spTgt>
                                        </p:tgtEl>
                                        <p:attrNameLst>
                                          <p:attrName>style.visibility</p:attrName>
                                        </p:attrNameLst>
                                      </p:cBhvr>
                                      <p:to>
                                        <p:strVal val="visible"/>
                                      </p:to>
                                    </p:set>
                                    <p:animEffect transition="in" filter="wipe(left)">
                                      <p:cBhvr>
                                        <p:cTn id="37" dur="75"/>
                                        <p:tgtEl>
                                          <p:spTgt spid="171012">
                                            <p:txEl>
                                              <p:pRg st="3" end="3"/>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lt">
                                    <p:tmPct val="100000"/>
                                  </p:iterate>
                                  <p:childTnLst>
                                    <p:set>
                                      <p:cBhvr>
                                        <p:cTn id="41" dur="1" fill="hold">
                                          <p:stCondLst>
                                            <p:cond delay="0"/>
                                          </p:stCondLst>
                                        </p:cTn>
                                        <p:tgtEl>
                                          <p:spTgt spid="171013">
                                            <p:txEl>
                                              <p:pRg st="0" end="0"/>
                                            </p:txEl>
                                          </p:spTgt>
                                        </p:tgtEl>
                                        <p:attrNameLst>
                                          <p:attrName>style.visibility</p:attrName>
                                        </p:attrNameLst>
                                      </p:cBhvr>
                                      <p:to>
                                        <p:strVal val="visible"/>
                                      </p:to>
                                    </p:set>
                                    <p:animEffect transition="in" filter="wipe(left)">
                                      <p:cBhvr>
                                        <p:cTn id="42" dur="75"/>
                                        <p:tgtEl>
                                          <p:spTgt spid="1710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0" grpId="0" autoUpdateAnimBg="0"/>
      <p:bldP spid="171011" grpId="0" build="p" autoUpdateAnimBg="0"/>
      <p:bldP spid="171012" grpId="0" build="p" bldLvl="2" autoUpdateAnimBg="0"/>
      <p:bldP spid="171013" grpId="0" build="p"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3"/>
          <a:srcRect l="26080" t="34233" r="26966" b="28476"/>
          <a:stretch/>
        </p:blipFill>
        <p:spPr>
          <a:xfrm>
            <a:off x="323528" y="0"/>
            <a:ext cx="7706241" cy="3442733"/>
          </a:xfrm>
          <a:prstGeom prst="rect">
            <a:avLst/>
          </a:prstGeom>
        </p:spPr>
      </p:pic>
      <p:pic>
        <p:nvPicPr>
          <p:cNvPr id="4" name="图片 3"/>
          <p:cNvPicPr>
            <a:picLocks noChangeAspect="1"/>
          </p:cNvPicPr>
          <p:nvPr/>
        </p:nvPicPr>
        <p:blipFill rotWithShape="1">
          <a:blip r:embed="rId4"/>
          <a:srcRect l="26671" t="8005" r="26966" b="74687"/>
          <a:stretch/>
        </p:blipFill>
        <p:spPr>
          <a:xfrm>
            <a:off x="1907704" y="3130711"/>
            <a:ext cx="7200800" cy="1512169"/>
          </a:xfrm>
          <a:prstGeom prst="rect">
            <a:avLst/>
          </a:prstGeom>
        </p:spPr>
      </p:pic>
      <p:pic>
        <p:nvPicPr>
          <p:cNvPr id="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568" y="4642880"/>
            <a:ext cx="1971412" cy="1979369"/>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3491880" y="4567396"/>
            <a:ext cx="1642825" cy="2171049"/>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a:off x="6358841" y="4639666"/>
            <a:ext cx="1798261" cy="1980364"/>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 name="直接连接符 11">
            <a:extLst>
              <a:ext uri="{FF2B5EF4-FFF2-40B4-BE49-F238E27FC236}">
                <a16:creationId xmlns:a16="http://schemas.microsoft.com/office/drawing/2014/main" id="{E5B4B888-6251-453F-9207-8B3B38AF94B8}"/>
              </a:ext>
            </a:extLst>
          </p:cNvPr>
          <p:cNvCxnSpPr/>
          <p:nvPr/>
        </p:nvCxnSpPr>
        <p:spPr bwMode="auto">
          <a:xfrm>
            <a:off x="2555776" y="3717032"/>
            <a:ext cx="6327872" cy="0"/>
          </a:xfrm>
          <a:prstGeom prst="line">
            <a:avLst/>
          </a:prstGeom>
          <a:solidFill>
            <a:srgbClr val="FFFF66"/>
          </a:solidFill>
          <a:ln w="57150"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a:extLst>
              <a:ext uri="{FF2B5EF4-FFF2-40B4-BE49-F238E27FC236}">
                <a16:creationId xmlns:a16="http://schemas.microsoft.com/office/drawing/2014/main" id="{0A3BD76E-57A6-4DEB-889B-D0B26DE25935}"/>
              </a:ext>
            </a:extLst>
          </p:cNvPr>
          <p:cNvCxnSpPr>
            <a:cxnSpLocks/>
          </p:cNvCxnSpPr>
          <p:nvPr/>
        </p:nvCxnSpPr>
        <p:spPr bwMode="auto">
          <a:xfrm>
            <a:off x="1907704" y="4005064"/>
            <a:ext cx="2232248" cy="0"/>
          </a:xfrm>
          <a:prstGeom prst="line">
            <a:avLst/>
          </a:prstGeom>
          <a:solidFill>
            <a:srgbClr val="FFFF66"/>
          </a:solidFill>
          <a:ln w="57150"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657871269"/>
      </p:ext>
    </p:extLst>
  </p:cSld>
  <p:clrMapOvr>
    <a:masterClrMapping/>
  </p:clrMapOvr>
  <p:transition>
    <p:rand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7" name="Text Box 3"/>
          <p:cNvSpPr txBox="1">
            <a:spLocks noChangeArrowheads="1"/>
          </p:cNvSpPr>
          <p:nvPr/>
        </p:nvSpPr>
        <p:spPr bwMode="auto">
          <a:xfrm>
            <a:off x="441325" y="404813"/>
            <a:ext cx="8321675" cy="2160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400">
                <a:solidFill>
                  <a:srgbClr val="FF3300"/>
                </a:solidFill>
                <a:ea typeface="楷体_GB2312"/>
              </a:rPr>
              <a:t>3</a:t>
            </a:r>
            <a:r>
              <a:rPr lang="zh-CN" altLang="en-US" sz="2400">
                <a:solidFill>
                  <a:srgbClr val="FF3300"/>
                </a:solidFill>
                <a:ea typeface="楷体_GB2312"/>
              </a:rPr>
              <a:t>、场强的计算举例：</a:t>
            </a:r>
            <a:endParaRPr lang="en-US" altLang="zh-CN" sz="2400">
              <a:solidFill>
                <a:srgbClr val="FF3300"/>
              </a:solidFill>
              <a:ea typeface="楷体_GB2312"/>
            </a:endParaRPr>
          </a:p>
          <a:p>
            <a:pPr eaLnBrk="1" hangingPunct="1">
              <a:buFontTx/>
              <a:buNone/>
            </a:pPr>
            <a:endParaRPr lang="en-US" altLang="zh-CN" sz="2400">
              <a:solidFill>
                <a:srgbClr val="FF3300"/>
              </a:solidFill>
              <a:ea typeface="楷体_GB2312"/>
            </a:endParaRPr>
          </a:p>
          <a:p>
            <a:pPr eaLnBrk="1" hangingPunct="1">
              <a:buNone/>
            </a:pPr>
            <a:r>
              <a:rPr lang="en-US" altLang="zh-CN" sz="2400">
                <a:solidFill>
                  <a:srgbClr val="FF3300"/>
                </a:solidFill>
                <a:ea typeface="楷体_GB2312"/>
              </a:rPr>
              <a:t>1)</a:t>
            </a:r>
            <a:r>
              <a:rPr lang="zh-CN" altLang="en-US" sz="2400">
                <a:solidFill>
                  <a:srgbClr val="FF3300"/>
                </a:solidFill>
                <a:ea typeface="楷体_GB2312"/>
              </a:rPr>
              <a:t>、球对称分布：</a:t>
            </a:r>
            <a:r>
              <a:rPr lang="zh-CN" altLang="en-US" sz="2400">
                <a:ea typeface="楷体_GB2312"/>
              </a:rPr>
              <a:t>包括均匀带电的</a:t>
            </a:r>
            <a:r>
              <a:rPr lang="zh-CN" altLang="en-US" sz="2400">
                <a:solidFill>
                  <a:srgbClr val="FF3300"/>
                </a:solidFill>
                <a:ea typeface="楷体_GB2312"/>
              </a:rPr>
              <a:t>球面</a:t>
            </a:r>
            <a:r>
              <a:rPr lang="zh-CN" altLang="en-US" sz="2400">
                <a:ea typeface="楷体_GB2312"/>
              </a:rPr>
              <a:t>，</a:t>
            </a:r>
            <a:r>
              <a:rPr lang="zh-CN" altLang="en-US" sz="2400">
                <a:solidFill>
                  <a:srgbClr val="FF3300"/>
                </a:solidFill>
                <a:ea typeface="楷体_GB2312"/>
              </a:rPr>
              <a:t>球体</a:t>
            </a:r>
            <a:r>
              <a:rPr lang="zh-CN" altLang="en-US" sz="2400">
                <a:ea typeface="楷体_GB2312"/>
              </a:rPr>
              <a:t>和</a:t>
            </a:r>
            <a:r>
              <a:rPr lang="zh-CN" altLang="en-US" sz="2400">
                <a:solidFill>
                  <a:srgbClr val="FF3300"/>
                </a:solidFill>
                <a:ea typeface="楷体_GB2312"/>
              </a:rPr>
              <a:t>多层同心球壳</a:t>
            </a:r>
            <a:r>
              <a:rPr lang="zh-CN" altLang="en-US" sz="2400">
                <a:ea typeface="楷体_GB2312"/>
              </a:rPr>
              <a:t>等</a:t>
            </a:r>
          </a:p>
          <a:p>
            <a:pPr eaLnBrk="1" hangingPunct="1">
              <a:buFontTx/>
              <a:buNone/>
            </a:pPr>
            <a:endParaRPr lang="zh-CN" altLang="en-US" sz="2400">
              <a:ea typeface="楷体_GB2312"/>
            </a:endParaRPr>
          </a:p>
        </p:txBody>
      </p:sp>
      <p:pic>
        <p:nvPicPr>
          <p:cNvPr id="9" name="Picture 31">
            <a:extLst>
              <a:ext uri="{FF2B5EF4-FFF2-40B4-BE49-F238E27FC236}">
                <a16:creationId xmlns:a16="http://schemas.microsoft.com/office/drawing/2014/main" id="{CCD07D4B-C233-4254-8211-6AED5AF723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325" y="2924944"/>
            <a:ext cx="8189912" cy="31686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58692812"/>
      </p:ext>
    </p:extLst>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p:cNvSpPr txBox="1">
            <a:spLocks noChangeArrowheads="1"/>
          </p:cNvSpPr>
          <p:nvPr/>
        </p:nvSpPr>
        <p:spPr bwMode="auto">
          <a:xfrm>
            <a:off x="0" y="0"/>
            <a:ext cx="8550275" cy="1249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3333FF"/>
                </a:solidFill>
                <a:ea typeface="楷体_GB2312"/>
              </a:rPr>
              <a:t>例</a:t>
            </a:r>
            <a:r>
              <a:rPr lang="en-US" altLang="zh-CN" sz="2800">
                <a:solidFill>
                  <a:srgbClr val="3333FF"/>
                </a:solidFill>
                <a:ea typeface="楷体_GB2312"/>
              </a:rPr>
              <a:t>1</a:t>
            </a:r>
            <a:r>
              <a:rPr lang="zh-CN" altLang="en-US" sz="2800">
                <a:solidFill>
                  <a:srgbClr val="3333FF"/>
                </a:solidFill>
                <a:ea typeface="楷体_GB2312"/>
              </a:rPr>
              <a:t>、均匀带电球壳的场强。</a:t>
            </a:r>
            <a:r>
              <a:rPr lang="zh-CN" altLang="en-US" sz="2400">
                <a:ea typeface="楷体_GB2312"/>
              </a:rPr>
              <a:t> </a:t>
            </a:r>
            <a:endParaRPr lang="zh-CN" altLang="en-US" sz="2800">
              <a:ea typeface="楷体_GB2312"/>
            </a:endParaRPr>
          </a:p>
          <a:p>
            <a:pPr lvl="1" eaLnBrk="1" hangingPunct="1">
              <a:spcBef>
                <a:spcPct val="0"/>
              </a:spcBef>
              <a:buFontTx/>
              <a:buNone/>
            </a:pPr>
            <a:r>
              <a:rPr lang="zh-CN" altLang="en-US" sz="2400">
                <a:ea typeface="楷体_GB2312"/>
              </a:rPr>
              <a:t>设有一半径为</a:t>
            </a:r>
            <a:r>
              <a:rPr lang="en-US" altLang="zh-CN" sz="2400" i="1">
                <a:ea typeface="楷体_GB2312"/>
              </a:rPr>
              <a:t>R</a:t>
            </a:r>
            <a:r>
              <a:rPr lang="zh-CN" altLang="en-US" sz="2400">
                <a:ea typeface="楷体_GB2312"/>
              </a:rPr>
              <a:t>、均匀带电为</a:t>
            </a:r>
            <a:r>
              <a:rPr lang="en-US" altLang="zh-CN" sz="2400" i="1">
                <a:ea typeface="楷体_GB2312"/>
              </a:rPr>
              <a:t>Q</a:t>
            </a:r>
            <a:r>
              <a:rPr lang="zh-CN" altLang="en-US" sz="2400">
                <a:ea typeface="楷体_GB2312"/>
              </a:rPr>
              <a:t>的薄球壳。求球壳内部和外部任意点的电场强度。</a:t>
            </a:r>
            <a:endParaRPr lang="zh-CN" altLang="en-US">
              <a:ea typeface="楷体_GB2312"/>
            </a:endParaRPr>
          </a:p>
        </p:txBody>
      </p:sp>
      <p:sp>
        <p:nvSpPr>
          <p:cNvPr id="172035" name="Text Box 3"/>
          <p:cNvSpPr txBox="1">
            <a:spLocks noChangeArrowheads="1"/>
          </p:cNvSpPr>
          <p:nvPr/>
        </p:nvSpPr>
        <p:spPr bwMode="auto">
          <a:xfrm>
            <a:off x="0" y="1295400"/>
            <a:ext cx="50450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解：以球心到场点的距离为半径作一球面，则通过此球面的电通量为</a:t>
            </a:r>
          </a:p>
        </p:txBody>
      </p:sp>
      <p:graphicFrame>
        <p:nvGraphicFramePr>
          <p:cNvPr id="172036" name="Object 4"/>
          <p:cNvGraphicFramePr>
            <a:graphicFrameLocks noChangeAspect="1"/>
          </p:cNvGraphicFramePr>
          <p:nvPr/>
        </p:nvGraphicFramePr>
        <p:xfrm>
          <a:off x="179388" y="2209800"/>
          <a:ext cx="4824412" cy="841375"/>
        </p:xfrm>
        <a:graphic>
          <a:graphicData uri="http://schemas.openxmlformats.org/presentationml/2006/ole">
            <mc:AlternateContent xmlns:mc="http://schemas.openxmlformats.org/markup-compatibility/2006">
              <mc:Choice xmlns:v="urn:schemas-microsoft-com:vml" Requires="v">
                <p:oleObj spid="_x0000_s214591" name="Equation" r:id="rId3" imgW="2324100" imgH="381000" progId="Equation.DSMT4">
                  <p:embed/>
                </p:oleObj>
              </mc:Choice>
              <mc:Fallback>
                <p:oleObj name="Equation" r:id="rId3" imgW="2324100" imgH="3810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2209800"/>
                        <a:ext cx="4824412"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2037" name="Text Box 5"/>
          <p:cNvSpPr txBox="1">
            <a:spLocks noChangeArrowheads="1"/>
          </p:cNvSpPr>
          <p:nvPr/>
        </p:nvSpPr>
        <p:spPr bwMode="auto">
          <a:xfrm>
            <a:off x="0" y="3048000"/>
            <a:ext cx="4876800" cy="8223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根据高斯定理，通过球面的电通量为球面内包围的电荷</a:t>
            </a:r>
          </a:p>
        </p:txBody>
      </p:sp>
      <p:graphicFrame>
        <p:nvGraphicFramePr>
          <p:cNvPr id="172038" name="Object 6"/>
          <p:cNvGraphicFramePr>
            <a:graphicFrameLocks noChangeAspect="1"/>
          </p:cNvGraphicFramePr>
          <p:nvPr/>
        </p:nvGraphicFramePr>
        <p:xfrm>
          <a:off x="1355725" y="3886200"/>
          <a:ext cx="1784350" cy="584200"/>
        </p:xfrm>
        <a:graphic>
          <a:graphicData uri="http://schemas.openxmlformats.org/presentationml/2006/ole">
            <mc:AlternateContent xmlns:mc="http://schemas.openxmlformats.org/markup-compatibility/2006">
              <mc:Choice xmlns:v="urn:schemas-microsoft-com:vml" Requires="v">
                <p:oleObj spid="_x0000_s214592" name="Equation" r:id="rId5" imgW="698500" imgH="228600" progId="Equation.DSMT4">
                  <p:embed/>
                </p:oleObj>
              </mc:Choice>
              <mc:Fallback>
                <p:oleObj name="Equation" r:id="rId5" imgW="698500" imgH="2286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55725" y="3886200"/>
                        <a:ext cx="1784350" cy="584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2039" name="Text Box 7"/>
          <p:cNvSpPr txBox="1">
            <a:spLocks noChangeArrowheads="1"/>
          </p:cNvSpPr>
          <p:nvPr/>
        </p:nvSpPr>
        <p:spPr bwMode="auto">
          <a:xfrm>
            <a:off x="-12359" y="4568677"/>
            <a:ext cx="2656794" cy="463846"/>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zh-CN" altLang="en-US" sz="2400" dirty="0">
                <a:solidFill>
                  <a:srgbClr val="FF0000"/>
                </a:solidFill>
                <a:ea typeface="楷体_GB2312"/>
              </a:rPr>
              <a:t>当场点在球壳外时</a:t>
            </a:r>
          </a:p>
        </p:txBody>
      </p:sp>
      <p:graphicFrame>
        <p:nvGraphicFramePr>
          <p:cNvPr id="172040" name="Object 8"/>
          <p:cNvGraphicFramePr>
            <a:graphicFrameLocks noChangeAspect="1"/>
          </p:cNvGraphicFramePr>
          <p:nvPr/>
        </p:nvGraphicFramePr>
        <p:xfrm>
          <a:off x="3124200" y="4495800"/>
          <a:ext cx="990600" cy="509588"/>
        </p:xfrm>
        <a:graphic>
          <a:graphicData uri="http://schemas.openxmlformats.org/presentationml/2006/ole">
            <mc:AlternateContent xmlns:mc="http://schemas.openxmlformats.org/markup-compatibility/2006">
              <mc:Choice xmlns:v="urn:schemas-microsoft-com:vml" Requires="v">
                <p:oleObj spid="_x0000_s214593" name="公式" r:id="rId7" imgW="393529" imgH="203112" progId="Equation.3">
                  <p:embed/>
                </p:oleObj>
              </mc:Choice>
              <mc:Fallback>
                <p:oleObj name="公式" r:id="rId7" imgW="393529" imgH="203112"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24200" y="4495800"/>
                        <a:ext cx="990600" cy="5095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2041" name="Object 9"/>
          <p:cNvGraphicFramePr>
            <a:graphicFrameLocks noChangeAspect="1"/>
          </p:cNvGraphicFramePr>
          <p:nvPr/>
        </p:nvGraphicFramePr>
        <p:xfrm>
          <a:off x="1752600" y="5105400"/>
          <a:ext cx="1828800" cy="1062038"/>
        </p:xfrm>
        <a:graphic>
          <a:graphicData uri="http://schemas.openxmlformats.org/presentationml/2006/ole">
            <mc:AlternateContent xmlns:mc="http://schemas.openxmlformats.org/markup-compatibility/2006">
              <mc:Choice xmlns:v="urn:schemas-microsoft-com:vml" Requires="v">
                <p:oleObj spid="_x0000_s214594" name="公式" r:id="rId9" imgW="761669" imgH="444307" progId="Equation.3">
                  <p:embed/>
                </p:oleObj>
              </mc:Choice>
              <mc:Fallback>
                <p:oleObj name="公式" r:id="rId9" imgW="761669" imgH="444307"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52600" y="5105400"/>
                        <a:ext cx="1828800" cy="1062038"/>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2042" name="Text Box 10"/>
          <p:cNvSpPr txBox="1">
            <a:spLocks noChangeArrowheads="1"/>
          </p:cNvSpPr>
          <p:nvPr/>
        </p:nvSpPr>
        <p:spPr bwMode="auto">
          <a:xfrm>
            <a:off x="-12359" y="6397477"/>
            <a:ext cx="2656794" cy="463846"/>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zh-CN" altLang="en-US" sz="2400" dirty="0">
                <a:solidFill>
                  <a:srgbClr val="FF0000"/>
                </a:solidFill>
                <a:ea typeface="楷体_GB2312"/>
              </a:rPr>
              <a:t>当场点在球壳内时</a:t>
            </a:r>
          </a:p>
        </p:txBody>
      </p:sp>
      <p:graphicFrame>
        <p:nvGraphicFramePr>
          <p:cNvPr id="172043" name="Object 11"/>
          <p:cNvGraphicFramePr>
            <a:graphicFrameLocks noChangeAspect="1"/>
          </p:cNvGraphicFramePr>
          <p:nvPr/>
        </p:nvGraphicFramePr>
        <p:xfrm>
          <a:off x="2819400" y="6294438"/>
          <a:ext cx="990600" cy="563562"/>
        </p:xfrm>
        <a:graphic>
          <a:graphicData uri="http://schemas.openxmlformats.org/presentationml/2006/ole">
            <mc:AlternateContent xmlns:mc="http://schemas.openxmlformats.org/markup-compatibility/2006">
              <mc:Choice xmlns:v="urn:schemas-microsoft-com:vml" Requires="v">
                <p:oleObj spid="_x0000_s214595" name="公式" r:id="rId11" imgW="355292" imgH="203024" progId="Equation.3">
                  <p:embed/>
                </p:oleObj>
              </mc:Choice>
              <mc:Fallback>
                <p:oleObj name="公式" r:id="rId11" imgW="355292" imgH="203024"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19400" y="6294438"/>
                        <a:ext cx="990600" cy="56356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2044" name="Object 12"/>
          <p:cNvGraphicFramePr>
            <a:graphicFrameLocks noChangeAspect="1"/>
          </p:cNvGraphicFramePr>
          <p:nvPr/>
        </p:nvGraphicFramePr>
        <p:xfrm>
          <a:off x="3886200" y="6248400"/>
          <a:ext cx="990600" cy="474663"/>
        </p:xfrm>
        <a:graphic>
          <a:graphicData uri="http://schemas.openxmlformats.org/presentationml/2006/ole">
            <mc:AlternateContent xmlns:mc="http://schemas.openxmlformats.org/markup-compatibility/2006">
              <mc:Choice xmlns:v="urn:schemas-microsoft-com:vml" Requires="v">
                <p:oleObj spid="_x0000_s214596" name="公式" r:id="rId13" imgW="368140" imgH="177723" progId="Equation.3">
                  <p:embed/>
                </p:oleObj>
              </mc:Choice>
              <mc:Fallback>
                <p:oleObj name="公式" r:id="rId13" imgW="368140" imgH="177723"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86200" y="6248400"/>
                        <a:ext cx="990600" cy="474663"/>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3981" name="Text Box 26"/>
          <p:cNvSpPr txBox="1">
            <a:spLocks noChangeArrowheads="1"/>
          </p:cNvSpPr>
          <p:nvPr/>
        </p:nvSpPr>
        <p:spPr bwMode="auto">
          <a:xfrm>
            <a:off x="6378575" y="3235325"/>
            <a:ext cx="2317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3333FF"/>
                </a:solidFill>
                <a:ea typeface="楷体_GB2312"/>
              </a:rPr>
              <a:t>均匀带电球壳</a:t>
            </a:r>
            <a:endParaRPr lang="zh-CN" altLang="en-US" sz="2800">
              <a:ea typeface="楷体_GB2312"/>
            </a:endParaRPr>
          </a:p>
        </p:txBody>
      </p:sp>
      <p:grpSp>
        <p:nvGrpSpPr>
          <p:cNvPr id="83982" name="Group 45"/>
          <p:cNvGrpSpPr>
            <a:grpSpLocks/>
          </p:cNvGrpSpPr>
          <p:nvPr/>
        </p:nvGrpSpPr>
        <p:grpSpPr bwMode="auto">
          <a:xfrm>
            <a:off x="6804025" y="1412875"/>
            <a:ext cx="1439863" cy="1376363"/>
            <a:chOff x="4306" y="842"/>
            <a:chExt cx="1008" cy="960"/>
          </a:xfrm>
        </p:grpSpPr>
        <p:sp>
          <p:nvSpPr>
            <p:cNvPr id="84009" name="Oval 20"/>
            <p:cNvSpPr>
              <a:spLocks noChangeArrowheads="1"/>
            </p:cNvSpPr>
            <p:nvPr/>
          </p:nvSpPr>
          <p:spPr bwMode="auto">
            <a:xfrm>
              <a:off x="4306" y="842"/>
              <a:ext cx="1008" cy="960"/>
            </a:xfrm>
            <a:prstGeom prst="ellipse">
              <a:avLst/>
            </a:prstGeom>
            <a:noFill/>
            <a:ln w="111125">
              <a:solidFill>
                <a:srgbClr val="CC3300"/>
              </a:solidFill>
              <a:round/>
              <a:headEnd/>
              <a:tailEnd/>
            </a:ln>
            <a:effectLst/>
            <a:extLst>
              <a:ext uri="{909E8E84-426E-40DD-AFC4-6F175D3DCCD1}">
                <a14:hiddenFill xmlns:a14="http://schemas.microsoft.com/office/drawing/2010/main">
                  <a:solidFill>
                    <a:srgbClr val="CC33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aphicFrame>
          <p:nvGraphicFramePr>
            <p:cNvPr id="84010" name="Object 24"/>
            <p:cNvGraphicFramePr>
              <a:graphicFrameLocks noChangeAspect="1"/>
            </p:cNvGraphicFramePr>
            <p:nvPr/>
          </p:nvGraphicFramePr>
          <p:xfrm>
            <a:off x="4916" y="1380"/>
            <a:ext cx="254" cy="342"/>
          </p:xfrm>
          <a:graphic>
            <a:graphicData uri="http://schemas.openxmlformats.org/presentationml/2006/ole">
              <mc:AlternateContent xmlns:mc="http://schemas.openxmlformats.org/markup-compatibility/2006">
                <mc:Choice xmlns:v="urn:schemas-microsoft-com:vml" Requires="v">
                  <p:oleObj spid="_x0000_s214597" name="公式" r:id="rId15" imgW="152268" imgH="203024" progId="Equation.3">
                    <p:embed/>
                  </p:oleObj>
                </mc:Choice>
                <mc:Fallback>
                  <p:oleObj name="公式" r:id="rId15" imgW="152268" imgH="203024" progId="Equation.3">
                    <p:embed/>
                    <p:pic>
                      <p:nvPicPr>
                        <p:cNvPr id="0" name="Object 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916" y="1380"/>
                          <a:ext cx="254" cy="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4011" name="Line 27"/>
            <p:cNvSpPr>
              <a:spLocks noChangeShapeType="1"/>
            </p:cNvSpPr>
            <p:nvPr/>
          </p:nvSpPr>
          <p:spPr bwMode="auto">
            <a:xfrm flipH="1">
              <a:off x="4544" y="1343"/>
              <a:ext cx="24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4012" name="Object 28"/>
            <p:cNvGraphicFramePr>
              <a:graphicFrameLocks noChangeAspect="1"/>
            </p:cNvGraphicFramePr>
            <p:nvPr/>
          </p:nvGraphicFramePr>
          <p:xfrm>
            <a:off x="4496" y="1305"/>
            <a:ext cx="254" cy="278"/>
          </p:xfrm>
          <a:graphic>
            <a:graphicData uri="http://schemas.openxmlformats.org/presentationml/2006/ole">
              <mc:AlternateContent xmlns:mc="http://schemas.openxmlformats.org/markup-compatibility/2006">
                <mc:Choice xmlns:v="urn:schemas-microsoft-com:vml" Requires="v">
                  <p:oleObj spid="_x0000_s214598" name="公式" r:id="rId17" imgW="152268" imgH="164957" progId="Equation.3">
                    <p:embed/>
                  </p:oleObj>
                </mc:Choice>
                <mc:Fallback>
                  <p:oleObj name="公式" r:id="rId17" imgW="152268" imgH="164957" progId="Equation.3">
                    <p:embed/>
                    <p:pic>
                      <p:nvPicPr>
                        <p:cNvPr id="0" name="Object 2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96" y="1305"/>
                          <a:ext cx="254"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72078" name="Group 46"/>
          <p:cNvGrpSpPr>
            <a:grpSpLocks/>
          </p:cNvGrpSpPr>
          <p:nvPr/>
        </p:nvGrpSpPr>
        <p:grpSpPr bwMode="auto">
          <a:xfrm>
            <a:off x="4932363" y="836613"/>
            <a:ext cx="3962400" cy="3657600"/>
            <a:chOff x="3152" y="527"/>
            <a:chExt cx="2496" cy="2304"/>
          </a:xfrm>
        </p:grpSpPr>
        <p:sp>
          <p:nvSpPr>
            <p:cNvPr id="83997" name="Oval 14"/>
            <p:cNvSpPr>
              <a:spLocks noChangeArrowheads="1"/>
            </p:cNvSpPr>
            <p:nvPr/>
          </p:nvSpPr>
          <p:spPr bwMode="auto">
            <a:xfrm>
              <a:off x="4476" y="1007"/>
              <a:ext cx="672" cy="624"/>
            </a:xfrm>
            <a:prstGeom prst="ellipse">
              <a:avLst/>
            </a:prstGeom>
            <a:noFill/>
            <a:ln w="9525">
              <a:solidFill>
                <a:srgbClr val="FF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83998" name="Oval 15"/>
            <p:cNvSpPr>
              <a:spLocks noChangeArrowheads="1"/>
            </p:cNvSpPr>
            <p:nvPr/>
          </p:nvSpPr>
          <p:spPr bwMode="auto">
            <a:xfrm>
              <a:off x="4019" y="530"/>
              <a:ext cx="1578" cy="1578"/>
            </a:xfrm>
            <a:prstGeom prst="ellipse">
              <a:avLst/>
            </a:prstGeom>
            <a:noFill/>
            <a:ln w="9525">
              <a:solidFill>
                <a:srgbClr val="FF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83999" name="AutoShape 16"/>
            <p:cNvSpPr>
              <a:spLocks noChangeArrowheads="1"/>
            </p:cNvSpPr>
            <p:nvPr/>
          </p:nvSpPr>
          <p:spPr bwMode="auto">
            <a:xfrm>
              <a:off x="3152" y="671"/>
              <a:ext cx="720" cy="288"/>
            </a:xfrm>
            <a:prstGeom prst="wedgeEllipseCallout">
              <a:avLst>
                <a:gd name="adj1" fmla="val 101667"/>
                <a:gd name="adj2" fmla="val -31250"/>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400">
                  <a:ea typeface="楷体_GB2312"/>
                </a:rPr>
                <a:t>高斯面</a:t>
              </a:r>
            </a:p>
          </p:txBody>
        </p:sp>
        <p:sp>
          <p:nvSpPr>
            <p:cNvPr id="84000" name="AutoShape 17"/>
            <p:cNvSpPr>
              <a:spLocks noChangeArrowheads="1"/>
            </p:cNvSpPr>
            <p:nvPr/>
          </p:nvSpPr>
          <p:spPr bwMode="auto">
            <a:xfrm>
              <a:off x="4928" y="2543"/>
              <a:ext cx="720" cy="288"/>
            </a:xfrm>
            <a:prstGeom prst="wedgeEllipseCallout">
              <a:avLst>
                <a:gd name="adj1" fmla="val -55556"/>
                <a:gd name="adj2" fmla="val -344097"/>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400">
                  <a:ea typeface="楷体_GB2312"/>
                </a:rPr>
                <a:t>高斯面</a:t>
              </a:r>
            </a:p>
          </p:txBody>
        </p:sp>
        <p:graphicFrame>
          <p:nvGraphicFramePr>
            <p:cNvPr id="84001" name="Object 19"/>
            <p:cNvGraphicFramePr>
              <a:graphicFrameLocks noChangeAspect="1"/>
            </p:cNvGraphicFramePr>
            <p:nvPr/>
          </p:nvGraphicFramePr>
          <p:xfrm>
            <a:off x="5266" y="925"/>
            <a:ext cx="254" cy="322"/>
          </p:xfrm>
          <a:graphic>
            <a:graphicData uri="http://schemas.openxmlformats.org/presentationml/2006/ole">
              <mc:AlternateContent xmlns:mc="http://schemas.openxmlformats.org/markup-compatibility/2006">
                <mc:Choice xmlns:v="urn:schemas-microsoft-com:vml" Requires="v">
                  <p:oleObj spid="_x0000_s214599" name="公式" r:id="rId19" imgW="152334" imgH="190417" progId="Equation.3">
                    <p:embed/>
                  </p:oleObj>
                </mc:Choice>
                <mc:Fallback>
                  <p:oleObj name="公式" r:id="rId19" imgW="152334" imgH="190417" progId="Equation.3">
                    <p:embed/>
                    <p:pic>
                      <p:nvPicPr>
                        <p:cNvPr id="0" name="Object 1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266" y="925"/>
                          <a:ext cx="254"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4002" name="Line 21"/>
            <p:cNvSpPr>
              <a:spLocks noChangeShapeType="1"/>
            </p:cNvSpPr>
            <p:nvPr/>
          </p:nvSpPr>
          <p:spPr bwMode="auto">
            <a:xfrm>
              <a:off x="5312" y="1322"/>
              <a:ext cx="290" cy="0"/>
            </a:xfrm>
            <a:prstGeom prst="line">
              <a:avLst/>
            </a:prstGeom>
            <a:noFill/>
            <a:ln w="41275">
              <a:solidFill>
                <a:srgbClr val="3333FF"/>
              </a:solidFill>
              <a:round/>
              <a:headEnd type="none" w="med" len="lg"/>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03" name="Line 22"/>
            <p:cNvSpPr>
              <a:spLocks noChangeShapeType="1"/>
            </p:cNvSpPr>
            <p:nvPr/>
          </p:nvSpPr>
          <p:spPr bwMode="auto">
            <a:xfrm flipV="1">
              <a:off x="4786" y="527"/>
              <a:ext cx="0" cy="283"/>
            </a:xfrm>
            <a:prstGeom prst="line">
              <a:avLst/>
            </a:prstGeom>
            <a:noFill/>
            <a:ln w="41275">
              <a:solidFill>
                <a:srgbClr val="3333FF"/>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04" name="Line 23"/>
            <p:cNvSpPr>
              <a:spLocks noChangeShapeType="1"/>
            </p:cNvSpPr>
            <p:nvPr/>
          </p:nvSpPr>
          <p:spPr bwMode="auto">
            <a:xfrm>
              <a:off x="4786" y="1775"/>
              <a:ext cx="0" cy="283"/>
            </a:xfrm>
            <a:prstGeom prst="line">
              <a:avLst/>
            </a:prstGeom>
            <a:noFill/>
            <a:ln w="41275">
              <a:solidFill>
                <a:srgbClr val="3333FF"/>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05" name="Line 25"/>
            <p:cNvSpPr>
              <a:spLocks noChangeShapeType="1"/>
            </p:cNvSpPr>
            <p:nvPr/>
          </p:nvSpPr>
          <p:spPr bwMode="auto">
            <a:xfrm flipH="1">
              <a:off x="4016" y="1338"/>
              <a:ext cx="290" cy="0"/>
            </a:xfrm>
            <a:prstGeom prst="line">
              <a:avLst/>
            </a:prstGeom>
            <a:noFill/>
            <a:ln w="41275">
              <a:solidFill>
                <a:srgbClr val="3333FF"/>
              </a:solidFill>
              <a:round/>
              <a:headEnd type="none" w="med" len="lg"/>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4006" name="Group 29"/>
            <p:cNvGrpSpPr>
              <a:grpSpLocks/>
            </p:cNvGrpSpPr>
            <p:nvPr/>
          </p:nvGrpSpPr>
          <p:grpSpPr bwMode="auto">
            <a:xfrm>
              <a:off x="4158" y="767"/>
              <a:ext cx="576" cy="576"/>
              <a:chOff x="4080" y="2016"/>
              <a:chExt cx="576" cy="576"/>
            </a:xfrm>
          </p:grpSpPr>
          <p:sp>
            <p:nvSpPr>
              <p:cNvPr id="84007" name="Line 30"/>
              <p:cNvSpPr>
                <a:spLocks noChangeShapeType="1"/>
              </p:cNvSpPr>
              <p:nvPr/>
            </p:nvSpPr>
            <p:spPr bwMode="auto">
              <a:xfrm flipH="1" flipV="1">
                <a:off x="4080" y="2016"/>
                <a:ext cx="576"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4008" name="Object 31"/>
              <p:cNvGraphicFramePr>
                <a:graphicFrameLocks noChangeAspect="1"/>
              </p:cNvGraphicFramePr>
              <p:nvPr/>
            </p:nvGraphicFramePr>
            <p:xfrm>
              <a:off x="4176" y="2064"/>
              <a:ext cx="208" cy="287"/>
            </p:xfrm>
            <a:graphic>
              <a:graphicData uri="http://schemas.openxmlformats.org/presentationml/2006/ole">
                <mc:AlternateContent xmlns:mc="http://schemas.openxmlformats.org/markup-compatibility/2006">
                  <mc:Choice xmlns:v="urn:schemas-microsoft-com:vml" Requires="v">
                    <p:oleObj spid="_x0000_s214600" name="公式" r:id="rId21" imgW="114102" imgH="126780" progId="Equation.3">
                      <p:embed/>
                    </p:oleObj>
                  </mc:Choice>
                  <mc:Fallback>
                    <p:oleObj name="公式" r:id="rId21" imgW="114102" imgH="126780" progId="Equation.3">
                      <p:embed/>
                      <p:pic>
                        <p:nvPicPr>
                          <p:cNvPr id="0" name="Object 3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176" y="2064"/>
                            <a:ext cx="2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172064" name="Group 32"/>
          <p:cNvGrpSpPr>
            <a:grpSpLocks/>
          </p:cNvGrpSpPr>
          <p:nvPr/>
        </p:nvGrpSpPr>
        <p:grpSpPr bwMode="auto">
          <a:xfrm>
            <a:off x="4984750" y="2365375"/>
            <a:ext cx="2320925" cy="3040063"/>
            <a:chOff x="3168" y="384"/>
            <a:chExt cx="2109" cy="2736"/>
          </a:xfrm>
        </p:grpSpPr>
        <p:graphicFrame>
          <p:nvGraphicFramePr>
            <p:cNvPr id="83986" name="Object 33"/>
            <p:cNvGraphicFramePr>
              <a:graphicFrameLocks noChangeAspect="1"/>
            </p:cNvGraphicFramePr>
            <p:nvPr/>
          </p:nvGraphicFramePr>
          <p:xfrm>
            <a:off x="3312" y="1440"/>
            <a:ext cx="254" cy="322"/>
          </p:xfrm>
          <a:graphic>
            <a:graphicData uri="http://schemas.openxmlformats.org/presentationml/2006/ole">
              <mc:AlternateContent xmlns:mc="http://schemas.openxmlformats.org/markup-compatibility/2006">
                <mc:Choice xmlns:v="urn:schemas-microsoft-com:vml" Requires="v">
                  <p:oleObj spid="_x0000_s214601" name="公式" r:id="rId23" imgW="152334" imgH="190417" progId="Equation.3">
                    <p:embed/>
                  </p:oleObj>
                </mc:Choice>
                <mc:Fallback>
                  <p:oleObj name="公式" r:id="rId23" imgW="152334" imgH="190417" progId="Equation.3">
                    <p:embed/>
                    <p:pic>
                      <p:nvPicPr>
                        <p:cNvPr id="0" name="Object 3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312" y="1440"/>
                          <a:ext cx="254"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3987" name="Oval 34"/>
            <p:cNvSpPr>
              <a:spLocks noChangeArrowheads="1"/>
            </p:cNvSpPr>
            <p:nvPr/>
          </p:nvSpPr>
          <p:spPr bwMode="auto">
            <a:xfrm>
              <a:off x="3709" y="1484"/>
              <a:ext cx="575" cy="610"/>
            </a:xfrm>
            <a:prstGeom prst="ellipse">
              <a:avLst/>
            </a:prstGeom>
            <a:noFill/>
            <a:ln w="41275">
              <a:solidFill>
                <a:srgbClr val="CC3300"/>
              </a:solidFill>
              <a:round/>
              <a:headEnd/>
              <a:tailEnd/>
            </a:ln>
            <a:effectLst/>
            <a:extLst>
              <a:ext uri="{909E8E84-426E-40DD-AFC4-6F175D3DCCD1}">
                <a14:hiddenFill xmlns:a14="http://schemas.microsoft.com/office/drawing/2010/main">
                  <a:solidFill>
                    <a:srgbClr val="CC33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83988" name="Line 35"/>
            <p:cNvSpPr>
              <a:spLocks noChangeShapeType="1"/>
            </p:cNvSpPr>
            <p:nvPr/>
          </p:nvSpPr>
          <p:spPr bwMode="auto">
            <a:xfrm>
              <a:off x="3168" y="2903"/>
              <a:ext cx="2013" cy="0"/>
            </a:xfrm>
            <a:prstGeom prst="line">
              <a:avLst/>
            </a:prstGeom>
            <a:noFill/>
            <a:ln w="41275">
              <a:solidFill>
                <a:srgbClr val="3333FF"/>
              </a:solidFill>
              <a:round/>
              <a:headEnd type="none" w="med" len="lg"/>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3989" name="Object 36"/>
            <p:cNvGraphicFramePr>
              <a:graphicFrameLocks noChangeAspect="1"/>
            </p:cNvGraphicFramePr>
            <p:nvPr/>
          </p:nvGraphicFramePr>
          <p:xfrm>
            <a:off x="3168" y="384"/>
            <a:ext cx="254" cy="342"/>
          </p:xfrm>
          <a:graphic>
            <a:graphicData uri="http://schemas.openxmlformats.org/presentationml/2006/ole">
              <mc:AlternateContent xmlns:mc="http://schemas.openxmlformats.org/markup-compatibility/2006">
                <mc:Choice xmlns:v="urn:schemas-microsoft-com:vml" Requires="v">
                  <p:oleObj spid="_x0000_s214602" name="公式" r:id="rId24" imgW="152268" imgH="203024" progId="Equation.3">
                    <p:embed/>
                  </p:oleObj>
                </mc:Choice>
                <mc:Fallback>
                  <p:oleObj name="公式" r:id="rId24" imgW="152268" imgH="203024" progId="Equation.3">
                    <p:embed/>
                    <p:pic>
                      <p:nvPicPr>
                        <p:cNvPr id="0" name="Object 3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168" y="384"/>
                          <a:ext cx="254" cy="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3990" name="Object 37"/>
            <p:cNvGraphicFramePr>
              <a:graphicFrameLocks noChangeAspect="1"/>
            </p:cNvGraphicFramePr>
            <p:nvPr/>
          </p:nvGraphicFramePr>
          <p:xfrm>
            <a:off x="3913" y="1778"/>
            <a:ext cx="254" cy="276"/>
          </p:xfrm>
          <a:graphic>
            <a:graphicData uri="http://schemas.openxmlformats.org/presentationml/2006/ole">
              <mc:AlternateContent xmlns:mc="http://schemas.openxmlformats.org/markup-compatibility/2006">
                <mc:Choice xmlns:v="urn:schemas-microsoft-com:vml" Requires="v">
                  <p:oleObj spid="_x0000_s214603" name="公式" r:id="rId26" imgW="152268" imgH="164957" progId="Equation.3">
                    <p:embed/>
                  </p:oleObj>
                </mc:Choice>
                <mc:Fallback>
                  <p:oleObj name="公式" r:id="rId26" imgW="152268" imgH="164957" progId="Equation.3">
                    <p:embed/>
                    <p:pic>
                      <p:nvPicPr>
                        <p:cNvPr id="0" name="Object 37"/>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913" y="1778"/>
                          <a:ext cx="254" cy="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3991" name="Line 38"/>
            <p:cNvSpPr>
              <a:spLocks noChangeShapeType="1"/>
            </p:cNvSpPr>
            <p:nvPr/>
          </p:nvSpPr>
          <p:spPr bwMode="auto">
            <a:xfrm>
              <a:off x="3986" y="1795"/>
              <a:ext cx="2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2" name="Line 39"/>
            <p:cNvSpPr>
              <a:spLocks noChangeShapeType="1"/>
            </p:cNvSpPr>
            <p:nvPr/>
          </p:nvSpPr>
          <p:spPr bwMode="auto">
            <a:xfrm>
              <a:off x="3696" y="1408"/>
              <a:ext cx="0" cy="1496"/>
            </a:xfrm>
            <a:prstGeom prst="line">
              <a:avLst/>
            </a:prstGeom>
            <a:noFill/>
            <a:ln w="41275">
              <a:solidFill>
                <a:srgbClr val="0000FF"/>
              </a:solidFill>
              <a:round/>
              <a:headEnd type="arrow"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3" name="Line 40"/>
            <p:cNvSpPr>
              <a:spLocks noChangeShapeType="1"/>
            </p:cNvSpPr>
            <p:nvPr/>
          </p:nvSpPr>
          <p:spPr bwMode="auto">
            <a:xfrm>
              <a:off x="4284" y="930"/>
              <a:ext cx="0" cy="1972"/>
            </a:xfrm>
            <a:prstGeom prst="line">
              <a:avLst/>
            </a:prstGeom>
            <a:noFill/>
            <a:ln w="12700">
              <a:solidFill>
                <a:srgbClr val="0000FF"/>
              </a:solidFill>
              <a:prstDash val="sysDot"/>
              <a:round/>
              <a:headEnd type="non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3994" name="Object 41"/>
            <p:cNvGraphicFramePr>
              <a:graphicFrameLocks noChangeAspect="1"/>
            </p:cNvGraphicFramePr>
            <p:nvPr/>
          </p:nvGraphicFramePr>
          <p:xfrm>
            <a:off x="4800" y="2880"/>
            <a:ext cx="216" cy="240"/>
          </p:xfrm>
          <a:graphic>
            <a:graphicData uri="http://schemas.openxmlformats.org/presentationml/2006/ole">
              <mc:AlternateContent xmlns:mc="http://schemas.openxmlformats.org/markup-compatibility/2006">
                <mc:Choice xmlns:v="urn:schemas-microsoft-com:vml" Requires="v">
                  <p:oleObj spid="_x0000_s214604" name="公式" r:id="rId28" imgW="114102" imgH="126780" progId="Equation.3">
                    <p:embed/>
                  </p:oleObj>
                </mc:Choice>
                <mc:Fallback>
                  <p:oleObj name="公式" r:id="rId28" imgW="114102" imgH="126780" progId="Equation.3">
                    <p:embed/>
                    <p:pic>
                      <p:nvPicPr>
                        <p:cNvPr id="0" name="Object 41"/>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800" y="2880"/>
                          <a:ext cx="21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3995" name="Line 42"/>
            <p:cNvSpPr>
              <a:spLocks noChangeShapeType="1"/>
            </p:cNvSpPr>
            <p:nvPr/>
          </p:nvSpPr>
          <p:spPr bwMode="auto">
            <a:xfrm>
              <a:off x="3696" y="2880"/>
              <a:ext cx="624" cy="0"/>
            </a:xfrm>
            <a:prstGeom prst="line">
              <a:avLst/>
            </a:prstGeom>
            <a:noFill/>
            <a:ln w="412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6" name="Freeform 43"/>
            <p:cNvSpPr>
              <a:spLocks/>
            </p:cNvSpPr>
            <p:nvPr/>
          </p:nvSpPr>
          <p:spPr bwMode="auto">
            <a:xfrm>
              <a:off x="4297" y="1632"/>
              <a:ext cx="980" cy="1237"/>
            </a:xfrm>
            <a:custGeom>
              <a:avLst/>
              <a:gdLst>
                <a:gd name="T0" fmla="*/ 0 w 980"/>
                <a:gd name="T1" fmla="*/ 0 h 1237"/>
                <a:gd name="T2" fmla="*/ 424 w 980"/>
                <a:gd name="T3" fmla="*/ 783 h 1237"/>
                <a:gd name="T4" fmla="*/ 980 w 980"/>
                <a:gd name="T5" fmla="*/ 1237 h 1237"/>
                <a:gd name="T6" fmla="*/ 0 60000 65536"/>
                <a:gd name="T7" fmla="*/ 0 60000 65536"/>
                <a:gd name="T8" fmla="*/ 0 60000 65536"/>
              </a:gdLst>
              <a:ahLst/>
              <a:cxnLst>
                <a:cxn ang="T6">
                  <a:pos x="T0" y="T1"/>
                </a:cxn>
                <a:cxn ang="T7">
                  <a:pos x="T2" y="T3"/>
                </a:cxn>
                <a:cxn ang="T8">
                  <a:pos x="T4" y="T5"/>
                </a:cxn>
              </a:cxnLst>
              <a:rect l="0" t="0" r="r" b="b"/>
              <a:pathLst>
                <a:path w="980" h="1237">
                  <a:moveTo>
                    <a:pt x="0" y="0"/>
                  </a:moveTo>
                  <a:cubicBezTo>
                    <a:pt x="88" y="256"/>
                    <a:pt x="239" y="593"/>
                    <a:pt x="424" y="783"/>
                  </a:cubicBezTo>
                  <a:cubicBezTo>
                    <a:pt x="592" y="987"/>
                    <a:pt x="805" y="1176"/>
                    <a:pt x="980" y="1237"/>
                  </a:cubicBezTo>
                </a:path>
              </a:pathLst>
            </a:custGeom>
            <a:noFill/>
            <a:ln w="41275">
              <a:solidFill>
                <a:srgbClr val="FF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2076" name="Text Box 44"/>
          <p:cNvSpPr txBox="1">
            <a:spLocks noChangeArrowheads="1"/>
          </p:cNvSpPr>
          <p:nvPr/>
        </p:nvSpPr>
        <p:spPr bwMode="auto">
          <a:xfrm>
            <a:off x="4876800" y="5257800"/>
            <a:ext cx="4267200"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200">
                <a:solidFill>
                  <a:srgbClr val="FF3300"/>
                </a:solidFill>
                <a:ea typeface="楷体_GB2312"/>
              </a:rPr>
              <a:t>结果表明：</a:t>
            </a:r>
            <a:r>
              <a:rPr lang="zh-CN" altLang="en-US" sz="2200">
                <a:ea typeface="楷体_GB2312"/>
              </a:rPr>
              <a:t>均匀带电球壳外的电场强度分布象球面上的电荷都集中在球心时所形成的点电荷在该区的电场强度分布一样。</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172035"/>
                                        </p:tgtEl>
                                        <p:attrNameLst>
                                          <p:attrName>style.visibility</p:attrName>
                                        </p:attrNameLst>
                                      </p:cBhvr>
                                      <p:to>
                                        <p:strVal val="visible"/>
                                      </p:to>
                                    </p:set>
                                    <p:animEffect transition="in" filter="wipe(left)">
                                      <p:cBhvr>
                                        <p:cTn id="7" dur="75"/>
                                        <p:tgtEl>
                                          <p:spTgt spid="1720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172078"/>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72036"/>
                                        </p:tgtEl>
                                        <p:attrNameLst>
                                          <p:attrName>style.visibility</p:attrName>
                                        </p:attrNameLst>
                                      </p:cBhvr>
                                      <p:to>
                                        <p:strVal val="visible"/>
                                      </p:to>
                                    </p:set>
                                    <p:animEffect transition="in" filter="wipe(left)">
                                      <p:cBhvr>
                                        <p:cTn id="16" dur="500"/>
                                        <p:tgtEl>
                                          <p:spTgt spid="17203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iterate type="lt">
                                    <p:tmPct val="100000"/>
                                  </p:iterate>
                                  <p:childTnLst>
                                    <p:set>
                                      <p:cBhvr>
                                        <p:cTn id="20" dur="1" fill="hold">
                                          <p:stCondLst>
                                            <p:cond delay="0"/>
                                          </p:stCondLst>
                                        </p:cTn>
                                        <p:tgtEl>
                                          <p:spTgt spid="172037"/>
                                        </p:tgtEl>
                                        <p:attrNameLst>
                                          <p:attrName>style.visibility</p:attrName>
                                        </p:attrNameLst>
                                      </p:cBhvr>
                                      <p:to>
                                        <p:strVal val="visible"/>
                                      </p:to>
                                    </p:set>
                                    <p:animEffect transition="in" filter="wipe(left)">
                                      <p:cBhvr>
                                        <p:cTn id="21" dur="75"/>
                                        <p:tgtEl>
                                          <p:spTgt spid="17203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172038"/>
                                        </p:tgtEl>
                                        <p:attrNameLst>
                                          <p:attrName>style.visibility</p:attrName>
                                        </p:attrNameLst>
                                      </p:cBhvr>
                                      <p:to>
                                        <p:strVal val="visible"/>
                                      </p:to>
                                    </p:set>
                                    <p:animEffect transition="in" filter="wipe(left)">
                                      <p:cBhvr>
                                        <p:cTn id="26" dur="500"/>
                                        <p:tgtEl>
                                          <p:spTgt spid="17203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72039"/>
                                        </p:tgtEl>
                                        <p:attrNameLst>
                                          <p:attrName>style.visibility</p:attrName>
                                        </p:attrNameLst>
                                      </p:cBhvr>
                                      <p:to>
                                        <p:strVal val="visible"/>
                                      </p:to>
                                    </p:set>
                                    <p:animEffect transition="in" filter="wipe(left)">
                                      <p:cBhvr>
                                        <p:cTn id="31" dur="500"/>
                                        <p:tgtEl>
                                          <p:spTgt spid="17203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172040"/>
                                        </p:tgtEl>
                                        <p:attrNameLst>
                                          <p:attrName>style.visibility</p:attrName>
                                        </p:attrNameLst>
                                      </p:cBhvr>
                                      <p:to>
                                        <p:strVal val="visible"/>
                                      </p:to>
                                    </p:set>
                                    <p:animEffect transition="in" filter="wipe(left)">
                                      <p:cBhvr>
                                        <p:cTn id="36" dur="500"/>
                                        <p:tgtEl>
                                          <p:spTgt spid="17204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72041"/>
                                        </p:tgtEl>
                                        <p:attrNameLst>
                                          <p:attrName>style.visibility</p:attrName>
                                        </p:attrNameLst>
                                      </p:cBhvr>
                                      <p:to>
                                        <p:strVal val="visible"/>
                                      </p:to>
                                    </p:set>
                                    <p:animEffect transition="in" filter="wipe(left)">
                                      <p:cBhvr>
                                        <p:cTn id="41" dur="500"/>
                                        <p:tgtEl>
                                          <p:spTgt spid="17204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72042"/>
                                        </p:tgtEl>
                                        <p:attrNameLst>
                                          <p:attrName>style.visibility</p:attrName>
                                        </p:attrNameLst>
                                      </p:cBhvr>
                                      <p:to>
                                        <p:strVal val="visible"/>
                                      </p:to>
                                    </p:set>
                                    <p:animEffect transition="in" filter="wipe(left)">
                                      <p:cBhvr>
                                        <p:cTn id="46" dur="500"/>
                                        <p:tgtEl>
                                          <p:spTgt spid="17204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172043"/>
                                        </p:tgtEl>
                                        <p:attrNameLst>
                                          <p:attrName>style.visibility</p:attrName>
                                        </p:attrNameLst>
                                      </p:cBhvr>
                                      <p:to>
                                        <p:strVal val="visible"/>
                                      </p:to>
                                    </p:set>
                                    <p:animEffect transition="in" filter="wipe(left)">
                                      <p:cBhvr>
                                        <p:cTn id="51" dur="500"/>
                                        <p:tgtEl>
                                          <p:spTgt spid="17204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172044"/>
                                        </p:tgtEl>
                                        <p:attrNameLst>
                                          <p:attrName>style.visibility</p:attrName>
                                        </p:attrNameLst>
                                      </p:cBhvr>
                                      <p:to>
                                        <p:strVal val="visible"/>
                                      </p:to>
                                    </p:set>
                                    <p:animEffect transition="in" filter="wipe(left)">
                                      <p:cBhvr>
                                        <p:cTn id="56" dur="500"/>
                                        <p:tgtEl>
                                          <p:spTgt spid="172044"/>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172064"/>
                                        </p:tgtEl>
                                        <p:attrNameLst>
                                          <p:attrName>style.visibility</p:attrName>
                                        </p:attrNameLst>
                                      </p:cBhvr>
                                      <p:to>
                                        <p:strVal val="visible"/>
                                      </p:to>
                                    </p:set>
                                    <p:animEffect transition="in" filter="wipe(left)">
                                      <p:cBhvr>
                                        <p:cTn id="61" dur="500"/>
                                        <p:tgtEl>
                                          <p:spTgt spid="17206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iterate type="lt">
                                    <p:tmPct val="100000"/>
                                  </p:iterate>
                                  <p:childTnLst>
                                    <p:set>
                                      <p:cBhvr>
                                        <p:cTn id="65" dur="1" fill="hold">
                                          <p:stCondLst>
                                            <p:cond delay="0"/>
                                          </p:stCondLst>
                                        </p:cTn>
                                        <p:tgtEl>
                                          <p:spTgt spid="172076">
                                            <p:txEl>
                                              <p:pRg st="0" end="0"/>
                                            </p:txEl>
                                          </p:spTgt>
                                        </p:tgtEl>
                                        <p:attrNameLst>
                                          <p:attrName>style.visibility</p:attrName>
                                        </p:attrNameLst>
                                      </p:cBhvr>
                                      <p:to>
                                        <p:strVal val="visible"/>
                                      </p:to>
                                    </p:set>
                                    <p:animEffect transition="in" filter="wipe(left)">
                                      <p:cBhvr>
                                        <p:cTn id="66" dur="75"/>
                                        <p:tgtEl>
                                          <p:spTgt spid="17207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autoUpdateAnimBg="0"/>
      <p:bldP spid="172037" grpId="0" autoUpdateAnimBg="0"/>
      <p:bldP spid="172039" grpId="0" autoUpdateAnimBg="0"/>
      <p:bldP spid="172042" grpId="0" autoUpdateAnimBg="0"/>
      <p:bldP spid="172076" grpId="0" build="p"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Oval 70"/>
          <p:cNvSpPr>
            <a:spLocks noChangeArrowheads="1"/>
          </p:cNvSpPr>
          <p:nvPr/>
        </p:nvSpPr>
        <p:spPr bwMode="auto">
          <a:xfrm>
            <a:off x="3779912" y="2781101"/>
            <a:ext cx="1276546" cy="1223963"/>
          </a:xfrm>
          <a:prstGeom prst="ellipse">
            <a:avLst/>
          </a:prstGeom>
          <a:solidFill>
            <a:schemeClr val="bg1"/>
          </a:solidFill>
          <a:ln w="1270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aphicFrame>
        <p:nvGraphicFramePr>
          <p:cNvPr id="77827" name="Object 49"/>
          <p:cNvGraphicFramePr>
            <a:graphicFrameLocks noChangeAspect="1"/>
          </p:cNvGraphicFramePr>
          <p:nvPr/>
        </p:nvGraphicFramePr>
        <p:xfrm>
          <a:off x="2771775" y="3357563"/>
          <a:ext cx="7332663" cy="3138487"/>
        </p:xfrm>
        <a:graphic>
          <a:graphicData uri="http://schemas.openxmlformats.org/presentationml/2006/ole">
            <mc:AlternateContent xmlns:mc="http://schemas.openxmlformats.org/markup-compatibility/2006">
              <mc:Choice xmlns:v="urn:schemas-microsoft-com:vml" Requires="v">
                <p:oleObj spid="_x0000_s85781" name="Graph" r:id="rId3" imgW="4131869" imgH="2901696" progId="Origin50.Graph">
                  <p:embed/>
                </p:oleObj>
              </mc:Choice>
              <mc:Fallback>
                <p:oleObj name="Graph" r:id="rId3" imgW="4131869" imgH="2901696" progId="Origin50.Graph">
                  <p:embed/>
                  <p:pic>
                    <p:nvPicPr>
                      <p:cNvPr id="0"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3357563"/>
                        <a:ext cx="7332663" cy="313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7828" name="AutoShape 2" descr="solvepic04_10_08_06"/>
          <p:cNvSpPr>
            <a:spLocks noChangeAspect="1" noChangeArrowheads="1"/>
          </p:cNvSpPr>
          <p:nvPr/>
        </p:nvSpPr>
        <p:spPr bwMode="auto">
          <a:xfrm>
            <a:off x="4207546" y="2598539"/>
            <a:ext cx="109537"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84997" name="AutoShape 4" descr="solvepic04_10_08_11"/>
          <p:cNvSpPr>
            <a:spLocks noChangeAspect="1" noChangeArrowheads="1"/>
          </p:cNvSpPr>
          <p:nvPr/>
        </p:nvSpPr>
        <p:spPr bwMode="auto">
          <a:xfrm>
            <a:off x="2054225" y="2286000"/>
            <a:ext cx="1524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84998" name="Text Box 6"/>
          <p:cNvSpPr txBox="1">
            <a:spLocks noChangeArrowheads="1"/>
          </p:cNvSpPr>
          <p:nvPr/>
        </p:nvSpPr>
        <p:spPr bwMode="auto">
          <a:xfrm>
            <a:off x="395288" y="0"/>
            <a:ext cx="8424862" cy="18002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800">
                <a:solidFill>
                  <a:schemeClr val="folHlink"/>
                </a:solidFill>
                <a:latin typeface="宋体" panose="02010600030101010101" pitchFamily="2" charset="-122"/>
                <a:ea typeface="楷体_GB2312"/>
              </a:rPr>
              <a:t>推广：</a:t>
            </a:r>
            <a:r>
              <a:rPr lang="zh-CN" altLang="en-US" sz="2800">
                <a:latin typeface="宋体" panose="02010600030101010101" pitchFamily="2" charset="-122"/>
                <a:ea typeface="楷体_GB2312"/>
              </a:rPr>
              <a:t>如图，在半径为</a:t>
            </a:r>
            <a:r>
              <a:rPr lang="en-US" altLang="zh-CN" sz="2800">
                <a:latin typeface="宋体" panose="02010600030101010101" pitchFamily="2" charset="-122"/>
                <a:ea typeface="楷体_GB2312"/>
              </a:rPr>
              <a:t>R</a:t>
            </a:r>
            <a:r>
              <a:rPr lang="en-US" altLang="zh-CN" sz="2800" baseline="-25000">
                <a:latin typeface="宋体" panose="02010600030101010101" pitchFamily="2" charset="-122"/>
                <a:ea typeface="楷体_GB2312"/>
              </a:rPr>
              <a:t>1</a:t>
            </a:r>
            <a:r>
              <a:rPr lang="zh-CN" altLang="en-US" sz="2800">
                <a:latin typeface="宋体" panose="02010600030101010101" pitchFamily="2" charset="-122"/>
                <a:ea typeface="楷体_GB2312"/>
              </a:rPr>
              <a:t>和</a:t>
            </a:r>
            <a:r>
              <a:rPr lang="en-US" altLang="zh-CN" sz="2800">
                <a:latin typeface="宋体" panose="02010600030101010101" pitchFamily="2" charset="-122"/>
                <a:ea typeface="楷体_GB2312"/>
              </a:rPr>
              <a:t>R</a:t>
            </a:r>
            <a:r>
              <a:rPr lang="en-US" altLang="zh-CN" sz="2800" baseline="-25000">
                <a:latin typeface="宋体" panose="02010600030101010101" pitchFamily="2" charset="-122"/>
                <a:ea typeface="楷体_GB2312"/>
              </a:rPr>
              <a:t>2</a:t>
            </a:r>
            <a:r>
              <a:rPr lang="en-US" altLang="zh-CN" sz="2800">
                <a:latin typeface="宋体" panose="02010600030101010101" pitchFamily="2" charset="-122"/>
                <a:ea typeface="楷体_GB2312"/>
              </a:rPr>
              <a:t> </a:t>
            </a:r>
            <a:r>
              <a:rPr lang="zh-CN" altLang="en-US" sz="2800">
                <a:latin typeface="宋体" panose="02010600030101010101" pitchFamily="2" charset="-122"/>
                <a:ea typeface="楷体_GB2312"/>
              </a:rPr>
              <a:t>的两个同心球面上，各自均匀地分布着电荷</a:t>
            </a:r>
            <a:r>
              <a:rPr lang="en-US" altLang="zh-CN" sz="2800">
                <a:latin typeface="宋体" panose="02010600030101010101" pitchFamily="2" charset="-122"/>
                <a:ea typeface="楷体_GB2312"/>
              </a:rPr>
              <a:t>q</a:t>
            </a:r>
            <a:r>
              <a:rPr lang="en-US" altLang="zh-CN" sz="2800" baseline="-25000">
                <a:latin typeface="宋体" panose="02010600030101010101" pitchFamily="2" charset="-122"/>
                <a:ea typeface="楷体_GB2312"/>
              </a:rPr>
              <a:t>1</a:t>
            </a:r>
            <a:r>
              <a:rPr lang="zh-CN" altLang="en-US" sz="2800">
                <a:latin typeface="宋体" panose="02010600030101010101" pitchFamily="2" charset="-122"/>
                <a:ea typeface="楷体_GB2312"/>
              </a:rPr>
              <a:t>和</a:t>
            </a:r>
            <a:r>
              <a:rPr lang="en-US" altLang="zh-CN" sz="2800">
                <a:latin typeface="宋体" panose="02010600030101010101" pitchFamily="2" charset="-122"/>
                <a:ea typeface="楷体_GB2312"/>
              </a:rPr>
              <a:t>q</a:t>
            </a:r>
            <a:r>
              <a:rPr lang="en-US" altLang="zh-CN" sz="2800" baseline="-25000">
                <a:latin typeface="宋体" panose="02010600030101010101" pitchFamily="2" charset="-122"/>
                <a:ea typeface="楷体_GB2312"/>
              </a:rPr>
              <a:t>2</a:t>
            </a:r>
            <a:r>
              <a:rPr lang="en-US" altLang="zh-CN" sz="2800">
                <a:latin typeface="宋体" panose="02010600030101010101" pitchFamily="2" charset="-122"/>
                <a:ea typeface="楷体_GB2312"/>
              </a:rPr>
              <a:t> </a:t>
            </a:r>
            <a:r>
              <a:rPr lang="zh-CN" altLang="en-US" sz="2800">
                <a:latin typeface="宋体" panose="02010600030101010101" pitchFamily="2" charset="-122"/>
                <a:ea typeface="楷体_GB2312"/>
              </a:rPr>
              <a:t>。求：</a:t>
            </a:r>
            <a:r>
              <a:rPr lang="en-US" altLang="zh-CN" sz="2800">
                <a:latin typeface="宋体" panose="02010600030101010101" pitchFamily="2" charset="-122"/>
                <a:ea typeface="楷体_GB2312"/>
              </a:rPr>
              <a:t>(</a:t>
            </a:r>
            <a:r>
              <a:rPr lang="en-US" altLang="zh-CN" sz="2800">
                <a:ea typeface="楷体_GB2312"/>
              </a:rPr>
              <a:t>1)Ⅰ</a:t>
            </a:r>
            <a:r>
              <a:rPr lang="zh-CN" altLang="en-US" sz="2800">
                <a:ea typeface="楷体_GB2312"/>
              </a:rPr>
              <a:t>、</a:t>
            </a:r>
            <a:r>
              <a:rPr lang="en-US" altLang="zh-CN" sz="2800">
                <a:ea typeface="楷体_GB2312"/>
              </a:rPr>
              <a:t>Ⅱ</a:t>
            </a:r>
            <a:r>
              <a:rPr lang="zh-CN" altLang="en-US" sz="2800">
                <a:ea typeface="楷体_GB2312"/>
              </a:rPr>
              <a:t>、</a:t>
            </a:r>
            <a:r>
              <a:rPr lang="en-US" altLang="zh-CN" sz="2800">
                <a:ea typeface="楷体_GB2312"/>
              </a:rPr>
              <a:t>III</a:t>
            </a:r>
            <a:r>
              <a:rPr lang="zh-CN" altLang="en-US" sz="2800">
                <a:latin typeface="宋体" panose="02010600030101010101" pitchFamily="2" charset="-122"/>
                <a:ea typeface="楷体_GB2312"/>
              </a:rPr>
              <a:t>三个区域内的场强分布；</a:t>
            </a:r>
            <a:r>
              <a:rPr lang="en-US" altLang="zh-CN" sz="2800">
                <a:latin typeface="宋体" panose="02010600030101010101" pitchFamily="2" charset="-122"/>
                <a:ea typeface="楷体_GB2312"/>
              </a:rPr>
              <a:t>(2) </a:t>
            </a:r>
            <a:r>
              <a:rPr lang="zh-CN" altLang="en-US" sz="2800">
                <a:latin typeface="宋体" panose="02010600030101010101" pitchFamily="2" charset="-122"/>
                <a:ea typeface="楷体_GB2312"/>
              </a:rPr>
              <a:t>若</a:t>
            </a:r>
            <a:r>
              <a:rPr lang="en-US" altLang="zh-CN" sz="2800">
                <a:latin typeface="宋体" panose="02010600030101010101" pitchFamily="2" charset="-122"/>
                <a:ea typeface="楷体_GB2312"/>
              </a:rPr>
              <a:t>q</a:t>
            </a:r>
            <a:r>
              <a:rPr lang="en-US" altLang="zh-CN" sz="2800" baseline="-25000">
                <a:latin typeface="宋体" panose="02010600030101010101" pitchFamily="2" charset="-122"/>
                <a:ea typeface="楷体_GB2312"/>
              </a:rPr>
              <a:t>1</a:t>
            </a:r>
            <a:r>
              <a:rPr lang="en-US" altLang="zh-CN" sz="2800">
                <a:latin typeface="宋体" panose="02010600030101010101" pitchFamily="2" charset="-122"/>
                <a:ea typeface="楷体_GB2312"/>
              </a:rPr>
              <a:t>=-q</a:t>
            </a:r>
            <a:r>
              <a:rPr lang="en-US" altLang="zh-CN" sz="2800" baseline="-25000">
                <a:latin typeface="宋体" panose="02010600030101010101" pitchFamily="2" charset="-122"/>
                <a:ea typeface="楷体_GB2312"/>
              </a:rPr>
              <a:t>2</a:t>
            </a:r>
            <a:r>
              <a:rPr lang="zh-CN" altLang="en-US" sz="2800">
                <a:latin typeface="宋体" panose="02010600030101010101" pitchFamily="2" charset="-122"/>
                <a:ea typeface="楷体_GB2312"/>
              </a:rPr>
              <a:t>，情况如何</a:t>
            </a:r>
            <a:r>
              <a:rPr lang="en-US" altLang="zh-CN" sz="2800">
                <a:latin typeface="宋体" panose="02010600030101010101" pitchFamily="2" charset="-122"/>
                <a:ea typeface="楷体_GB2312"/>
              </a:rPr>
              <a:t>? </a:t>
            </a:r>
            <a:r>
              <a:rPr lang="zh-CN" altLang="en-US" sz="2800">
                <a:latin typeface="宋体" panose="02010600030101010101" pitchFamily="2" charset="-122"/>
                <a:ea typeface="楷体_GB2312"/>
              </a:rPr>
              <a:t>画出此情况下的</a:t>
            </a:r>
            <a:r>
              <a:rPr lang="en-US" altLang="zh-CN" sz="2800">
                <a:latin typeface="宋体" panose="02010600030101010101" pitchFamily="2" charset="-122"/>
                <a:ea typeface="楷体_GB2312"/>
              </a:rPr>
              <a:t>E</a:t>
            </a:r>
            <a:r>
              <a:rPr lang="en-US" altLang="zh-CN" sz="2800">
                <a:latin typeface="宋体" panose="02010600030101010101" pitchFamily="2" charset="-122"/>
                <a:ea typeface="楷体_GB2312"/>
                <a:sym typeface="Symbol" panose="05050102010706020507" pitchFamily="18" charset="2"/>
              </a:rPr>
              <a:t></a:t>
            </a:r>
            <a:r>
              <a:rPr lang="en-US" altLang="zh-CN" sz="2800">
                <a:latin typeface="宋体" panose="02010600030101010101" pitchFamily="2" charset="-122"/>
                <a:ea typeface="楷体_GB2312"/>
              </a:rPr>
              <a:t>r</a:t>
            </a:r>
            <a:r>
              <a:rPr lang="zh-CN" altLang="en-US" sz="2800">
                <a:latin typeface="宋体" panose="02010600030101010101" pitchFamily="2" charset="-122"/>
                <a:ea typeface="楷体_GB2312"/>
              </a:rPr>
              <a:t>曲线，</a:t>
            </a:r>
            <a:r>
              <a:rPr lang="en-US" altLang="zh-CN" sz="2800">
                <a:latin typeface="宋体" panose="02010600030101010101" pitchFamily="2" charset="-122"/>
                <a:ea typeface="楷体_GB2312"/>
              </a:rPr>
              <a:t>r </a:t>
            </a:r>
            <a:r>
              <a:rPr lang="zh-CN" altLang="en-US" sz="2800">
                <a:latin typeface="宋体" panose="02010600030101010101" pitchFamily="2" charset="-122"/>
                <a:ea typeface="楷体_GB2312"/>
              </a:rPr>
              <a:t>为场点到球心 </a:t>
            </a:r>
            <a:r>
              <a:rPr lang="en-US" altLang="zh-CN" sz="2800">
                <a:latin typeface="宋体" panose="02010600030101010101" pitchFamily="2" charset="-122"/>
                <a:ea typeface="楷体_GB2312"/>
              </a:rPr>
              <a:t>O</a:t>
            </a:r>
            <a:r>
              <a:rPr lang="zh-CN" altLang="en-US" sz="2800">
                <a:latin typeface="宋体" panose="02010600030101010101" pitchFamily="2" charset="-122"/>
                <a:ea typeface="楷体_GB2312"/>
              </a:rPr>
              <a:t>的距离</a:t>
            </a:r>
            <a:r>
              <a:rPr lang="en-US" altLang="zh-CN" sz="2800">
                <a:latin typeface="宋体" panose="02010600030101010101" pitchFamily="2" charset="-122"/>
                <a:ea typeface="楷体_GB2312"/>
              </a:rPr>
              <a:t>.</a:t>
            </a:r>
          </a:p>
        </p:txBody>
      </p:sp>
      <p:grpSp>
        <p:nvGrpSpPr>
          <p:cNvPr id="84999" name="Group 7"/>
          <p:cNvGrpSpPr>
            <a:grpSpLocks/>
          </p:cNvGrpSpPr>
          <p:nvPr/>
        </p:nvGrpSpPr>
        <p:grpSpPr bwMode="auto">
          <a:xfrm>
            <a:off x="395288" y="2346325"/>
            <a:ext cx="2095500" cy="1874838"/>
            <a:chOff x="3707" y="2496"/>
            <a:chExt cx="1717" cy="1536"/>
          </a:xfrm>
        </p:grpSpPr>
        <p:graphicFrame>
          <p:nvGraphicFramePr>
            <p:cNvPr id="85006" name="Object 8"/>
            <p:cNvGraphicFramePr>
              <a:graphicFrameLocks noChangeAspect="1"/>
            </p:cNvGraphicFramePr>
            <p:nvPr/>
          </p:nvGraphicFramePr>
          <p:xfrm>
            <a:off x="4198" y="3034"/>
            <a:ext cx="227" cy="327"/>
          </p:xfrm>
          <a:graphic>
            <a:graphicData uri="http://schemas.openxmlformats.org/presentationml/2006/ole">
              <mc:AlternateContent xmlns:mc="http://schemas.openxmlformats.org/markup-compatibility/2006">
                <mc:Choice xmlns:v="urn:schemas-microsoft-com:vml" Requires="v">
                  <p:oleObj spid="_x0000_s85782" name="公式" r:id="rId5" imgW="152268" imgH="215713" progId="Equation.3">
                    <p:embed/>
                  </p:oleObj>
                </mc:Choice>
                <mc:Fallback>
                  <p:oleObj name="公式" r:id="rId5" imgW="152268" imgH="215713"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8" y="3034"/>
                          <a:ext cx="22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5007" name="Group 9"/>
            <p:cNvGrpSpPr>
              <a:grpSpLocks/>
            </p:cNvGrpSpPr>
            <p:nvPr/>
          </p:nvGrpSpPr>
          <p:grpSpPr bwMode="auto">
            <a:xfrm>
              <a:off x="3921" y="2496"/>
              <a:ext cx="1503" cy="1536"/>
              <a:chOff x="3696" y="1968"/>
              <a:chExt cx="1632" cy="1632"/>
            </a:xfrm>
          </p:grpSpPr>
          <p:sp>
            <p:nvSpPr>
              <p:cNvPr id="85015" name="Oval 10"/>
              <p:cNvSpPr>
                <a:spLocks noChangeArrowheads="1"/>
              </p:cNvSpPr>
              <p:nvPr/>
            </p:nvSpPr>
            <p:spPr bwMode="auto">
              <a:xfrm>
                <a:off x="3984" y="2256"/>
                <a:ext cx="1056" cy="1070"/>
              </a:xfrm>
              <a:prstGeom prst="ellipse">
                <a:avLst/>
              </a:prstGeom>
              <a:noFill/>
              <a:ln w="25400">
                <a:solidFill>
                  <a:srgbClr val="FF0000"/>
                </a:solidFill>
                <a:round/>
                <a:headEnd/>
                <a:tailEnd type="none" w="med" len="lg"/>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aphicFrame>
            <p:nvGraphicFramePr>
              <p:cNvPr id="85016" name="Object 11"/>
              <p:cNvGraphicFramePr>
                <a:graphicFrameLocks noChangeAspect="1"/>
              </p:cNvGraphicFramePr>
              <p:nvPr/>
            </p:nvGraphicFramePr>
            <p:xfrm>
              <a:off x="4368" y="2592"/>
              <a:ext cx="159" cy="176"/>
            </p:xfrm>
            <a:graphic>
              <a:graphicData uri="http://schemas.openxmlformats.org/presentationml/2006/ole">
                <mc:AlternateContent xmlns:mc="http://schemas.openxmlformats.org/markup-compatibility/2006">
                  <mc:Choice xmlns:v="urn:schemas-microsoft-com:vml" Requires="v">
                    <p:oleObj spid="_x0000_s85783" name="公式" r:id="rId7" imgW="253890" imgH="279279" progId="Equation.3">
                      <p:embed/>
                    </p:oleObj>
                  </mc:Choice>
                  <mc:Fallback>
                    <p:oleObj name="公式" r:id="rId7" imgW="253890" imgH="279279"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68" y="2592"/>
                            <a:ext cx="159"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017" name="Oval 12"/>
              <p:cNvSpPr>
                <a:spLocks noChangeArrowheads="1"/>
              </p:cNvSpPr>
              <p:nvPr/>
            </p:nvSpPr>
            <p:spPr bwMode="auto">
              <a:xfrm>
                <a:off x="3696" y="1968"/>
                <a:ext cx="1632" cy="1632"/>
              </a:xfrm>
              <a:prstGeom prst="ellipse">
                <a:avLst/>
              </a:prstGeom>
              <a:noFill/>
              <a:ln w="25400">
                <a:solidFill>
                  <a:schemeClr val="accent2"/>
                </a:solidFill>
                <a:round/>
                <a:headEn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pSp>
        <p:grpSp>
          <p:nvGrpSpPr>
            <p:cNvPr id="85008" name="Group 13"/>
            <p:cNvGrpSpPr>
              <a:grpSpLocks/>
            </p:cNvGrpSpPr>
            <p:nvPr/>
          </p:nvGrpSpPr>
          <p:grpSpPr bwMode="auto">
            <a:xfrm>
              <a:off x="4672" y="2857"/>
              <a:ext cx="398" cy="407"/>
              <a:chOff x="4512" y="2352"/>
              <a:chExt cx="432" cy="432"/>
            </a:xfrm>
          </p:grpSpPr>
          <p:sp>
            <p:nvSpPr>
              <p:cNvPr id="85013" name="Line 14"/>
              <p:cNvSpPr>
                <a:spLocks noChangeShapeType="1"/>
              </p:cNvSpPr>
              <p:nvPr/>
            </p:nvSpPr>
            <p:spPr bwMode="auto">
              <a:xfrm flipV="1">
                <a:off x="4512" y="2448"/>
                <a:ext cx="432" cy="336"/>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5014" name="Object 15"/>
              <p:cNvGraphicFramePr>
                <a:graphicFrameLocks noChangeAspect="1"/>
              </p:cNvGraphicFramePr>
              <p:nvPr/>
            </p:nvGraphicFramePr>
            <p:xfrm>
              <a:off x="4560" y="2352"/>
              <a:ext cx="241" cy="291"/>
            </p:xfrm>
            <a:graphic>
              <a:graphicData uri="http://schemas.openxmlformats.org/presentationml/2006/ole">
                <mc:AlternateContent xmlns:mc="http://schemas.openxmlformats.org/markup-compatibility/2006">
                  <mc:Choice xmlns:v="urn:schemas-microsoft-com:vml" Requires="v">
                    <p:oleObj spid="_x0000_s85784" name="Equation" r:id="rId9" imgW="177569" imgH="215619" progId="Equation.DSMT4">
                      <p:embed/>
                    </p:oleObj>
                  </mc:Choice>
                  <mc:Fallback>
                    <p:oleObj name="Equation" r:id="rId9" imgW="177569" imgH="215619" progId="Equation.DSMT4">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60" y="2352"/>
                            <a:ext cx="241"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5009" name="Group 16"/>
            <p:cNvGrpSpPr>
              <a:grpSpLocks/>
            </p:cNvGrpSpPr>
            <p:nvPr/>
          </p:nvGrpSpPr>
          <p:grpSpPr bwMode="auto">
            <a:xfrm>
              <a:off x="4672" y="3264"/>
              <a:ext cx="283" cy="768"/>
              <a:chOff x="4512" y="2784"/>
              <a:chExt cx="307" cy="768"/>
            </a:xfrm>
          </p:grpSpPr>
          <p:sp>
            <p:nvSpPr>
              <p:cNvPr id="85011" name="Line 17"/>
              <p:cNvSpPr>
                <a:spLocks noChangeShapeType="1"/>
              </p:cNvSpPr>
              <p:nvPr/>
            </p:nvSpPr>
            <p:spPr bwMode="auto">
              <a:xfrm>
                <a:off x="4512" y="2784"/>
                <a:ext cx="0" cy="768"/>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5012" name="Object 18"/>
              <p:cNvGraphicFramePr>
                <a:graphicFrameLocks noChangeAspect="1"/>
              </p:cNvGraphicFramePr>
              <p:nvPr/>
            </p:nvGraphicFramePr>
            <p:xfrm>
              <a:off x="4560" y="2928"/>
              <a:ext cx="259" cy="291"/>
            </p:xfrm>
            <a:graphic>
              <a:graphicData uri="http://schemas.openxmlformats.org/presentationml/2006/ole">
                <mc:AlternateContent xmlns:mc="http://schemas.openxmlformats.org/markup-compatibility/2006">
                  <mc:Choice xmlns:v="urn:schemas-microsoft-com:vml" Requires="v">
                    <p:oleObj spid="_x0000_s85785" name="Equation" r:id="rId11" imgW="190335" imgH="215713" progId="Equation.3">
                      <p:embed/>
                    </p:oleObj>
                  </mc:Choice>
                  <mc:Fallback>
                    <p:oleObj name="Equation" r:id="rId11" imgW="190335" imgH="215713" progId="Equation.3">
                      <p:embed/>
                      <p:pic>
                        <p:nvPicPr>
                          <p:cNvPr id="0"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60" y="2928"/>
                            <a:ext cx="259"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85010" name="Object 19"/>
            <p:cNvGraphicFramePr>
              <a:graphicFrameLocks noChangeAspect="1"/>
            </p:cNvGraphicFramePr>
            <p:nvPr/>
          </p:nvGraphicFramePr>
          <p:xfrm>
            <a:off x="3707" y="3034"/>
            <a:ext cx="262" cy="327"/>
          </p:xfrm>
          <a:graphic>
            <a:graphicData uri="http://schemas.openxmlformats.org/presentationml/2006/ole">
              <mc:AlternateContent xmlns:mc="http://schemas.openxmlformats.org/markup-compatibility/2006">
                <mc:Choice xmlns:v="urn:schemas-microsoft-com:vml" Requires="v">
                  <p:oleObj spid="_x0000_s85786" name="公式" r:id="rId13" imgW="177569" imgH="215619" progId="Equation.3">
                    <p:embed/>
                  </p:oleObj>
                </mc:Choice>
                <mc:Fallback>
                  <p:oleObj name="公式" r:id="rId13" imgW="177569" imgH="215619" progId="Equation.3">
                    <p:embed/>
                    <p:pic>
                      <p:nvPicPr>
                        <p:cNvPr id="0" name="Object 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07" y="3034"/>
                          <a:ext cx="26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85000" name="Rectangle 20"/>
          <p:cNvSpPr>
            <a:spLocks noChangeArrowheads="1"/>
          </p:cNvSpPr>
          <p:nvPr/>
        </p:nvSpPr>
        <p:spPr bwMode="auto">
          <a:xfrm>
            <a:off x="1710395" y="3008111"/>
            <a:ext cx="2032794" cy="58695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a:ea typeface="楷体_GB2312"/>
              </a:rPr>
              <a:t>Ⅰ  Ⅱ  III</a:t>
            </a:r>
          </a:p>
        </p:txBody>
      </p:sp>
      <p:graphicFrame>
        <p:nvGraphicFramePr>
          <p:cNvPr id="77833" name="Object 47"/>
          <p:cNvGraphicFramePr>
            <a:graphicFrameLocks noChangeAspect="1"/>
          </p:cNvGraphicFramePr>
          <p:nvPr/>
        </p:nvGraphicFramePr>
        <p:xfrm>
          <a:off x="309563" y="4211638"/>
          <a:ext cx="3197225" cy="2671762"/>
        </p:xfrm>
        <a:graphic>
          <a:graphicData uri="http://schemas.openxmlformats.org/presentationml/2006/ole">
            <mc:AlternateContent xmlns:mc="http://schemas.openxmlformats.org/markup-compatibility/2006">
              <mc:Choice xmlns:v="urn:schemas-microsoft-com:vml" Requires="v">
                <p:oleObj spid="_x0000_s85787" name="Equation" r:id="rId15" imgW="1663700" imgH="1397000" progId="Equation.DSMT4">
                  <p:embed/>
                </p:oleObj>
              </mc:Choice>
              <mc:Fallback>
                <p:oleObj name="Equation" r:id="rId15" imgW="1663700" imgH="1397000" progId="Equation.DSMT4">
                  <p:embed/>
                  <p:pic>
                    <p:nvPicPr>
                      <p:cNvPr id="0" name="Object 4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9563" y="4211638"/>
                        <a:ext cx="3197225" cy="2671762"/>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7834" name="Oval 68"/>
          <p:cNvSpPr>
            <a:spLocks noChangeArrowheads="1"/>
          </p:cNvSpPr>
          <p:nvPr/>
        </p:nvSpPr>
        <p:spPr bwMode="auto">
          <a:xfrm>
            <a:off x="4101977" y="3084695"/>
            <a:ext cx="585788" cy="565150"/>
          </a:xfrm>
          <a:prstGeom prst="ellipse">
            <a:avLst/>
          </a:prstGeom>
          <a:solidFill>
            <a:schemeClr val="bg1"/>
          </a:solidFill>
          <a:ln w="12700">
            <a:solidFill>
              <a:srgbClr val="FF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endParaRPr lang="zh-CN" altLang="zh-CN" sz="3600">
              <a:solidFill>
                <a:srgbClr val="FF3300"/>
              </a:solidFill>
              <a:ea typeface="楷体_GB2312"/>
            </a:endParaRPr>
          </a:p>
        </p:txBody>
      </p:sp>
      <p:sp>
        <p:nvSpPr>
          <p:cNvPr id="77835" name="Line 71"/>
          <p:cNvSpPr>
            <a:spLocks noChangeShapeType="1"/>
          </p:cNvSpPr>
          <p:nvPr/>
        </p:nvSpPr>
        <p:spPr bwMode="auto">
          <a:xfrm>
            <a:off x="4433765" y="3392458"/>
            <a:ext cx="292100" cy="0"/>
          </a:xfrm>
          <a:prstGeom prst="line">
            <a:avLst/>
          </a:prstGeom>
          <a:noFill/>
          <a:ln w="127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77836" name="Line 72"/>
          <p:cNvSpPr>
            <a:spLocks noChangeShapeType="1"/>
          </p:cNvSpPr>
          <p:nvPr/>
        </p:nvSpPr>
        <p:spPr bwMode="auto">
          <a:xfrm flipV="1">
            <a:off x="4384553" y="2855713"/>
            <a:ext cx="390525" cy="563563"/>
          </a:xfrm>
          <a:prstGeom prst="line">
            <a:avLst/>
          </a:prstGeom>
          <a:noFill/>
          <a:ln w="127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77837" name="Text Box 74"/>
          <p:cNvSpPr txBox="1">
            <a:spLocks noChangeArrowheads="1"/>
          </p:cNvSpPr>
          <p:nvPr/>
        </p:nvSpPr>
        <p:spPr bwMode="auto">
          <a:xfrm>
            <a:off x="4660214" y="2609985"/>
            <a:ext cx="512695" cy="114095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000">
                <a:solidFill>
                  <a:srgbClr val="FF3300"/>
                </a:solidFill>
                <a:ea typeface="楷体_GB2312"/>
              </a:rPr>
              <a:t>R</a:t>
            </a:r>
            <a:r>
              <a:rPr lang="en-US" altLang="zh-CN" sz="2000" baseline="-25000">
                <a:solidFill>
                  <a:srgbClr val="FF3300"/>
                </a:solidFill>
                <a:ea typeface="楷体_GB2312"/>
              </a:rPr>
              <a:t>2</a:t>
            </a:r>
          </a:p>
          <a:p>
            <a:pPr eaLnBrk="1" hangingPunct="1">
              <a:buFontTx/>
              <a:buNone/>
            </a:pPr>
            <a:endParaRPr lang="en-US" altLang="zh-CN" sz="2000">
              <a:solidFill>
                <a:srgbClr val="FF3300"/>
              </a:solidFill>
              <a:ea typeface="楷体_GB2312"/>
            </a:endParaRPr>
          </a:p>
          <a:p>
            <a:pPr eaLnBrk="1" hangingPunct="1">
              <a:buFontTx/>
              <a:buNone/>
            </a:pPr>
            <a:r>
              <a:rPr lang="en-US" altLang="zh-CN" sz="2000">
                <a:solidFill>
                  <a:srgbClr val="FF3300"/>
                </a:solidFill>
                <a:ea typeface="楷体_GB2312"/>
              </a:rPr>
              <a:t>R</a:t>
            </a:r>
            <a:r>
              <a:rPr lang="en-US" altLang="zh-CN" sz="2000" baseline="-25000">
                <a:solidFill>
                  <a:srgbClr val="FF3300"/>
                </a:solidFill>
                <a:ea typeface="楷体_GB2312"/>
              </a:rPr>
              <a:t>1</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783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7826"/>
                                        </p:tgtEl>
                                        <p:attrNameLst>
                                          <p:attrName>style.visibility</p:attrName>
                                        </p:attrNameLst>
                                      </p:cBhvr>
                                      <p:to>
                                        <p:strVal val="visible"/>
                                      </p:to>
                                    </p:set>
                                  </p:childTnLst>
                                </p:cTn>
                              </p:par>
                              <p:par>
                                <p:cTn id="11" presetID="1" presetClass="entr" presetSubtype="0" fill="hold" grpId="0" nodeType="withEffect" nodePh="1">
                                  <p:stCondLst>
                                    <p:cond delay="0"/>
                                  </p:stCondLst>
                                  <p:endCondLst>
                                    <p:cond evt="begin" delay="0">
                                      <p:tn val="11"/>
                                    </p:cond>
                                  </p:endCondLst>
                                  <p:childTnLst>
                                    <p:set>
                                      <p:cBhvr>
                                        <p:cTn id="12" dur="1" fill="hold">
                                          <p:stCondLst>
                                            <p:cond delay="0"/>
                                          </p:stCondLst>
                                        </p:cTn>
                                        <p:tgtEl>
                                          <p:spTgt spid="778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78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783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78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78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78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6" grpId="0" animBg="1"/>
      <p:bldP spid="77828" grpId="0"/>
      <p:bldP spid="77834" grpId="0" animBg="1"/>
      <p:bldP spid="77835" grpId="0" animBg="1"/>
      <p:bldP spid="77836" grpId="0" animBg="1"/>
      <p:bldP spid="77837"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6018" name="Group 5"/>
          <p:cNvGrpSpPr>
            <a:grpSpLocks/>
          </p:cNvGrpSpPr>
          <p:nvPr/>
        </p:nvGrpSpPr>
        <p:grpSpPr bwMode="auto">
          <a:xfrm>
            <a:off x="6372225" y="188913"/>
            <a:ext cx="2663825" cy="2917825"/>
            <a:chOff x="3842" y="1776"/>
            <a:chExt cx="1632" cy="1838"/>
          </a:xfrm>
        </p:grpSpPr>
        <p:graphicFrame>
          <p:nvGraphicFramePr>
            <p:cNvPr id="86049" name="Object 6"/>
            <p:cNvGraphicFramePr>
              <a:graphicFrameLocks noChangeAspect="1"/>
            </p:cNvGraphicFramePr>
            <p:nvPr/>
          </p:nvGraphicFramePr>
          <p:xfrm>
            <a:off x="5138" y="2174"/>
            <a:ext cx="254" cy="322"/>
          </p:xfrm>
          <a:graphic>
            <a:graphicData uri="http://schemas.openxmlformats.org/presentationml/2006/ole">
              <mc:AlternateContent xmlns:mc="http://schemas.openxmlformats.org/markup-compatibility/2006">
                <mc:Choice xmlns:v="urn:schemas-microsoft-com:vml" Requires="v">
                  <p:oleObj spid="_x0000_s215571" name="公式" r:id="rId3" imgW="152334" imgH="190417" progId="Equation.3">
                    <p:embed/>
                  </p:oleObj>
                </mc:Choice>
                <mc:Fallback>
                  <p:oleObj name="公式" r:id="rId3" imgW="152334" imgH="190417"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8" y="2174"/>
                          <a:ext cx="254"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50" name="Oval 7"/>
            <p:cNvSpPr>
              <a:spLocks noChangeArrowheads="1"/>
            </p:cNvSpPr>
            <p:nvPr/>
          </p:nvSpPr>
          <p:spPr bwMode="auto">
            <a:xfrm>
              <a:off x="4178" y="2091"/>
              <a:ext cx="1008" cy="960"/>
            </a:xfrm>
            <a:prstGeom prst="ellipse">
              <a:avLst/>
            </a:prstGeom>
            <a:solidFill>
              <a:srgbClr val="CC0000"/>
            </a:solidFill>
            <a:ln w="111125">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86051" name="Line 8"/>
            <p:cNvSpPr>
              <a:spLocks noChangeShapeType="1"/>
            </p:cNvSpPr>
            <p:nvPr/>
          </p:nvSpPr>
          <p:spPr bwMode="auto">
            <a:xfrm>
              <a:off x="5184" y="2571"/>
              <a:ext cx="290" cy="0"/>
            </a:xfrm>
            <a:prstGeom prst="line">
              <a:avLst/>
            </a:prstGeom>
            <a:noFill/>
            <a:ln w="41275">
              <a:solidFill>
                <a:srgbClr val="3333FF"/>
              </a:solidFill>
              <a:round/>
              <a:headEnd type="none" w="med" len="lg"/>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52" name="Line 9"/>
            <p:cNvSpPr>
              <a:spLocks noChangeShapeType="1"/>
            </p:cNvSpPr>
            <p:nvPr/>
          </p:nvSpPr>
          <p:spPr bwMode="auto">
            <a:xfrm flipV="1">
              <a:off x="4658" y="1776"/>
              <a:ext cx="0" cy="283"/>
            </a:xfrm>
            <a:prstGeom prst="line">
              <a:avLst/>
            </a:prstGeom>
            <a:noFill/>
            <a:ln w="41275">
              <a:solidFill>
                <a:srgbClr val="3333FF"/>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53" name="Line 10"/>
            <p:cNvSpPr>
              <a:spLocks noChangeShapeType="1"/>
            </p:cNvSpPr>
            <p:nvPr/>
          </p:nvSpPr>
          <p:spPr bwMode="auto">
            <a:xfrm>
              <a:off x="4680" y="3091"/>
              <a:ext cx="0" cy="283"/>
            </a:xfrm>
            <a:prstGeom prst="line">
              <a:avLst/>
            </a:prstGeom>
            <a:noFill/>
            <a:ln w="41275">
              <a:solidFill>
                <a:srgbClr val="3333FF"/>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6054" name="Object 11"/>
            <p:cNvGraphicFramePr>
              <a:graphicFrameLocks noChangeAspect="1"/>
            </p:cNvGraphicFramePr>
            <p:nvPr/>
          </p:nvGraphicFramePr>
          <p:xfrm>
            <a:off x="4788" y="2629"/>
            <a:ext cx="254" cy="342"/>
          </p:xfrm>
          <a:graphic>
            <a:graphicData uri="http://schemas.openxmlformats.org/presentationml/2006/ole">
              <mc:AlternateContent xmlns:mc="http://schemas.openxmlformats.org/markup-compatibility/2006">
                <mc:Choice xmlns:v="urn:schemas-microsoft-com:vml" Requires="v">
                  <p:oleObj spid="_x0000_s215572" name="公式" r:id="rId5" imgW="152268" imgH="203024" progId="Equation.3">
                    <p:embed/>
                  </p:oleObj>
                </mc:Choice>
                <mc:Fallback>
                  <p:oleObj name="公式" r:id="rId5" imgW="152268" imgH="203024"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8" y="2629"/>
                          <a:ext cx="254" cy="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55" name="Line 12"/>
            <p:cNvSpPr>
              <a:spLocks noChangeShapeType="1"/>
            </p:cNvSpPr>
            <p:nvPr/>
          </p:nvSpPr>
          <p:spPr bwMode="auto">
            <a:xfrm flipH="1">
              <a:off x="3842" y="2587"/>
              <a:ext cx="290" cy="0"/>
            </a:xfrm>
            <a:prstGeom prst="line">
              <a:avLst/>
            </a:prstGeom>
            <a:noFill/>
            <a:ln w="41275">
              <a:solidFill>
                <a:srgbClr val="3333FF"/>
              </a:solidFill>
              <a:round/>
              <a:headEnd type="none" w="med" len="lg"/>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56" name="Text Box 13"/>
            <p:cNvSpPr txBox="1">
              <a:spLocks noChangeArrowheads="1"/>
            </p:cNvSpPr>
            <p:nvPr/>
          </p:nvSpPr>
          <p:spPr bwMode="auto">
            <a:xfrm>
              <a:off x="3890" y="3287"/>
              <a:ext cx="146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3333FF"/>
                  </a:solidFill>
                  <a:ea typeface="楷体_GB2312"/>
                </a:rPr>
                <a:t>均匀带电球体</a:t>
              </a:r>
              <a:endParaRPr lang="zh-CN" altLang="en-US" sz="2800">
                <a:ea typeface="楷体_GB2312"/>
              </a:endParaRPr>
            </a:p>
          </p:txBody>
        </p:sp>
        <p:sp>
          <p:nvSpPr>
            <p:cNvPr id="86057" name="Line 14"/>
            <p:cNvSpPr>
              <a:spLocks noChangeShapeType="1"/>
            </p:cNvSpPr>
            <p:nvPr/>
          </p:nvSpPr>
          <p:spPr bwMode="auto">
            <a:xfrm flipH="1">
              <a:off x="4416" y="2592"/>
              <a:ext cx="24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6058" name="Object 15"/>
            <p:cNvGraphicFramePr>
              <a:graphicFrameLocks noChangeAspect="1"/>
            </p:cNvGraphicFramePr>
            <p:nvPr/>
          </p:nvGraphicFramePr>
          <p:xfrm>
            <a:off x="4368" y="2554"/>
            <a:ext cx="254" cy="278"/>
          </p:xfrm>
          <a:graphic>
            <a:graphicData uri="http://schemas.openxmlformats.org/presentationml/2006/ole">
              <mc:AlternateContent xmlns:mc="http://schemas.openxmlformats.org/markup-compatibility/2006">
                <mc:Choice xmlns:v="urn:schemas-microsoft-com:vml" Requires="v">
                  <p:oleObj spid="_x0000_s215573" name="公式" r:id="rId7" imgW="152268" imgH="164957" progId="Equation.3">
                    <p:embed/>
                  </p:oleObj>
                </mc:Choice>
                <mc:Fallback>
                  <p:oleObj name="公式" r:id="rId7" imgW="152268" imgH="164957"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68" y="2554"/>
                          <a:ext cx="254"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86019" name="Text Box 2"/>
          <p:cNvSpPr txBox="1">
            <a:spLocks noChangeArrowheads="1"/>
          </p:cNvSpPr>
          <p:nvPr/>
        </p:nvSpPr>
        <p:spPr bwMode="auto">
          <a:xfrm>
            <a:off x="76200" y="0"/>
            <a:ext cx="5791200" cy="1096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200">
                <a:solidFill>
                  <a:srgbClr val="3333FF"/>
                </a:solidFill>
                <a:ea typeface="楷体_GB2312"/>
              </a:rPr>
              <a:t>例</a:t>
            </a:r>
            <a:r>
              <a:rPr lang="en-US" altLang="zh-CN" sz="2200">
                <a:solidFill>
                  <a:srgbClr val="3333FF"/>
                </a:solidFill>
                <a:ea typeface="楷体_GB2312"/>
              </a:rPr>
              <a:t>2</a:t>
            </a:r>
            <a:r>
              <a:rPr lang="zh-CN" altLang="en-US" sz="2200">
                <a:solidFill>
                  <a:srgbClr val="3333FF"/>
                </a:solidFill>
                <a:ea typeface="楷体_GB2312"/>
              </a:rPr>
              <a:t>、均匀带电球体的场强。</a:t>
            </a:r>
          </a:p>
          <a:p>
            <a:pPr lvl="1" eaLnBrk="1" hangingPunct="1">
              <a:spcBef>
                <a:spcPct val="0"/>
              </a:spcBef>
              <a:buFontTx/>
              <a:buNone/>
            </a:pPr>
            <a:r>
              <a:rPr lang="zh-CN" altLang="en-US" sz="2200">
                <a:ea typeface="楷体_GB2312"/>
              </a:rPr>
              <a:t>设有一半径为</a:t>
            </a:r>
            <a:r>
              <a:rPr lang="en-US" altLang="zh-CN" sz="2200" i="1">
                <a:ea typeface="楷体_GB2312"/>
              </a:rPr>
              <a:t>R</a:t>
            </a:r>
            <a:r>
              <a:rPr lang="zh-CN" altLang="en-US" sz="2200">
                <a:ea typeface="楷体_GB2312"/>
              </a:rPr>
              <a:t>、均匀带电为</a:t>
            </a:r>
            <a:r>
              <a:rPr lang="en-US" altLang="zh-CN" sz="2200" i="1">
                <a:ea typeface="楷体_GB2312"/>
              </a:rPr>
              <a:t>Q</a:t>
            </a:r>
            <a:r>
              <a:rPr lang="zh-CN" altLang="en-US" sz="2200">
                <a:ea typeface="楷体_GB2312"/>
              </a:rPr>
              <a:t>的球体。求球体内部和外部任意点的电场强度。</a:t>
            </a:r>
          </a:p>
        </p:txBody>
      </p:sp>
      <p:sp>
        <p:nvSpPr>
          <p:cNvPr id="174083" name="Oval 3"/>
          <p:cNvSpPr>
            <a:spLocks noChangeArrowheads="1"/>
          </p:cNvSpPr>
          <p:nvPr/>
        </p:nvSpPr>
        <p:spPr bwMode="auto">
          <a:xfrm>
            <a:off x="7212013" y="914400"/>
            <a:ext cx="1066800" cy="990600"/>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174084" name="Oval 4"/>
          <p:cNvSpPr>
            <a:spLocks noChangeArrowheads="1"/>
          </p:cNvSpPr>
          <p:nvPr/>
        </p:nvSpPr>
        <p:spPr bwMode="auto">
          <a:xfrm>
            <a:off x="6478588" y="157163"/>
            <a:ext cx="2505075" cy="2551112"/>
          </a:xfrm>
          <a:prstGeom prst="ellipse">
            <a:avLst/>
          </a:prstGeom>
          <a:noFill/>
          <a:ln w="38100">
            <a:solidFill>
              <a:srgbClr val="FF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pSp>
        <p:nvGrpSpPr>
          <p:cNvPr id="174096" name="Group 16"/>
          <p:cNvGrpSpPr>
            <a:grpSpLocks/>
          </p:cNvGrpSpPr>
          <p:nvPr/>
        </p:nvGrpSpPr>
        <p:grpSpPr bwMode="auto">
          <a:xfrm>
            <a:off x="6778625" y="533400"/>
            <a:ext cx="914400" cy="914400"/>
            <a:chOff x="4080" y="2016"/>
            <a:chExt cx="576" cy="576"/>
          </a:xfrm>
        </p:grpSpPr>
        <p:sp>
          <p:nvSpPr>
            <p:cNvPr id="86047" name="Line 17"/>
            <p:cNvSpPr>
              <a:spLocks noChangeShapeType="1"/>
            </p:cNvSpPr>
            <p:nvPr/>
          </p:nvSpPr>
          <p:spPr bwMode="auto">
            <a:xfrm flipH="1" flipV="1">
              <a:off x="4080" y="2016"/>
              <a:ext cx="576"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6048" name="Object 18"/>
            <p:cNvGraphicFramePr>
              <a:graphicFrameLocks noChangeAspect="1"/>
            </p:cNvGraphicFramePr>
            <p:nvPr/>
          </p:nvGraphicFramePr>
          <p:xfrm>
            <a:off x="4176" y="2064"/>
            <a:ext cx="208" cy="287"/>
          </p:xfrm>
          <a:graphic>
            <a:graphicData uri="http://schemas.openxmlformats.org/presentationml/2006/ole">
              <mc:AlternateContent xmlns:mc="http://schemas.openxmlformats.org/markup-compatibility/2006">
                <mc:Choice xmlns:v="urn:schemas-microsoft-com:vml" Requires="v">
                  <p:oleObj spid="_x0000_s215574" name="公式" r:id="rId9" imgW="114102" imgH="126780" progId="Equation.3">
                    <p:embed/>
                  </p:oleObj>
                </mc:Choice>
                <mc:Fallback>
                  <p:oleObj name="公式" r:id="rId9" imgW="114102" imgH="126780" progId="Equation.3">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76" y="2064"/>
                          <a:ext cx="2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74099" name="Text Box 19"/>
          <p:cNvSpPr txBox="1">
            <a:spLocks noChangeArrowheads="1"/>
          </p:cNvSpPr>
          <p:nvPr/>
        </p:nvSpPr>
        <p:spPr bwMode="auto">
          <a:xfrm>
            <a:off x="152400" y="1295400"/>
            <a:ext cx="5562600" cy="8223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解：以球心到场点的距离为半径作一球面，则通过此球面的电通量为</a:t>
            </a:r>
          </a:p>
        </p:txBody>
      </p:sp>
      <p:graphicFrame>
        <p:nvGraphicFramePr>
          <p:cNvPr id="174100" name="Object 20"/>
          <p:cNvGraphicFramePr>
            <a:graphicFrameLocks noChangeAspect="1"/>
          </p:cNvGraphicFramePr>
          <p:nvPr/>
        </p:nvGraphicFramePr>
        <p:xfrm>
          <a:off x="257175" y="2133600"/>
          <a:ext cx="5049838" cy="827088"/>
        </p:xfrm>
        <a:graphic>
          <a:graphicData uri="http://schemas.openxmlformats.org/presentationml/2006/ole">
            <mc:AlternateContent xmlns:mc="http://schemas.openxmlformats.org/markup-compatibility/2006">
              <mc:Choice xmlns:v="urn:schemas-microsoft-com:vml" Requires="v">
                <p:oleObj spid="_x0000_s215575" name="Equation" r:id="rId11" imgW="2324100" imgH="381000" progId="Equation.DSMT4">
                  <p:embed/>
                </p:oleObj>
              </mc:Choice>
              <mc:Fallback>
                <p:oleObj name="Equation" r:id="rId11" imgW="2324100" imgH="381000" progId="Equation.DSMT4">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7175" y="2133600"/>
                        <a:ext cx="5049838" cy="8270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101" name="Text Box 21"/>
          <p:cNvSpPr txBox="1">
            <a:spLocks noChangeArrowheads="1"/>
          </p:cNvSpPr>
          <p:nvPr/>
        </p:nvSpPr>
        <p:spPr bwMode="auto">
          <a:xfrm>
            <a:off x="228600" y="3048000"/>
            <a:ext cx="5257800" cy="8223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根据高斯定理，通过球面的电通量为球面内包围的电荷</a:t>
            </a:r>
          </a:p>
        </p:txBody>
      </p:sp>
      <p:graphicFrame>
        <p:nvGraphicFramePr>
          <p:cNvPr id="174102" name="Object 22"/>
          <p:cNvGraphicFramePr>
            <a:graphicFrameLocks noChangeAspect="1"/>
          </p:cNvGraphicFramePr>
          <p:nvPr/>
        </p:nvGraphicFramePr>
        <p:xfrm>
          <a:off x="2879725" y="3505200"/>
          <a:ext cx="1784350" cy="584200"/>
        </p:xfrm>
        <a:graphic>
          <a:graphicData uri="http://schemas.openxmlformats.org/presentationml/2006/ole">
            <mc:AlternateContent xmlns:mc="http://schemas.openxmlformats.org/markup-compatibility/2006">
              <mc:Choice xmlns:v="urn:schemas-microsoft-com:vml" Requires="v">
                <p:oleObj spid="_x0000_s215576" name="Equation" r:id="rId13" imgW="698500" imgH="228600" progId="Equation.DSMT4">
                  <p:embed/>
                </p:oleObj>
              </mc:Choice>
              <mc:Fallback>
                <p:oleObj name="Equation" r:id="rId13" imgW="698500" imgH="228600" progId="Equation.DSMT4">
                  <p:embed/>
                  <p:pic>
                    <p:nvPicPr>
                      <p:cNvPr id="0" name="Object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79725" y="3505200"/>
                        <a:ext cx="1784350" cy="584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74103" name="Group 23"/>
          <p:cNvGrpSpPr>
            <a:grpSpLocks/>
          </p:cNvGrpSpPr>
          <p:nvPr/>
        </p:nvGrpSpPr>
        <p:grpSpPr bwMode="auto">
          <a:xfrm>
            <a:off x="6437312" y="3429000"/>
            <a:ext cx="2743200" cy="3194050"/>
            <a:chOff x="3840" y="2160"/>
            <a:chExt cx="1728" cy="2012"/>
          </a:xfrm>
        </p:grpSpPr>
        <p:graphicFrame>
          <p:nvGraphicFramePr>
            <p:cNvPr id="86037" name="Object 24"/>
            <p:cNvGraphicFramePr>
              <a:graphicFrameLocks noChangeAspect="1"/>
            </p:cNvGraphicFramePr>
            <p:nvPr/>
          </p:nvGraphicFramePr>
          <p:xfrm>
            <a:off x="3975" y="2920"/>
            <a:ext cx="258" cy="296"/>
          </p:xfrm>
          <a:graphic>
            <a:graphicData uri="http://schemas.openxmlformats.org/presentationml/2006/ole">
              <mc:AlternateContent xmlns:mc="http://schemas.openxmlformats.org/markup-compatibility/2006">
                <mc:Choice xmlns:v="urn:schemas-microsoft-com:vml" Requires="v">
                  <p:oleObj spid="_x0000_s215577" name="公式" r:id="rId15" imgW="152334" imgH="190417" progId="Equation.3">
                    <p:embed/>
                  </p:oleObj>
                </mc:Choice>
                <mc:Fallback>
                  <p:oleObj name="公式" r:id="rId15" imgW="152334" imgH="190417" progId="Equation.3">
                    <p:embed/>
                    <p:pic>
                      <p:nvPicPr>
                        <p:cNvPr id="0" name="Object 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75" y="2920"/>
                          <a:ext cx="258"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38" name="Oval 25"/>
            <p:cNvSpPr>
              <a:spLocks noChangeArrowheads="1"/>
            </p:cNvSpPr>
            <p:nvPr/>
          </p:nvSpPr>
          <p:spPr bwMode="auto">
            <a:xfrm>
              <a:off x="3840" y="2160"/>
              <a:ext cx="823" cy="744"/>
            </a:xfrm>
            <a:prstGeom prst="ellipse">
              <a:avLst/>
            </a:prstGeom>
            <a:solidFill>
              <a:srgbClr val="CC3300">
                <a:alpha val="50195"/>
              </a:srgbClr>
            </a:solidFill>
            <a:ln w="41275">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86039" name="Line 26"/>
            <p:cNvSpPr>
              <a:spLocks noChangeShapeType="1"/>
            </p:cNvSpPr>
            <p:nvPr/>
          </p:nvSpPr>
          <p:spPr bwMode="auto">
            <a:xfrm>
              <a:off x="3874" y="3847"/>
              <a:ext cx="1411" cy="0"/>
            </a:xfrm>
            <a:prstGeom prst="line">
              <a:avLst/>
            </a:prstGeom>
            <a:noFill/>
            <a:ln w="41275">
              <a:solidFill>
                <a:srgbClr val="3333FF"/>
              </a:solidFill>
              <a:round/>
              <a:headEnd type="none" w="med" len="lg"/>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6040" name="Object 27"/>
            <p:cNvGraphicFramePr>
              <a:graphicFrameLocks noChangeAspect="1"/>
            </p:cNvGraphicFramePr>
            <p:nvPr/>
          </p:nvGraphicFramePr>
          <p:xfrm>
            <a:off x="4704" y="2208"/>
            <a:ext cx="236" cy="288"/>
          </p:xfrm>
          <a:graphic>
            <a:graphicData uri="http://schemas.openxmlformats.org/presentationml/2006/ole">
              <mc:AlternateContent xmlns:mc="http://schemas.openxmlformats.org/markup-compatibility/2006">
                <mc:Choice xmlns:v="urn:schemas-microsoft-com:vml" Requires="v">
                  <p:oleObj spid="_x0000_s215578" name="公式" r:id="rId17" imgW="152268" imgH="203024" progId="Equation.3">
                    <p:embed/>
                  </p:oleObj>
                </mc:Choice>
                <mc:Fallback>
                  <p:oleObj name="公式" r:id="rId17" imgW="152268" imgH="203024" progId="Equation.3">
                    <p:embed/>
                    <p:pic>
                      <p:nvPicPr>
                        <p:cNvPr id="0" name="Object 2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704" y="2208"/>
                          <a:ext cx="2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6041" name="Object 28"/>
            <p:cNvGraphicFramePr>
              <a:graphicFrameLocks noChangeAspect="1"/>
            </p:cNvGraphicFramePr>
            <p:nvPr/>
          </p:nvGraphicFramePr>
          <p:xfrm>
            <a:off x="4368" y="3888"/>
            <a:ext cx="288" cy="284"/>
          </p:xfrm>
          <a:graphic>
            <a:graphicData uri="http://schemas.openxmlformats.org/presentationml/2006/ole">
              <mc:AlternateContent xmlns:mc="http://schemas.openxmlformats.org/markup-compatibility/2006">
                <mc:Choice xmlns:v="urn:schemas-microsoft-com:vml" Requires="v">
                  <p:oleObj spid="_x0000_s215579" name="公式" r:id="rId19" imgW="152268" imgH="164957" progId="Equation.3">
                    <p:embed/>
                  </p:oleObj>
                </mc:Choice>
                <mc:Fallback>
                  <p:oleObj name="公式" r:id="rId19" imgW="152268" imgH="164957" progId="Equation.3">
                    <p:embed/>
                    <p:pic>
                      <p:nvPicPr>
                        <p:cNvPr id="0" name="Object 2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368" y="3888"/>
                          <a:ext cx="288"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42" name="Line 29"/>
            <p:cNvSpPr>
              <a:spLocks noChangeShapeType="1"/>
            </p:cNvSpPr>
            <p:nvPr/>
          </p:nvSpPr>
          <p:spPr bwMode="auto">
            <a:xfrm>
              <a:off x="4244" y="2900"/>
              <a:ext cx="0" cy="947"/>
            </a:xfrm>
            <a:prstGeom prst="line">
              <a:avLst/>
            </a:prstGeom>
            <a:noFill/>
            <a:ln w="41275">
              <a:solidFill>
                <a:srgbClr val="0000FF"/>
              </a:solidFill>
              <a:round/>
              <a:headEnd type="arrow"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3" name="Line 30"/>
            <p:cNvSpPr>
              <a:spLocks noChangeShapeType="1"/>
            </p:cNvSpPr>
            <p:nvPr/>
          </p:nvSpPr>
          <p:spPr bwMode="auto">
            <a:xfrm>
              <a:off x="4656" y="2597"/>
              <a:ext cx="0" cy="1249"/>
            </a:xfrm>
            <a:prstGeom prst="line">
              <a:avLst/>
            </a:prstGeom>
            <a:noFill/>
            <a:ln w="12700">
              <a:solidFill>
                <a:srgbClr val="0000FF"/>
              </a:solidFill>
              <a:prstDash val="sysDot"/>
              <a:round/>
              <a:headEnd type="non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6044" name="Object 31"/>
            <p:cNvGraphicFramePr>
              <a:graphicFrameLocks noChangeAspect="1"/>
            </p:cNvGraphicFramePr>
            <p:nvPr/>
          </p:nvGraphicFramePr>
          <p:xfrm>
            <a:off x="5018" y="3832"/>
            <a:ext cx="294" cy="296"/>
          </p:xfrm>
          <a:graphic>
            <a:graphicData uri="http://schemas.openxmlformats.org/presentationml/2006/ole">
              <mc:AlternateContent xmlns:mc="http://schemas.openxmlformats.org/markup-compatibility/2006">
                <mc:Choice xmlns:v="urn:schemas-microsoft-com:vml" Requires="v">
                  <p:oleObj spid="_x0000_s215580" name="公式" r:id="rId21" imgW="114102" imgH="126780" progId="Equation.3">
                    <p:embed/>
                  </p:oleObj>
                </mc:Choice>
                <mc:Fallback>
                  <p:oleObj name="公式" r:id="rId21" imgW="114102" imgH="126780" progId="Equation.3">
                    <p:embed/>
                    <p:pic>
                      <p:nvPicPr>
                        <p:cNvPr id="0" name="Object 3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018" y="3832"/>
                          <a:ext cx="294"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45" name="Freeform 32"/>
            <p:cNvSpPr>
              <a:spLocks/>
            </p:cNvSpPr>
            <p:nvPr/>
          </p:nvSpPr>
          <p:spPr bwMode="auto">
            <a:xfrm>
              <a:off x="4689" y="3216"/>
              <a:ext cx="879" cy="609"/>
            </a:xfrm>
            <a:custGeom>
              <a:avLst/>
              <a:gdLst>
                <a:gd name="T0" fmla="*/ 0 w 879"/>
                <a:gd name="T1" fmla="*/ 0 h 609"/>
                <a:gd name="T2" fmla="*/ 95 w 879"/>
                <a:gd name="T3" fmla="*/ 216 h 609"/>
                <a:gd name="T4" fmla="*/ 375 w 879"/>
                <a:gd name="T5" fmla="*/ 456 h 609"/>
                <a:gd name="T6" fmla="*/ 879 w 879"/>
                <a:gd name="T7" fmla="*/ 609 h 60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79" h="609">
                  <a:moveTo>
                    <a:pt x="0" y="0"/>
                  </a:moveTo>
                  <a:cubicBezTo>
                    <a:pt x="10" y="35"/>
                    <a:pt x="33" y="140"/>
                    <a:pt x="95" y="216"/>
                  </a:cubicBezTo>
                  <a:cubicBezTo>
                    <a:pt x="157" y="292"/>
                    <a:pt x="236" y="381"/>
                    <a:pt x="375" y="456"/>
                  </a:cubicBezTo>
                  <a:cubicBezTo>
                    <a:pt x="583" y="560"/>
                    <a:pt x="722" y="579"/>
                    <a:pt x="879" y="609"/>
                  </a:cubicBezTo>
                </a:path>
              </a:pathLst>
            </a:custGeom>
            <a:noFill/>
            <a:ln w="41275">
              <a:solidFill>
                <a:srgbClr val="FF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6" name="Line 33"/>
            <p:cNvSpPr>
              <a:spLocks noChangeShapeType="1"/>
            </p:cNvSpPr>
            <p:nvPr/>
          </p:nvSpPr>
          <p:spPr bwMode="auto">
            <a:xfrm flipH="1">
              <a:off x="4272" y="3216"/>
              <a:ext cx="384" cy="624"/>
            </a:xfrm>
            <a:prstGeom prst="line">
              <a:avLst/>
            </a:prstGeom>
            <a:noFill/>
            <a:ln w="412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4114" name="Text Box 34"/>
          <p:cNvSpPr txBox="1">
            <a:spLocks noChangeArrowheads="1"/>
          </p:cNvSpPr>
          <p:nvPr/>
        </p:nvSpPr>
        <p:spPr bwMode="auto">
          <a:xfrm>
            <a:off x="304800" y="3959225"/>
            <a:ext cx="2657475" cy="463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solidFill>
                  <a:srgbClr val="FF0000"/>
                </a:solidFill>
                <a:ea typeface="楷体_GB2312"/>
              </a:rPr>
              <a:t>当场点在球体外时</a:t>
            </a:r>
          </a:p>
        </p:txBody>
      </p:sp>
      <p:graphicFrame>
        <p:nvGraphicFramePr>
          <p:cNvPr id="174115" name="Object 35"/>
          <p:cNvGraphicFramePr>
            <a:graphicFrameLocks noChangeAspect="1"/>
          </p:cNvGraphicFramePr>
          <p:nvPr/>
        </p:nvGraphicFramePr>
        <p:xfrm>
          <a:off x="1371600" y="4572000"/>
          <a:ext cx="1143000" cy="454025"/>
        </p:xfrm>
        <a:graphic>
          <a:graphicData uri="http://schemas.openxmlformats.org/presentationml/2006/ole">
            <mc:AlternateContent xmlns:mc="http://schemas.openxmlformats.org/markup-compatibility/2006">
              <mc:Choice xmlns:v="urn:schemas-microsoft-com:vml" Requires="v">
                <p:oleObj spid="_x0000_s215581" name="公式" r:id="rId23" imgW="393529" imgH="203112" progId="Equation.3">
                  <p:embed/>
                </p:oleObj>
              </mc:Choice>
              <mc:Fallback>
                <p:oleObj name="公式" r:id="rId23" imgW="393529" imgH="203112" progId="Equation.3">
                  <p:embed/>
                  <p:pic>
                    <p:nvPicPr>
                      <p:cNvPr id="0" name="Object 3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371600" y="4572000"/>
                        <a:ext cx="1143000" cy="4540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116" name="Object 36"/>
          <p:cNvGraphicFramePr>
            <a:graphicFrameLocks noChangeAspect="1"/>
          </p:cNvGraphicFramePr>
          <p:nvPr/>
        </p:nvGraphicFramePr>
        <p:xfrm>
          <a:off x="4343400" y="4191000"/>
          <a:ext cx="1828800" cy="1062038"/>
        </p:xfrm>
        <a:graphic>
          <a:graphicData uri="http://schemas.openxmlformats.org/presentationml/2006/ole">
            <mc:AlternateContent xmlns:mc="http://schemas.openxmlformats.org/markup-compatibility/2006">
              <mc:Choice xmlns:v="urn:schemas-microsoft-com:vml" Requires="v">
                <p:oleObj spid="_x0000_s215582" name="公式" r:id="rId25" imgW="761669" imgH="444307" progId="Equation.3">
                  <p:embed/>
                </p:oleObj>
              </mc:Choice>
              <mc:Fallback>
                <p:oleObj name="公式" r:id="rId25" imgW="761669" imgH="444307" progId="Equation.3">
                  <p:embed/>
                  <p:pic>
                    <p:nvPicPr>
                      <p:cNvPr id="0" name="Object 36"/>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343400" y="4191000"/>
                        <a:ext cx="1828800" cy="1062038"/>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117" name="Text Box 37"/>
          <p:cNvSpPr txBox="1">
            <a:spLocks noChangeArrowheads="1"/>
          </p:cNvSpPr>
          <p:nvPr/>
        </p:nvSpPr>
        <p:spPr bwMode="auto">
          <a:xfrm>
            <a:off x="457200" y="5178425"/>
            <a:ext cx="2657475" cy="463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solidFill>
                  <a:srgbClr val="FF0000"/>
                </a:solidFill>
                <a:ea typeface="楷体_GB2312"/>
              </a:rPr>
              <a:t>当场点在球体内时</a:t>
            </a:r>
          </a:p>
        </p:txBody>
      </p:sp>
      <p:graphicFrame>
        <p:nvGraphicFramePr>
          <p:cNvPr id="174118" name="Object 38"/>
          <p:cNvGraphicFramePr>
            <a:graphicFrameLocks noChangeAspect="1"/>
          </p:cNvGraphicFramePr>
          <p:nvPr>
            <p:extLst>
              <p:ext uri="{D42A27DB-BD31-4B8C-83A1-F6EECF244321}">
                <p14:modId xmlns:p14="http://schemas.microsoft.com/office/powerpoint/2010/main" val="3437483215"/>
              </p:ext>
            </p:extLst>
          </p:nvPr>
        </p:nvGraphicFramePr>
        <p:xfrm>
          <a:off x="581645" y="5824448"/>
          <a:ext cx="3263280" cy="811756"/>
        </p:xfrm>
        <a:graphic>
          <a:graphicData uri="http://schemas.openxmlformats.org/presentationml/2006/ole">
            <mc:AlternateContent xmlns:mc="http://schemas.openxmlformats.org/markup-compatibility/2006">
              <mc:Choice xmlns:v="urn:schemas-microsoft-com:vml" Requires="v">
                <p:oleObj spid="_x0000_s215583" name="Equation" r:id="rId27" imgW="2450880" imgH="609480" progId="Equation.DSMT4">
                  <p:embed/>
                </p:oleObj>
              </mc:Choice>
              <mc:Fallback>
                <p:oleObj name="Equation" r:id="rId27" imgW="2450880" imgH="609480" progId="Equation.DSMT4">
                  <p:embed/>
                  <p:pic>
                    <p:nvPicPr>
                      <p:cNvPr id="0" name="Object 38"/>
                      <p:cNvPicPr>
                        <a:picLocks noChangeAspect="1" noChangeArrowheads="1"/>
                      </p:cNvPicPr>
                      <p:nvPr/>
                    </p:nvPicPr>
                    <p:blipFill>
                      <a:blip r:embed="rId28"/>
                      <a:srcRect/>
                      <a:stretch>
                        <a:fillRect/>
                      </a:stretch>
                    </p:blipFill>
                    <p:spPr bwMode="auto">
                      <a:xfrm>
                        <a:off x="581645" y="5824448"/>
                        <a:ext cx="3263280" cy="811756"/>
                      </a:xfrm>
                      <a:prstGeom prst="rect">
                        <a:avLst/>
                      </a:prstGeom>
                      <a:noFill/>
                      <a:ln>
                        <a:noFill/>
                      </a:ln>
                      <a:effectLst/>
                      <a:extLst/>
                    </p:spPr>
                  </p:pic>
                </p:oleObj>
              </mc:Fallback>
            </mc:AlternateContent>
          </a:graphicData>
        </a:graphic>
      </p:graphicFrame>
      <p:graphicFrame>
        <p:nvGraphicFramePr>
          <p:cNvPr id="174119" name="Object 39"/>
          <p:cNvGraphicFramePr>
            <a:graphicFrameLocks noChangeAspect="1"/>
          </p:cNvGraphicFramePr>
          <p:nvPr>
            <p:extLst>
              <p:ext uri="{D42A27DB-BD31-4B8C-83A1-F6EECF244321}">
                <p14:modId xmlns:p14="http://schemas.microsoft.com/office/powerpoint/2010/main" val="3705037303"/>
              </p:ext>
            </p:extLst>
          </p:nvPr>
        </p:nvGraphicFramePr>
        <p:xfrm>
          <a:off x="3990950" y="5589240"/>
          <a:ext cx="2381250" cy="957262"/>
        </p:xfrm>
        <a:graphic>
          <a:graphicData uri="http://schemas.openxmlformats.org/presentationml/2006/ole">
            <mc:AlternateContent xmlns:mc="http://schemas.openxmlformats.org/markup-compatibility/2006">
              <mc:Choice xmlns:v="urn:schemas-microsoft-com:vml" Requires="v">
                <p:oleObj spid="_x0000_s215584" name="Equation" r:id="rId29" imgW="1104840" imgH="444240" progId="Equation.DSMT4">
                  <p:embed/>
                </p:oleObj>
              </mc:Choice>
              <mc:Fallback>
                <p:oleObj name="Equation" r:id="rId29" imgW="1104840" imgH="444240" progId="Equation.DSMT4">
                  <p:embed/>
                  <p:pic>
                    <p:nvPicPr>
                      <p:cNvPr id="0" name="Object 39"/>
                      <p:cNvPicPr>
                        <a:picLocks noChangeAspect="1" noChangeArrowheads="1"/>
                      </p:cNvPicPr>
                      <p:nvPr/>
                    </p:nvPicPr>
                    <p:blipFill>
                      <a:blip r:embed="rId30"/>
                      <a:srcRect/>
                      <a:stretch>
                        <a:fillRect/>
                      </a:stretch>
                    </p:blipFill>
                    <p:spPr bwMode="auto">
                      <a:xfrm>
                        <a:off x="3990950" y="5589240"/>
                        <a:ext cx="2381250" cy="957262"/>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74122" name="Group 42"/>
          <p:cNvGrpSpPr>
            <a:grpSpLocks/>
          </p:cNvGrpSpPr>
          <p:nvPr/>
        </p:nvGrpSpPr>
        <p:grpSpPr bwMode="auto">
          <a:xfrm>
            <a:off x="7667625" y="923925"/>
            <a:ext cx="576263" cy="641350"/>
            <a:chOff x="4830" y="582"/>
            <a:chExt cx="363" cy="404"/>
          </a:xfrm>
        </p:grpSpPr>
        <p:sp>
          <p:nvSpPr>
            <p:cNvPr id="86035" name="Line 40"/>
            <p:cNvSpPr>
              <a:spLocks noChangeShapeType="1"/>
            </p:cNvSpPr>
            <p:nvPr/>
          </p:nvSpPr>
          <p:spPr bwMode="auto">
            <a:xfrm>
              <a:off x="4830" y="890"/>
              <a:ext cx="363" cy="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86036" name="Text Box 41"/>
            <p:cNvSpPr txBox="1">
              <a:spLocks noChangeArrowheads="1"/>
            </p:cNvSpPr>
            <p:nvPr/>
          </p:nvSpPr>
          <p:spPr bwMode="auto">
            <a:xfrm>
              <a:off x="4864" y="582"/>
              <a:ext cx="226" cy="4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i="1">
                  <a:solidFill>
                    <a:schemeClr val="bg1"/>
                  </a:solidFill>
                  <a:ea typeface="楷体_GB2312"/>
                </a:rPr>
                <a:t>r</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grpId="0" nodeType="clickEffect">
                                  <p:stCondLst>
                                    <p:cond delay="0"/>
                                  </p:stCondLst>
                                  <p:childTnLst>
                                    <p:set>
                                      <p:cBhvr>
                                        <p:cTn id="6" dur="1" fill="hold">
                                          <p:stCondLst>
                                            <p:cond delay="0"/>
                                          </p:stCondLst>
                                        </p:cTn>
                                        <p:tgtEl>
                                          <p:spTgt spid="174083"/>
                                        </p:tgtEl>
                                        <p:attrNameLst>
                                          <p:attrName>style.visibility</p:attrName>
                                        </p:attrNameLst>
                                      </p:cBhvr>
                                      <p:to>
                                        <p:strVal val="visible"/>
                                      </p:to>
                                    </p:set>
                                    <p:anim calcmode="lin" valueType="num">
                                      <p:cBhvr>
                                        <p:cTn id="7" dur="500" fill="hold"/>
                                        <p:tgtEl>
                                          <p:spTgt spid="174083"/>
                                        </p:tgtEl>
                                        <p:attrNameLst>
                                          <p:attrName>ppt_w</p:attrName>
                                        </p:attrNameLst>
                                      </p:cBhvr>
                                      <p:tavLst>
                                        <p:tav tm="0">
                                          <p:val>
                                            <p:strVal val="2/3*#ppt_w"/>
                                          </p:val>
                                        </p:tav>
                                        <p:tav tm="100000">
                                          <p:val>
                                            <p:strVal val="#ppt_w"/>
                                          </p:val>
                                        </p:tav>
                                      </p:tavLst>
                                    </p:anim>
                                    <p:anim calcmode="lin" valueType="num">
                                      <p:cBhvr>
                                        <p:cTn id="8" dur="500" fill="hold"/>
                                        <p:tgtEl>
                                          <p:spTgt spid="174083"/>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nodeType="clickEffect">
                                  <p:stCondLst>
                                    <p:cond delay="0"/>
                                  </p:stCondLst>
                                  <p:childTnLst>
                                    <p:set>
                                      <p:cBhvr>
                                        <p:cTn id="12" dur="1" fill="hold">
                                          <p:stCondLst>
                                            <p:cond delay="0"/>
                                          </p:stCondLst>
                                        </p:cTn>
                                        <p:tgtEl>
                                          <p:spTgt spid="174122"/>
                                        </p:tgtEl>
                                        <p:attrNameLst>
                                          <p:attrName>style.visibility</p:attrName>
                                        </p:attrNameLst>
                                      </p:cBhvr>
                                      <p:to>
                                        <p:strVal val="visible"/>
                                      </p:to>
                                    </p:set>
                                    <p:animEffect transition="in" filter="diamond(in)">
                                      <p:cBhvr>
                                        <p:cTn id="13" dur="2000"/>
                                        <p:tgtEl>
                                          <p:spTgt spid="17412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272" fill="hold" grpId="0" nodeType="clickEffect">
                                  <p:stCondLst>
                                    <p:cond delay="0"/>
                                  </p:stCondLst>
                                  <p:childTnLst>
                                    <p:set>
                                      <p:cBhvr>
                                        <p:cTn id="17" dur="1" fill="hold">
                                          <p:stCondLst>
                                            <p:cond delay="0"/>
                                          </p:stCondLst>
                                        </p:cTn>
                                        <p:tgtEl>
                                          <p:spTgt spid="174084"/>
                                        </p:tgtEl>
                                        <p:attrNameLst>
                                          <p:attrName>style.visibility</p:attrName>
                                        </p:attrNameLst>
                                      </p:cBhvr>
                                      <p:to>
                                        <p:strVal val="visible"/>
                                      </p:to>
                                    </p:set>
                                    <p:anim calcmode="lin" valueType="num">
                                      <p:cBhvr>
                                        <p:cTn id="18" dur="500" fill="hold"/>
                                        <p:tgtEl>
                                          <p:spTgt spid="174084"/>
                                        </p:tgtEl>
                                        <p:attrNameLst>
                                          <p:attrName>ppt_w</p:attrName>
                                        </p:attrNameLst>
                                      </p:cBhvr>
                                      <p:tavLst>
                                        <p:tav tm="0">
                                          <p:val>
                                            <p:strVal val="2/3*#ppt_w"/>
                                          </p:val>
                                        </p:tav>
                                        <p:tav tm="100000">
                                          <p:val>
                                            <p:strVal val="#ppt_w"/>
                                          </p:val>
                                        </p:tav>
                                      </p:tavLst>
                                    </p:anim>
                                    <p:anim calcmode="lin" valueType="num">
                                      <p:cBhvr>
                                        <p:cTn id="19" dur="500" fill="hold"/>
                                        <p:tgtEl>
                                          <p:spTgt spid="174084"/>
                                        </p:tgtEl>
                                        <p:attrNameLst>
                                          <p:attrName>ppt_h</p:attrName>
                                        </p:attrNameLst>
                                      </p:cBhvr>
                                      <p:tavLst>
                                        <p:tav tm="0">
                                          <p:val>
                                            <p:strVal val="2/3*#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4" fill="hold" nodeType="clickEffect">
                                  <p:stCondLst>
                                    <p:cond delay="0"/>
                                  </p:stCondLst>
                                  <p:childTnLst>
                                    <p:set>
                                      <p:cBhvr>
                                        <p:cTn id="23" dur="1" fill="hold">
                                          <p:stCondLst>
                                            <p:cond delay="0"/>
                                          </p:stCondLst>
                                        </p:cTn>
                                        <p:tgtEl>
                                          <p:spTgt spid="174096"/>
                                        </p:tgtEl>
                                        <p:attrNameLst>
                                          <p:attrName>style.visibility</p:attrName>
                                        </p:attrNameLst>
                                      </p:cBhvr>
                                      <p:to>
                                        <p:strVal val="visible"/>
                                      </p:to>
                                    </p:set>
                                    <p:animEffect transition="in" filter="wipe(down)">
                                      <p:cBhvr>
                                        <p:cTn id="24" dur="500"/>
                                        <p:tgtEl>
                                          <p:spTgt spid="17409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iterate type="lt">
                                    <p:tmPct val="100000"/>
                                  </p:iterate>
                                  <p:childTnLst>
                                    <p:set>
                                      <p:cBhvr>
                                        <p:cTn id="28" dur="1" fill="hold">
                                          <p:stCondLst>
                                            <p:cond delay="0"/>
                                          </p:stCondLst>
                                        </p:cTn>
                                        <p:tgtEl>
                                          <p:spTgt spid="174099"/>
                                        </p:tgtEl>
                                        <p:attrNameLst>
                                          <p:attrName>style.visibility</p:attrName>
                                        </p:attrNameLst>
                                      </p:cBhvr>
                                      <p:to>
                                        <p:strVal val="visible"/>
                                      </p:to>
                                    </p:set>
                                    <p:animEffect transition="in" filter="wipe(left)">
                                      <p:cBhvr>
                                        <p:cTn id="29" dur="75"/>
                                        <p:tgtEl>
                                          <p:spTgt spid="17409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174100"/>
                                        </p:tgtEl>
                                        <p:attrNameLst>
                                          <p:attrName>style.visibility</p:attrName>
                                        </p:attrNameLst>
                                      </p:cBhvr>
                                      <p:to>
                                        <p:strVal val="visible"/>
                                      </p:to>
                                    </p:set>
                                    <p:animEffect transition="in" filter="wipe(left)">
                                      <p:cBhvr>
                                        <p:cTn id="34" dur="500"/>
                                        <p:tgtEl>
                                          <p:spTgt spid="17410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iterate type="lt">
                                    <p:tmPct val="100000"/>
                                  </p:iterate>
                                  <p:childTnLst>
                                    <p:set>
                                      <p:cBhvr>
                                        <p:cTn id="38" dur="1" fill="hold">
                                          <p:stCondLst>
                                            <p:cond delay="0"/>
                                          </p:stCondLst>
                                        </p:cTn>
                                        <p:tgtEl>
                                          <p:spTgt spid="174101"/>
                                        </p:tgtEl>
                                        <p:attrNameLst>
                                          <p:attrName>style.visibility</p:attrName>
                                        </p:attrNameLst>
                                      </p:cBhvr>
                                      <p:to>
                                        <p:strVal val="visible"/>
                                      </p:to>
                                    </p:set>
                                    <p:animEffect transition="in" filter="wipe(left)">
                                      <p:cBhvr>
                                        <p:cTn id="39" dur="75"/>
                                        <p:tgtEl>
                                          <p:spTgt spid="17410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174102"/>
                                        </p:tgtEl>
                                        <p:attrNameLst>
                                          <p:attrName>style.visibility</p:attrName>
                                        </p:attrNameLst>
                                      </p:cBhvr>
                                      <p:to>
                                        <p:strVal val="visible"/>
                                      </p:to>
                                    </p:set>
                                    <p:animEffect transition="in" filter="wipe(left)">
                                      <p:cBhvr>
                                        <p:cTn id="44" dur="500"/>
                                        <p:tgtEl>
                                          <p:spTgt spid="17410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74114"/>
                                        </p:tgtEl>
                                        <p:attrNameLst>
                                          <p:attrName>style.visibility</p:attrName>
                                        </p:attrNameLst>
                                      </p:cBhvr>
                                      <p:to>
                                        <p:strVal val="visible"/>
                                      </p:to>
                                    </p:set>
                                    <p:animEffect transition="in" filter="wipe(left)">
                                      <p:cBhvr>
                                        <p:cTn id="49" dur="500"/>
                                        <p:tgtEl>
                                          <p:spTgt spid="174114"/>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174115"/>
                                        </p:tgtEl>
                                        <p:attrNameLst>
                                          <p:attrName>style.visibility</p:attrName>
                                        </p:attrNameLst>
                                      </p:cBhvr>
                                      <p:to>
                                        <p:strVal val="visible"/>
                                      </p:to>
                                    </p:set>
                                    <p:animEffect transition="in" filter="wipe(left)">
                                      <p:cBhvr>
                                        <p:cTn id="54" dur="500"/>
                                        <p:tgtEl>
                                          <p:spTgt spid="174115"/>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174116"/>
                                        </p:tgtEl>
                                        <p:attrNameLst>
                                          <p:attrName>style.visibility</p:attrName>
                                        </p:attrNameLst>
                                      </p:cBhvr>
                                      <p:to>
                                        <p:strVal val="visible"/>
                                      </p:to>
                                    </p:set>
                                    <p:animEffect transition="in" filter="wipe(left)">
                                      <p:cBhvr>
                                        <p:cTn id="59" dur="500"/>
                                        <p:tgtEl>
                                          <p:spTgt spid="174116"/>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74117"/>
                                        </p:tgtEl>
                                        <p:attrNameLst>
                                          <p:attrName>style.visibility</p:attrName>
                                        </p:attrNameLst>
                                      </p:cBhvr>
                                      <p:to>
                                        <p:strVal val="visible"/>
                                      </p:to>
                                    </p:set>
                                    <p:animEffect transition="in" filter="wipe(left)">
                                      <p:cBhvr>
                                        <p:cTn id="64" dur="500"/>
                                        <p:tgtEl>
                                          <p:spTgt spid="174117"/>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174118"/>
                                        </p:tgtEl>
                                        <p:attrNameLst>
                                          <p:attrName>style.visibility</p:attrName>
                                        </p:attrNameLst>
                                      </p:cBhvr>
                                      <p:to>
                                        <p:strVal val="visible"/>
                                      </p:to>
                                    </p:set>
                                    <p:animEffect transition="in" filter="wipe(left)">
                                      <p:cBhvr>
                                        <p:cTn id="69" dur="500"/>
                                        <p:tgtEl>
                                          <p:spTgt spid="174118"/>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174119"/>
                                        </p:tgtEl>
                                        <p:attrNameLst>
                                          <p:attrName>style.visibility</p:attrName>
                                        </p:attrNameLst>
                                      </p:cBhvr>
                                      <p:to>
                                        <p:strVal val="visible"/>
                                      </p:to>
                                    </p:set>
                                    <p:animEffect transition="in" filter="wipe(left)">
                                      <p:cBhvr>
                                        <p:cTn id="74" dur="500"/>
                                        <p:tgtEl>
                                          <p:spTgt spid="174119"/>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174103"/>
                                        </p:tgtEl>
                                        <p:attrNameLst>
                                          <p:attrName>style.visibility</p:attrName>
                                        </p:attrNameLst>
                                      </p:cBhvr>
                                      <p:to>
                                        <p:strVal val="visible"/>
                                      </p:to>
                                    </p:set>
                                    <p:animEffect transition="in" filter="wipe(left)">
                                      <p:cBhvr>
                                        <p:cTn id="79" dur="500"/>
                                        <p:tgtEl>
                                          <p:spTgt spid="174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3" grpId="0" animBg="1"/>
      <p:bldP spid="174084" grpId="0" animBg="1"/>
      <p:bldP spid="174099" grpId="0" autoUpdateAnimBg="0"/>
      <p:bldP spid="174101" grpId="0" autoUpdateAnimBg="0"/>
      <p:bldP spid="174114" grpId="0" autoUpdateAnimBg="0"/>
      <p:bldP spid="174117"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F8E202A-4B81-46E8-8C40-0636A3142181}"/>
              </a:ext>
            </a:extLst>
          </p:cNvPr>
          <p:cNvPicPr>
            <a:picLocks noChangeAspect="1"/>
          </p:cNvPicPr>
          <p:nvPr/>
        </p:nvPicPr>
        <p:blipFill rotWithShape="1">
          <a:blip r:embed="rId2"/>
          <a:srcRect l="9838" t="17801" r="31888" b="6600"/>
          <a:stretch/>
        </p:blipFill>
        <p:spPr>
          <a:xfrm>
            <a:off x="15889" y="97033"/>
            <a:ext cx="9265029" cy="6760967"/>
          </a:xfrm>
          <a:prstGeom prst="rect">
            <a:avLst/>
          </a:prstGeom>
        </p:spPr>
      </p:pic>
    </p:spTree>
    <p:extLst>
      <p:ext uri="{BB962C8B-B14F-4D97-AF65-F5344CB8AC3E}">
        <p14:creationId xmlns:p14="http://schemas.microsoft.com/office/powerpoint/2010/main" val="3108774146"/>
      </p:ext>
    </p:extLst>
  </p:cSld>
  <p:clrMapOvr>
    <a:masterClrMapping/>
  </p:clrMapOvr>
  <p:transition>
    <p:rand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Text Box 2"/>
          <p:cNvSpPr txBox="1">
            <a:spLocks noChangeArrowheads="1"/>
          </p:cNvSpPr>
          <p:nvPr/>
        </p:nvSpPr>
        <p:spPr bwMode="auto">
          <a:xfrm>
            <a:off x="36513" y="25400"/>
            <a:ext cx="1546225" cy="368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1"/>
                </a:solidFill>
                <a:miter lim="800000"/>
                <a:headEnd/>
                <a:tailEnd/>
              </a14:hiddenLine>
            </a:ext>
          </a:extLst>
        </p:spPr>
        <p:txBody>
          <a:bodyPr wrap="none" lIns="0" tIns="0" rIns="0" bIns="0" anchor="ctr" anchorCtr="1">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solidFill>
                  <a:srgbClr val="FF0000"/>
                </a:solidFill>
                <a:ea typeface="楷体_GB2312"/>
              </a:rPr>
              <a:t>【</a:t>
            </a:r>
            <a:r>
              <a:rPr lang="zh-CN" altLang="en-US" sz="2400">
                <a:solidFill>
                  <a:srgbClr val="FF0000"/>
                </a:solidFill>
                <a:ea typeface="楷体_GB2312"/>
              </a:rPr>
              <a:t>讨论</a:t>
            </a:r>
            <a:r>
              <a:rPr lang="en-US" altLang="zh-CN" sz="2400">
                <a:solidFill>
                  <a:srgbClr val="FF0000"/>
                </a:solidFill>
                <a:ea typeface="楷体_GB2312"/>
              </a:rPr>
              <a:t>】</a:t>
            </a:r>
            <a:r>
              <a:rPr lang="zh-CN" altLang="en-US" sz="2400">
                <a:solidFill>
                  <a:srgbClr val="FF0000"/>
                </a:solidFill>
                <a:ea typeface="楷体_GB2312"/>
              </a:rPr>
              <a:t>：</a:t>
            </a:r>
          </a:p>
        </p:txBody>
      </p:sp>
      <p:sp>
        <p:nvSpPr>
          <p:cNvPr id="205827" name="Text Box 3"/>
          <p:cNvSpPr txBox="1">
            <a:spLocks noChangeArrowheads="1"/>
          </p:cNvSpPr>
          <p:nvPr/>
        </p:nvSpPr>
        <p:spPr bwMode="auto">
          <a:xfrm>
            <a:off x="0" y="692150"/>
            <a:ext cx="9144000" cy="2290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Clr>
                <a:srgbClr val="66FF33"/>
              </a:buClr>
              <a:buFontTx/>
              <a:buAutoNum type="arabicPeriod"/>
            </a:pPr>
            <a:r>
              <a:rPr lang="zh-CN" altLang="en-US" sz="2400">
                <a:ea typeface="楷体_GB2312"/>
              </a:rPr>
              <a:t>高斯面的选取；</a:t>
            </a:r>
            <a:r>
              <a:rPr lang="en-US" altLang="zh-CN" sz="2400">
                <a:ea typeface="楷体_GB2312"/>
              </a:rPr>
              <a:t>(</a:t>
            </a:r>
            <a:r>
              <a:rPr lang="zh-CN" altLang="en-US" sz="2400">
                <a:ea typeface="楷体_GB2312"/>
              </a:rPr>
              <a:t>球对称，过</a:t>
            </a:r>
            <a:r>
              <a:rPr lang="en-US" altLang="zh-CN" sz="2400" i="1">
                <a:ea typeface="楷体_GB2312"/>
              </a:rPr>
              <a:t>P </a:t>
            </a:r>
            <a:r>
              <a:rPr lang="zh-CN" altLang="en-US" sz="2400">
                <a:ea typeface="楷体_GB2312"/>
              </a:rPr>
              <a:t>点）</a:t>
            </a:r>
          </a:p>
          <a:p>
            <a:pPr eaLnBrk="1" hangingPunct="1">
              <a:lnSpc>
                <a:spcPct val="120000"/>
              </a:lnSpc>
              <a:spcBef>
                <a:spcPct val="0"/>
              </a:spcBef>
              <a:buClr>
                <a:srgbClr val="66FF33"/>
              </a:buClr>
              <a:buFontTx/>
              <a:buAutoNum type="arabicPeriod"/>
            </a:pPr>
            <a:r>
              <a:rPr lang="zh-CN" altLang="en-US" sz="2400">
                <a:ea typeface="楷体_GB2312"/>
              </a:rPr>
              <a:t>对称分析；（</a:t>
            </a:r>
            <a:r>
              <a:rPr lang="en-US" altLang="zh-CN" sz="2400" i="1">
                <a:ea typeface="楷体_GB2312"/>
              </a:rPr>
              <a:t>E </a:t>
            </a:r>
            <a:r>
              <a:rPr lang="zh-CN" altLang="en-US" sz="2400">
                <a:ea typeface="楷体_GB2312"/>
              </a:rPr>
              <a:t>为常量，</a:t>
            </a:r>
            <a:r>
              <a:rPr lang="en-US" altLang="zh-CN" sz="2800">
                <a:ea typeface="楷体_GB2312"/>
              </a:rPr>
              <a:t>cos</a:t>
            </a:r>
            <a:r>
              <a:rPr lang="en-US" altLang="zh-CN" sz="2800" i="1">
                <a:cs typeface="Times New Roman" panose="02020603050405020304" pitchFamily="18" charset="0"/>
              </a:rPr>
              <a:t>θ</a:t>
            </a:r>
            <a:r>
              <a:rPr lang="en-US" altLang="zh-CN" sz="2800">
                <a:cs typeface="Times New Roman" panose="02020603050405020304" pitchFamily="18" charset="0"/>
              </a:rPr>
              <a:t> </a:t>
            </a:r>
            <a:r>
              <a:rPr lang="zh-CN" altLang="en-US" sz="2400">
                <a:ea typeface="楷体_GB2312"/>
              </a:rPr>
              <a:t>为常量）</a:t>
            </a:r>
          </a:p>
          <a:p>
            <a:pPr eaLnBrk="1" hangingPunct="1">
              <a:lnSpc>
                <a:spcPct val="120000"/>
              </a:lnSpc>
              <a:spcBef>
                <a:spcPct val="0"/>
              </a:spcBef>
              <a:buClr>
                <a:srgbClr val="66FF33"/>
              </a:buClr>
              <a:buFontTx/>
              <a:buAutoNum type="arabicPeriod"/>
            </a:pPr>
            <a:r>
              <a:rPr lang="zh-CN" altLang="en-US" sz="2400">
                <a:ea typeface="楷体_GB2312"/>
              </a:rPr>
              <a:t>同类问题：多重球面、球壳、球体电荷，电荷非均匀分布等；</a:t>
            </a:r>
          </a:p>
          <a:p>
            <a:pPr eaLnBrk="1" hangingPunct="1">
              <a:lnSpc>
                <a:spcPct val="120000"/>
              </a:lnSpc>
              <a:spcBef>
                <a:spcPct val="0"/>
              </a:spcBef>
              <a:buClr>
                <a:srgbClr val="66FF33"/>
              </a:buClr>
              <a:buFontTx/>
              <a:buAutoNum type="arabicPeriod" startAt="4"/>
            </a:pPr>
            <a:r>
              <a:rPr lang="zh-CN" altLang="en-US" sz="2400">
                <a:ea typeface="楷体_GB2312"/>
              </a:rPr>
              <a:t>不同心球形电荷，可用场强叠加原理和高斯定理求解；</a:t>
            </a:r>
          </a:p>
          <a:p>
            <a:pPr eaLnBrk="1" hangingPunct="1">
              <a:lnSpc>
                <a:spcPct val="120000"/>
              </a:lnSpc>
              <a:spcBef>
                <a:spcPct val="0"/>
              </a:spcBef>
              <a:buClr>
                <a:srgbClr val="66FF33"/>
              </a:buClr>
              <a:buFontTx/>
              <a:buAutoNum type="arabicPeriod" startAt="4"/>
            </a:pPr>
            <a:r>
              <a:rPr lang="zh-CN" altLang="en-US" sz="2400">
                <a:ea typeface="楷体_GB2312"/>
              </a:rPr>
              <a:t>特殊解法：补偿法（根据场强叠加原理）。</a:t>
            </a:r>
          </a:p>
        </p:txBody>
      </p:sp>
      <p:pic>
        <p:nvPicPr>
          <p:cNvPr id="87044" name="Picture 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044" y="3281363"/>
            <a:ext cx="8189912" cy="31686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1">
            <a:extLst>
              <a:ext uri="{FF2B5EF4-FFF2-40B4-BE49-F238E27FC236}">
                <a16:creationId xmlns:a16="http://schemas.microsoft.com/office/drawing/2014/main" id="{061FADC5-CDDA-4985-8429-6E27C41C9C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3281363"/>
            <a:ext cx="8189912" cy="31686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5826">
                                            <p:txEl>
                                              <p:pRg st="0" end="0"/>
                                            </p:txEl>
                                          </p:spTgt>
                                        </p:tgtEl>
                                        <p:attrNameLst>
                                          <p:attrName>style.visibility</p:attrName>
                                        </p:attrNameLst>
                                      </p:cBhvr>
                                      <p:to>
                                        <p:strVal val="visible"/>
                                      </p:to>
                                    </p:set>
                                    <p:animEffect transition="in" filter="wipe(left)">
                                      <p:cBhvr>
                                        <p:cTn id="7" dur="500"/>
                                        <p:tgtEl>
                                          <p:spTgt spid="20582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5827">
                                            <p:txEl>
                                              <p:pRg st="0" end="0"/>
                                            </p:txEl>
                                          </p:spTgt>
                                        </p:tgtEl>
                                        <p:attrNameLst>
                                          <p:attrName>style.visibility</p:attrName>
                                        </p:attrNameLst>
                                      </p:cBhvr>
                                      <p:to>
                                        <p:strVal val="visible"/>
                                      </p:to>
                                    </p:set>
                                    <p:animEffect transition="in" filter="wipe(left)">
                                      <p:cBhvr>
                                        <p:cTn id="12" dur="500"/>
                                        <p:tgtEl>
                                          <p:spTgt spid="20582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5827">
                                            <p:txEl>
                                              <p:pRg st="1" end="1"/>
                                            </p:txEl>
                                          </p:spTgt>
                                        </p:tgtEl>
                                        <p:attrNameLst>
                                          <p:attrName>style.visibility</p:attrName>
                                        </p:attrNameLst>
                                      </p:cBhvr>
                                      <p:to>
                                        <p:strVal val="visible"/>
                                      </p:to>
                                    </p:set>
                                    <p:animEffect transition="in" filter="wipe(left)">
                                      <p:cBhvr>
                                        <p:cTn id="17" dur="500"/>
                                        <p:tgtEl>
                                          <p:spTgt spid="20582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5827">
                                            <p:txEl>
                                              <p:pRg st="2" end="2"/>
                                            </p:txEl>
                                          </p:spTgt>
                                        </p:tgtEl>
                                        <p:attrNameLst>
                                          <p:attrName>style.visibility</p:attrName>
                                        </p:attrNameLst>
                                      </p:cBhvr>
                                      <p:to>
                                        <p:strVal val="visible"/>
                                      </p:to>
                                    </p:set>
                                    <p:animEffect transition="in" filter="wipe(left)">
                                      <p:cBhvr>
                                        <p:cTn id="22" dur="500"/>
                                        <p:tgtEl>
                                          <p:spTgt spid="205827">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5827">
                                            <p:txEl>
                                              <p:pRg st="3" end="3"/>
                                            </p:txEl>
                                          </p:spTgt>
                                        </p:tgtEl>
                                        <p:attrNameLst>
                                          <p:attrName>style.visibility</p:attrName>
                                        </p:attrNameLst>
                                      </p:cBhvr>
                                      <p:to>
                                        <p:strVal val="visible"/>
                                      </p:to>
                                    </p:set>
                                    <p:animEffect transition="in" filter="wipe(left)">
                                      <p:cBhvr>
                                        <p:cTn id="27" dur="500"/>
                                        <p:tgtEl>
                                          <p:spTgt spid="205827">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5827">
                                            <p:txEl>
                                              <p:pRg st="4" end="4"/>
                                            </p:txEl>
                                          </p:spTgt>
                                        </p:tgtEl>
                                        <p:attrNameLst>
                                          <p:attrName>style.visibility</p:attrName>
                                        </p:attrNameLst>
                                      </p:cBhvr>
                                      <p:to>
                                        <p:strVal val="visible"/>
                                      </p:to>
                                    </p:set>
                                    <p:animEffect transition="in" filter="wipe(left)">
                                      <p:cBhvr>
                                        <p:cTn id="32" dur="500"/>
                                        <p:tgtEl>
                                          <p:spTgt spid="2058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6" grpId="0" build="p" autoUpdateAnimBg="0"/>
      <p:bldP spid="205827" grpId="0" build="p"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7" name="Text Box 3"/>
          <p:cNvSpPr txBox="1">
            <a:spLocks noChangeArrowheads="1"/>
          </p:cNvSpPr>
          <p:nvPr/>
        </p:nvSpPr>
        <p:spPr bwMode="auto">
          <a:xfrm>
            <a:off x="292729" y="786317"/>
            <a:ext cx="4449232" cy="208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None/>
            </a:pPr>
            <a:r>
              <a:rPr lang="en-US" altLang="zh-CN" sz="2400">
                <a:solidFill>
                  <a:srgbClr val="FF3300"/>
                </a:solidFill>
                <a:ea typeface="楷体_GB2312"/>
              </a:rPr>
              <a:t>2</a:t>
            </a:r>
            <a:r>
              <a:rPr lang="zh-CN" altLang="en-US" sz="2400">
                <a:solidFill>
                  <a:srgbClr val="FF3300"/>
                </a:solidFill>
                <a:ea typeface="楷体_GB2312"/>
              </a:rPr>
              <a:t>）、轴对称分布：</a:t>
            </a:r>
            <a:r>
              <a:rPr lang="zh-CN" altLang="en-US" sz="2400">
                <a:ea typeface="楷体_GB2312"/>
              </a:rPr>
              <a:t>包括无限长均匀带电</a:t>
            </a:r>
            <a:r>
              <a:rPr lang="zh-CN" altLang="en-US" sz="2400">
                <a:solidFill>
                  <a:srgbClr val="FF0000"/>
                </a:solidFill>
                <a:ea typeface="楷体_GB2312"/>
              </a:rPr>
              <a:t>直线</a:t>
            </a:r>
            <a:r>
              <a:rPr lang="zh-CN" altLang="en-US" sz="2400">
                <a:ea typeface="楷体_GB2312"/>
              </a:rPr>
              <a:t>，</a:t>
            </a:r>
            <a:r>
              <a:rPr lang="zh-CN" altLang="en-US" sz="2400">
                <a:solidFill>
                  <a:srgbClr val="FF0000"/>
                </a:solidFill>
                <a:ea typeface="楷体_GB2312"/>
              </a:rPr>
              <a:t>多重圆柱形</a:t>
            </a:r>
            <a:r>
              <a:rPr lang="zh-CN" altLang="en-US" sz="2400">
                <a:ea typeface="楷体_GB2312"/>
              </a:rPr>
              <a:t>和</a:t>
            </a:r>
            <a:r>
              <a:rPr lang="zh-CN" altLang="en-US" sz="2400">
                <a:solidFill>
                  <a:srgbClr val="FF0000"/>
                </a:solidFill>
                <a:ea typeface="楷体_GB2312"/>
              </a:rPr>
              <a:t>非均匀圆柱体</a:t>
            </a:r>
            <a:r>
              <a:rPr lang="zh-CN" altLang="en-US" sz="2400">
                <a:ea typeface="楷体_GB2312"/>
              </a:rPr>
              <a:t>等</a:t>
            </a:r>
            <a:endParaRPr lang="en-US" altLang="zh-CN" sz="2400">
              <a:ea typeface="楷体_GB2312"/>
            </a:endParaRPr>
          </a:p>
          <a:p>
            <a:pPr eaLnBrk="1" hangingPunct="1">
              <a:buNone/>
            </a:pPr>
            <a:endParaRPr lang="zh-CN" altLang="en-US" sz="2400">
              <a:ea typeface="楷体_GB2312"/>
            </a:endParaRPr>
          </a:p>
          <a:p>
            <a:pPr eaLnBrk="1" hangingPunct="1">
              <a:buFontTx/>
              <a:buNone/>
            </a:pPr>
            <a:endParaRPr lang="zh-CN" altLang="en-US" sz="2400">
              <a:ea typeface="楷体_GB2312"/>
            </a:endParaRPr>
          </a:p>
        </p:txBody>
      </p:sp>
      <p:grpSp>
        <p:nvGrpSpPr>
          <p:cNvPr id="29" name="Group 4">
            <a:extLst>
              <a:ext uri="{FF2B5EF4-FFF2-40B4-BE49-F238E27FC236}">
                <a16:creationId xmlns:a16="http://schemas.microsoft.com/office/drawing/2014/main" id="{599F69D6-010C-4365-B1A2-70605A3506E5}"/>
              </a:ext>
            </a:extLst>
          </p:cNvPr>
          <p:cNvGrpSpPr>
            <a:grpSpLocks/>
          </p:cNvGrpSpPr>
          <p:nvPr/>
        </p:nvGrpSpPr>
        <p:grpSpPr bwMode="auto">
          <a:xfrm>
            <a:off x="5292080" y="207580"/>
            <a:ext cx="1728192" cy="3244198"/>
            <a:chOff x="3984" y="864"/>
            <a:chExt cx="1632" cy="2496"/>
          </a:xfrm>
        </p:grpSpPr>
        <p:graphicFrame>
          <p:nvGraphicFramePr>
            <p:cNvPr id="30" name="Object 5">
              <a:extLst>
                <a:ext uri="{FF2B5EF4-FFF2-40B4-BE49-F238E27FC236}">
                  <a16:creationId xmlns:a16="http://schemas.microsoft.com/office/drawing/2014/main" id="{252630F4-9885-413C-A6DB-A22E74DCD29C}"/>
                </a:ext>
              </a:extLst>
            </p:cNvPr>
            <p:cNvGraphicFramePr>
              <a:graphicFrameLocks noChangeAspect="1"/>
            </p:cNvGraphicFramePr>
            <p:nvPr/>
          </p:nvGraphicFramePr>
          <p:xfrm>
            <a:off x="5349" y="1587"/>
            <a:ext cx="267" cy="336"/>
          </p:xfrm>
          <a:graphic>
            <a:graphicData uri="http://schemas.openxmlformats.org/presentationml/2006/ole">
              <mc:AlternateContent xmlns:mc="http://schemas.openxmlformats.org/markup-compatibility/2006">
                <mc:Choice xmlns:v="urn:schemas-microsoft-com:vml" Requires="v">
                  <p:oleObj spid="_x0000_s231536" name="公式" r:id="rId3" imgW="152334" imgH="190417" progId="Equation.3">
                    <p:embed/>
                  </p:oleObj>
                </mc:Choice>
                <mc:Fallback>
                  <p:oleObj name="公式" r:id="rId3" imgW="152334" imgH="190417" progId="Equation.3">
                    <p:embed/>
                    <p:pic>
                      <p:nvPicPr>
                        <p:cNvPr id="8808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9" y="1587"/>
                          <a:ext cx="267"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 name="Oval 6">
              <a:extLst>
                <a:ext uri="{FF2B5EF4-FFF2-40B4-BE49-F238E27FC236}">
                  <a16:creationId xmlns:a16="http://schemas.microsoft.com/office/drawing/2014/main" id="{B983B8CE-08B8-4648-9099-69D33E5707F1}"/>
                </a:ext>
              </a:extLst>
            </p:cNvPr>
            <p:cNvSpPr>
              <a:spLocks noChangeArrowheads="1"/>
            </p:cNvSpPr>
            <p:nvPr/>
          </p:nvSpPr>
          <p:spPr bwMode="auto">
            <a:xfrm>
              <a:off x="4378" y="1354"/>
              <a:ext cx="823" cy="352"/>
            </a:xfrm>
            <a:prstGeom prst="ellipse">
              <a:avLst/>
            </a:prstGeom>
            <a:solidFill>
              <a:srgbClr val="00CC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32" name="Oval 7">
              <a:extLst>
                <a:ext uri="{FF2B5EF4-FFF2-40B4-BE49-F238E27FC236}">
                  <a16:creationId xmlns:a16="http://schemas.microsoft.com/office/drawing/2014/main" id="{6FBDFC9E-22C0-40CA-BBA7-D9FA81851BCF}"/>
                </a:ext>
              </a:extLst>
            </p:cNvPr>
            <p:cNvSpPr>
              <a:spLocks noChangeArrowheads="1"/>
            </p:cNvSpPr>
            <p:nvPr/>
          </p:nvSpPr>
          <p:spPr bwMode="auto">
            <a:xfrm>
              <a:off x="4368" y="2304"/>
              <a:ext cx="823" cy="352"/>
            </a:xfrm>
            <a:prstGeom prst="ellipse">
              <a:avLst/>
            </a:prstGeom>
            <a:solidFill>
              <a:srgbClr val="00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33" name="Oval 8">
              <a:extLst>
                <a:ext uri="{FF2B5EF4-FFF2-40B4-BE49-F238E27FC236}">
                  <a16:creationId xmlns:a16="http://schemas.microsoft.com/office/drawing/2014/main" id="{EEBC0D84-3190-40B9-B2DB-8AF9772FE8B4}"/>
                </a:ext>
              </a:extLst>
            </p:cNvPr>
            <p:cNvSpPr>
              <a:spLocks noChangeArrowheads="1"/>
            </p:cNvSpPr>
            <p:nvPr/>
          </p:nvSpPr>
          <p:spPr bwMode="auto">
            <a:xfrm>
              <a:off x="4378" y="1797"/>
              <a:ext cx="823" cy="351"/>
            </a:xfrm>
            <a:prstGeom prst="ellipse">
              <a:avLst/>
            </a:prstGeom>
            <a:solidFill>
              <a:srgbClr val="FFFFFF"/>
            </a:solidFill>
            <a:ln w="6350">
              <a:solidFill>
                <a:srgbClr val="000000"/>
              </a:solidFill>
              <a:prstDash val="sysDot"/>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34" name="Line 9">
              <a:extLst>
                <a:ext uri="{FF2B5EF4-FFF2-40B4-BE49-F238E27FC236}">
                  <a16:creationId xmlns:a16="http://schemas.microsoft.com/office/drawing/2014/main" id="{01E7B85B-E82C-4715-8F0E-A78563A4EB35}"/>
                </a:ext>
              </a:extLst>
            </p:cNvPr>
            <p:cNvSpPr>
              <a:spLocks noChangeShapeType="1"/>
            </p:cNvSpPr>
            <p:nvPr/>
          </p:nvSpPr>
          <p:spPr bwMode="auto">
            <a:xfrm flipV="1">
              <a:off x="4744" y="864"/>
              <a:ext cx="0" cy="585"/>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5" name="Line 10">
              <a:extLst>
                <a:ext uri="{FF2B5EF4-FFF2-40B4-BE49-F238E27FC236}">
                  <a16:creationId xmlns:a16="http://schemas.microsoft.com/office/drawing/2014/main" id="{B6B9B121-A508-41AF-A20B-F82F381A43A8}"/>
                </a:ext>
              </a:extLst>
            </p:cNvPr>
            <p:cNvSpPr>
              <a:spLocks noChangeShapeType="1"/>
            </p:cNvSpPr>
            <p:nvPr/>
          </p:nvSpPr>
          <p:spPr bwMode="auto">
            <a:xfrm>
              <a:off x="4834" y="864"/>
              <a:ext cx="0" cy="585"/>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 name="Line 11">
              <a:extLst>
                <a:ext uri="{FF2B5EF4-FFF2-40B4-BE49-F238E27FC236}">
                  <a16:creationId xmlns:a16="http://schemas.microsoft.com/office/drawing/2014/main" id="{994FCF18-6955-42D5-87C0-DD4E32949C28}"/>
                </a:ext>
              </a:extLst>
            </p:cNvPr>
            <p:cNvSpPr>
              <a:spLocks noChangeShapeType="1"/>
            </p:cNvSpPr>
            <p:nvPr/>
          </p:nvSpPr>
          <p:spPr bwMode="auto">
            <a:xfrm>
              <a:off x="4744" y="2659"/>
              <a:ext cx="0" cy="701"/>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7" name="Line 12">
              <a:extLst>
                <a:ext uri="{FF2B5EF4-FFF2-40B4-BE49-F238E27FC236}">
                  <a16:creationId xmlns:a16="http://schemas.microsoft.com/office/drawing/2014/main" id="{407E2EE6-3C18-43AB-8305-72DA1BCE6873}"/>
                </a:ext>
              </a:extLst>
            </p:cNvPr>
            <p:cNvSpPr>
              <a:spLocks noChangeShapeType="1"/>
            </p:cNvSpPr>
            <p:nvPr/>
          </p:nvSpPr>
          <p:spPr bwMode="auto">
            <a:xfrm>
              <a:off x="4834" y="2659"/>
              <a:ext cx="0" cy="701"/>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8" name="Line 13">
              <a:extLst>
                <a:ext uri="{FF2B5EF4-FFF2-40B4-BE49-F238E27FC236}">
                  <a16:creationId xmlns:a16="http://schemas.microsoft.com/office/drawing/2014/main" id="{A5269384-BCED-4784-9964-9C44F4EE6444}"/>
                </a:ext>
              </a:extLst>
            </p:cNvPr>
            <p:cNvSpPr>
              <a:spLocks noChangeShapeType="1"/>
            </p:cNvSpPr>
            <p:nvPr/>
          </p:nvSpPr>
          <p:spPr bwMode="auto">
            <a:xfrm>
              <a:off x="4378" y="1565"/>
              <a:ext cx="0" cy="93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 name="Line 14">
              <a:extLst>
                <a:ext uri="{FF2B5EF4-FFF2-40B4-BE49-F238E27FC236}">
                  <a16:creationId xmlns:a16="http://schemas.microsoft.com/office/drawing/2014/main" id="{F4ECD1E1-8208-4CF8-9B2D-DDD705055F60}"/>
                </a:ext>
              </a:extLst>
            </p:cNvPr>
            <p:cNvSpPr>
              <a:spLocks noChangeShapeType="1"/>
            </p:cNvSpPr>
            <p:nvPr/>
          </p:nvSpPr>
          <p:spPr bwMode="auto">
            <a:xfrm>
              <a:off x="5201" y="1565"/>
              <a:ext cx="0" cy="93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 name="Line 15">
              <a:extLst>
                <a:ext uri="{FF2B5EF4-FFF2-40B4-BE49-F238E27FC236}">
                  <a16:creationId xmlns:a16="http://schemas.microsoft.com/office/drawing/2014/main" id="{399E099E-07ED-4D88-8BA0-BB1A84A48A95}"/>
                </a:ext>
              </a:extLst>
            </p:cNvPr>
            <p:cNvSpPr>
              <a:spLocks noChangeShapeType="1"/>
            </p:cNvSpPr>
            <p:nvPr/>
          </p:nvSpPr>
          <p:spPr bwMode="auto">
            <a:xfrm>
              <a:off x="4013" y="1545"/>
              <a:ext cx="365" cy="2"/>
            </a:xfrm>
            <a:prstGeom prst="line">
              <a:avLst/>
            </a:prstGeom>
            <a:noFill/>
            <a:ln w="6350">
              <a:solidFill>
                <a:srgbClr val="0000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1" name="Line 16">
              <a:extLst>
                <a:ext uri="{FF2B5EF4-FFF2-40B4-BE49-F238E27FC236}">
                  <a16:creationId xmlns:a16="http://schemas.microsoft.com/office/drawing/2014/main" id="{F2590CA1-147C-42A1-8971-5F9E5650D271}"/>
                </a:ext>
              </a:extLst>
            </p:cNvPr>
            <p:cNvSpPr>
              <a:spLocks noChangeShapeType="1"/>
            </p:cNvSpPr>
            <p:nvPr/>
          </p:nvSpPr>
          <p:spPr bwMode="auto">
            <a:xfrm>
              <a:off x="3984" y="2496"/>
              <a:ext cx="365" cy="2"/>
            </a:xfrm>
            <a:prstGeom prst="line">
              <a:avLst/>
            </a:prstGeom>
            <a:noFill/>
            <a:ln w="6350">
              <a:solidFill>
                <a:srgbClr val="0000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 name="Line 17">
              <a:extLst>
                <a:ext uri="{FF2B5EF4-FFF2-40B4-BE49-F238E27FC236}">
                  <a16:creationId xmlns:a16="http://schemas.microsoft.com/office/drawing/2014/main" id="{3E1FE19F-DDE1-4679-B9B0-8DA91BA9EA2B}"/>
                </a:ext>
              </a:extLst>
            </p:cNvPr>
            <p:cNvSpPr>
              <a:spLocks noChangeShapeType="1"/>
            </p:cNvSpPr>
            <p:nvPr/>
          </p:nvSpPr>
          <p:spPr bwMode="auto">
            <a:xfrm>
              <a:off x="4080" y="2208"/>
              <a:ext cx="0" cy="263"/>
            </a:xfrm>
            <a:prstGeom prst="line">
              <a:avLst/>
            </a:prstGeom>
            <a:noFill/>
            <a:ln w="12700">
              <a:solidFill>
                <a:srgbClr val="000000"/>
              </a:solidFill>
              <a:round/>
              <a:headEnd type="none" w="sm" len="sm"/>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3" name="Line 18">
              <a:extLst>
                <a:ext uri="{FF2B5EF4-FFF2-40B4-BE49-F238E27FC236}">
                  <a16:creationId xmlns:a16="http://schemas.microsoft.com/office/drawing/2014/main" id="{7426FA8A-16D9-466F-97F4-81BE45EBF4B3}"/>
                </a:ext>
              </a:extLst>
            </p:cNvPr>
            <p:cNvSpPr>
              <a:spLocks noChangeShapeType="1"/>
            </p:cNvSpPr>
            <p:nvPr/>
          </p:nvSpPr>
          <p:spPr bwMode="auto">
            <a:xfrm flipV="1">
              <a:off x="4105" y="1545"/>
              <a:ext cx="0" cy="354"/>
            </a:xfrm>
            <a:prstGeom prst="line">
              <a:avLst/>
            </a:prstGeom>
            <a:noFill/>
            <a:ln w="12700">
              <a:solidFill>
                <a:srgbClr val="000000"/>
              </a:solidFill>
              <a:round/>
              <a:headEnd type="none" w="sm" len="sm"/>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44" name="Object 19">
              <a:extLst>
                <a:ext uri="{FF2B5EF4-FFF2-40B4-BE49-F238E27FC236}">
                  <a16:creationId xmlns:a16="http://schemas.microsoft.com/office/drawing/2014/main" id="{40DFA393-2219-4F8B-B791-8ACFF558B987}"/>
                </a:ext>
              </a:extLst>
            </p:cNvPr>
            <p:cNvGraphicFramePr>
              <a:graphicFrameLocks noChangeAspect="1"/>
            </p:cNvGraphicFramePr>
            <p:nvPr>
              <p:extLst>
                <p:ext uri="{D42A27DB-BD31-4B8C-83A1-F6EECF244321}">
                  <p14:modId xmlns:p14="http://schemas.microsoft.com/office/powerpoint/2010/main" val="4289865492"/>
                </p:ext>
              </p:extLst>
            </p:nvPr>
          </p:nvGraphicFramePr>
          <p:xfrm>
            <a:off x="4012" y="1872"/>
            <a:ext cx="282" cy="406"/>
          </p:xfrm>
          <a:graphic>
            <a:graphicData uri="http://schemas.openxmlformats.org/presentationml/2006/ole">
              <mc:AlternateContent xmlns:mc="http://schemas.openxmlformats.org/markup-compatibility/2006">
                <mc:Choice xmlns:v="urn:schemas-microsoft-com:vml" Requires="v">
                  <p:oleObj spid="_x0000_s231537" name="公式" r:id="rId5" imgW="126725" imgH="177415" progId="Equation.3">
                    <p:embed/>
                  </p:oleObj>
                </mc:Choice>
                <mc:Fallback>
                  <p:oleObj name="公式" r:id="rId5" imgW="126725" imgH="177415" progId="Equation.3">
                    <p:embed/>
                    <p:pic>
                      <p:nvPicPr>
                        <p:cNvPr id="88095"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2" y="1872"/>
                          <a:ext cx="282" cy="406"/>
                        </a:xfrm>
                        <a:prstGeom prst="rect">
                          <a:avLst/>
                        </a:prstGeom>
                        <a:noFill/>
                        <a:ln>
                          <a:noFill/>
                        </a:ln>
                        <a:effectLst/>
                        <a:extLst/>
                      </p:spPr>
                    </p:pic>
                  </p:oleObj>
                </mc:Fallback>
              </mc:AlternateContent>
            </a:graphicData>
          </a:graphic>
        </p:graphicFrame>
        <p:sp>
          <p:nvSpPr>
            <p:cNvPr id="45" name="Text Box 20">
              <a:extLst>
                <a:ext uri="{FF2B5EF4-FFF2-40B4-BE49-F238E27FC236}">
                  <a16:creationId xmlns:a16="http://schemas.microsoft.com/office/drawing/2014/main" id="{F18D7F89-0535-41AD-8995-718003E11FA9}"/>
                </a:ext>
              </a:extLst>
            </p:cNvPr>
            <p:cNvSpPr txBox="1">
              <a:spLocks noChangeArrowheads="1"/>
            </p:cNvSpPr>
            <p:nvPr/>
          </p:nvSpPr>
          <p:spPr bwMode="auto">
            <a:xfrm>
              <a:off x="4965" y="1107"/>
              <a:ext cx="27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0">
                  <a:ea typeface="楷体_GB2312"/>
                </a:rPr>
                <a:t>S </a:t>
              </a:r>
            </a:p>
          </p:txBody>
        </p:sp>
        <p:graphicFrame>
          <p:nvGraphicFramePr>
            <p:cNvPr id="46" name="Object 21">
              <a:extLst>
                <a:ext uri="{FF2B5EF4-FFF2-40B4-BE49-F238E27FC236}">
                  <a16:creationId xmlns:a16="http://schemas.microsoft.com/office/drawing/2014/main" id="{2B2B7211-B1DB-4F66-BE9F-5C497C96A909}"/>
                </a:ext>
              </a:extLst>
            </p:cNvPr>
            <p:cNvGraphicFramePr>
              <a:graphicFrameLocks noChangeAspect="1"/>
            </p:cNvGraphicFramePr>
            <p:nvPr/>
          </p:nvGraphicFramePr>
          <p:xfrm>
            <a:off x="4844" y="2692"/>
            <a:ext cx="271" cy="333"/>
          </p:xfrm>
          <a:graphic>
            <a:graphicData uri="http://schemas.openxmlformats.org/presentationml/2006/ole">
              <mc:AlternateContent xmlns:mc="http://schemas.openxmlformats.org/markup-compatibility/2006">
                <mc:Choice xmlns:v="urn:schemas-microsoft-com:vml" Requires="v">
                  <p:oleObj spid="_x0000_s231538" name="公式" r:id="rId7" imgW="139579" imgH="177646" progId="Equation.3">
                    <p:embed/>
                  </p:oleObj>
                </mc:Choice>
                <mc:Fallback>
                  <p:oleObj name="公式" r:id="rId7" imgW="139579" imgH="177646" progId="Equation.3">
                    <p:embed/>
                    <p:pic>
                      <p:nvPicPr>
                        <p:cNvPr id="88097" name="Object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44" y="2692"/>
                          <a:ext cx="271" cy="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 name="Freeform 22">
              <a:extLst>
                <a:ext uri="{FF2B5EF4-FFF2-40B4-BE49-F238E27FC236}">
                  <a16:creationId xmlns:a16="http://schemas.microsoft.com/office/drawing/2014/main" id="{2B160D08-3234-43B6-9139-16CF404537EC}"/>
                </a:ext>
              </a:extLst>
            </p:cNvPr>
            <p:cNvSpPr>
              <a:spLocks/>
            </p:cNvSpPr>
            <p:nvPr/>
          </p:nvSpPr>
          <p:spPr bwMode="auto">
            <a:xfrm>
              <a:off x="4788" y="1840"/>
              <a:ext cx="234" cy="130"/>
            </a:xfrm>
            <a:custGeom>
              <a:avLst/>
              <a:gdLst>
                <a:gd name="T0" fmla="*/ 0 w 234"/>
                <a:gd name="T1" fmla="*/ 130 h 130"/>
                <a:gd name="T2" fmla="*/ 234 w 234"/>
                <a:gd name="T3" fmla="*/ 0 h 130"/>
                <a:gd name="T4" fmla="*/ 0 60000 65536"/>
                <a:gd name="T5" fmla="*/ 0 60000 65536"/>
              </a:gdLst>
              <a:ahLst/>
              <a:cxnLst>
                <a:cxn ang="T4">
                  <a:pos x="T0" y="T1"/>
                </a:cxn>
                <a:cxn ang="T5">
                  <a:pos x="T2" y="T3"/>
                </a:cxn>
              </a:cxnLst>
              <a:rect l="0" t="0" r="r" b="b"/>
              <a:pathLst>
                <a:path w="234" h="130">
                  <a:moveTo>
                    <a:pt x="0" y="130"/>
                  </a:moveTo>
                  <a:lnTo>
                    <a:pt x="234" y="0"/>
                  </a:lnTo>
                </a:path>
              </a:pathLst>
            </a:custGeom>
            <a:noFill/>
            <a:ln w="412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23">
              <a:extLst>
                <a:ext uri="{FF2B5EF4-FFF2-40B4-BE49-F238E27FC236}">
                  <a16:creationId xmlns:a16="http://schemas.microsoft.com/office/drawing/2014/main" id="{AA05531F-15CF-453B-B427-148240AD7239}"/>
                </a:ext>
              </a:extLst>
            </p:cNvPr>
            <p:cNvSpPr>
              <a:spLocks noChangeShapeType="1"/>
            </p:cNvSpPr>
            <p:nvPr/>
          </p:nvSpPr>
          <p:spPr bwMode="auto">
            <a:xfrm>
              <a:off x="5205" y="1971"/>
              <a:ext cx="384" cy="0"/>
            </a:xfrm>
            <a:prstGeom prst="line">
              <a:avLst/>
            </a:prstGeom>
            <a:noFill/>
            <a:ln w="41275">
              <a:solidFill>
                <a:srgbClr val="0000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9" name="Object 24">
              <a:extLst>
                <a:ext uri="{FF2B5EF4-FFF2-40B4-BE49-F238E27FC236}">
                  <a16:creationId xmlns:a16="http://schemas.microsoft.com/office/drawing/2014/main" id="{8F30C467-6DE8-4216-BBEB-CE7AA7A3E47B}"/>
                </a:ext>
              </a:extLst>
            </p:cNvPr>
            <p:cNvGraphicFramePr>
              <a:graphicFrameLocks noChangeAspect="1"/>
            </p:cNvGraphicFramePr>
            <p:nvPr/>
          </p:nvGraphicFramePr>
          <p:xfrm>
            <a:off x="4485" y="1827"/>
            <a:ext cx="210" cy="240"/>
          </p:xfrm>
          <a:graphic>
            <a:graphicData uri="http://schemas.openxmlformats.org/presentationml/2006/ole">
              <mc:AlternateContent xmlns:mc="http://schemas.openxmlformats.org/markup-compatibility/2006">
                <mc:Choice xmlns:v="urn:schemas-microsoft-com:vml" Requires="v">
                  <p:oleObj spid="_x0000_s231539" name="公式" r:id="rId9" imgW="152202" imgH="177569" progId="Equation.3">
                    <p:embed/>
                  </p:oleObj>
                </mc:Choice>
                <mc:Fallback>
                  <p:oleObj name="公式" r:id="rId9" imgW="152202" imgH="177569" progId="Equation.3">
                    <p:embed/>
                    <p:pic>
                      <p:nvPicPr>
                        <p:cNvPr id="88100" name="Object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85" y="1827"/>
                          <a:ext cx="21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 name="Object 25">
              <a:extLst>
                <a:ext uri="{FF2B5EF4-FFF2-40B4-BE49-F238E27FC236}">
                  <a16:creationId xmlns:a16="http://schemas.microsoft.com/office/drawing/2014/main" id="{4D6C3ACD-D958-46E0-9C1A-2DFD53419A9B}"/>
                </a:ext>
              </a:extLst>
            </p:cNvPr>
            <p:cNvGraphicFramePr>
              <a:graphicFrameLocks noChangeAspect="1"/>
            </p:cNvGraphicFramePr>
            <p:nvPr/>
          </p:nvGraphicFramePr>
          <p:xfrm>
            <a:off x="4917" y="1923"/>
            <a:ext cx="219" cy="237"/>
          </p:xfrm>
          <a:graphic>
            <a:graphicData uri="http://schemas.openxmlformats.org/presentationml/2006/ole">
              <mc:AlternateContent xmlns:mc="http://schemas.openxmlformats.org/markup-compatibility/2006">
                <mc:Choice xmlns:v="urn:schemas-microsoft-com:vml" Requires="v">
                  <p:oleObj spid="_x0000_s231540" name="公式" r:id="rId11" imgW="114102" imgH="126780" progId="Equation.3">
                    <p:embed/>
                  </p:oleObj>
                </mc:Choice>
                <mc:Fallback>
                  <p:oleObj name="公式" r:id="rId11" imgW="114102" imgH="126780" progId="Equation.3">
                    <p:embed/>
                    <p:pic>
                      <p:nvPicPr>
                        <p:cNvPr id="88101" name="Object 2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17" y="1923"/>
                          <a:ext cx="219" cy="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 name="Object 26">
              <a:extLst>
                <a:ext uri="{FF2B5EF4-FFF2-40B4-BE49-F238E27FC236}">
                  <a16:creationId xmlns:a16="http://schemas.microsoft.com/office/drawing/2014/main" id="{A9689EAD-85DD-4662-B924-72B21456941C}"/>
                </a:ext>
              </a:extLst>
            </p:cNvPr>
            <p:cNvGraphicFramePr>
              <a:graphicFrameLocks noChangeAspect="1"/>
            </p:cNvGraphicFramePr>
            <p:nvPr/>
          </p:nvGraphicFramePr>
          <p:xfrm>
            <a:off x="5253" y="2019"/>
            <a:ext cx="227" cy="240"/>
          </p:xfrm>
          <a:graphic>
            <a:graphicData uri="http://schemas.openxmlformats.org/presentationml/2006/ole">
              <mc:AlternateContent xmlns:mc="http://schemas.openxmlformats.org/markup-compatibility/2006">
                <mc:Choice xmlns:v="urn:schemas-microsoft-com:vml" Requires="v">
                  <p:oleObj spid="_x0000_s231541" name="公式" r:id="rId13" imgW="152268" imgH="164957" progId="Equation.3">
                    <p:embed/>
                  </p:oleObj>
                </mc:Choice>
                <mc:Fallback>
                  <p:oleObj name="公式" r:id="rId13" imgW="152268" imgH="164957" progId="Equation.3">
                    <p:embed/>
                    <p:pic>
                      <p:nvPicPr>
                        <p:cNvPr id="88102" name="Object 2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53" y="2019"/>
                          <a:ext cx="227"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 name="Line 27">
              <a:extLst>
                <a:ext uri="{FF2B5EF4-FFF2-40B4-BE49-F238E27FC236}">
                  <a16:creationId xmlns:a16="http://schemas.microsoft.com/office/drawing/2014/main" id="{EC90FA15-284E-4BD5-8F92-1571B2AC444E}"/>
                </a:ext>
              </a:extLst>
            </p:cNvPr>
            <p:cNvSpPr>
              <a:spLocks noChangeShapeType="1"/>
            </p:cNvSpPr>
            <p:nvPr/>
          </p:nvSpPr>
          <p:spPr bwMode="auto">
            <a:xfrm>
              <a:off x="4830" y="2139"/>
              <a:ext cx="0" cy="367"/>
            </a:xfrm>
            <a:prstGeom prst="line">
              <a:avLst/>
            </a:prstGeom>
            <a:noFill/>
            <a:ln w="6350">
              <a:solidFill>
                <a:srgbClr val="0000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 name="Line 28">
              <a:extLst>
                <a:ext uri="{FF2B5EF4-FFF2-40B4-BE49-F238E27FC236}">
                  <a16:creationId xmlns:a16="http://schemas.microsoft.com/office/drawing/2014/main" id="{583CAA7E-FE64-428F-BAC4-5103A89EA6F2}"/>
                </a:ext>
              </a:extLst>
            </p:cNvPr>
            <p:cNvSpPr>
              <a:spLocks noChangeShapeType="1"/>
            </p:cNvSpPr>
            <p:nvPr/>
          </p:nvSpPr>
          <p:spPr bwMode="auto">
            <a:xfrm>
              <a:off x="4742" y="2132"/>
              <a:ext cx="0" cy="367"/>
            </a:xfrm>
            <a:prstGeom prst="line">
              <a:avLst/>
            </a:prstGeom>
            <a:noFill/>
            <a:ln w="6350">
              <a:solidFill>
                <a:srgbClr val="0000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4" name="Line 29">
              <a:extLst>
                <a:ext uri="{FF2B5EF4-FFF2-40B4-BE49-F238E27FC236}">
                  <a16:creationId xmlns:a16="http://schemas.microsoft.com/office/drawing/2014/main" id="{545D4950-F9D6-4BB0-A758-34AAB7643C47}"/>
                </a:ext>
              </a:extLst>
            </p:cNvPr>
            <p:cNvSpPr>
              <a:spLocks noChangeShapeType="1"/>
            </p:cNvSpPr>
            <p:nvPr/>
          </p:nvSpPr>
          <p:spPr bwMode="auto">
            <a:xfrm>
              <a:off x="4742" y="1692"/>
              <a:ext cx="0" cy="313"/>
            </a:xfrm>
            <a:prstGeom prst="line">
              <a:avLst/>
            </a:prstGeom>
            <a:noFill/>
            <a:ln w="6350">
              <a:solidFill>
                <a:srgbClr val="0000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5" name="Line 30">
              <a:extLst>
                <a:ext uri="{FF2B5EF4-FFF2-40B4-BE49-F238E27FC236}">
                  <a16:creationId xmlns:a16="http://schemas.microsoft.com/office/drawing/2014/main" id="{A4764F6C-96CF-4204-85FA-FBF54D5CB70A}"/>
                </a:ext>
              </a:extLst>
            </p:cNvPr>
            <p:cNvSpPr>
              <a:spLocks noChangeShapeType="1"/>
            </p:cNvSpPr>
            <p:nvPr/>
          </p:nvSpPr>
          <p:spPr bwMode="auto">
            <a:xfrm>
              <a:off x="4828" y="1703"/>
              <a:ext cx="0" cy="313"/>
            </a:xfrm>
            <a:prstGeom prst="line">
              <a:avLst/>
            </a:prstGeom>
            <a:noFill/>
            <a:ln w="6350">
              <a:solidFill>
                <a:srgbClr val="0000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pic>
        <p:nvPicPr>
          <p:cNvPr id="2" name="图片 1">
            <a:extLst>
              <a:ext uri="{FF2B5EF4-FFF2-40B4-BE49-F238E27FC236}">
                <a16:creationId xmlns:a16="http://schemas.microsoft.com/office/drawing/2014/main" id="{1C5657E5-B2FF-48EF-B1F4-36E0E4434E48}"/>
              </a:ext>
            </a:extLst>
          </p:cNvPr>
          <p:cNvPicPr>
            <a:picLocks noChangeAspect="1"/>
          </p:cNvPicPr>
          <p:nvPr/>
        </p:nvPicPr>
        <p:blipFill rotWithShape="1">
          <a:blip r:embed="rId15"/>
          <a:srcRect l="14487" t="44462" r="10626"/>
          <a:stretch/>
        </p:blipFill>
        <p:spPr>
          <a:xfrm>
            <a:off x="548558" y="3595709"/>
            <a:ext cx="7560840" cy="3154111"/>
          </a:xfrm>
          <a:prstGeom prst="rect">
            <a:avLst/>
          </a:prstGeom>
        </p:spPr>
      </p:pic>
    </p:spTree>
    <p:extLst>
      <p:ext uri="{BB962C8B-B14F-4D97-AF65-F5344CB8AC3E}">
        <p14:creationId xmlns:p14="http://schemas.microsoft.com/office/powerpoint/2010/main" val="668617849"/>
      </p:ext>
    </p:extLst>
  </p:cSld>
  <p:clrMapOvr>
    <a:masterClrMapping/>
  </p:clrMapOvr>
  <p:transition>
    <p:rand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2"/>
          <p:cNvSpPr txBox="1">
            <a:spLocks noChangeArrowheads="1"/>
          </p:cNvSpPr>
          <p:nvPr/>
        </p:nvSpPr>
        <p:spPr bwMode="auto">
          <a:xfrm>
            <a:off x="152400" y="152400"/>
            <a:ext cx="665162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3333FF"/>
                </a:solidFill>
                <a:ea typeface="楷体_GB2312"/>
              </a:rPr>
              <a:t>例</a:t>
            </a:r>
            <a:r>
              <a:rPr lang="en-US" altLang="zh-CN" sz="2400">
                <a:solidFill>
                  <a:srgbClr val="3333FF"/>
                </a:solidFill>
                <a:ea typeface="楷体_GB2312"/>
              </a:rPr>
              <a:t>3</a:t>
            </a:r>
            <a:r>
              <a:rPr lang="zh-CN" altLang="en-US" sz="2400">
                <a:solidFill>
                  <a:srgbClr val="3333FF"/>
                </a:solidFill>
                <a:ea typeface="楷体_GB2312"/>
              </a:rPr>
              <a:t>、无限长均匀带电直线的场强</a:t>
            </a:r>
            <a:endParaRPr lang="zh-CN" altLang="en-US" sz="2400">
              <a:ea typeface="楷体_GB2312"/>
            </a:endParaRPr>
          </a:p>
          <a:p>
            <a:pPr lvl="1" eaLnBrk="1" hangingPunct="1">
              <a:spcBef>
                <a:spcPct val="0"/>
              </a:spcBef>
              <a:buFontTx/>
              <a:buNone/>
            </a:pPr>
            <a:r>
              <a:rPr lang="zh-CN" altLang="en-US" sz="2400">
                <a:ea typeface="楷体_GB2312"/>
              </a:rPr>
              <a:t>设有一无限长均匀带电直线，电荷线密度为</a:t>
            </a:r>
            <a:r>
              <a:rPr lang="en-US" altLang="zh-CN" sz="2400">
                <a:ea typeface="楷体_GB2312"/>
              </a:rPr>
              <a:t>λ</a:t>
            </a:r>
            <a:r>
              <a:rPr lang="zh-CN" altLang="en-US" sz="2400">
                <a:ea typeface="楷体_GB2312"/>
              </a:rPr>
              <a:t>，求距离直线为 </a:t>
            </a:r>
            <a:r>
              <a:rPr lang="en-US" altLang="zh-CN" sz="2400" i="1">
                <a:ea typeface="楷体_GB2312"/>
              </a:rPr>
              <a:t>r </a:t>
            </a:r>
            <a:r>
              <a:rPr lang="zh-CN" altLang="en-US" sz="2400">
                <a:ea typeface="楷体_GB2312"/>
              </a:rPr>
              <a:t>处的电场强度。 </a:t>
            </a:r>
          </a:p>
        </p:txBody>
      </p:sp>
      <p:sp>
        <p:nvSpPr>
          <p:cNvPr id="175107" name="Text Box 3"/>
          <p:cNvSpPr txBox="1">
            <a:spLocks noChangeArrowheads="1"/>
          </p:cNvSpPr>
          <p:nvPr/>
        </p:nvSpPr>
        <p:spPr bwMode="auto">
          <a:xfrm>
            <a:off x="228600" y="1447800"/>
            <a:ext cx="59436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解：以带电直导线为轴，作一个通过</a:t>
            </a:r>
            <a:r>
              <a:rPr lang="en-US" altLang="zh-CN" sz="2400" i="1">
                <a:ea typeface="楷体_GB2312"/>
              </a:rPr>
              <a:t>P</a:t>
            </a:r>
            <a:r>
              <a:rPr lang="zh-CN" altLang="en-US" sz="2400">
                <a:ea typeface="楷体_GB2312"/>
              </a:rPr>
              <a:t>点，高为</a:t>
            </a:r>
            <a:r>
              <a:rPr lang="en-US" altLang="zh-CN" sz="2400" i="1">
                <a:ea typeface="楷体_GB2312"/>
              </a:rPr>
              <a:t>h</a:t>
            </a:r>
            <a:r>
              <a:rPr lang="zh-CN" altLang="en-US" sz="2400">
                <a:ea typeface="楷体_GB2312"/>
              </a:rPr>
              <a:t>的圆筒形封闭面为高斯面 </a:t>
            </a:r>
            <a:r>
              <a:rPr lang="en-US" altLang="zh-CN" sz="2400" i="1">
                <a:ea typeface="楷体_GB2312"/>
              </a:rPr>
              <a:t>S</a:t>
            </a:r>
            <a:r>
              <a:rPr lang="zh-CN" altLang="en-US" sz="2400">
                <a:ea typeface="楷体_GB2312"/>
              </a:rPr>
              <a:t>，通过</a:t>
            </a:r>
            <a:r>
              <a:rPr lang="en-US" altLang="zh-CN" sz="2400" i="1">
                <a:ea typeface="楷体_GB2312"/>
              </a:rPr>
              <a:t>S</a:t>
            </a:r>
            <a:r>
              <a:rPr lang="zh-CN" altLang="en-US" sz="2400">
                <a:ea typeface="楷体_GB2312"/>
              </a:rPr>
              <a:t>面的电通量为圆柱侧面和上、下底面三部分的通量。</a:t>
            </a:r>
          </a:p>
        </p:txBody>
      </p:sp>
      <p:grpSp>
        <p:nvGrpSpPr>
          <p:cNvPr id="175108" name="Group 4"/>
          <p:cNvGrpSpPr>
            <a:grpSpLocks/>
          </p:cNvGrpSpPr>
          <p:nvPr/>
        </p:nvGrpSpPr>
        <p:grpSpPr bwMode="auto">
          <a:xfrm>
            <a:off x="6477000" y="152400"/>
            <a:ext cx="2590800" cy="3962400"/>
            <a:chOff x="3984" y="864"/>
            <a:chExt cx="1632" cy="2496"/>
          </a:xfrm>
        </p:grpSpPr>
        <p:graphicFrame>
          <p:nvGraphicFramePr>
            <p:cNvPr id="88081" name="Object 5"/>
            <p:cNvGraphicFramePr>
              <a:graphicFrameLocks noChangeAspect="1"/>
            </p:cNvGraphicFramePr>
            <p:nvPr/>
          </p:nvGraphicFramePr>
          <p:xfrm>
            <a:off x="5349" y="1587"/>
            <a:ext cx="267" cy="336"/>
          </p:xfrm>
          <a:graphic>
            <a:graphicData uri="http://schemas.openxmlformats.org/presentationml/2006/ole">
              <mc:AlternateContent xmlns:mc="http://schemas.openxmlformats.org/markup-compatibility/2006">
                <mc:Choice xmlns:v="urn:schemas-microsoft-com:vml" Requires="v">
                  <p:oleObj spid="_x0000_s230629" name="公式" r:id="rId3" imgW="152334" imgH="190417" progId="Equation.3">
                    <p:embed/>
                  </p:oleObj>
                </mc:Choice>
                <mc:Fallback>
                  <p:oleObj name="公式" r:id="rId3" imgW="152334" imgH="190417"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9" y="1587"/>
                          <a:ext cx="267"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8082" name="Oval 6"/>
            <p:cNvSpPr>
              <a:spLocks noChangeArrowheads="1"/>
            </p:cNvSpPr>
            <p:nvPr/>
          </p:nvSpPr>
          <p:spPr bwMode="auto">
            <a:xfrm>
              <a:off x="4378" y="1354"/>
              <a:ext cx="823" cy="352"/>
            </a:xfrm>
            <a:prstGeom prst="ellipse">
              <a:avLst/>
            </a:prstGeom>
            <a:solidFill>
              <a:srgbClr val="00CC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88083" name="Oval 7"/>
            <p:cNvSpPr>
              <a:spLocks noChangeArrowheads="1"/>
            </p:cNvSpPr>
            <p:nvPr/>
          </p:nvSpPr>
          <p:spPr bwMode="auto">
            <a:xfrm>
              <a:off x="4368" y="2304"/>
              <a:ext cx="823" cy="352"/>
            </a:xfrm>
            <a:prstGeom prst="ellipse">
              <a:avLst/>
            </a:prstGeom>
            <a:solidFill>
              <a:srgbClr val="00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88084" name="Oval 8"/>
            <p:cNvSpPr>
              <a:spLocks noChangeArrowheads="1"/>
            </p:cNvSpPr>
            <p:nvPr/>
          </p:nvSpPr>
          <p:spPr bwMode="auto">
            <a:xfrm>
              <a:off x="4378" y="1797"/>
              <a:ext cx="823" cy="351"/>
            </a:xfrm>
            <a:prstGeom prst="ellipse">
              <a:avLst/>
            </a:prstGeom>
            <a:solidFill>
              <a:srgbClr val="FFFFFF"/>
            </a:solidFill>
            <a:ln w="6350">
              <a:solidFill>
                <a:srgbClr val="000000"/>
              </a:solidFill>
              <a:prstDash val="sysDot"/>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88085" name="Line 9"/>
            <p:cNvSpPr>
              <a:spLocks noChangeShapeType="1"/>
            </p:cNvSpPr>
            <p:nvPr/>
          </p:nvSpPr>
          <p:spPr bwMode="auto">
            <a:xfrm flipV="1">
              <a:off x="4744" y="864"/>
              <a:ext cx="0" cy="585"/>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8086" name="Line 10"/>
            <p:cNvSpPr>
              <a:spLocks noChangeShapeType="1"/>
            </p:cNvSpPr>
            <p:nvPr/>
          </p:nvSpPr>
          <p:spPr bwMode="auto">
            <a:xfrm>
              <a:off x="4834" y="864"/>
              <a:ext cx="0" cy="585"/>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8087" name="Line 11"/>
            <p:cNvSpPr>
              <a:spLocks noChangeShapeType="1"/>
            </p:cNvSpPr>
            <p:nvPr/>
          </p:nvSpPr>
          <p:spPr bwMode="auto">
            <a:xfrm>
              <a:off x="4744" y="2659"/>
              <a:ext cx="0" cy="701"/>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8088" name="Line 12"/>
            <p:cNvSpPr>
              <a:spLocks noChangeShapeType="1"/>
            </p:cNvSpPr>
            <p:nvPr/>
          </p:nvSpPr>
          <p:spPr bwMode="auto">
            <a:xfrm>
              <a:off x="4834" y="2659"/>
              <a:ext cx="0" cy="701"/>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8089" name="Line 13"/>
            <p:cNvSpPr>
              <a:spLocks noChangeShapeType="1"/>
            </p:cNvSpPr>
            <p:nvPr/>
          </p:nvSpPr>
          <p:spPr bwMode="auto">
            <a:xfrm>
              <a:off x="4378" y="1565"/>
              <a:ext cx="0" cy="93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8090" name="Line 14"/>
            <p:cNvSpPr>
              <a:spLocks noChangeShapeType="1"/>
            </p:cNvSpPr>
            <p:nvPr/>
          </p:nvSpPr>
          <p:spPr bwMode="auto">
            <a:xfrm>
              <a:off x="5201" y="1565"/>
              <a:ext cx="0" cy="93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8091" name="Line 15"/>
            <p:cNvSpPr>
              <a:spLocks noChangeShapeType="1"/>
            </p:cNvSpPr>
            <p:nvPr/>
          </p:nvSpPr>
          <p:spPr bwMode="auto">
            <a:xfrm>
              <a:off x="4013" y="1545"/>
              <a:ext cx="365" cy="2"/>
            </a:xfrm>
            <a:prstGeom prst="line">
              <a:avLst/>
            </a:prstGeom>
            <a:noFill/>
            <a:ln w="6350">
              <a:solidFill>
                <a:srgbClr val="0000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8092" name="Line 16"/>
            <p:cNvSpPr>
              <a:spLocks noChangeShapeType="1"/>
            </p:cNvSpPr>
            <p:nvPr/>
          </p:nvSpPr>
          <p:spPr bwMode="auto">
            <a:xfrm>
              <a:off x="3984" y="2496"/>
              <a:ext cx="365" cy="2"/>
            </a:xfrm>
            <a:prstGeom prst="line">
              <a:avLst/>
            </a:prstGeom>
            <a:noFill/>
            <a:ln w="6350">
              <a:solidFill>
                <a:srgbClr val="0000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8093" name="Line 17"/>
            <p:cNvSpPr>
              <a:spLocks noChangeShapeType="1"/>
            </p:cNvSpPr>
            <p:nvPr/>
          </p:nvSpPr>
          <p:spPr bwMode="auto">
            <a:xfrm>
              <a:off x="4080" y="2208"/>
              <a:ext cx="0" cy="263"/>
            </a:xfrm>
            <a:prstGeom prst="line">
              <a:avLst/>
            </a:prstGeom>
            <a:noFill/>
            <a:ln w="12700">
              <a:solidFill>
                <a:srgbClr val="000000"/>
              </a:solidFill>
              <a:round/>
              <a:headEnd type="none" w="sm" len="sm"/>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8094" name="Line 18"/>
            <p:cNvSpPr>
              <a:spLocks noChangeShapeType="1"/>
            </p:cNvSpPr>
            <p:nvPr/>
          </p:nvSpPr>
          <p:spPr bwMode="auto">
            <a:xfrm flipV="1">
              <a:off x="4105" y="1545"/>
              <a:ext cx="0" cy="354"/>
            </a:xfrm>
            <a:prstGeom prst="line">
              <a:avLst/>
            </a:prstGeom>
            <a:noFill/>
            <a:ln w="12700">
              <a:solidFill>
                <a:srgbClr val="000000"/>
              </a:solidFill>
              <a:round/>
              <a:headEnd type="none" w="sm" len="sm"/>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88095" name="Object 19"/>
            <p:cNvGraphicFramePr>
              <a:graphicFrameLocks noChangeAspect="1"/>
            </p:cNvGraphicFramePr>
            <p:nvPr/>
          </p:nvGraphicFramePr>
          <p:xfrm>
            <a:off x="4012" y="1872"/>
            <a:ext cx="196" cy="406"/>
          </p:xfrm>
          <a:graphic>
            <a:graphicData uri="http://schemas.openxmlformats.org/presentationml/2006/ole">
              <mc:AlternateContent xmlns:mc="http://schemas.openxmlformats.org/markup-compatibility/2006">
                <mc:Choice xmlns:v="urn:schemas-microsoft-com:vml" Requires="v">
                  <p:oleObj spid="_x0000_s230630" name="公式" r:id="rId5" imgW="126725" imgH="177415" progId="Equation.3">
                    <p:embed/>
                  </p:oleObj>
                </mc:Choice>
                <mc:Fallback>
                  <p:oleObj name="公式" r:id="rId5" imgW="126725" imgH="177415" progId="Equation.3">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2" y="1872"/>
                          <a:ext cx="196"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8096" name="Text Box 20"/>
            <p:cNvSpPr txBox="1">
              <a:spLocks noChangeArrowheads="1"/>
            </p:cNvSpPr>
            <p:nvPr/>
          </p:nvSpPr>
          <p:spPr bwMode="auto">
            <a:xfrm>
              <a:off x="4965" y="1107"/>
              <a:ext cx="27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0">
                  <a:ea typeface="楷体_GB2312"/>
                </a:rPr>
                <a:t>S </a:t>
              </a:r>
            </a:p>
          </p:txBody>
        </p:sp>
        <p:graphicFrame>
          <p:nvGraphicFramePr>
            <p:cNvPr id="88097" name="Object 21"/>
            <p:cNvGraphicFramePr>
              <a:graphicFrameLocks noChangeAspect="1"/>
            </p:cNvGraphicFramePr>
            <p:nvPr/>
          </p:nvGraphicFramePr>
          <p:xfrm>
            <a:off x="4844" y="2692"/>
            <a:ext cx="271" cy="333"/>
          </p:xfrm>
          <a:graphic>
            <a:graphicData uri="http://schemas.openxmlformats.org/presentationml/2006/ole">
              <mc:AlternateContent xmlns:mc="http://schemas.openxmlformats.org/markup-compatibility/2006">
                <mc:Choice xmlns:v="urn:schemas-microsoft-com:vml" Requires="v">
                  <p:oleObj spid="_x0000_s230631" name="公式" r:id="rId7" imgW="139579" imgH="177646" progId="Equation.3">
                    <p:embed/>
                  </p:oleObj>
                </mc:Choice>
                <mc:Fallback>
                  <p:oleObj name="公式" r:id="rId7" imgW="139579" imgH="177646" progId="Equation.3">
                    <p:embed/>
                    <p:pic>
                      <p:nvPicPr>
                        <p:cNvPr id="0" name="Object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44" y="2692"/>
                          <a:ext cx="271" cy="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8098" name="Freeform 22"/>
            <p:cNvSpPr>
              <a:spLocks/>
            </p:cNvSpPr>
            <p:nvPr/>
          </p:nvSpPr>
          <p:spPr bwMode="auto">
            <a:xfrm>
              <a:off x="4788" y="1840"/>
              <a:ext cx="234" cy="130"/>
            </a:xfrm>
            <a:custGeom>
              <a:avLst/>
              <a:gdLst>
                <a:gd name="T0" fmla="*/ 0 w 234"/>
                <a:gd name="T1" fmla="*/ 130 h 130"/>
                <a:gd name="T2" fmla="*/ 234 w 234"/>
                <a:gd name="T3" fmla="*/ 0 h 130"/>
                <a:gd name="T4" fmla="*/ 0 60000 65536"/>
                <a:gd name="T5" fmla="*/ 0 60000 65536"/>
              </a:gdLst>
              <a:ahLst/>
              <a:cxnLst>
                <a:cxn ang="T4">
                  <a:pos x="T0" y="T1"/>
                </a:cxn>
                <a:cxn ang="T5">
                  <a:pos x="T2" y="T3"/>
                </a:cxn>
              </a:cxnLst>
              <a:rect l="0" t="0" r="r" b="b"/>
              <a:pathLst>
                <a:path w="234" h="130">
                  <a:moveTo>
                    <a:pt x="0" y="130"/>
                  </a:moveTo>
                  <a:lnTo>
                    <a:pt x="234" y="0"/>
                  </a:lnTo>
                </a:path>
              </a:pathLst>
            </a:custGeom>
            <a:noFill/>
            <a:ln w="4127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9" name="Line 23"/>
            <p:cNvSpPr>
              <a:spLocks noChangeShapeType="1"/>
            </p:cNvSpPr>
            <p:nvPr/>
          </p:nvSpPr>
          <p:spPr bwMode="auto">
            <a:xfrm>
              <a:off x="5205" y="1971"/>
              <a:ext cx="384" cy="0"/>
            </a:xfrm>
            <a:prstGeom prst="line">
              <a:avLst/>
            </a:prstGeom>
            <a:noFill/>
            <a:ln w="41275">
              <a:solidFill>
                <a:srgbClr val="0000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8100" name="Object 24"/>
            <p:cNvGraphicFramePr>
              <a:graphicFrameLocks noChangeAspect="1"/>
            </p:cNvGraphicFramePr>
            <p:nvPr/>
          </p:nvGraphicFramePr>
          <p:xfrm>
            <a:off x="4485" y="1827"/>
            <a:ext cx="210" cy="240"/>
          </p:xfrm>
          <a:graphic>
            <a:graphicData uri="http://schemas.openxmlformats.org/presentationml/2006/ole">
              <mc:AlternateContent xmlns:mc="http://schemas.openxmlformats.org/markup-compatibility/2006">
                <mc:Choice xmlns:v="urn:schemas-microsoft-com:vml" Requires="v">
                  <p:oleObj spid="_x0000_s230632" name="公式" r:id="rId9" imgW="152202" imgH="177569" progId="Equation.3">
                    <p:embed/>
                  </p:oleObj>
                </mc:Choice>
                <mc:Fallback>
                  <p:oleObj name="公式" r:id="rId9" imgW="152202" imgH="177569" progId="Equation.3">
                    <p:embed/>
                    <p:pic>
                      <p:nvPicPr>
                        <p:cNvPr id="0" name="Object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85" y="1827"/>
                          <a:ext cx="21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8101" name="Object 25"/>
            <p:cNvGraphicFramePr>
              <a:graphicFrameLocks noChangeAspect="1"/>
            </p:cNvGraphicFramePr>
            <p:nvPr/>
          </p:nvGraphicFramePr>
          <p:xfrm>
            <a:off x="4917" y="1923"/>
            <a:ext cx="219" cy="237"/>
          </p:xfrm>
          <a:graphic>
            <a:graphicData uri="http://schemas.openxmlformats.org/presentationml/2006/ole">
              <mc:AlternateContent xmlns:mc="http://schemas.openxmlformats.org/markup-compatibility/2006">
                <mc:Choice xmlns:v="urn:schemas-microsoft-com:vml" Requires="v">
                  <p:oleObj spid="_x0000_s230633" name="公式" r:id="rId11" imgW="114102" imgH="126780" progId="Equation.3">
                    <p:embed/>
                  </p:oleObj>
                </mc:Choice>
                <mc:Fallback>
                  <p:oleObj name="公式" r:id="rId11" imgW="114102" imgH="126780" progId="Equation.3">
                    <p:embed/>
                    <p:pic>
                      <p:nvPicPr>
                        <p:cNvPr id="0" name="Object 2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17" y="1923"/>
                          <a:ext cx="219" cy="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8102" name="Object 26"/>
            <p:cNvGraphicFramePr>
              <a:graphicFrameLocks noChangeAspect="1"/>
            </p:cNvGraphicFramePr>
            <p:nvPr/>
          </p:nvGraphicFramePr>
          <p:xfrm>
            <a:off x="5253" y="2019"/>
            <a:ext cx="227" cy="240"/>
          </p:xfrm>
          <a:graphic>
            <a:graphicData uri="http://schemas.openxmlformats.org/presentationml/2006/ole">
              <mc:AlternateContent xmlns:mc="http://schemas.openxmlformats.org/markup-compatibility/2006">
                <mc:Choice xmlns:v="urn:schemas-microsoft-com:vml" Requires="v">
                  <p:oleObj spid="_x0000_s230634" name="公式" r:id="rId13" imgW="152268" imgH="164957" progId="Equation.3">
                    <p:embed/>
                  </p:oleObj>
                </mc:Choice>
                <mc:Fallback>
                  <p:oleObj name="公式" r:id="rId13" imgW="152268" imgH="164957" progId="Equation.3">
                    <p:embed/>
                    <p:pic>
                      <p:nvPicPr>
                        <p:cNvPr id="0" name="Object 2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53" y="2019"/>
                          <a:ext cx="227"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8103" name="Line 27"/>
            <p:cNvSpPr>
              <a:spLocks noChangeShapeType="1"/>
            </p:cNvSpPr>
            <p:nvPr/>
          </p:nvSpPr>
          <p:spPr bwMode="auto">
            <a:xfrm>
              <a:off x="4830" y="2139"/>
              <a:ext cx="0" cy="367"/>
            </a:xfrm>
            <a:prstGeom prst="line">
              <a:avLst/>
            </a:prstGeom>
            <a:noFill/>
            <a:ln w="6350">
              <a:solidFill>
                <a:srgbClr val="0000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8104" name="Line 28"/>
            <p:cNvSpPr>
              <a:spLocks noChangeShapeType="1"/>
            </p:cNvSpPr>
            <p:nvPr/>
          </p:nvSpPr>
          <p:spPr bwMode="auto">
            <a:xfrm>
              <a:off x="4742" y="2132"/>
              <a:ext cx="0" cy="367"/>
            </a:xfrm>
            <a:prstGeom prst="line">
              <a:avLst/>
            </a:prstGeom>
            <a:noFill/>
            <a:ln w="6350">
              <a:solidFill>
                <a:srgbClr val="0000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8105" name="Line 29"/>
            <p:cNvSpPr>
              <a:spLocks noChangeShapeType="1"/>
            </p:cNvSpPr>
            <p:nvPr/>
          </p:nvSpPr>
          <p:spPr bwMode="auto">
            <a:xfrm>
              <a:off x="4742" y="1692"/>
              <a:ext cx="0" cy="313"/>
            </a:xfrm>
            <a:prstGeom prst="line">
              <a:avLst/>
            </a:prstGeom>
            <a:noFill/>
            <a:ln w="6350">
              <a:solidFill>
                <a:srgbClr val="0000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8106" name="Line 30"/>
            <p:cNvSpPr>
              <a:spLocks noChangeShapeType="1"/>
            </p:cNvSpPr>
            <p:nvPr/>
          </p:nvSpPr>
          <p:spPr bwMode="auto">
            <a:xfrm>
              <a:off x="4828" y="1703"/>
              <a:ext cx="0" cy="313"/>
            </a:xfrm>
            <a:prstGeom prst="line">
              <a:avLst/>
            </a:prstGeom>
            <a:noFill/>
            <a:ln w="6350">
              <a:solidFill>
                <a:srgbClr val="0000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aphicFrame>
        <p:nvGraphicFramePr>
          <p:cNvPr id="175135" name="Object 31"/>
          <p:cNvGraphicFramePr>
            <a:graphicFrameLocks noChangeAspect="1"/>
          </p:cNvGraphicFramePr>
          <p:nvPr/>
        </p:nvGraphicFramePr>
        <p:xfrm>
          <a:off x="539750" y="2971800"/>
          <a:ext cx="7053263" cy="741363"/>
        </p:xfrm>
        <a:graphic>
          <a:graphicData uri="http://schemas.openxmlformats.org/presentationml/2006/ole">
            <mc:AlternateContent xmlns:mc="http://schemas.openxmlformats.org/markup-compatibility/2006">
              <mc:Choice xmlns:v="urn:schemas-microsoft-com:vml" Requires="v">
                <p:oleObj spid="_x0000_s230635" name="Equation" r:id="rId15" imgW="3327400" imgH="317500" progId="Equation.DSMT4">
                  <p:embed/>
                </p:oleObj>
              </mc:Choice>
              <mc:Fallback>
                <p:oleObj name="Equation" r:id="rId15" imgW="3327400" imgH="317500" progId="Equation.DSMT4">
                  <p:embed/>
                  <p:pic>
                    <p:nvPicPr>
                      <p:cNvPr id="0" name="Object 3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9750" y="2971800"/>
                        <a:ext cx="7053263"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5136" name="Text Box 32"/>
          <p:cNvSpPr txBox="1">
            <a:spLocks noChangeArrowheads="1"/>
          </p:cNvSpPr>
          <p:nvPr/>
        </p:nvSpPr>
        <p:spPr bwMode="auto">
          <a:xfrm>
            <a:off x="304800" y="3657600"/>
            <a:ext cx="7924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其中上、下底面的电场强度方向与面平行，电通量为零。所以式中后两项为零。</a:t>
            </a:r>
          </a:p>
        </p:txBody>
      </p:sp>
      <p:graphicFrame>
        <p:nvGraphicFramePr>
          <p:cNvPr id="175137" name="Object 33"/>
          <p:cNvGraphicFramePr>
            <a:graphicFrameLocks noChangeAspect="1"/>
          </p:cNvGraphicFramePr>
          <p:nvPr/>
        </p:nvGraphicFramePr>
        <p:xfrm>
          <a:off x="395288" y="4495800"/>
          <a:ext cx="5919787" cy="838200"/>
        </p:xfrm>
        <a:graphic>
          <a:graphicData uri="http://schemas.openxmlformats.org/presentationml/2006/ole">
            <mc:AlternateContent xmlns:mc="http://schemas.openxmlformats.org/markup-compatibility/2006">
              <mc:Choice xmlns:v="urn:schemas-microsoft-com:vml" Requires="v">
                <p:oleObj spid="_x0000_s230636" name="Equation" r:id="rId17" imgW="2527300" imgH="317500" progId="Equation.DSMT4">
                  <p:embed/>
                </p:oleObj>
              </mc:Choice>
              <mc:Fallback>
                <p:oleObj name="Equation" r:id="rId17" imgW="2527300" imgH="317500" progId="Equation.DSMT4">
                  <p:embed/>
                  <p:pic>
                    <p:nvPicPr>
                      <p:cNvPr id="0" name="Object 3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5288" y="4495800"/>
                        <a:ext cx="591978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5138" name="Object 34"/>
          <p:cNvGraphicFramePr>
            <a:graphicFrameLocks noChangeAspect="1"/>
          </p:cNvGraphicFramePr>
          <p:nvPr/>
        </p:nvGraphicFramePr>
        <p:xfrm>
          <a:off x="3886200" y="5334000"/>
          <a:ext cx="1752600" cy="906463"/>
        </p:xfrm>
        <a:graphic>
          <a:graphicData uri="http://schemas.openxmlformats.org/presentationml/2006/ole">
            <mc:AlternateContent xmlns:mc="http://schemas.openxmlformats.org/markup-compatibility/2006">
              <mc:Choice xmlns:v="urn:schemas-microsoft-com:vml" Requires="v">
                <p:oleObj spid="_x0000_s230637" name="公式" r:id="rId19" imgW="685502" imgH="355446" progId="Equation.3">
                  <p:embed/>
                </p:oleObj>
              </mc:Choice>
              <mc:Fallback>
                <p:oleObj name="公式" r:id="rId19" imgW="685502" imgH="355446" progId="Equation.3">
                  <p:embed/>
                  <p:pic>
                    <p:nvPicPr>
                      <p:cNvPr id="0" name="Object 3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886200" y="5334000"/>
                        <a:ext cx="1752600" cy="906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5139" name="Text Box 35"/>
          <p:cNvSpPr txBox="1">
            <a:spLocks noChangeArrowheads="1"/>
          </p:cNvSpPr>
          <p:nvPr/>
        </p:nvSpPr>
        <p:spPr bwMode="auto">
          <a:xfrm>
            <a:off x="304800" y="5334000"/>
            <a:ext cx="3565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此闭合面包含的电荷总量</a:t>
            </a:r>
          </a:p>
        </p:txBody>
      </p:sp>
      <p:graphicFrame>
        <p:nvGraphicFramePr>
          <p:cNvPr id="175140" name="Object 36"/>
          <p:cNvGraphicFramePr>
            <a:graphicFrameLocks noChangeAspect="1"/>
          </p:cNvGraphicFramePr>
          <p:nvPr/>
        </p:nvGraphicFramePr>
        <p:xfrm>
          <a:off x="576263" y="5681663"/>
          <a:ext cx="3829050" cy="1176337"/>
        </p:xfrm>
        <a:graphic>
          <a:graphicData uri="http://schemas.openxmlformats.org/presentationml/2006/ole">
            <mc:AlternateContent xmlns:mc="http://schemas.openxmlformats.org/markup-compatibility/2006">
              <mc:Choice xmlns:v="urn:schemas-microsoft-com:vml" Requires="v">
                <p:oleObj spid="_x0000_s230638" name="Equation" r:id="rId21" imgW="1422400" imgH="444500" progId="Equation.DSMT4">
                  <p:embed/>
                </p:oleObj>
              </mc:Choice>
              <mc:Fallback>
                <p:oleObj name="Equation" r:id="rId21" imgW="1422400" imgH="444500" progId="Equation.DSMT4">
                  <p:embed/>
                  <p:pic>
                    <p:nvPicPr>
                      <p:cNvPr id="0" name="Object 3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76263" y="5681663"/>
                        <a:ext cx="3829050" cy="1176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5141" name="Object 37"/>
          <p:cNvGraphicFramePr>
            <a:graphicFrameLocks noChangeAspect="1"/>
          </p:cNvGraphicFramePr>
          <p:nvPr/>
        </p:nvGraphicFramePr>
        <p:xfrm>
          <a:off x="6692900" y="4267200"/>
          <a:ext cx="2451100" cy="1296988"/>
        </p:xfrm>
        <a:graphic>
          <a:graphicData uri="http://schemas.openxmlformats.org/presentationml/2006/ole">
            <mc:AlternateContent xmlns:mc="http://schemas.openxmlformats.org/markup-compatibility/2006">
              <mc:Choice xmlns:v="urn:schemas-microsoft-com:vml" Requires="v">
                <p:oleObj spid="_x0000_s230639" name="公式" r:id="rId23" imgW="710891" imgH="444307" progId="Equation.3">
                  <p:embed/>
                </p:oleObj>
              </mc:Choice>
              <mc:Fallback>
                <p:oleObj name="公式" r:id="rId23" imgW="710891" imgH="444307" progId="Equation.3">
                  <p:embed/>
                  <p:pic>
                    <p:nvPicPr>
                      <p:cNvPr id="0" name="Object 3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692900" y="4267200"/>
                        <a:ext cx="2451100" cy="1296988"/>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5142" name="Text Box 38"/>
          <p:cNvSpPr txBox="1">
            <a:spLocks noChangeArrowheads="1"/>
          </p:cNvSpPr>
          <p:nvPr/>
        </p:nvSpPr>
        <p:spPr bwMode="auto">
          <a:xfrm>
            <a:off x="4884738" y="5960516"/>
            <a:ext cx="43434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200">
                <a:ea typeface="楷体_GB2312"/>
              </a:rPr>
              <a:t>其方向沿求场点到直导线的垂线方向。正负由电荷的符号决定。</a:t>
            </a:r>
          </a:p>
        </p:txBody>
      </p:sp>
      <p:grpSp>
        <p:nvGrpSpPr>
          <p:cNvPr id="175143" name="Group 39"/>
          <p:cNvGrpSpPr>
            <a:grpSpLocks/>
          </p:cNvGrpSpPr>
          <p:nvPr/>
        </p:nvGrpSpPr>
        <p:grpSpPr bwMode="auto">
          <a:xfrm>
            <a:off x="4787900" y="4437063"/>
            <a:ext cx="1727200" cy="2420937"/>
            <a:chOff x="2971" y="2795"/>
            <a:chExt cx="1088" cy="1525"/>
          </a:xfrm>
        </p:grpSpPr>
        <p:sp>
          <p:nvSpPr>
            <p:cNvPr id="88078" name="Line 40"/>
            <p:cNvSpPr>
              <a:spLocks noChangeShapeType="1"/>
            </p:cNvSpPr>
            <p:nvPr/>
          </p:nvSpPr>
          <p:spPr bwMode="auto">
            <a:xfrm>
              <a:off x="4059" y="2795"/>
              <a:ext cx="0" cy="862"/>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88079" name="Line 41"/>
            <p:cNvSpPr>
              <a:spLocks noChangeShapeType="1"/>
            </p:cNvSpPr>
            <p:nvPr/>
          </p:nvSpPr>
          <p:spPr bwMode="auto">
            <a:xfrm flipH="1">
              <a:off x="2971" y="3657"/>
              <a:ext cx="1088" cy="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88080" name="Line 42"/>
            <p:cNvSpPr>
              <a:spLocks noChangeShapeType="1"/>
            </p:cNvSpPr>
            <p:nvPr/>
          </p:nvSpPr>
          <p:spPr bwMode="auto">
            <a:xfrm>
              <a:off x="2971" y="3674"/>
              <a:ext cx="0" cy="646"/>
            </a:xfrm>
            <a:prstGeom prst="line">
              <a:avLst/>
            </a:prstGeom>
            <a:noFill/>
            <a:ln w="5715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75108"/>
                                        </p:tgtEl>
                                        <p:attrNameLst>
                                          <p:attrName>style.visibility</p:attrName>
                                        </p:attrNameLst>
                                      </p:cBhvr>
                                      <p:to>
                                        <p:strVal val="visible"/>
                                      </p:to>
                                    </p:set>
                                    <p:animEffect transition="in" filter="wipe(left)">
                                      <p:cBhvr>
                                        <p:cTn id="7" dur="500"/>
                                        <p:tgtEl>
                                          <p:spTgt spid="1751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175107"/>
                                        </p:tgtEl>
                                        <p:attrNameLst>
                                          <p:attrName>style.visibility</p:attrName>
                                        </p:attrNameLst>
                                      </p:cBhvr>
                                      <p:to>
                                        <p:strVal val="visible"/>
                                      </p:to>
                                    </p:set>
                                    <p:animEffect transition="in" filter="wipe(left)">
                                      <p:cBhvr>
                                        <p:cTn id="12" dur="75"/>
                                        <p:tgtEl>
                                          <p:spTgt spid="1751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75135"/>
                                        </p:tgtEl>
                                        <p:attrNameLst>
                                          <p:attrName>style.visibility</p:attrName>
                                        </p:attrNameLst>
                                      </p:cBhvr>
                                      <p:to>
                                        <p:strVal val="visible"/>
                                      </p:to>
                                    </p:set>
                                    <p:animEffect transition="in" filter="wipe(left)">
                                      <p:cBhvr>
                                        <p:cTn id="17" dur="500"/>
                                        <p:tgtEl>
                                          <p:spTgt spid="17513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175136">
                                            <p:txEl>
                                              <p:pRg st="0" end="0"/>
                                            </p:txEl>
                                          </p:spTgt>
                                        </p:tgtEl>
                                        <p:attrNameLst>
                                          <p:attrName>style.visibility</p:attrName>
                                        </p:attrNameLst>
                                      </p:cBhvr>
                                      <p:to>
                                        <p:strVal val="visible"/>
                                      </p:to>
                                    </p:set>
                                    <p:animEffect transition="in" filter="wipe(left)">
                                      <p:cBhvr>
                                        <p:cTn id="22" dur="75"/>
                                        <p:tgtEl>
                                          <p:spTgt spid="175136">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75137"/>
                                        </p:tgtEl>
                                        <p:attrNameLst>
                                          <p:attrName>style.visibility</p:attrName>
                                        </p:attrNameLst>
                                      </p:cBhvr>
                                      <p:to>
                                        <p:strVal val="visible"/>
                                      </p:to>
                                    </p:set>
                                    <p:animEffect transition="in" filter="wipe(left)">
                                      <p:cBhvr>
                                        <p:cTn id="27" dur="500"/>
                                        <p:tgtEl>
                                          <p:spTgt spid="17513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5139"/>
                                        </p:tgtEl>
                                        <p:attrNameLst>
                                          <p:attrName>style.visibility</p:attrName>
                                        </p:attrNameLst>
                                      </p:cBhvr>
                                      <p:to>
                                        <p:strVal val="visible"/>
                                      </p:to>
                                    </p:set>
                                    <p:animEffect transition="in" filter="wipe(left)">
                                      <p:cBhvr>
                                        <p:cTn id="32" dur="500"/>
                                        <p:tgtEl>
                                          <p:spTgt spid="175139"/>
                                        </p:tgtEl>
                                      </p:cBhvr>
                                    </p:animEffect>
                                  </p:childTnLst>
                                </p:cTn>
                              </p:par>
                            </p:childTnLst>
                          </p:cTn>
                        </p:par>
                        <p:par>
                          <p:cTn id="33" fill="hold" nodeType="afterGroup">
                            <p:stCondLst>
                              <p:cond delay="500"/>
                            </p:stCondLst>
                            <p:childTnLst>
                              <p:par>
                                <p:cTn id="34" presetID="22" presetClass="entr" presetSubtype="8" fill="hold" nodeType="afterEffect">
                                  <p:stCondLst>
                                    <p:cond delay="0"/>
                                  </p:stCondLst>
                                  <p:childTnLst>
                                    <p:set>
                                      <p:cBhvr>
                                        <p:cTn id="35" dur="1" fill="hold">
                                          <p:stCondLst>
                                            <p:cond delay="0"/>
                                          </p:stCondLst>
                                        </p:cTn>
                                        <p:tgtEl>
                                          <p:spTgt spid="175138"/>
                                        </p:tgtEl>
                                        <p:attrNameLst>
                                          <p:attrName>style.visibility</p:attrName>
                                        </p:attrNameLst>
                                      </p:cBhvr>
                                      <p:to>
                                        <p:strVal val="visible"/>
                                      </p:to>
                                    </p:set>
                                    <p:animEffect transition="in" filter="wipe(left)">
                                      <p:cBhvr>
                                        <p:cTn id="36" dur="500"/>
                                        <p:tgtEl>
                                          <p:spTgt spid="17513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75140"/>
                                        </p:tgtEl>
                                        <p:attrNameLst>
                                          <p:attrName>style.visibility</p:attrName>
                                        </p:attrNameLst>
                                      </p:cBhvr>
                                      <p:to>
                                        <p:strVal val="visible"/>
                                      </p:to>
                                    </p:set>
                                    <p:animEffect transition="in" filter="wipe(left)">
                                      <p:cBhvr>
                                        <p:cTn id="41" dur="500"/>
                                        <p:tgtEl>
                                          <p:spTgt spid="17514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4" fill="hold" nodeType="clickEffect">
                                  <p:stCondLst>
                                    <p:cond delay="0"/>
                                  </p:stCondLst>
                                  <p:childTnLst>
                                    <p:set>
                                      <p:cBhvr>
                                        <p:cTn id="45" dur="1" fill="hold">
                                          <p:stCondLst>
                                            <p:cond delay="0"/>
                                          </p:stCondLst>
                                        </p:cTn>
                                        <p:tgtEl>
                                          <p:spTgt spid="175143"/>
                                        </p:tgtEl>
                                        <p:attrNameLst>
                                          <p:attrName>style.visibility</p:attrName>
                                        </p:attrNameLst>
                                      </p:cBhvr>
                                      <p:to>
                                        <p:strVal val="visible"/>
                                      </p:to>
                                    </p:set>
                                    <p:anim calcmode="lin" valueType="num">
                                      <p:cBhvr additive="base">
                                        <p:cTn id="46" dur="500" fill="hold"/>
                                        <p:tgtEl>
                                          <p:spTgt spid="175143"/>
                                        </p:tgtEl>
                                        <p:attrNameLst>
                                          <p:attrName>ppt_x</p:attrName>
                                        </p:attrNameLst>
                                      </p:cBhvr>
                                      <p:tavLst>
                                        <p:tav tm="0">
                                          <p:val>
                                            <p:strVal val="#ppt_x"/>
                                          </p:val>
                                        </p:tav>
                                        <p:tav tm="100000">
                                          <p:val>
                                            <p:strVal val="#ppt_x"/>
                                          </p:val>
                                        </p:tav>
                                      </p:tavLst>
                                    </p:anim>
                                    <p:anim calcmode="lin" valueType="num">
                                      <p:cBhvr additive="base">
                                        <p:cTn id="47" dur="500" fill="hold"/>
                                        <p:tgtEl>
                                          <p:spTgt spid="175143"/>
                                        </p:tgtEl>
                                        <p:attrNameLst>
                                          <p:attrName>ppt_y</p:attrName>
                                        </p:attrNameLst>
                                      </p:cBhvr>
                                      <p:tavLst>
                                        <p:tav tm="0">
                                          <p:val>
                                            <p:strVal val="1+#ppt_h/2"/>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75141"/>
                                        </p:tgtEl>
                                        <p:attrNameLst>
                                          <p:attrName>style.visibility</p:attrName>
                                        </p:attrNameLst>
                                      </p:cBhvr>
                                      <p:to>
                                        <p:strVal val="visible"/>
                                      </p:to>
                                    </p:set>
                                    <p:animEffect transition="in" filter="wipe(left)">
                                      <p:cBhvr>
                                        <p:cTn id="52" dur="500"/>
                                        <p:tgtEl>
                                          <p:spTgt spid="175141"/>
                                        </p:tgtEl>
                                      </p:cBhvr>
                                    </p:animEffect>
                                  </p:childTnLst>
                                </p:cTn>
                              </p:par>
                            </p:childTnLst>
                          </p:cTn>
                        </p:par>
                        <p:par>
                          <p:cTn id="53" fill="hold" nodeType="afterGroup">
                            <p:stCondLst>
                              <p:cond delay="500"/>
                            </p:stCondLst>
                            <p:childTnLst>
                              <p:par>
                                <p:cTn id="54" presetID="22" presetClass="entr" presetSubtype="8" fill="hold" grpId="0" nodeType="afterEffect">
                                  <p:stCondLst>
                                    <p:cond delay="0"/>
                                  </p:stCondLst>
                                  <p:iterate type="lt">
                                    <p:tmPct val="100000"/>
                                  </p:iterate>
                                  <p:childTnLst>
                                    <p:set>
                                      <p:cBhvr>
                                        <p:cTn id="55" dur="1" fill="hold">
                                          <p:stCondLst>
                                            <p:cond delay="0"/>
                                          </p:stCondLst>
                                        </p:cTn>
                                        <p:tgtEl>
                                          <p:spTgt spid="175142"/>
                                        </p:tgtEl>
                                        <p:attrNameLst>
                                          <p:attrName>style.visibility</p:attrName>
                                        </p:attrNameLst>
                                      </p:cBhvr>
                                      <p:to>
                                        <p:strVal val="visible"/>
                                      </p:to>
                                    </p:set>
                                    <p:animEffect transition="in" filter="wipe(left)">
                                      <p:cBhvr>
                                        <p:cTn id="56" dur="75"/>
                                        <p:tgtEl>
                                          <p:spTgt spid="175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7" grpId="0" autoUpdateAnimBg="0"/>
      <p:bldP spid="175136" grpId="0" build="p" autoUpdateAnimBg="0"/>
      <p:bldP spid="175139" grpId="0" autoUpdateAnimBg="0"/>
      <p:bldP spid="175142"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3"/>
          <p:cNvSpPr txBox="1">
            <a:spLocks noChangeArrowheads="1"/>
          </p:cNvSpPr>
          <p:nvPr/>
        </p:nvSpPr>
        <p:spPr bwMode="auto">
          <a:xfrm>
            <a:off x="74613" y="212725"/>
            <a:ext cx="5799137" cy="368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1"/>
                </a:solidFill>
                <a:miter lim="800000"/>
                <a:headEnd/>
                <a:tailEnd/>
              </a14:hiddenLine>
            </a:ext>
          </a:extLst>
        </p:spPr>
        <p:txBody>
          <a:bodyPr wrap="none" lIns="0" tIns="0" rIns="0" bIns="0" anchor="ctr" anchorCtr="1">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ea typeface="楷体_GB2312"/>
              </a:rPr>
              <a:t>【</a:t>
            </a:r>
            <a:r>
              <a:rPr lang="zh-CN" altLang="en-US" sz="2400">
                <a:ea typeface="楷体_GB2312"/>
              </a:rPr>
              <a:t>例 </a:t>
            </a:r>
            <a:r>
              <a:rPr lang="en-US" altLang="zh-CN" sz="2400">
                <a:ea typeface="楷体_GB2312"/>
              </a:rPr>
              <a:t>4】</a:t>
            </a:r>
            <a:r>
              <a:rPr lang="zh-CN" altLang="en-US" sz="2400">
                <a:ea typeface="楷体_GB2312"/>
              </a:rPr>
              <a:t>：均匀长</a:t>
            </a:r>
            <a:r>
              <a:rPr lang="zh-CN" altLang="en-US" sz="2400">
                <a:solidFill>
                  <a:srgbClr val="FF0000"/>
                </a:solidFill>
                <a:ea typeface="楷体_GB2312"/>
              </a:rPr>
              <a:t>圆柱面</a:t>
            </a:r>
            <a:r>
              <a:rPr lang="zh-CN" altLang="en-US" sz="2400">
                <a:ea typeface="楷体_GB2312"/>
              </a:rPr>
              <a:t>电荷</a:t>
            </a:r>
            <a:r>
              <a:rPr lang="zh-CN" altLang="en-US" sz="2400">
                <a:ea typeface="楷体_GB2312"/>
                <a:sym typeface="Symbol" panose="05050102010706020507" pitchFamily="18" charset="2"/>
              </a:rPr>
              <a:t>的电场分布。</a:t>
            </a:r>
          </a:p>
        </p:txBody>
      </p:sp>
      <p:sp>
        <p:nvSpPr>
          <p:cNvPr id="89091" name="Text Box 4"/>
          <p:cNvSpPr txBox="1">
            <a:spLocks noChangeArrowheads="1"/>
          </p:cNvSpPr>
          <p:nvPr/>
        </p:nvSpPr>
        <p:spPr bwMode="auto">
          <a:xfrm>
            <a:off x="1192213" y="844550"/>
            <a:ext cx="6389687" cy="368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1"/>
                </a:solidFill>
                <a:miter lim="800000"/>
                <a:headEnd/>
                <a:tailEnd/>
              </a14:hiddenLine>
            </a:ext>
          </a:extLst>
        </p:spPr>
        <p:txBody>
          <a:bodyPr wrap="none" lIns="0" tIns="0" rIns="0" bIns="0" anchor="ctr" anchorCtr="1">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ea typeface="楷体_GB2312"/>
              </a:rPr>
              <a:t>设圆柱面电荷面密度 </a:t>
            </a:r>
            <a:r>
              <a:rPr lang="en-US" altLang="zh-CN" sz="2400" b="0" i="1">
                <a:cs typeface="Times New Roman" panose="02020603050405020304" pitchFamily="18" charset="0"/>
                <a:sym typeface="Symbol" panose="05050102010706020507" pitchFamily="18" charset="2"/>
              </a:rPr>
              <a:t>σ</a:t>
            </a:r>
            <a:r>
              <a:rPr lang="en-US" altLang="zh-CN" sz="2400">
                <a:ea typeface="楷体_GB2312"/>
                <a:sym typeface="Symbol" panose="05050102010706020507" pitchFamily="18" charset="2"/>
              </a:rPr>
              <a:t> </a:t>
            </a:r>
            <a:r>
              <a:rPr lang="zh-CN" altLang="en-US" sz="2400">
                <a:ea typeface="楷体_GB2312"/>
                <a:sym typeface="Symbol" panose="05050102010706020507" pitchFamily="18" charset="2"/>
              </a:rPr>
              <a:t>为常量，</a:t>
            </a:r>
            <a:r>
              <a:rPr lang="zh-CN" altLang="en-US" sz="2400">
                <a:ea typeface="楷体_GB2312"/>
              </a:rPr>
              <a:t>柱面半径为</a:t>
            </a:r>
            <a:r>
              <a:rPr lang="en-US" altLang="zh-CN" sz="2400" i="1">
                <a:ea typeface="楷体_GB2312"/>
              </a:rPr>
              <a:t>R</a:t>
            </a:r>
            <a:r>
              <a:rPr lang="zh-CN" altLang="en-US" sz="2400">
                <a:ea typeface="楷体_GB2312"/>
                <a:sym typeface="Symbol" panose="05050102010706020507" pitchFamily="18" charset="2"/>
              </a:rPr>
              <a:t>。</a:t>
            </a:r>
          </a:p>
        </p:txBody>
      </p:sp>
      <p:sp>
        <p:nvSpPr>
          <p:cNvPr id="89092" name="Text Box 5"/>
          <p:cNvSpPr txBox="1">
            <a:spLocks noChangeArrowheads="1"/>
          </p:cNvSpPr>
          <p:nvPr/>
        </p:nvSpPr>
        <p:spPr bwMode="auto">
          <a:xfrm>
            <a:off x="30163" y="847725"/>
            <a:ext cx="12192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solidFill>
                  <a:srgbClr val="00FF00"/>
                </a:solidFill>
                <a:ea typeface="楷体_GB2312"/>
              </a:rPr>
              <a:t>【</a:t>
            </a:r>
            <a:r>
              <a:rPr lang="zh-CN" altLang="en-US" sz="2400">
                <a:solidFill>
                  <a:srgbClr val="00FF00"/>
                </a:solidFill>
                <a:ea typeface="楷体_GB2312"/>
              </a:rPr>
              <a:t>解</a:t>
            </a:r>
            <a:r>
              <a:rPr lang="en-US" altLang="zh-CN" sz="2400">
                <a:solidFill>
                  <a:srgbClr val="00FF00"/>
                </a:solidFill>
                <a:ea typeface="楷体_GB2312"/>
              </a:rPr>
              <a:t>】</a:t>
            </a:r>
            <a:r>
              <a:rPr lang="zh-CN" altLang="en-US" sz="2400">
                <a:solidFill>
                  <a:srgbClr val="00FF00"/>
                </a:solidFill>
                <a:ea typeface="楷体_GB2312"/>
              </a:rPr>
              <a:t>：</a:t>
            </a:r>
          </a:p>
        </p:txBody>
      </p:sp>
      <p:sp>
        <p:nvSpPr>
          <p:cNvPr id="89093" name="Text Box 6"/>
          <p:cNvSpPr txBox="1">
            <a:spLocks noChangeArrowheads="1"/>
          </p:cNvSpPr>
          <p:nvPr/>
        </p:nvSpPr>
        <p:spPr bwMode="auto">
          <a:xfrm>
            <a:off x="468313" y="1409700"/>
            <a:ext cx="74041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Clr>
                <a:srgbClr val="66FF33"/>
              </a:buClr>
              <a:buFontTx/>
              <a:buAutoNum type="arabicPeriod"/>
            </a:pPr>
            <a:r>
              <a:rPr lang="zh-CN" altLang="en-US" sz="2400">
                <a:ea typeface="楷体_GB2312"/>
              </a:rPr>
              <a:t>设圆柱面电荷</a:t>
            </a:r>
            <a:r>
              <a:rPr lang="zh-CN" altLang="en-US" sz="2400">
                <a:solidFill>
                  <a:srgbClr val="FF0000"/>
                </a:solidFill>
                <a:ea typeface="楷体_GB2312"/>
              </a:rPr>
              <a:t>外</a:t>
            </a:r>
            <a:r>
              <a:rPr lang="zh-CN" altLang="en-US" sz="2400">
                <a:ea typeface="楷体_GB2312"/>
              </a:rPr>
              <a:t>任一点</a:t>
            </a:r>
            <a:r>
              <a:rPr lang="en-US" altLang="zh-CN" sz="2400">
                <a:ea typeface="楷体_GB2312"/>
              </a:rPr>
              <a:t>P </a:t>
            </a:r>
            <a:r>
              <a:rPr lang="zh-CN" altLang="en-US" sz="2400">
                <a:ea typeface="楷体_GB2312"/>
              </a:rPr>
              <a:t>至圆柱面轴线的距离为</a:t>
            </a:r>
            <a:r>
              <a:rPr lang="en-US" altLang="zh-CN" sz="2400" b="0" i="1">
                <a:ea typeface="楷体_GB2312"/>
              </a:rPr>
              <a:t>r</a:t>
            </a:r>
            <a:r>
              <a:rPr lang="en-US" altLang="zh-CN" sz="2400" i="1">
                <a:ea typeface="楷体_GB2312"/>
              </a:rPr>
              <a:t> </a:t>
            </a:r>
            <a:r>
              <a:rPr lang="zh-CN" altLang="en-US" sz="2400">
                <a:ea typeface="楷体_GB2312"/>
              </a:rPr>
              <a:t>，</a:t>
            </a:r>
          </a:p>
        </p:txBody>
      </p:sp>
      <p:graphicFrame>
        <p:nvGraphicFramePr>
          <p:cNvPr id="206883" name="Object 35"/>
          <p:cNvGraphicFramePr>
            <a:graphicFrameLocks noChangeAspect="1"/>
          </p:cNvGraphicFramePr>
          <p:nvPr/>
        </p:nvGraphicFramePr>
        <p:xfrm>
          <a:off x="3678238" y="3355975"/>
          <a:ext cx="1408112" cy="477838"/>
        </p:xfrm>
        <a:graphic>
          <a:graphicData uri="http://schemas.openxmlformats.org/presentationml/2006/ole">
            <mc:AlternateContent xmlns:mc="http://schemas.openxmlformats.org/markup-compatibility/2006">
              <mc:Choice xmlns:v="urn:schemas-microsoft-com:vml" Requires="v">
                <p:oleObj spid="_x0000_s89207" name="Equation" r:id="rId3" imgW="0" imgH="0" progId="Equation.3">
                  <p:embed/>
                </p:oleObj>
              </mc:Choice>
              <mc:Fallback>
                <p:oleObj name="Equation" r:id="rId3" imgW="0" imgH="0" progId="Equation.3">
                  <p:embed/>
                  <p:pic>
                    <p:nvPicPr>
                      <p:cNvPr id="0" name="Object 35"/>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3678238" y="3355975"/>
                        <a:ext cx="1408112" cy="477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095" name="Text Box 41"/>
          <p:cNvSpPr txBox="1">
            <a:spLocks noChangeArrowheads="1"/>
          </p:cNvSpPr>
          <p:nvPr/>
        </p:nvSpPr>
        <p:spPr bwMode="auto">
          <a:xfrm>
            <a:off x="820738" y="1985963"/>
            <a:ext cx="77628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1">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Clr>
                <a:srgbClr val="66FF33"/>
              </a:buClr>
              <a:buFontTx/>
              <a:buNone/>
            </a:pPr>
            <a:r>
              <a:rPr lang="zh-CN" altLang="en-US" sz="2400">
                <a:ea typeface="楷体_GB2312"/>
                <a:sym typeface="Symbol" panose="05050102010706020507" pitchFamily="18" charset="2"/>
              </a:rPr>
              <a:t>作半径为 </a:t>
            </a:r>
            <a:r>
              <a:rPr lang="en-US" altLang="zh-CN" sz="2400" b="0" i="1">
                <a:ea typeface="楷体_GB2312"/>
                <a:sym typeface="Symbol" panose="05050102010706020507" pitchFamily="18" charset="2"/>
              </a:rPr>
              <a:t>r  </a:t>
            </a:r>
            <a:r>
              <a:rPr lang="zh-CN" altLang="en-US" sz="2400">
                <a:ea typeface="楷体_GB2312"/>
                <a:sym typeface="Symbol" panose="05050102010706020507" pitchFamily="18" charset="2"/>
              </a:rPr>
              <a:t>的同轴圆柱面</a:t>
            </a:r>
            <a:r>
              <a:rPr lang="en-US" altLang="zh-CN" sz="2400" b="0" i="1">
                <a:ea typeface="楷体_GB2312"/>
                <a:sym typeface="Symbol" panose="05050102010706020507" pitchFamily="18" charset="2"/>
              </a:rPr>
              <a:t>S</a:t>
            </a:r>
            <a:r>
              <a:rPr lang="en-US" altLang="zh-CN" sz="2400" b="0" i="1" baseline="-10000">
                <a:ea typeface="楷体_GB2312"/>
                <a:sym typeface="Symbol" panose="05050102010706020507" pitchFamily="18" charset="2"/>
              </a:rPr>
              <a:t>1</a:t>
            </a:r>
            <a:r>
              <a:rPr lang="zh-CN" altLang="en-US" sz="2400">
                <a:ea typeface="楷体_GB2312"/>
                <a:sym typeface="Symbol" panose="05050102010706020507" pitchFamily="18" charset="2"/>
              </a:rPr>
              <a:t>，侧面过</a:t>
            </a:r>
            <a:r>
              <a:rPr lang="en-US" altLang="zh-CN" sz="2400">
                <a:ea typeface="楷体_GB2312"/>
                <a:sym typeface="Symbol" panose="05050102010706020507" pitchFamily="18" charset="2"/>
              </a:rPr>
              <a:t>P</a:t>
            </a:r>
            <a:r>
              <a:rPr lang="zh-CN" altLang="en-US" sz="2400">
                <a:ea typeface="楷体_GB2312"/>
                <a:sym typeface="Symbol" panose="05050102010706020507" pitchFamily="18" charset="2"/>
              </a:rPr>
              <a:t>点，柱高 </a:t>
            </a:r>
            <a:r>
              <a:rPr lang="en-US" altLang="zh-CN" sz="2400" b="0" i="1">
                <a:ea typeface="楷体_GB2312"/>
                <a:sym typeface="Symbol" panose="05050102010706020507" pitchFamily="18" charset="2"/>
              </a:rPr>
              <a:t>l</a:t>
            </a:r>
            <a:r>
              <a:rPr lang="zh-CN" altLang="en-US" sz="2400">
                <a:ea typeface="楷体_GB2312"/>
                <a:sym typeface="Symbol" panose="05050102010706020507" pitchFamily="18" charset="2"/>
              </a:rPr>
              <a:t>，如图。</a:t>
            </a:r>
            <a:endParaRPr lang="zh-CN" altLang="en-US" sz="2400">
              <a:ea typeface="楷体_GB2312"/>
            </a:endParaRPr>
          </a:p>
        </p:txBody>
      </p:sp>
      <p:sp>
        <p:nvSpPr>
          <p:cNvPr id="89096" name="Text Box 42"/>
          <p:cNvSpPr txBox="1">
            <a:spLocks noChangeArrowheads="1"/>
          </p:cNvSpPr>
          <p:nvPr/>
        </p:nvSpPr>
        <p:spPr bwMode="auto">
          <a:xfrm>
            <a:off x="971550" y="2654300"/>
            <a:ext cx="58578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1">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ea typeface="楷体_GB2312"/>
                <a:sym typeface="Symbol" panose="05050102010706020507" pitchFamily="18" charset="2"/>
              </a:rPr>
              <a:t>设</a:t>
            </a:r>
            <a:r>
              <a:rPr lang="en-US" altLang="zh-CN" sz="2400" b="0" i="1">
                <a:ea typeface="楷体_GB2312"/>
                <a:sym typeface="Symbol" panose="05050102010706020507" pitchFamily="18" charset="2"/>
              </a:rPr>
              <a:t>S</a:t>
            </a:r>
            <a:r>
              <a:rPr lang="en-US" altLang="zh-CN" sz="2400" b="0" i="1" baseline="-10000">
                <a:ea typeface="楷体_GB2312"/>
                <a:sym typeface="Symbol" panose="05050102010706020507" pitchFamily="18" charset="2"/>
              </a:rPr>
              <a:t>1 </a:t>
            </a:r>
            <a:r>
              <a:rPr lang="zh-CN" altLang="en-US" sz="2400">
                <a:ea typeface="楷体_GB2312"/>
                <a:sym typeface="Symbol" panose="05050102010706020507" pitchFamily="18" charset="2"/>
              </a:rPr>
              <a:t>侧面场强大小为</a:t>
            </a:r>
            <a:r>
              <a:rPr lang="en-US" altLang="zh-CN" sz="2400" b="0" i="1">
                <a:ea typeface="楷体_GB2312"/>
                <a:sym typeface="Symbol" panose="05050102010706020507" pitchFamily="18" charset="2"/>
              </a:rPr>
              <a:t>E</a:t>
            </a:r>
            <a:r>
              <a:rPr lang="en-US" altLang="zh-CN" sz="2400" baseline="-10000">
                <a:ea typeface="楷体_GB2312"/>
                <a:sym typeface="Symbol" panose="05050102010706020507" pitchFamily="18" charset="2"/>
              </a:rPr>
              <a:t>1</a:t>
            </a:r>
            <a:r>
              <a:rPr lang="zh-CN" altLang="en-US" sz="2400">
                <a:ea typeface="楷体_GB2312"/>
                <a:sym typeface="Symbol" panose="05050102010706020507" pitchFamily="18" charset="2"/>
              </a:rPr>
              <a:t>，</a:t>
            </a:r>
            <a:r>
              <a:rPr lang="zh-CN" altLang="en-US" sz="2400">
                <a:ea typeface="楷体_GB2312"/>
              </a:rPr>
              <a:t>方向沿径向，可得</a:t>
            </a:r>
          </a:p>
        </p:txBody>
      </p:sp>
      <p:pic>
        <p:nvPicPr>
          <p:cNvPr id="81929" name="Picture 47"/>
          <p:cNvPicPr>
            <a:picLocks noChangeAspect="1" noChangeArrowheads="1"/>
          </p:cNvPicPr>
          <p:nvPr/>
        </p:nvPicPr>
        <p:blipFill>
          <a:blip r:embed="rId4">
            <a:extLst>
              <a:ext uri="{28A0092B-C50C-407E-A947-70E740481C1C}">
                <a14:useLocalDpi xmlns:a14="http://schemas.microsoft.com/office/drawing/2010/main" val="0"/>
              </a:ext>
            </a:extLst>
          </a:blip>
          <a:srcRect l="334" t="-905" r="34846" b="905"/>
          <a:stretch>
            <a:fillRect/>
          </a:stretch>
        </p:blipFill>
        <p:spPr bwMode="auto">
          <a:xfrm>
            <a:off x="107950" y="3141663"/>
            <a:ext cx="5843588" cy="36830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9098" name="Picture 47"/>
          <p:cNvPicPr>
            <a:picLocks noChangeAspect="1" noChangeArrowheads="1"/>
          </p:cNvPicPr>
          <p:nvPr/>
        </p:nvPicPr>
        <p:blipFill>
          <a:blip r:embed="rId4">
            <a:extLst>
              <a:ext uri="{28A0092B-C50C-407E-A947-70E740481C1C}">
                <a14:useLocalDpi xmlns:a14="http://schemas.microsoft.com/office/drawing/2010/main" val="0"/>
              </a:ext>
            </a:extLst>
          </a:blip>
          <a:srcRect l="68700" t="4449" b="-4449"/>
          <a:stretch>
            <a:fillRect/>
          </a:stretch>
        </p:blipFill>
        <p:spPr bwMode="auto">
          <a:xfrm>
            <a:off x="6151563" y="3175000"/>
            <a:ext cx="2860675" cy="36830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06883"/>
                                        </p:tgtEl>
                                        <p:attrNameLst>
                                          <p:attrName>style.visibility</p:attrName>
                                        </p:attrNameLst>
                                      </p:cBhvr>
                                      <p:to>
                                        <p:strVal val="visible"/>
                                      </p:to>
                                    </p:set>
                                    <p:animEffect transition="in" filter="wipe(left)">
                                      <p:cBhvr>
                                        <p:cTn id="7" dur="500"/>
                                        <p:tgtEl>
                                          <p:spTgt spid="2068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819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12" y="0"/>
            <a:ext cx="9230619" cy="6858000"/>
          </a:xfrm>
          <a:prstGeom prst="rect">
            <a:avLst/>
          </a:prstGeom>
        </p:spPr>
      </p:pic>
      <p:pic>
        <p:nvPicPr>
          <p:cNvPr id="5" name="图片 4">
            <a:extLst>
              <a:ext uri="{FF2B5EF4-FFF2-40B4-BE49-F238E27FC236}">
                <a16:creationId xmlns:a16="http://schemas.microsoft.com/office/drawing/2014/main" id="{80235BAF-17FE-4547-B912-E5F1339608B7}"/>
              </a:ext>
            </a:extLst>
          </p:cNvPr>
          <p:cNvPicPr>
            <a:picLocks noChangeAspect="1"/>
          </p:cNvPicPr>
          <p:nvPr/>
        </p:nvPicPr>
        <p:blipFill>
          <a:blip r:embed="rId3"/>
          <a:stretch>
            <a:fillRect/>
          </a:stretch>
        </p:blipFill>
        <p:spPr>
          <a:xfrm>
            <a:off x="2160164" y="1412776"/>
            <a:ext cx="2442938" cy="864096"/>
          </a:xfrm>
          <a:prstGeom prst="rect">
            <a:avLst/>
          </a:prstGeom>
        </p:spPr>
      </p:pic>
    </p:spTree>
    <p:extLst>
      <p:ext uri="{BB962C8B-B14F-4D97-AF65-F5344CB8AC3E}">
        <p14:creationId xmlns:p14="http://schemas.microsoft.com/office/powerpoint/2010/main" val="289389052"/>
      </p:ext>
    </p:extLst>
  </p:cSld>
  <p:clrMapOvr>
    <a:masterClrMapping/>
  </p:clrMapOvr>
  <p:transition>
    <p:rand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75732F7-C2FA-4633-AD24-0CF1EC9D473C}"/>
              </a:ext>
            </a:extLst>
          </p:cNvPr>
          <p:cNvPicPr>
            <a:picLocks noChangeAspect="1"/>
          </p:cNvPicPr>
          <p:nvPr/>
        </p:nvPicPr>
        <p:blipFill>
          <a:blip r:embed="rId2"/>
          <a:stretch>
            <a:fillRect/>
          </a:stretch>
        </p:blipFill>
        <p:spPr>
          <a:xfrm>
            <a:off x="107504" y="188640"/>
            <a:ext cx="6257925" cy="657225"/>
          </a:xfrm>
          <a:prstGeom prst="rect">
            <a:avLst/>
          </a:prstGeom>
        </p:spPr>
      </p:pic>
      <p:pic>
        <p:nvPicPr>
          <p:cNvPr id="5" name="图片 4">
            <a:extLst>
              <a:ext uri="{FF2B5EF4-FFF2-40B4-BE49-F238E27FC236}">
                <a16:creationId xmlns:a16="http://schemas.microsoft.com/office/drawing/2014/main" id="{C9F6CA57-DE23-451E-9C72-58D50E23720C}"/>
              </a:ext>
            </a:extLst>
          </p:cNvPr>
          <p:cNvPicPr>
            <a:picLocks noChangeAspect="1"/>
          </p:cNvPicPr>
          <p:nvPr/>
        </p:nvPicPr>
        <p:blipFill>
          <a:blip r:embed="rId3"/>
          <a:stretch>
            <a:fillRect/>
          </a:stretch>
        </p:blipFill>
        <p:spPr>
          <a:xfrm>
            <a:off x="238125" y="913470"/>
            <a:ext cx="8667750" cy="2447925"/>
          </a:xfrm>
          <a:prstGeom prst="rect">
            <a:avLst/>
          </a:prstGeom>
        </p:spPr>
      </p:pic>
      <p:pic>
        <p:nvPicPr>
          <p:cNvPr id="6" name="图片 5">
            <a:extLst>
              <a:ext uri="{FF2B5EF4-FFF2-40B4-BE49-F238E27FC236}">
                <a16:creationId xmlns:a16="http://schemas.microsoft.com/office/drawing/2014/main" id="{BD4BF534-A00E-4171-A2D9-D338E441BC48}"/>
              </a:ext>
            </a:extLst>
          </p:cNvPr>
          <p:cNvPicPr>
            <a:picLocks noChangeAspect="1"/>
          </p:cNvPicPr>
          <p:nvPr/>
        </p:nvPicPr>
        <p:blipFill rotWithShape="1">
          <a:blip r:embed="rId4"/>
          <a:srcRect t="30712"/>
          <a:stretch/>
        </p:blipFill>
        <p:spPr>
          <a:xfrm>
            <a:off x="611560" y="4581128"/>
            <a:ext cx="6105525" cy="2276872"/>
          </a:xfrm>
          <a:prstGeom prst="rect">
            <a:avLst/>
          </a:prstGeom>
        </p:spPr>
      </p:pic>
      <p:pic>
        <p:nvPicPr>
          <p:cNvPr id="7" name="图片 6">
            <a:extLst>
              <a:ext uri="{FF2B5EF4-FFF2-40B4-BE49-F238E27FC236}">
                <a16:creationId xmlns:a16="http://schemas.microsoft.com/office/drawing/2014/main" id="{2E703ED3-DC5B-45B4-A994-3DE3C59BF97A}"/>
              </a:ext>
            </a:extLst>
          </p:cNvPr>
          <p:cNvPicPr>
            <a:picLocks noChangeAspect="1"/>
          </p:cNvPicPr>
          <p:nvPr/>
        </p:nvPicPr>
        <p:blipFill>
          <a:blip r:embed="rId5"/>
          <a:stretch>
            <a:fillRect/>
          </a:stretch>
        </p:blipFill>
        <p:spPr>
          <a:xfrm>
            <a:off x="6381750" y="3417221"/>
            <a:ext cx="2524125" cy="3162300"/>
          </a:xfrm>
          <a:prstGeom prst="rect">
            <a:avLst/>
          </a:prstGeom>
        </p:spPr>
      </p:pic>
      <p:pic>
        <p:nvPicPr>
          <p:cNvPr id="2" name="图片 1">
            <a:extLst>
              <a:ext uri="{FF2B5EF4-FFF2-40B4-BE49-F238E27FC236}">
                <a16:creationId xmlns:a16="http://schemas.microsoft.com/office/drawing/2014/main" id="{E5F1A096-C760-403D-BC08-A0EE041C725A}"/>
              </a:ext>
            </a:extLst>
          </p:cNvPr>
          <p:cNvPicPr>
            <a:picLocks noChangeAspect="1"/>
          </p:cNvPicPr>
          <p:nvPr/>
        </p:nvPicPr>
        <p:blipFill>
          <a:blip r:embed="rId6"/>
          <a:stretch>
            <a:fillRect/>
          </a:stretch>
        </p:blipFill>
        <p:spPr>
          <a:xfrm>
            <a:off x="2195736" y="3613412"/>
            <a:ext cx="3371850" cy="771525"/>
          </a:xfrm>
          <a:prstGeom prst="rect">
            <a:avLst/>
          </a:prstGeom>
        </p:spPr>
      </p:pic>
    </p:spTree>
    <p:extLst>
      <p:ext uri="{BB962C8B-B14F-4D97-AF65-F5344CB8AC3E}">
        <p14:creationId xmlns:p14="http://schemas.microsoft.com/office/powerpoint/2010/main" val="283952387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5604C07-EC5F-477E-B49E-D46C32AB05F6}"/>
              </a:ext>
            </a:extLst>
          </p:cNvPr>
          <p:cNvPicPr>
            <a:picLocks noChangeAspect="1"/>
          </p:cNvPicPr>
          <p:nvPr/>
        </p:nvPicPr>
        <p:blipFill>
          <a:blip r:embed="rId2"/>
          <a:stretch>
            <a:fillRect/>
          </a:stretch>
        </p:blipFill>
        <p:spPr>
          <a:xfrm>
            <a:off x="25185" y="0"/>
            <a:ext cx="9134475" cy="504825"/>
          </a:xfrm>
          <a:prstGeom prst="rect">
            <a:avLst/>
          </a:prstGeom>
        </p:spPr>
      </p:pic>
      <p:pic>
        <p:nvPicPr>
          <p:cNvPr id="5" name="图片 4">
            <a:extLst>
              <a:ext uri="{FF2B5EF4-FFF2-40B4-BE49-F238E27FC236}">
                <a16:creationId xmlns:a16="http://schemas.microsoft.com/office/drawing/2014/main" id="{BCA07E11-44E5-4E8E-9C3F-054502DC6D57}"/>
              </a:ext>
            </a:extLst>
          </p:cNvPr>
          <p:cNvPicPr>
            <a:picLocks noChangeAspect="1"/>
          </p:cNvPicPr>
          <p:nvPr/>
        </p:nvPicPr>
        <p:blipFill rotWithShape="1">
          <a:blip r:embed="rId3"/>
          <a:srcRect t="5366" r="-1436" b="47370"/>
          <a:stretch/>
        </p:blipFill>
        <p:spPr>
          <a:xfrm>
            <a:off x="126767" y="473206"/>
            <a:ext cx="9291239" cy="882378"/>
          </a:xfrm>
          <a:prstGeom prst="rect">
            <a:avLst/>
          </a:prstGeom>
        </p:spPr>
      </p:pic>
      <p:pic>
        <p:nvPicPr>
          <p:cNvPr id="6" name="图片 5">
            <a:extLst>
              <a:ext uri="{FF2B5EF4-FFF2-40B4-BE49-F238E27FC236}">
                <a16:creationId xmlns:a16="http://schemas.microsoft.com/office/drawing/2014/main" id="{8AB4AE04-E5B5-45DE-9511-8CDA92834CD0}"/>
              </a:ext>
            </a:extLst>
          </p:cNvPr>
          <p:cNvPicPr>
            <a:picLocks noChangeAspect="1"/>
          </p:cNvPicPr>
          <p:nvPr/>
        </p:nvPicPr>
        <p:blipFill>
          <a:blip r:embed="rId4"/>
          <a:stretch>
            <a:fillRect/>
          </a:stretch>
        </p:blipFill>
        <p:spPr>
          <a:xfrm>
            <a:off x="3635896" y="1733737"/>
            <a:ext cx="2634283" cy="3135424"/>
          </a:xfrm>
          <a:prstGeom prst="rect">
            <a:avLst/>
          </a:prstGeom>
        </p:spPr>
      </p:pic>
      <p:pic>
        <p:nvPicPr>
          <p:cNvPr id="7" name="图片 6">
            <a:extLst>
              <a:ext uri="{FF2B5EF4-FFF2-40B4-BE49-F238E27FC236}">
                <a16:creationId xmlns:a16="http://schemas.microsoft.com/office/drawing/2014/main" id="{30E41BA2-4FBA-4392-AA58-B493B786C91B}"/>
              </a:ext>
            </a:extLst>
          </p:cNvPr>
          <p:cNvPicPr>
            <a:picLocks noChangeAspect="1"/>
          </p:cNvPicPr>
          <p:nvPr/>
        </p:nvPicPr>
        <p:blipFill>
          <a:blip r:embed="rId5"/>
          <a:stretch>
            <a:fillRect/>
          </a:stretch>
        </p:blipFill>
        <p:spPr>
          <a:xfrm>
            <a:off x="251520" y="1435013"/>
            <a:ext cx="3571875" cy="5095875"/>
          </a:xfrm>
          <a:prstGeom prst="rect">
            <a:avLst/>
          </a:prstGeom>
        </p:spPr>
      </p:pic>
      <p:pic>
        <p:nvPicPr>
          <p:cNvPr id="8" name="图片 7">
            <a:extLst>
              <a:ext uri="{FF2B5EF4-FFF2-40B4-BE49-F238E27FC236}">
                <a16:creationId xmlns:a16="http://schemas.microsoft.com/office/drawing/2014/main" id="{2AD5E717-B815-4433-84AD-D1490164CF1D}"/>
              </a:ext>
            </a:extLst>
          </p:cNvPr>
          <p:cNvPicPr>
            <a:picLocks noChangeAspect="1"/>
          </p:cNvPicPr>
          <p:nvPr/>
        </p:nvPicPr>
        <p:blipFill>
          <a:blip r:embed="rId6"/>
          <a:stretch>
            <a:fillRect/>
          </a:stretch>
        </p:blipFill>
        <p:spPr>
          <a:xfrm>
            <a:off x="-13041" y="6268678"/>
            <a:ext cx="9144000" cy="589322"/>
          </a:xfrm>
          <a:prstGeom prst="rect">
            <a:avLst/>
          </a:prstGeom>
        </p:spPr>
      </p:pic>
      <p:pic>
        <p:nvPicPr>
          <p:cNvPr id="9" name="图片 8">
            <a:extLst>
              <a:ext uri="{FF2B5EF4-FFF2-40B4-BE49-F238E27FC236}">
                <a16:creationId xmlns:a16="http://schemas.microsoft.com/office/drawing/2014/main" id="{0FA9F885-49F1-4BC1-A9B1-7ECCC5598C5B}"/>
              </a:ext>
            </a:extLst>
          </p:cNvPr>
          <p:cNvPicPr>
            <a:picLocks noChangeAspect="1"/>
          </p:cNvPicPr>
          <p:nvPr/>
        </p:nvPicPr>
        <p:blipFill>
          <a:blip r:embed="rId7"/>
          <a:stretch>
            <a:fillRect/>
          </a:stretch>
        </p:blipFill>
        <p:spPr>
          <a:xfrm>
            <a:off x="6053053" y="2060848"/>
            <a:ext cx="3114675" cy="3943350"/>
          </a:xfrm>
          <a:prstGeom prst="rect">
            <a:avLst/>
          </a:prstGeom>
        </p:spPr>
      </p:pic>
      <p:sp>
        <p:nvSpPr>
          <p:cNvPr id="3" name="文本框 2">
            <a:extLst>
              <a:ext uri="{FF2B5EF4-FFF2-40B4-BE49-F238E27FC236}">
                <a16:creationId xmlns:a16="http://schemas.microsoft.com/office/drawing/2014/main" id="{A4477F80-293F-4F38-93FE-F190ED854CB0}"/>
              </a:ext>
            </a:extLst>
          </p:cNvPr>
          <p:cNvSpPr txBox="1"/>
          <p:nvPr/>
        </p:nvSpPr>
        <p:spPr>
          <a:xfrm>
            <a:off x="4772387" y="3861048"/>
            <a:ext cx="364202" cy="646331"/>
          </a:xfrm>
          <a:prstGeom prst="rect">
            <a:avLst/>
          </a:prstGeom>
          <a:noFill/>
        </p:spPr>
        <p:txBody>
          <a:bodyPr wrap="none" rtlCol="0">
            <a:spAutoFit/>
          </a:bodyPr>
          <a:lstStyle/>
          <a:p>
            <a:r>
              <a:rPr lang="en-US" altLang="zh-CN" i="1">
                <a:solidFill>
                  <a:schemeClr val="bg1"/>
                </a:solidFill>
              </a:rPr>
              <a:t>r</a:t>
            </a:r>
            <a:endParaRPr lang="zh-CN" altLang="en-US" i="1">
              <a:solidFill>
                <a:schemeClr val="bg1"/>
              </a:solidFill>
            </a:endParaRPr>
          </a:p>
        </p:txBody>
      </p:sp>
      <p:pic>
        <p:nvPicPr>
          <p:cNvPr id="10" name="图片 9">
            <a:extLst>
              <a:ext uri="{FF2B5EF4-FFF2-40B4-BE49-F238E27FC236}">
                <a16:creationId xmlns:a16="http://schemas.microsoft.com/office/drawing/2014/main" id="{156B557C-EA2E-4CD0-B966-A960ACF6A760}"/>
              </a:ext>
            </a:extLst>
          </p:cNvPr>
          <p:cNvPicPr>
            <a:picLocks noChangeAspect="1"/>
          </p:cNvPicPr>
          <p:nvPr/>
        </p:nvPicPr>
        <p:blipFill>
          <a:blip r:embed="rId8"/>
          <a:stretch>
            <a:fillRect/>
          </a:stretch>
        </p:blipFill>
        <p:spPr>
          <a:xfrm>
            <a:off x="703189" y="1528851"/>
            <a:ext cx="1866951" cy="726353"/>
          </a:xfrm>
          <a:prstGeom prst="rect">
            <a:avLst/>
          </a:prstGeom>
        </p:spPr>
      </p:pic>
    </p:spTree>
    <p:extLst>
      <p:ext uri="{BB962C8B-B14F-4D97-AF65-F5344CB8AC3E}">
        <p14:creationId xmlns:p14="http://schemas.microsoft.com/office/powerpoint/2010/main" val="202852784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861C46DD-97E9-4753-A79E-01B47A2D379C}"/>
                  </a:ext>
                </a:extLst>
              </p:cNvPr>
              <p:cNvSpPr txBox="1"/>
              <p:nvPr/>
            </p:nvSpPr>
            <p:spPr>
              <a:xfrm>
                <a:off x="180145" y="2225654"/>
                <a:ext cx="8308466" cy="4069897"/>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CN" sz="3000" smtClean="0">
                          <a:solidFill>
                            <a:schemeClr val="tx1"/>
                          </a:solidFill>
                          <a:latin typeface="Cambria Math" panose="02040503050406030204" pitchFamily="18" charset="0"/>
                          <a:ea typeface="+mn-ea"/>
                        </a:rPr>
                        <m:t>𝑹</m:t>
                      </m:r>
                      <m:r>
                        <a:rPr lang="zh-CN" altLang="en-US" sz="3000">
                          <a:solidFill>
                            <a:schemeClr val="tx1"/>
                          </a:solidFill>
                          <a:latin typeface="Cambria Math" panose="02040503050406030204" pitchFamily="18" charset="0"/>
                          <a:ea typeface="+mn-ea"/>
                        </a:rPr>
                        <m:t>圆柱内的电场强度为：</m:t>
                      </m:r>
                      <m:r>
                        <a:rPr lang="en-US" altLang="zh-CN" sz="3000" b="1" i="1">
                          <a:solidFill>
                            <a:schemeClr val="tx1"/>
                          </a:solidFill>
                          <a:latin typeface="Cambria Math" panose="02040503050406030204" pitchFamily="18" charset="0"/>
                          <a:ea typeface="+mn-ea"/>
                        </a:rPr>
                        <m:t>𝑬</m:t>
                      </m:r>
                      <m:r>
                        <a:rPr lang="en-US" altLang="zh-CN" sz="3000" b="0">
                          <a:solidFill>
                            <a:schemeClr val="tx1"/>
                          </a:solidFill>
                          <a:latin typeface="Cambria Math" panose="02040503050406030204" pitchFamily="18" charset="0"/>
                          <a:ea typeface="+mn-ea"/>
                        </a:rPr>
                        <m:t>=</m:t>
                      </m:r>
                      <m:f>
                        <m:fPr>
                          <m:ctrlPr>
                            <a:rPr lang="en-US" altLang="zh-CN" sz="3000" b="0" i="1">
                              <a:solidFill>
                                <a:schemeClr val="tx1"/>
                              </a:solidFill>
                              <a:latin typeface="Cambria Math" panose="02040503050406030204" pitchFamily="18" charset="0"/>
                              <a:ea typeface="+mn-ea"/>
                            </a:rPr>
                          </m:ctrlPr>
                        </m:fPr>
                        <m:num>
                          <m:sSub>
                            <m:sSubPr>
                              <m:ctrlPr>
                                <a:rPr lang="en-US" altLang="zh-CN" sz="3000" i="1">
                                  <a:solidFill>
                                    <a:schemeClr val="tx1"/>
                                  </a:solidFill>
                                  <a:latin typeface="Cambria Math" panose="02040503050406030204" pitchFamily="18" charset="0"/>
                                  <a:ea typeface="+mn-ea"/>
                                </a:rPr>
                              </m:ctrlPr>
                            </m:sSubPr>
                            <m:e>
                              <m:r>
                                <a:rPr lang="en-US" altLang="zh-CN" sz="3000" b="1" i="1">
                                  <a:solidFill>
                                    <a:schemeClr val="tx1"/>
                                  </a:solidFill>
                                  <a:latin typeface="Cambria Math" panose="02040503050406030204" pitchFamily="18" charset="0"/>
                                  <a:ea typeface="+mn-ea"/>
                                </a:rPr>
                                <m:t>𝒓</m:t>
                              </m:r>
                            </m:e>
                            <m:sub>
                              <m:r>
                                <a:rPr lang="en-US" altLang="zh-CN" sz="3000" b="1">
                                  <a:solidFill>
                                    <a:schemeClr val="tx1"/>
                                  </a:solidFill>
                                  <a:latin typeface="Cambria Math" panose="02040503050406030204" pitchFamily="18" charset="0"/>
                                  <a:ea typeface="+mn-ea"/>
                                </a:rPr>
                                <m:t>+</m:t>
                              </m:r>
                            </m:sub>
                          </m:sSub>
                          <m:r>
                            <m:rPr>
                              <m:sty m:val="p"/>
                            </m:rPr>
                            <a:rPr lang="zh-CN" altLang="en-US" sz="3000" b="0" i="1">
                              <a:solidFill>
                                <a:schemeClr val="tx1"/>
                              </a:solidFill>
                              <a:latin typeface="Cambria Math" panose="02040503050406030204" pitchFamily="18" charset="0"/>
                              <a:ea typeface="+mn-ea"/>
                            </a:rPr>
                            <m:t>ρ</m:t>
                          </m:r>
                        </m:num>
                        <m:den>
                          <m:r>
                            <a:rPr lang="en-US" altLang="zh-CN" sz="3000" b="0" i="1">
                              <a:solidFill>
                                <a:schemeClr val="tx1"/>
                              </a:solidFill>
                              <a:latin typeface="Cambria Math" panose="02040503050406030204" pitchFamily="18" charset="0"/>
                              <a:ea typeface="+mn-ea"/>
                            </a:rPr>
                            <m:t>2</m:t>
                          </m:r>
                          <m:sSub>
                            <m:sSubPr>
                              <m:ctrlPr>
                                <a:rPr lang="en-US" altLang="zh-CN" sz="3000" b="0" i="1">
                                  <a:solidFill>
                                    <a:schemeClr val="tx1"/>
                                  </a:solidFill>
                                  <a:latin typeface="Cambria Math" panose="02040503050406030204" pitchFamily="18" charset="0"/>
                                  <a:ea typeface="+mn-ea"/>
                                </a:rPr>
                              </m:ctrlPr>
                            </m:sSubPr>
                            <m:e>
                              <m:r>
                                <m:rPr>
                                  <m:sty m:val="p"/>
                                </m:rPr>
                                <a:rPr lang="zh-CN" altLang="en-US" sz="3000" b="0" i="1">
                                  <a:solidFill>
                                    <a:schemeClr val="tx1"/>
                                  </a:solidFill>
                                  <a:latin typeface="Cambria Math" panose="02040503050406030204" pitchFamily="18" charset="0"/>
                                  <a:ea typeface="+mn-ea"/>
                                </a:rPr>
                                <m:t>ε</m:t>
                              </m:r>
                            </m:e>
                            <m:sub>
                              <m:r>
                                <a:rPr lang="en-US" altLang="zh-CN" sz="3000" b="0" i="1">
                                  <a:solidFill>
                                    <a:schemeClr val="tx1"/>
                                  </a:solidFill>
                                  <a:latin typeface="Cambria Math" panose="02040503050406030204" pitchFamily="18" charset="0"/>
                                  <a:ea typeface="+mn-ea"/>
                                </a:rPr>
                                <m:t>0</m:t>
                              </m:r>
                            </m:sub>
                          </m:sSub>
                        </m:den>
                      </m:f>
                    </m:oMath>
                  </m:oMathPara>
                </a14:m>
                <a:endParaRPr lang="en-US" altLang="zh-CN" sz="3000" b="0">
                  <a:solidFill>
                    <a:schemeClr val="tx1"/>
                  </a:solidFill>
                  <a:latin typeface="+mn-ea"/>
                  <a:ea typeface="+mn-ea"/>
                </a:endParaRPr>
              </a:p>
              <a:p>
                <a:r>
                  <a:rPr lang="zh-CN" altLang="en-US" sz="3000">
                    <a:solidFill>
                      <a:schemeClr val="tx1"/>
                    </a:solidFill>
                    <a:latin typeface="+mn-ea"/>
                    <a:ea typeface="+mn-ea"/>
                  </a:rPr>
                  <a:t>与大圆柱的带电量相反的半径为</a:t>
                </a:r>
                <a:r>
                  <a:rPr lang="en-US" altLang="zh-CN" sz="3000">
                    <a:solidFill>
                      <a:schemeClr val="tx1"/>
                    </a:solidFill>
                    <a:latin typeface="+mn-ea"/>
                    <a:ea typeface="+mn-ea"/>
                  </a:rPr>
                  <a:t>r</a:t>
                </a:r>
                <a:r>
                  <a:rPr lang="zh-CN" altLang="en-US" sz="3000">
                    <a:solidFill>
                      <a:schemeClr val="tx1"/>
                    </a:solidFill>
                    <a:latin typeface="+mn-ea"/>
                    <a:ea typeface="+mn-ea"/>
                  </a:rPr>
                  <a:t>的圆柱内的电场为</a:t>
                </a:r>
                <a14:m>
                  <m:oMath xmlns:m="http://schemas.openxmlformats.org/officeDocument/2006/math">
                    <m:r>
                      <a:rPr lang="en-US" altLang="zh-CN" sz="3000" b="1" i="0" smtClean="0">
                        <a:solidFill>
                          <a:schemeClr val="tx1"/>
                        </a:solidFill>
                        <a:latin typeface="Cambria Math" panose="02040503050406030204" pitchFamily="18" charset="0"/>
                      </a:rPr>
                      <m:t>:</m:t>
                    </m:r>
                    <m:r>
                      <a:rPr lang="en-US" altLang="zh-CN" sz="3000">
                        <a:solidFill>
                          <a:schemeClr val="tx1"/>
                        </a:solidFill>
                        <a:latin typeface="Cambria Math" panose="02040503050406030204" pitchFamily="18" charset="0"/>
                      </a:rPr>
                      <m:t>𝑬</m:t>
                    </m:r>
                    <m:r>
                      <a:rPr lang="en-US" altLang="zh-CN" sz="3000">
                        <a:solidFill>
                          <a:schemeClr val="tx1"/>
                        </a:solidFill>
                        <a:latin typeface="Cambria Math" panose="02040503050406030204" pitchFamily="18" charset="0"/>
                      </a:rPr>
                      <m:t>=</m:t>
                    </m:r>
                    <m:r>
                      <a:rPr lang="en-US" altLang="zh-CN" sz="3000" b="1" i="1" smtClean="0">
                        <a:solidFill>
                          <a:schemeClr val="tx1"/>
                        </a:solidFill>
                        <a:latin typeface="Cambria Math" panose="02040503050406030204" pitchFamily="18" charset="0"/>
                      </a:rPr>
                      <m:t>−</m:t>
                    </m:r>
                    <m:f>
                      <m:fPr>
                        <m:ctrlPr>
                          <a:rPr lang="en-US" altLang="zh-CN" sz="3000" i="1">
                            <a:solidFill>
                              <a:schemeClr val="tx1"/>
                            </a:solidFill>
                            <a:latin typeface="Cambria Math" panose="02040503050406030204" pitchFamily="18" charset="0"/>
                          </a:rPr>
                        </m:ctrlPr>
                      </m:fPr>
                      <m:num>
                        <m:sSub>
                          <m:sSubPr>
                            <m:ctrlPr>
                              <a:rPr lang="en-US" altLang="zh-CN" sz="3000" i="1" smtClean="0">
                                <a:solidFill>
                                  <a:schemeClr val="tx1"/>
                                </a:solidFill>
                                <a:latin typeface="Cambria Math" panose="02040503050406030204" pitchFamily="18" charset="0"/>
                              </a:rPr>
                            </m:ctrlPr>
                          </m:sSubPr>
                          <m:e>
                            <m:r>
                              <a:rPr lang="en-US" altLang="zh-CN" sz="3000" b="1" i="1" smtClean="0">
                                <a:solidFill>
                                  <a:schemeClr val="tx1"/>
                                </a:solidFill>
                                <a:latin typeface="Cambria Math" panose="02040503050406030204" pitchFamily="18" charset="0"/>
                              </a:rPr>
                              <m:t>𝒓</m:t>
                            </m:r>
                          </m:e>
                          <m:sub>
                            <m:r>
                              <a:rPr lang="en-US" altLang="zh-CN" sz="3000" b="1" i="1" smtClean="0">
                                <a:solidFill>
                                  <a:schemeClr val="tx1"/>
                                </a:solidFill>
                                <a:latin typeface="Cambria Math" panose="02040503050406030204" pitchFamily="18" charset="0"/>
                              </a:rPr>
                              <m:t>−</m:t>
                            </m:r>
                          </m:sub>
                        </m:sSub>
                        <m:r>
                          <a:rPr lang="zh-CN" altLang="en-US" sz="3000">
                            <a:solidFill>
                              <a:schemeClr val="tx1"/>
                            </a:solidFill>
                            <a:latin typeface="Cambria Math" panose="02040503050406030204" pitchFamily="18" charset="0"/>
                          </a:rPr>
                          <m:t>𝝆</m:t>
                        </m:r>
                      </m:num>
                      <m:den>
                        <m:r>
                          <a:rPr lang="en-US" altLang="zh-CN" sz="3000">
                            <a:solidFill>
                              <a:schemeClr val="tx1"/>
                            </a:solidFill>
                            <a:latin typeface="Cambria Math" panose="02040503050406030204" pitchFamily="18" charset="0"/>
                          </a:rPr>
                          <m:t>𝟐</m:t>
                        </m:r>
                        <m:sSub>
                          <m:sSubPr>
                            <m:ctrlPr>
                              <a:rPr lang="en-US" altLang="zh-CN" sz="3000" i="1">
                                <a:solidFill>
                                  <a:schemeClr val="tx1"/>
                                </a:solidFill>
                                <a:latin typeface="Cambria Math" panose="02040503050406030204" pitchFamily="18" charset="0"/>
                              </a:rPr>
                            </m:ctrlPr>
                          </m:sSubPr>
                          <m:e>
                            <m:r>
                              <a:rPr lang="zh-CN" altLang="en-US" sz="3000">
                                <a:solidFill>
                                  <a:schemeClr val="tx1"/>
                                </a:solidFill>
                                <a:latin typeface="Cambria Math" panose="02040503050406030204" pitchFamily="18" charset="0"/>
                              </a:rPr>
                              <m:t>𝜺</m:t>
                            </m:r>
                          </m:e>
                          <m:sub>
                            <m:r>
                              <a:rPr lang="en-US" altLang="zh-CN" sz="3000">
                                <a:solidFill>
                                  <a:schemeClr val="tx1"/>
                                </a:solidFill>
                                <a:latin typeface="Cambria Math" panose="02040503050406030204" pitchFamily="18" charset="0"/>
                              </a:rPr>
                              <m:t>𝟎</m:t>
                            </m:r>
                          </m:sub>
                        </m:sSub>
                      </m:den>
                    </m:f>
                  </m:oMath>
                </a14:m>
                <a:endParaRPr lang="en-US" altLang="zh-CN" sz="3000">
                  <a:solidFill>
                    <a:schemeClr val="tx1"/>
                  </a:solidFill>
                  <a:latin typeface="+mn-lt"/>
                  <a:ea typeface="+mn-ea"/>
                </a:endParaRPr>
              </a:p>
              <a:p>
                <a:r>
                  <a:rPr lang="zh-CN" altLang="en-US" sz="3000">
                    <a:solidFill>
                      <a:schemeClr val="tx1"/>
                    </a:solidFill>
                    <a:latin typeface="+mn-ea"/>
                    <a:ea typeface="+mn-ea"/>
                  </a:rPr>
                  <a:t>合场强为：</a:t>
                </a:r>
                <a:r>
                  <a:rPr lang="en-US" altLang="zh-CN" sz="3000">
                    <a:solidFill>
                      <a:schemeClr val="tx1"/>
                    </a:solidFill>
                  </a:rPr>
                  <a:t> </a:t>
                </a:r>
                <a14:m>
                  <m:oMath xmlns:m="http://schemas.openxmlformats.org/officeDocument/2006/math">
                    <m:r>
                      <a:rPr lang="en-US" altLang="zh-CN" sz="3000" i="1">
                        <a:solidFill>
                          <a:schemeClr val="tx1"/>
                        </a:solidFill>
                        <a:latin typeface="Cambria Math" panose="02040503050406030204" pitchFamily="18" charset="0"/>
                      </a:rPr>
                      <m:t>𝑬</m:t>
                    </m:r>
                    <m:r>
                      <a:rPr lang="en-US" altLang="zh-CN" sz="3000" b="0">
                        <a:solidFill>
                          <a:schemeClr val="tx1"/>
                        </a:solidFill>
                        <a:latin typeface="Cambria Math" panose="02040503050406030204" pitchFamily="18" charset="0"/>
                      </a:rPr>
                      <m:t>=</m:t>
                    </m:r>
                    <m:f>
                      <m:fPr>
                        <m:ctrlPr>
                          <a:rPr lang="en-US" altLang="zh-CN" sz="3000" b="0" i="1">
                            <a:solidFill>
                              <a:schemeClr val="tx1"/>
                            </a:solidFill>
                            <a:latin typeface="Cambria Math" panose="02040503050406030204" pitchFamily="18" charset="0"/>
                          </a:rPr>
                        </m:ctrlPr>
                      </m:fPr>
                      <m:num>
                        <m:sSub>
                          <m:sSubPr>
                            <m:ctrlPr>
                              <a:rPr lang="en-US" altLang="zh-CN" sz="3000" i="1">
                                <a:solidFill>
                                  <a:schemeClr val="tx1"/>
                                </a:solidFill>
                                <a:latin typeface="Cambria Math" panose="02040503050406030204" pitchFamily="18" charset="0"/>
                              </a:rPr>
                            </m:ctrlPr>
                          </m:sSubPr>
                          <m:e>
                            <m:r>
                              <a:rPr lang="en-US" altLang="zh-CN" sz="3000" i="1">
                                <a:solidFill>
                                  <a:schemeClr val="tx1"/>
                                </a:solidFill>
                                <a:latin typeface="Cambria Math" panose="02040503050406030204" pitchFamily="18" charset="0"/>
                              </a:rPr>
                              <m:t>𝒓</m:t>
                            </m:r>
                          </m:e>
                          <m:sub>
                            <m:r>
                              <a:rPr lang="en-US" altLang="zh-CN" sz="3000">
                                <a:solidFill>
                                  <a:schemeClr val="tx1"/>
                                </a:solidFill>
                                <a:latin typeface="Cambria Math" panose="02040503050406030204" pitchFamily="18" charset="0"/>
                              </a:rPr>
                              <m:t>+</m:t>
                            </m:r>
                          </m:sub>
                        </m:sSub>
                        <m:r>
                          <m:rPr>
                            <m:sty m:val="p"/>
                          </m:rPr>
                          <a:rPr lang="zh-CN" altLang="en-US" sz="3000" b="0" i="1">
                            <a:solidFill>
                              <a:schemeClr val="tx1"/>
                            </a:solidFill>
                            <a:latin typeface="Cambria Math" panose="02040503050406030204" pitchFamily="18" charset="0"/>
                          </a:rPr>
                          <m:t>ρ</m:t>
                        </m:r>
                      </m:num>
                      <m:den>
                        <m:r>
                          <a:rPr lang="en-US" altLang="zh-CN" sz="3000" b="0" i="1">
                            <a:solidFill>
                              <a:schemeClr val="tx1"/>
                            </a:solidFill>
                            <a:latin typeface="Cambria Math" panose="02040503050406030204" pitchFamily="18" charset="0"/>
                          </a:rPr>
                          <m:t>2</m:t>
                        </m:r>
                        <m:sSub>
                          <m:sSubPr>
                            <m:ctrlPr>
                              <a:rPr lang="en-US" altLang="zh-CN" sz="3000" b="0" i="1">
                                <a:solidFill>
                                  <a:schemeClr val="tx1"/>
                                </a:solidFill>
                                <a:latin typeface="Cambria Math" panose="02040503050406030204" pitchFamily="18" charset="0"/>
                              </a:rPr>
                            </m:ctrlPr>
                          </m:sSubPr>
                          <m:e>
                            <m:r>
                              <m:rPr>
                                <m:sty m:val="p"/>
                              </m:rPr>
                              <a:rPr lang="zh-CN" altLang="en-US" sz="3000" b="0" i="1">
                                <a:solidFill>
                                  <a:schemeClr val="tx1"/>
                                </a:solidFill>
                                <a:latin typeface="Cambria Math" panose="02040503050406030204" pitchFamily="18" charset="0"/>
                              </a:rPr>
                              <m:t>ε</m:t>
                            </m:r>
                          </m:e>
                          <m:sub>
                            <m:r>
                              <a:rPr lang="en-US" altLang="zh-CN" sz="3000" b="0" i="1">
                                <a:solidFill>
                                  <a:schemeClr val="tx1"/>
                                </a:solidFill>
                                <a:latin typeface="Cambria Math" panose="02040503050406030204" pitchFamily="18" charset="0"/>
                              </a:rPr>
                              <m:t>0</m:t>
                            </m:r>
                          </m:sub>
                        </m:sSub>
                      </m:den>
                    </m:f>
                    <m:r>
                      <a:rPr lang="en-US" altLang="zh-CN" sz="3000" i="1">
                        <a:solidFill>
                          <a:schemeClr val="tx1"/>
                        </a:solidFill>
                        <a:latin typeface="Cambria Math" panose="02040503050406030204" pitchFamily="18" charset="0"/>
                      </a:rPr>
                      <m:t>−</m:t>
                    </m:r>
                    <m:f>
                      <m:fPr>
                        <m:ctrlPr>
                          <a:rPr lang="en-US" altLang="zh-CN" sz="3000" i="1">
                            <a:solidFill>
                              <a:schemeClr val="tx1"/>
                            </a:solidFill>
                            <a:latin typeface="Cambria Math" panose="02040503050406030204" pitchFamily="18" charset="0"/>
                          </a:rPr>
                        </m:ctrlPr>
                      </m:fPr>
                      <m:num>
                        <m:sSub>
                          <m:sSubPr>
                            <m:ctrlPr>
                              <a:rPr lang="en-US" altLang="zh-CN" sz="3000" i="1">
                                <a:solidFill>
                                  <a:schemeClr val="tx1"/>
                                </a:solidFill>
                                <a:latin typeface="Cambria Math" panose="02040503050406030204" pitchFamily="18" charset="0"/>
                              </a:rPr>
                            </m:ctrlPr>
                          </m:sSubPr>
                          <m:e>
                            <m:r>
                              <a:rPr lang="en-US" altLang="zh-CN" sz="3000" i="1">
                                <a:solidFill>
                                  <a:schemeClr val="tx1"/>
                                </a:solidFill>
                                <a:latin typeface="Cambria Math" panose="02040503050406030204" pitchFamily="18" charset="0"/>
                              </a:rPr>
                              <m:t>𝒓</m:t>
                            </m:r>
                          </m:e>
                          <m:sub>
                            <m:r>
                              <a:rPr lang="en-US" altLang="zh-CN" sz="3000" i="1">
                                <a:solidFill>
                                  <a:schemeClr val="tx1"/>
                                </a:solidFill>
                                <a:latin typeface="Cambria Math" panose="02040503050406030204" pitchFamily="18" charset="0"/>
                              </a:rPr>
                              <m:t>−</m:t>
                            </m:r>
                          </m:sub>
                        </m:sSub>
                        <m:r>
                          <a:rPr lang="zh-CN" altLang="en-US" sz="3000">
                            <a:solidFill>
                              <a:schemeClr val="tx1"/>
                            </a:solidFill>
                            <a:latin typeface="Cambria Math" panose="02040503050406030204" pitchFamily="18" charset="0"/>
                          </a:rPr>
                          <m:t>𝝆</m:t>
                        </m:r>
                      </m:num>
                      <m:den>
                        <m:r>
                          <a:rPr lang="en-US" altLang="zh-CN" sz="3000">
                            <a:solidFill>
                              <a:schemeClr val="tx1"/>
                            </a:solidFill>
                            <a:latin typeface="Cambria Math" panose="02040503050406030204" pitchFamily="18" charset="0"/>
                          </a:rPr>
                          <m:t>𝟐</m:t>
                        </m:r>
                        <m:sSub>
                          <m:sSubPr>
                            <m:ctrlPr>
                              <a:rPr lang="en-US" altLang="zh-CN" sz="3000" i="1">
                                <a:solidFill>
                                  <a:schemeClr val="tx1"/>
                                </a:solidFill>
                                <a:latin typeface="Cambria Math" panose="02040503050406030204" pitchFamily="18" charset="0"/>
                              </a:rPr>
                            </m:ctrlPr>
                          </m:sSubPr>
                          <m:e>
                            <m:r>
                              <a:rPr lang="zh-CN" altLang="en-US" sz="3000">
                                <a:solidFill>
                                  <a:schemeClr val="tx1"/>
                                </a:solidFill>
                                <a:latin typeface="Cambria Math" panose="02040503050406030204" pitchFamily="18" charset="0"/>
                              </a:rPr>
                              <m:t>𝜺</m:t>
                            </m:r>
                          </m:e>
                          <m:sub>
                            <m:r>
                              <a:rPr lang="en-US" altLang="zh-CN" sz="3000">
                                <a:solidFill>
                                  <a:schemeClr val="tx1"/>
                                </a:solidFill>
                                <a:latin typeface="Cambria Math" panose="02040503050406030204" pitchFamily="18" charset="0"/>
                              </a:rPr>
                              <m:t>𝟎</m:t>
                            </m:r>
                          </m:sub>
                        </m:sSub>
                      </m:den>
                    </m:f>
                    <m:r>
                      <a:rPr lang="en-US" altLang="zh-CN" sz="3000" b="1" i="1" smtClean="0">
                        <a:solidFill>
                          <a:schemeClr val="tx1"/>
                        </a:solidFill>
                        <a:latin typeface="Cambria Math" panose="02040503050406030204" pitchFamily="18" charset="0"/>
                      </a:rPr>
                      <m:t>=</m:t>
                    </m:r>
                    <m:f>
                      <m:fPr>
                        <m:ctrlPr>
                          <a:rPr lang="en-US" altLang="zh-CN" sz="3000" i="1">
                            <a:solidFill>
                              <a:schemeClr val="tx1"/>
                            </a:solidFill>
                            <a:latin typeface="Cambria Math" panose="02040503050406030204" pitchFamily="18" charset="0"/>
                          </a:rPr>
                        </m:ctrlPr>
                      </m:fPr>
                      <m:num>
                        <m:r>
                          <a:rPr lang="zh-CN" altLang="en-US" sz="3000">
                            <a:solidFill>
                              <a:schemeClr val="tx1"/>
                            </a:solidFill>
                            <a:latin typeface="Cambria Math" panose="02040503050406030204" pitchFamily="18" charset="0"/>
                          </a:rPr>
                          <m:t>𝝆</m:t>
                        </m:r>
                      </m:num>
                      <m:den>
                        <m:r>
                          <a:rPr lang="en-US" altLang="zh-CN" sz="3000">
                            <a:solidFill>
                              <a:schemeClr val="tx1"/>
                            </a:solidFill>
                            <a:latin typeface="Cambria Math" panose="02040503050406030204" pitchFamily="18" charset="0"/>
                          </a:rPr>
                          <m:t>𝟐</m:t>
                        </m:r>
                        <m:sSub>
                          <m:sSubPr>
                            <m:ctrlPr>
                              <a:rPr lang="en-US" altLang="zh-CN" sz="3000" i="1">
                                <a:solidFill>
                                  <a:schemeClr val="tx1"/>
                                </a:solidFill>
                                <a:latin typeface="Cambria Math" panose="02040503050406030204" pitchFamily="18" charset="0"/>
                              </a:rPr>
                            </m:ctrlPr>
                          </m:sSubPr>
                          <m:e>
                            <m:r>
                              <a:rPr lang="zh-CN" altLang="en-US" sz="3000">
                                <a:solidFill>
                                  <a:schemeClr val="tx1"/>
                                </a:solidFill>
                                <a:latin typeface="Cambria Math" panose="02040503050406030204" pitchFamily="18" charset="0"/>
                              </a:rPr>
                              <m:t>𝜺</m:t>
                            </m:r>
                          </m:e>
                          <m:sub>
                            <m:r>
                              <a:rPr lang="en-US" altLang="zh-CN" sz="3000">
                                <a:solidFill>
                                  <a:schemeClr val="tx1"/>
                                </a:solidFill>
                                <a:latin typeface="Cambria Math" panose="02040503050406030204" pitchFamily="18" charset="0"/>
                              </a:rPr>
                              <m:t>𝟎</m:t>
                            </m:r>
                          </m:sub>
                        </m:sSub>
                      </m:den>
                    </m:f>
                    <m:d>
                      <m:dPr>
                        <m:ctrlPr>
                          <a:rPr lang="en-US" altLang="zh-CN" sz="3000" b="1" i="1" smtClean="0">
                            <a:solidFill>
                              <a:schemeClr val="tx1"/>
                            </a:solidFill>
                            <a:latin typeface="Cambria Math" panose="02040503050406030204" pitchFamily="18" charset="0"/>
                          </a:rPr>
                        </m:ctrlPr>
                      </m:dPr>
                      <m:e>
                        <m:sSub>
                          <m:sSubPr>
                            <m:ctrlPr>
                              <a:rPr lang="en-US" altLang="zh-CN" sz="3000" i="1">
                                <a:solidFill>
                                  <a:schemeClr val="tx1"/>
                                </a:solidFill>
                                <a:latin typeface="Cambria Math" panose="02040503050406030204" pitchFamily="18" charset="0"/>
                              </a:rPr>
                            </m:ctrlPr>
                          </m:sSubPr>
                          <m:e>
                            <m:r>
                              <a:rPr lang="en-US" altLang="zh-CN" sz="3000" i="1">
                                <a:solidFill>
                                  <a:schemeClr val="tx1"/>
                                </a:solidFill>
                                <a:latin typeface="Cambria Math" panose="02040503050406030204" pitchFamily="18" charset="0"/>
                              </a:rPr>
                              <m:t>𝒓</m:t>
                            </m:r>
                          </m:e>
                          <m:sub>
                            <m:r>
                              <a:rPr lang="en-US" altLang="zh-CN" sz="3000">
                                <a:solidFill>
                                  <a:schemeClr val="tx1"/>
                                </a:solidFill>
                                <a:latin typeface="Cambria Math" panose="02040503050406030204" pitchFamily="18" charset="0"/>
                              </a:rPr>
                              <m:t>+</m:t>
                            </m:r>
                          </m:sub>
                        </m:sSub>
                        <m:sSub>
                          <m:sSubPr>
                            <m:ctrlPr>
                              <a:rPr lang="en-US" altLang="zh-CN" sz="3000" i="1">
                                <a:solidFill>
                                  <a:schemeClr val="tx1"/>
                                </a:solidFill>
                                <a:latin typeface="Cambria Math" panose="02040503050406030204" pitchFamily="18" charset="0"/>
                              </a:rPr>
                            </m:ctrlPr>
                          </m:sSubPr>
                          <m:e>
                            <m:r>
                              <a:rPr lang="en-US" altLang="zh-CN" sz="3000" b="1" i="1" smtClean="0">
                                <a:solidFill>
                                  <a:schemeClr val="tx1"/>
                                </a:solidFill>
                                <a:latin typeface="Cambria Math" panose="02040503050406030204" pitchFamily="18" charset="0"/>
                              </a:rPr>
                              <m:t>−</m:t>
                            </m:r>
                            <m:r>
                              <a:rPr lang="en-US" altLang="zh-CN" sz="3000" i="1">
                                <a:solidFill>
                                  <a:schemeClr val="tx1"/>
                                </a:solidFill>
                                <a:latin typeface="Cambria Math" panose="02040503050406030204" pitchFamily="18" charset="0"/>
                              </a:rPr>
                              <m:t>𝒓</m:t>
                            </m:r>
                          </m:e>
                          <m:sub>
                            <m:r>
                              <a:rPr lang="en-US" altLang="zh-CN" sz="3000" i="1">
                                <a:solidFill>
                                  <a:schemeClr val="tx1"/>
                                </a:solidFill>
                                <a:latin typeface="Cambria Math" panose="02040503050406030204" pitchFamily="18" charset="0"/>
                              </a:rPr>
                              <m:t>−</m:t>
                            </m:r>
                          </m:sub>
                        </m:sSub>
                      </m:e>
                    </m:d>
                    <m:r>
                      <a:rPr lang="en-US" altLang="zh-CN" sz="3000" b="1" i="1" smtClean="0">
                        <a:solidFill>
                          <a:schemeClr val="tx1"/>
                        </a:solidFill>
                        <a:latin typeface="Cambria Math" panose="02040503050406030204" pitchFamily="18" charset="0"/>
                      </a:rPr>
                      <m:t>=</m:t>
                    </m:r>
                  </m:oMath>
                </a14:m>
                <a:r>
                  <a:rPr lang="en-US" altLang="zh-CN" sz="3000">
                    <a:solidFill>
                      <a:schemeClr val="tx1"/>
                    </a:solidFill>
                  </a:rPr>
                  <a:t> </a:t>
                </a:r>
                <a14:m>
                  <m:oMath xmlns:m="http://schemas.openxmlformats.org/officeDocument/2006/math">
                    <m:f>
                      <m:fPr>
                        <m:ctrlPr>
                          <a:rPr lang="en-US" altLang="zh-CN" sz="3000" i="1">
                            <a:solidFill>
                              <a:schemeClr val="tx1"/>
                            </a:solidFill>
                            <a:latin typeface="Cambria Math" panose="02040503050406030204" pitchFamily="18" charset="0"/>
                          </a:rPr>
                        </m:ctrlPr>
                      </m:fPr>
                      <m:num>
                        <m:r>
                          <a:rPr lang="zh-CN" altLang="en-US" sz="3000">
                            <a:solidFill>
                              <a:schemeClr val="tx1"/>
                            </a:solidFill>
                            <a:latin typeface="Cambria Math" panose="02040503050406030204" pitchFamily="18" charset="0"/>
                          </a:rPr>
                          <m:t>𝝆</m:t>
                        </m:r>
                      </m:num>
                      <m:den>
                        <m:r>
                          <a:rPr lang="en-US" altLang="zh-CN" sz="3000">
                            <a:solidFill>
                              <a:schemeClr val="tx1"/>
                            </a:solidFill>
                            <a:latin typeface="Cambria Math" panose="02040503050406030204" pitchFamily="18" charset="0"/>
                          </a:rPr>
                          <m:t>𝟐</m:t>
                        </m:r>
                        <m:sSub>
                          <m:sSubPr>
                            <m:ctrlPr>
                              <a:rPr lang="en-US" altLang="zh-CN" sz="3000" i="1">
                                <a:solidFill>
                                  <a:schemeClr val="tx1"/>
                                </a:solidFill>
                                <a:latin typeface="Cambria Math" panose="02040503050406030204" pitchFamily="18" charset="0"/>
                              </a:rPr>
                            </m:ctrlPr>
                          </m:sSubPr>
                          <m:e>
                            <m:r>
                              <a:rPr lang="zh-CN" altLang="en-US" sz="3000">
                                <a:solidFill>
                                  <a:schemeClr val="tx1"/>
                                </a:solidFill>
                                <a:latin typeface="Cambria Math" panose="02040503050406030204" pitchFamily="18" charset="0"/>
                              </a:rPr>
                              <m:t>𝜺</m:t>
                            </m:r>
                          </m:e>
                          <m:sub>
                            <m:r>
                              <a:rPr lang="en-US" altLang="zh-CN" sz="3000">
                                <a:solidFill>
                                  <a:schemeClr val="tx1"/>
                                </a:solidFill>
                                <a:latin typeface="Cambria Math" panose="02040503050406030204" pitchFamily="18" charset="0"/>
                              </a:rPr>
                              <m:t>𝟎</m:t>
                            </m:r>
                          </m:sub>
                        </m:sSub>
                      </m:den>
                    </m:f>
                    <m:r>
                      <a:rPr lang="en-US" altLang="zh-CN" sz="3000" b="1" i="1" smtClean="0">
                        <a:solidFill>
                          <a:schemeClr val="tx1"/>
                        </a:solidFill>
                        <a:latin typeface="Cambria Math" panose="02040503050406030204" pitchFamily="18" charset="0"/>
                      </a:rPr>
                      <m:t>𝒂</m:t>
                    </m:r>
                  </m:oMath>
                </a14:m>
                <a:endParaRPr lang="en-US" altLang="zh-CN" sz="3000">
                  <a:solidFill>
                    <a:schemeClr val="tx1"/>
                  </a:solidFill>
                  <a:latin typeface="+mn-ea"/>
                  <a:ea typeface="+mn-ea"/>
                </a:endParaRPr>
              </a:p>
              <a:p>
                <a:endParaRPr lang="en-US" altLang="zh-CN" sz="3000">
                  <a:solidFill>
                    <a:schemeClr val="tx1"/>
                  </a:solidFill>
                  <a:latin typeface="+mn-ea"/>
                  <a:ea typeface="+mn-ea"/>
                </a:endParaRPr>
              </a:p>
              <a:p>
                <a:r>
                  <a:rPr lang="zh-CN" altLang="en-US" sz="3000">
                    <a:solidFill>
                      <a:schemeClr val="tx1"/>
                    </a:solidFill>
                    <a:latin typeface="+mn-ea"/>
                    <a:ea typeface="+mn-ea"/>
                  </a:rPr>
                  <a:t>为匀强电场</a:t>
                </a:r>
                <a:endParaRPr lang="en-US" altLang="zh-CN" sz="3000">
                  <a:solidFill>
                    <a:schemeClr val="tx1"/>
                  </a:solidFill>
                  <a:latin typeface="+mn-ea"/>
                  <a:ea typeface="+mn-ea"/>
                </a:endParaRPr>
              </a:p>
              <a:p>
                <a:endParaRPr lang="zh-CN" altLang="en-US" sz="3000">
                  <a:solidFill>
                    <a:schemeClr val="tx1"/>
                  </a:solidFill>
                  <a:latin typeface="+mn-ea"/>
                  <a:ea typeface="+mn-ea"/>
                </a:endParaRPr>
              </a:p>
            </p:txBody>
          </p:sp>
        </mc:Choice>
        <mc:Fallback xmlns="">
          <p:sp>
            <p:nvSpPr>
              <p:cNvPr id="3" name="文本框 2">
                <a:extLst>
                  <a:ext uri="{FF2B5EF4-FFF2-40B4-BE49-F238E27FC236}">
                    <a16:creationId xmlns:a16="http://schemas.microsoft.com/office/drawing/2014/main" id="{861C46DD-97E9-4753-A79E-01B47A2D379C}"/>
                  </a:ext>
                </a:extLst>
              </p:cNvPr>
              <p:cNvSpPr txBox="1">
                <a:spLocks noRot="1" noChangeAspect="1" noMove="1" noResize="1" noEditPoints="1" noAdjustHandles="1" noChangeArrowheads="1" noChangeShapeType="1" noTextEdit="1"/>
              </p:cNvSpPr>
              <p:nvPr/>
            </p:nvSpPr>
            <p:spPr>
              <a:xfrm>
                <a:off x="180145" y="2225654"/>
                <a:ext cx="8308466" cy="4069897"/>
              </a:xfrm>
              <a:prstGeom prst="rect">
                <a:avLst/>
              </a:prstGeom>
              <a:blipFill>
                <a:blip r:embed="rId3"/>
                <a:stretch>
                  <a:fillRect l="-2863" r="-2056"/>
                </a:stretch>
              </a:blipFill>
            </p:spPr>
            <p:txBody>
              <a:bodyPr/>
              <a:lstStyle/>
              <a:p>
                <a:r>
                  <a:rPr lang="zh-CN" altLang="en-US">
                    <a:noFill/>
                  </a:rPr>
                  <a:t> </a:t>
                </a:r>
              </a:p>
            </p:txBody>
          </p:sp>
        </mc:Fallback>
      </mc:AlternateContent>
      <p:sp>
        <p:nvSpPr>
          <p:cNvPr id="5" name="Text Box 30">
            <a:extLst>
              <a:ext uri="{FF2B5EF4-FFF2-40B4-BE49-F238E27FC236}">
                <a16:creationId xmlns:a16="http://schemas.microsoft.com/office/drawing/2014/main" id="{7A082BD4-F504-4928-A247-DF14733015B2}"/>
              </a:ext>
            </a:extLst>
          </p:cNvPr>
          <p:cNvSpPr txBox="1">
            <a:spLocks noChangeArrowheads="1"/>
          </p:cNvSpPr>
          <p:nvPr/>
        </p:nvSpPr>
        <p:spPr bwMode="auto">
          <a:xfrm>
            <a:off x="7332912" y="3429000"/>
            <a:ext cx="825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1">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a:solidFill>
                  <a:schemeClr val="bg1"/>
                </a:solidFill>
                <a:ea typeface="楷体_GB2312"/>
              </a:rPr>
              <a:t> </a:t>
            </a:r>
            <a:r>
              <a:rPr lang="zh-CN" altLang="en-US" sz="2000">
                <a:solidFill>
                  <a:schemeClr val="bg1"/>
                </a:solidFill>
                <a:ea typeface="楷体_GB2312"/>
              </a:rPr>
              <a:t>补偿法</a:t>
            </a:r>
          </a:p>
        </p:txBody>
      </p:sp>
      <p:grpSp>
        <p:nvGrpSpPr>
          <p:cNvPr id="6" name="Group 31">
            <a:extLst>
              <a:ext uri="{FF2B5EF4-FFF2-40B4-BE49-F238E27FC236}">
                <a16:creationId xmlns:a16="http://schemas.microsoft.com/office/drawing/2014/main" id="{18868C9D-7BA3-4E81-ACFD-891F8BF9D313}"/>
              </a:ext>
            </a:extLst>
          </p:cNvPr>
          <p:cNvGrpSpPr>
            <a:grpSpLocks/>
          </p:cNvGrpSpPr>
          <p:nvPr/>
        </p:nvGrpSpPr>
        <p:grpSpPr bwMode="auto">
          <a:xfrm>
            <a:off x="6904285" y="533400"/>
            <a:ext cx="1727200" cy="2625725"/>
            <a:chOff x="4341" y="2024"/>
            <a:chExt cx="1088" cy="1654"/>
          </a:xfrm>
        </p:grpSpPr>
        <p:sp>
          <p:nvSpPr>
            <p:cNvPr id="7" name="Oval 32">
              <a:extLst>
                <a:ext uri="{FF2B5EF4-FFF2-40B4-BE49-F238E27FC236}">
                  <a16:creationId xmlns:a16="http://schemas.microsoft.com/office/drawing/2014/main" id="{0F6DCD94-F6B3-4DED-A36C-34A22CDBD534}"/>
                </a:ext>
              </a:extLst>
            </p:cNvPr>
            <p:cNvSpPr>
              <a:spLocks noChangeArrowheads="1"/>
            </p:cNvSpPr>
            <p:nvPr/>
          </p:nvSpPr>
          <p:spPr bwMode="auto">
            <a:xfrm>
              <a:off x="4341" y="3092"/>
              <a:ext cx="1085" cy="586"/>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8" name="Rectangle 33">
              <a:extLst>
                <a:ext uri="{FF2B5EF4-FFF2-40B4-BE49-F238E27FC236}">
                  <a16:creationId xmlns:a16="http://schemas.microsoft.com/office/drawing/2014/main" id="{BC622D3F-DFC9-45C1-9608-850B4A8E7377}"/>
                </a:ext>
              </a:extLst>
            </p:cNvPr>
            <p:cNvSpPr>
              <a:spLocks noChangeArrowheads="1"/>
            </p:cNvSpPr>
            <p:nvPr/>
          </p:nvSpPr>
          <p:spPr bwMode="auto">
            <a:xfrm>
              <a:off x="4972" y="2322"/>
              <a:ext cx="367" cy="1070"/>
            </a:xfrm>
            <a:prstGeom prst="rect">
              <a:avLst/>
            </a:prstGeom>
            <a:solidFill>
              <a:schemeClr val="tx1">
                <a:alpha val="50195"/>
              </a:schemeClr>
            </a:solid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 name="Rectangle 34">
              <a:extLst>
                <a:ext uri="{FF2B5EF4-FFF2-40B4-BE49-F238E27FC236}">
                  <a16:creationId xmlns:a16="http://schemas.microsoft.com/office/drawing/2014/main" id="{C4EEAEAC-D71E-4B5A-8FD0-24885BB93D86}"/>
                </a:ext>
              </a:extLst>
            </p:cNvPr>
            <p:cNvSpPr>
              <a:spLocks noChangeArrowheads="1"/>
            </p:cNvSpPr>
            <p:nvPr/>
          </p:nvSpPr>
          <p:spPr bwMode="auto">
            <a:xfrm>
              <a:off x="4913" y="2939"/>
              <a:ext cx="145" cy="349"/>
            </a:xfrm>
            <a:prstGeom prst="rect">
              <a:avLst/>
            </a:prstGeom>
            <a:solidFill>
              <a:srgbClr val="FF9900">
                <a:alpha val="50195"/>
              </a:srgbClr>
            </a:solidFill>
            <a:ln w="127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a:solidFill>
                    <a:srgbClr val="00B050"/>
                  </a:solidFill>
                  <a:ea typeface="楷体_GB2312"/>
                </a:rPr>
                <a:t>a</a:t>
              </a:r>
            </a:p>
          </p:txBody>
        </p:sp>
        <p:sp>
          <p:nvSpPr>
            <p:cNvPr id="10" name="Oval 35">
              <a:extLst>
                <a:ext uri="{FF2B5EF4-FFF2-40B4-BE49-F238E27FC236}">
                  <a16:creationId xmlns:a16="http://schemas.microsoft.com/office/drawing/2014/main" id="{4D08975C-DE41-4944-A221-6BC26C732BC6}"/>
                </a:ext>
              </a:extLst>
            </p:cNvPr>
            <p:cNvSpPr>
              <a:spLocks noChangeArrowheads="1"/>
            </p:cNvSpPr>
            <p:nvPr/>
          </p:nvSpPr>
          <p:spPr bwMode="auto">
            <a:xfrm>
              <a:off x="4344" y="2024"/>
              <a:ext cx="1085" cy="586"/>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11" name="Oval 36">
              <a:extLst>
                <a:ext uri="{FF2B5EF4-FFF2-40B4-BE49-F238E27FC236}">
                  <a16:creationId xmlns:a16="http://schemas.microsoft.com/office/drawing/2014/main" id="{19FDCE57-5711-4CD8-A764-6FDB5E19075F}"/>
                </a:ext>
              </a:extLst>
            </p:cNvPr>
            <p:cNvSpPr>
              <a:spLocks noChangeAspect="1" noChangeArrowheads="1"/>
            </p:cNvSpPr>
            <p:nvPr/>
          </p:nvSpPr>
          <p:spPr bwMode="auto">
            <a:xfrm>
              <a:off x="4972" y="3284"/>
              <a:ext cx="367" cy="199"/>
            </a:xfrm>
            <a:prstGeom prst="ellipse">
              <a:avLst/>
            </a:prstGeom>
            <a:solidFill>
              <a:schemeClr val="tx1">
                <a:alpha val="50195"/>
              </a:schemeClr>
            </a:solidFill>
            <a:ln w="2857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12" name="Oval 37">
              <a:extLst>
                <a:ext uri="{FF2B5EF4-FFF2-40B4-BE49-F238E27FC236}">
                  <a16:creationId xmlns:a16="http://schemas.microsoft.com/office/drawing/2014/main" id="{F127ABB1-14AA-4692-B1A3-7DE0F17A6D91}"/>
                </a:ext>
              </a:extLst>
            </p:cNvPr>
            <p:cNvSpPr>
              <a:spLocks noChangeAspect="1" noChangeArrowheads="1"/>
            </p:cNvSpPr>
            <p:nvPr/>
          </p:nvSpPr>
          <p:spPr bwMode="auto">
            <a:xfrm>
              <a:off x="4972" y="2213"/>
              <a:ext cx="367" cy="199"/>
            </a:xfrm>
            <a:prstGeom prst="ellipse">
              <a:avLst/>
            </a:prstGeom>
            <a:solidFill>
              <a:schemeClr val="tx1"/>
            </a:solidFill>
            <a:ln w="2857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13" name="Line 38">
              <a:extLst>
                <a:ext uri="{FF2B5EF4-FFF2-40B4-BE49-F238E27FC236}">
                  <a16:creationId xmlns:a16="http://schemas.microsoft.com/office/drawing/2014/main" id="{0695FF2E-F364-4C52-836B-87215EF93492}"/>
                </a:ext>
              </a:extLst>
            </p:cNvPr>
            <p:cNvSpPr>
              <a:spLocks noChangeShapeType="1"/>
            </p:cNvSpPr>
            <p:nvPr/>
          </p:nvSpPr>
          <p:spPr bwMode="auto">
            <a:xfrm>
              <a:off x="4341" y="2314"/>
              <a:ext cx="0" cy="108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39">
              <a:extLst>
                <a:ext uri="{FF2B5EF4-FFF2-40B4-BE49-F238E27FC236}">
                  <a16:creationId xmlns:a16="http://schemas.microsoft.com/office/drawing/2014/main" id="{8916D14B-8E5B-4A60-BDC8-611A94823BD9}"/>
                </a:ext>
              </a:extLst>
            </p:cNvPr>
            <p:cNvSpPr>
              <a:spLocks noChangeShapeType="1"/>
            </p:cNvSpPr>
            <p:nvPr/>
          </p:nvSpPr>
          <p:spPr bwMode="auto">
            <a:xfrm>
              <a:off x="5429" y="2332"/>
              <a:ext cx="0" cy="108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cxnSp>
        <p:nvCxnSpPr>
          <p:cNvPr id="15" name="直接连接符 14">
            <a:extLst>
              <a:ext uri="{FF2B5EF4-FFF2-40B4-BE49-F238E27FC236}">
                <a16:creationId xmlns:a16="http://schemas.microsoft.com/office/drawing/2014/main" id="{AC900AC9-6FA1-4026-94CE-6D19D6A74E69}"/>
              </a:ext>
            </a:extLst>
          </p:cNvPr>
          <p:cNvCxnSpPr>
            <a:cxnSpLocks/>
          </p:cNvCxnSpPr>
          <p:nvPr/>
        </p:nvCxnSpPr>
        <p:spPr bwMode="auto">
          <a:xfrm>
            <a:off x="7745662" y="55377"/>
            <a:ext cx="1" cy="3327772"/>
          </a:xfrm>
          <a:prstGeom prst="line">
            <a:avLst/>
          </a:prstGeom>
          <a:solidFill>
            <a:srgbClr val="FFFF66"/>
          </a:solidFill>
          <a:ln w="38100"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连接符 15">
            <a:extLst>
              <a:ext uri="{FF2B5EF4-FFF2-40B4-BE49-F238E27FC236}">
                <a16:creationId xmlns:a16="http://schemas.microsoft.com/office/drawing/2014/main" id="{405475DF-6E5A-4A5B-89F2-05EBD1EDA9F4}"/>
              </a:ext>
            </a:extLst>
          </p:cNvPr>
          <p:cNvCxnSpPr>
            <a:cxnSpLocks/>
          </p:cNvCxnSpPr>
          <p:nvPr/>
        </p:nvCxnSpPr>
        <p:spPr bwMode="auto">
          <a:xfrm>
            <a:off x="8197305" y="55377"/>
            <a:ext cx="0" cy="3327772"/>
          </a:xfrm>
          <a:prstGeom prst="line">
            <a:avLst/>
          </a:prstGeom>
          <a:solidFill>
            <a:srgbClr val="FFFF66"/>
          </a:solidFill>
          <a:ln w="38100"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箭头连接符 16">
            <a:extLst>
              <a:ext uri="{FF2B5EF4-FFF2-40B4-BE49-F238E27FC236}">
                <a16:creationId xmlns:a16="http://schemas.microsoft.com/office/drawing/2014/main" id="{BA109064-554A-4603-B2A8-A797B104139A}"/>
              </a:ext>
            </a:extLst>
          </p:cNvPr>
          <p:cNvCxnSpPr/>
          <p:nvPr/>
        </p:nvCxnSpPr>
        <p:spPr bwMode="auto">
          <a:xfrm>
            <a:off x="7745662" y="2079626"/>
            <a:ext cx="451643" cy="0"/>
          </a:xfrm>
          <a:prstGeom prst="straightConnector1">
            <a:avLst/>
          </a:prstGeom>
          <a:solidFill>
            <a:srgbClr val="FFFF66"/>
          </a:solidFill>
          <a:ln w="38100" cap="flat" cmpd="sng" algn="ctr">
            <a:solidFill>
              <a:srgbClr val="FF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矩形 17">
            <a:extLst>
              <a:ext uri="{FF2B5EF4-FFF2-40B4-BE49-F238E27FC236}">
                <a16:creationId xmlns:a16="http://schemas.microsoft.com/office/drawing/2014/main" id="{9EB4F76A-4A71-4567-9DA6-A890E7F949AD}"/>
              </a:ext>
            </a:extLst>
          </p:cNvPr>
          <p:cNvSpPr/>
          <p:nvPr/>
        </p:nvSpPr>
        <p:spPr>
          <a:xfrm>
            <a:off x="54595" y="212119"/>
            <a:ext cx="6676248" cy="1477328"/>
          </a:xfrm>
          <a:prstGeom prst="rect">
            <a:avLst/>
          </a:prstGeom>
        </p:spPr>
        <p:txBody>
          <a:bodyPr wrap="square">
            <a:spAutoFit/>
          </a:bodyPr>
          <a:lstStyle/>
          <a:p>
            <a:r>
              <a:rPr lang="zh-CN" altLang="en-US" sz="3000"/>
              <a:t>补偿法（根据场强叠加原理计算半径为</a:t>
            </a:r>
            <a:r>
              <a:rPr lang="en-US" altLang="zh-CN" sz="3000"/>
              <a:t>R</a:t>
            </a:r>
            <a:r>
              <a:rPr lang="zh-CN" altLang="en-US" sz="3000"/>
              <a:t>挖去半径为</a:t>
            </a:r>
            <a:r>
              <a:rPr lang="en-US" altLang="zh-CN" sz="3000"/>
              <a:t>r</a:t>
            </a:r>
            <a:r>
              <a:rPr lang="zh-CN" altLang="en-US" sz="3000"/>
              <a:t>的圆柱内的电场强度，两圆柱中轴线之间的距离为</a:t>
            </a:r>
            <a:r>
              <a:rPr lang="en-US" altLang="zh-CN" sz="3000"/>
              <a:t>a</a:t>
            </a:r>
            <a:r>
              <a:rPr lang="zh-CN" altLang="en-US" sz="3000"/>
              <a:t>）</a:t>
            </a:r>
          </a:p>
        </p:txBody>
      </p:sp>
      <p:pic>
        <p:nvPicPr>
          <p:cNvPr id="20" name="图片 19">
            <a:extLst>
              <a:ext uri="{FF2B5EF4-FFF2-40B4-BE49-F238E27FC236}">
                <a16:creationId xmlns:a16="http://schemas.microsoft.com/office/drawing/2014/main" id="{0CECE2B2-5CC4-43B8-ABFC-22852EAF306F}"/>
              </a:ext>
            </a:extLst>
          </p:cNvPr>
          <p:cNvPicPr>
            <a:picLocks noChangeAspect="1"/>
          </p:cNvPicPr>
          <p:nvPr/>
        </p:nvPicPr>
        <p:blipFill>
          <a:blip r:embed="rId4"/>
          <a:stretch>
            <a:fillRect/>
          </a:stretch>
        </p:blipFill>
        <p:spPr>
          <a:xfrm>
            <a:off x="4775447" y="5032375"/>
            <a:ext cx="4257675" cy="1638300"/>
          </a:xfrm>
          <a:prstGeom prst="rect">
            <a:avLst/>
          </a:prstGeom>
        </p:spPr>
      </p:pic>
    </p:spTree>
    <p:extLst>
      <p:ext uri="{BB962C8B-B14F-4D97-AF65-F5344CB8AC3E}">
        <p14:creationId xmlns:p14="http://schemas.microsoft.com/office/powerpoint/2010/main" val="3875720619"/>
      </p:ext>
    </p:extLst>
  </p:cSld>
  <p:clrMapOvr>
    <a:masterClrMapping/>
  </p:clrMapOvr>
  <p:transition>
    <p:random/>
  </p:transition>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3186" name="Text Box 2"/>
          <p:cNvSpPr txBox="1">
            <a:spLocks noChangeArrowheads="1"/>
          </p:cNvSpPr>
          <p:nvPr/>
        </p:nvSpPr>
        <p:spPr bwMode="auto">
          <a:xfrm>
            <a:off x="30163" y="136525"/>
            <a:ext cx="2309812" cy="4270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1"/>
                </a:solidFill>
                <a:miter lim="800000"/>
                <a:headEnd/>
                <a:tailEnd/>
              </a14:hiddenLine>
            </a:ext>
          </a:extLst>
        </p:spPr>
        <p:txBody>
          <a:bodyPr lIns="0" tIns="0" rIns="0" bIns="0" anchor="ctr" anchorCtr="1">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a:solidFill>
                  <a:srgbClr val="FF3300"/>
                </a:solidFill>
                <a:ea typeface="楷体_GB2312"/>
              </a:rPr>
              <a:t>【</a:t>
            </a:r>
            <a:r>
              <a:rPr lang="zh-CN" altLang="en-US" sz="2800">
                <a:solidFill>
                  <a:srgbClr val="FF3300"/>
                </a:solidFill>
                <a:ea typeface="楷体_GB2312"/>
              </a:rPr>
              <a:t>讨论</a:t>
            </a:r>
            <a:r>
              <a:rPr lang="en-US" altLang="zh-CN" sz="2800">
                <a:solidFill>
                  <a:srgbClr val="FF3300"/>
                </a:solidFill>
                <a:ea typeface="楷体_GB2312"/>
              </a:rPr>
              <a:t>】</a:t>
            </a:r>
            <a:r>
              <a:rPr lang="zh-CN" altLang="en-US" sz="2800">
                <a:solidFill>
                  <a:srgbClr val="FF3300"/>
                </a:solidFill>
                <a:ea typeface="楷体_GB2312"/>
              </a:rPr>
              <a:t>：</a:t>
            </a:r>
            <a:endParaRPr lang="zh-CN" altLang="en-US" sz="2800">
              <a:ea typeface="楷体_GB2312"/>
            </a:endParaRPr>
          </a:p>
        </p:txBody>
      </p:sp>
      <p:sp>
        <p:nvSpPr>
          <p:cNvPr id="93187" name="Text Box 3"/>
          <p:cNvSpPr txBox="1">
            <a:spLocks noChangeArrowheads="1"/>
          </p:cNvSpPr>
          <p:nvPr/>
        </p:nvSpPr>
        <p:spPr bwMode="auto">
          <a:xfrm>
            <a:off x="457200" y="741363"/>
            <a:ext cx="8453438" cy="219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Clr>
                <a:srgbClr val="66FF33"/>
              </a:buClr>
              <a:buFontTx/>
              <a:buAutoNum type="arabicPeriod"/>
            </a:pPr>
            <a:r>
              <a:rPr lang="zh-CN" altLang="en-US" sz="2400">
                <a:solidFill>
                  <a:schemeClr val="bg1"/>
                </a:solidFill>
                <a:ea typeface="楷体_GB2312"/>
              </a:rPr>
              <a:t>高斯面的选取；</a:t>
            </a:r>
          </a:p>
          <a:p>
            <a:pPr eaLnBrk="1" hangingPunct="1">
              <a:lnSpc>
                <a:spcPct val="120000"/>
              </a:lnSpc>
              <a:spcBef>
                <a:spcPct val="0"/>
              </a:spcBef>
              <a:buClr>
                <a:srgbClr val="66FF33"/>
              </a:buClr>
              <a:buFontTx/>
              <a:buAutoNum type="arabicPeriod"/>
            </a:pPr>
            <a:r>
              <a:rPr lang="zh-CN" altLang="en-US" sz="2400">
                <a:solidFill>
                  <a:schemeClr val="bg1"/>
                </a:solidFill>
                <a:ea typeface="楷体_GB2312"/>
              </a:rPr>
              <a:t>对称分析；（有限长直电荷行吗？）</a:t>
            </a:r>
          </a:p>
          <a:p>
            <a:pPr eaLnBrk="1" hangingPunct="1">
              <a:lnSpc>
                <a:spcPct val="120000"/>
              </a:lnSpc>
              <a:spcBef>
                <a:spcPct val="0"/>
              </a:spcBef>
              <a:buClr>
                <a:srgbClr val="66FF33"/>
              </a:buClr>
              <a:buFontTx/>
              <a:buAutoNum type="arabicPeriod"/>
            </a:pPr>
            <a:r>
              <a:rPr lang="zh-CN" altLang="en-US" sz="2400">
                <a:solidFill>
                  <a:schemeClr val="bg1"/>
                </a:solidFill>
                <a:ea typeface="楷体_GB2312"/>
              </a:rPr>
              <a:t>同类问题：多重圆柱面、体电荷，电荷非均匀分布等；</a:t>
            </a:r>
          </a:p>
          <a:p>
            <a:pPr eaLnBrk="1" hangingPunct="1">
              <a:lnSpc>
                <a:spcPct val="120000"/>
              </a:lnSpc>
              <a:spcBef>
                <a:spcPct val="0"/>
              </a:spcBef>
              <a:buClr>
                <a:srgbClr val="66FF33"/>
              </a:buClr>
              <a:buFontTx/>
              <a:buAutoNum type="arabicPeriod" startAt="4"/>
            </a:pPr>
            <a:r>
              <a:rPr lang="zh-CN" altLang="en-US" sz="2400">
                <a:solidFill>
                  <a:schemeClr val="bg1"/>
                </a:solidFill>
                <a:ea typeface="楷体_GB2312"/>
              </a:rPr>
              <a:t>不同轴长直电荷，可用场强叠加原理和高斯定理求解；</a:t>
            </a:r>
          </a:p>
          <a:p>
            <a:pPr eaLnBrk="1" hangingPunct="1">
              <a:lnSpc>
                <a:spcPct val="120000"/>
              </a:lnSpc>
              <a:spcBef>
                <a:spcPct val="0"/>
              </a:spcBef>
              <a:buClr>
                <a:srgbClr val="66FF33"/>
              </a:buClr>
              <a:buFontTx/>
              <a:buAutoNum type="arabicPeriod" startAt="4"/>
            </a:pPr>
            <a:r>
              <a:rPr lang="zh-CN" altLang="en-US" sz="2400">
                <a:solidFill>
                  <a:schemeClr val="bg1"/>
                </a:solidFill>
                <a:ea typeface="楷体_GB2312"/>
              </a:rPr>
              <a:t>特殊解法：补偿法（根据场强叠加原理）。</a:t>
            </a:r>
          </a:p>
        </p:txBody>
      </p:sp>
      <p:grpSp>
        <p:nvGrpSpPr>
          <p:cNvPr id="93188" name="Group 4"/>
          <p:cNvGrpSpPr>
            <a:grpSpLocks/>
          </p:cNvGrpSpPr>
          <p:nvPr/>
        </p:nvGrpSpPr>
        <p:grpSpPr bwMode="auto">
          <a:xfrm>
            <a:off x="568325" y="3213100"/>
            <a:ext cx="1763713" cy="2649538"/>
            <a:chOff x="358" y="2024"/>
            <a:chExt cx="1111" cy="1669"/>
          </a:xfrm>
        </p:grpSpPr>
        <p:sp>
          <p:nvSpPr>
            <p:cNvPr id="93211" name="Oval 5"/>
            <p:cNvSpPr>
              <a:spLocks noChangeArrowheads="1"/>
            </p:cNvSpPr>
            <p:nvPr/>
          </p:nvSpPr>
          <p:spPr bwMode="auto">
            <a:xfrm>
              <a:off x="358" y="3101"/>
              <a:ext cx="1085" cy="586"/>
            </a:xfrm>
            <a:prstGeom prst="ellipse">
              <a:avLst/>
            </a:prstGeom>
            <a:solidFill>
              <a:srgbClr val="FF9900"/>
            </a:solidFill>
            <a:ln w="2857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3212" name="Oval 6"/>
            <p:cNvSpPr>
              <a:spLocks noChangeAspect="1" noChangeArrowheads="1"/>
            </p:cNvSpPr>
            <p:nvPr/>
          </p:nvSpPr>
          <p:spPr bwMode="auto">
            <a:xfrm>
              <a:off x="542" y="3224"/>
              <a:ext cx="719" cy="342"/>
            </a:xfrm>
            <a:prstGeom prst="ellipse">
              <a:avLst/>
            </a:prstGeom>
            <a:solidFill>
              <a:schemeClr val="tx1"/>
            </a:solidFill>
            <a:ln w="2857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3213" name="Oval 7"/>
            <p:cNvSpPr>
              <a:spLocks noChangeArrowheads="1"/>
            </p:cNvSpPr>
            <p:nvPr/>
          </p:nvSpPr>
          <p:spPr bwMode="auto">
            <a:xfrm>
              <a:off x="358" y="3107"/>
              <a:ext cx="1094" cy="586"/>
            </a:xfrm>
            <a:prstGeom prst="ellipse">
              <a:avLst/>
            </a:prstGeom>
            <a:solidFill>
              <a:srgbClr val="FFCC66">
                <a:alpha val="50195"/>
              </a:srgbClr>
            </a:solidFill>
            <a:ln w="2857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3214" name="Rectangle 8"/>
            <p:cNvSpPr>
              <a:spLocks noChangeArrowheads="1"/>
            </p:cNvSpPr>
            <p:nvPr/>
          </p:nvSpPr>
          <p:spPr bwMode="auto">
            <a:xfrm>
              <a:off x="367" y="2315"/>
              <a:ext cx="154" cy="1070"/>
            </a:xfrm>
            <a:prstGeom prst="rect">
              <a:avLst/>
            </a:prstGeom>
            <a:solidFill>
              <a:srgbClr val="FF9900"/>
            </a:solid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3215" name="Rectangle 9"/>
            <p:cNvSpPr>
              <a:spLocks noChangeArrowheads="1"/>
            </p:cNvSpPr>
            <p:nvPr/>
          </p:nvSpPr>
          <p:spPr bwMode="auto">
            <a:xfrm>
              <a:off x="1265" y="2315"/>
              <a:ext cx="182" cy="1070"/>
            </a:xfrm>
            <a:prstGeom prst="rect">
              <a:avLst/>
            </a:prstGeom>
            <a:solidFill>
              <a:srgbClr val="FF9900"/>
            </a:solid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3216" name="Rectangle 10"/>
            <p:cNvSpPr>
              <a:spLocks noChangeArrowheads="1"/>
            </p:cNvSpPr>
            <p:nvPr/>
          </p:nvSpPr>
          <p:spPr bwMode="auto">
            <a:xfrm>
              <a:off x="542" y="2310"/>
              <a:ext cx="719" cy="1070"/>
            </a:xfrm>
            <a:prstGeom prst="rect">
              <a:avLst/>
            </a:prstGeom>
            <a:solidFill>
              <a:schemeClr val="tx1"/>
            </a:solidFill>
            <a:ln>
              <a:noFill/>
            </a:ln>
            <a:effectLst/>
            <a:extLs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3217" name="Rectangle 11"/>
            <p:cNvSpPr>
              <a:spLocks noChangeArrowheads="1"/>
            </p:cNvSpPr>
            <p:nvPr/>
          </p:nvSpPr>
          <p:spPr bwMode="auto">
            <a:xfrm>
              <a:off x="376" y="2305"/>
              <a:ext cx="1093" cy="1070"/>
            </a:xfrm>
            <a:prstGeom prst="rect">
              <a:avLst/>
            </a:prstGeom>
            <a:solidFill>
              <a:srgbClr val="FFCC66">
                <a:alpha val="50195"/>
              </a:srgbClr>
            </a:solidFill>
            <a:ln>
              <a:noFill/>
            </a:ln>
            <a:effectLst/>
            <a:extLs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3218" name="Rectangle 12"/>
            <p:cNvSpPr>
              <a:spLocks noChangeArrowheads="1"/>
            </p:cNvSpPr>
            <p:nvPr/>
          </p:nvSpPr>
          <p:spPr bwMode="auto">
            <a:xfrm>
              <a:off x="722" y="2322"/>
              <a:ext cx="367" cy="1070"/>
            </a:xfrm>
            <a:prstGeom prst="rect">
              <a:avLst/>
            </a:prstGeom>
            <a:solidFill>
              <a:srgbClr val="FF9900"/>
            </a:solid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3219" name="Oval 13"/>
            <p:cNvSpPr>
              <a:spLocks noChangeArrowheads="1"/>
            </p:cNvSpPr>
            <p:nvPr/>
          </p:nvSpPr>
          <p:spPr bwMode="auto">
            <a:xfrm>
              <a:off x="367" y="2024"/>
              <a:ext cx="1085" cy="586"/>
            </a:xfrm>
            <a:prstGeom prst="ellipse">
              <a:avLst/>
            </a:prstGeom>
            <a:solidFill>
              <a:srgbClr val="FF9900"/>
            </a:solidFill>
            <a:ln w="2857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3220" name="Oval 14"/>
            <p:cNvSpPr>
              <a:spLocks noChangeAspect="1" noChangeArrowheads="1"/>
            </p:cNvSpPr>
            <p:nvPr/>
          </p:nvSpPr>
          <p:spPr bwMode="auto">
            <a:xfrm>
              <a:off x="722" y="3284"/>
              <a:ext cx="367" cy="199"/>
            </a:xfrm>
            <a:prstGeom prst="ellipse">
              <a:avLst/>
            </a:prstGeom>
            <a:solidFill>
              <a:srgbClr val="FF9900"/>
            </a:solidFill>
            <a:ln w="2857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3221" name="Oval 15"/>
            <p:cNvSpPr>
              <a:spLocks noChangeAspect="1" noChangeArrowheads="1"/>
            </p:cNvSpPr>
            <p:nvPr/>
          </p:nvSpPr>
          <p:spPr bwMode="auto">
            <a:xfrm>
              <a:off x="542" y="2153"/>
              <a:ext cx="719" cy="340"/>
            </a:xfrm>
            <a:prstGeom prst="ellipse">
              <a:avLst/>
            </a:prstGeom>
            <a:solidFill>
              <a:schemeClr val="tx1"/>
            </a:solidFill>
            <a:ln w="2857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3222" name="Oval 16"/>
            <p:cNvSpPr>
              <a:spLocks noChangeAspect="1" noChangeArrowheads="1"/>
            </p:cNvSpPr>
            <p:nvPr/>
          </p:nvSpPr>
          <p:spPr bwMode="auto">
            <a:xfrm>
              <a:off x="722" y="2213"/>
              <a:ext cx="367" cy="199"/>
            </a:xfrm>
            <a:prstGeom prst="ellipse">
              <a:avLst/>
            </a:prstGeom>
            <a:solidFill>
              <a:srgbClr val="FF9900"/>
            </a:solidFill>
            <a:ln w="2857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pSp>
      <p:grpSp>
        <p:nvGrpSpPr>
          <p:cNvPr id="93189" name="Group 18"/>
          <p:cNvGrpSpPr>
            <a:grpSpLocks/>
          </p:cNvGrpSpPr>
          <p:nvPr/>
        </p:nvGrpSpPr>
        <p:grpSpPr bwMode="auto">
          <a:xfrm>
            <a:off x="3540125" y="3235325"/>
            <a:ext cx="2098675" cy="2593975"/>
            <a:chOff x="2134" y="2398"/>
            <a:chExt cx="1322" cy="1634"/>
          </a:xfrm>
        </p:grpSpPr>
        <p:sp>
          <p:nvSpPr>
            <p:cNvPr id="93202" name="Oval 19"/>
            <p:cNvSpPr>
              <a:spLocks noChangeArrowheads="1"/>
            </p:cNvSpPr>
            <p:nvPr/>
          </p:nvSpPr>
          <p:spPr bwMode="auto">
            <a:xfrm>
              <a:off x="2138" y="3457"/>
              <a:ext cx="1308" cy="575"/>
            </a:xfrm>
            <a:prstGeom prst="ellipse">
              <a:avLst/>
            </a:prstGeom>
            <a:gradFill rotWithShape="1">
              <a:gsLst>
                <a:gs pos="0">
                  <a:srgbClr val="764700"/>
                </a:gs>
                <a:gs pos="100000">
                  <a:srgbClr val="FF9900"/>
                </a:gs>
              </a:gsLst>
              <a:lin ang="0" scaled="1"/>
            </a:gradFill>
            <a:ln w="28575">
              <a:solidFill>
                <a:srgbClr val="FF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3203" name="Rectangle 20"/>
            <p:cNvSpPr>
              <a:spLocks noChangeArrowheads="1"/>
            </p:cNvSpPr>
            <p:nvPr/>
          </p:nvSpPr>
          <p:spPr bwMode="auto">
            <a:xfrm>
              <a:off x="2138" y="2708"/>
              <a:ext cx="1318" cy="1049"/>
            </a:xfrm>
            <a:prstGeom prst="rect">
              <a:avLst/>
            </a:prstGeom>
            <a:gradFill rotWithShape="1">
              <a:gsLst>
                <a:gs pos="0">
                  <a:srgbClr val="764700"/>
                </a:gs>
                <a:gs pos="100000">
                  <a:srgbClr val="FF9900"/>
                </a:gs>
              </a:gsLst>
              <a:lin ang="0" scaled="1"/>
            </a:gradFill>
            <a:ln>
              <a:noFill/>
            </a:ln>
            <a:effectLst/>
            <a:extLs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3204" name="Oval 21"/>
            <p:cNvSpPr>
              <a:spLocks noChangeArrowheads="1"/>
            </p:cNvSpPr>
            <p:nvPr/>
          </p:nvSpPr>
          <p:spPr bwMode="auto">
            <a:xfrm>
              <a:off x="2137" y="2415"/>
              <a:ext cx="1308" cy="575"/>
            </a:xfrm>
            <a:prstGeom prst="ellipse">
              <a:avLst/>
            </a:prstGeom>
            <a:gradFill rotWithShape="1">
              <a:gsLst>
                <a:gs pos="0">
                  <a:srgbClr val="FF9900"/>
                </a:gs>
                <a:gs pos="100000">
                  <a:srgbClr val="764700"/>
                </a:gs>
              </a:gsLst>
              <a:path path="rect">
                <a:fillToRect l="100000" t="100000"/>
              </a:path>
            </a:gradFill>
            <a:ln w="28575">
              <a:solidFill>
                <a:srgbClr val="FF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3205" name="Line 22"/>
            <p:cNvSpPr>
              <a:spLocks noChangeShapeType="1"/>
            </p:cNvSpPr>
            <p:nvPr/>
          </p:nvSpPr>
          <p:spPr bwMode="auto">
            <a:xfrm>
              <a:off x="2800" y="2683"/>
              <a:ext cx="655" cy="1"/>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p>
              <a:endParaRPr lang="zh-CN" altLang="en-US"/>
            </a:p>
          </p:txBody>
        </p:sp>
        <p:graphicFrame>
          <p:nvGraphicFramePr>
            <p:cNvPr id="93206" name="Object 23"/>
            <p:cNvGraphicFramePr>
              <a:graphicFrameLocks noChangeAspect="1"/>
            </p:cNvGraphicFramePr>
            <p:nvPr/>
          </p:nvGraphicFramePr>
          <p:xfrm>
            <a:off x="2917" y="2398"/>
            <a:ext cx="249" cy="301"/>
          </p:xfrm>
          <a:graphic>
            <a:graphicData uri="http://schemas.openxmlformats.org/presentationml/2006/ole">
              <mc:AlternateContent xmlns:mc="http://schemas.openxmlformats.org/markup-compatibility/2006">
                <mc:Choice xmlns:v="urn:schemas-microsoft-com:vml" Requires="v">
                  <p:oleObj spid="_x0000_s93441" name="Equation" r:id="rId3" imgW="0" imgH="38258" progId="Equation.3">
                    <p:embed/>
                  </p:oleObj>
                </mc:Choice>
                <mc:Fallback>
                  <p:oleObj name="Equation" r:id="rId3" imgW="0" imgH="38258" progId="Equation.3">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7" y="2398"/>
                          <a:ext cx="249" cy="301"/>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207" name="Object 24"/>
            <p:cNvGraphicFramePr>
              <a:graphicFrameLocks noChangeAspect="1"/>
            </p:cNvGraphicFramePr>
            <p:nvPr/>
          </p:nvGraphicFramePr>
          <p:xfrm>
            <a:off x="2523" y="3131"/>
            <a:ext cx="473" cy="227"/>
          </p:xfrm>
          <a:graphic>
            <a:graphicData uri="http://schemas.openxmlformats.org/presentationml/2006/ole">
              <mc:AlternateContent xmlns:mc="http://schemas.openxmlformats.org/markup-compatibility/2006">
                <mc:Choice xmlns:v="urn:schemas-microsoft-com:vml" Requires="v">
                  <p:oleObj spid="_x0000_s93442" name="公式" r:id="rId5" imgW="371447" imgH="142941" progId="Equation.3">
                    <p:embed/>
                  </p:oleObj>
                </mc:Choice>
                <mc:Fallback>
                  <p:oleObj name="公式" r:id="rId5" imgW="371447" imgH="142941" progId="Equation.3">
                    <p:embed/>
                    <p:pic>
                      <p:nvPicPr>
                        <p:cNvPr id="0" name="Object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23" y="3131"/>
                          <a:ext cx="473"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3208" name="Text Box 25"/>
            <p:cNvSpPr txBox="1">
              <a:spLocks noChangeArrowheads="1"/>
            </p:cNvSpPr>
            <p:nvPr/>
          </p:nvSpPr>
          <p:spPr bwMode="auto">
            <a:xfrm>
              <a:off x="2398" y="3567"/>
              <a:ext cx="724" cy="192"/>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1">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0" i="1">
                  <a:solidFill>
                    <a:schemeClr val="bg1"/>
                  </a:solidFill>
                  <a:ea typeface="楷体_GB2312"/>
                </a:rPr>
                <a:t>k </a:t>
              </a:r>
              <a:r>
                <a:rPr lang="zh-CN" altLang="en-US" sz="2000">
                  <a:solidFill>
                    <a:schemeClr val="bg1"/>
                  </a:solidFill>
                  <a:ea typeface="楷体_GB2312"/>
                </a:rPr>
                <a:t>是常量</a:t>
              </a:r>
            </a:p>
          </p:txBody>
        </p:sp>
        <p:sp>
          <p:nvSpPr>
            <p:cNvPr id="93209" name="Line 26"/>
            <p:cNvSpPr>
              <a:spLocks noChangeShapeType="1"/>
            </p:cNvSpPr>
            <p:nvPr/>
          </p:nvSpPr>
          <p:spPr bwMode="auto">
            <a:xfrm>
              <a:off x="2134" y="2692"/>
              <a:ext cx="0" cy="1081"/>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p>
              <a:endParaRPr lang="zh-CN" altLang="en-US"/>
            </a:p>
          </p:txBody>
        </p:sp>
        <p:sp>
          <p:nvSpPr>
            <p:cNvPr id="93210" name="Line 27"/>
            <p:cNvSpPr>
              <a:spLocks noChangeShapeType="1"/>
            </p:cNvSpPr>
            <p:nvPr/>
          </p:nvSpPr>
          <p:spPr bwMode="auto">
            <a:xfrm>
              <a:off x="3442" y="2704"/>
              <a:ext cx="0" cy="1081"/>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p>
              <a:endParaRPr lang="zh-CN" altLang="en-US"/>
            </a:p>
          </p:txBody>
        </p:sp>
      </p:grpSp>
      <p:sp>
        <p:nvSpPr>
          <p:cNvPr id="93190" name="Text Box 28"/>
          <p:cNvSpPr txBox="1">
            <a:spLocks noChangeArrowheads="1"/>
          </p:cNvSpPr>
          <p:nvPr/>
        </p:nvSpPr>
        <p:spPr bwMode="auto">
          <a:xfrm>
            <a:off x="254000" y="6121400"/>
            <a:ext cx="23510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1">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a:solidFill>
                  <a:schemeClr val="bg1"/>
                </a:solidFill>
                <a:ea typeface="楷体_GB2312"/>
              </a:rPr>
              <a:t>  </a:t>
            </a:r>
            <a:r>
              <a:rPr lang="zh-CN" altLang="en-US" sz="2000">
                <a:solidFill>
                  <a:schemeClr val="bg1"/>
                </a:solidFill>
                <a:ea typeface="楷体_GB2312"/>
              </a:rPr>
              <a:t>多重圆柱形</a:t>
            </a:r>
          </a:p>
        </p:txBody>
      </p:sp>
      <p:sp>
        <p:nvSpPr>
          <p:cNvPr id="93191" name="Text Box 29"/>
          <p:cNvSpPr txBox="1">
            <a:spLocks noChangeArrowheads="1"/>
          </p:cNvSpPr>
          <p:nvPr/>
        </p:nvSpPr>
        <p:spPr bwMode="auto">
          <a:xfrm>
            <a:off x="3438525" y="6121400"/>
            <a:ext cx="25003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1">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a:solidFill>
                  <a:schemeClr val="bg1"/>
                </a:solidFill>
                <a:ea typeface="楷体_GB2312"/>
              </a:rPr>
              <a:t> </a:t>
            </a:r>
            <a:r>
              <a:rPr lang="zh-CN" altLang="en-US" sz="2000">
                <a:solidFill>
                  <a:schemeClr val="bg1"/>
                </a:solidFill>
                <a:ea typeface="楷体_GB2312"/>
              </a:rPr>
              <a:t>非均匀圆柱体</a:t>
            </a:r>
          </a:p>
        </p:txBody>
      </p:sp>
      <p:sp>
        <p:nvSpPr>
          <p:cNvPr id="93192" name="Text Box 30"/>
          <p:cNvSpPr txBox="1">
            <a:spLocks noChangeArrowheads="1"/>
          </p:cNvSpPr>
          <p:nvPr/>
        </p:nvSpPr>
        <p:spPr bwMode="auto">
          <a:xfrm>
            <a:off x="7319963" y="6108700"/>
            <a:ext cx="825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1">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a:solidFill>
                  <a:schemeClr val="bg1"/>
                </a:solidFill>
                <a:ea typeface="楷体_GB2312"/>
              </a:rPr>
              <a:t> </a:t>
            </a:r>
            <a:r>
              <a:rPr lang="zh-CN" altLang="en-US" sz="2000">
                <a:solidFill>
                  <a:schemeClr val="bg1"/>
                </a:solidFill>
                <a:ea typeface="楷体_GB2312"/>
              </a:rPr>
              <a:t>补偿法</a:t>
            </a:r>
          </a:p>
        </p:txBody>
      </p:sp>
      <p:grpSp>
        <p:nvGrpSpPr>
          <p:cNvPr id="93193" name="Group 31"/>
          <p:cNvGrpSpPr>
            <a:grpSpLocks/>
          </p:cNvGrpSpPr>
          <p:nvPr/>
        </p:nvGrpSpPr>
        <p:grpSpPr bwMode="auto">
          <a:xfrm>
            <a:off x="6891336" y="3213100"/>
            <a:ext cx="1727200" cy="2625725"/>
            <a:chOff x="4341" y="2024"/>
            <a:chExt cx="1088" cy="1654"/>
          </a:xfrm>
        </p:grpSpPr>
        <p:sp>
          <p:nvSpPr>
            <p:cNvPr id="93194" name="Oval 32"/>
            <p:cNvSpPr>
              <a:spLocks noChangeArrowheads="1"/>
            </p:cNvSpPr>
            <p:nvPr/>
          </p:nvSpPr>
          <p:spPr bwMode="auto">
            <a:xfrm>
              <a:off x="4341" y="3092"/>
              <a:ext cx="1085" cy="586"/>
            </a:xfrm>
            <a:prstGeom prst="ellipse">
              <a:avLst/>
            </a:prstGeom>
            <a:solidFill>
              <a:srgbClr val="FF9900"/>
            </a:solidFill>
            <a:ln w="2857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3195" name="Rectangle 33"/>
            <p:cNvSpPr>
              <a:spLocks noChangeArrowheads="1"/>
            </p:cNvSpPr>
            <p:nvPr/>
          </p:nvSpPr>
          <p:spPr bwMode="auto">
            <a:xfrm>
              <a:off x="4972" y="2322"/>
              <a:ext cx="367" cy="1070"/>
            </a:xfrm>
            <a:prstGeom prst="rect">
              <a:avLst/>
            </a:prstGeom>
            <a:solidFill>
              <a:srgbClr val="FF9900">
                <a:alpha val="50195"/>
              </a:srgbClr>
            </a:solid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3196" name="Rectangle 34"/>
            <p:cNvSpPr>
              <a:spLocks noChangeArrowheads="1"/>
            </p:cNvSpPr>
            <p:nvPr/>
          </p:nvSpPr>
          <p:spPr bwMode="auto">
            <a:xfrm>
              <a:off x="4913" y="2939"/>
              <a:ext cx="145" cy="349"/>
            </a:xfrm>
            <a:prstGeom prst="rect">
              <a:avLst/>
            </a:prstGeom>
            <a:solidFill>
              <a:srgbClr val="FF9900">
                <a:alpha val="50195"/>
              </a:srgbClr>
            </a:solidFill>
            <a:ln w="127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a:solidFill>
                    <a:srgbClr val="00B050"/>
                  </a:solidFill>
                  <a:ea typeface="楷体_GB2312"/>
                </a:rPr>
                <a:t>a</a:t>
              </a:r>
            </a:p>
          </p:txBody>
        </p:sp>
        <p:sp>
          <p:nvSpPr>
            <p:cNvPr id="93197" name="Oval 35"/>
            <p:cNvSpPr>
              <a:spLocks noChangeArrowheads="1"/>
            </p:cNvSpPr>
            <p:nvPr/>
          </p:nvSpPr>
          <p:spPr bwMode="auto">
            <a:xfrm>
              <a:off x="4344" y="2024"/>
              <a:ext cx="1085" cy="586"/>
            </a:xfrm>
            <a:prstGeom prst="ellipse">
              <a:avLst/>
            </a:prstGeom>
            <a:solidFill>
              <a:srgbClr val="FF9900"/>
            </a:solidFill>
            <a:ln w="2857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3198" name="Oval 36"/>
            <p:cNvSpPr>
              <a:spLocks noChangeAspect="1" noChangeArrowheads="1"/>
            </p:cNvSpPr>
            <p:nvPr/>
          </p:nvSpPr>
          <p:spPr bwMode="auto">
            <a:xfrm>
              <a:off x="4972" y="3284"/>
              <a:ext cx="367" cy="199"/>
            </a:xfrm>
            <a:prstGeom prst="ellipse">
              <a:avLst/>
            </a:prstGeom>
            <a:solidFill>
              <a:schemeClr val="tx1">
                <a:alpha val="50195"/>
              </a:schemeClr>
            </a:solidFill>
            <a:ln w="2857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3199" name="Oval 37"/>
            <p:cNvSpPr>
              <a:spLocks noChangeAspect="1" noChangeArrowheads="1"/>
            </p:cNvSpPr>
            <p:nvPr/>
          </p:nvSpPr>
          <p:spPr bwMode="auto">
            <a:xfrm>
              <a:off x="4972" y="2213"/>
              <a:ext cx="367" cy="199"/>
            </a:xfrm>
            <a:prstGeom prst="ellipse">
              <a:avLst/>
            </a:prstGeom>
            <a:solidFill>
              <a:schemeClr val="tx1"/>
            </a:solidFill>
            <a:ln w="2857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3200" name="Line 38"/>
            <p:cNvSpPr>
              <a:spLocks noChangeShapeType="1"/>
            </p:cNvSpPr>
            <p:nvPr/>
          </p:nvSpPr>
          <p:spPr bwMode="auto">
            <a:xfrm>
              <a:off x="4341" y="2314"/>
              <a:ext cx="0" cy="1089"/>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01" name="Line 39"/>
            <p:cNvSpPr>
              <a:spLocks noChangeShapeType="1"/>
            </p:cNvSpPr>
            <p:nvPr/>
          </p:nvSpPr>
          <p:spPr bwMode="auto">
            <a:xfrm>
              <a:off x="5429" y="2332"/>
              <a:ext cx="0" cy="1089"/>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cxnSp>
        <p:nvCxnSpPr>
          <p:cNvPr id="3" name="直接连接符 2">
            <a:extLst>
              <a:ext uri="{FF2B5EF4-FFF2-40B4-BE49-F238E27FC236}">
                <a16:creationId xmlns:a16="http://schemas.microsoft.com/office/drawing/2014/main" id="{5ED10809-F79E-4134-B0DB-9694C55AD475}"/>
              </a:ext>
            </a:extLst>
          </p:cNvPr>
          <p:cNvCxnSpPr>
            <a:cxnSpLocks/>
          </p:cNvCxnSpPr>
          <p:nvPr/>
        </p:nvCxnSpPr>
        <p:spPr bwMode="auto">
          <a:xfrm>
            <a:off x="7732713" y="2735077"/>
            <a:ext cx="1" cy="3327772"/>
          </a:xfrm>
          <a:prstGeom prst="line">
            <a:avLst/>
          </a:prstGeom>
          <a:solidFill>
            <a:srgbClr val="FFFF66"/>
          </a:solidFill>
          <a:ln w="38100"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直接连接符 4">
            <a:extLst>
              <a:ext uri="{FF2B5EF4-FFF2-40B4-BE49-F238E27FC236}">
                <a16:creationId xmlns:a16="http://schemas.microsoft.com/office/drawing/2014/main" id="{1B708A78-6066-40A3-9911-B078A18F229C}"/>
              </a:ext>
            </a:extLst>
          </p:cNvPr>
          <p:cNvCxnSpPr>
            <a:cxnSpLocks/>
          </p:cNvCxnSpPr>
          <p:nvPr/>
        </p:nvCxnSpPr>
        <p:spPr bwMode="auto">
          <a:xfrm>
            <a:off x="8184356" y="2735077"/>
            <a:ext cx="0" cy="3327772"/>
          </a:xfrm>
          <a:prstGeom prst="line">
            <a:avLst/>
          </a:prstGeom>
          <a:solidFill>
            <a:srgbClr val="FFFF66"/>
          </a:solidFill>
          <a:ln w="38100"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箭头连接符 8">
            <a:extLst>
              <a:ext uri="{FF2B5EF4-FFF2-40B4-BE49-F238E27FC236}">
                <a16:creationId xmlns:a16="http://schemas.microsoft.com/office/drawing/2014/main" id="{8FFFA096-15EE-4102-A36F-612C99156D03}"/>
              </a:ext>
            </a:extLst>
          </p:cNvPr>
          <p:cNvCxnSpPr/>
          <p:nvPr/>
        </p:nvCxnSpPr>
        <p:spPr bwMode="auto">
          <a:xfrm>
            <a:off x="7732713" y="4759326"/>
            <a:ext cx="451643" cy="0"/>
          </a:xfrm>
          <a:prstGeom prst="straightConnector1">
            <a:avLst/>
          </a:prstGeom>
          <a:solidFill>
            <a:srgbClr val="FFFF66"/>
          </a:solidFill>
          <a:ln w="38100" cap="flat" cmpd="sng" algn="ctr">
            <a:solidFill>
              <a:srgbClr val="FF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rand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7" name="Text Box 3"/>
          <p:cNvSpPr txBox="1">
            <a:spLocks noChangeArrowheads="1"/>
          </p:cNvSpPr>
          <p:nvPr/>
        </p:nvSpPr>
        <p:spPr bwMode="auto">
          <a:xfrm>
            <a:off x="251520" y="188640"/>
            <a:ext cx="8568952" cy="2529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None/>
            </a:pPr>
            <a:r>
              <a:rPr lang="en-US" altLang="zh-CN" sz="3600">
                <a:solidFill>
                  <a:srgbClr val="FF3300"/>
                </a:solidFill>
                <a:ea typeface="楷体_GB2312"/>
              </a:rPr>
              <a:t>3)</a:t>
            </a:r>
            <a:r>
              <a:rPr lang="zh-CN" altLang="en-US" sz="3600">
                <a:solidFill>
                  <a:srgbClr val="FF3300"/>
                </a:solidFill>
                <a:ea typeface="楷体_GB2312"/>
              </a:rPr>
              <a:t>、面对称分布：</a:t>
            </a:r>
            <a:r>
              <a:rPr lang="zh-CN" altLang="en-US" sz="3600">
                <a:ea typeface="楷体_GB2312"/>
              </a:rPr>
              <a:t>包括</a:t>
            </a:r>
            <a:r>
              <a:rPr lang="zh-CN" altLang="en-US" sz="3600">
                <a:solidFill>
                  <a:srgbClr val="FF0000"/>
                </a:solidFill>
                <a:ea typeface="楷体_GB2312"/>
              </a:rPr>
              <a:t>多重平面、平板电荷，电荷非均匀分布等</a:t>
            </a:r>
            <a:endParaRPr lang="en-US" altLang="zh-CN" sz="3600">
              <a:solidFill>
                <a:srgbClr val="FF0000"/>
              </a:solidFill>
              <a:ea typeface="楷体_GB2312"/>
            </a:endParaRPr>
          </a:p>
          <a:p>
            <a:pPr eaLnBrk="1" hangingPunct="1">
              <a:buNone/>
            </a:pPr>
            <a:endParaRPr lang="zh-CN" altLang="en-US" sz="3600">
              <a:ea typeface="楷体_GB2312"/>
            </a:endParaRPr>
          </a:p>
          <a:p>
            <a:pPr eaLnBrk="1" hangingPunct="1">
              <a:buFontTx/>
              <a:buNone/>
            </a:pPr>
            <a:endParaRPr lang="zh-CN" altLang="en-US" sz="3600">
              <a:ea typeface="楷体_GB2312"/>
            </a:endParaRPr>
          </a:p>
        </p:txBody>
      </p:sp>
      <p:pic>
        <p:nvPicPr>
          <p:cNvPr id="2" name="图片 1">
            <a:extLst>
              <a:ext uri="{FF2B5EF4-FFF2-40B4-BE49-F238E27FC236}">
                <a16:creationId xmlns:a16="http://schemas.microsoft.com/office/drawing/2014/main" id="{9DFEB9D6-7F9D-4F49-9794-DE5CF40A31E6}"/>
              </a:ext>
            </a:extLst>
          </p:cNvPr>
          <p:cNvPicPr>
            <a:picLocks noChangeAspect="1"/>
          </p:cNvPicPr>
          <p:nvPr/>
        </p:nvPicPr>
        <p:blipFill rotWithShape="1">
          <a:blip r:embed="rId2"/>
          <a:srcRect l="12202" t="29132" r="10624" b="12068"/>
          <a:stretch/>
        </p:blipFill>
        <p:spPr>
          <a:xfrm>
            <a:off x="0" y="2015202"/>
            <a:ext cx="9144000" cy="4248472"/>
          </a:xfrm>
          <a:prstGeom prst="rect">
            <a:avLst/>
          </a:prstGeom>
        </p:spPr>
      </p:pic>
    </p:spTree>
    <p:extLst>
      <p:ext uri="{BB962C8B-B14F-4D97-AF65-F5344CB8AC3E}">
        <p14:creationId xmlns:p14="http://schemas.microsoft.com/office/powerpoint/2010/main" val="4284497304"/>
      </p:ext>
    </p:extLst>
  </p:cSld>
  <p:clrMapOvr>
    <a:masterClrMapping/>
  </p:clrMapOvr>
  <p:transition>
    <p:random/>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Text Box 2"/>
          <p:cNvSpPr txBox="1">
            <a:spLocks noChangeArrowheads="1"/>
          </p:cNvSpPr>
          <p:nvPr/>
        </p:nvSpPr>
        <p:spPr bwMode="auto">
          <a:xfrm>
            <a:off x="228600" y="1295400"/>
            <a:ext cx="55626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解：由于电荷分布对于求场点</a:t>
            </a:r>
            <a:r>
              <a:rPr lang="zh-CN" altLang="en-US" sz="2800" i="1">
                <a:ea typeface="楷体_GB2312"/>
              </a:rPr>
              <a:t> </a:t>
            </a:r>
            <a:r>
              <a:rPr lang="en-US" altLang="zh-CN" sz="2800" i="1">
                <a:ea typeface="楷体_GB2312"/>
              </a:rPr>
              <a:t>P</a:t>
            </a:r>
            <a:r>
              <a:rPr lang="zh-CN" altLang="en-US" sz="2400">
                <a:ea typeface="楷体_GB2312"/>
              </a:rPr>
              <a:t>到平面的垂线 </a:t>
            </a:r>
            <a:r>
              <a:rPr lang="en-US" altLang="zh-CN" sz="2800" i="1">
                <a:ea typeface="楷体_GB2312"/>
              </a:rPr>
              <a:t>OP</a:t>
            </a:r>
            <a:r>
              <a:rPr lang="en-US" altLang="zh-CN" sz="2400">
                <a:ea typeface="楷体_GB2312"/>
              </a:rPr>
              <a:t> </a:t>
            </a:r>
            <a:r>
              <a:rPr lang="zh-CN" altLang="en-US" sz="2400">
                <a:ea typeface="楷体_GB2312"/>
              </a:rPr>
              <a:t>是对称的，所以</a:t>
            </a:r>
            <a:r>
              <a:rPr lang="zh-CN" altLang="en-US" sz="2800" i="1">
                <a:ea typeface="楷体_GB2312"/>
              </a:rPr>
              <a:t> </a:t>
            </a:r>
            <a:r>
              <a:rPr lang="en-US" altLang="zh-CN" sz="2800" i="1">
                <a:solidFill>
                  <a:srgbClr val="3333FF"/>
                </a:solidFill>
                <a:ea typeface="楷体_GB2312"/>
              </a:rPr>
              <a:t>P</a:t>
            </a:r>
            <a:r>
              <a:rPr lang="zh-CN" altLang="en-US" sz="2400">
                <a:solidFill>
                  <a:srgbClr val="3333FF"/>
                </a:solidFill>
                <a:ea typeface="楷体_GB2312"/>
              </a:rPr>
              <a:t>点的场强必然垂直于该平面。</a:t>
            </a:r>
          </a:p>
        </p:txBody>
      </p:sp>
      <p:sp>
        <p:nvSpPr>
          <p:cNvPr id="94211" name="Text Box 3"/>
          <p:cNvSpPr txBox="1">
            <a:spLocks noChangeArrowheads="1"/>
          </p:cNvSpPr>
          <p:nvPr/>
        </p:nvSpPr>
        <p:spPr bwMode="auto">
          <a:xfrm>
            <a:off x="228600" y="76200"/>
            <a:ext cx="8229600" cy="1249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3333FF"/>
                </a:solidFill>
                <a:ea typeface="楷体_GB2312"/>
              </a:rPr>
              <a:t>例</a:t>
            </a:r>
            <a:r>
              <a:rPr lang="en-US" altLang="zh-CN" sz="2800">
                <a:solidFill>
                  <a:srgbClr val="3333FF"/>
                </a:solidFill>
                <a:ea typeface="楷体_GB2312"/>
              </a:rPr>
              <a:t>6</a:t>
            </a:r>
            <a:r>
              <a:rPr lang="zh-CN" altLang="en-US" sz="2800">
                <a:solidFill>
                  <a:srgbClr val="3333FF"/>
                </a:solidFill>
                <a:ea typeface="楷体_GB2312"/>
              </a:rPr>
              <a:t>、无限长均匀带电平面的场强。</a:t>
            </a:r>
            <a:r>
              <a:rPr lang="zh-CN" altLang="en-US" sz="2400" b="0">
                <a:ea typeface="楷体_GB2312"/>
              </a:rPr>
              <a:t> </a:t>
            </a:r>
          </a:p>
          <a:p>
            <a:pPr lvl="1" eaLnBrk="1" hangingPunct="1">
              <a:spcBef>
                <a:spcPct val="0"/>
              </a:spcBef>
              <a:buFontTx/>
              <a:buNone/>
            </a:pPr>
            <a:r>
              <a:rPr lang="zh-CN" altLang="en-US" sz="2400">
                <a:ea typeface="楷体_GB2312"/>
              </a:rPr>
              <a:t>设有一无限长均匀带电平板，单位面积上的电荷，即电荷面密度为</a:t>
            </a:r>
            <a:r>
              <a:rPr lang="en-US" altLang="zh-CN" sz="2400">
                <a:ea typeface="楷体_GB2312"/>
              </a:rPr>
              <a:t>σ</a:t>
            </a:r>
            <a:r>
              <a:rPr lang="zh-CN" altLang="en-US" sz="2400">
                <a:ea typeface="楷体_GB2312"/>
              </a:rPr>
              <a:t>，求距离平板为</a:t>
            </a:r>
            <a:r>
              <a:rPr lang="en-US" altLang="zh-CN" sz="2400" i="1">
                <a:ea typeface="楷体_GB2312"/>
              </a:rPr>
              <a:t>r</a:t>
            </a:r>
            <a:r>
              <a:rPr lang="zh-CN" altLang="en-US" sz="2400">
                <a:ea typeface="楷体_GB2312"/>
              </a:rPr>
              <a:t>处的电场强度。</a:t>
            </a:r>
            <a:endParaRPr lang="zh-CN" altLang="en-US">
              <a:ea typeface="楷体_GB2312"/>
            </a:endParaRPr>
          </a:p>
        </p:txBody>
      </p:sp>
      <p:grpSp>
        <p:nvGrpSpPr>
          <p:cNvPr id="94212" name="Group 4"/>
          <p:cNvGrpSpPr>
            <a:grpSpLocks/>
          </p:cNvGrpSpPr>
          <p:nvPr/>
        </p:nvGrpSpPr>
        <p:grpSpPr bwMode="auto">
          <a:xfrm>
            <a:off x="6172200" y="1371600"/>
            <a:ext cx="2895600" cy="3429000"/>
            <a:chOff x="3936" y="768"/>
            <a:chExt cx="1824" cy="2160"/>
          </a:xfrm>
        </p:grpSpPr>
        <p:sp>
          <p:nvSpPr>
            <p:cNvPr id="94225" name="Rectangle 5"/>
            <p:cNvSpPr>
              <a:spLocks noChangeArrowheads="1"/>
            </p:cNvSpPr>
            <p:nvPr/>
          </p:nvSpPr>
          <p:spPr bwMode="auto">
            <a:xfrm>
              <a:off x="3936" y="768"/>
              <a:ext cx="1824" cy="2160"/>
            </a:xfrm>
            <a:prstGeom prst="rect">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pSp>
          <p:nvGrpSpPr>
            <p:cNvPr id="94226" name="Group 6"/>
            <p:cNvGrpSpPr>
              <a:grpSpLocks/>
            </p:cNvGrpSpPr>
            <p:nvPr/>
          </p:nvGrpSpPr>
          <p:grpSpPr bwMode="auto">
            <a:xfrm>
              <a:off x="3984" y="798"/>
              <a:ext cx="1674" cy="2130"/>
              <a:chOff x="4086" y="720"/>
              <a:chExt cx="1674" cy="2130"/>
            </a:xfrm>
          </p:grpSpPr>
          <p:sp>
            <p:nvSpPr>
              <p:cNvPr id="94227" name="Oval 7"/>
              <p:cNvSpPr>
                <a:spLocks noChangeArrowheads="1"/>
              </p:cNvSpPr>
              <p:nvPr/>
            </p:nvSpPr>
            <p:spPr bwMode="auto">
              <a:xfrm>
                <a:off x="5254" y="1457"/>
                <a:ext cx="240" cy="672"/>
              </a:xfrm>
              <a:prstGeom prst="ellipse">
                <a:avLst/>
              </a:prstGeom>
              <a:solidFill>
                <a:srgbClr val="CC9900"/>
              </a:solidFill>
              <a:ln w="41275">
                <a:solidFill>
                  <a:srgbClr val="99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4228" name="Line 8"/>
              <p:cNvSpPr>
                <a:spLocks noChangeShapeType="1"/>
              </p:cNvSpPr>
              <p:nvPr/>
            </p:nvSpPr>
            <p:spPr bwMode="auto">
              <a:xfrm>
                <a:off x="4678" y="1361"/>
                <a:ext cx="0" cy="1248"/>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29" name="Line 9"/>
              <p:cNvSpPr>
                <a:spLocks noChangeShapeType="1"/>
              </p:cNvSpPr>
              <p:nvPr/>
            </p:nvSpPr>
            <p:spPr bwMode="auto">
              <a:xfrm>
                <a:off x="5078" y="1009"/>
                <a:ext cx="0" cy="1248"/>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30" name="Line 10"/>
              <p:cNvSpPr>
                <a:spLocks noChangeShapeType="1"/>
              </p:cNvSpPr>
              <p:nvPr/>
            </p:nvSpPr>
            <p:spPr bwMode="auto">
              <a:xfrm>
                <a:off x="4198" y="1457"/>
                <a:ext cx="428" cy="1"/>
              </a:xfrm>
              <a:prstGeom prst="line">
                <a:avLst/>
              </a:prstGeom>
              <a:noFill/>
              <a:ln w="412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31" name="Line 11"/>
              <p:cNvSpPr>
                <a:spLocks noChangeShapeType="1"/>
              </p:cNvSpPr>
              <p:nvPr/>
            </p:nvSpPr>
            <p:spPr bwMode="auto">
              <a:xfrm>
                <a:off x="4230" y="2129"/>
                <a:ext cx="428" cy="0"/>
              </a:xfrm>
              <a:prstGeom prst="line">
                <a:avLst/>
              </a:prstGeom>
              <a:noFill/>
              <a:ln w="412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32" name="Oval 12"/>
              <p:cNvSpPr>
                <a:spLocks noChangeArrowheads="1"/>
              </p:cNvSpPr>
              <p:nvPr/>
            </p:nvSpPr>
            <p:spPr bwMode="auto">
              <a:xfrm>
                <a:off x="4768" y="1443"/>
                <a:ext cx="240" cy="672"/>
              </a:xfrm>
              <a:prstGeom prst="ellipse">
                <a:avLst/>
              </a:prstGeom>
              <a:noFill/>
              <a:ln w="41275">
                <a:solidFill>
                  <a:srgbClr val="993300"/>
                </a:solidFill>
                <a:round/>
                <a:headEnd/>
                <a:tailEnd/>
              </a:ln>
              <a:effectLst/>
              <a:extLst>
                <a:ext uri="{909E8E84-426E-40DD-AFC4-6F175D3DCCD1}">
                  <a14:hiddenFill xmlns:a14="http://schemas.microsoft.com/office/drawing/2010/main">
                    <a:solidFill>
                      <a:srgbClr val="00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4233" name="Line 13"/>
              <p:cNvSpPr>
                <a:spLocks noChangeShapeType="1"/>
              </p:cNvSpPr>
              <p:nvPr/>
            </p:nvSpPr>
            <p:spPr bwMode="auto">
              <a:xfrm>
                <a:off x="4918" y="1457"/>
                <a:ext cx="432" cy="0"/>
              </a:xfrm>
              <a:prstGeom prst="line">
                <a:avLst/>
              </a:prstGeom>
              <a:noFill/>
              <a:ln w="412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34" name="Line 14"/>
              <p:cNvSpPr>
                <a:spLocks noChangeShapeType="1"/>
              </p:cNvSpPr>
              <p:nvPr/>
            </p:nvSpPr>
            <p:spPr bwMode="auto">
              <a:xfrm>
                <a:off x="4934" y="2113"/>
                <a:ext cx="432" cy="0"/>
              </a:xfrm>
              <a:prstGeom prst="line">
                <a:avLst/>
              </a:prstGeom>
              <a:noFill/>
              <a:ln w="412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35" name="Line 15"/>
              <p:cNvSpPr>
                <a:spLocks noChangeShapeType="1"/>
              </p:cNvSpPr>
              <p:nvPr/>
            </p:nvSpPr>
            <p:spPr bwMode="auto">
              <a:xfrm>
                <a:off x="4582" y="1457"/>
                <a:ext cx="288" cy="0"/>
              </a:xfrm>
              <a:prstGeom prst="line">
                <a:avLst/>
              </a:prstGeom>
              <a:noFill/>
              <a:ln w="41275" cap="rnd">
                <a:solidFill>
                  <a:srgbClr val="9933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36" name="Line 16"/>
              <p:cNvSpPr>
                <a:spLocks noChangeShapeType="1"/>
              </p:cNvSpPr>
              <p:nvPr/>
            </p:nvSpPr>
            <p:spPr bwMode="auto">
              <a:xfrm>
                <a:off x="4614" y="2129"/>
                <a:ext cx="288" cy="0"/>
              </a:xfrm>
              <a:prstGeom prst="line">
                <a:avLst/>
              </a:prstGeom>
              <a:noFill/>
              <a:ln w="41275" cap="rnd">
                <a:solidFill>
                  <a:srgbClr val="9933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94237" name="Object 17"/>
              <p:cNvGraphicFramePr>
                <a:graphicFrameLocks noChangeAspect="1"/>
              </p:cNvGraphicFramePr>
              <p:nvPr/>
            </p:nvGraphicFramePr>
            <p:xfrm>
              <a:off x="4806" y="1713"/>
              <a:ext cx="193" cy="214"/>
            </p:xfrm>
            <a:graphic>
              <a:graphicData uri="http://schemas.openxmlformats.org/presentationml/2006/ole">
                <mc:AlternateContent xmlns:mc="http://schemas.openxmlformats.org/markup-compatibility/2006">
                  <mc:Choice xmlns:v="urn:schemas-microsoft-com:vml" Requires="v">
                    <p:oleObj spid="_x0000_s228573" name="公式" r:id="rId3" imgW="126835" imgH="139518" progId="Equation.3">
                      <p:embed/>
                    </p:oleObj>
                  </mc:Choice>
                  <mc:Fallback>
                    <p:oleObj name="公式" r:id="rId3" imgW="126835" imgH="139518" progId="Equation.3">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6" y="1713"/>
                            <a:ext cx="193"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4238" name="Object 18"/>
              <p:cNvGraphicFramePr>
                <a:graphicFrameLocks noChangeAspect="1"/>
              </p:cNvGraphicFramePr>
              <p:nvPr/>
            </p:nvGraphicFramePr>
            <p:xfrm>
              <a:off x="5339" y="1505"/>
              <a:ext cx="288" cy="288"/>
            </p:xfrm>
            <a:graphic>
              <a:graphicData uri="http://schemas.openxmlformats.org/presentationml/2006/ole">
                <mc:AlternateContent xmlns:mc="http://schemas.openxmlformats.org/markup-compatibility/2006">
                  <mc:Choice xmlns:v="urn:schemas-microsoft-com:vml" Requires="v">
                    <p:oleObj spid="_x0000_s228574" name="公式" r:id="rId5" imgW="164885" imgH="164885" progId="Equation.3">
                      <p:embed/>
                    </p:oleObj>
                  </mc:Choice>
                  <mc:Fallback>
                    <p:oleObj name="公式" r:id="rId5" imgW="164885" imgH="164885" progId="Equation.3">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9" y="1505"/>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4239" name="Object 19"/>
              <p:cNvGraphicFramePr>
                <a:graphicFrameLocks noChangeAspect="1"/>
              </p:cNvGraphicFramePr>
              <p:nvPr/>
            </p:nvGraphicFramePr>
            <p:xfrm>
              <a:off x="4656" y="2309"/>
              <a:ext cx="499" cy="264"/>
            </p:xfrm>
            <a:graphic>
              <a:graphicData uri="http://schemas.openxmlformats.org/presentationml/2006/ole">
                <mc:AlternateContent xmlns:mc="http://schemas.openxmlformats.org/markup-compatibility/2006">
                  <mc:Choice xmlns:v="urn:schemas-microsoft-com:vml" Requires="v">
                    <p:oleObj spid="_x0000_s228575" name="公式" r:id="rId7" imgW="266469" imgH="139579" progId="Equation.3">
                      <p:embed/>
                    </p:oleObj>
                  </mc:Choice>
                  <mc:Fallback>
                    <p:oleObj name="公式" r:id="rId7" imgW="266469" imgH="139579" progId="Equation.3">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56" y="2309"/>
                            <a:ext cx="499"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4240" name="Object 20"/>
              <p:cNvGraphicFramePr>
                <a:graphicFrameLocks noChangeAspect="1"/>
              </p:cNvGraphicFramePr>
              <p:nvPr/>
            </p:nvGraphicFramePr>
            <p:xfrm>
              <a:off x="5446" y="1985"/>
              <a:ext cx="314" cy="396"/>
            </p:xfrm>
            <a:graphic>
              <a:graphicData uri="http://schemas.openxmlformats.org/presentationml/2006/ole">
                <mc:AlternateContent xmlns:mc="http://schemas.openxmlformats.org/markup-compatibility/2006">
                  <mc:Choice xmlns:v="urn:schemas-microsoft-com:vml" Requires="v">
                    <p:oleObj spid="_x0000_s228576" name="公式" r:id="rId9" imgW="152334" imgH="190417" progId="Equation.3">
                      <p:embed/>
                    </p:oleObj>
                  </mc:Choice>
                  <mc:Fallback>
                    <p:oleObj name="公式" r:id="rId9" imgW="152334" imgH="190417" progId="Equation.3">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46" y="1985"/>
                            <a:ext cx="314" cy="3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4241" name="Object 21"/>
              <p:cNvGraphicFramePr>
                <a:graphicFrameLocks noChangeAspect="1"/>
              </p:cNvGraphicFramePr>
              <p:nvPr/>
            </p:nvGraphicFramePr>
            <p:xfrm>
              <a:off x="4219" y="1169"/>
              <a:ext cx="269" cy="315"/>
            </p:xfrm>
            <a:graphic>
              <a:graphicData uri="http://schemas.openxmlformats.org/presentationml/2006/ole">
                <mc:AlternateContent xmlns:mc="http://schemas.openxmlformats.org/markup-compatibility/2006">
                  <mc:Choice xmlns:v="urn:schemas-microsoft-com:vml" Requires="v">
                    <p:oleObj spid="_x0000_s228577" name="公式" r:id="rId11" imgW="152202" imgH="177569" progId="Equation.3">
                      <p:embed/>
                    </p:oleObj>
                  </mc:Choice>
                  <mc:Fallback>
                    <p:oleObj name="公式" r:id="rId11" imgW="152202" imgH="177569" progId="Equation.3">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19" y="1169"/>
                            <a:ext cx="269" cy="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4242" name="Line 22"/>
              <p:cNvSpPr>
                <a:spLocks noChangeShapeType="1"/>
              </p:cNvSpPr>
              <p:nvPr/>
            </p:nvSpPr>
            <p:spPr bwMode="auto">
              <a:xfrm>
                <a:off x="5350" y="1841"/>
                <a:ext cx="308" cy="0"/>
              </a:xfrm>
              <a:prstGeom prst="line">
                <a:avLst/>
              </a:prstGeom>
              <a:noFill/>
              <a:ln w="41275">
                <a:solidFill>
                  <a:srgbClr val="CC33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43" name="Line 23"/>
              <p:cNvSpPr>
                <a:spLocks noChangeShapeType="1"/>
              </p:cNvSpPr>
              <p:nvPr/>
            </p:nvSpPr>
            <p:spPr bwMode="auto">
              <a:xfrm flipV="1">
                <a:off x="4678" y="2273"/>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44" name="Line 24"/>
              <p:cNvSpPr>
                <a:spLocks noChangeShapeType="1"/>
              </p:cNvSpPr>
              <p:nvPr/>
            </p:nvSpPr>
            <p:spPr bwMode="auto">
              <a:xfrm flipV="1">
                <a:off x="4694" y="993"/>
                <a:ext cx="384" cy="33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4245" name="Group 25"/>
              <p:cNvGrpSpPr>
                <a:grpSpLocks/>
              </p:cNvGrpSpPr>
              <p:nvPr/>
            </p:nvGrpSpPr>
            <p:grpSpPr bwMode="auto">
              <a:xfrm>
                <a:off x="4086" y="1455"/>
                <a:ext cx="240" cy="672"/>
                <a:chOff x="1200" y="2496"/>
                <a:chExt cx="240" cy="672"/>
              </a:xfrm>
            </p:grpSpPr>
            <p:sp>
              <p:nvSpPr>
                <p:cNvPr id="94258" name="Oval 26"/>
                <p:cNvSpPr>
                  <a:spLocks noChangeArrowheads="1"/>
                </p:cNvSpPr>
                <p:nvPr/>
              </p:nvSpPr>
              <p:spPr bwMode="auto">
                <a:xfrm>
                  <a:off x="1200" y="2496"/>
                  <a:ext cx="240" cy="672"/>
                </a:xfrm>
                <a:prstGeom prst="ellipse">
                  <a:avLst/>
                </a:prstGeom>
                <a:noFill/>
                <a:ln w="41275">
                  <a:solidFill>
                    <a:srgbClr val="993300"/>
                  </a:solidFill>
                  <a:round/>
                  <a:headEnd/>
                  <a:tailEnd/>
                </a:ln>
                <a:effectLst/>
                <a:extLst>
                  <a:ext uri="{909E8E84-426E-40DD-AFC4-6F175D3DCCD1}">
                    <a14:hiddenFill xmlns:a14="http://schemas.microsoft.com/office/drawing/2010/main">
                      <a:solidFill>
                        <a:srgbClr val="6666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4259" name="Line 27"/>
                <p:cNvSpPr>
                  <a:spLocks noChangeShapeType="1"/>
                </p:cNvSpPr>
                <p:nvPr/>
              </p:nvSpPr>
              <p:spPr bwMode="auto">
                <a:xfrm flipH="1">
                  <a:off x="1200" y="2592"/>
                  <a:ext cx="192" cy="240"/>
                </a:xfrm>
                <a:prstGeom prst="line">
                  <a:avLst/>
                </a:prstGeom>
                <a:noFill/>
                <a:ln w="34925">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60" name="Line 28"/>
                <p:cNvSpPr>
                  <a:spLocks noChangeShapeType="1"/>
                </p:cNvSpPr>
                <p:nvPr/>
              </p:nvSpPr>
              <p:spPr bwMode="auto">
                <a:xfrm flipH="1">
                  <a:off x="1210" y="2678"/>
                  <a:ext cx="192" cy="240"/>
                </a:xfrm>
                <a:prstGeom prst="line">
                  <a:avLst/>
                </a:prstGeom>
                <a:noFill/>
                <a:ln w="34925">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61" name="Line 29"/>
                <p:cNvSpPr>
                  <a:spLocks noChangeShapeType="1"/>
                </p:cNvSpPr>
                <p:nvPr/>
              </p:nvSpPr>
              <p:spPr bwMode="auto">
                <a:xfrm flipH="1">
                  <a:off x="1228" y="2746"/>
                  <a:ext cx="192" cy="240"/>
                </a:xfrm>
                <a:prstGeom prst="line">
                  <a:avLst/>
                </a:prstGeom>
                <a:noFill/>
                <a:ln w="34925">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62" name="Line 30"/>
                <p:cNvSpPr>
                  <a:spLocks noChangeShapeType="1"/>
                </p:cNvSpPr>
                <p:nvPr/>
              </p:nvSpPr>
              <p:spPr bwMode="auto">
                <a:xfrm flipH="1">
                  <a:off x="1248" y="2832"/>
                  <a:ext cx="192" cy="240"/>
                </a:xfrm>
                <a:prstGeom prst="line">
                  <a:avLst/>
                </a:prstGeom>
                <a:noFill/>
                <a:ln w="34925">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63" name="Line 31"/>
                <p:cNvSpPr>
                  <a:spLocks noChangeShapeType="1"/>
                </p:cNvSpPr>
                <p:nvPr/>
              </p:nvSpPr>
              <p:spPr bwMode="auto">
                <a:xfrm flipH="1">
                  <a:off x="1248" y="2928"/>
                  <a:ext cx="192" cy="240"/>
                </a:xfrm>
                <a:prstGeom prst="line">
                  <a:avLst/>
                </a:prstGeom>
                <a:noFill/>
                <a:ln w="34925">
                  <a:solidFill>
                    <a:srgbClr val="CC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64" name="Freeform 32"/>
                <p:cNvSpPr>
                  <a:spLocks/>
                </p:cNvSpPr>
                <p:nvPr/>
              </p:nvSpPr>
              <p:spPr bwMode="auto">
                <a:xfrm>
                  <a:off x="1200" y="2547"/>
                  <a:ext cx="163" cy="189"/>
                </a:xfrm>
                <a:custGeom>
                  <a:avLst/>
                  <a:gdLst>
                    <a:gd name="T0" fmla="*/ 163 w 163"/>
                    <a:gd name="T1" fmla="*/ 0 h 189"/>
                    <a:gd name="T2" fmla="*/ 0 w 163"/>
                    <a:gd name="T3" fmla="*/ 189 h 189"/>
                    <a:gd name="T4" fmla="*/ 0 60000 65536"/>
                    <a:gd name="T5" fmla="*/ 0 60000 65536"/>
                  </a:gdLst>
                  <a:ahLst/>
                  <a:cxnLst>
                    <a:cxn ang="T4">
                      <a:pos x="T0" y="T1"/>
                    </a:cxn>
                    <a:cxn ang="T5">
                      <a:pos x="T2" y="T3"/>
                    </a:cxn>
                  </a:cxnLst>
                  <a:rect l="0" t="0" r="r" b="b"/>
                  <a:pathLst>
                    <a:path w="163" h="189">
                      <a:moveTo>
                        <a:pt x="163" y="0"/>
                      </a:moveTo>
                      <a:lnTo>
                        <a:pt x="0" y="189"/>
                      </a:lnTo>
                    </a:path>
                  </a:pathLst>
                </a:custGeom>
                <a:noFill/>
                <a:ln w="34925" cap="flat" cmpd="sng">
                  <a:solidFill>
                    <a:srgbClr val="CC99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4246" name="Line 33"/>
              <p:cNvSpPr>
                <a:spLocks noChangeShapeType="1"/>
              </p:cNvSpPr>
              <p:nvPr/>
            </p:nvSpPr>
            <p:spPr bwMode="auto">
              <a:xfrm>
                <a:off x="4998" y="1569"/>
                <a:ext cx="2" cy="48"/>
              </a:xfrm>
              <a:prstGeom prst="line">
                <a:avLst/>
              </a:prstGeom>
              <a:noFill/>
              <a:ln w="635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47" name="Line 34"/>
              <p:cNvSpPr>
                <a:spLocks noChangeShapeType="1"/>
              </p:cNvSpPr>
              <p:nvPr/>
            </p:nvSpPr>
            <p:spPr bwMode="auto">
              <a:xfrm>
                <a:off x="5008" y="1713"/>
                <a:ext cx="2" cy="48"/>
              </a:xfrm>
              <a:prstGeom prst="line">
                <a:avLst/>
              </a:prstGeom>
              <a:noFill/>
              <a:ln w="635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48" name="Line 35"/>
              <p:cNvSpPr>
                <a:spLocks noChangeShapeType="1"/>
              </p:cNvSpPr>
              <p:nvPr/>
            </p:nvSpPr>
            <p:spPr bwMode="auto">
              <a:xfrm flipH="1">
                <a:off x="5010" y="1857"/>
                <a:ext cx="2" cy="48"/>
              </a:xfrm>
              <a:prstGeom prst="line">
                <a:avLst/>
              </a:prstGeom>
              <a:noFill/>
              <a:ln w="635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49" name="Line 36"/>
              <p:cNvSpPr>
                <a:spLocks noChangeShapeType="1"/>
              </p:cNvSpPr>
              <p:nvPr/>
            </p:nvSpPr>
            <p:spPr bwMode="auto">
              <a:xfrm flipH="1">
                <a:off x="4978" y="2001"/>
                <a:ext cx="2" cy="48"/>
              </a:xfrm>
              <a:prstGeom prst="line">
                <a:avLst/>
              </a:prstGeom>
              <a:noFill/>
              <a:ln w="635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50" name="Line 37"/>
              <p:cNvSpPr>
                <a:spLocks noChangeShapeType="1"/>
              </p:cNvSpPr>
              <p:nvPr/>
            </p:nvSpPr>
            <p:spPr bwMode="auto">
              <a:xfrm>
                <a:off x="4275" y="1521"/>
                <a:ext cx="2" cy="48"/>
              </a:xfrm>
              <a:prstGeom prst="line">
                <a:avLst/>
              </a:prstGeom>
              <a:noFill/>
              <a:ln w="635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51" name="Line 38"/>
              <p:cNvSpPr>
                <a:spLocks noChangeShapeType="1"/>
              </p:cNvSpPr>
              <p:nvPr/>
            </p:nvSpPr>
            <p:spPr bwMode="auto">
              <a:xfrm>
                <a:off x="4326" y="1731"/>
                <a:ext cx="2" cy="48"/>
              </a:xfrm>
              <a:prstGeom prst="line">
                <a:avLst/>
              </a:prstGeom>
              <a:noFill/>
              <a:ln w="635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52" name="Line 39"/>
              <p:cNvSpPr>
                <a:spLocks noChangeShapeType="1"/>
              </p:cNvSpPr>
              <p:nvPr/>
            </p:nvSpPr>
            <p:spPr bwMode="auto">
              <a:xfrm flipH="1">
                <a:off x="4326" y="1920"/>
                <a:ext cx="2" cy="48"/>
              </a:xfrm>
              <a:prstGeom prst="line">
                <a:avLst/>
              </a:prstGeom>
              <a:noFill/>
              <a:ln w="635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53" name="Line 40"/>
              <p:cNvSpPr>
                <a:spLocks noChangeShapeType="1"/>
              </p:cNvSpPr>
              <p:nvPr/>
            </p:nvSpPr>
            <p:spPr bwMode="auto">
              <a:xfrm flipH="1">
                <a:off x="4278" y="2049"/>
                <a:ext cx="2" cy="48"/>
              </a:xfrm>
              <a:prstGeom prst="line">
                <a:avLst/>
              </a:prstGeom>
              <a:noFill/>
              <a:ln w="635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54" name="Line 41"/>
              <p:cNvSpPr>
                <a:spLocks noChangeShapeType="1"/>
              </p:cNvSpPr>
              <p:nvPr/>
            </p:nvSpPr>
            <p:spPr bwMode="auto">
              <a:xfrm>
                <a:off x="4674" y="846"/>
                <a:ext cx="0" cy="48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55" name="Line 42"/>
              <p:cNvSpPr>
                <a:spLocks noChangeShapeType="1"/>
              </p:cNvSpPr>
              <p:nvPr/>
            </p:nvSpPr>
            <p:spPr bwMode="auto">
              <a:xfrm>
                <a:off x="5076" y="720"/>
                <a:ext cx="0" cy="48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56" name="Line 43"/>
              <p:cNvSpPr>
                <a:spLocks noChangeShapeType="1"/>
              </p:cNvSpPr>
              <p:nvPr/>
            </p:nvSpPr>
            <p:spPr bwMode="auto">
              <a:xfrm>
                <a:off x="4677" y="2370"/>
                <a:ext cx="0" cy="48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57" name="Line 44"/>
              <p:cNvSpPr>
                <a:spLocks noChangeShapeType="1"/>
              </p:cNvSpPr>
              <p:nvPr/>
            </p:nvSpPr>
            <p:spPr bwMode="auto">
              <a:xfrm>
                <a:off x="5076" y="2241"/>
                <a:ext cx="0" cy="48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aphicFrame>
        <p:nvGraphicFramePr>
          <p:cNvPr id="176173" name="Object 45"/>
          <p:cNvGraphicFramePr>
            <a:graphicFrameLocks noChangeAspect="1"/>
          </p:cNvGraphicFramePr>
          <p:nvPr/>
        </p:nvGraphicFramePr>
        <p:xfrm>
          <a:off x="179388" y="2576513"/>
          <a:ext cx="5889625" cy="636587"/>
        </p:xfrm>
        <a:graphic>
          <a:graphicData uri="http://schemas.openxmlformats.org/presentationml/2006/ole">
            <mc:AlternateContent xmlns:mc="http://schemas.openxmlformats.org/markup-compatibility/2006">
              <mc:Choice xmlns:v="urn:schemas-microsoft-com:vml" Requires="v">
                <p:oleObj spid="_x0000_s228578" name="Equation" r:id="rId13" imgW="2933700" imgH="304800" progId="Equation.DSMT4">
                  <p:embed/>
                </p:oleObj>
              </mc:Choice>
              <mc:Fallback>
                <p:oleObj name="Equation" r:id="rId13" imgW="2933700" imgH="304800" progId="Equation.DSMT4">
                  <p:embed/>
                  <p:pic>
                    <p:nvPicPr>
                      <p:cNvPr id="0" name="Object 4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9388" y="2576513"/>
                        <a:ext cx="5889625"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6174" name="Text Box 46"/>
          <p:cNvSpPr txBox="1">
            <a:spLocks noChangeArrowheads="1"/>
          </p:cNvSpPr>
          <p:nvPr/>
        </p:nvSpPr>
        <p:spPr bwMode="auto">
          <a:xfrm>
            <a:off x="5795963" y="4868863"/>
            <a:ext cx="3311525" cy="192722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chemeClr val="hlink"/>
                </a:solidFill>
                <a:ea typeface="楷体_GB2312"/>
              </a:rPr>
              <a:t>无限大平面电荷的电场与到电荷平面的距离无关，是匀强电场。电场强度的方向垂直于带电平面。</a:t>
            </a:r>
          </a:p>
        </p:txBody>
      </p:sp>
      <p:sp>
        <p:nvSpPr>
          <p:cNvPr id="176175" name="Text Box 47"/>
          <p:cNvSpPr txBox="1">
            <a:spLocks noChangeArrowheads="1"/>
          </p:cNvSpPr>
          <p:nvPr/>
        </p:nvSpPr>
        <p:spPr bwMode="auto">
          <a:xfrm>
            <a:off x="444500" y="3359150"/>
            <a:ext cx="325437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zh-CN" altLang="en-US" sz="2400">
                <a:ea typeface="楷体_GB2312"/>
              </a:rPr>
              <a:t>高斯面所包围的电量为</a:t>
            </a:r>
          </a:p>
        </p:txBody>
      </p:sp>
      <p:graphicFrame>
        <p:nvGraphicFramePr>
          <p:cNvPr id="176176" name="Object 48"/>
          <p:cNvGraphicFramePr>
            <a:graphicFrameLocks noChangeAspect="1"/>
          </p:cNvGraphicFramePr>
          <p:nvPr/>
        </p:nvGraphicFramePr>
        <p:xfrm>
          <a:off x="1600200" y="3816350"/>
          <a:ext cx="1035050" cy="444500"/>
        </p:xfrm>
        <a:graphic>
          <a:graphicData uri="http://schemas.openxmlformats.org/presentationml/2006/ole">
            <mc:AlternateContent xmlns:mc="http://schemas.openxmlformats.org/markup-compatibility/2006">
              <mc:Choice xmlns:v="urn:schemas-microsoft-com:vml" Requires="v">
                <p:oleObj spid="_x0000_s228579" name="公式" r:id="rId15" imgW="469696" imgH="203112" progId="Equation.3">
                  <p:embed/>
                </p:oleObj>
              </mc:Choice>
              <mc:Fallback>
                <p:oleObj name="公式" r:id="rId15" imgW="469696" imgH="203112" progId="Equation.3">
                  <p:embed/>
                  <p:pic>
                    <p:nvPicPr>
                      <p:cNvPr id="0" name="Object 4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00200" y="3816350"/>
                        <a:ext cx="1035050" cy="4445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6177" name="Text Box 49"/>
          <p:cNvSpPr txBox="1">
            <a:spLocks noChangeArrowheads="1"/>
          </p:cNvSpPr>
          <p:nvPr/>
        </p:nvSpPr>
        <p:spPr bwMode="auto">
          <a:xfrm>
            <a:off x="444500" y="5334000"/>
            <a:ext cx="324167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zh-CN" altLang="en-US" sz="2400">
                <a:ea typeface="楷体_GB2312"/>
              </a:rPr>
              <a:t>由此可知，电场强度为</a:t>
            </a:r>
          </a:p>
        </p:txBody>
      </p:sp>
      <p:graphicFrame>
        <p:nvGraphicFramePr>
          <p:cNvPr id="176178" name="Object 50"/>
          <p:cNvGraphicFramePr>
            <a:graphicFrameLocks noChangeAspect="1"/>
          </p:cNvGraphicFramePr>
          <p:nvPr/>
        </p:nvGraphicFramePr>
        <p:xfrm>
          <a:off x="1443038" y="4876800"/>
          <a:ext cx="1958975" cy="504825"/>
        </p:xfrm>
        <a:graphic>
          <a:graphicData uri="http://schemas.openxmlformats.org/presentationml/2006/ole">
            <mc:AlternateContent xmlns:mc="http://schemas.openxmlformats.org/markup-compatibility/2006">
              <mc:Choice xmlns:v="urn:schemas-microsoft-com:vml" Requires="v">
                <p:oleObj spid="_x0000_s228580" name="公式" r:id="rId17" imgW="889000" imgH="228600" progId="Equation.3">
                  <p:embed/>
                </p:oleObj>
              </mc:Choice>
              <mc:Fallback>
                <p:oleObj name="公式" r:id="rId17" imgW="889000" imgH="228600" progId="Equation.3">
                  <p:embed/>
                  <p:pic>
                    <p:nvPicPr>
                      <p:cNvPr id="0" name="Object 5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43038" y="4876800"/>
                        <a:ext cx="1958975" cy="5048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6179" name="Text Box 51"/>
          <p:cNvSpPr txBox="1">
            <a:spLocks noChangeArrowheads="1"/>
          </p:cNvSpPr>
          <p:nvPr/>
        </p:nvSpPr>
        <p:spPr bwMode="auto">
          <a:xfrm>
            <a:off x="457200" y="4267200"/>
            <a:ext cx="321627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由高斯定理可知</a:t>
            </a:r>
          </a:p>
        </p:txBody>
      </p:sp>
      <p:graphicFrame>
        <p:nvGraphicFramePr>
          <p:cNvPr id="176180" name="Object 52"/>
          <p:cNvGraphicFramePr>
            <a:graphicFrameLocks noChangeAspect="1"/>
          </p:cNvGraphicFramePr>
          <p:nvPr/>
        </p:nvGraphicFramePr>
        <p:xfrm>
          <a:off x="4356100" y="4886325"/>
          <a:ext cx="1371600" cy="1063625"/>
        </p:xfrm>
        <a:graphic>
          <a:graphicData uri="http://schemas.openxmlformats.org/presentationml/2006/ole">
            <mc:AlternateContent xmlns:mc="http://schemas.openxmlformats.org/markup-compatibility/2006">
              <mc:Choice xmlns:v="urn:schemas-microsoft-com:vml" Requires="v">
                <p:oleObj spid="_x0000_s228581" name="公式" r:id="rId19" imgW="571252" imgH="444307" progId="Equation.3">
                  <p:embed/>
                </p:oleObj>
              </mc:Choice>
              <mc:Fallback>
                <p:oleObj name="公式" r:id="rId19" imgW="571252" imgH="444307" progId="Equation.3">
                  <p:embed/>
                  <p:pic>
                    <p:nvPicPr>
                      <p:cNvPr id="0" name="Object 5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356100" y="4886325"/>
                        <a:ext cx="1371600" cy="106362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6181" name="Text Box 53"/>
          <p:cNvSpPr txBox="1">
            <a:spLocks noChangeArrowheads="1"/>
          </p:cNvSpPr>
          <p:nvPr/>
        </p:nvSpPr>
        <p:spPr bwMode="auto">
          <a:xfrm>
            <a:off x="1974850" y="5949950"/>
            <a:ext cx="3232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电场强度方向离开平面</a:t>
            </a:r>
          </a:p>
        </p:txBody>
      </p:sp>
      <p:graphicFrame>
        <p:nvGraphicFramePr>
          <p:cNvPr id="176182" name="Object 54"/>
          <p:cNvGraphicFramePr>
            <a:graphicFrameLocks noChangeAspect="1"/>
          </p:cNvGraphicFramePr>
          <p:nvPr/>
        </p:nvGraphicFramePr>
        <p:xfrm>
          <a:off x="755650" y="5949950"/>
          <a:ext cx="882650" cy="407988"/>
        </p:xfrm>
        <a:graphic>
          <a:graphicData uri="http://schemas.openxmlformats.org/presentationml/2006/ole">
            <mc:AlternateContent xmlns:mc="http://schemas.openxmlformats.org/markup-compatibility/2006">
              <mc:Choice xmlns:v="urn:schemas-microsoft-com:vml" Requires="v">
                <p:oleObj spid="_x0000_s228582" name="公式" r:id="rId21" imgW="380670" imgH="177646" progId="Equation.3">
                  <p:embed/>
                </p:oleObj>
              </mc:Choice>
              <mc:Fallback>
                <p:oleObj name="公式" r:id="rId21" imgW="380670" imgH="177646" progId="Equation.3">
                  <p:embed/>
                  <p:pic>
                    <p:nvPicPr>
                      <p:cNvPr id="0" name="Object 5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55650" y="5949950"/>
                        <a:ext cx="882650" cy="40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6183" name="Text Box 55"/>
          <p:cNvSpPr txBox="1">
            <a:spLocks noChangeArrowheads="1"/>
          </p:cNvSpPr>
          <p:nvPr/>
        </p:nvSpPr>
        <p:spPr bwMode="auto">
          <a:xfrm>
            <a:off x="1974850" y="6365875"/>
            <a:ext cx="3232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电场强度方向指向平面</a:t>
            </a:r>
          </a:p>
        </p:txBody>
      </p:sp>
      <p:graphicFrame>
        <p:nvGraphicFramePr>
          <p:cNvPr id="176184" name="Object 56"/>
          <p:cNvGraphicFramePr>
            <a:graphicFrameLocks noChangeAspect="1"/>
          </p:cNvGraphicFramePr>
          <p:nvPr/>
        </p:nvGraphicFramePr>
        <p:xfrm>
          <a:off x="831850" y="6421438"/>
          <a:ext cx="900113" cy="415925"/>
        </p:xfrm>
        <a:graphic>
          <a:graphicData uri="http://schemas.openxmlformats.org/presentationml/2006/ole">
            <mc:AlternateContent xmlns:mc="http://schemas.openxmlformats.org/markup-compatibility/2006">
              <mc:Choice xmlns:v="urn:schemas-microsoft-com:vml" Requires="v">
                <p:oleObj spid="_x0000_s228583" name="公式" r:id="rId23" imgW="380670" imgH="177646" progId="Equation.3">
                  <p:embed/>
                </p:oleObj>
              </mc:Choice>
              <mc:Fallback>
                <p:oleObj name="公式" r:id="rId23" imgW="380670" imgH="177646" progId="Equation.3">
                  <p:embed/>
                  <p:pic>
                    <p:nvPicPr>
                      <p:cNvPr id="0" name="Object 5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31850" y="6421438"/>
                        <a:ext cx="900113"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176130">
                                            <p:txEl>
                                              <p:pRg st="0" end="0"/>
                                            </p:txEl>
                                          </p:spTgt>
                                        </p:tgtEl>
                                        <p:attrNameLst>
                                          <p:attrName>style.visibility</p:attrName>
                                        </p:attrNameLst>
                                      </p:cBhvr>
                                      <p:to>
                                        <p:strVal val="visible"/>
                                      </p:to>
                                    </p:set>
                                    <p:animEffect transition="in" filter="wipe(left)">
                                      <p:cBhvr>
                                        <p:cTn id="7" dur="75"/>
                                        <p:tgtEl>
                                          <p:spTgt spid="17613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76173"/>
                                        </p:tgtEl>
                                        <p:attrNameLst>
                                          <p:attrName>style.visibility</p:attrName>
                                        </p:attrNameLst>
                                      </p:cBhvr>
                                      <p:to>
                                        <p:strVal val="visible"/>
                                      </p:to>
                                    </p:set>
                                    <p:animEffect transition="in" filter="wipe(left)">
                                      <p:cBhvr>
                                        <p:cTn id="12" dur="500"/>
                                        <p:tgtEl>
                                          <p:spTgt spid="1761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6175"/>
                                        </p:tgtEl>
                                        <p:attrNameLst>
                                          <p:attrName>style.visibility</p:attrName>
                                        </p:attrNameLst>
                                      </p:cBhvr>
                                      <p:to>
                                        <p:strVal val="visible"/>
                                      </p:to>
                                    </p:set>
                                    <p:animEffect transition="in" filter="wipe(left)">
                                      <p:cBhvr>
                                        <p:cTn id="17" dur="500"/>
                                        <p:tgtEl>
                                          <p:spTgt spid="1761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76176"/>
                                        </p:tgtEl>
                                        <p:attrNameLst>
                                          <p:attrName>style.visibility</p:attrName>
                                        </p:attrNameLst>
                                      </p:cBhvr>
                                      <p:to>
                                        <p:strVal val="visible"/>
                                      </p:to>
                                    </p:set>
                                    <p:animEffect transition="in" filter="wipe(left)">
                                      <p:cBhvr>
                                        <p:cTn id="22" dur="500"/>
                                        <p:tgtEl>
                                          <p:spTgt spid="17617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6179"/>
                                        </p:tgtEl>
                                        <p:attrNameLst>
                                          <p:attrName>style.visibility</p:attrName>
                                        </p:attrNameLst>
                                      </p:cBhvr>
                                      <p:to>
                                        <p:strVal val="visible"/>
                                      </p:to>
                                    </p:set>
                                    <p:animEffect transition="in" filter="wipe(left)">
                                      <p:cBhvr>
                                        <p:cTn id="27" dur="500"/>
                                        <p:tgtEl>
                                          <p:spTgt spid="17617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76178"/>
                                        </p:tgtEl>
                                        <p:attrNameLst>
                                          <p:attrName>style.visibility</p:attrName>
                                        </p:attrNameLst>
                                      </p:cBhvr>
                                      <p:to>
                                        <p:strVal val="visible"/>
                                      </p:to>
                                    </p:set>
                                    <p:animEffect transition="in" filter="wipe(left)">
                                      <p:cBhvr>
                                        <p:cTn id="32" dur="500"/>
                                        <p:tgtEl>
                                          <p:spTgt spid="17617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6177"/>
                                        </p:tgtEl>
                                        <p:attrNameLst>
                                          <p:attrName>style.visibility</p:attrName>
                                        </p:attrNameLst>
                                      </p:cBhvr>
                                      <p:to>
                                        <p:strVal val="visible"/>
                                      </p:to>
                                    </p:set>
                                    <p:animEffect transition="in" filter="wipe(left)">
                                      <p:cBhvr>
                                        <p:cTn id="37" dur="500"/>
                                        <p:tgtEl>
                                          <p:spTgt spid="17617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76180"/>
                                        </p:tgtEl>
                                        <p:attrNameLst>
                                          <p:attrName>style.visibility</p:attrName>
                                        </p:attrNameLst>
                                      </p:cBhvr>
                                      <p:to>
                                        <p:strVal val="visible"/>
                                      </p:to>
                                    </p:set>
                                    <p:animEffect transition="in" filter="wipe(left)">
                                      <p:cBhvr>
                                        <p:cTn id="42" dur="500"/>
                                        <p:tgtEl>
                                          <p:spTgt spid="17618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76174"/>
                                        </p:tgtEl>
                                        <p:attrNameLst>
                                          <p:attrName>style.visibility</p:attrName>
                                        </p:attrNameLst>
                                      </p:cBhvr>
                                      <p:to>
                                        <p:strVal val="visible"/>
                                      </p:to>
                                    </p:set>
                                    <p:animEffect transition="in" filter="wipe(left)">
                                      <p:cBhvr>
                                        <p:cTn id="47" dur="500"/>
                                        <p:tgtEl>
                                          <p:spTgt spid="17617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76182"/>
                                        </p:tgtEl>
                                        <p:attrNameLst>
                                          <p:attrName>style.visibility</p:attrName>
                                        </p:attrNameLst>
                                      </p:cBhvr>
                                      <p:to>
                                        <p:strVal val="visible"/>
                                      </p:to>
                                    </p:set>
                                    <p:animEffect transition="in" filter="wipe(left)">
                                      <p:cBhvr>
                                        <p:cTn id="52" dur="500"/>
                                        <p:tgtEl>
                                          <p:spTgt spid="17618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76181"/>
                                        </p:tgtEl>
                                        <p:attrNameLst>
                                          <p:attrName>style.visibility</p:attrName>
                                        </p:attrNameLst>
                                      </p:cBhvr>
                                      <p:to>
                                        <p:strVal val="visible"/>
                                      </p:to>
                                    </p:set>
                                    <p:animEffect transition="in" filter="wipe(left)">
                                      <p:cBhvr>
                                        <p:cTn id="57" dur="500"/>
                                        <p:tgtEl>
                                          <p:spTgt spid="17618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176184"/>
                                        </p:tgtEl>
                                        <p:attrNameLst>
                                          <p:attrName>style.visibility</p:attrName>
                                        </p:attrNameLst>
                                      </p:cBhvr>
                                      <p:to>
                                        <p:strVal val="visible"/>
                                      </p:to>
                                    </p:set>
                                    <p:animEffect transition="in" filter="wipe(left)">
                                      <p:cBhvr>
                                        <p:cTn id="62" dur="500"/>
                                        <p:tgtEl>
                                          <p:spTgt spid="17618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76183"/>
                                        </p:tgtEl>
                                        <p:attrNameLst>
                                          <p:attrName>style.visibility</p:attrName>
                                        </p:attrNameLst>
                                      </p:cBhvr>
                                      <p:to>
                                        <p:strVal val="visible"/>
                                      </p:to>
                                    </p:set>
                                    <p:animEffect transition="in" filter="wipe(left)">
                                      <p:cBhvr>
                                        <p:cTn id="67" dur="500"/>
                                        <p:tgtEl>
                                          <p:spTgt spid="176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0" grpId="0" build="p" autoUpdateAnimBg="0"/>
      <p:bldP spid="176174" grpId="0" animBg="1" autoUpdateAnimBg="0"/>
      <p:bldP spid="176175" grpId="0" autoUpdateAnimBg="0"/>
      <p:bldP spid="176177" grpId="0" autoUpdateAnimBg="0"/>
      <p:bldP spid="176179" grpId="0" autoUpdateAnimBg="0"/>
      <p:bldP spid="176181" grpId="0" autoUpdateAnimBg="0"/>
      <p:bldP spid="176183" grpId="0"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6258" name="Group 4"/>
          <p:cNvGrpSpPr>
            <a:grpSpLocks/>
          </p:cNvGrpSpPr>
          <p:nvPr/>
        </p:nvGrpSpPr>
        <p:grpSpPr bwMode="auto">
          <a:xfrm>
            <a:off x="2268538" y="1989138"/>
            <a:ext cx="2398712" cy="2209800"/>
            <a:chOff x="96" y="2256"/>
            <a:chExt cx="1964" cy="1392"/>
          </a:xfrm>
        </p:grpSpPr>
        <p:sp>
          <p:nvSpPr>
            <p:cNvPr id="96293" name="AutoShape 5"/>
            <p:cNvSpPr>
              <a:spLocks noChangeArrowheads="1"/>
            </p:cNvSpPr>
            <p:nvPr/>
          </p:nvSpPr>
          <p:spPr bwMode="auto">
            <a:xfrm>
              <a:off x="790" y="2256"/>
              <a:ext cx="409" cy="1392"/>
            </a:xfrm>
            <a:prstGeom prst="flowChartPunchedTape">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6294" name="Rectangle 6"/>
            <p:cNvSpPr>
              <a:spLocks noChangeArrowheads="1"/>
            </p:cNvSpPr>
            <p:nvPr/>
          </p:nvSpPr>
          <p:spPr bwMode="auto">
            <a:xfrm>
              <a:off x="505" y="2747"/>
              <a:ext cx="939" cy="287"/>
            </a:xfrm>
            <a:prstGeom prst="rect">
              <a:avLst/>
            </a:prstGeom>
            <a:noFill/>
            <a:ln w="38100">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6295" name="Rectangle 7"/>
            <p:cNvSpPr>
              <a:spLocks noChangeArrowheads="1"/>
            </p:cNvSpPr>
            <p:nvPr/>
          </p:nvSpPr>
          <p:spPr bwMode="auto">
            <a:xfrm>
              <a:off x="872" y="2747"/>
              <a:ext cx="82" cy="287"/>
            </a:xfrm>
            <a:prstGeom prst="rect">
              <a:avLst/>
            </a:prstGeom>
            <a:solidFill>
              <a:schemeClr val="hlink"/>
            </a:solidFill>
            <a:ln w="38100">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6296" name="Rectangle 8"/>
            <p:cNvSpPr>
              <a:spLocks noChangeArrowheads="1"/>
            </p:cNvSpPr>
            <p:nvPr/>
          </p:nvSpPr>
          <p:spPr bwMode="auto">
            <a:xfrm>
              <a:off x="791" y="3034"/>
              <a:ext cx="40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0" dirty="0">
                  <a:ea typeface="楷体_GB2312"/>
                </a:rPr>
                <a:t>d</a:t>
              </a:r>
              <a:r>
                <a:rPr lang="en-US" altLang="zh-CN" sz="2000" b="0" i="1" dirty="0">
                  <a:ea typeface="楷体_GB2312"/>
                </a:rPr>
                <a:t>x</a:t>
              </a:r>
            </a:p>
          </p:txBody>
        </p:sp>
        <p:sp>
          <p:nvSpPr>
            <p:cNvPr id="96297" name="Text Box 9"/>
            <p:cNvSpPr txBox="1">
              <a:spLocks noChangeArrowheads="1"/>
            </p:cNvSpPr>
            <p:nvPr/>
          </p:nvSpPr>
          <p:spPr bwMode="auto">
            <a:xfrm>
              <a:off x="144" y="2592"/>
              <a:ext cx="57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a:solidFill>
                    <a:schemeClr val="accent2"/>
                  </a:solidFill>
                  <a:ea typeface="华文行楷" panose="02010800040101010101" pitchFamily="2" charset="-122"/>
                </a:rPr>
                <a:t>E  S</a:t>
              </a:r>
              <a:r>
                <a:rPr lang="en-US" altLang="zh-CN" sz="2000" baseline="-25000">
                  <a:solidFill>
                    <a:schemeClr val="accent2"/>
                  </a:solidFill>
                  <a:ea typeface="华文行楷" panose="02010800040101010101" pitchFamily="2" charset="-122"/>
                </a:rPr>
                <a:t>1</a:t>
              </a:r>
            </a:p>
          </p:txBody>
        </p:sp>
        <p:sp>
          <p:nvSpPr>
            <p:cNvPr id="96298" name="Line 10"/>
            <p:cNvSpPr>
              <a:spLocks noChangeShapeType="1"/>
            </p:cNvSpPr>
            <p:nvPr/>
          </p:nvSpPr>
          <p:spPr bwMode="auto">
            <a:xfrm flipH="1">
              <a:off x="96" y="2870"/>
              <a:ext cx="368"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96299" name="Line 11"/>
            <p:cNvSpPr>
              <a:spLocks noChangeShapeType="1"/>
            </p:cNvSpPr>
            <p:nvPr/>
          </p:nvSpPr>
          <p:spPr bwMode="auto">
            <a:xfrm>
              <a:off x="1444" y="2870"/>
              <a:ext cx="428" cy="1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96300" name="Text Box 12"/>
            <p:cNvSpPr txBox="1">
              <a:spLocks noChangeArrowheads="1"/>
            </p:cNvSpPr>
            <p:nvPr/>
          </p:nvSpPr>
          <p:spPr bwMode="auto">
            <a:xfrm>
              <a:off x="1488" y="2592"/>
              <a:ext cx="5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a:solidFill>
                    <a:schemeClr val="accent2"/>
                  </a:solidFill>
                  <a:ea typeface="华文行楷" panose="02010800040101010101" pitchFamily="2" charset="-122"/>
                </a:rPr>
                <a:t>S</a:t>
              </a:r>
              <a:r>
                <a:rPr lang="en-US" altLang="zh-CN" sz="2000" baseline="-25000">
                  <a:solidFill>
                    <a:schemeClr val="accent2"/>
                  </a:solidFill>
                  <a:ea typeface="华文行楷" panose="02010800040101010101" pitchFamily="2" charset="-122"/>
                </a:rPr>
                <a:t>1  </a:t>
              </a:r>
              <a:r>
                <a:rPr lang="en-US" altLang="zh-CN" sz="2000">
                  <a:solidFill>
                    <a:schemeClr val="accent2"/>
                  </a:solidFill>
                  <a:ea typeface="华文行楷" panose="02010800040101010101" pitchFamily="2" charset="-122"/>
                </a:rPr>
                <a:t>E</a:t>
              </a:r>
            </a:p>
          </p:txBody>
        </p:sp>
      </p:grpSp>
      <p:grpSp>
        <p:nvGrpSpPr>
          <p:cNvPr id="96259" name="Group 13"/>
          <p:cNvGrpSpPr>
            <a:grpSpLocks/>
          </p:cNvGrpSpPr>
          <p:nvPr/>
        </p:nvGrpSpPr>
        <p:grpSpPr bwMode="auto">
          <a:xfrm>
            <a:off x="3779838" y="4038600"/>
            <a:ext cx="3352800" cy="2438400"/>
            <a:chOff x="2880" y="2304"/>
            <a:chExt cx="2256" cy="1632"/>
          </a:xfrm>
        </p:grpSpPr>
        <p:sp>
          <p:nvSpPr>
            <p:cNvPr id="96284" name="Line 14"/>
            <p:cNvSpPr>
              <a:spLocks noChangeShapeType="1"/>
            </p:cNvSpPr>
            <p:nvPr/>
          </p:nvSpPr>
          <p:spPr bwMode="auto">
            <a:xfrm>
              <a:off x="4464" y="3312"/>
              <a:ext cx="0" cy="24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96285" name="AutoShape 15"/>
            <p:cNvSpPr>
              <a:spLocks noChangeArrowheads="1"/>
            </p:cNvSpPr>
            <p:nvPr/>
          </p:nvSpPr>
          <p:spPr bwMode="auto">
            <a:xfrm>
              <a:off x="4176" y="2304"/>
              <a:ext cx="480" cy="1632"/>
            </a:xfrm>
            <a:prstGeom prst="flowChartPunchedTape">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6286" name="Rectangle 16"/>
            <p:cNvSpPr>
              <a:spLocks noChangeArrowheads="1"/>
            </p:cNvSpPr>
            <p:nvPr/>
          </p:nvSpPr>
          <p:spPr bwMode="auto">
            <a:xfrm>
              <a:off x="3360" y="2880"/>
              <a:ext cx="1104" cy="336"/>
            </a:xfrm>
            <a:prstGeom prst="rect">
              <a:avLst/>
            </a:prstGeom>
            <a:noFill/>
            <a:ln w="38100">
              <a:solidFill>
                <a:srgbClr val="FF0000"/>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6287" name="Text Box 17"/>
            <p:cNvSpPr txBox="1">
              <a:spLocks noChangeArrowheads="1"/>
            </p:cNvSpPr>
            <p:nvPr/>
          </p:nvSpPr>
          <p:spPr bwMode="auto">
            <a:xfrm>
              <a:off x="2928" y="2784"/>
              <a:ext cx="672"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a:solidFill>
                    <a:schemeClr val="accent2"/>
                  </a:solidFill>
                  <a:ea typeface="华文行楷" panose="02010800040101010101" pitchFamily="2" charset="-122"/>
                </a:rPr>
                <a:t>E  S</a:t>
              </a:r>
              <a:r>
                <a:rPr lang="en-US" altLang="zh-CN" sz="2000" baseline="-25000">
                  <a:solidFill>
                    <a:schemeClr val="accent2"/>
                  </a:solidFill>
                  <a:ea typeface="华文行楷" panose="02010800040101010101" pitchFamily="2" charset="-122"/>
                </a:rPr>
                <a:t>2</a:t>
              </a:r>
            </a:p>
          </p:txBody>
        </p:sp>
        <p:sp>
          <p:nvSpPr>
            <p:cNvPr id="96288" name="Line 18"/>
            <p:cNvSpPr>
              <a:spLocks noChangeShapeType="1"/>
            </p:cNvSpPr>
            <p:nvPr/>
          </p:nvSpPr>
          <p:spPr bwMode="auto">
            <a:xfrm flipH="1">
              <a:off x="2880" y="3024"/>
              <a:ext cx="432"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96289" name="Line 19"/>
            <p:cNvSpPr>
              <a:spLocks noChangeShapeType="1"/>
            </p:cNvSpPr>
            <p:nvPr/>
          </p:nvSpPr>
          <p:spPr bwMode="auto">
            <a:xfrm>
              <a:off x="4464" y="3024"/>
              <a:ext cx="432"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96290" name="Text Box 20"/>
            <p:cNvSpPr txBox="1">
              <a:spLocks noChangeArrowheads="1"/>
            </p:cNvSpPr>
            <p:nvPr/>
          </p:nvSpPr>
          <p:spPr bwMode="auto">
            <a:xfrm>
              <a:off x="4464" y="2784"/>
              <a:ext cx="672"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a:solidFill>
                    <a:schemeClr val="accent2"/>
                  </a:solidFill>
                  <a:ea typeface="华文行楷" panose="02010800040101010101" pitchFamily="2" charset="-122"/>
                </a:rPr>
                <a:t>S</a:t>
              </a:r>
              <a:r>
                <a:rPr lang="en-US" altLang="zh-CN" sz="2000" baseline="-25000">
                  <a:solidFill>
                    <a:schemeClr val="accent2"/>
                  </a:solidFill>
                  <a:ea typeface="华文行楷" panose="02010800040101010101" pitchFamily="2" charset="-122"/>
                </a:rPr>
                <a:t>2   </a:t>
              </a:r>
              <a:r>
                <a:rPr lang="en-US" altLang="zh-CN" sz="2000">
                  <a:solidFill>
                    <a:schemeClr val="accent2"/>
                  </a:solidFill>
                  <a:ea typeface="华文行楷" panose="02010800040101010101" pitchFamily="2" charset="-122"/>
                </a:rPr>
                <a:t>E</a:t>
              </a:r>
            </a:p>
          </p:txBody>
        </p:sp>
        <p:sp>
          <p:nvSpPr>
            <p:cNvPr id="96291" name="Line 21"/>
            <p:cNvSpPr>
              <a:spLocks noChangeShapeType="1"/>
            </p:cNvSpPr>
            <p:nvPr/>
          </p:nvSpPr>
          <p:spPr bwMode="auto">
            <a:xfrm>
              <a:off x="4176" y="3408"/>
              <a:ext cx="288" cy="0"/>
            </a:xfrm>
            <a:prstGeom prst="line">
              <a:avLst/>
            </a:prstGeom>
            <a:noFill/>
            <a:ln w="38100">
              <a:solidFill>
                <a:srgbClr val="FF0000"/>
              </a:solidFill>
              <a:round/>
              <a:headEnd type="triangl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96292" name="Rectangle 22"/>
            <p:cNvSpPr>
              <a:spLocks noChangeArrowheads="1"/>
            </p:cNvSpPr>
            <p:nvPr/>
          </p:nvSpPr>
          <p:spPr bwMode="auto">
            <a:xfrm>
              <a:off x="4224" y="3216"/>
              <a:ext cx="200" cy="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Tx/>
                <a:buNone/>
              </a:pPr>
              <a:r>
                <a:rPr lang="en-US" altLang="zh-CN" sz="2000" b="0" i="1">
                  <a:ea typeface="楷体_GB2312"/>
                </a:rPr>
                <a:t>x</a:t>
              </a:r>
            </a:p>
          </p:txBody>
        </p:sp>
      </p:grpSp>
      <p:grpSp>
        <p:nvGrpSpPr>
          <p:cNvPr id="96260" name="Group 23"/>
          <p:cNvGrpSpPr>
            <a:grpSpLocks/>
          </p:cNvGrpSpPr>
          <p:nvPr/>
        </p:nvGrpSpPr>
        <p:grpSpPr bwMode="auto">
          <a:xfrm>
            <a:off x="-36513" y="1858963"/>
            <a:ext cx="2057401" cy="2362200"/>
            <a:chOff x="1728" y="1104"/>
            <a:chExt cx="2038" cy="1488"/>
          </a:xfrm>
        </p:grpSpPr>
        <p:grpSp>
          <p:nvGrpSpPr>
            <p:cNvPr id="96271" name="Group 24"/>
            <p:cNvGrpSpPr>
              <a:grpSpLocks/>
            </p:cNvGrpSpPr>
            <p:nvPr/>
          </p:nvGrpSpPr>
          <p:grpSpPr bwMode="auto">
            <a:xfrm>
              <a:off x="1728" y="1104"/>
              <a:ext cx="1776" cy="1488"/>
              <a:chOff x="2160" y="1008"/>
              <a:chExt cx="1776" cy="1488"/>
            </a:xfrm>
          </p:grpSpPr>
          <p:sp>
            <p:nvSpPr>
              <p:cNvPr id="96273" name="Text Box 25"/>
              <p:cNvSpPr txBox="1">
                <a:spLocks noChangeArrowheads="1"/>
              </p:cNvSpPr>
              <p:nvPr/>
            </p:nvSpPr>
            <p:spPr bwMode="auto">
              <a:xfrm>
                <a:off x="2544" y="1536"/>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400">
                    <a:solidFill>
                      <a:schemeClr val="accent2"/>
                    </a:solidFill>
                    <a:ea typeface="华文行楷" panose="02010800040101010101" pitchFamily="2" charset="-122"/>
                  </a:rPr>
                  <a:t>O</a:t>
                </a:r>
              </a:p>
            </p:txBody>
          </p:sp>
          <p:sp>
            <p:nvSpPr>
              <p:cNvPr id="96274" name="AutoShape 26"/>
              <p:cNvSpPr>
                <a:spLocks noChangeArrowheads="1"/>
              </p:cNvSpPr>
              <p:nvPr/>
            </p:nvSpPr>
            <p:spPr bwMode="auto">
              <a:xfrm>
                <a:off x="2802" y="1008"/>
                <a:ext cx="378" cy="1488"/>
              </a:xfrm>
              <a:prstGeom prst="flowChartPunchedTape">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6275" name="Text Box 27"/>
              <p:cNvSpPr txBox="1">
                <a:spLocks noChangeArrowheads="1"/>
              </p:cNvSpPr>
              <p:nvPr/>
            </p:nvSpPr>
            <p:spPr bwMode="auto">
              <a:xfrm>
                <a:off x="3483" y="1446"/>
                <a:ext cx="264"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800" i="1">
                    <a:solidFill>
                      <a:schemeClr val="accent2"/>
                    </a:solidFill>
                    <a:ea typeface="华文行楷" panose="02010800040101010101" pitchFamily="2" charset="-122"/>
                  </a:rPr>
                  <a:t>P</a:t>
                </a:r>
                <a:r>
                  <a:rPr lang="en-US" altLang="zh-CN" sz="1800" i="1" baseline="-25000">
                    <a:solidFill>
                      <a:schemeClr val="accent2"/>
                    </a:solidFill>
                    <a:ea typeface="华文行楷" panose="02010800040101010101" pitchFamily="2" charset="-122"/>
                  </a:rPr>
                  <a:t>2</a:t>
                </a:r>
              </a:p>
            </p:txBody>
          </p:sp>
          <p:sp>
            <p:nvSpPr>
              <p:cNvPr id="96276" name="Text Box 28"/>
              <p:cNvSpPr txBox="1">
                <a:spLocks noChangeArrowheads="1"/>
              </p:cNvSpPr>
              <p:nvPr/>
            </p:nvSpPr>
            <p:spPr bwMode="auto">
              <a:xfrm>
                <a:off x="2878" y="1489"/>
                <a:ext cx="26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800" i="1">
                    <a:solidFill>
                      <a:schemeClr val="accent2"/>
                    </a:solidFill>
                    <a:ea typeface="华文行楷" panose="02010800040101010101" pitchFamily="2" charset="-122"/>
                  </a:rPr>
                  <a:t>P</a:t>
                </a:r>
                <a:endParaRPr lang="en-US" altLang="zh-CN" sz="1800" i="1" baseline="-25000">
                  <a:solidFill>
                    <a:schemeClr val="accent2"/>
                  </a:solidFill>
                  <a:ea typeface="华文行楷" panose="02010800040101010101" pitchFamily="2" charset="-122"/>
                </a:endParaRPr>
              </a:p>
            </p:txBody>
          </p:sp>
          <p:sp>
            <p:nvSpPr>
              <p:cNvPr id="96277" name="Text Box 29"/>
              <p:cNvSpPr txBox="1">
                <a:spLocks noChangeArrowheads="1"/>
              </p:cNvSpPr>
              <p:nvPr/>
            </p:nvSpPr>
            <p:spPr bwMode="auto">
              <a:xfrm>
                <a:off x="2198" y="1489"/>
                <a:ext cx="264"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800" i="1">
                    <a:solidFill>
                      <a:schemeClr val="accent2"/>
                    </a:solidFill>
                    <a:ea typeface="华文行楷" panose="02010800040101010101" pitchFamily="2" charset="-122"/>
                  </a:rPr>
                  <a:t>P</a:t>
                </a:r>
                <a:r>
                  <a:rPr lang="en-US" altLang="zh-CN" sz="1800" i="1" baseline="-25000">
                    <a:solidFill>
                      <a:schemeClr val="accent2"/>
                    </a:solidFill>
                    <a:ea typeface="华文行楷" panose="02010800040101010101" pitchFamily="2" charset="-122"/>
                  </a:rPr>
                  <a:t>1</a:t>
                </a:r>
              </a:p>
            </p:txBody>
          </p:sp>
          <p:sp>
            <p:nvSpPr>
              <p:cNvPr id="96278" name="Line 30"/>
              <p:cNvSpPr>
                <a:spLocks noChangeShapeType="1"/>
              </p:cNvSpPr>
              <p:nvPr/>
            </p:nvSpPr>
            <p:spPr bwMode="auto">
              <a:xfrm>
                <a:off x="2954" y="1664"/>
                <a:ext cx="0" cy="44"/>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96279" name="Line 31"/>
              <p:cNvSpPr>
                <a:spLocks noChangeShapeType="1"/>
              </p:cNvSpPr>
              <p:nvPr/>
            </p:nvSpPr>
            <p:spPr bwMode="auto">
              <a:xfrm>
                <a:off x="3558" y="1664"/>
                <a:ext cx="0" cy="44"/>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96280" name="Line 32"/>
              <p:cNvSpPr>
                <a:spLocks noChangeShapeType="1"/>
              </p:cNvSpPr>
              <p:nvPr/>
            </p:nvSpPr>
            <p:spPr bwMode="auto">
              <a:xfrm>
                <a:off x="2387" y="1664"/>
                <a:ext cx="0" cy="44"/>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96281" name="Line 33"/>
              <p:cNvSpPr>
                <a:spLocks noChangeShapeType="1"/>
              </p:cNvSpPr>
              <p:nvPr/>
            </p:nvSpPr>
            <p:spPr bwMode="auto">
              <a:xfrm>
                <a:off x="2160" y="1708"/>
                <a:ext cx="1776"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96282" name="Line 34"/>
              <p:cNvSpPr>
                <a:spLocks noChangeShapeType="1"/>
              </p:cNvSpPr>
              <p:nvPr/>
            </p:nvSpPr>
            <p:spPr bwMode="auto">
              <a:xfrm>
                <a:off x="2784" y="1968"/>
                <a:ext cx="384" cy="0"/>
              </a:xfrm>
              <a:prstGeom prst="line">
                <a:avLst/>
              </a:prstGeom>
              <a:noFill/>
              <a:ln w="38100">
                <a:solidFill>
                  <a:srgbClr val="FF0000"/>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96283" name="Rectangle 35"/>
              <p:cNvSpPr>
                <a:spLocks noChangeArrowheads="1"/>
              </p:cNvSpPr>
              <p:nvPr/>
            </p:nvSpPr>
            <p:spPr bwMode="auto">
              <a:xfrm>
                <a:off x="2880" y="1920"/>
                <a:ext cx="31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a:solidFill>
                      <a:schemeClr val="accent2"/>
                    </a:solidFill>
                    <a:latin typeface="楷体_GB2312"/>
                    <a:ea typeface="楷体_GB2312"/>
                    <a:sym typeface="Symbol" panose="05050102010706020507" pitchFamily="18" charset="2"/>
                  </a:rPr>
                  <a:t>b</a:t>
                </a:r>
              </a:p>
            </p:txBody>
          </p:sp>
        </p:grpSp>
        <p:sp>
          <p:nvSpPr>
            <p:cNvPr id="96272" name="Rectangle 36"/>
            <p:cNvSpPr>
              <a:spLocks noChangeArrowheads="1"/>
            </p:cNvSpPr>
            <p:nvPr/>
          </p:nvSpPr>
          <p:spPr bwMode="auto">
            <a:xfrm>
              <a:off x="3456" y="1728"/>
              <a:ext cx="31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a:solidFill>
                    <a:schemeClr val="accent2"/>
                  </a:solidFill>
                  <a:latin typeface="楷体_GB2312"/>
                  <a:ea typeface="楷体_GB2312"/>
                  <a:sym typeface="Symbol" panose="05050102010706020507" pitchFamily="18" charset="2"/>
                </a:rPr>
                <a:t>X</a:t>
              </a:r>
            </a:p>
          </p:txBody>
        </p:sp>
      </p:grpSp>
      <p:sp>
        <p:nvSpPr>
          <p:cNvPr id="96261" name="Rectangle 37"/>
          <p:cNvSpPr>
            <a:spLocks noChangeArrowheads="1"/>
          </p:cNvSpPr>
          <p:nvPr/>
        </p:nvSpPr>
        <p:spPr bwMode="auto">
          <a:xfrm>
            <a:off x="228600" y="228600"/>
            <a:ext cx="89154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Tx/>
              <a:buNone/>
            </a:pPr>
            <a:r>
              <a:rPr lang="zh-CN" altLang="en-US" sz="2400">
                <a:solidFill>
                  <a:srgbClr val="3333FF"/>
                </a:solidFill>
                <a:ea typeface="楷体_GB2312"/>
              </a:rPr>
              <a:t>例</a:t>
            </a:r>
            <a:r>
              <a:rPr lang="en-US" altLang="zh-CN" sz="2400">
                <a:solidFill>
                  <a:srgbClr val="3333FF"/>
                </a:solidFill>
                <a:ea typeface="楷体_GB2312"/>
              </a:rPr>
              <a:t>7</a:t>
            </a:r>
            <a:r>
              <a:rPr lang="zh-CN" altLang="en-US" sz="2400">
                <a:solidFill>
                  <a:srgbClr val="3333FF"/>
                </a:solidFill>
                <a:ea typeface="楷体_GB2312"/>
              </a:rPr>
              <a:t>、</a:t>
            </a:r>
            <a:r>
              <a:rPr lang="zh-CN" altLang="en-US" sz="2400">
                <a:solidFill>
                  <a:schemeClr val="accent2"/>
                </a:solidFill>
                <a:latin typeface="楷体_GB2312"/>
                <a:ea typeface="楷体_GB2312"/>
              </a:rPr>
              <a:t>如图，一厚度为</a:t>
            </a:r>
            <a:r>
              <a:rPr lang="en-US" altLang="zh-CN" sz="2400">
                <a:solidFill>
                  <a:schemeClr val="accent2"/>
                </a:solidFill>
                <a:latin typeface="楷体_GB2312"/>
                <a:ea typeface="楷体_GB2312"/>
              </a:rPr>
              <a:t>b</a:t>
            </a:r>
            <a:r>
              <a:rPr lang="zh-CN" altLang="en-US" sz="2400">
                <a:solidFill>
                  <a:schemeClr val="accent2"/>
                </a:solidFill>
                <a:latin typeface="楷体_GB2312"/>
                <a:ea typeface="楷体_GB2312"/>
              </a:rPr>
              <a:t>的无限大带电平板，其电荷体密度为</a:t>
            </a:r>
            <a:r>
              <a:rPr lang="zh-CN" altLang="en-US" sz="2400" i="1">
                <a:solidFill>
                  <a:schemeClr val="accent2"/>
                </a:solidFill>
                <a:ea typeface="楷体_GB2312"/>
                <a:sym typeface="Symbol" panose="05050102010706020507" pitchFamily="18" charset="2"/>
              </a:rPr>
              <a:t>＝</a:t>
            </a:r>
            <a:r>
              <a:rPr lang="en-US" altLang="zh-CN" sz="2400" i="1">
                <a:solidFill>
                  <a:schemeClr val="accent2"/>
                </a:solidFill>
                <a:ea typeface="楷体_GB2312"/>
                <a:sym typeface="Symbol" panose="05050102010706020507" pitchFamily="18" charset="2"/>
              </a:rPr>
              <a:t>kx</a:t>
            </a:r>
            <a:r>
              <a:rPr lang="zh-CN" altLang="en-US" sz="2400">
                <a:solidFill>
                  <a:schemeClr val="accent2"/>
                </a:solidFill>
                <a:latin typeface="楷体_GB2312"/>
                <a:ea typeface="楷体_GB2312"/>
              </a:rPr>
              <a:t>（</a:t>
            </a:r>
            <a:r>
              <a:rPr lang="en-US" altLang="zh-CN" sz="2400">
                <a:solidFill>
                  <a:schemeClr val="accent2"/>
                </a:solidFill>
                <a:latin typeface="楷体_GB2312"/>
                <a:ea typeface="楷体_GB2312"/>
              </a:rPr>
              <a:t>0&lt;x</a:t>
            </a:r>
            <a:r>
              <a:rPr lang="en-US" altLang="zh-CN" sz="2400">
                <a:solidFill>
                  <a:schemeClr val="accent2"/>
                </a:solidFill>
                <a:latin typeface="楷体_GB2312"/>
                <a:ea typeface="楷体_GB2312"/>
                <a:sym typeface="Symbol" panose="05050102010706020507" pitchFamily="18" charset="2"/>
              </a:rPr>
              <a:t>b</a:t>
            </a:r>
            <a:r>
              <a:rPr lang="zh-CN" altLang="en-US" sz="2400">
                <a:solidFill>
                  <a:schemeClr val="accent2"/>
                </a:solidFill>
                <a:latin typeface="楷体_GB2312"/>
                <a:ea typeface="楷体_GB2312"/>
              </a:rPr>
              <a:t>），式中</a:t>
            </a:r>
            <a:r>
              <a:rPr lang="en-US" altLang="zh-CN" sz="2400">
                <a:solidFill>
                  <a:schemeClr val="accent2"/>
                </a:solidFill>
                <a:latin typeface="楷体_GB2312"/>
                <a:ea typeface="楷体_GB2312"/>
              </a:rPr>
              <a:t>k</a:t>
            </a:r>
            <a:r>
              <a:rPr lang="zh-CN" altLang="en-US" sz="2400">
                <a:solidFill>
                  <a:schemeClr val="accent2"/>
                </a:solidFill>
                <a:latin typeface="楷体_GB2312"/>
                <a:ea typeface="楷体_GB2312"/>
              </a:rPr>
              <a:t>为一正常数。求：</a:t>
            </a:r>
          </a:p>
          <a:p>
            <a:pPr eaLnBrk="1" hangingPunct="1">
              <a:lnSpc>
                <a:spcPct val="90000"/>
              </a:lnSpc>
              <a:buFontTx/>
              <a:buNone/>
            </a:pPr>
            <a:r>
              <a:rPr lang="zh-CN" altLang="en-US" sz="2400">
                <a:solidFill>
                  <a:schemeClr val="accent2"/>
                </a:solidFill>
                <a:latin typeface="楷体_GB2312"/>
                <a:ea typeface="楷体_GB2312"/>
              </a:rPr>
              <a:t>（</a:t>
            </a:r>
            <a:r>
              <a:rPr lang="en-US" altLang="zh-CN" sz="2400">
                <a:solidFill>
                  <a:schemeClr val="accent2"/>
                </a:solidFill>
                <a:latin typeface="楷体_GB2312"/>
                <a:ea typeface="楷体_GB2312"/>
              </a:rPr>
              <a:t>1</a:t>
            </a:r>
            <a:r>
              <a:rPr lang="zh-CN" altLang="en-US" sz="2400">
                <a:solidFill>
                  <a:schemeClr val="accent2"/>
                </a:solidFill>
                <a:latin typeface="楷体_GB2312"/>
                <a:ea typeface="楷体_GB2312"/>
              </a:rPr>
              <a:t>）平板外两侧任一点</a:t>
            </a:r>
            <a:r>
              <a:rPr lang="en-US" altLang="zh-CN" sz="2400">
                <a:solidFill>
                  <a:schemeClr val="accent2"/>
                </a:solidFill>
                <a:latin typeface="楷体_GB2312"/>
                <a:ea typeface="楷体_GB2312"/>
              </a:rPr>
              <a:t>P</a:t>
            </a:r>
            <a:r>
              <a:rPr lang="en-US" altLang="zh-CN" sz="2400" baseline="-25000">
                <a:solidFill>
                  <a:schemeClr val="accent2"/>
                </a:solidFill>
                <a:latin typeface="楷体_GB2312"/>
                <a:ea typeface="楷体_GB2312"/>
              </a:rPr>
              <a:t>1</a:t>
            </a:r>
            <a:r>
              <a:rPr lang="zh-CN" altLang="en-US" sz="2400">
                <a:solidFill>
                  <a:schemeClr val="accent2"/>
                </a:solidFill>
                <a:latin typeface="楷体_GB2312"/>
                <a:ea typeface="楷体_GB2312"/>
              </a:rPr>
              <a:t>和</a:t>
            </a:r>
            <a:r>
              <a:rPr lang="en-US" altLang="zh-CN" sz="2400">
                <a:solidFill>
                  <a:schemeClr val="accent2"/>
                </a:solidFill>
                <a:latin typeface="楷体_GB2312"/>
                <a:ea typeface="楷体_GB2312"/>
              </a:rPr>
              <a:t>P</a:t>
            </a:r>
            <a:r>
              <a:rPr lang="en-US" altLang="zh-CN" sz="2400" baseline="-25000">
                <a:solidFill>
                  <a:schemeClr val="accent2"/>
                </a:solidFill>
                <a:latin typeface="楷体_GB2312"/>
                <a:ea typeface="楷体_GB2312"/>
              </a:rPr>
              <a:t>2</a:t>
            </a:r>
            <a:r>
              <a:rPr lang="zh-CN" altLang="en-US" sz="2400">
                <a:solidFill>
                  <a:schemeClr val="accent2"/>
                </a:solidFill>
                <a:latin typeface="楷体_GB2312"/>
                <a:ea typeface="楷体_GB2312"/>
              </a:rPr>
              <a:t>处的电场强度的大小。</a:t>
            </a:r>
          </a:p>
          <a:p>
            <a:pPr eaLnBrk="1" hangingPunct="1">
              <a:lnSpc>
                <a:spcPct val="90000"/>
              </a:lnSpc>
              <a:buFontTx/>
              <a:buNone/>
            </a:pPr>
            <a:r>
              <a:rPr lang="zh-CN" altLang="en-US" sz="2400">
                <a:solidFill>
                  <a:schemeClr val="accent2"/>
                </a:solidFill>
                <a:latin typeface="楷体_GB2312"/>
                <a:ea typeface="楷体_GB2312"/>
              </a:rPr>
              <a:t>（</a:t>
            </a:r>
            <a:r>
              <a:rPr lang="en-US" altLang="zh-CN" sz="2400">
                <a:solidFill>
                  <a:schemeClr val="accent2"/>
                </a:solidFill>
                <a:latin typeface="楷体_GB2312"/>
                <a:ea typeface="楷体_GB2312"/>
              </a:rPr>
              <a:t>2</a:t>
            </a:r>
            <a:r>
              <a:rPr lang="zh-CN" altLang="en-US" sz="2400">
                <a:solidFill>
                  <a:schemeClr val="accent2"/>
                </a:solidFill>
                <a:latin typeface="楷体_GB2312"/>
                <a:ea typeface="楷体_GB2312"/>
              </a:rPr>
              <a:t>）平板内任一点</a:t>
            </a:r>
            <a:r>
              <a:rPr lang="en-US" altLang="zh-CN" sz="2400">
                <a:solidFill>
                  <a:schemeClr val="accent2"/>
                </a:solidFill>
                <a:latin typeface="楷体_GB2312"/>
                <a:ea typeface="楷体_GB2312"/>
              </a:rPr>
              <a:t>P</a:t>
            </a:r>
            <a:r>
              <a:rPr lang="zh-CN" altLang="en-US" sz="2400">
                <a:solidFill>
                  <a:schemeClr val="accent2"/>
                </a:solidFill>
                <a:latin typeface="楷体_GB2312"/>
                <a:ea typeface="楷体_GB2312"/>
              </a:rPr>
              <a:t>处的电场强度。</a:t>
            </a:r>
            <a:r>
              <a:rPr lang="en-US" altLang="zh-CN" sz="2400">
                <a:solidFill>
                  <a:schemeClr val="accent2"/>
                </a:solidFill>
                <a:latin typeface="楷体_GB2312"/>
                <a:ea typeface="楷体_GB2312"/>
              </a:rPr>
              <a:t>(3)</a:t>
            </a:r>
            <a:r>
              <a:rPr lang="zh-CN" altLang="en-US" sz="2400">
                <a:solidFill>
                  <a:schemeClr val="accent2"/>
                </a:solidFill>
                <a:latin typeface="楷体_GB2312"/>
                <a:ea typeface="楷体_GB2312"/>
              </a:rPr>
              <a:t>场强为零的点在何处？</a:t>
            </a:r>
          </a:p>
          <a:p>
            <a:pPr eaLnBrk="1" hangingPunct="1">
              <a:lnSpc>
                <a:spcPct val="90000"/>
              </a:lnSpc>
              <a:buFontTx/>
              <a:buNone/>
            </a:pPr>
            <a:endParaRPr lang="en-US" altLang="zh-CN" sz="2400">
              <a:solidFill>
                <a:schemeClr val="accent2"/>
              </a:solidFill>
              <a:latin typeface="楷体_GB2312"/>
              <a:ea typeface="楷体_GB2312"/>
            </a:endParaRPr>
          </a:p>
        </p:txBody>
      </p:sp>
      <p:graphicFrame>
        <p:nvGraphicFramePr>
          <p:cNvPr id="96262" name="Object 38"/>
          <p:cNvGraphicFramePr>
            <a:graphicFrameLocks noChangeAspect="1"/>
          </p:cNvGraphicFramePr>
          <p:nvPr>
            <p:extLst>
              <p:ext uri="{D42A27DB-BD31-4B8C-83A1-F6EECF244321}">
                <p14:modId xmlns:p14="http://schemas.microsoft.com/office/powerpoint/2010/main" val="653375693"/>
              </p:ext>
            </p:extLst>
          </p:nvPr>
        </p:nvGraphicFramePr>
        <p:xfrm>
          <a:off x="4883023" y="2105868"/>
          <a:ext cx="4256357" cy="962025"/>
        </p:xfrm>
        <a:graphic>
          <a:graphicData uri="http://schemas.openxmlformats.org/presentationml/2006/ole">
            <mc:AlternateContent xmlns:mc="http://schemas.openxmlformats.org/markup-compatibility/2006">
              <mc:Choice xmlns:v="urn:schemas-microsoft-com:vml" Requires="v">
                <p:oleObj spid="_x0000_s96915" name="Equation" r:id="rId3" imgW="2120760" imgH="457200" progId="Equation.DSMT4">
                  <p:embed/>
                </p:oleObj>
              </mc:Choice>
              <mc:Fallback>
                <p:oleObj name="Equation" r:id="rId3" imgW="2120760" imgH="457200" progId="Equation.DSMT4">
                  <p:embed/>
                  <p:pic>
                    <p:nvPicPr>
                      <p:cNvPr id="0" name="Object 38"/>
                      <p:cNvPicPr>
                        <a:picLocks noChangeAspect="1" noChangeArrowheads="1"/>
                      </p:cNvPicPr>
                      <p:nvPr/>
                    </p:nvPicPr>
                    <p:blipFill>
                      <a:blip r:embed="rId4"/>
                      <a:srcRect/>
                      <a:stretch>
                        <a:fillRect/>
                      </a:stretch>
                    </p:blipFill>
                    <p:spPr bwMode="auto">
                      <a:xfrm>
                        <a:off x="4883023" y="2105868"/>
                        <a:ext cx="4256357" cy="962025"/>
                      </a:xfrm>
                      <a:prstGeom prst="rect">
                        <a:avLst/>
                      </a:prstGeom>
                      <a:solidFill>
                        <a:srgbClr val="FFFF00"/>
                      </a:solidFill>
                      <a:ln>
                        <a:noFill/>
                      </a:ln>
                      <a:extLst/>
                    </p:spPr>
                  </p:pic>
                </p:oleObj>
              </mc:Fallback>
            </mc:AlternateContent>
          </a:graphicData>
        </a:graphic>
      </p:graphicFrame>
      <p:graphicFrame>
        <p:nvGraphicFramePr>
          <p:cNvPr id="96263" name="Object 39"/>
          <p:cNvGraphicFramePr>
            <a:graphicFrameLocks noChangeAspect="1"/>
          </p:cNvGraphicFramePr>
          <p:nvPr>
            <p:extLst>
              <p:ext uri="{D42A27DB-BD31-4B8C-83A1-F6EECF244321}">
                <p14:modId xmlns:p14="http://schemas.microsoft.com/office/powerpoint/2010/main" val="3751335749"/>
              </p:ext>
            </p:extLst>
          </p:nvPr>
        </p:nvGraphicFramePr>
        <p:xfrm>
          <a:off x="4923165" y="2919413"/>
          <a:ext cx="3689350" cy="927100"/>
        </p:xfrm>
        <a:graphic>
          <a:graphicData uri="http://schemas.openxmlformats.org/presentationml/2006/ole">
            <mc:AlternateContent xmlns:mc="http://schemas.openxmlformats.org/markup-compatibility/2006">
              <mc:Choice xmlns:v="urn:schemas-microsoft-com:vml" Requires="v">
                <p:oleObj spid="_x0000_s96916" name="Equation" r:id="rId5" imgW="1739900" imgH="457200" progId="Equation.DSMT4">
                  <p:embed/>
                </p:oleObj>
              </mc:Choice>
              <mc:Fallback>
                <p:oleObj name="Equation" r:id="rId5" imgW="1739900" imgH="457200" progId="Equation.DSMT4">
                  <p:embed/>
                  <p:pic>
                    <p:nvPicPr>
                      <p:cNvPr id="0" name="Object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23165" y="2919413"/>
                        <a:ext cx="3689350" cy="927100"/>
                      </a:xfrm>
                      <a:prstGeom prst="rect">
                        <a:avLst/>
                      </a:prstGeom>
                      <a:solidFill>
                        <a:srgbClr val="FFFF00"/>
                      </a:solidFill>
                      <a:ln>
                        <a:noFill/>
                      </a:ln>
                      <a:extLst/>
                    </p:spPr>
                  </p:pic>
                </p:oleObj>
              </mc:Fallback>
            </mc:AlternateContent>
          </a:graphicData>
        </a:graphic>
      </p:graphicFrame>
      <p:graphicFrame>
        <p:nvGraphicFramePr>
          <p:cNvPr id="96264" name="Object 41"/>
          <p:cNvGraphicFramePr>
            <a:graphicFrameLocks noChangeAspect="1"/>
          </p:cNvGraphicFramePr>
          <p:nvPr>
            <p:extLst>
              <p:ext uri="{D42A27DB-BD31-4B8C-83A1-F6EECF244321}">
                <p14:modId xmlns:p14="http://schemas.microsoft.com/office/powerpoint/2010/main" val="393042426"/>
              </p:ext>
            </p:extLst>
          </p:nvPr>
        </p:nvGraphicFramePr>
        <p:xfrm>
          <a:off x="200769" y="5737080"/>
          <a:ext cx="3527425" cy="858837"/>
        </p:xfrm>
        <a:graphic>
          <a:graphicData uri="http://schemas.openxmlformats.org/presentationml/2006/ole">
            <mc:AlternateContent xmlns:mc="http://schemas.openxmlformats.org/markup-compatibility/2006">
              <mc:Choice xmlns:v="urn:schemas-microsoft-com:vml" Requires="v">
                <p:oleObj spid="_x0000_s96917" name="Equation" r:id="rId7" imgW="2070100" imgH="482600" progId="Equation.DSMT4">
                  <p:embed/>
                </p:oleObj>
              </mc:Choice>
              <mc:Fallback>
                <p:oleObj name="Equation" r:id="rId7" imgW="2070100" imgH="482600" progId="Equation.DSMT4">
                  <p:embed/>
                  <p:pic>
                    <p:nvPicPr>
                      <p:cNvPr id="0" name="Object 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0769" y="5737080"/>
                        <a:ext cx="3527425" cy="858837"/>
                      </a:xfrm>
                      <a:prstGeom prst="rect">
                        <a:avLst/>
                      </a:prstGeom>
                      <a:solidFill>
                        <a:schemeClr val="accent1"/>
                      </a:solidFill>
                      <a:ln>
                        <a:noFill/>
                      </a:ln>
                      <a:extLst/>
                    </p:spPr>
                  </p:pic>
                </p:oleObj>
              </mc:Fallback>
            </mc:AlternateContent>
          </a:graphicData>
        </a:graphic>
      </p:graphicFrame>
      <p:graphicFrame>
        <p:nvGraphicFramePr>
          <p:cNvPr id="96266" name="Object 43"/>
          <p:cNvGraphicFramePr>
            <a:graphicFrameLocks noChangeAspect="1"/>
          </p:cNvGraphicFramePr>
          <p:nvPr>
            <p:extLst>
              <p:ext uri="{D42A27DB-BD31-4B8C-83A1-F6EECF244321}">
                <p14:modId xmlns:p14="http://schemas.microsoft.com/office/powerpoint/2010/main" val="4237511273"/>
              </p:ext>
            </p:extLst>
          </p:nvPr>
        </p:nvGraphicFramePr>
        <p:xfrm>
          <a:off x="6732588" y="5476875"/>
          <a:ext cx="2339975" cy="688975"/>
        </p:xfrm>
        <a:graphic>
          <a:graphicData uri="http://schemas.openxmlformats.org/presentationml/2006/ole">
            <mc:AlternateContent xmlns:mc="http://schemas.openxmlformats.org/markup-compatibility/2006">
              <mc:Choice xmlns:v="urn:schemas-microsoft-com:vml" Requires="v">
                <p:oleObj spid="_x0000_s96918" name="Equation" r:id="rId9" imgW="1511300" imgH="444500" progId="Equation.DSMT4">
                  <p:embed/>
                </p:oleObj>
              </mc:Choice>
              <mc:Fallback>
                <p:oleObj name="Equation" r:id="rId9" imgW="1511300" imgH="444500" progId="Equation.DSMT4">
                  <p:embed/>
                  <p:pic>
                    <p:nvPicPr>
                      <p:cNvPr id="0" name="Object 4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32588" y="5476875"/>
                        <a:ext cx="2339975" cy="688975"/>
                      </a:xfrm>
                      <a:prstGeom prst="rect">
                        <a:avLst/>
                      </a:prstGeom>
                      <a:solidFill>
                        <a:schemeClr val="accent2">
                          <a:lumMod val="40000"/>
                          <a:lumOff val="60000"/>
                        </a:schemeClr>
                      </a:solidFill>
                      <a:ln>
                        <a:noFill/>
                      </a:ln>
                      <a:extLst/>
                    </p:spPr>
                  </p:pic>
                </p:oleObj>
              </mc:Fallback>
            </mc:AlternateContent>
          </a:graphicData>
        </a:graphic>
      </p:graphicFrame>
      <p:graphicFrame>
        <p:nvGraphicFramePr>
          <p:cNvPr id="96267" name="Object 45"/>
          <p:cNvGraphicFramePr>
            <a:graphicFrameLocks noChangeAspect="1"/>
          </p:cNvGraphicFramePr>
          <p:nvPr/>
        </p:nvGraphicFramePr>
        <p:xfrm>
          <a:off x="1536700" y="3421063"/>
          <a:ext cx="266700" cy="100012"/>
        </p:xfrm>
        <a:graphic>
          <a:graphicData uri="http://schemas.openxmlformats.org/presentationml/2006/ole">
            <mc:AlternateContent xmlns:mc="http://schemas.openxmlformats.org/markup-compatibility/2006">
              <mc:Choice xmlns:v="urn:schemas-microsoft-com:vml" Requires="v">
                <p:oleObj spid="_x0000_s96919" name="Equation" r:id="rId11" imgW="114151" imgH="215619" progId="Equation.DSMT4">
                  <p:embed/>
                </p:oleObj>
              </mc:Choice>
              <mc:Fallback>
                <p:oleObj name="Equation" r:id="rId11" imgW="114151" imgH="215619" progId="Equation.DSMT4">
                  <p:embed/>
                  <p:pic>
                    <p:nvPicPr>
                      <p:cNvPr id="0" name="Object 4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36700" y="3421063"/>
                        <a:ext cx="266700" cy="100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6268" name="Rectangle 46"/>
          <p:cNvSpPr>
            <a:spLocks noChangeArrowheads="1"/>
          </p:cNvSpPr>
          <p:nvPr/>
        </p:nvSpPr>
        <p:spPr bwMode="auto">
          <a:xfrm>
            <a:off x="0" y="3106738"/>
            <a:ext cx="9144000" cy="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400" b="0">
              <a:ea typeface="楷体_GB2312"/>
            </a:endParaRPr>
          </a:p>
        </p:txBody>
      </p:sp>
      <p:sp>
        <p:nvSpPr>
          <p:cNvPr id="96269" name="Rectangle 47"/>
          <p:cNvSpPr>
            <a:spLocks noChangeArrowheads="1"/>
          </p:cNvSpPr>
          <p:nvPr/>
        </p:nvSpPr>
        <p:spPr bwMode="auto">
          <a:xfrm>
            <a:off x="6948488" y="4069170"/>
            <a:ext cx="1871662" cy="1202510"/>
          </a:xfrm>
          <a:prstGeom prst="rect">
            <a:avLst/>
          </a:prstGeom>
          <a:solidFill>
            <a:schemeClr val="accent2">
              <a:lumMod val="40000"/>
              <a:lumOff val="60000"/>
            </a:schemeClr>
          </a:solidFill>
          <a:ln>
            <a:noFill/>
          </a:ln>
          <a:effectLs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br>
              <a:rPr lang="en-US" altLang="zh-CN" sz="2400">
                <a:ea typeface="楷体_GB2312"/>
              </a:rPr>
            </a:br>
            <a:r>
              <a:rPr lang="zh-CN" altLang="en-US" sz="2400">
                <a:solidFill>
                  <a:srgbClr val="FF0000"/>
                </a:solidFill>
                <a:ea typeface="楷体_GB2312"/>
              </a:rPr>
              <a:t>（</a:t>
            </a:r>
            <a:r>
              <a:rPr lang="en-US" altLang="zh-CN" sz="2400">
                <a:solidFill>
                  <a:srgbClr val="FF0000"/>
                </a:solidFill>
                <a:ea typeface="楷体_GB2312"/>
              </a:rPr>
              <a:t>3</a:t>
            </a:r>
            <a:r>
              <a:rPr lang="zh-CN" altLang="en-US" sz="2400">
                <a:solidFill>
                  <a:srgbClr val="FF0000"/>
                </a:solidFill>
                <a:ea typeface="楷体_GB2312"/>
              </a:rPr>
              <a:t>）</a:t>
            </a:r>
            <a:r>
              <a:rPr lang="en-US" altLang="zh-CN" sz="2400">
                <a:ea typeface="楷体_GB2312"/>
              </a:rPr>
              <a:t>E'=0</a:t>
            </a:r>
            <a:r>
              <a:rPr lang="zh-CN" altLang="en-US" sz="2400">
                <a:ea typeface="楷体_GB2312"/>
              </a:rPr>
              <a:t>，必须是</a:t>
            </a:r>
          </a:p>
        </p:txBody>
      </p:sp>
      <p:sp>
        <p:nvSpPr>
          <p:cNvPr id="96270" name="Rectangle 48"/>
          <p:cNvSpPr>
            <a:spLocks noChangeArrowheads="1"/>
          </p:cNvSpPr>
          <p:nvPr/>
        </p:nvSpPr>
        <p:spPr bwMode="auto">
          <a:xfrm>
            <a:off x="34925" y="4438502"/>
            <a:ext cx="1871663" cy="463846"/>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FF0000"/>
                </a:solidFill>
                <a:ea typeface="楷体_GB2312"/>
              </a:rPr>
              <a:t>（</a:t>
            </a:r>
            <a:r>
              <a:rPr lang="en-US" altLang="zh-CN" sz="2400">
                <a:solidFill>
                  <a:srgbClr val="FF0000"/>
                </a:solidFill>
                <a:ea typeface="楷体_GB2312"/>
              </a:rPr>
              <a:t>2</a:t>
            </a:r>
            <a:r>
              <a:rPr lang="zh-CN" altLang="en-US" sz="2400">
                <a:solidFill>
                  <a:srgbClr val="FF0000"/>
                </a:solidFill>
                <a:ea typeface="楷体_GB2312"/>
              </a:rPr>
              <a:t>）</a:t>
            </a:r>
          </a:p>
        </p:txBody>
      </p:sp>
      <p:pic>
        <p:nvPicPr>
          <p:cNvPr id="2" name="图片 1">
            <a:extLst>
              <a:ext uri="{FF2B5EF4-FFF2-40B4-BE49-F238E27FC236}">
                <a16:creationId xmlns:a16="http://schemas.microsoft.com/office/drawing/2014/main" id="{F28B383E-7144-456C-8102-37035AB936DB}"/>
              </a:ext>
            </a:extLst>
          </p:cNvPr>
          <p:cNvPicPr>
            <a:picLocks noChangeAspect="1"/>
          </p:cNvPicPr>
          <p:nvPr/>
        </p:nvPicPr>
        <p:blipFill>
          <a:blip r:embed="rId13"/>
          <a:stretch>
            <a:fillRect/>
          </a:stretch>
        </p:blipFill>
        <p:spPr>
          <a:xfrm>
            <a:off x="178304" y="4910139"/>
            <a:ext cx="3419475" cy="819150"/>
          </a:xfrm>
          <a:prstGeom prst="rect">
            <a:avLst/>
          </a:prstGeom>
          <a:solidFill>
            <a:srgbClr val="FFFF00"/>
          </a:solidFill>
        </p:spPr>
      </p:pic>
      <p:sp>
        <p:nvSpPr>
          <p:cNvPr id="46" name="Rectangle 48">
            <a:extLst>
              <a:ext uri="{FF2B5EF4-FFF2-40B4-BE49-F238E27FC236}">
                <a16:creationId xmlns:a16="http://schemas.microsoft.com/office/drawing/2014/main" id="{6127520F-48DD-42EB-B7B6-939FA2D0EA44}"/>
              </a:ext>
            </a:extLst>
          </p:cNvPr>
          <p:cNvSpPr>
            <a:spLocks noChangeArrowheads="1"/>
          </p:cNvSpPr>
          <p:nvPr/>
        </p:nvSpPr>
        <p:spPr bwMode="auto">
          <a:xfrm>
            <a:off x="4592494" y="1769918"/>
            <a:ext cx="1871663" cy="463846"/>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FF0000"/>
                </a:solidFill>
                <a:ea typeface="楷体_GB2312"/>
              </a:rPr>
              <a:t>（</a:t>
            </a:r>
            <a:r>
              <a:rPr lang="en-US" altLang="zh-CN" sz="2400">
                <a:solidFill>
                  <a:srgbClr val="FF0000"/>
                </a:solidFill>
                <a:ea typeface="楷体_GB2312"/>
              </a:rPr>
              <a:t>1</a:t>
            </a:r>
            <a:r>
              <a:rPr lang="zh-CN" altLang="en-US" sz="2400">
                <a:solidFill>
                  <a:srgbClr val="FF0000"/>
                </a:solidFill>
                <a:ea typeface="楷体_GB2312"/>
              </a:rPr>
              <a:t>）</a:t>
            </a:r>
          </a:p>
        </p:txBody>
      </p:sp>
      <p:sp>
        <p:nvSpPr>
          <p:cNvPr id="47" name="Text Box 25">
            <a:extLst>
              <a:ext uri="{FF2B5EF4-FFF2-40B4-BE49-F238E27FC236}">
                <a16:creationId xmlns:a16="http://schemas.microsoft.com/office/drawing/2014/main" id="{548E639E-24EB-4B81-815B-C0F6CBE96639}"/>
              </a:ext>
            </a:extLst>
          </p:cNvPr>
          <p:cNvSpPr txBox="1">
            <a:spLocks noChangeArrowheads="1"/>
          </p:cNvSpPr>
          <p:nvPr/>
        </p:nvSpPr>
        <p:spPr bwMode="auto">
          <a:xfrm>
            <a:off x="5463630" y="4940875"/>
            <a:ext cx="24228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400">
                <a:solidFill>
                  <a:schemeClr val="accent2"/>
                </a:solidFill>
                <a:ea typeface="华文行楷" panose="02010800040101010101" pitchFamily="2" charset="-122"/>
              </a:rPr>
              <a:t>O</a:t>
            </a:r>
          </a:p>
        </p:txBody>
      </p:sp>
      <p:sp>
        <p:nvSpPr>
          <p:cNvPr id="48" name="Line 33">
            <a:extLst>
              <a:ext uri="{FF2B5EF4-FFF2-40B4-BE49-F238E27FC236}">
                <a16:creationId xmlns:a16="http://schemas.microsoft.com/office/drawing/2014/main" id="{65DF9BB6-E529-48AD-9701-847128973674}"/>
              </a:ext>
            </a:extLst>
          </p:cNvPr>
          <p:cNvSpPr>
            <a:spLocks noChangeShapeType="1"/>
          </p:cNvSpPr>
          <p:nvPr/>
        </p:nvSpPr>
        <p:spPr bwMode="auto">
          <a:xfrm>
            <a:off x="5178895" y="5241007"/>
            <a:ext cx="1792907"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9" name="Rectangle 36">
            <a:extLst>
              <a:ext uri="{FF2B5EF4-FFF2-40B4-BE49-F238E27FC236}">
                <a16:creationId xmlns:a16="http://schemas.microsoft.com/office/drawing/2014/main" id="{16085D2F-4F2B-450D-B0F9-A441348D4357}"/>
              </a:ext>
            </a:extLst>
          </p:cNvPr>
          <p:cNvSpPr>
            <a:spLocks noChangeArrowheads="1"/>
          </p:cNvSpPr>
          <p:nvPr/>
        </p:nvSpPr>
        <p:spPr bwMode="auto">
          <a:xfrm>
            <a:off x="6923345" y="5120357"/>
            <a:ext cx="312951"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a:solidFill>
                  <a:schemeClr val="accent2"/>
                </a:solidFill>
                <a:latin typeface="楷体_GB2312"/>
                <a:ea typeface="楷体_GB2312"/>
                <a:sym typeface="Symbol" panose="05050102010706020507" pitchFamily="18" charset="2"/>
              </a:rPr>
              <a:t>X</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2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62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626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626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627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626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625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626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6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9" grpId="0" animBg="1"/>
      <p:bldP spid="96270" grpId="0"/>
      <p:bldP spid="46" grpId="0"/>
    </p:bldLst>
  </p:timing>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11970" name="Rectangle 2"/>
          <p:cNvSpPr>
            <a:spLocks noChangeArrowheads="1"/>
          </p:cNvSpPr>
          <p:nvPr/>
        </p:nvSpPr>
        <p:spPr bwMode="auto">
          <a:xfrm>
            <a:off x="0" y="0"/>
            <a:ext cx="2297113"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FF3300"/>
                </a:solidFill>
                <a:ea typeface="楷体_GB2312"/>
              </a:rPr>
              <a:t>【</a:t>
            </a:r>
            <a:r>
              <a:rPr lang="zh-CN" altLang="en-US" sz="2800">
                <a:solidFill>
                  <a:srgbClr val="FF3300"/>
                </a:solidFill>
                <a:ea typeface="楷体_GB2312"/>
              </a:rPr>
              <a:t>讨论</a:t>
            </a:r>
            <a:r>
              <a:rPr lang="en-US" altLang="zh-CN" sz="2800">
                <a:solidFill>
                  <a:srgbClr val="FF3300"/>
                </a:solidFill>
                <a:ea typeface="楷体_GB2312"/>
              </a:rPr>
              <a:t>】</a:t>
            </a:r>
            <a:r>
              <a:rPr lang="zh-CN" altLang="en-US" sz="2800">
                <a:solidFill>
                  <a:srgbClr val="FF3300"/>
                </a:solidFill>
                <a:ea typeface="楷体_GB2312"/>
              </a:rPr>
              <a:t>：</a:t>
            </a:r>
          </a:p>
        </p:txBody>
      </p:sp>
      <p:sp>
        <p:nvSpPr>
          <p:cNvPr id="211972" name="Text Box 4"/>
          <p:cNvSpPr txBox="1">
            <a:spLocks noChangeArrowheads="1"/>
          </p:cNvSpPr>
          <p:nvPr/>
        </p:nvSpPr>
        <p:spPr bwMode="auto">
          <a:xfrm>
            <a:off x="476250" y="595313"/>
            <a:ext cx="8453438"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Clr>
                <a:srgbClr val="66FF33"/>
              </a:buClr>
              <a:buFontTx/>
              <a:buAutoNum type="arabicPeriod"/>
            </a:pPr>
            <a:r>
              <a:rPr lang="zh-CN" altLang="en-US" sz="2400">
                <a:solidFill>
                  <a:schemeClr val="bg1"/>
                </a:solidFill>
                <a:ea typeface="楷体_GB2312"/>
              </a:rPr>
              <a:t>高斯面的选取；</a:t>
            </a:r>
            <a:r>
              <a:rPr lang="en-US" altLang="zh-CN" sz="2400">
                <a:solidFill>
                  <a:schemeClr val="bg1"/>
                </a:solidFill>
                <a:ea typeface="楷体_GB2312"/>
              </a:rPr>
              <a:t>(</a:t>
            </a:r>
            <a:r>
              <a:rPr lang="zh-CN" altLang="en-US" sz="2400">
                <a:solidFill>
                  <a:schemeClr val="bg1"/>
                </a:solidFill>
                <a:ea typeface="楷体_GB2312"/>
              </a:rPr>
              <a:t>非圆柱面行吗？）</a:t>
            </a:r>
          </a:p>
          <a:p>
            <a:pPr eaLnBrk="1" hangingPunct="1">
              <a:lnSpc>
                <a:spcPct val="120000"/>
              </a:lnSpc>
              <a:spcBef>
                <a:spcPct val="0"/>
              </a:spcBef>
              <a:buClr>
                <a:srgbClr val="66FF33"/>
              </a:buClr>
              <a:buFontTx/>
              <a:buAutoNum type="arabicPeriod"/>
            </a:pPr>
            <a:r>
              <a:rPr lang="zh-CN" altLang="en-US" sz="2400">
                <a:solidFill>
                  <a:schemeClr val="bg1"/>
                </a:solidFill>
                <a:ea typeface="楷体_GB2312"/>
              </a:rPr>
              <a:t>对称分析；（平面两侧柱高相等必要吗？）</a:t>
            </a:r>
          </a:p>
          <a:p>
            <a:pPr eaLnBrk="1" hangingPunct="1">
              <a:lnSpc>
                <a:spcPct val="120000"/>
              </a:lnSpc>
              <a:spcBef>
                <a:spcPct val="0"/>
              </a:spcBef>
              <a:buClr>
                <a:srgbClr val="66FF33"/>
              </a:buClr>
              <a:buFontTx/>
              <a:buAutoNum type="arabicPeriod"/>
            </a:pPr>
            <a:r>
              <a:rPr lang="zh-CN" altLang="en-US" sz="2400">
                <a:solidFill>
                  <a:schemeClr val="bg1"/>
                </a:solidFill>
                <a:ea typeface="楷体_GB2312"/>
              </a:rPr>
              <a:t>同类问题：多重平面、平板电荷，电荷非均匀分布等；</a:t>
            </a:r>
          </a:p>
        </p:txBody>
      </p:sp>
      <p:grpSp>
        <p:nvGrpSpPr>
          <p:cNvPr id="211973" name="Group 5"/>
          <p:cNvGrpSpPr>
            <a:grpSpLocks/>
          </p:cNvGrpSpPr>
          <p:nvPr/>
        </p:nvGrpSpPr>
        <p:grpSpPr bwMode="auto">
          <a:xfrm>
            <a:off x="266700" y="2401888"/>
            <a:ext cx="1916113" cy="3452812"/>
            <a:chOff x="168" y="1456"/>
            <a:chExt cx="1207" cy="2175"/>
          </a:xfrm>
        </p:grpSpPr>
        <p:sp>
          <p:nvSpPr>
            <p:cNvPr id="95267" name="Freeform 6"/>
            <p:cNvSpPr>
              <a:spLocks/>
            </p:cNvSpPr>
            <p:nvPr/>
          </p:nvSpPr>
          <p:spPr bwMode="auto">
            <a:xfrm>
              <a:off x="310" y="1456"/>
              <a:ext cx="547" cy="1444"/>
            </a:xfrm>
            <a:custGeom>
              <a:avLst/>
              <a:gdLst>
                <a:gd name="T0" fmla="*/ 0 w 816"/>
                <a:gd name="T1" fmla="*/ 6 h 1734"/>
                <a:gd name="T2" fmla="*/ 0 w 816"/>
                <a:gd name="T3" fmla="*/ 22 h 1734"/>
                <a:gd name="T4" fmla="*/ 1 w 816"/>
                <a:gd name="T5" fmla="*/ 15 h 1734"/>
                <a:gd name="T6" fmla="*/ 1 w 816"/>
                <a:gd name="T7" fmla="*/ 0 h 1734"/>
                <a:gd name="T8" fmla="*/ 0 w 816"/>
                <a:gd name="T9" fmla="*/ 6 h 17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6" h="1734">
                  <a:moveTo>
                    <a:pt x="0" y="461"/>
                  </a:moveTo>
                  <a:lnTo>
                    <a:pt x="0" y="1734"/>
                  </a:lnTo>
                  <a:lnTo>
                    <a:pt x="816" y="1276"/>
                  </a:lnTo>
                  <a:lnTo>
                    <a:pt x="816" y="0"/>
                  </a:lnTo>
                  <a:lnTo>
                    <a:pt x="0" y="461"/>
                  </a:lnTo>
                  <a:close/>
                </a:path>
              </a:pathLst>
            </a:custGeom>
            <a:solidFill>
              <a:srgbClr val="00FFFF">
                <a:alpha val="50195"/>
              </a:srgbClr>
            </a:solidFill>
            <a:ln w="28575" cmpd="sng">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268" name="Rectangle 7"/>
            <p:cNvSpPr>
              <a:spLocks noChangeArrowheads="1"/>
            </p:cNvSpPr>
            <p:nvPr/>
          </p:nvSpPr>
          <p:spPr bwMode="auto">
            <a:xfrm>
              <a:off x="315" y="1836"/>
              <a:ext cx="391" cy="3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b="0" i="1">
                  <a:solidFill>
                    <a:schemeClr val="bg1"/>
                  </a:solidFill>
                  <a:ea typeface="楷体_GB2312"/>
                  <a:sym typeface="Symbol" panose="05050102010706020507" pitchFamily="18" charset="2"/>
                </a:rPr>
                <a:t>+ </a:t>
              </a:r>
              <a:endParaRPr lang="en-US" altLang="zh-CN" b="0" i="1" baseline="-25000">
                <a:solidFill>
                  <a:schemeClr val="bg1"/>
                </a:solidFill>
                <a:ea typeface="楷体_GB2312"/>
                <a:sym typeface="Symbol" panose="05050102010706020507" pitchFamily="18" charset="2"/>
              </a:endParaRPr>
            </a:p>
          </p:txBody>
        </p:sp>
        <p:sp>
          <p:nvSpPr>
            <p:cNvPr id="95269" name="Freeform 8"/>
            <p:cNvSpPr>
              <a:spLocks/>
            </p:cNvSpPr>
            <p:nvPr/>
          </p:nvSpPr>
          <p:spPr bwMode="auto">
            <a:xfrm>
              <a:off x="592" y="1456"/>
              <a:ext cx="547" cy="1444"/>
            </a:xfrm>
            <a:custGeom>
              <a:avLst/>
              <a:gdLst>
                <a:gd name="T0" fmla="*/ 0 w 816"/>
                <a:gd name="T1" fmla="*/ 6 h 1734"/>
                <a:gd name="T2" fmla="*/ 0 w 816"/>
                <a:gd name="T3" fmla="*/ 22 h 1734"/>
                <a:gd name="T4" fmla="*/ 1 w 816"/>
                <a:gd name="T5" fmla="*/ 15 h 1734"/>
                <a:gd name="T6" fmla="*/ 1 w 816"/>
                <a:gd name="T7" fmla="*/ 0 h 1734"/>
                <a:gd name="T8" fmla="*/ 0 w 816"/>
                <a:gd name="T9" fmla="*/ 6 h 17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6" h="1734">
                  <a:moveTo>
                    <a:pt x="0" y="461"/>
                  </a:moveTo>
                  <a:lnTo>
                    <a:pt x="0" y="1734"/>
                  </a:lnTo>
                  <a:lnTo>
                    <a:pt x="816" y="1276"/>
                  </a:lnTo>
                  <a:lnTo>
                    <a:pt x="816" y="0"/>
                  </a:lnTo>
                  <a:lnTo>
                    <a:pt x="0" y="461"/>
                  </a:lnTo>
                  <a:close/>
                </a:path>
              </a:pathLst>
            </a:custGeom>
            <a:solidFill>
              <a:srgbClr val="0000FF">
                <a:alpha val="50195"/>
              </a:srgbClr>
            </a:solidFill>
            <a:ln w="28575" cmpd="sng">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270" name="Rectangle 9"/>
            <p:cNvSpPr>
              <a:spLocks noChangeArrowheads="1"/>
            </p:cNvSpPr>
            <p:nvPr/>
          </p:nvSpPr>
          <p:spPr bwMode="auto">
            <a:xfrm>
              <a:off x="898" y="1812"/>
              <a:ext cx="303" cy="3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b="0" i="1">
                  <a:solidFill>
                    <a:schemeClr val="bg1"/>
                  </a:solidFill>
                  <a:ea typeface="楷体_GB2312"/>
                  <a:sym typeface="Symbol" panose="05050102010706020507" pitchFamily="18" charset="2"/>
                </a:rPr>
                <a:t>- </a:t>
              </a:r>
              <a:endParaRPr lang="en-US" altLang="zh-CN" b="0" i="1" baseline="-25000">
                <a:solidFill>
                  <a:schemeClr val="bg1"/>
                </a:solidFill>
                <a:ea typeface="楷体_GB2312"/>
                <a:sym typeface="Symbol" panose="05050102010706020507" pitchFamily="18" charset="2"/>
              </a:endParaRPr>
            </a:p>
          </p:txBody>
        </p:sp>
        <p:sp>
          <p:nvSpPr>
            <p:cNvPr id="95271" name="Text Box 10"/>
            <p:cNvSpPr txBox="1">
              <a:spLocks noChangeArrowheads="1"/>
            </p:cNvSpPr>
            <p:nvPr/>
          </p:nvSpPr>
          <p:spPr bwMode="auto">
            <a:xfrm>
              <a:off x="168" y="3439"/>
              <a:ext cx="120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a:solidFill>
                    <a:schemeClr val="bg1"/>
                  </a:solidFill>
                  <a:ea typeface="楷体_GB2312"/>
                </a:rPr>
                <a:t>  </a:t>
              </a:r>
              <a:r>
                <a:rPr lang="zh-CN" altLang="en-US" sz="2000">
                  <a:solidFill>
                    <a:schemeClr val="bg1"/>
                  </a:solidFill>
                  <a:ea typeface="楷体_GB2312"/>
                </a:rPr>
                <a:t>两平行平面电荷</a:t>
              </a:r>
            </a:p>
          </p:txBody>
        </p:sp>
      </p:grpSp>
      <p:grpSp>
        <p:nvGrpSpPr>
          <p:cNvPr id="211979" name="Group 11"/>
          <p:cNvGrpSpPr>
            <a:grpSpLocks/>
          </p:cNvGrpSpPr>
          <p:nvPr/>
        </p:nvGrpSpPr>
        <p:grpSpPr bwMode="auto">
          <a:xfrm>
            <a:off x="4813300" y="2409825"/>
            <a:ext cx="1789113" cy="3446463"/>
            <a:chOff x="3032" y="1461"/>
            <a:chExt cx="1127" cy="2171"/>
          </a:xfrm>
        </p:grpSpPr>
        <p:sp>
          <p:nvSpPr>
            <p:cNvPr id="95259" name="Text Box 12"/>
            <p:cNvSpPr txBox="1">
              <a:spLocks noChangeArrowheads="1"/>
            </p:cNvSpPr>
            <p:nvPr/>
          </p:nvSpPr>
          <p:spPr bwMode="auto">
            <a:xfrm>
              <a:off x="3032" y="3440"/>
              <a:ext cx="112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bg1"/>
                  </a:solidFill>
                  <a:ea typeface="楷体_GB2312"/>
                </a:rPr>
                <a:t>非均匀平板电荷</a:t>
              </a:r>
            </a:p>
          </p:txBody>
        </p:sp>
        <p:sp>
          <p:nvSpPr>
            <p:cNvPr id="95260" name="Rectangle 13"/>
            <p:cNvSpPr>
              <a:spLocks noChangeArrowheads="1"/>
            </p:cNvSpPr>
            <p:nvPr/>
          </p:nvSpPr>
          <p:spPr bwMode="auto">
            <a:xfrm>
              <a:off x="3103" y="1855"/>
              <a:ext cx="268" cy="1051"/>
            </a:xfrm>
            <a:prstGeom prst="rect">
              <a:avLst/>
            </a:prstGeom>
            <a:gradFill rotWithShape="0">
              <a:gsLst>
                <a:gs pos="0">
                  <a:srgbClr val="0000FF"/>
                </a:gs>
                <a:gs pos="100000">
                  <a:srgbClr val="000076"/>
                </a:gs>
              </a:gsLst>
              <a:lin ang="0" scaled="1"/>
            </a:gradFill>
            <a:ln w="1905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5261" name="Freeform 14"/>
            <p:cNvSpPr>
              <a:spLocks/>
            </p:cNvSpPr>
            <p:nvPr/>
          </p:nvSpPr>
          <p:spPr bwMode="auto">
            <a:xfrm>
              <a:off x="3374" y="1461"/>
              <a:ext cx="541" cy="1449"/>
            </a:xfrm>
            <a:custGeom>
              <a:avLst/>
              <a:gdLst>
                <a:gd name="T0" fmla="*/ 0 w 816"/>
                <a:gd name="T1" fmla="*/ 7 h 1734"/>
                <a:gd name="T2" fmla="*/ 0 w 816"/>
                <a:gd name="T3" fmla="*/ 23 h 1734"/>
                <a:gd name="T4" fmla="*/ 1 w 816"/>
                <a:gd name="T5" fmla="*/ 18 h 1734"/>
                <a:gd name="T6" fmla="*/ 1 w 816"/>
                <a:gd name="T7" fmla="*/ 0 h 1734"/>
                <a:gd name="T8" fmla="*/ 0 w 816"/>
                <a:gd name="T9" fmla="*/ 7 h 17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6" h="1734">
                  <a:moveTo>
                    <a:pt x="0" y="461"/>
                  </a:moveTo>
                  <a:lnTo>
                    <a:pt x="0" y="1734"/>
                  </a:lnTo>
                  <a:lnTo>
                    <a:pt x="816" y="1276"/>
                  </a:lnTo>
                  <a:lnTo>
                    <a:pt x="816" y="0"/>
                  </a:lnTo>
                  <a:lnTo>
                    <a:pt x="0" y="461"/>
                  </a:lnTo>
                  <a:close/>
                </a:path>
              </a:pathLst>
            </a:custGeom>
            <a:solidFill>
              <a:srgbClr val="0000FF">
                <a:alpha val="50195"/>
              </a:srgbClr>
            </a:solidFill>
            <a:ln w="19050" cmpd="sng">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262" name="Rectangle 15"/>
            <p:cNvSpPr>
              <a:spLocks noChangeArrowheads="1"/>
            </p:cNvSpPr>
            <p:nvPr/>
          </p:nvSpPr>
          <p:spPr bwMode="auto">
            <a:xfrm>
              <a:off x="3224" y="3095"/>
              <a:ext cx="675" cy="2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lIns="36000" tIns="0" rIns="36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b="0" i="1">
                  <a:solidFill>
                    <a:schemeClr val="bg1"/>
                  </a:solidFill>
                  <a:cs typeface="Times New Roman" panose="02020603050405020304" pitchFamily="18" charset="0"/>
                  <a:sym typeface="Symbol" panose="05050102010706020507" pitchFamily="18" charset="2"/>
                </a:rPr>
                <a:t>ρ =kx</a:t>
              </a:r>
            </a:p>
          </p:txBody>
        </p:sp>
        <p:sp>
          <p:nvSpPr>
            <p:cNvPr id="95263" name="Freeform 16"/>
            <p:cNvSpPr>
              <a:spLocks/>
            </p:cNvSpPr>
            <p:nvPr/>
          </p:nvSpPr>
          <p:spPr bwMode="auto">
            <a:xfrm>
              <a:off x="3103" y="1462"/>
              <a:ext cx="806" cy="393"/>
            </a:xfrm>
            <a:custGeom>
              <a:avLst/>
              <a:gdLst>
                <a:gd name="T0" fmla="*/ 0 w 1234"/>
                <a:gd name="T1" fmla="*/ 7 h 470"/>
                <a:gd name="T2" fmla="*/ 1 w 1234"/>
                <a:gd name="T3" fmla="*/ 7 h 470"/>
                <a:gd name="T4" fmla="*/ 1 w 1234"/>
                <a:gd name="T5" fmla="*/ 0 h 470"/>
                <a:gd name="T6" fmla="*/ 1 w 1234"/>
                <a:gd name="T7" fmla="*/ 0 h 470"/>
                <a:gd name="T8" fmla="*/ 0 w 1234"/>
                <a:gd name="T9" fmla="*/ 7 h 4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4" h="470">
                  <a:moveTo>
                    <a:pt x="0" y="470"/>
                  </a:moveTo>
                  <a:lnTo>
                    <a:pt x="411" y="470"/>
                  </a:lnTo>
                  <a:lnTo>
                    <a:pt x="1234" y="0"/>
                  </a:lnTo>
                  <a:lnTo>
                    <a:pt x="846" y="0"/>
                  </a:lnTo>
                  <a:lnTo>
                    <a:pt x="0" y="470"/>
                  </a:lnTo>
                  <a:close/>
                </a:path>
              </a:pathLst>
            </a:custGeom>
            <a:gradFill rotWithShape="0">
              <a:gsLst>
                <a:gs pos="0">
                  <a:srgbClr val="0000FF"/>
                </a:gs>
                <a:gs pos="100000">
                  <a:srgbClr val="000076"/>
                </a:gs>
              </a:gsLst>
              <a:lin ang="2700000" scaled="1"/>
            </a:gradFill>
            <a:ln w="19050" cap="flat" cmpd="sng">
              <a:solidFill>
                <a:schemeClr val="bg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endParaRPr lang="zh-CN" altLang="en-US"/>
            </a:p>
          </p:txBody>
        </p:sp>
        <p:sp>
          <p:nvSpPr>
            <p:cNvPr id="95264" name="Line 17"/>
            <p:cNvSpPr>
              <a:spLocks noChangeShapeType="1"/>
            </p:cNvSpPr>
            <p:nvPr/>
          </p:nvSpPr>
          <p:spPr bwMode="auto">
            <a:xfrm>
              <a:off x="3369" y="2903"/>
              <a:ext cx="546" cy="0"/>
            </a:xfrm>
            <a:prstGeom prst="line">
              <a:avLst/>
            </a:prstGeom>
            <a:noFill/>
            <a:ln w="952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endParaRPr lang="zh-CN" altLang="en-US"/>
            </a:p>
          </p:txBody>
        </p:sp>
        <p:sp>
          <p:nvSpPr>
            <p:cNvPr id="95265" name="Text Box 18"/>
            <p:cNvSpPr txBox="1">
              <a:spLocks noChangeArrowheads="1"/>
            </p:cNvSpPr>
            <p:nvPr/>
          </p:nvSpPr>
          <p:spPr bwMode="auto">
            <a:xfrm>
              <a:off x="3820" y="2603"/>
              <a:ext cx="114"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b="0" i="1">
                  <a:solidFill>
                    <a:schemeClr val="bg1"/>
                  </a:solidFill>
                  <a:ea typeface="楷体_GB2312"/>
                </a:rPr>
                <a:t>x</a:t>
              </a:r>
            </a:p>
          </p:txBody>
        </p:sp>
        <p:sp>
          <p:nvSpPr>
            <p:cNvPr id="95266" name="Text Box 19"/>
            <p:cNvSpPr txBox="1">
              <a:spLocks noChangeArrowheads="1"/>
            </p:cNvSpPr>
            <p:nvPr/>
          </p:nvSpPr>
          <p:spPr bwMode="auto">
            <a:xfrm>
              <a:off x="3068" y="2858"/>
              <a:ext cx="12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b="0">
                  <a:solidFill>
                    <a:schemeClr val="bg1"/>
                  </a:solidFill>
                  <a:ea typeface="楷体_GB2312"/>
                </a:rPr>
                <a:t>o</a:t>
              </a:r>
            </a:p>
          </p:txBody>
        </p:sp>
      </p:grpSp>
      <p:grpSp>
        <p:nvGrpSpPr>
          <p:cNvPr id="211988" name="Group 20"/>
          <p:cNvGrpSpPr>
            <a:grpSpLocks/>
          </p:cNvGrpSpPr>
          <p:nvPr/>
        </p:nvGrpSpPr>
        <p:grpSpPr bwMode="auto">
          <a:xfrm>
            <a:off x="2654300" y="2413000"/>
            <a:ext cx="1616075" cy="3446463"/>
            <a:chOff x="1672" y="1463"/>
            <a:chExt cx="1018" cy="2171"/>
          </a:xfrm>
        </p:grpSpPr>
        <p:sp>
          <p:nvSpPr>
            <p:cNvPr id="95251" name="Text Box 21"/>
            <p:cNvSpPr txBox="1">
              <a:spLocks noChangeArrowheads="1"/>
            </p:cNvSpPr>
            <p:nvPr/>
          </p:nvSpPr>
          <p:spPr bwMode="auto">
            <a:xfrm>
              <a:off x="1684" y="3442"/>
              <a:ext cx="100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a:solidFill>
                    <a:schemeClr val="bg1"/>
                  </a:solidFill>
                  <a:ea typeface="楷体_GB2312"/>
                </a:rPr>
                <a:t> </a:t>
              </a:r>
              <a:r>
                <a:rPr lang="zh-CN" altLang="en-US" sz="2000">
                  <a:solidFill>
                    <a:schemeClr val="bg1"/>
                  </a:solidFill>
                  <a:ea typeface="楷体_GB2312"/>
                </a:rPr>
                <a:t>均匀平板电荷</a:t>
              </a:r>
            </a:p>
          </p:txBody>
        </p:sp>
        <p:sp>
          <p:nvSpPr>
            <p:cNvPr id="95252" name="Rectangle 22"/>
            <p:cNvSpPr>
              <a:spLocks noChangeArrowheads="1"/>
            </p:cNvSpPr>
            <p:nvPr/>
          </p:nvSpPr>
          <p:spPr bwMode="auto">
            <a:xfrm>
              <a:off x="1707" y="1857"/>
              <a:ext cx="268" cy="1051"/>
            </a:xfrm>
            <a:prstGeom prst="rect">
              <a:avLst/>
            </a:prstGeom>
            <a:solidFill>
              <a:schemeClr val="accent2"/>
            </a:solidFill>
            <a:ln w="1905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5253" name="Freeform 23"/>
            <p:cNvSpPr>
              <a:spLocks/>
            </p:cNvSpPr>
            <p:nvPr/>
          </p:nvSpPr>
          <p:spPr bwMode="auto">
            <a:xfrm>
              <a:off x="1978" y="1463"/>
              <a:ext cx="541" cy="1449"/>
            </a:xfrm>
            <a:custGeom>
              <a:avLst/>
              <a:gdLst>
                <a:gd name="T0" fmla="*/ 0 w 816"/>
                <a:gd name="T1" fmla="*/ 7 h 1734"/>
                <a:gd name="T2" fmla="*/ 0 w 816"/>
                <a:gd name="T3" fmla="*/ 23 h 1734"/>
                <a:gd name="T4" fmla="*/ 1 w 816"/>
                <a:gd name="T5" fmla="*/ 18 h 1734"/>
                <a:gd name="T6" fmla="*/ 1 w 816"/>
                <a:gd name="T7" fmla="*/ 0 h 1734"/>
                <a:gd name="T8" fmla="*/ 0 w 816"/>
                <a:gd name="T9" fmla="*/ 7 h 17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6" h="1734">
                  <a:moveTo>
                    <a:pt x="0" y="461"/>
                  </a:moveTo>
                  <a:lnTo>
                    <a:pt x="0" y="1734"/>
                  </a:lnTo>
                  <a:lnTo>
                    <a:pt x="816" y="1276"/>
                  </a:lnTo>
                  <a:lnTo>
                    <a:pt x="816" y="0"/>
                  </a:lnTo>
                  <a:lnTo>
                    <a:pt x="0" y="461"/>
                  </a:lnTo>
                  <a:close/>
                </a:path>
              </a:pathLst>
            </a:custGeom>
            <a:solidFill>
              <a:schemeClr val="accent2"/>
            </a:solidFill>
            <a:ln w="19050" cmpd="sng">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254" name="Rectangle 24"/>
            <p:cNvSpPr>
              <a:spLocks noChangeArrowheads="1"/>
            </p:cNvSpPr>
            <p:nvPr/>
          </p:nvSpPr>
          <p:spPr bwMode="auto">
            <a:xfrm>
              <a:off x="1816" y="3097"/>
              <a:ext cx="46" cy="269"/>
            </a:xfrm>
            <a:prstGeom prst="rect">
              <a:avLst/>
            </a:prstGeom>
            <a:noFill/>
            <a:ln>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8575">
                  <a:solidFill>
                    <a:schemeClr val="tx1"/>
                  </a:solidFill>
                  <a:miter lim="800000"/>
                  <a:headEnd/>
                  <a:tailEnd/>
                </a14:hiddenLine>
              </a:ext>
            </a:extLst>
          </p:spPr>
          <p:txBody>
            <a:bodyPr wrap="none" lIns="36000" tIns="0" rIns="36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b="0" i="1">
                <a:solidFill>
                  <a:schemeClr val="bg1"/>
                </a:solidFill>
                <a:ea typeface="楷体_GB2312"/>
                <a:sym typeface="Symbol" panose="05050102010706020507" pitchFamily="18" charset="2"/>
              </a:endParaRPr>
            </a:p>
          </p:txBody>
        </p:sp>
        <p:sp>
          <p:nvSpPr>
            <p:cNvPr id="95255" name="Freeform 25"/>
            <p:cNvSpPr>
              <a:spLocks/>
            </p:cNvSpPr>
            <p:nvPr/>
          </p:nvSpPr>
          <p:spPr bwMode="auto">
            <a:xfrm>
              <a:off x="1707" y="1464"/>
              <a:ext cx="806" cy="393"/>
            </a:xfrm>
            <a:custGeom>
              <a:avLst/>
              <a:gdLst>
                <a:gd name="T0" fmla="*/ 0 w 1234"/>
                <a:gd name="T1" fmla="*/ 7 h 470"/>
                <a:gd name="T2" fmla="*/ 1 w 1234"/>
                <a:gd name="T3" fmla="*/ 7 h 470"/>
                <a:gd name="T4" fmla="*/ 1 w 1234"/>
                <a:gd name="T5" fmla="*/ 0 h 470"/>
                <a:gd name="T6" fmla="*/ 1 w 1234"/>
                <a:gd name="T7" fmla="*/ 0 h 470"/>
                <a:gd name="T8" fmla="*/ 0 w 1234"/>
                <a:gd name="T9" fmla="*/ 7 h 4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4" h="470">
                  <a:moveTo>
                    <a:pt x="0" y="470"/>
                  </a:moveTo>
                  <a:lnTo>
                    <a:pt x="411" y="470"/>
                  </a:lnTo>
                  <a:lnTo>
                    <a:pt x="1234" y="0"/>
                  </a:lnTo>
                  <a:lnTo>
                    <a:pt x="846" y="0"/>
                  </a:lnTo>
                  <a:lnTo>
                    <a:pt x="0" y="470"/>
                  </a:lnTo>
                  <a:close/>
                </a:path>
              </a:pathLst>
            </a:custGeom>
            <a:solidFill>
              <a:schemeClr val="accent2"/>
            </a:solidFill>
            <a:ln w="19050" cap="flat" cmpd="sng">
              <a:solidFill>
                <a:schemeClr val="bg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endParaRPr lang="zh-CN" altLang="en-US"/>
            </a:p>
          </p:txBody>
        </p:sp>
        <p:sp>
          <p:nvSpPr>
            <p:cNvPr id="95256" name="Line 26"/>
            <p:cNvSpPr>
              <a:spLocks noChangeShapeType="1"/>
            </p:cNvSpPr>
            <p:nvPr/>
          </p:nvSpPr>
          <p:spPr bwMode="auto">
            <a:xfrm>
              <a:off x="1973" y="2905"/>
              <a:ext cx="546" cy="0"/>
            </a:xfrm>
            <a:prstGeom prst="line">
              <a:avLst/>
            </a:prstGeom>
            <a:noFill/>
            <a:ln w="952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endParaRPr lang="zh-CN" altLang="en-US"/>
            </a:p>
          </p:txBody>
        </p:sp>
        <p:sp>
          <p:nvSpPr>
            <p:cNvPr id="95257" name="Text Box 27"/>
            <p:cNvSpPr txBox="1">
              <a:spLocks noChangeArrowheads="1"/>
            </p:cNvSpPr>
            <p:nvPr/>
          </p:nvSpPr>
          <p:spPr bwMode="auto">
            <a:xfrm>
              <a:off x="2424" y="2605"/>
              <a:ext cx="114" cy="308"/>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b="0" i="1">
                  <a:solidFill>
                    <a:schemeClr val="bg1"/>
                  </a:solidFill>
                  <a:ea typeface="楷体_GB2312"/>
                </a:rPr>
                <a:t>x</a:t>
              </a:r>
            </a:p>
          </p:txBody>
        </p:sp>
        <p:sp>
          <p:nvSpPr>
            <p:cNvPr id="95258" name="Text Box 28"/>
            <p:cNvSpPr txBox="1">
              <a:spLocks noChangeArrowheads="1"/>
            </p:cNvSpPr>
            <p:nvPr/>
          </p:nvSpPr>
          <p:spPr bwMode="auto">
            <a:xfrm>
              <a:off x="1672" y="2860"/>
              <a:ext cx="12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b="0">
                  <a:solidFill>
                    <a:schemeClr val="bg1"/>
                  </a:solidFill>
                  <a:ea typeface="楷体_GB2312"/>
                </a:rPr>
                <a:t>o</a:t>
              </a:r>
            </a:p>
          </p:txBody>
        </p:sp>
      </p:grpSp>
      <p:grpSp>
        <p:nvGrpSpPr>
          <p:cNvPr id="211997" name="Group 29"/>
          <p:cNvGrpSpPr>
            <a:grpSpLocks/>
          </p:cNvGrpSpPr>
          <p:nvPr/>
        </p:nvGrpSpPr>
        <p:grpSpPr bwMode="auto">
          <a:xfrm>
            <a:off x="6948488" y="2413000"/>
            <a:ext cx="2116137" cy="3448050"/>
            <a:chOff x="4515" y="1463"/>
            <a:chExt cx="1333" cy="2172"/>
          </a:xfrm>
        </p:grpSpPr>
        <p:sp>
          <p:nvSpPr>
            <p:cNvPr id="95240" name="Rectangle 30"/>
            <p:cNvSpPr>
              <a:spLocks noChangeArrowheads="1"/>
            </p:cNvSpPr>
            <p:nvPr/>
          </p:nvSpPr>
          <p:spPr bwMode="auto">
            <a:xfrm>
              <a:off x="4515" y="1855"/>
              <a:ext cx="268" cy="1048"/>
            </a:xfrm>
            <a:prstGeom prst="rect">
              <a:avLst/>
            </a:prstGeom>
            <a:gradFill rotWithShape="0">
              <a:gsLst>
                <a:gs pos="0">
                  <a:srgbClr val="764700"/>
                </a:gs>
                <a:gs pos="100000">
                  <a:srgbClr val="FF9900"/>
                </a:gs>
              </a:gsLst>
              <a:lin ang="0" scaled="1"/>
            </a:gradFill>
            <a:ln w="1905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95241" name="Freeform 31"/>
            <p:cNvSpPr>
              <a:spLocks/>
            </p:cNvSpPr>
            <p:nvPr/>
          </p:nvSpPr>
          <p:spPr bwMode="auto">
            <a:xfrm>
              <a:off x="4785" y="1463"/>
              <a:ext cx="533" cy="1444"/>
            </a:xfrm>
            <a:custGeom>
              <a:avLst/>
              <a:gdLst>
                <a:gd name="T0" fmla="*/ 0 w 816"/>
                <a:gd name="T1" fmla="*/ 6 h 1734"/>
                <a:gd name="T2" fmla="*/ 0 w 816"/>
                <a:gd name="T3" fmla="*/ 22 h 1734"/>
                <a:gd name="T4" fmla="*/ 1 w 816"/>
                <a:gd name="T5" fmla="*/ 15 h 1734"/>
                <a:gd name="T6" fmla="*/ 1 w 816"/>
                <a:gd name="T7" fmla="*/ 0 h 1734"/>
                <a:gd name="T8" fmla="*/ 0 w 816"/>
                <a:gd name="T9" fmla="*/ 6 h 17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6" h="1734">
                  <a:moveTo>
                    <a:pt x="0" y="461"/>
                  </a:moveTo>
                  <a:lnTo>
                    <a:pt x="0" y="1734"/>
                  </a:lnTo>
                  <a:lnTo>
                    <a:pt x="816" y="1276"/>
                  </a:lnTo>
                  <a:lnTo>
                    <a:pt x="816" y="0"/>
                  </a:lnTo>
                  <a:lnTo>
                    <a:pt x="0" y="461"/>
                  </a:lnTo>
                  <a:close/>
                </a:path>
              </a:pathLst>
            </a:custGeom>
            <a:noFill/>
            <a:ln>
              <a:noFill/>
            </a:ln>
            <a:effectLst/>
            <a:extLst>
              <a:ext uri="{909E8E84-426E-40DD-AFC4-6F175D3DCCD1}">
                <a14:hiddenFill xmlns:a14="http://schemas.microsoft.com/office/drawing/2010/main">
                  <a:solidFill>
                    <a:srgbClr val="0000FF">
                      <a:alpha val="50195"/>
                    </a:srgbClr>
                  </a:solidFill>
                </a14:hiddenFill>
              </a:ext>
              <a:ext uri="{91240B29-F687-4F45-9708-019B960494DF}">
                <a14:hiddenLine xmlns:a14="http://schemas.microsoft.com/office/drawing/2010/main" w="19050" cmpd="sng">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242" name="Freeform 32"/>
            <p:cNvSpPr>
              <a:spLocks/>
            </p:cNvSpPr>
            <p:nvPr/>
          </p:nvSpPr>
          <p:spPr bwMode="auto">
            <a:xfrm>
              <a:off x="4515" y="1464"/>
              <a:ext cx="805" cy="391"/>
            </a:xfrm>
            <a:custGeom>
              <a:avLst/>
              <a:gdLst>
                <a:gd name="T0" fmla="*/ 0 w 1234"/>
                <a:gd name="T1" fmla="*/ 6 h 470"/>
                <a:gd name="T2" fmla="*/ 1 w 1234"/>
                <a:gd name="T3" fmla="*/ 6 h 470"/>
                <a:gd name="T4" fmla="*/ 1 w 1234"/>
                <a:gd name="T5" fmla="*/ 0 h 470"/>
                <a:gd name="T6" fmla="*/ 1 w 1234"/>
                <a:gd name="T7" fmla="*/ 0 h 470"/>
                <a:gd name="T8" fmla="*/ 0 w 1234"/>
                <a:gd name="T9" fmla="*/ 6 h 4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4" h="470">
                  <a:moveTo>
                    <a:pt x="0" y="470"/>
                  </a:moveTo>
                  <a:lnTo>
                    <a:pt x="411" y="470"/>
                  </a:lnTo>
                  <a:lnTo>
                    <a:pt x="1234" y="0"/>
                  </a:lnTo>
                  <a:lnTo>
                    <a:pt x="846" y="0"/>
                  </a:lnTo>
                  <a:lnTo>
                    <a:pt x="0" y="470"/>
                  </a:lnTo>
                  <a:close/>
                </a:path>
              </a:pathLst>
            </a:custGeom>
            <a:gradFill rotWithShape="1">
              <a:gsLst>
                <a:gs pos="0">
                  <a:srgbClr val="FF9900"/>
                </a:gs>
                <a:gs pos="100000">
                  <a:srgbClr val="C27400"/>
                </a:gs>
              </a:gsLst>
              <a:path path="rect">
                <a:fillToRect l="100000" t="100000"/>
              </a:path>
            </a:gradFill>
            <a:ln w="19050" cap="flat" cmpd="sng">
              <a:solidFill>
                <a:schemeClr val="bg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endParaRPr lang="zh-CN" altLang="en-US"/>
            </a:p>
          </p:txBody>
        </p:sp>
        <p:sp>
          <p:nvSpPr>
            <p:cNvPr id="95243" name="Text Box 33"/>
            <p:cNvSpPr txBox="1">
              <a:spLocks noChangeArrowheads="1"/>
            </p:cNvSpPr>
            <p:nvPr/>
          </p:nvSpPr>
          <p:spPr bwMode="auto">
            <a:xfrm>
              <a:off x="4560" y="3443"/>
              <a:ext cx="1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bg1"/>
                  </a:solidFill>
                  <a:ea typeface="楷体_GB2312"/>
                </a:rPr>
                <a:t>非均匀平板电荷对</a:t>
              </a:r>
            </a:p>
          </p:txBody>
        </p:sp>
        <p:sp>
          <p:nvSpPr>
            <p:cNvPr id="212002" name="Rectangle 34"/>
            <p:cNvSpPr>
              <a:spLocks noChangeArrowheads="1"/>
            </p:cNvSpPr>
            <p:nvPr/>
          </p:nvSpPr>
          <p:spPr bwMode="auto">
            <a:xfrm>
              <a:off x="4781" y="1855"/>
              <a:ext cx="268" cy="1048"/>
            </a:xfrm>
            <a:prstGeom prst="rect">
              <a:avLst/>
            </a:prstGeom>
            <a:gradFill rotWithShape="0">
              <a:gsLst>
                <a:gs pos="0">
                  <a:schemeClr val="accent1"/>
                </a:gs>
                <a:gs pos="100000">
                  <a:schemeClr val="accent1">
                    <a:gamma/>
                    <a:shade val="46275"/>
                    <a:invGamma/>
                  </a:schemeClr>
                </a:gs>
              </a:gsLst>
              <a:lin ang="0" scaled="1"/>
            </a:gradFill>
            <a:ln w="1905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eaLnBrk="1" hangingPunct="1">
                <a:spcBef>
                  <a:spcPct val="20000"/>
                </a:spcBef>
                <a:defRPr/>
              </a:pPr>
              <a:endParaRPr lang="zh-CN" altLang="en-US">
                <a:ea typeface="楷体_GB2312" pitchFamily="49" charset="-122"/>
                <a:cs typeface="+mn-cs"/>
              </a:endParaRPr>
            </a:p>
          </p:txBody>
        </p:sp>
        <p:sp>
          <p:nvSpPr>
            <p:cNvPr id="95245" name="Freeform 35"/>
            <p:cNvSpPr>
              <a:spLocks/>
            </p:cNvSpPr>
            <p:nvPr/>
          </p:nvSpPr>
          <p:spPr bwMode="auto">
            <a:xfrm>
              <a:off x="5052" y="1463"/>
              <a:ext cx="547" cy="1444"/>
            </a:xfrm>
            <a:custGeom>
              <a:avLst/>
              <a:gdLst>
                <a:gd name="T0" fmla="*/ 0 w 816"/>
                <a:gd name="T1" fmla="*/ 6 h 1734"/>
                <a:gd name="T2" fmla="*/ 0 w 816"/>
                <a:gd name="T3" fmla="*/ 22 h 1734"/>
                <a:gd name="T4" fmla="*/ 1 w 816"/>
                <a:gd name="T5" fmla="*/ 15 h 1734"/>
                <a:gd name="T6" fmla="*/ 1 w 816"/>
                <a:gd name="T7" fmla="*/ 0 h 1734"/>
                <a:gd name="T8" fmla="*/ 0 w 816"/>
                <a:gd name="T9" fmla="*/ 6 h 17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6" h="1734">
                  <a:moveTo>
                    <a:pt x="0" y="461"/>
                  </a:moveTo>
                  <a:lnTo>
                    <a:pt x="0" y="1734"/>
                  </a:lnTo>
                  <a:lnTo>
                    <a:pt x="816" y="1276"/>
                  </a:lnTo>
                  <a:lnTo>
                    <a:pt x="816" y="0"/>
                  </a:lnTo>
                  <a:lnTo>
                    <a:pt x="0" y="461"/>
                  </a:lnTo>
                  <a:close/>
                </a:path>
              </a:pathLst>
            </a:custGeom>
            <a:solidFill>
              <a:srgbClr val="99CC00">
                <a:alpha val="50195"/>
              </a:srgbClr>
            </a:solidFill>
            <a:ln w="19050" cmpd="sng">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2004" name="Freeform 36"/>
            <p:cNvSpPr>
              <a:spLocks/>
            </p:cNvSpPr>
            <p:nvPr/>
          </p:nvSpPr>
          <p:spPr bwMode="auto">
            <a:xfrm>
              <a:off x="4781" y="1464"/>
              <a:ext cx="805" cy="391"/>
            </a:xfrm>
            <a:custGeom>
              <a:avLst/>
              <a:gdLst>
                <a:gd name="T0" fmla="*/ 0 w 1234"/>
                <a:gd name="T1" fmla="*/ 470 h 470"/>
                <a:gd name="T2" fmla="*/ 411 w 1234"/>
                <a:gd name="T3" fmla="*/ 470 h 470"/>
                <a:gd name="T4" fmla="*/ 1234 w 1234"/>
                <a:gd name="T5" fmla="*/ 0 h 470"/>
                <a:gd name="T6" fmla="*/ 846 w 1234"/>
                <a:gd name="T7" fmla="*/ 0 h 470"/>
                <a:gd name="T8" fmla="*/ 0 w 1234"/>
                <a:gd name="T9" fmla="*/ 470 h 470"/>
              </a:gdLst>
              <a:ahLst/>
              <a:cxnLst>
                <a:cxn ang="0">
                  <a:pos x="T0" y="T1"/>
                </a:cxn>
                <a:cxn ang="0">
                  <a:pos x="T2" y="T3"/>
                </a:cxn>
                <a:cxn ang="0">
                  <a:pos x="T4" y="T5"/>
                </a:cxn>
                <a:cxn ang="0">
                  <a:pos x="T6" y="T7"/>
                </a:cxn>
                <a:cxn ang="0">
                  <a:pos x="T8" y="T9"/>
                </a:cxn>
              </a:cxnLst>
              <a:rect l="0" t="0" r="r" b="b"/>
              <a:pathLst>
                <a:path w="1234" h="470">
                  <a:moveTo>
                    <a:pt x="0" y="470"/>
                  </a:moveTo>
                  <a:lnTo>
                    <a:pt x="411" y="470"/>
                  </a:lnTo>
                  <a:lnTo>
                    <a:pt x="1234" y="0"/>
                  </a:lnTo>
                  <a:lnTo>
                    <a:pt x="846" y="0"/>
                  </a:lnTo>
                  <a:lnTo>
                    <a:pt x="0" y="470"/>
                  </a:lnTo>
                  <a:close/>
                </a:path>
              </a:pathLst>
            </a:custGeom>
            <a:gradFill rotWithShape="0">
              <a:gsLst>
                <a:gs pos="0">
                  <a:schemeClr val="accent1"/>
                </a:gs>
                <a:gs pos="100000">
                  <a:schemeClr val="accent1">
                    <a:gamma/>
                    <a:shade val="46275"/>
                    <a:invGamma/>
                  </a:schemeClr>
                </a:gs>
              </a:gsLst>
              <a:lin ang="2700000" scaled="1"/>
            </a:gradFill>
            <a:ln w="19050" cap="flat" cmpd="sng">
              <a:solidFill>
                <a:schemeClr val="bg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1" hangingPunct="1">
                <a:spcBef>
                  <a:spcPct val="20000"/>
                </a:spcBef>
                <a:defRPr/>
              </a:pPr>
              <a:endParaRPr lang="zh-CN" altLang="en-US">
                <a:ea typeface="楷体_GB2312" pitchFamily="49" charset="-122"/>
                <a:cs typeface="+mn-cs"/>
              </a:endParaRPr>
            </a:p>
          </p:txBody>
        </p:sp>
        <p:sp>
          <p:nvSpPr>
            <p:cNvPr id="95247" name="Line 37"/>
            <p:cNvSpPr>
              <a:spLocks noChangeShapeType="1"/>
            </p:cNvSpPr>
            <p:nvPr/>
          </p:nvSpPr>
          <p:spPr bwMode="auto">
            <a:xfrm>
              <a:off x="4773" y="2906"/>
              <a:ext cx="806" cy="0"/>
            </a:xfrm>
            <a:prstGeom prst="line">
              <a:avLst/>
            </a:prstGeom>
            <a:noFill/>
            <a:ln w="952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endParaRPr lang="zh-CN" altLang="en-US"/>
            </a:p>
          </p:txBody>
        </p:sp>
        <p:sp>
          <p:nvSpPr>
            <p:cNvPr id="95248" name="Text Box 38"/>
            <p:cNvSpPr txBox="1">
              <a:spLocks noChangeArrowheads="1"/>
            </p:cNvSpPr>
            <p:nvPr/>
          </p:nvSpPr>
          <p:spPr bwMode="auto">
            <a:xfrm>
              <a:off x="5494" y="2609"/>
              <a:ext cx="114"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b="0" i="1">
                  <a:solidFill>
                    <a:schemeClr val="bg1"/>
                  </a:solidFill>
                  <a:ea typeface="楷体_GB2312"/>
                </a:rPr>
                <a:t>x</a:t>
              </a:r>
            </a:p>
          </p:txBody>
        </p:sp>
        <p:sp>
          <p:nvSpPr>
            <p:cNvPr id="95249" name="Text Box 39"/>
            <p:cNvSpPr txBox="1">
              <a:spLocks noChangeArrowheads="1"/>
            </p:cNvSpPr>
            <p:nvPr/>
          </p:nvSpPr>
          <p:spPr bwMode="auto">
            <a:xfrm>
              <a:off x="4744" y="2841"/>
              <a:ext cx="128"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b="0">
                  <a:solidFill>
                    <a:schemeClr val="bg1"/>
                  </a:solidFill>
                  <a:ea typeface="楷体_GB2312"/>
                </a:rPr>
                <a:t>o</a:t>
              </a:r>
            </a:p>
          </p:txBody>
        </p:sp>
        <p:sp>
          <p:nvSpPr>
            <p:cNvPr id="95250" name="Rectangle 40"/>
            <p:cNvSpPr>
              <a:spLocks noChangeArrowheads="1"/>
            </p:cNvSpPr>
            <p:nvPr/>
          </p:nvSpPr>
          <p:spPr bwMode="auto">
            <a:xfrm>
              <a:off x="4724" y="3094"/>
              <a:ext cx="685" cy="2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b="0" i="1">
                  <a:solidFill>
                    <a:schemeClr val="bg1"/>
                  </a:solidFill>
                  <a:cs typeface="Times New Roman" panose="02020603050405020304" pitchFamily="18" charset="0"/>
                  <a:sym typeface="Symbol" panose="05050102010706020507" pitchFamily="18" charset="2"/>
                </a:rPr>
                <a:t> ρ=kx </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iterate type="lt">
                                    <p:tmPct val="100000"/>
                                  </p:iterate>
                                  <p:childTnLst>
                                    <p:set>
                                      <p:cBhvr>
                                        <p:cTn id="6" dur="1" fill="hold">
                                          <p:stCondLst>
                                            <p:cond delay="0"/>
                                          </p:stCondLst>
                                        </p:cTn>
                                        <p:tgtEl>
                                          <p:spTgt spid="211970"/>
                                        </p:tgtEl>
                                        <p:attrNameLst>
                                          <p:attrName>style.visibility</p:attrName>
                                        </p:attrNameLst>
                                      </p:cBhvr>
                                      <p:to>
                                        <p:strVal val="visible"/>
                                      </p:to>
                                    </p:set>
                                    <p:animEffect transition="in" filter="wipe(up)">
                                      <p:cBhvr>
                                        <p:cTn id="7" dur="75"/>
                                        <p:tgtEl>
                                          <p:spTgt spid="2119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211972">
                                            <p:txEl>
                                              <p:pRg st="0" end="0"/>
                                            </p:txEl>
                                          </p:spTgt>
                                        </p:tgtEl>
                                        <p:attrNameLst>
                                          <p:attrName>style.visibility</p:attrName>
                                        </p:attrNameLst>
                                      </p:cBhvr>
                                      <p:to>
                                        <p:strVal val="visible"/>
                                      </p:to>
                                    </p:set>
                                    <p:animEffect transition="in" filter="wipe(up)">
                                      <p:cBhvr>
                                        <p:cTn id="12" dur="75"/>
                                        <p:tgtEl>
                                          <p:spTgt spid="21197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211972">
                                            <p:txEl>
                                              <p:pRg st="1" end="1"/>
                                            </p:txEl>
                                          </p:spTgt>
                                        </p:tgtEl>
                                        <p:attrNameLst>
                                          <p:attrName>style.visibility</p:attrName>
                                        </p:attrNameLst>
                                      </p:cBhvr>
                                      <p:to>
                                        <p:strVal val="visible"/>
                                      </p:to>
                                    </p:set>
                                    <p:animEffect transition="in" filter="wipe(up)">
                                      <p:cBhvr>
                                        <p:cTn id="17" dur="75"/>
                                        <p:tgtEl>
                                          <p:spTgt spid="211972">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211972">
                                            <p:txEl>
                                              <p:pRg st="2" end="2"/>
                                            </p:txEl>
                                          </p:spTgt>
                                        </p:tgtEl>
                                        <p:attrNameLst>
                                          <p:attrName>style.visibility</p:attrName>
                                        </p:attrNameLst>
                                      </p:cBhvr>
                                      <p:to>
                                        <p:strVal val="visible"/>
                                      </p:to>
                                    </p:set>
                                    <p:animEffect transition="in" filter="wipe(up)">
                                      <p:cBhvr>
                                        <p:cTn id="22" dur="75"/>
                                        <p:tgtEl>
                                          <p:spTgt spid="211972">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11973"/>
                                        </p:tgtEl>
                                        <p:attrNameLst>
                                          <p:attrName>style.visibility</p:attrName>
                                        </p:attrNameLst>
                                      </p:cBhvr>
                                      <p:to>
                                        <p:strVal val="visible"/>
                                      </p:to>
                                    </p:set>
                                    <p:animEffect transition="in" filter="wipe(left)">
                                      <p:cBhvr>
                                        <p:cTn id="27" dur="500"/>
                                        <p:tgtEl>
                                          <p:spTgt spid="21197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11988"/>
                                        </p:tgtEl>
                                        <p:attrNameLst>
                                          <p:attrName>style.visibility</p:attrName>
                                        </p:attrNameLst>
                                      </p:cBhvr>
                                      <p:to>
                                        <p:strVal val="visible"/>
                                      </p:to>
                                    </p:set>
                                    <p:animEffect transition="in" filter="wipe(left)">
                                      <p:cBhvr>
                                        <p:cTn id="32" dur="500"/>
                                        <p:tgtEl>
                                          <p:spTgt spid="21198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11979"/>
                                        </p:tgtEl>
                                        <p:attrNameLst>
                                          <p:attrName>style.visibility</p:attrName>
                                        </p:attrNameLst>
                                      </p:cBhvr>
                                      <p:to>
                                        <p:strVal val="visible"/>
                                      </p:to>
                                    </p:set>
                                    <p:animEffect transition="in" filter="wipe(left)">
                                      <p:cBhvr>
                                        <p:cTn id="37" dur="500"/>
                                        <p:tgtEl>
                                          <p:spTgt spid="21197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11997"/>
                                        </p:tgtEl>
                                        <p:attrNameLst>
                                          <p:attrName>style.visibility</p:attrName>
                                        </p:attrNameLst>
                                      </p:cBhvr>
                                      <p:to>
                                        <p:strVal val="visible"/>
                                      </p:to>
                                    </p:set>
                                    <p:animEffect transition="in" filter="wipe(left)">
                                      <p:cBhvr>
                                        <p:cTn id="42" dur="500"/>
                                        <p:tgtEl>
                                          <p:spTgt spid="2119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0" grpId="0" autoUpdateAnimBg="0"/>
      <p:bldP spid="211972" grpId="0" build="p"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9D09CFC-A84E-4534-8256-551724B6B1B1}"/>
              </a:ext>
            </a:extLst>
          </p:cNvPr>
          <p:cNvSpPr>
            <a:spLocks noChangeArrowheads="1"/>
          </p:cNvSpPr>
          <p:nvPr/>
        </p:nvSpPr>
        <p:spPr bwMode="auto">
          <a:xfrm>
            <a:off x="179512" y="2780928"/>
            <a:ext cx="8424863"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3000">
                <a:solidFill>
                  <a:srgbClr val="FF3300"/>
                </a:solidFill>
                <a:ea typeface="楷体_GB2312"/>
              </a:rPr>
              <a:t>第</a:t>
            </a:r>
            <a:r>
              <a:rPr lang="en-US" altLang="zh-CN" sz="3000">
                <a:solidFill>
                  <a:srgbClr val="FF3300"/>
                </a:solidFill>
                <a:ea typeface="楷体_GB2312"/>
              </a:rPr>
              <a:t>7</a:t>
            </a:r>
            <a:r>
              <a:rPr lang="zh-CN" altLang="en-US" sz="3000">
                <a:solidFill>
                  <a:srgbClr val="FF3300"/>
                </a:solidFill>
                <a:ea typeface="楷体_GB2312"/>
              </a:rPr>
              <a:t>章作业：</a:t>
            </a:r>
            <a:r>
              <a:rPr lang="zh-CN" altLang="en-US" sz="3000">
                <a:ea typeface="楷体_GB2312"/>
              </a:rPr>
              <a:t>电通量与电场强度计算：</a:t>
            </a:r>
            <a:endParaRPr lang="en-US" altLang="zh-CN" sz="3000">
              <a:ea typeface="楷体_GB2312"/>
            </a:endParaRPr>
          </a:p>
          <a:p>
            <a:pPr algn="ctr" eaLnBrk="1" hangingPunct="1">
              <a:spcBef>
                <a:spcPct val="0"/>
              </a:spcBef>
              <a:buFontTx/>
              <a:buNone/>
            </a:pPr>
            <a:endParaRPr lang="en-US" altLang="zh-CN" sz="3000">
              <a:solidFill>
                <a:srgbClr val="FF3300"/>
              </a:solidFill>
              <a:ea typeface="楷体_GB2312"/>
            </a:endParaRPr>
          </a:p>
          <a:p>
            <a:pPr algn="ctr" eaLnBrk="1" hangingPunct="1">
              <a:spcBef>
                <a:spcPct val="0"/>
              </a:spcBef>
              <a:buNone/>
            </a:pPr>
            <a:r>
              <a:rPr lang="en-US" altLang="zh-CN">
                <a:solidFill>
                  <a:srgbClr val="FF3300"/>
                </a:solidFill>
                <a:ea typeface="楷体_GB2312"/>
              </a:rPr>
              <a:t>11,12,15,16,</a:t>
            </a:r>
          </a:p>
          <a:p>
            <a:pPr algn="ctr" eaLnBrk="1" hangingPunct="1">
              <a:spcBef>
                <a:spcPct val="0"/>
              </a:spcBef>
              <a:buNone/>
            </a:pPr>
            <a:r>
              <a:rPr lang="en-US" altLang="zh-CN">
                <a:solidFill>
                  <a:srgbClr val="FF3300"/>
                </a:solidFill>
                <a:ea typeface="楷体_GB2312"/>
              </a:rPr>
              <a:t>17,18,19,22</a:t>
            </a:r>
            <a:endParaRPr lang="en-US" altLang="zh-CN" sz="3000" dirty="0">
              <a:solidFill>
                <a:srgbClr val="FF3300"/>
              </a:solidFill>
              <a:ea typeface="楷体_GB2312"/>
            </a:endParaRPr>
          </a:p>
          <a:p>
            <a:pPr eaLnBrk="1" hangingPunct="1">
              <a:spcBef>
                <a:spcPct val="0"/>
              </a:spcBef>
              <a:buFontTx/>
              <a:buNone/>
            </a:pPr>
            <a:endParaRPr lang="en-US" altLang="zh-CN" sz="3000" dirty="0">
              <a:solidFill>
                <a:srgbClr val="FF3300"/>
              </a:solidFill>
              <a:ea typeface="楷体_GB2312"/>
            </a:endParaRPr>
          </a:p>
        </p:txBody>
      </p:sp>
    </p:spTree>
    <p:extLst>
      <p:ext uri="{BB962C8B-B14F-4D97-AF65-F5344CB8AC3E}">
        <p14:creationId xmlns:p14="http://schemas.microsoft.com/office/powerpoint/2010/main" val="145851048"/>
      </p:ext>
    </p:extLst>
  </p:cSld>
  <p:clrMapOvr>
    <a:masterClrMapping/>
  </p:clrMapOvr>
  <p:transition>
    <p:random/>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1979613" y="188913"/>
            <a:ext cx="5905500" cy="923925"/>
          </a:xfrm>
          <a:prstGeom prst="rect">
            <a:avLst/>
          </a:prstGeom>
          <a:solidFill>
            <a:srgbClr val="FFCC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5400">
                <a:solidFill>
                  <a:srgbClr val="0000FF"/>
                </a:solidFill>
                <a:ea typeface="楷体_GB2312"/>
              </a:rPr>
              <a:t>静电场内容回顾</a:t>
            </a:r>
            <a:endParaRPr lang="zh-CN" altLang="en-US" sz="4000">
              <a:solidFill>
                <a:srgbClr val="0000FF"/>
              </a:solidFill>
              <a:ea typeface="楷体_GB2312"/>
            </a:endParaRPr>
          </a:p>
        </p:txBody>
      </p:sp>
      <p:sp>
        <p:nvSpPr>
          <p:cNvPr id="29699" name="Text Box 3"/>
          <p:cNvSpPr txBox="1">
            <a:spLocks noChangeArrowheads="1"/>
          </p:cNvSpPr>
          <p:nvPr/>
        </p:nvSpPr>
        <p:spPr bwMode="auto">
          <a:xfrm>
            <a:off x="1389063" y="3644900"/>
            <a:ext cx="1150937" cy="482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500">
                <a:solidFill>
                  <a:srgbClr val="CC3300"/>
                </a:solidFill>
                <a:ea typeface="楷体_GB2312"/>
              </a:rPr>
              <a:t>静电场</a:t>
            </a:r>
            <a:endParaRPr lang="zh-CN" altLang="en-US" sz="2500">
              <a:solidFill>
                <a:srgbClr val="0000FF"/>
              </a:solidFill>
              <a:ea typeface="楷体_GB2312"/>
            </a:endParaRPr>
          </a:p>
        </p:txBody>
      </p:sp>
      <p:sp>
        <p:nvSpPr>
          <p:cNvPr id="29700" name="Text Box 4"/>
          <p:cNvSpPr txBox="1">
            <a:spLocks noChangeArrowheads="1"/>
          </p:cNvSpPr>
          <p:nvPr/>
        </p:nvSpPr>
        <p:spPr bwMode="auto">
          <a:xfrm>
            <a:off x="2471738" y="2125663"/>
            <a:ext cx="1470025" cy="482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500">
                <a:solidFill>
                  <a:srgbClr val="0000FF"/>
                </a:solidFill>
                <a:ea typeface="楷体_GB2312"/>
              </a:rPr>
              <a:t>库仑定律</a:t>
            </a:r>
          </a:p>
        </p:txBody>
      </p:sp>
      <p:sp>
        <p:nvSpPr>
          <p:cNvPr id="29701" name="Text Box 5"/>
          <p:cNvSpPr txBox="1">
            <a:spLocks noChangeArrowheads="1"/>
          </p:cNvSpPr>
          <p:nvPr/>
        </p:nvSpPr>
        <p:spPr bwMode="auto">
          <a:xfrm>
            <a:off x="5200650" y="2211388"/>
            <a:ext cx="1470025" cy="482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500">
                <a:solidFill>
                  <a:srgbClr val="0000FF"/>
                </a:solidFill>
                <a:ea typeface="楷体_GB2312"/>
              </a:rPr>
              <a:t>高斯定理</a:t>
            </a:r>
          </a:p>
        </p:txBody>
      </p:sp>
      <p:sp>
        <p:nvSpPr>
          <p:cNvPr id="29702" name="Text Box 6"/>
          <p:cNvSpPr txBox="1">
            <a:spLocks noChangeArrowheads="1"/>
          </p:cNvSpPr>
          <p:nvPr/>
        </p:nvSpPr>
        <p:spPr bwMode="auto">
          <a:xfrm>
            <a:off x="2698750" y="5097463"/>
            <a:ext cx="1470025" cy="482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500">
                <a:solidFill>
                  <a:srgbClr val="0000FF"/>
                </a:solidFill>
                <a:ea typeface="楷体_GB2312"/>
              </a:rPr>
              <a:t>环路定理</a:t>
            </a:r>
          </a:p>
        </p:txBody>
      </p:sp>
      <p:sp>
        <p:nvSpPr>
          <p:cNvPr id="29703" name="Text Box 7"/>
          <p:cNvSpPr txBox="1">
            <a:spLocks noChangeArrowheads="1"/>
          </p:cNvSpPr>
          <p:nvPr/>
        </p:nvSpPr>
        <p:spPr bwMode="auto">
          <a:xfrm>
            <a:off x="5638800" y="5081588"/>
            <a:ext cx="831850" cy="482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500">
                <a:solidFill>
                  <a:srgbClr val="0000FF"/>
                </a:solidFill>
                <a:ea typeface="楷体_GB2312"/>
              </a:rPr>
              <a:t>电势</a:t>
            </a:r>
          </a:p>
        </p:txBody>
      </p:sp>
      <p:sp>
        <p:nvSpPr>
          <p:cNvPr id="29704" name="Text Box 8"/>
          <p:cNvSpPr txBox="1">
            <a:spLocks noChangeArrowheads="1"/>
          </p:cNvSpPr>
          <p:nvPr/>
        </p:nvSpPr>
        <p:spPr bwMode="auto">
          <a:xfrm>
            <a:off x="6810375" y="3749675"/>
            <a:ext cx="1470025" cy="482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500">
                <a:solidFill>
                  <a:srgbClr val="0000FF"/>
                </a:solidFill>
                <a:ea typeface="楷体_GB2312"/>
              </a:rPr>
              <a:t>电势梯度</a:t>
            </a:r>
          </a:p>
        </p:txBody>
      </p:sp>
      <p:sp>
        <p:nvSpPr>
          <p:cNvPr id="29705" name="Text Box 9"/>
          <p:cNvSpPr txBox="1">
            <a:spLocks noChangeArrowheads="1"/>
          </p:cNvSpPr>
          <p:nvPr/>
        </p:nvSpPr>
        <p:spPr bwMode="auto">
          <a:xfrm>
            <a:off x="1258888" y="2125663"/>
            <a:ext cx="503237"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500">
                <a:solidFill>
                  <a:srgbClr val="0000FF"/>
                </a:solidFill>
                <a:ea typeface="楷体_GB2312"/>
              </a:rPr>
              <a:t>力</a:t>
            </a:r>
          </a:p>
        </p:txBody>
      </p:sp>
      <p:sp>
        <p:nvSpPr>
          <p:cNvPr id="29706" name="Text Box 10"/>
          <p:cNvSpPr txBox="1">
            <a:spLocks noChangeArrowheads="1"/>
          </p:cNvSpPr>
          <p:nvPr/>
        </p:nvSpPr>
        <p:spPr bwMode="auto">
          <a:xfrm>
            <a:off x="947738" y="4792663"/>
            <a:ext cx="822325"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500">
                <a:solidFill>
                  <a:srgbClr val="0000FF"/>
                </a:solidFill>
                <a:ea typeface="楷体_GB2312"/>
              </a:rPr>
              <a:t>能量</a:t>
            </a:r>
          </a:p>
        </p:txBody>
      </p:sp>
      <p:sp>
        <p:nvSpPr>
          <p:cNvPr id="29707" name="AutoShape 11"/>
          <p:cNvSpPr>
            <a:spLocks noChangeArrowheads="1"/>
          </p:cNvSpPr>
          <p:nvPr/>
        </p:nvSpPr>
        <p:spPr bwMode="auto">
          <a:xfrm flipV="1">
            <a:off x="1835150" y="4291013"/>
            <a:ext cx="685800" cy="14478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08" name="AutoShape 12"/>
          <p:cNvSpPr>
            <a:spLocks noChangeArrowheads="1"/>
          </p:cNvSpPr>
          <p:nvPr/>
        </p:nvSpPr>
        <p:spPr bwMode="auto">
          <a:xfrm>
            <a:off x="1770063" y="1989138"/>
            <a:ext cx="701675" cy="15240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09" name="AutoShape 13"/>
          <p:cNvSpPr>
            <a:spLocks noChangeArrowheads="1"/>
          </p:cNvSpPr>
          <p:nvPr/>
        </p:nvSpPr>
        <p:spPr bwMode="auto">
          <a:xfrm>
            <a:off x="4067175" y="2205038"/>
            <a:ext cx="990600" cy="228600"/>
          </a:xfrm>
          <a:prstGeom prst="rightArrow">
            <a:avLst>
              <a:gd name="adj1" fmla="val 50000"/>
              <a:gd name="adj2" fmla="val 108333"/>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29710" name="AutoShape 14"/>
          <p:cNvSpPr>
            <a:spLocks noChangeArrowheads="1"/>
          </p:cNvSpPr>
          <p:nvPr/>
        </p:nvSpPr>
        <p:spPr bwMode="auto">
          <a:xfrm>
            <a:off x="4495800" y="5189538"/>
            <a:ext cx="1143000" cy="228600"/>
          </a:xfrm>
          <a:prstGeom prst="rightArrow">
            <a:avLst>
              <a:gd name="adj1" fmla="val 50000"/>
              <a:gd name="adj2" fmla="val 125000"/>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29711" name="AutoShape 15"/>
          <p:cNvSpPr>
            <a:spLocks noChangeArrowheads="1"/>
          </p:cNvSpPr>
          <p:nvPr/>
        </p:nvSpPr>
        <p:spPr bwMode="auto">
          <a:xfrm>
            <a:off x="6858000" y="4198938"/>
            <a:ext cx="990600" cy="12192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2" name="AutoShape 16"/>
          <p:cNvSpPr>
            <a:spLocks noChangeArrowheads="1"/>
          </p:cNvSpPr>
          <p:nvPr/>
        </p:nvSpPr>
        <p:spPr bwMode="auto">
          <a:xfrm flipV="1">
            <a:off x="6946900" y="2276475"/>
            <a:ext cx="865188" cy="11557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9713" name="Object 17"/>
          <p:cNvGraphicFramePr>
            <a:graphicFrameLocks noChangeAspect="1"/>
          </p:cNvGraphicFramePr>
          <p:nvPr/>
        </p:nvGraphicFramePr>
        <p:xfrm>
          <a:off x="2916238" y="5745163"/>
          <a:ext cx="1728787" cy="731837"/>
        </p:xfrm>
        <a:graphic>
          <a:graphicData uri="http://schemas.openxmlformats.org/presentationml/2006/ole">
            <mc:AlternateContent xmlns:mc="http://schemas.openxmlformats.org/markup-compatibility/2006">
              <mc:Choice xmlns:v="urn:schemas-microsoft-com:vml" Requires="v">
                <p:oleObj spid="_x0000_s196889" name="公式" r:id="rId3" imgW="685800" imgH="292100" progId="Equation.3">
                  <p:embed/>
                </p:oleObj>
              </mc:Choice>
              <mc:Fallback>
                <p:oleObj name="公式" r:id="rId3" imgW="685800" imgH="292100" progId="Equation.3">
                  <p:embed/>
                  <p:pic>
                    <p:nvPicPr>
                      <p:cNvPr id="29713"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238" y="5745163"/>
                        <a:ext cx="1728787" cy="731837"/>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14" name="Object 18"/>
          <p:cNvGraphicFramePr>
            <a:graphicFrameLocks noChangeAspect="1"/>
          </p:cNvGraphicFramePr>
          <p:nvPr/>
        </p:nvGraphicFramePr>
        <p:xfrm>
          <a:off x="5148263" y="1393825"/>
          <a:ext cx="1944687" cy="666750"/>
        </p:xfrm>
        <a:graphic>
          <a:graphicData uri="http://schemas.openxmlformats.org/presentationml/2006/ole">
            <mc:AlternateContent xmlns:mc="http://schemas.openxmlformats.org/markup-compatibility/2006">
              <mc:Choice xmlns:v="urn:schemas-microsoft-com:vml" Requires="v">
                <p:oleObj spid="_x0000_s196890" name="Equation" r:id="rId5" imgW="1180588" imgH="431613" progId="Equation.DSMT4">
                  <p:embed/>
                </p:oleObj>
              </mc:Choice>
              <mc:Fallback>
                <p:oleObj name="Equation" r:id="rId5" imgW="1180588" imgH="431613" progId="Equation.DSMT4">
                  <p:embed/>
                  <p:pic>
                    <p:nvPicPr>
                      <p:cNvPr id="29714"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8263" y="1393825"/>
                        <a:ext cx="1944687" cy="666750"/>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15" name="Object 19"/>
          <p:cNvGraphicFramePr>
            <a:graphicFrameLocks noChangeAspect="1"/>
          </p:cNvGraphicFramePr>
          <p:nvPr/>
        </p:nvGraphicFramePr>
        <p:xfrm>
          <a:off x="4787900" y="3644900"/>
          <a:ext cx="1998663" cy="577850"/>
        </p:xfrm>
        <a:graphic>
          <a:graphicData uri="http://schemas.openxmlformats.org/presentationml/2006/ole">
            <mc:AlternateContent xmlns:mc="http://schemas.openxmlformats.org/markup-compatibility/2006">
              <mc:Choice xmlns:v="urn:schemas-microsoft-com:vml" Requires="v">
                <p:oleObj spid="_x0000_s196891" name="Equation" r:id="rId7" imgW="787320" imgH="228600" progId="Equation.DSMT4">
                  <p:embed/>
                </p:oleObj>
              </mc:Choice>
              <mc:Fallback>
                <p:oleObj name="Equation" r:id="rId7" imgW="787320" imgH="228600" progId="Equation.DSMT4">
                  <p:embed/>
                  <p:pic>
                    <p:nvPicPr>
                      <p:cNvPr id="29715"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87900" y="3644900"/>
                        <a:ext cx="1998663" cy="577850"/>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16" name="Rectangle 20"/>
          <p:cNvSpPr>
            <a:spLocks noChangeArrowheads="1"/>
          </p:cNvSpPr>
          <p:nvPr/>
        </p:nvSpPr>
        <p:spPr bwMode="auto">
          <a:xfrm>
            <a:off x="4211638" y="1811338"/>
            <a:ext cx="392112" cy="4730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500" i="1">
                <a:solidFill>
                  <a:srgbClr val="0000FF"/>
                </a:solidFill>
                <a:ea typeface="楷体_GB2312"/>
              </a:rPr>
              <a:t>E</a:t>
            </a:r>
          </a:p>
        </p:txBody>
      </p:sp>
      <p:sp>
        <p:nvSpPr>
          <p:cNvPr id="29717" name="Rectangle 21"/>
          <p:cNvSpPr>
            <a:spLocks noChangeArrowheads="1"/>
          </p:cNvSpPr>
          <p:nvPr/>
        </p:nvSpPr>
        <p:spPr bwMode="auto">
          <a:xfrm>
            <a:off x="4659313" y="4748213"/>
            <a:ext cx="392112" cy="4730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500" i="1">
                <a:solidFill>
                  <a:srgbClr val="0000FF"/>
                </a:solidFill>
                <a:ea typeface="楷体_GB2312"/>
              </a:rPr>
              <a:t>V</a:t>
            </a:r>
          </a:p>
        </p:txBody>
      </p:sp>
    </p:spTree>
    <p:extLst>
      <p:ext uri="{BB962C8B-B14F-4D97-AF65-F5344CB8AC3E}">
        <p14:creationId xmlns:p14="http://schemas.microsoft.com/office/powerpoint/2010/main" val="2868083857"/>
      </p:ext>
    </p:extLst>
  </p:cSld>
  <p:clrMapOvr>
    <a:masterClrMapping/>
  </p:clrMapOvr>
  <p:transition>
    <p:random/>
  </p:transition>
</p:sld>
</file>

<file path=ppt/theme/theme1.xml><?xml version="1.0" encoding="utf-8"?>
<a:theme xmlns:a="http://schemas.openxmlformats.org/drawingml/2006/main" name="教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FF3300"/>
      </a:folHlink>
    </a:clrScheme>
    <a:fontScheme name="教案">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66"/>
        </a:solidFill>
        <a:ln w="12700"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3600" b="1" i="0" u="none" strike="noStrike" cap="none" normalizeH="0" baseline="0" smtClean="0">
            <a:ln>
              <a:noFill/>
            </a:ln>
            <a:solidFill>
              <a:srgbClr val="FF3300"/>
            </a:solidFill>
            <a:effectLst/>
            <a:latin typeface="Times New Roman" pitchFamily="18" charset="0"/>
            <a:ea typeface="楷体_GB2312" pitchFamily="49" charset="-122"/>
          </a:defRPr>
        </a:defPPr>
      </a:lstStyle>
    </a:spDef>
    <a:lnDef>
      <a:spPr bwMode="auto">
        <a:xfrm>
          <a:off x="0" y="0"/>
          <a:ext cx="1" cy="1"/>
        </a:xfrm>
        <a:custGeom>
          <a:avLst/>
          <a:gdLst/>
          <a:ahLst/>
          <a:cxnLst/>
          <a:rect l="0" t="0" r="0" b="0"/>
          <a:pathLst/>
        </a:custGeom>
        <a:solidFill>
          <a:srgbClr val="FFFF66"/>
        </a:solidFill>
        <a:ln w="12700"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3600" b="1" i="0" u="none" strike="noStrike" cap="none" normalizeH="0" baseline="0" smtClean="0">
            <a:ln>
              <a:noFill/>
            </a:ln>
            <a:solidFill>
              <a:srgbClr val="FF3300"/>
            </a:solidFill>
            <a:effectLst/>
            <a:latin typeface="Times New Roman" pitchFamily="18" charset="0"/>
            <a:ea typeface="楷体_GB2312" pitchFamily="49" charset="-122"/>
          </a:defRPr>
        </a:defPPr>
      </a:lstStyle>
    </a:lnDef>
  </a:objectDefaults>
  <a:extraClrSchemeLst>
    <a:extraClrScheme>
      <a:clrScheme name="教案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教案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教案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教案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教案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教案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教案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D:\MSOffice\Templates\教案.pot</Template>
  <TotalTime>8535</TotalTime>
  <Words>7654</Words>
  <Application>Microsoft Office PowerPoint</Application>
  <PresentationFormat>全屏显示(4:3)</PresentationFormat>
  <Paragraphs>754</Paragraphs>
  <Slides>92</Slides>
  <Notes>25</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4</vt:i4>
      </vt:variant>
      <vt:variant>
        <vt:lpstr>幻灯片标题</vt:lpstr>
      </vt:variant>
      <vt:variant>
        <vt:i4>92</vt:i4>
      </vt:variant>
    </vt:vector>
  </HeadingPairs>
  <TitlesOfParts>
    <vt:vector size="116" baseType="lpstr">
      <vt:lpstr>仿宋_GB2312</vt:lpstr>
      <vt:lpstr>黑体</vt:lpstr>
      <vt:lpstr>华文细黑</vt:lpstr>
      <vt:lpstr>华文行楷</vt:lpstr>
      <vt:lpstr>华文中宋</vt:lpstr>
      <vt:lpstr>楷体_GB2312</vt:lpstr>
      <vt:lpstr>宋体</vt:lpstr>
      <vt:lpstr>微软雅黑</vt:lpstr>
      <vt:lpstr>Abadi</vt:lpstr>
      <vt:lpstr>Arial</vt:lpstr>
      <vt:lpstr>Arial</vt:lpstr>
      <vt:lpstr>Bookman Old Style</vt:lpstr>
      <vt:lpstr>Cambria Math</vt:lpstr>
      <vt:lpstr>Century Schoolbook</vt:lpstr>
      <vt:lpstr>Colonna MT</vt:lpstr>
      <vt:lpstr>Symbol</vt:lpstr>
      <vt:lpstr>Tahoma</vt:lpstr>
      <vt:lpstr>Times New Roman</vt:lpstr>
      <vt:lpstr>Wingdings</vt:lpstr>
      <vt:lpstr>教案</vt:lpstr>
      <vt:lpstr>公式</vt:lpstr>
      <vt:lpstr>Equation</vt:lpstr>
      <vt:lpstr>Graph</vt:lpstr>
      <vt:lpstr>MathType 7.0 Equation</vt:lpstr>
      <vt:lpstr>PowerPoint 演示文稿</vt:lpstr>
      <vt:lpstr>本篇的主要内容</vt:lpstr>
      <vt:lpstr>Electricity and Magnetism, Some History</vt:lpstr>
      <vt:lpstr>Electricity and Magnetism,  Some History, 2</vt:lpstr>
      <vt:lpstr>Electricity and Magnetism,  Some History, 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Conductors</vt:lpstr>
      <vt:lpstr>PowerPoint 演示文稿</vt:lpstr>
      <vt:lpstr>PowerPoint 演示文稿</vt:lpstr>
      <vt:lpstr>使物体带电的方法 Charging by Induction</vt:lpstr>
      <vt:lpstr>Charge Rearrangement in  Insulators</vt:lpstr>
      <vt:lpstr>PowerPoint 演示文稿</vt:lpstr>
      <vt:lpstr>PowerPoint 演示文稿</vt:lpstr>
      <vt:lpstr>PowerPoint 演示文稿</vt:lpstr>
      <vt:lpstr>PowerPoint 演示文稿</vt:lpstr>
      <vt:lpstr>PowerPoint 演示文稿</vt:lpstr>
      <vt:lpstr>Superposition Principle, Example : Find the resultant force exerted on q3 </vt:lpstr>
      <vt:lpstr>Zero Resultant Force, Example: What is the x coordinate of q3 ?</vt:lpstr>
      <vt:lpstr>Electrical Force with Other Forces, Example: Find the magnitude of the charge on each sphere</vt:lpstr>
      <vt:lpstr>PowerPoint 演示文稿</vt:lpstr>
      <vt:lpstr>Introduction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常见的几种电场的强度</vt:lpstr>
      <vt:lpstr>PowerPoint 演示文稿</vt:lpstr>
      <vt:lpstr>上节内容回顾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静电场_1</dc:title>
  <dc:creator>Wang</dc:creator>
  <cp:lastModifiedBy>Songyou Wang</cp:lastModifiedBy>
  <cp:revision>377</cp:revision>
  <dcterms:created xsi:type="dcterms:W3CDTF">2000-11-05T08:07:44Z</dcterms:created>
  <dcterms:modified xsi:type="dcterms:W3CDTF">2025-12-02T01:10:43Z</dcterms:modified>
</cp:coreProperties>
</file>